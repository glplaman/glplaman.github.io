
<file path=[Content_Types].xml><?xml version="1.0" encoding="utf-8"?>
<Types xmlns="http://schemas.openxmlformats.org/package/2006/content-types">
  <Default Extension="bin" ContentType="application/vnd.openxmlformats-officedocument.oleObject"/>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tags/tag8.xml" ContentType="application/vnd.openxmlformats-officedocument.presentationml.tags+xml"/>
  <Override PartName="/ppt/notesSlides/notesSlide9.xml" ContentType="application/vnd.openxmlformats-officedocument.presentationml.notesSlide+xml"/>
  <Override PartName="/ppt/tags/tag9.xml" ContentType="application/vnd.openxmlformats-officedocument.presentationml.tags+xml"/>
  <Override PartName="/ppt/notesSlides/notesSlide10.xml" ContentType="application/vnd.openxmlformats-officedocument.presentationml.notesSlide+xml"/>
  <Override PartName="/ppt/tags/tag10.xml" ContentType="application/vnd.openxmlformats-officedocument.presentationml.tags+xml"/>
  <Override PartName="/ppt/notesSlides/notesSlide11.xml" ContentType="application/vnd.openxmlformats-officedocument.presentationml.notesSlide+xml"/>
  <Override PartName="/ppt/tags/tag11.xml" ContentType="application/vnd.openxmlformats-officedocument.presentationml.tags+xml"/>
  <Override PartName="/ppt/notesSlides/notesSlide12.xml" ContentType="application/vnd.openxmlformats-officedocument.presentationml.notesSlide+xml"/>
  <Override PartName="/ppt/tags/tag12.xml" ContentType="application/vnd.openxmlformats-officedocument.presentationml.tags+xml"/>
  <Override PartName="/ppt/notesSlides/notesSlide13.xml" ContentType="application/vnd.openxmlformats-officedocument.presentationml.notesSlide+xml"/>
  <Override PartName="/ppt/tags/tag13.xml" ContentType="application/vnd.openxmlformats-officedocument.presentationml.tags+xml"/>
  <Override PartName="/ppt/notesSlides/notesSlide14.xml" ContentType="application/vnd.openxmlformats-officedocument.presentationml.notesSlide+xml"/>
  <Override PartName="/ppt/tags/tag14.xml" ContentType="application/vnd.openxmlformats-officedocument.presentationml.tags+xml"/>
  <Override PartName="/ppt/notesSlides/notesSlide15.xml" ContentType="application/vnd.openxmlformats-officedocument.presentationml.notesSlide+xml"/>
  <Override PartName="/ppt/tags/tag15.xml" ContentType="application/vnd.openxmlformats-officedocument.presentationml.tags+xml"/>
  <Override PartName="/ppt/notesSlides/notesSlide16.xml" ContentType="application/vnd.openxmlformats-officedocument.presentationml.notesSlide+xml"/>
  <Override PartName="/ppt/tags/tag16.xml" ContentType="application/vnd.openxmlformats-officedocument.presentationml.tags+xml"/>
  <Override PartName="/ppt/notesSlides/notesSlide17.xml" ContentType="application/vnd.openxmlformats-officedocument.presentationml.notesSlide+xml"/>
  <Override PartName="/ppt/tags/tag17.xml" ContentType="application/vnd.openxmlformats-officedocument.presentationml.tags+xml"/>
  <Override PartName="/ppt/notesSlides/notesSlide18.xml" ContentType="application/vnd.openxmlformats-officedocument.presentationml.notesSlide+xml"/>
  <Override PartName="/ppt/tags/tag18.xml" ContentType="application/vnd.openxmlformats-officedocument.presentationml.tags+xml"/>
  <Override PartName="/ppt/notesSlides/notesSlide19.xml" ContentType="application/vnd.openxmlformats-officedocument.presentationml.notesSlide+xml"/>
  <Override PartName="/ppt/tags/tag19.xml" ContentType="application/vnd.openxmlformats-officedocument.presentationml.tags+xml"/>
  <Override PartName="/ppt/notesSlides/notesSlide20.xml" ContentType="application/vnd.openxmlformats-officedocument.presentationml.notesSlide+xml"/>
  <Override PartName="/ppt/tags/tag20.xml" ContentType="application/vnd.openxmlformats-officedocument.presentationml.tags+xml"/>
  <Override PartName="/ppt/notesSlides/notesSlide21.xml" ContentType="application/vnd.openxmlformats-officedocument.presentationml.notesSlide+xml"/>
  <Override PartName="/ppt/tags/tag21.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79"/>
  </p:notesMasterIdLst>
  <p:sldIdLst>
    <p:sldId id="257" r:id="rId2"/>
    <p:sldId id="256" r:id="rId3"/>
    <p:sldId id="564" r:id="rId4"/>
    <p:sldId id="565" r:id="rId5"/>
    <p:sldId id="548" r:id="rId6"/>
    <p:sldId id="260" r:id="rId7"/>
    <p:sldId id="342" r:id="rId8"/>
    <p:sldId id="345" r:id="rId9"/>
    <p:sldId id="566" r:id="rId10"/>
    <p:sldId id="347" r:id="rId11"/>
    <p:sldId id="567" r:id="rId12"/>
    <p:sldId id="349" r:id="rId13"/>
    <p:sldId id="568" r:id="rId14"/>
    <p:sldId id="569" r:id="rId15"/>
    <p:sldId id="353" r:id="rId16"/>
    <p:sldId id="355" r:id="rId17"/>
    <p:sldId id="570" r:id="rId18"/>
    <p:sldId id="359" r:id="rId19"/>
    <p:sldId id="360" r:id="rId20"/>
    <p:sldId id="571" r:id="rId21"/>
    <p:sldId id="362" r:id="rId22"/>
    <p:sldId id="361" r:id="rId23"/>
    <p:sldId id="364" r:id="rId24"/>
    <p:sldId id="281" r:id="rId25"/>
    <p:sldId id="366" r:id="rId26"/>
    <p:sldId id="367" r:id="rId27"/>
    <p:sldId id="368" r:id="rId28"/>
    <p:sldId id="369" r:id="rId29"/>
    <p:sldId id="370" r:id="rId30"/>
    <p:sldId id="371" r:id="rId31"/>
    <p:sldId id="372" r:id="rId32"/>
    <p:sldId id="427" r:id="rId33"/>
    <p:sldId id="375" r:id="rId34"/>
    <p:sldId id="376" r:id="rId35"/>
    <p:sldId id="377" r:id="rId36"/>
    <p:sldId id="378" r:id="rId37"/>
    <p:sldId id="379" r:id="rId38"/>
    <p:sldId id="380" r:id="rId39"/>
    <p:sldId id="381" r:id="rId40"/>
    <p:sldId id="382" r:id="rId41"/>
    <p:sldId id="383" r:id="rId42"/>
    <p:sldId id="384" r:id="rId43"/>
    <p:sldId id="385" r:id="rId44"/>
    <p:sldId id="386" r:id="rId45"/>
    <p:sldId id="387" r:id="rId46"/>
    <p:sldId id="388" r:id="rId47"/>
    <p:sldId id="390" r:id="rId48"/>
    <p:sldId id="391" r:id="rId49"/>
    <p:sldId id="392" r:id="rId50"/>
    <p:sldId id="297" r:id="rId51"/>
    <p:sldId id="572" r:id="rId52"/>
    <p:sldId id="394" r:id="rId53"/>
    <p:sldId id="395" r:id="rId54"/>
    <p:sldId id="396" r:id="rId55"/>
    <p:sldId id="397" r:id="rId56"/>
    <p:sldId id="428" r:id="rId57"/>
    <p:sldId id="429" r:id="rId58"/>
    <p:sldId id="401" r:id="rId59"/>
    <p:sldId id="402" r:id="rId60"/>
    <p:sldId id="430" r:id="rId61"/>
    <p:sldId id="431" r:id="rId62"/>
    <p:sldId id="432" r:id="rId63"/>
    <p:sldId id="433" r:id="rId64"/>
    <p:sldId id="434" r:id="rId65"/>
    <p:sldId id="550" r:id="rId66"/>
    <p:sldId id="551" r:id="rId67"/>
    <p:sldId id="552" r:id="rId68"/>
    <p:sldId id="553" r:id="rId69"/>
    <p:sldId id="554" r:id="rId70"/>
    <p:sldId id="555" r:id="rId71"/>
    <p:sldId id="556" r:id="rId72"/>
    <p:sldId id="557" r:id="rId73"/>
    <p:sldId id="558" r:id="rId74"/>
    <p:sldId id="563" r:id="rId75"/>
    <p:sldId id="560" r:id="rId76"/>
    <p:sldId id="561" r:id="rId77"/>
    <p:sldId id="562" r:id="rId78"/>
  </p:sldIdLst>
  <p:sldSz cx="9144000" cy="5143500" type="screen16x9"/>
  <p:notesSz cx="6858000" cy="9144000"/>
  <p:embeddedFontLst>
    <p:embeddedFont>
      <p:font typeface="Arial Rounded MT Bold" panose="020F0704030504030204" pitchFamily="34" charset="0"/>
      <p:regular r:id="rId80"/>
    </p:embeddedFont>
    <p:embeddedFont>
      <p:font typeface="Montserrat" panose="00000500000000000000" pitchFamily="2" charset="0"/>
      <p:regular r:id="rId81"/>
    </p:embeddedFont>
    <p:embeddedFont>
      <p:font typeface="等线" panose="02010600030101010101" pitchFamily="2" charset="-122"/>
      <p:regular r:id="rId82"/>
      <p:bold r:id="rId83"/>
    </p:embeddedFont>
    <p:embeddedFont>
      <p:font typeface="黑体" panose="02010609060101010101" pitchFamily="49" charset="-122"/>
      <p:regular r:id="rId84"/>
    </p:embeddedFont>
    <p:embeddedFont>
      <p:font typeface="微软雅黑" panose="020B0503020204020204" pitchFamily="34" charset="-122"/>
      <p:regular r:id="rId85"/>
      <p:bold r:id="rId86"/>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CC"/>
    <a:srgbClr val="B1D8F9"/>
    <a:srgbClr val="99FFCC"/>
    <a:srgbClr val="0000FF"/>
    <a:srgbClr val="000099"/>
    <a:srgbClr val="C3E3F9"/>
    <a:srgbClr val="FFFF99"/>
    <a:srgbClr val="FFFF00"/>
    <a:srgbClr val="FFFF66"/>
    <a:srgbClr val="00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8FD4443E-F989-4FC4-A0C8-D5A2AF1F390B}" styleName="深色样式 1 - 强调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深色样式 1 - 强调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113A9D2-9D6B-4929-AA2D-F23B5EE8CBE7}" styleName="主题样式 2 - 强调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主题样式 2 - 强调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6339" autoAdjust="0"/>
    <p:restoredTop sz="69632" autoAdjust="0"/>
  </p:normalViewPr>
  <p:slideViewPr>
    <p:cSldViewPr snapToGrid="0">
      <p:cViewPr varScale="1">
        <p:scale>
          <a:sx n="148" d="100"/>
          <a:sy n="148" d="100"/>
        </p:scale>
        <p:origin x="126" y="13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5.fntdata"/><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font" Target="fonts/font1.fntdata"/><Relationship Id="rId85" Type="http://schemas.openxmlformats.org/officeDocument/2006/relationships/font" Target="fonts/font6.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font" Target="fonts/font4.fntdata"/><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font" Target="fonts/font2.fntdata"/><Relationship Id="rId86"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font" Target="fonts/font3.fntdata"/><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3F7A0F7-AD19-4993-8574-730EC50C92A6}" type="datetimeFigureOut">
              <a:rPr lang="zh-CN" altLang="en-US" smtClean="0"/>
              <a:pPr/>
              <a:t>2026/9/8</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B14BD24-89E3-4C51-B736-BCCE6C13A884}" type="slidenum">
              <a:rPr lang="zh-CN" altLang="en-US" smtClean="0"/>
              <a:pPr/>
              <a:t>‹#›</a:t>
            </a:fld>
            <a:endParaRPr lang="zh-CN" altLang="en-US"/>
          </a:p>
        </p:txBody>
      </p:sp>
    </p:spTree>
    <p:extLst>
      <p:ext uri="{BB962C8B-B14F-4D97-AF65-F5344CB8AC3E}">
        <p14:creationId xmlns:p14="http://schemas.microsoft.com/office/powerpoint/2010/main" val="21733730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2</a:t>
            </a:fld>
            <a:endParaRPr lang="zh-CN" altLang="en-US"/>
          </a:p>
        </p:txBody>
      </p:sp>
    </p:spTree>
    <p:extLst>
      <p:ext uri="{BB962C8B-B14F-4D97-AF65-F5344CB8AC3E}">
        <p14:creationId xmlns:p14="http://schemas.microsoft.com/office/powerpoint/2010/main" val="41827944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B14BD24-89E3-4C51-B736-BCCE6C13A884}" type="slidenum">
              <a:rPr lang="zh-CN" altLang="en-US" smtClean="0"/>
              <a:pPr/>
              <a:t>3</a:t>
            </a:fld>
            <a:endParaRPr lang="zh-CN" altLang="en-US"/>
          </a:p>
        </p:txBody>
      </p:sp>
    </p:spTree>
    <p:extLst>
      <p:ext uri="{BB962C8B-B14F-4D97-AF65-F5344CB8AC3E}">
        <p14:creationId xmlns:p14="http://schemas.microsoft.com/office/powerpoint/2010/main" val="28817813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4</a:t>
            </a:fld>
            <a:endParaRPr lang="zh-CN" altLang="en-US"/>
          </a:p>
        </p:txBody>
      </p:sp>
    </p:spTree>
    <p:extLst>
      <p:ext uri="{BB962C8B-B14F-4D97-AF65-F5344CB8AC3E}">
        <p14:creationId xmlns:p14="http://schemas.microsoft.com/office/powerpoint/2010/main" val="6308470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F9A15-C140-E8D1-C1A6-38B687FA0F3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BAB2669-800C-6196-36B1-C30391E2F44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90DB0C7-7202-1445-0253-9EAF20D50EA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4D2ED84-AE77-BC13-4D3B-2DC88BD3E567}"/>
              </a:ext>
            </a:extLst>
          </p:cNvPr>
          <p:cNvSpPr>
            <a:spLocks noGrp="1"/>
          </p:cNvSpPr>
          <p:nvPr>
            <p:ph type="sldNum" sz="quarter" idx="5"/>
          </p:nvPr>
        </p:nvSpPr>
        <p:spPr/>
        <p:txBody>
          <a:bodyPr/>
          <a:lstStyle/>
          <a:p>
            <a:pPr>
              <a:defRPr/>
            </a:pPr>
            <a:fld id="{CD1CD96A-A6EF-4B0B-9885-C22D65D2CD20}" type="slidenum">
              <a:rPr lang="zh-CN" altLang="en-US" smtClean="0"/>
              <a:pPr>
                <a:defRPr/>
              </a:pPr>
              <a:t>5</a:t>
            </a:fld>
            <a:endParaRPr lang="zh-CN" altLang="en-US"/>
          </a:p>
        </p:txBody>
      </p:sp>
    </p:spTree>
    <p:extLst>
      <p:ext uri="{BB962C8B-B14F-4D97-AF65-F5344CB8AC3E}">
        <p14:creationId xmlns:p14="http://schemas.microsoft.com/office/powerpoint/2010/main" val="17640901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6</a:t>
            </a:fld>
            <a:endParaRPr lang="zh-CN" altLang="en-US"/>
          </a:p>
        </p:txBody>
      </p:sp>
    </p:spTree>
    <p:extLst>
      <p:ext uri="{BB962C8B-B14F-4D97-AF65-F5344CB8AC3E}">
        <p14:creationId xmlns:p14="http://schemas.microsoft.com/office/powerpoint/2010/main" val="17517648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7</a:t>
            </a:fld>
            <a:endParaRPr lang="zh-CN" altLang="en-US"/>
          </a:p>
        </p:txBody>
      </p:sp>
    </p:spTree>
    <p:extLst>
      <p:ext uri="{BB962C8B-B14F-4D97-AF65-F5344CB8AC3E}">
        <p14:creationId xmlns:p14="http://schemas.microsoft.com/office/powerpoint/2010/main" val="20777804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8</a:t>
            </a:fld>
            <a:endParaRPr lang="zh-CN" altLang="en-US"/>
          </a:p>
        </p:txBody>
      </p:sp>
    </p:spTree>
    <p:extLst>
      <p:ext uri="{BB962C8B-B14F-4D97-AF65-F5344CB8AC3E}">
        <p14:creationId xmlns:p14="http://schemas.microsoft.com/office/powerpoint/2010/main" val="1121824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91472-CD15-D8B6-B702-D9A6D0D74CC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D8EB1FF-0CDA-E5DB-8276-2AD3B1DE262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80051EE-756F-99BD-EE11-50168F587A4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CCD13A0-E736-D249-7754-A9333F71675F}"/>
              </a:ext>
            </a:extLst>
          </p:cNvPr>
          <p:cNvSpPr>
            <a:spLocks noGrp="1"/>
          </p:cNvSpPr>
          <p:nvPr>
            <p:ph type="sldNum" sz="quarter" idx="10"/>
          </p:nvPr>
        </p:nvSpPr>
        <p:spPr/>
        <p:txBody>
          <a:bodyPr/>
          <a:lstStyle/>
          <a:p>
            <a:fld id="{0B14BD24-89E3-4C51-B736-BCCE6C13A884}" type="slidenum">
              <a:rPr lang="zh-CN" altLang="en-US" smtClean="0"/>
              <a:pPr/>
              <a:t>9</a:t>
            </a:fld>
            <a:endParaRPr lang="zh-CN" altLang="en-US"/>
          </a:p>
        </p:txBody>
      </p:sp>
    </p:spTree>
    <p:extLst>
      <p:ext uri="{BB962C8B-B14F-4D97-AF65-F5344CB8AC3E}">
        <p14:creationId xmlns:p14="http://schemas.microsoft.com/office/powerpoint/2010/main" val="2436101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10</a:t>
            </a:fld>
            <a:endParaRPr lang="zh-CN" altLang="en-US"/>
          </a:p>
        </p:txBody>
      </p:sp>
    </p:spTree>
    <p:extLst>
      <p:ext uri="{BB962C8B-B14F-4D97-AF65-F5344CB8AC3E}">
        <p14:creationId xmlns:p14="http://schemas.microsoft.com/office/powerpoint/2010/main" val="31889711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4E6671-AC37-DE59-0F69-2DBA6435CCE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5501453-88F1-F621-F47B-D488B4036B5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9CD0142-A959-F9D9-C74C-E7723996D9F9}"/>
              </a:ext>
            </a:extLst>
          </p:cNvPr>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zh-CN" altLang="en-US" dirty="0"/>
          </a:p>
        </p:txBody>
      </p:sp>
      <p:sp>
        <p:nvSpPr>
          <p:cNvPr id="4" name="灯片编号占位符 3">
            <a:extLst>
              <a:ext uri="{FF2B5EF4-FFF2-40B4-BE49-F238E27FC236}">
                <a16:creationId xmlns:a16="http://schemas.microsoft.com/office/drawing/2014/main" id="{7DB47452-D8B2-0D0C-5279-8C1D19B751B0}"/>
              </a:ext>
            </a:extLst>
          </p:cNvPr>
          <p:cNvSpPr>
            <a:spLocks noGrp="1"/>
          </p:cNvSpPr>
          <p:nvPr>
            <p:ph type="sldNum" sz="quarter" idx="5"/>
          </p:nvPr>
        </p:nvSpPr>
        <p:spPr/>
        <p:txBody>
          <a:bodyPr/>
          <a:lstStyle/>
          <a:p>
            <a:pPr>
              <a:defRPr/>
            </a:pPr>
            <a:fld id="{CD1CD96A-A6EF-4B0B-9885-C22D65D2CD20}" type="slidenum">
              <a:rPr lang="zh-CN" altLang="en-US" smtClean="0"/>
              <a:pPr>
                <a:defRPr/>
              </a:pPr>
              <a:t>11</a:t>
            </a:fld>
            <a:endParaRPr lang="zh-CN" altLang="en-US"/>
          </a:p>
        </p:txBody>
      </p:sp>
    </p:spTree>
    <p:extLst>
      <p:ext uri="{BB962C8B-B14F-4D97-AF65-F5344CB8AC3E}">
        <p14:creationId xmlns:p14="http://schemas.microsoft.com/office/powerpoint/2010/main" val="28139009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12</a:t>
            </a:fld>
            <a:endParaRPr lang="zh-CN" altLang="en-US"/>
          </a:p>
        </p:txBody>
      </p:sp>
    </p:spTree>
    <p:extLst>
      <p:ext uri="{BB962C8B-B14F-4D97-AF65-F5344CB8AC3E}">
        <p14:creationId xmlns:p14="http://schemas.microsoft.com/office/powerpoint/2010/main" val="8812584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CD241-90AB-FDB3-BE20-9FDA7A70DAC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02A2A9C-BE36-1120-F47D-91E70824ACE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5C28D70-CF86-29E5-6E60-9737CE26E5FD}"/>
              </a:ext>
            </a:extLst>
          </p:cNvPr>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zh-CN" altLang="en-US" dirty="0"/>
          </a:p>
        </p:txBody>
      </p:sp>
      <p:sp>
        <p:nvSpPr>
          <p:cNvPr id="4" name="灯片编号占位符 3">
            <a:extLst>
              <a:ext uri="{FF2B5EF4-FFF2-40B4-BE49-F238E27FC236}">
                <a16:creationId xmlns:a16="http://schemas.microsoft.com/office/drawing/2014/main" id="{E34F803F-665A-42C5-4876-FF5890C375C6}"/>
              </a:ext>
            </a:extLst>
          </p:cNvPr>
          <p:cNvSpPr>
            <a:spLocks noGrp="1"/>
          </p:cNvSpPr>
          <p:nvPr>
            <p:ph type="sldNum" sz="quarter" idx="5"/>
          </p:nvPr>
        </p:nvSpPr>
        <p:spPr/>
        <p:txBody>
          <a:bodyPr/>
          <a:lstStyle/>
          <a:p>
            <a:pPr>
              <a:defRPr/>
            </a:pPr>
            <a:fld id="{CD1CD96A-A6EF-4B0B-9885-C22D65D2CD20}" type="slidenum">
              <a:rPr lang="zh-CN" altLang="en-US" smtClean="0"/>
              <a:pPr>
                <a:defRPr/>
              </a:pPr>
              <a:t>13</a:t>
            </a:fld>
            <a:endParaRPr lang="zh-CN" altLang="en-US"/>
          </a:p>
        </p:txBody>
      </p:sp>
    </p:spTree>
    <p:extLst>
      <p:ext uri="{BB962C8B-B14F-4D97-AF65-F5344CB8AC3E}">
        <p14:creationId xmlns:p14="http://schemas.microsoft.com/office/powerpoint/2010/main" val="20081197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6AA75-E4E1-EE5F-B797-12E523C757A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C02EBEE-4B13-D8F4-F07E-7F2D3C1AAD9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7CEEA2F-B092-C64F-8CFC-CF57CA27BEB5}"/>
              </a:ext>
            </a:extLst>
          </p:cNvPr>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zh-CN" altLang="en-US" dirty="0"/>
          </a:p>
        </p:txBody>
      </p:sp>
      <p:sp>
        <p:nvSpPr>
          <p:cNvPr id="4" name="灯片编号占位符 3">
            <a:extLst>
              <a:ext uri="{FF2B5EF4-FFF2-40B4-BE49-F238E27FC236}">
                <a16:creationId xmlns:a16="http://schemas.microsoft.com/office/drawing/2014/main" id="{C918078B-FF4E-5017-8633-370D2F6B7CA3}"/>
              </a:ext>
            </a:extLst>
          </p:cNvPr>
          <p:cNvSpPr>
            <a:spLocks noGrp="1"/>
          </p:cNvSpPr>
          <p:nvPr>
            <p:ph type="sldNum" sz="quarter" idx="5"/>
          </p:nvPr>
        </p:nvSpPr>
        <p:spPr/>
        <p:txBody>
          <a:bodyPr/>
          <a:lstStyle/>
          <a:p>
            <a:pPr>
              <a:defRPr/>
            </a:pPr>
            <a:fld id="{CD1CD96A-A6EF-4B0B-9885-C22D65D2CD20}" type="slidenum">
              <a:rPr lang="zh-CN" altLang="en-US" smtClean="0"/>
              <a:pPr>
                <a:defRPr/>
              </a:pPr>
              <a:t>14</a:t>
            </a:fld>
            <a:endParaRPr lang="zh-CN" altLang="en-US"/>
          </a:p>
        </p:txBody>
      </p:sp>
    </p:spTree>
    <p:extLst>
      <p:ext uri="{BB962C8B-B14F-4D97-AF65-F5344CB8AC3E}">
        <p14:creationId xmlns:p14="http://schemas.microsoft.com/office/powerpoint/2010/main" val="14062972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15</a:t>
            </a:fld>
            <a:endParaRPr lang="zh-CN" altLang="en-US"/>
          </a:p>
        </p:txBody>
      </p:sp>
    </p:spTree>
    <p:extLst>
      <p:ext uri="{BB962C8B-B14F-4D97-AF65-F5344CB8AC3E}">
        <p14:creationId xmlns:p14="http://schemas.microsoft.com/office/powerpoint/2010/main" val="15492853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16</a:t>
            </a:fld>
            <a:endParaRPr lang="zh-CN" altLang="en-US"/>
          </a:p>
        </p:txBody>
      </p:sp>
    </p:spTree>
    <p:extLst>
      <p:ext uri="{BB962C8B-B14F-4D97-AF65-F5344CB8AC3E}">
        <p14:creationId xmlns:p14="http://schemas.microsoft.com/office/powerpoint/2010/main" val="19395336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B5B80-A1F8-3C49-DB36-090F9D3ABAB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5F57573-C743-B250-69C6-2A76C350D80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63C2A02-D490-0939-4CB9-1EBC0C7500C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023A5DE-D9CD-AD5F-377A-0BC64A26073A}"/>
              </a:ext>
            </a:extLst>
          </p:cNvPr>
          <p:cNvSpPr>
            <a:spLocks noGrp="1"/>
          </p:cNvSpPr>
          <p:nvPr>
            <p:ph type="sldNum" sz="quarter" idx="5"/>
          </p:nvPr>
        </p:nvSpPr>
        <p:spPr/>
        <p:txBody>
          <a:bodyPr/>
          <a:lstStyle/>
          <a:p>
            <a:pPr>
              <a:defRPr/>
            </a:pPr>
            <a:fld id="{CD1CD96A-A6EF-4B0B-9885-C22D65D2CD20}" type="slidenum">
              <a:rPr lang="zh-CN" altLang="en-US" smtClean="0"/>
              <a:pPr>
                <a:defRPr/>
              </a:pPr>
              <a:t>17</a:t>
            </a:fld>
            <a:endParaRPr lang="zh-CN" altLang="en-US"/>
          </a:p>
        </p:txBody>
      </p:sp>
    </p:spTree>
    <p:extLst>
      <p:ext uri="{BB962C8B-B14F-4D97-AF65-F5344CB8AC3E}">
        <p14:creationId xmlns:p14="http://schemas.microsoft.com/office/powerpoint/2010/main" val="10162743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18</a:t>
            </a:fld>
            <a:endParaRPr lang="zh-CN" altLang="en-US"/>
          </a:p>
        </p:txBody>
      </p:sp>
    </p:spTree>
    <p:extLst>
      <p:ext uri="{BB962C8B-B14F-4D97-AF65-F5344CB8AC3E}">
        <p14:creationId xmlns:p14="http://schemas.microsoft.com/office/powerpoint/2010/main" val="10244387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19</a:t>
            </a:fld>
            <a:endParaRPr lang="zh-CN" altLang="en-US"/>
          </a:p>
        </p:txBody>
      </p:sp>
    </p:spTree>
    <p:extLst>
      <p:ext uri="{BB962C8B-B14F-4D97-AF65-F5344CB8AC3E}">
        <p14:creationId xmlns:p14="http://schemas.microsoft.com/office/powerpoint/2010/main" val="21247492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FC011-EF60-0F13-C774-DCE147581DB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7D057BC-542C-145A-E399-4164117DD26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778BDE4-DB20-D410-898C-49A908D5380D}"/>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B05521BF-8F9A-938C-A90C-826353996655}"/>
              </a:ext>
            </a:extLst>
          </p:cNvPr>
          <p:cNvSpPr>
            <a:spLocks noGrp="1"/>
          </p:cNvSpPr>
          <p:nvPr>
            <p:ph type="sldNum" sz="quarter" idx="5"/>
          </p:nvPr>
        </p:nvSpPr>
        <p:spPr/>
        <p:txBody>
          <a:bodyPr/>
          <a:lstStyle/>
          <a:p>
            <a:pPr>
              <a:defRPr/>
            </a:pPr>
            <a:fld id="{CD1CD96A-A6EF-4B0B-9885-C22D65D2CD20}" type="slidenum">
              <a:rPr lang="zh-CN" altLang="en-US" smtClean="0"/>
              <a:pPr>
                <a:defRPr/>
              </a:pPr>
              <a:t>20</a:t>
            </a:fld>
            <a:endParaRPr lang="zh-CN" altLang="en-US"/>
          </a:p>
        </p:txBody>
      </p:sp>
    </p:spTree>
    <p:extLst>
      <p:ext uri="{BB962C8B-B14F-4D97-AF65-F5344CB8AC3E}">
        <p14:creationId xmlns:p14="http://schemas.microsoft.com/office/powerpoint/2010/main" val="19311385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21</a:t>
            </a:fld>
            <a:endParaRPr lang="zh-CN" altLang="en-US"/>
          </a:p>
        </p:txBody>
      </p:sp>
    </p:spTree>
    <p:extLst>
      <p:ext uri="{BB962C8B-B14F-4D97-AF65-F5344CB8AC3E}">
        <p14:creationId xmlns:p14="http://schemas.microsoft.com/office/powerpoint/2010/main" val="25043963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22</a:t>
            </a:fld>
            <a:endParaRPr lang="zh-CN" altLang="en-US"/>
          </a:p>
        </p:txBody>
      </p:sp>
    </p:spTree>
    <p:extLst>
      <p:ext uri="{BB962C8B-B14F-4D97-AF65-F5344CB8AC3E}">
        <p14:creationId xmlns:p14="http://schemas.microsoft.com/office/powerpoint/2010/main" val="5935287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23</a:t>
            </a:fld>
            <a:endParaRPr lang="zh-CN" altLang="en-US"/>
          </a:p>
        </p:txBody>
      </p:sp>
    </p:spTree>
    <p:extLst>
      <p:ext uri="{BB962C8B-B14F-4D97-AF65-F5344CB8AC3E}">
        <p14:creationId xmlns:p14="http://schemas.microsoft.com/office/powerpoint/2010/main" val="13456154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26</a:t>
            </a:fld>
            <a:endParaRPr lang="zh-CN" altLang="en-US"/>
          </a:p>
        </p:txBody>
      </p:sp>
    </p:spTree>
    <p:extLst>
      <p:ext uri="{BB962C8B-B14F-4D97-AF65-F5344CB8AC3E}">
        <p14:creationId xmlns:p14="http://schemas.microsoft.com/office/powerpoint/2010/main" val="38054068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39</a:t>
            </a:fld>
            <a:endParaRPr lang="zh-CN" altLang="en-US"/>
          </a:p>
        </p:txBody>
      </p:sp>
    </p:spTree>
    <p:extLst>
      <p:ext uri="{BB962C8B-B14F-4D97-AF65-F5344CB8AC3E}">
        <p14:creationId xmlns:p14="http://schemas.microsoft.com/office/powerpoint/2010/main" val="34556932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70FAE-0B48-EA21-F124-9E93BCA73A3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60198AF-33F8-DDA9-8399-76576FC770C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66567CD-44AB-00F8-7A63-C8B5CC2D795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12E9F15-C534-9E40-C52A-4259EE5C0B63}"/>
              </a:ext>
            </a:extLst>
          </p:cNvPr>
          <p:cNvSpPr>
            <a:spLocks noGrp="1"/>
          </p:cNvSpPr>
          <p:nvPr>
            <p:ph type="sldNum" sz="quarter" idx="5"/>
          </p:nvPr>
        </p:nvSpPr>
        <p:spPr/>
        <p:txBody>
          <a:bodyPr/>
          <a:lstStyle/>
          <a:p>
            <a:pPr>
              <a:defRPr/>
            </a:pPr>
            <a:fld id="{CD1CD96A-A6EF-4B0B-9885-C22D65D2CD20}" type="slidenum">
              <a:rPr lang="zh-CN" altLang="en-US" smtClean="0"/>
              <a:pPr>
                <a:defRPr/>
              </a:pPr>
              <a:t>51</a:t>
            </a:fld>
            <a:endParaRPr lang="zh-CN" altLang="en-US"/>
          </a:p>
        </p:txBody>
      </p:sp>
    </p:spTree>
    <p:extLst>
      <p:ext uri="{BB962C8B-B14F-4D97-AF65-F5344CB8AC3E}">
        <p14:creationId xmlns:p14="http://schemas.microsoft.com/office/powerpoint/2010/main" val="182821488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B14BD24-89E3-4C51-B736-BCCE6C13A884}" type="slidenum">
              <a:rPr lang="zh-CN" altLang="en-US" smtClean="0"/>
              <a:pPr/>
              <a:t>56</a:t>
            </a:fld>
            <a:endParaRPr lang="zh-CN" altLang="en-US"/>
          </a:p>
        </p:txBody>
      </p:sp>
    </p:spTree>
    <p:extLst>
      <p:ext uri="{BB962C8B-B14F-4D97-AF65-F5344CB8AC3E}">
        <p14:creationId xmlns:p14="http://schemas.microsoft.com/office/powerpoint/2010/main" val="421827210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3D9F4-02BA-27B7-2203-6D724A1508A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8A9C961-11AE-142E-10B6-D6075A36A47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10A6A47-94E9-2DEA-65C3-E5FAEF7BE3A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05EEC1F-0D40-BA91-0E74-6357E60C1E4F}"/>
              </a:ext>
            </a:extLst>
          </p:cNvPr>
          <p:cNvSpPr>
            <a:spLocks noGrp="1"/>
          </p:cNvSpPr>
          <p:nvPr>
            <p:ph type="sldNum" sz="quarter" idx="5"/>
          </p:nvPr>
        </p:nvSpPr>
        <p:spPr/>
        <p:txBody>
          <a:bodyPr/>
          <a:lstStyle/>
          <a:p>
            <a:fld id="{0B14BD24-89E3-4C51-B736-BCCE6C13A884}" type="slidenum">
              <a:rPr lang="zh-CN" altLang="en-US" smtClean="0"/>
              <a:pPr/>
              <a:t>57</a:t>
            </a:fld>
            <a:endParaRPr lang="zh-CN" altLang="en-US"/>
          </a:p>
        </p:txBody>
      </p:sp>
    </p:spTree>
    <p:extLst>
      <p:ext uri="{BB962C8B-B14F-4D97-AF65-F5344CB8AC3E}">
        <p14:creationId xmlns:p14="http://schemas.microsoft.com/office/powerpoint/2010/main" val="37891845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60</a:t>
            </a:fld>
            <a:endParaRPr lang="zh-CN" altLang="en-US"/>
          </a:p>
        </p:txBody>
      </p:sp>
    </p:spTree>
    <p:extLst>
      <p:ext uri="{BB962C8B-B14F-4D97-AF65-F5344CB8AC3E}">
        <p14:creationId xmlns:p14="http://schemas.microsoft.com/office/powerpoint/2010/main" val="41703329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61</a:t>
            </a:fld>
            <a:endParaRPr lang="zh-CN" altLang="en-US"/>
          </a:p>
        </p:txBody>
      </p:sp>
    </p:spTree>
    <p:extLst>
      <p:ext uri="{BB962C8B-B14F-4D97-AF65-F5344CB8AC3E}">
        <p14:creationId xmlns:p14="http://schemas.microsoft.com/office/powerpoint/2010/main" val="72327931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62</a:t>
            </a:fld>
            <a:endParaRPr lang="zh-CN" altLang="en-US"/>
          </a:p>
        </p:txBody>
      </p:sp>
    </p:spTree>
    <p:extLst>
      <p:ext uri="{BB962C8B-B14F-4D97-AF65-F5344CB8AC3E}">
        <p14:creationId xmlns:p14="http://schemas.microsoft.com/office/powerpoint/2010/main" val="206793717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63</a:t>
            </a:fld>
            <a:endParaRPr lang="zh-CN" altLang="en-US"/>
          </a:p>
        </p:txBody>
      </p:sp>
    </p:spTree>
    <p:extLst>
      <p:ext uri="{BB962C8B-B14F-4D97-AF65-F5344CB8AC3E}">
        <p14:creationId xmlns:p14="http://schemas.microsoft.com/office/powerpoint/2010/main" val="25591238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64</a:t>
            </a:fld>
            <a:endParaRPr lang="zh-CN" altLang="en-US"/>
          </a:p>
        </p:txBody>
      </p:sp>
    </p:spTree>
    <p:extLst>
      <p:ext uri="{BB962C8B-B14F-4D97-AF65-F5344CB8AC3E}">
        <p14:creationId xmlns:p14="http://schemas.microsoft.com/office/powerpoint/2010/main" val="171812603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65</a:t>
            </a:fld>
            <a:endParaRPr lang="zh-CN" altLang="en-US"/>
          </a:p>
        </p:txBody>
      </p:sp>
    </p:spTree>
    <p:extLst>
      <p:ext uri="{BB962C8B-B14F-4D97-AF65-F5344CB8AC3E}">
        <p14:creationId xmlns:p14="http://schemas.microsoft.com/office/powerpoint/2010/main" val="218094296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66</a:t>
            </a:fld>
            <a:endParaRPr lang="zh-CN" altLang="en-US"/>
          </a:p>
        </p:txBody>
      </p:sp>
    </p:spTree>
    <p:extLst>
      <p:ext uri="{BB962C8B-B14F-4D97-AF65-F5344CB8AC3E}">
        <p14:creationId xmlns:p14="http://schemas.microsoft.com/office/powerpoint/2010/main" val="9660064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67</a:t>
            </a:fld>
            <a:endParaRPr lang="zh-CN" altLang="en-US"/>
          </a:p>
        </p:txBody>
      </p:sp>
    </p:spTree>
    <p:extLst>
      <p:ext uri="{BB962C8B-B14F-4D97-AF65-F5344CB8AC3E}">
        <p14:creationId xmlns:p14="http://schemas.microsoft.com/office/powerpoint/2010/main" val="335839049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68</a:t>
            </a:fld>
            <a:endParaRPr lang="zh-CN" altLang="en-US"/>
          </a:p>
        </p:txBody>
      </p:sp>
    </p:spTree>
    <p:extLst>
      <p:ext uri="{BB962C8B-B14F-4D97-AF65-F5344CB8AC3E}">
        <p14:creationId xmlns:p14="http://schemas.microsoft.com/office/powerpoint/2010/main" val="91120162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1BABE-AFA1-EFE0-B845-1BEF7CCDD98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41FA5AA-0B5F-04BE-71E0-84E91B75736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5CDD90D-C922-48CE-CD66-535CAD1EDF1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1EC5278-363D-309E-84A9-9EFFFD925E61}"/>
              </a:ext>
            </a:extLst>
          </p:cNvPr>
          <p:cNvSpPr>
            <a:spLocks noGrp="1"/>
          </p:cNvSpPr>
          <p:nvPr>
            <p:ph type="sldNum" sz="quarter" idx="10"/>
          </p:nvPr>
        </p:nvSpPr>
        <p:spPr/>
        <p:txBody>
          <a:bodyPr/>
          <a:lstStyle/>
          <a:p>
            <a:fld id="{0B14BD24-89E3-4C51-B736-BCCE6C13A884}" type="slidenum">
              <a:rPr lang="zh-CN" altLang="en-US" smtClean="0"/>
              <a:pPr/>
              <a:t>69</a:t>
            </a:fld>
            <a:endParaRPr lang="zh-CN" altLang="en-US"/>
          </a:p>
        </p:txBody>
      </p:sp>
    </p:spTree>
    <p:extLst>
      <p:ext uri="{BB962C8B-B14F-4D97-AF65-F5344CB8AC3E}">
        <p14:creationId xmlns:p14="http://schemas.microsoft.com/office/powerpoint/2010/main" val="269672242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9B64E-92EC-81B0-82C3-6A849CDCAED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A31632B-5425-9D4A-E290-13415ED7596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83A262B-43BF-5006-3AF0-99A795CC6F1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9A302E5-C546-7F25-B844-C45F45879135}"/>
              </a:ext>
            </a:extLst>
          </p:cNvPr>
          <p:cNvSpPr>
            <a:spLocks noGrp="1"/>
          </p:cNvSpPr>
          <p:nvPr>
            <p:ph type="sldNum" sz="quarter" idx="10"/>
          </p:nvPr>
        </p:nvSpPr>
        <p:spPr/>
        <p:txBody>
          <a:bodyPr/>
          <a:lstStyle/>
          <a:p>
            <a:fld id="{0B14BD24-89E3-4C51-B736-BCCE6C13A884}" type="slidenum">
              <a:rPr lang="zh-CN" altLang="en-US" smtClean="0"/>
              <a:pPr/>
              <a:t>70</a:t>
            </a:fld>
            <a:endParaRPr lang="zh-CN" altLang="en-US"/>
          </a:p>
        </p:txBody>
      </p:sp>
    </p:spTree>
    <p:extLst>
      <p:ext uri="{BB962C8B-B14F-4D97-AF65-F5344CB8AC3E}">
        <p14:creationId xmlns:p14="http://schemas.microsoft.com/office/powerpoint/2010/main" val="258432959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3F3AC-5E38-AF7F-A9BB-6D8E62D4009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E913E85-11D3-E464-B5A1-11D2C412497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44C78C2-CE63-AE74-4A4A-47F7C623538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C91172D-70EC-42BB-0210-3222E51F43B4}"/>
              </a:ext>
            </a:extLst>
          </p:cNvPr>
          <p:cNvSpPr>
            <a:spLocks noGrp="1"/>
          </p:cNvSpPr>
          <p:nvPr>
            <p:ph type="sldNum" sz="quarter" idx="10"/>
          </p:nvPr>
        </p:nvSpPr>
        <p:spPr/>
        <p:txBody>
          <a:bodyPr/>
          <a:lstStyle/>
          <a:p>
            <a:fld id="{0B14BD24-89E3-4C51-B736-BCCE6C13A884}" type="slidenum">
              <a:rPr lang="zh-CN" altLang="en-US" smtClean="0"/>
              <a:pPr/>
              <a:t>71</a:t>
            </a:fld>
            <a:endParaRPr lang="zh-CN" altLang="en-US"/>
          </a:p>
        </p:txBody>
      </p:sp>
    </p:spTree>
    <p:extLst>
      <p:ext uri="{BB962C8B-B14F-4D97-AF65-F5344CB8AC3E}">
        <p14:creationId xmlns:p14="http://schemas.microsoft.com/office/powerpoint/2010/main" val="139708104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72</a:t>
            </a:fld>
            <a:endParaRPr lang="zh-CN" altLang="en-US"/>
          </a:p>
        </p:txBody>
      </p:sp>
    </p:spTree>
    <p:extLst>
      <p:ext uri="{BB962C8B-B14F-4D97-AF65-F5344CB8AC3E}">
        <p14:creationId xmlns:p14="http://schemas.microsoft.com/office/powerpoint/2010/main" val="429427218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73</a:t>
            </a:fld>
            <a:endParaRPr lang="zh-CN" altLang="en-US"/>
          </a:p>
        </p:txBody>
      </p:sp>
    </p:spTree>
    <p:extLst>
      <p:ext uri="{BB962C8B-B14F-4D97-AF65-F5344CB8AC3E}">
        <p14:creationId xmlns:p14="http://schemas.microsoft.com/office/powerpoint/2010/main" val="145108712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75</a:t>
            </a:fld>
            <a:endParaRPr lang="zh-CN" altLang="en-US"/>
          </a:p>
        </p:txBody>
      </p:sp>
    </p:spTree>
    <p:extLst>
      <p:ext uri="{BB962C8B-B14F-4D97-AF65-F5344CB8AC3E}">
        <p14:creationId xmlns:p14="http://schemas.microsoft.com/office/powerpoint/2010/main" val="121408868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76</a:t>
            </a:fld>
            <a:endParaRPr lang="zh-CN" altLang="en-US"/>
          </a:p>
        </p:txBody>
      </p:sp>
    </p:spTree>
    <p:extLst>
      <p:ext uri="{BB962C8B-B14F-4D97-AF65-F5344CB8AC3E}">
        <p14:creationId xmlns:p14="http://schemas.microsoft.com/office/powerpoint/2010/main" val="428209797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77</a:t>
            </a:fld>
            <a:endParaRPr lang="zh-CN" altLang="en-US"/>
          </a:p>
        </p:txBody>
      </p:sp>
    </p:spTree>
    <p:extLst>
      <p:ext uri="{BB962C8B-B14F-4D97-AF65-F5344CB8AC3E}">
        <p14:creationId xmlns:p14="http://schemas.microsoft.com/office/powerpoint/2010/main" val="4017271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AB2BE9-8D37-0D76-5861-CE9D9F4D0C82}"/>
              </a:ext>
            </a:extLst>
          </p:cNvPr>
          <p:cNvSpPr>
            <a:spLocks noGrp="1"/>
          </p:cNvSpPr>
          <p:nvPr>
            <p:ph type="title"/>
          </p:nvPr>
        </p:nvSpPr>
        <p:spPr>
          <a:xfrm>
            <a:off x="628650" y="360000"/>
            <a:ext cx="7886700" cy="461665"/>
          </a:xfrm>
          <a:prstGeom prst="rect">
            <a:avLst/>
          </a:prstGeom>
        </p:spPr>
        <p:txBody>
          <a:bodyPr anchor="ctr" anchorCtr="0">
            <a:spAutoFit/>
          </a:bodyPr>
          <a:lstStyle>
            <a:lvl1pPr>
              <a:defRPr sz="2400"/>
            </a:lvl1pPr>
          </a:lstStyle>
          <a:p>
            <a:r>
              <a:rPr lang="zh-CN" altLang="en-US" dirty="0"/>
              <a:t>单击此处编辑母版标题样式</a:t>
            </a:r>
          </a:p>
        </p:txBody>
      </p:sp>
      <p:sp>
        <p:nvSpPr>
          <p:cNvPr id="4" name="内容占位符 3">
            <a:extLst>
              <a:ext uri="{FF2B5EF4-FFF2-40B4-BE49-F238E27FC236}">
                <a16:creationId xmlns:a16="http://schemas.microsoft.com/office/drawing/2014/main" id="{50C25626-9BEC-4ACD-42D1-08D131A60E2C}"/>
              </a:ext>
            </a:extLst>
          </p:cNvPr>
          <p:cNvSpPr>
            <a:spLocks noGrp="1"/>
          </p:cNvSpPr>
          <p:nvPr>
            <p:ph sz="quarter" idx="10"/>
          </p:nvPr>
        </p:nvSpPr>
        <p:spPr>
          <a:xfrm>
            <a:off x="628650" y="900000"/>
            <a:ext cx="7886700" cy="3241090"/>
          </a:xfrm>
          <a:prstGeom prst="rect">
            <a:avLst/>
          </a:prstGeom>
        </p:spPr>
        <p:txBody>
          <a:bodyPr/>
          <a:lstStyle>
            <a:lvl1pPr marL="216000" indent="-180000">
              <a:lnSpc>
                <a:spcPct val="150000"/>
              </a:lnSpc>
              <a:spcBef>
                <a:spcPts val="0"/>
              </a:spcBef>
              <a:defRPr sz="2000"/>
            </a:lvl1pPr>
            <a:lvl2pPr marL="540000" indent="-180000">
              <a:lnSpc>
                <a:spcPct val="150000"/>
              </a:lnSpc>
              <a:spcBef>
                <a:spcPts val="0"/>
              </a:spcBef>
              <a:defRPr sz="1800"/>
            </a:lvl2pPr>
            <a:lvl3pPr marL="1080000" indent="-180000">
              <a:lnSpc>
                <a:spcPct val="150000"/>
              </a:lnSpc>
              <a:spcBef>
                <a:spcPts val="0"/>
              </a:spcBef>
              <a:defRPr sz="1600"/>
            </a:lvl3pPr>
            <a:lvl4pPr marL="1620000" indent="-180000">
              <a:lnSpc>
                <a:spcPct val="150000"/>
              </a:lnSpc>
              <a:spcBef>
                <a:spcPts val="0"/>
              </a:spcBef>
              <a:defRPr sz="1400"/>
            </a:lvl4pPr>
            <a:lvl5pPr marL="2160000" indent="-180000">
              <a:lnSpc>
                <a:spcPct val="150000"/>
              </a:lnSpc>
              <a:spcBef>
                <a:spcPts val="0"/>
              </a:spcBef>
              <a:defRPr sz="1400"/>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Tree>
    <p:extLst>
      <p:ext uri="{BB962C8B-B14F-4D97-AF65-F5344CB8AC3E}">
        <p14:creationId xmlns:p14="http://schemas.microsoft.com/office/powerpoint/2010/main" val="354272227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
    <p:spTree>
      <p:nvGrpSpPr>
        <p:cNvPr id="1" name=""/>
        <p:cNvGrpSpPr/>
        <p:nvPr/>
      </p:nvGrpSpPr>
      <p:grpSpPr>
        <a:xfrm>
          <a:off x="0" y="0"/>
          <a:ext cx="0" cy="0"/>
          <a:chOff x="0" y="0"/>
          <a:chExt cx="0" cy="0"/>
        </a:xfrm>
      </p:grpSpPr>
      <p:sp>
        <p:nvSpPr>
          <p:cNvPr id="8" name="内容占位符 7"/>
          <p:cNvSpPr>
            <a:spLocks noGrp="1"/>
          </p:cNvSpPr>
          <p:nvPr>
            <p:ph sz="quarter" idx="10" hasCustomPrompt="1"/>
          </p:nvPr>
        </p:nvSpPr>
        <p:spPr>
          <a:xfrm>
            <a:off x="466343" y="899999"/>
            <a:ext cx="8129017" cy="3600000"/>
          </a:xfrm>
          <a:prstGeom prst="rect">
            <a:avLst/>
          </a:prstGeom>
        </p:spPr>
        <p:txBody>
          <a:bodyPr vert="horz" lIns="91440" tIns="45720" rIns="91440" bIns="45720" rtlCol="0">
            <a:normAutofit/>
          </a:bodyPr>
          <a:lstStyle>
            <a:lvl1pPr marL="180000" indent="-342900">
              <a:lnSpc>
                <a:spcPts val="3000"/>
              </a:lnSpc>
              <a:spcBef>
                <a:spcPts val="0"/>
              </a:spcBef>
              <a:buClrTx/>
              <a:buFont typeface="Arial" panose="020B0604020202020204" pitchFamily="34" charset="0"/>
              <a:buChar char="•"/>
              <a:defRPr lang="zh-CN" altLang="en-US" dirty="0"/>
            </a:lvl1pPr>
            <a:lvl2pPr marL="742950" indent="-285750">
              <a:lnSpc>
                <a:spcPts val="3000"/>
              </a:lnSpc>
              <a:spcBef>
                <a:spcPts val="0"/>
              </a:spcBef>
              <a:buClr>
                <a:srgbClr val="0070C0"/>
              </a:buClr>
              <a:buFont typeface="Wingdings" panose="05000000000000000000" pitchFamily="2" charset="2"/>
              <a:buChar char=""/>
              <a:defRPr lang="zh-CN" altLang="en-US" dirty="0"/>
            </a:lvl2pPr>
            <a:lvl3pPr marL="1143000" indent="-228600">
              <a:lnSpc>
                <a:spcPts val="3000"/>
              </a:lnSpc>
              <a:spcBef>
                <a:spcPts val="0"/>
              </a:spcBef>
              <a:buClr>
                <a:srgbClr val="006600"/>
              </a:buClr>
              <a:buFont typeface="Montserrat" panose="00000500000000000000" pitchFamily="2" charset="0"/>
              <a:buChar char="‐"/>
              <a:defRPr lang="zh-CN" altLang="en-US" dirty="0"/>
            </a:lvl3pPr>
            <a:lvl4pPr>
              <a:lnSpc>
                <a:spcPts val="3000"/>
              </a:lnSpc>
              <a:spcBef>
                <a:spcPts val="0"/>
              </a:spcBef>
              <a:buFont typeface="Arial" panose="020B0604020202020204" pitchFamily="34" charset="0"/>
              <a:buChar char="•"/>
              <a:defRPr lang="zh-CN" altLang="en-US" dirty="0"/>
            </a:lvl4pPr>
            <a:lvl5pPr>
              <a:lnSpc>
                <a:spcPts val="3000"/>
              </a:lnSpc>
              <a:spcBef>
                <a:spcPts val="0"/>
              </a:spcBef>
              <a:buFont typeface="Arial" panose="020B0604020202020204" pitchFamily="34" charset="0"/>
              <a:buChar char="•"/>
              <a:defRPr lang="zh-CN" altLang="en-US" dirty="0"/>
            </a:lvl5pPr>
          </a:lstStyle>
          <a:p>
            <a:pPr marL="216000" lvl="0" indent="-180000">
              <a:lnSpc>
                <a:spcPct val="150000"/>
              </a:lnSpc>
              <a:spcBef>
                <a:spcPts val="0"/>
              </a:spcBef>
            </a:pPr>
            <a:r>
              <a:rPr lang="zh-CN" altLang="en-US" dirty="0"/>
              <a:t>编辑母版文本样式</a:t>
            </a:r>
          </a:p>
          <a:p>
            <a:pPr marL="540000" lvl="1" indent="-180000">
              <a:lnSpc>
                <a:spcPct val="150000"/>
              </a:lnSpc>
              <a:spcBef>
                <a:spcPts val="0"/>
              </a:spcBef>
            </a:pPr>
            <a:r>
              <a:rPr lang="zh-CN" altLang="en-US" dirty="0"/>
              <a:t>第二级</a:t>
            </a:r>
          </a:p>
          <a:p>
            <a:pPr marL="1080000" lvl="2" indent="-180000">
              <a:lnSpc>
                <a:spcPct val="150000"/>
              </a:lnSpc>
              <a:spcBef>
                <a:spcPts val="0"/>
              </a:spcBef>
            </a:pPr>
            <a:r>
              <a:rPr lang="zh-CN" altLang="en-US" dirty="0"/>
              <a:t>第三级</a:t>
            </a:r>
          </a:p>
          <a:p>
            <a:pPr marL="1620000" lvl="3" indent="-180000">
              <a:lnSpc>
                <a:spcPct val="150000"/>
              </a:lnSpc>
              <a:spcBef>
                <a:spcPts val="0"/>
              </a:spcBef>
            </a:pPr>
            <a:r>
              <a:rPr lang="zh-CN" altLang="en-US" dirty="0"/>
              <a:t>第四级</a:t>
            </a:r>
          </a:p>
          <a:p>
            <a:pPr marL="2160000" lvl="4" indent="-180000">
              <a:lnSpc>
                <a:spcPct val="150000"/>
              </a:lnSpc>
              <a:spcBef>
                <a:spcPts val="0"/>
              </a:spcBef>
            </a:pPr>
            <a:r>
              <a:rPr lang="zh-CN" altLang="en-US" dirty="0"/>
              <a:t>第五级</a:t>
            </a:r>
          </a:p>
        </p:txBody>
      </p:sp>
      <p:sp>
        <p:nvSpPr>
          <p:cNvPr id="3" name="AutoShape 5">
            <a:extLst>
              <a:ext uri="{FF2B5EF4-FFF2-40B4-BE49-F238E27FC236}">
                <a16:creationId xmlns:a16="http://schemas.microsoft.com/office/drawing/2014/main" id="{66574146-90E5-292A-F968-C8641CC4C7DD}"/>
              </a:ext>
            </a:extLst>
          </p:cNvPr>
          <p:cNvSpPr>
            <a:spLocks noChangeArrowheads="1"/>
          </p:cNvSpPr>
          <p:nvPr userDrawn="1"/>
        </p:nvSpPr>
        <p:spPr bwMode="auto">
          <a:xfrm>
            <a:off x="466344" y="360000"/>
            <a:ext cx="8129016" cy="354012"/>
          </a:xfrm>
          <a:prstGeom prst="roundRect">
            <a:avLst>
              <a:gd name="adj" fmla="val 16667"/>
            </a:avLst>
          </a:prstGeom>
          <a:solidFill>
            <a:srgbClr val="0070C0"/>
          </a:solidFill>
          <a:ln>
            <a:noFill/>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itchFamily="34" charset="0"/>
              <a:ea typeface="宋体" charset="-122"/>
              <a:cs typeface="+mn-cs"/>
            </a:endParaRPr>
          </a:p>
        </p:txBody>
      </p:sp>
      <p:sp>
        <p:nvSpPr>
          <p:cNvPr id="6" name="文本占位符 11"/>
          <p:cNvSpPr>
            <a:spLocks noGrp="1"/>
          </p:cNvSpPr>
          <p:nvPr>
            <p:ph type="body" sz="quarter" idx="11" hasCustomPrompt="1"/>
          </p:nvPr>
        </p:nvSpPr>
        <p:spPr>
          <a:xfrm>
            <a:off x="1332000" y="360000"/>
            <a:ext cx="6480000" cy="354012"/>
          </a:xfrm>
          <a:prstGeom prst="rect">
            <a:avLst/>
          </a:prstGeom>
        </p:spPr>
        <p:txBody>
          <a:bodyPr anchor="ctr"/>
          <a:lstStyle>
            <a:lvl1pPr marL="0" indent="0" algn="ctr">
              <a:buFontTx/>
              <a:buNone/>
              <a:defRPr lang="zh-CN" altLang="en-US" sz="2000" baseline="0" dirty="0">
                <a:solidFill>
                  <a:schemeClr val="bg1"/>
                </a:solidFill>
                <a:latin typeface="+mj-lt"/>
                <a:ea typeface="+mj-ea"/>
              </a:defRPr>
            </a:lvl1pPr>
          </a:lstStyle>
          <a:p>
            <a:pPr lvl="0"/>
            <a:r>
              <a:rPr lang="zh-CN" altLang="en-US" dirty="0"/>
              <a:t>编辑母版文本样式</a:t>
            </a:r>
          </a:p>
        </p:txBody>
      </p:sp>
    </p:spTree>
    <p:extLst>
      <p:ext uri="{BB962C8B-B14F-4D97-AF65-F5344CB8AC3E}">
        <p14:creationId xmlns:p14="http://schemas.microsoft.com/office/powerpoint/2010/main" val="202451861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4" name="AutoShape 5"/>
          <p:cNvSpPr>
            <a:spLocks noChangeArrowheads="1"/>
          </p:cNvSpPr>
          <p:nvPr/>
        </p:nvSpPr>
        <p:spPr bwMode="auto">
          <a:xfrm>
            <a:off x="466344" y="360000"/>
            <a:ext cx="8129016" cy="354012"/>
          </a:xfrm>
          <a:prstGeom prst="roundRect">
            <a:avLst>
              <a:gd name="adj" fmla="val 16667"/>
            </a:avLst>
          </a:prstGeom>
          <a:solidFill>
            <a:srgbClr val="0070C0"/>
          </a:solidFill>
          <a:ln>
            <a:noFill/>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itchFamily="34" charset="0"/>
              <a:ea typeface="宋体" charset="-122"/>
              <a:cs typeface="+mn-cs"/>
            </a:endParaRPr>
          </a:p>
        </p:txBody>
      </p:sp>
      <p:sp>
        <p:nvSpPr>
          <p:cNvPr id="6" name="文本占位符 11"/>
          <p:cNvSpPr>
            <a:spLocks noGrp="1"/>
          </p:cNvSpPr>
          <p:nvPr>
            <p:ph type="body" sz="quarter" idx="11" hasCustomPrompt="1"/>
          </p:nvPr>
        </p:nvSpPr>
        <p:spPr>
          <a:xfrm>
            <a:off x="1332000" y="360000"/>
            <a:ext cx="6480000" cy="354012"/>
          </a:xfrm>
          <a:prstGeom prst="rect">
            <a:avLst/>
          </a:prstGeom>
        </p:spPr>
        <p:txBody>
          <a:bodyPr anchor="ctr"/>
          <a:lstStyle>
            <a:lvl1pPr marL="0" indent="0" algn="ctr">
              <a:spcBef>
                <a:spcPts val="0"/>
              </a:spcBef>
              <a:buFontTx/>
              <a:buNone/>
              <a:defRPr lang="zh-CN" altLang="en-US" sz="2000" baseline="0" dirty="0">
                <a:solidFill>
                  <a:schemeClr val="bg1"/>
                </a:solidFill>
                <a:latin typeface="+mj-lt"/>
                <a:ea typeface="+mj-ea"/>
              </a:defRPr>
            </a:lvl1pPr>
          </a:lstStyle>
          <a:p>
            <a:pPr lvl="0"/>
            <a:r>
              <a:rPr lang="zh-CN" altLang="en-US" dirty="0"/>
              <a:t>编辑母版文本样式</a:t>
            </a:r>
          </a:p>
        </p:txBody>
      </p:sp>
    </p:spTree>
    <p:extLst>
      <p:ext uri="{BB962C8B-B14F-4D97-AF65-F5344CB8AC3E}">
        <p14:creationId xmlns:p14="http://schemas.microsoft.com/office/powerpoint/2010/main" val="2330431261"/>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209464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gif"/><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Line 3">
            <a:extLst>
              <a:ext uri="{FF2B5EF4-FFF2-40B4-BE49-F238E27FC236}">
                <a16:creationId xmlns:a16="http://schemas.microsoft.com/office/drawing/2014/main" id="{02D37275-AEE1-8D1E-6B0E-0675B864CB4D}"/>
              </a:ext>
            </a:extLst>
          </p:cNvPr>
          <p:cNvSpPr>
            <a:spLocks noChangeShapeType="1"/>
          </p:cNvSpPr>
          <p:nvPr userDrawn="1"/>
        </p:nvSpPr>
        <p:spPr bwMode="auto">
          <a:xfrm>
            <a:off x="5904000" y="4914158"/>
            <a:ext cx="3240000" cy="0"/>
          </a:xfrm>
          <a:prstGeom prst="line">
            <a:avLst/>
          </a:prstGeom>
          <a:noFill/>
          <a:ln w="12700" algn="ctr">
            <a:solidFill>
              <a:srgbClr val="85D1F7"/>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itchFamily="34" charset="0"/>
              <a:ea typeface="宋体" charset="-122"/>
              <a:cs typeface="+mn-cs"/>
            </a:endParaRPr>
          </a:p>
        </p:txBody>
      </p:sp>
      <p:sp>
        <p:nvSpPr>
          <p:cNvPr id="12" name="Line 3"/>
          <p:cNvSpPr>
            <a:spLocks noChangeShapeType="1"/>
          </p:cNvSpPr>
          <p:nvPr userDrawn="1"/>
        </p:nvSpPr>
        <p:spPr bwMode="auto">
          <a:xfrm>
            <a:off x="0" y="4923421"/>
            <a:ext cx="3240000" cy="0"/>
          </a:xfrm>
          <a:prstGeom prst="line">
            <a:avLst/>
          </a:prstGeom>
          <a:noFill/>
          <a:ln w="12700" algn="ctr">
            <a:solidFill>
              <a:srgbClr val="85D1F7"/>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itchFamily="34" charset="0"/>
              <a:ea typeface="宋体" charset="-122"/>
              <a:cs typeface="+mn-cs"/>
            </a:endParaRPr>
          </a:p>
        </p:txBody>
      </p:sp>
      <p:sp useBgFill="1">
        <p:nvSpPr>
          <p:cNvPr id="1030" name="Rectangle 4"/>
          <p:cNvSpPr>
            <a:spLocks noChangeArrowheads="1"/>
          </p:cNvSpPr>
          <p:nvPr userDrawn="1"/>
        </p:nvSpPr>
        <p:spPr bwMode="auto">
          <a:xfrm>
            <a:off x="4804259" y="4783353"/>
            <a:ext cx="1584000" cy="261610"/>
          </a:xfrm>
          <a:prstGeom prst="rect">
            <a:avLst/>
          </a:prstGeom>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altLang="zh-CN" sz="1100" dirty="0">
                <a:solidFill>
                  <a:schemeClr val="tx1">
                    <a:lumMod val="50000"/>
                    <a:lumOff val="50000"/>
                  </a:schemeClr>
                </a:solidFill>
              </a:rPr>
              <a:t>glplaman.github.io</a:t>
            </a:r>
            <a:endParaRPr lang="fr-FR" altLang="zh-CN" sz="1100" dirty="0">
              <a:solidFill>
                <a:schemeClr val="tx1">
                  <a:lumMod val="50000"/>
                  <a:lumOff val="50000"/>
                </a:schemeClr>
              </a:solidFill>
            </a:endParaRPr>
          </a:p>
        </p:txBody>
      </p:sp>
      <p:sp useBgFill="1">
        <p:nvSpPr>
          <p:cNvPr id="1031" name="Rectangle 5"/>
          <p:cNvSpPr>
            <a:spLocks noChangeArrowheads="1"/>
          </p:cNvSpPr>
          <p:nvPr userDrawn="1"/>
        </p:nvSpPr>
        <p:spPr bwMode="auto">
          <a:xfrm>
            <a:off x="3058621" y="4787341"/>
            <a:ext cx="1281120" cy="261610"/>
          </a:xfrm>
          <a:prstGeom prst="rect">
            <a:avLst/>
          </a:prstGeom>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lang="en-US" sz="1100" noProof="0" dirty="0">
                <a:solidFill>
                  <a:schemeClr val="tx1">
                    <a:lumMod val="50000"/>
                    <a:lumOff val="50000"/>
                  </a:schemeClr>
                </a:solidFill>
              </a:rPr>
              <a:t>Network@2026</a:t>
            </a:r>
            <a:endParaRPr lang="fr-FR" altLang="zh-CN" sz="1100" noProof="0" dirty="0">
              <a:solidFill>
                <a:schemeClr val="tx1">
                  <a:lumMod val="50000"/>
                  <a:lumOff val="50000"/>
                </a:schemeClr>
              </a:solidFill>
            </a:endParaRPr>
          </a:p>
        </p:txBody>
      </p:sp>
      <p:sp>
        <p:nvSpPr>
          <p:cNvPr id="13" name="Rectangle 9"/>
          <p:cNvSpPr>
            <a:spLocks noChangeArrowheads="1"/>
          </p:cNvSpPr>
          <p:nvPr userDrawn="1"/>
        </p:nvSpPr>
        <p:spPr bwMode="auto">
          <a:xfrm>
            <a:off x="8208963" y="4394200"/>
            <a:ext cx="609600" cy="609600"/>
          </a:xfrm>
          <a:prstGeom prst="rect">
            <a:avLst/>
          </a:prstGeom>
          <a:solidFill>
            <a:schemeClr val="bg1"/>
          </a:solidFill>
          <a:ln w="25400" algn="ctr">
            <a:solidFill>
              <a:srgbClr val="85D1F7"/>
            </a:solidFill>
            <a:miter lim="800000"/>
            <a:headEnd/>
            <a:tailEnd/>
          </a:ln>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fr-FR" altLang="zh-CN" sz="1800" b="0" i="0" u="none" strike="noStrike" kern="1200" cap="none" spc="0" normalizeH="0" baseline="0" noProof="0">
              <a:ln>
                <a:noFill/>
              </a:ln>
              <a:solidFill>
                <a:prstClr val="black"/>
              </a:solidFill>
              <a:effectLst/>
              <a:uLnTx/>
              <a:uFillTx/>
              <a:latin typeface="Calibri" pitchFamily="34" charset="0"/>
              <a:ea typeface="宋体" charset="-122"/>
              <a:cs typeface="Arial" charset="0"/>
            </a:endParaRPr>
          </a:p>
        </p:txBody>
      </p:sp>
      <p:pic>
        <p:nvPicPr>
          <p:cNvPr id="15" name="图片 14"/>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4392827" y="4684816"/>
            <a:ext cx="358346" cy="458684"/>
          </a:xfrm>
          <a:prstGeom prst="rect">
            <a:avLst/>
          </a:prstGeom>
        </p:spPr>
      </p:pic>
      <p:pic>
        <p:nvPicPr>
          <p:cNvPr id="6" name="图片 5">
            <a:extLst>
              <a:ext uri="{FF2B5EF4-FFF2-40B4-BE49-F238E27FC236}">
                <a16:creationId xmlns:a16="http://schemas.microsoft.com/office/drawing/2014/main" id="{9E9DF87D-192A-055C-159E-76C6BABEB6A9}"/>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25763" y="4411000"/>
            <a:ext cx="576000" cy="576000"/>
          </a:xfrm>
          <a:prstGeom prst="rect">
            <a:avLst/>
          </a:prstGeom>
        </p:spPr>
      </p:pic>
      <p:sp>
        <p:nvSpPr>
          <p:cNvPr id="7" name="标题占位符 6">
            <a:extLst>
              <a:ext uri="{FF2B5EF4-FFF2-40B4-BE49-F238E27FC236}">
                <a16:creationId xmlns:a16="http://schemas.microsoft.com/office/drawing/2014/main" id="{BD01B5FC-0B69-41E4-AE4A-1A8E3FF07446}"/>
              </a:ext>
            </a:extLst>
          </p:cNvPr>
          <p:cNvSpPr>
            <a:spLocks noGrp="1"/>
          </p:cNvSpPr>
          <p:nvPr>
            <p:ph type="title"/>
          </p:nvPr>
        </p:nvSpPr>
        <p:spPr>
          <a:xfrm>
            <a:off x="628650" y="360000"/>
            <a:ext cx="7886700" cy="461665"/>
          </a:xfrm>
          <a:prstGeom prst="rect">
            <a:avLst/>
          </a:prstGeom>
        </p:spPr>
        <p:txBody>
          <a:bodyPr vert="horz" lIns="91440" tIns="45720" rIns="91440" bIns="45720" rtlCol="0" anchor="ctr" anchorCtr="0">
            <a:spAutoFit/>
          </a:bodyPr>
          <a:lstStyle/>
          <a:p>
            <a:pPr lvl="0"/>
            <a:r>
              <a:rPr lang="zh-CN" altLang="en-US"/>
              <a:t>单击此处编辑母版标题样式</a:t>
            </a:r>
          </a:p>
        </p:txBody>
      </p:sp>
      <p:sp>
        <p:nvSpPr>
          <p:cNvPr id="9" name="文本占位符 8">
            <a:extLst>
              <a:ext uri="{FF2B5EF4-FFF2-40B4-BE49-F238E27FC236}">
                <a16:creationId xmlns:a16="http://schemas.microsoft.com/office/drawing/2014/main" id="{D13EBF30-91C2-B0A4-23E1-B65DE3A0225F}"/>
              </a:ext>
            </a:extLst>
          </p:cNvPr>
          <p:cNvSpPr>
            <a:spLocks noGrp="1"/>
          </p:cNvSpPr>
          <p:nvPr>
            <p:ph type="body" idx="1"/>
          </p:nvPr>
        </p:nvSpPr>
        <p:spPr>
          <a:xfrm>
            <a:off x="628650" y="900000"/>
            <a:ext cx="7886700" cy="3262312"/>
          </a:xfrm>
          <a:prstGeom prst="rect">
            <a:avLst/>
          </a:prstGeom>
        </p:spPr>
        <p:txBody>
          <a:bodyPr vert="horz" lIns="91440" tIns="45720" rIns="91440" bIns="45720" rtlCol="0">
            <a:normAutofit/>
          </a:bodyPr>
          <a:lstStyle/>
          <a:p>
            <a:pPr marL="216000" lvl="0" indent="-180000">
              <a:lnSpc>
                <a:spcPct val="150000"/>
              </a:lnSpc>
              <a:spcBef>
                <a:spcPts val="0"/>
              </a:spcBef>
            </a:pPr>
            <a:r>
              <a:rPr lang="zh-CN" altLang="en-US" dirty="0"/>
              <a:t>单击此处编辑母版文本样式</a:t>
            </a:r>
          </a:p>
          <a:p>
            <a:pPr marL="540000" lvl="1" indent="-180000">
              <a:lnSpc>
                <a:spcPct val="150000"/>
              </a:lnSpc>
              <a:spcBef>
                <a:spcPts val="0"/>
              </a:spcBef>
            </a:pPr>
            <a:r>
              <a:rPr lang="zh-CN" altLang="en-US" dirty="0"/>
              <a:t>二级</a:t>
            </a:r>
          </a:p>
          <a:p>
            <a:pPr marL="1080000" lvl="2" indent="-180000">
              <a:lnSpc>
                <a:spcPct val="150000"/>
              </a:lnSpc>
              <a:spcBef>
                <a:spcPts val="0"/>
              </a:spcBef>
            </a:pPr>
            <a:r>
              <a:rPr lang="zh-CN" altLang="en-US" dirty="0"/>
              <a:t>三级</a:t>
            </a:r>
          </a:p>
          <a:p>
            <a:pPr marL="1620000" lvl="3" indent="-180000">
              <a:lnSpc>
                <a:spcPct val="150000"/>
              </a:lnSpc>
              <a:spcBef>
                <a:spcPts val="0"/>
              </a:spcBef>
            </a:pPr>
            <a:r>
              <a:rPr lang="zh-CN" altLang="en-US" dirty="0"/>
              <a:t>四级</a:t>
            </a:r>
          </a:p>
          <a:p>
            <a:pPr marL="2160000" lvl="4" indent="-180000">
              <a:lnSpc>
                <a:spcPct val="150000"/>
              </a:lnSpc>
              <a:spcBef>
                <a:spcPts val="0"/>
              </a:spcBef>
            </a:pPr>
            <a:r>
              <a:rPr lang="zh-CN" altLang="en-US" dirty="0"/>
              <a:t>五级</a:t>
            </a:r>
          </a:p>
        </p:txBody>
      </p:sp>
    </p:spTree>
    <p:extLst>
      <p:ext uri="{BB962C8B-B14F-4D97-AF65-F5344CB8AC3E}">
        <p14:creationId xmlns:p14="http://schemas.microsoft.com/office/powerpoint/2010/main" val="33971222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xStyles>
    <p:titleStyle>
      <a:lvl1pPr algn="ctr" rtl="0" fontAlgn="base">
        <a:spcBef>
          <a:spcPct val="0"/>
        </a:spcBef>
        <a:spcAft>
          <a:spcPct val="0"/>
        </a:spcAft>
        <a:defRPr lang="zh-CN" altLang="en-US" sz="2400" kern="1200" smtClean="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ea typeface="宋体" charset="-122"/>
        </a:defRPr>
      </a:lvl2pPr>
      <a:lvl3pPr algn="ctr" rtl="0" fontAlgn="base">
        <a:spcBef>
          <a:spcPct val="0"/>
        </a:spcBef>
        <a:spcAft>
          <a:spcPct val="0"/>
        </a:spcAft>
        <a:defRPr sz="4400">
          <a:solidFill>
            <a:schemeClr val="tx1"/>
          </a:solidFill>
          <a:latin typeface="Calibri" pitchFamily="34" charset="0"/>
          <a:ea typeface="宋体" charset="-122"/>
        </a:defRPr>
      </a:lvl3pPr>
      <a:lvl4pPr algn="ctr" rtl="0" fontAlgn="base">
        <a:spcBef>
          <a:spcPct val="0"/>
        </a:spcBef>
        <a:spcAft>
          <a:spcPct val="0"/>
        </a:spcAft>
        <a:defRPr sz="4400">
          <a:solidFill>
            <a:schemeClr val="tx1"/>
          </a:solidFill>
          <a:latin typeface="Calibri" pitchFamily="34" charset="0"/>
          <a:ea typeface="宋体" charset="-122"/>
        </a:defRPr>
      </a:lvl4pPr>
      <a:lvl5pPr algn="ctr" rtl="0" fontAlgn="base">
        <a:spcBef>
          <a:spcPct val="0"/>
        </a:spcBef>
        <a:spcAft>
          <a:spcPct val="0"/>
        </a:spcAft>
        <a:defRPr sz="4400">
          <a:solidFill>
            <a:schemeClr val="tx1"/>
          </a:solidFill>
          <a:latin typeface="Calibri" pitchFamily="34" charset="0"/>
          <a:ea typeface="宋体"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p:titleStyle>
    <p:bodyStyle>
      <a:lvl1pPr marL="342900" indent="-342900" algn="l" rtl="0" fontAlgn="base">
        <a:spcBef>
          <a:spcPct val="20000"/>
        </a:spcBef>
        <a:spcAft>
          <a:spcPct val="0"/>
        </a:spcAft>
        <a:buFont typeface="Arial" charset="0"/>
        <a:buChar char="•"/>
        <a:defRPr lang="zh-CN" altLang="en-US" sz="2000" kern="1200" smtClean="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lang="zh-CN" altLang="en-US" sz="1800" kern="1200" smtClean="0">
          <a:solidFill>
            <a:schemeClr val="tx1"/>
          </a:solidFill>
          <a:latin typeface="+mn-lt"/>
          <a:ea typeface="+mn-ea"/>
          <a:cs typeface="+mn-cs"/>
        </a:defRPr>
      </a:lvl2pPr>
      <a:lvl3pPr marL="1143000" indent="-228600" algn="l" rtl="0" fontAlgn="base">
        <a:spcBef>
          <a:spcPct val="20000"/>
        </a:spcBef>
        <a:spcAft>
          <a:spcPct val="0"/>
        </a:spcAft>
        <a:buFont typeface="Arial" charset="0"/>
        <a:buChar char="•"/>
        <a:defRPr lang="zh-CN" altLang="en-US" sz="1600" kern="1200" smtClean="0">
          <a:solidFill>
            <a:schemeClr val="tx1"/>
          </a:solidFill>
          <a:latin typeface="+mn-lt"/>
          <a:ea typeface="+mn-ea"/>
          <a:cs typeface="+mn-cs"/>
        </a:defRPr>
      </a:lvl3pPr>
      <a:lvl4pPr marL="1600200" indent="-228600" algn="l" rtl="0" fontAlgn="base">
        <a:spcBef>
          <a:spcPct val="20000"/>
        </a:spcBef>
        <a:spcAft>
          <a:spcPct val="0"/>
        </a:spcAft>
        <a:buFont typeface="Arial" charset="0"/>
        <a:buChar char="–"/>
        <a:defRPr lang="zh-CN" altLang="en-US" sz="1400" kern="1200" smtClean="0">
          <a:solidFill>
            <a:schemeClr val="tx1"/>
          </a:solidFill>
          <a:latin typeface="+mn-lt"/>
          <a:ea typeface="+mn-ea"/>
          <a:cs typeface="+mn-cs"/>
        </a:defRPr>
      </a:lvl4pPr>
      <a:lvl5pPr marL="2057400" indent="-228600" algn="l" rtl="0" fontAlgn="base">
        <a:spcBef>
          <a:spcPct val="20000"/>
        </a:spcBef>
        <a:spcAft>
          <a:spcPct val="0"/>
        </a:spcAft>
        <a:buFont typeface="Arial" charset="0"/>
        <a:buChar char="»"/>
        <a:defRPr lang="zh-CN" altLang="en-US" sz="1400" kern="1200" smtClean="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tags" Target="../tags/tag5.xml"/><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xml"/><Relationship Id="rId1" Type="http://schemas.openxmlformats.org/officeDocument/2006/relationships/tags" Target="../tags/tag9.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xml"/><Relationship Id="rId1" Type="http://schemas.openxmlformats.org/officeDocument/2006/relationships/tags" Target="../tags/tag10.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xml"/><Relationship Id="rId1" Type="http://schemas.openxmlformats.org/officeDocument/2006/relationships/tags" Target="../tags/tag1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xml"/><Relationship Id="rId1" Type="http://schemas.openxmlformats.org/officeDocument/2006/relationships/tags" Target="../tags/tag1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3.xml"/><Relationship Id="rId1" Type="http://schemas.openxmlformats.org/officeDocument/2006/relationships/tags" Target="../tags/tag15.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21.xml"/><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19.png"/><Relationship Id="rId2" Type="http://schemas.openxmlformats.org/officeDocument/2006/relationships/image" Target="../media/image15.jpe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w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2.bin"/><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4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7" name="矩形 6"/>
          <p:cNvSpPr/>
          <p:nvPr/>
        </p:nvSpPr>
        <p:spPr>
          <a:xfrm>
            <a:off x="4992742" y="2219222"/>
            <a:ext cx="2483372" cy="938719"/>
          </a:xfrm>
          <a:prstGeom prst="rect">
            <a:avLst/>
          </a:prstGeom>
        </p:spPr>
        <p:txBody>
          <a:bodyPr wrap="none">
            <a:spAutoFit/>
          </a:bodyPr>
          <a:lstStyle/>
          <a:p>
            <a:pPr algn="ctr" eaLnBrk="0" hangingPunct="0"/>
            <a:r>
              <a:rPr lang="zh-CN" altLang="en-US" sz="5500" b="1" dirty="0">
                <a:solidFill>
                  <a:schemeClr val="bg1"/>
                </a:solidFill>
                <a:latin typeface="微软雅黑" pitchFamily="34" charset="-122"/>
                <a:ea typeface="微软雅黑" pitchFamily="34" charset="-122"/>
              </a:rPr>
              <a:t>物</a:t>
            </a:r>
            <a:r>
              <a:rPr lang="zh-CN" altLang="en-US" sz="2400" b="1" dirty="0">
                <a:solidFill>
                  <a:schemeClr val="bg1"/>
                </a:solidFill>
                <a:latin typeface="微软雅黑" pitchFamily="34" charset="-122"/>
                <a:ea typeface="微软雅黑" pitchFamily="34" charset="-122"/>
              </a:rPr>
              <a:t> </a:t>
            </a:r>
            <a:r>
              <a:rPr lang="zh-CN" altLang="en-US" sz="5500" b="1" dirty="0">
                <a:solidFill>
                  <a:schemeClr val="bg1"/>
                </a:solidFill>
                <a:latin typeface="微软雅黑" pitchFamily="34" charset="-122"/>
                <a:ea typeface="微软雅黑" pitchFamily="34" charset="-122"/>
              </a:rPr>
              <a:t>理</a:t>
            </a:r>
            <a:r>
              <a:rPr lang="zh-CN" altLang="en-US" sz="2400" b="1" dirty="0">
                <a:solidFill>
                  <a:schemeClr val="bg1"/>
                </a:solidFill>
                <a:latin typeface="微软雅黑" pitchFamily="34" charset="-122"/>
                <a:ea typeface="微软雅黑" pitchFamily="34" charset="-122"/>
              </a:rPr>
              <a:t> </a:t>
            </a:r>
            <a:r>
              <a:rPr lang="zh-CN" altLang="en-US" sz="5500" b="1" dirty="0">
                <a:solidFill>
                  <a:schemeClr val="bg1"/>
                </a:solidFill>
                <a:latin typeface="微软雅黑" pitchFamily="34" charset="-122"/>
                <a:ea typeface="微软雅黑" pitchFamily="34" charset="-122"/>
              </a:rPr>
              <a:t>层</a:t>
            </a:r>
            <a:endParaRPr lang="fr-FR" altLang="zh-CN" sz="5500" b="1" dirty="0">
              <a:solidFill>
                <a:schemeClr val="bg1"/>
              </a:solidFill>
              <a:latin typeface="微软雅黑" pitchFamily="34" charset="-122"/>
              <a:ea typeface="微软雅黑" pitchFamily="34" charset="-122"/>
            </a:endParaRPr>
          </a:p>
        </p:txBody>
      </p:sp>
      <p:sp>
        <p:nvSpPr>
          <p:cNvPr id="8" name="矩形 7"/>
          <p:cNvSpPr/>
          <p:nvPr/>
        </p:nvSpPr>
        <p:spPr>
          <a:xfrm>
            <a:off x="5565012" y="1736604"/>
            <a:ext cx="1338828" cy="523220"/>
          </a:xfrm>
          <a:prstGeom prst="rect">
            <a:avLst/>
          </a:prstGeom>
        </p:spPr>
        <p:txBody>
          <a:bodyPr wrap="none">
            <a:spAutoFit/>
          </a:bodyPr>
          <a:lstStyle/>
          <a:p>
            <a:pPr algn="ctr" eaLnBrk="0" hangingPunct="0"/>
            <a:r>
              <a:rPr lang="fr-FR" altLang="zh-CN" sz="2800" b="1" dirty="0">
                <a:solidFill>
                  <a:schemeClr val="bg1"/>
                </a:solidFill>
                <a:latin typeface="微软雅黑" pitchFamily="34" charset="-122"/>
                <a:ea typeface="微软雅黑" pitchFamily="34" charset="-122"/>
              </a:rPr>
              <a:t>第 2 章</a:t>
            </a:r>
          </a:p>
        </p:txBody>
      </p:sp>
      <p:sp>
        <p:nvSpPr>
          <p:cNvPr id="11" name="Rectangle 4"/>
          <p:cNvSpPr>
            <a:spLocks noChangeArrowheads="1"/>
          </p:cNvSpPr>
          <p:nvPr/>
        </p:nvSpPr>
        <p:spPr bwMode="auto">
          <a:xfrm>
            <a:off x="10302" y="2583673"/>
            <a:ext cx="2739383" cy="27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r>
              <a:rPr lang="fr-FR" sz="1200" b="1" dirty="0">
                <a:solidFill>
                  <a:srgbClr val="00B0F0"/>
                </a:solidFill>
                <a:latin typeface="微软雅黑" pitchFamily="34" charset="-122"/>
                <a:ea typeface="微软雅黑" pitchFamily="34" charset="-122"/>
              </a:rPr>
              <a:t>谢希仁  </a:t>
            </a:r>
            <a:r>
              <a:rPr lang="zh-CN" altLang="en-US" sz="1200" b="1" dirty="0">
                <a:solidFill>
                  <a:srgbClr val="00B0F0"/>
                </a:solidFill>
                <a:latin typeface="微软雅黑" pitchFamily="34" charset="-122"/>
                <a:ea typeface="微软雅黑" pitchFamily="34" charset="-122"/>
              </a:rPr>
              <a:t>谢钧  邢长友  </a:t>
            </a:r>
            <a:r>
              <a:rPr lang="fr-FR" sz="1200" b="1" dirty="0">
                <a:solidFill>
                  <a:srgbClr val="00B0F0"/>
                </a:solidFill>
                <a:latin typeface="微软雅黑" pitchFamily="34" charset="-122"/>
                <a:ea typeface="微软雅黑" pitchFamily="34" charset="-122"/>
              </a:rPr>
              <a:t>编著</a:t>
            </a:r>
          </a:p>
        </p:txBody>
      </p:sp>
      <p:sp>
        <p:nvSpPr>
          <p:cNvPr id="12" name="Rectangle 6"/>
          <p:cNvSpPr>
            <a:spLocks noChangeArrowheads="1"/>
          </p:cNvSpPr>
          <p:nvPr/>
        </p:nvSpPr>
        <p:spPr bwMode="auto">
          <a:xfrm>
            <a:off x="10303" y="2239963"/>
            <a:ext cx="2567798" cy="338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eaLnBrk="0" hangingPunct="0">
              <a:spcBef>
                <a:spcPts val="1000"/>
              </a:spcBef>
            </a:pPr>
            <a:r>
              <a:rPr lang="fr-FR" sz="1600" b="1" dirty="0">
                <a:solidFill>
                  <a:srgbClr val="00B0F0"/>
                </a:solidFill>
                <a:latin typeface="微软雅黑" pitchFamily="34" charset="-122"/>
                <a:ea typeface="微软雅黑" pitchFamily="34" charset="-122"/>
              </a:rPr>
              <a:t>计算机网络（第 </a:t>
            </a:r>
            <a:r>
              <a:rPr lang="en-US" altLang="zh-CN" sz="1600" b="1" dirty="0">
                <a:solidFill>
                  <a:srgbClr val="00B0F0"/>
                </a:solidFill>
                <a:latin typeface="微软雅黑" pitchFamily="34" charset="-122"/>
                <a:ea typeface="微软雅黑" pitchFamily="34" charset="-122"/>
              </a:rPr>
              <a:t>9</a:t>
            </a:r>
            <a:r>
              <a:rPr lang="fr-FR" sz="1600" b="1" dirty="0">
                <a:solidFill>
                  <a:srgbClr val="00B0F0"/>
                </a:solidFill>
                <a:latin typeface="微软雅黑" pitchFamily="34" charset="-122"/>
                <a:ea typeface="微软雅黑" pitchFamily="34" charset="-122"/>
              </a:rPr>
              <a:t> 版）</a:t>
            </a:r>
          </a:p>
        </p:txBody>
      </p:sp>
      <p:cxnSp>
        <p:nvCxnSpPr>
          <p:cNvPr id="13" name="直接连接符 12"/>
          <p:cNvCxnSpPr/>
          <p:nvPr/>
        </p:nvCxnSpPr>
        <p:spPr>
          <a:xfrm>
            <a:off x="0" y="2236788"/>
            <a:ext cx="2749685" cy="3175"/>
          </a:xfrm>
          <a:prstGeom prst="line">
            <a:avLst/>
          </a:prstGeom>
          <a:ln w="19050">
            <a:solidFill>
              <a:srgbClr val="6DAAE1"/>
            </a:solidFill>
          </a:ln>
        </p:spPr>
        <p:style>
          <a:lnRef idx="1">
            <a:schemeClr val="accent1"/>
          </a:lnRef>
          <a:fillRef idx="0">
            <a:schemeClr val="accent1"/>
          </a:fillRef>
          <a:effectRef idx="0">
            <a:schemeClr val="accent1"/>
          </a:effectRef>
          <a:fontRef idx="minor">
            <a:schemeClr val="tx1"/>
          </a:fontRef>
        </p:style>
      </p:cxnSp>
      <p:pic>
        <p:nvPicPr>
          <p:cNvPr id="14" name="图片 9"/>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222" y="2955148"/>
            <a:ext cx="1198563"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205601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9"/>
          <p:cNvSpPr>
            <a:spLocks noChangeArrowheads="1"/>
          </p:cNvSpPr>
          <p:nvPr/>
        </p:nvSpPr>
        <p:spPr bwMode="auto">
          <a:xfrm>
            <a:off x="1654339" y="1231023"/>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endParaRPr lang="fr-FR">
              <a:solidFill>
                <a:srgbClr val="FFFFFF"/>
              </a:solidFill>
              <a:latin typeface="宋体" charset="-122"/>
            </a:endParaRPr>
          </a:p>
        </p:txBody>
      </p:sp>
      <p:sp>
        <p:nvSpPr>
          <p:cNvPr id="5" name="Rectangle 10"/>
          <p:cNvSpPr>
            <a:spLocks noChangeArrowheads="1"/>
          </p:cNvSpPr>
          <p:nvPr/>
        </p:nvSpPr>
        <p:spPr bwMode="auto">
          <a:xfrm>
            <a:off x="1654339" y="1711144"/>
            <a:ext cx="5775325" cy="330200"/>
          </a:xfrm>
          <a:prstGeom prst="rect">
            <a:avLst/>
          </a:prstGeom>
          <a:solidFill>
            <a:srgbClr val="1956B9"/>
          </a:solidFill>
          <a:ln>
            <a:noFill/>
          </a:ln>
          <a:effectLst>
            <a:outerShdw blurRad="57785" dist="33020" dir="3180000" algn="ctr">
              <a:srgbClr val="000000">
                <a:alpha val="30000"/>
              </a:srgbClr>
            </a:outerShdw>
          </a:effectLst>
        </p:spPr>
        <p:txBody>
          <a:bodyPr anchor="ctr"/>
          <a:lstStyle/>
          <a:p>
            <a:pPr algn="ctr" eaLnBrk="0" hangingPunct="0"/>
            <a:endParaRPr lang="fr-FR">
              <a:solidFill>
                <a:srgbClr val="FFFFFF"/>
              </a:solidFill>
              <a:latin typeface="宋体" charset="-122"/>
            </a:endParaRPr>
          </a:p>
        </p:txBody>
      </p:sp>
      <p:sp>
        <p:nvSpPr>
          <p:cNvPr id="6" name="Rectangle 11"/>
          <p:cNvSpPr>
            <a:spLocks noChangeArrowheads="1"/>
          </p:cNvSpPr>
          <p:nvPr/>
        </p:nvSpPr>
        <p:spPr bwMode="auto">
          <a:xfrm>
            <a:off x="1654339" y="2201138"/>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endParaRPr lang="fr-FR">
              <a:solidFill>
                <a:srgbClr val="FFFFFF"/>
              </a:solidFill>
              <a:latin typeface="宋体" charset="-122"/>
            </a:endParaRPr>
          </a:p>
        </p:txBody>
      </p:sp>
      <p:sp>
        <p:nvSpPr>
          <p:cNvPr id="7" name="Rectangle 12"/>
          <p:cNvSpPr>
            <a:spLocks noChangeArrowheads="1"/>
          </p:cNvSpPr>
          <p:nvPr/>
        </p:nvSpPr>
        <p:spPr bwMode="auto">
          <a:xfrm>
            <a:off x="1654339" y="2689632"/>
            <a:ext cx="5775325" cy="330200"/>
          </a:xfrm>
          <a:prstGeom prst="rect">
            <a:avLst/>
          </a:prstGeom>
          <a:solidFill>
            <a:srgbClr val="1956B9"/>
          </a:solidFill>
          <a:ln>
            <a:noFill/>
          </a:ln>
          <a:effectLst>
            <a:outerShdw blurRad="57785" dist="33020" dir="3180000" algn="ctr">
              <a:srgbClr val="000000">
                <a:alpha val="30000"/>
              </a:srgbClr>
            </a:outerShdw>
          </a:effectLst>
        </p:spPr>
        <p:txBody>
          <a:bodyPr anchor="ctr"/>
          <a:lstStyle/>
          <a:p>
            <a:pPr algn="ctr" eaLnBrk="0" hangingPunct="0"/>
            <a:endParaRPr lang="fr-FR">
              <a:solidFill>
                <a:srgbClr val="FFFFFF"/>
              </a:solidFill>
              <a:latin typeface="宋体" charset="-122"/>
            </a:endParaRPr>
          </a:p>
        </p:txBody>
      </p:sp>
      <p:sp>
        <p:nvSpPr>
          <p:cNvPr id="8" name="Rectangle 13"/>
          <p:cNvSpPr>
            <a:spLocks noChangeArrowheads="1"/>
          </p:cNvSpPr>
          <p:nvPr/>
        </p:nvSpPr>
        <p:spPr bwMode="auto">
          <a:xfrm>
            <a:off x="1654339" y="3170448"/>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endParaRPr lang="fr-FR">
              <a:solidFill>
                <a:srgbClr val="FFFFFF"/>
              </a:solidFill>
              <a:latin typeface="宋体" charset="-122"/>
            </a:endParaRPr>
          </a:p>
        </p:txBody>
      </p:sp>
      <p:sp>
        <p:nvSpPr>
          <p:cNvPr id="9" name="Rectangle 14"/>
          <p:cNvSpPr>
            <a:spLocks noChangeArrowheads="1"/>
          </p:cNvSpPr>
          <p:nvPr/>
        </p:nvSpPr>
        <p:spPr bwMode="auto">
          <a:xfrm>
            <a:off x="1654339" y="3663270"/>
            <a:ext cx="5775325" cy="330200"/>
          </a:xfrm>
          <a:prstGeom prst="rect">
            <a:avLst/>
          </a:prstGeom>
          <a:solidFill>
            <a:srgbClr val="1956B9"/>
          </a:solidFill>
          <a:ln>
            <a:noFill/>
          </a:ln>
          <a:effectLst>
            <a:outerShdw blurRad="57785" dist="33020" dir="3180000" algn="ctr">
              <a:srgbClr val="000000">
                <a:alpha val="30000"/>
              </a:srgbClr>
            </a:outerShdw>
          </a:effectLst>
        </p:spPr>
        <p:txBody>
          <a:bodyPr anchor="ctr"/>
          <a:lstStyle/>
          <a:p>
            <a:pPr algn="ctr" eaLnBrk="0" hangingPunct="0"/>
            <a:endParaRPr lang="fr-FR">
              <a:solidFill>
                <a:srgbClr val="FFFFFF"/>
              </a:solidFill>
              <a:latin typeface="宋体" charset="-122"/>
            </a:endParaRPr>
          </a:p>
        </p:txBody>
      </p:sp>
      <p:sp>
        <p:nvSpPr>
          <p:cNvPr id="11" name="Line 16"/>
          <p:cNvSpPr>
            <a:spLocks noChangeShapeType="1"/>
          </p:cNvSpPr>
          <p:nvPr/>
        </p:nvSpPr>
        <p:spPr bwMode="auto">
          <a:xfrm>
            <a:off x="2402049" y="1049852"/>
            <a:ext cx="0" cy="3087642"/>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 name="Rectangle 17"/>
          <p:cNvSpPr>
            <a:spLocks noChangeArrowheads="1"/>
          </p:cNvSpPr>
          <p:nvPr/>
        </p:nvSpPr>
        <p:spPr bwMode="auto">
          <a:xfrm>
            <a:off x="1686086" y="1072882"/>
            <a:ext cx="5661539" cy="29554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ts val="3800"/>
              </a:lnSpc>
            </a:pPr>
            <a:r>
              <a:rPr lang="en-US" altLang="zh-CN" sz="2000" b="1" dirty="0">
                <a:solidFill>
                  <a:schemeClr val="bg1"/>
                </a:solidFill>
                <a:latin typeface="微软雅黑" pitchFamily="34" charset="-122"/>
                <a:ea typeface="微软雅黑" pitchFamily="34" charset="-122"/>
              </a:rPr>
              <a:t>2.1                                       </a:t>
            </a:r>
            <a:r>
              <a:rPr lang="zh-CN" altLang="zh-CN" sz="2000" b="1" dirty="0">
                <a:solidFill>
                  <a:schemeClr val="bg1"/>
                </a:solidFill>
                <a:latin typeface="微软雅黑" pitchFamily="34" charset="-122"/>
                <a:ea typeface="微软雅黑" pitchFamily="34" charset="-122"/>
              </a:rPr>
              <a:t>物理层的基本概念</a:t>
            </a:r>
          </a:p>
          <a:p>
            <a:pPr>
              <a:lnSpc>
                <a:spcPts val="3800"/>
              </a:lnSpc>
            </a:pPr>
            <a:r>
              <a:rPr lang="en-US" altLang="zh-CN" sz="2000" b="1" dirty="0">
                <a:solidFill>
                  <a:schemeClr val="bg1"/>
                </a:solidFill>
                <a:latin typeface="微软雅黑" pitchFamily="34" charset="-122"/>
                <a:ea typeface="微软雅黑" pitchFamily="34" charset="-122"/>
              </a:rPr>
              <a:t>2.2                                    </a:t>
            </a:r>
            <a:r>
              <a:rPr lang="zh-CN" altLang="en-US" sz="2000" b="1" dirty="0">
                <a:solidFill>
                  <a:schemeClr val="bg1"/>
                </a:solidFill>
                <a:latin typeface="微软雅黑" pitchFamily="34" charset="-122"/>
                <a:ea typeface="微软雅黑" pitchFamily="34" charset="-122"/>
              </a:rPr>
              <a:t>现代</a:t>
            </a:r>
            <a:r>
              <a:rPr lang="zh-CN" altLang="zh-CN" sz="2000" b="1" dirty="0">
                <a:solidFill>
                  <a:schemeClr val="bg1"/>
                </a:solidFill>
                <a:latin typeface="微软雅黑" pitchFamily="34" charset="-122"/>
                <a:ea typeface="微软雅黑" pitchFamily="34" charset="-122"/>
              </a:rPr>
              <a:t>通信的基础知识</a:t>
            </a:r>
          </a:p>
          <a:p>
            <a:pPr>
              <a:lnSpc>
                <a:spcPts val="3800"/>
              </a:lnSpc>
            </a:pPr>
            <a:r>
              <a:rPr lang="en-US" altLang="zh-CN" sz="2000" b="1" dirty="0">
                <a:solidFill>
                  <a:schemeClr val="bg1"/>
                </a:solidFill>
                <a:latin typeface="微软雅黑" pitchFamily="34" charset="-122"/>
                <a:ea typeface="微软雅黑" pitchFamily="34" charset="-122"/>
              </a:rPr>
              <a:t>2.3                                 </a:t>
            </a:r>
            <a:r>
              <a:rPr lang="zh-CN" altLang="zh-CN" sz="2000" b="1" dirty="0">
                <a:solidFill>
                  <a:schemeClr val="bg1"/>
                </a:solidFill>
                <a:latin typeface="微软雅黑" pitchFamily="34" charset="-122"/>
                <a:ea typeface="微软雅黑" pitchFamily="34" charset="-122"/>
              </a:rPr>
              <a:t>物理层</a:t>
            </a:r>
            <a:r>
              <a:rPr lang="zh-CN" altLang="en-US" sz="2000" b="1" dirty="0">
                <a:solidFill>
                  <a:schemeClr val="bg1"/>
                </a:solidFill>
                <a:latin typeface="微软雅黑" pitchFamily="34" charset="-122"/>
                <a:ea typeface="微软雅黑" pitchFamily="34" charset="-122"/>
              </a:rPr>
              <a:t>使用</a:t>
            </a:r>
            <a:r>
              <a:rPr lang="zh-CN" altLang="zh-CN" sz="2000" b="1" dirty="0">
                <a:solidFill>
                  <a:schemeClr val="bg1"/>
                </a:solidFill>
                <a:latin typeface="微软雅黑" pitchFamily="34" charset="-122"/>
                <a:ea typeface="微软雅黑" pitchFamily="34" charset="-122"/>
              </a:rPr>
              <a:t>的传输媒体</a:t>
            </a:r>
          </a:p>
          <a:p>
            <a:pPr>
              <a:lnSpc>
                <a:spcPts val="3800"/>
              </a:lnSpc>
            </a:pPr>
            <a:r>
              <a:rPr lang="en-US" altLang="zh-CN" sz="2000" b="1" dirty="0">
                <a:solidFill>
                  <a:schemeClr val="bg1"/>
                </a:solidFill>
                <a:latin typeface="微软雅黑" pitchFamily="34" charset="-122"/>
                <a:ea typeface="微软雅黑" pitchFamily="34" charset="-122"/>
              </a:rPr>
              <a:t>2.4                                              </a:t>
            </a:r>
            <a:r>
              <a:rPr lang="zh-CN" altLang="zh-CN" sz="2000" b="1" dirty="0">
                <a:solidFill>
                  <a:schemeClr val="bg1"/>
                </a:solidFill>
                <a:latin typeface="微软雅黑" pitchFamily="34" charset="-122"/>
                <a:ea typeface="微软雅黑" pitchFamily="34" charset="-122"/>
              </a:rPr>
              <a:t>信道复用技术</a:t>
            </a:r>
          </a:p>
          <a:p>
            <a:pPr>
              <a:lnSpc>
                <a:spcPts val="3800"/>
              </a:lnSpc>
            </a:pPr>
            <a:r>
              <a:rPr lang="en-US" altLang="zh-CN" sz="2000" b="1" dirty="0">
                <a:solidFill>
                  <a:schemeClr val="bg1"/>
                </a:solidFill>
                <a:latin typeface="微软雅黑" pitchFamily="34" charset="-122"/>
                <a:ea typeface="微软雅黑" pitchFamily="34" charset="-122"/>
              </a:rPr>
              <a:t>2.5                                              </a:t>
            </a:r>
            <a:r>
              <a:rPr lang="zh-CN" altLang="zh-CN" sz="2000" b="1" dirty="0">
                <a:solidFill>
                  <a:schemeClr val="bg1"/>
                </a:solidFill>
                <a:latin typeface="微软雅黑" pitchFamily="34" charset="-122"/>
                <a:ea typeface="微软雅黑" pitchFamily="34" charset="-122"/>
              </a:rPr>
              <a:t>数字传输系统</a:t>
            </a:r>
          </a:p>
          <a:p>
            <a:pPr>
              <a:lnSpc>
                <a:spcPts val="3800"/>
              </a:lnSpc>
            </a:pPr>
            <a:r>
              <a:rPr lang="en-US" altLang="zh-CN" sz="2000" b="1" dirty="0">
                <a:solidFill>
                  <a:schemeClr val="bg1"/>
                </a:solidFill>
                <a:latin typeface="微软雅黑" pitchFamily="34" charset="-122"/>
                <a:ea typeface="微软雅黑" pitchFamily="34" charset="-122"/>
              </a:rPr>
              <a:t>2.6                                              </a:t>
            </a:r>
            <a:r>
              <a:rPr lang="zh-CN" altLang="zh-CN" sz="2000" b="1" dirty="0">
                <a:solidFill>
                  <a:schemeClr val="bg1"/>
                </a:solidFill>
                <a:latin typeface="微软雅黑" pitchFamily="34" charset="-122"/>
                <a:ea typeface="微软雅黑" pitchFamily="34" charset="-122"/>
              </a:rPr>
              <a:t>宽带接入技术</a:t>
            </a:r>
            <a:endParaRPr lang="zh-CN" altLang="en-US"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6435693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sz="quarter" idx="10"/>
          </p:nvPr>
        </p:nvSpPr>
        <p:spPr>
          <a:xfrm>
            <a:off x="466343" y="900000"/>
            <a:ext cx="8129017" cy="3376990"/>
          </a:xfrm>
        </p:spPr>
        <p:txBody>
          <a:bodyPr/>
          <a:lstStyle/>
          <a:p>
            <a:r>
              <a:rPr lang="zh-CN" altLang="en-US" dirty="0"/>
              <a:t>物理层考虑的是怎样在连接网络节点的传输媒体上传输数据比特流，而不是指具体的传输媒体。</a:t>
            </a:r>
          </a:p>
          <a:p>
            <a:r>
              <a:rPr lang="zh-CN" altLang="en-US" dirty="0"/>
              <a:t>作用：尽可能屏蔽掉不同传输媒体和通信手段的差异，使物理层上面的数据链路层感觉不到这些差异。</a:t>
            </a:r>
          </a:p>
          <a:p>
            <a:r>
              <a:rPr lang="zh-CN" altLang="en-US" dirty="0"/>
              <a:t>数据链路层只需要考虑如何完成本层的协议和服务，而不必考虑下面的传输媒体怎样具体地传输这些比特流。</a:t>
            </a:r>
          </a:p>
        </p:txBody>
      </p:sp>
      <p:sp>
        <p:nvSpPr>
          <p:cNvPr id="4" name="文本占位符 3"/>
          <p:cNvSpPr>
            <a:spLocks noGrp="1"/>
          </p:cNvSpPr>
          <p:nvPr>
            <p:ph type="body" sz="quarter" idx="11"/>
          </p:nvPr>
        </p:nvSpPr>
        <p:spPr>
          <a:xfrm>
            <a:off x="1332000" y="360000"/>
            <a:ext cx="6480000" cy="354012"/>
          </a:xfrm>
        </p:spPr>
        <p:txBody>
          <a:bodyPr>
            <a:normAutofit fontScale="92500" lnSpcReduction="10000"/>
          </a:bodyPr>
          <a:lstStyle/>
          <a:p>
            <a:r>
              <a:rPr lang="en-US" altLang="zh-CN" dirty="0"/>
              <a:t>2.1  </a:t>
            </a:r>
            <a:r>
              <a:rPr lang="zh-CN" altLang="en-US" dirty="0"/>
              <a:t>物理层的基本概念</a:t>
            </a:r>
          </a:p>
        </p:txBody>
      </p:sp>
    </p:spTree>
    <p:custDataLst>
      <p:tags r:id="rId1"/>
    </p:custDataLst>
    <p:extLst>
      <p:ext uri="{BB962C8B-B14F-4D97-AF65-F5344CB8AC3E}">
        <p14:creationId xmlns:p14="http://schemas.microsoft.com/office/powerpoint/2010/main" val="3721415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1000"/>
                                        <p:tgtEl>
                                          <p:spTgt spid="5">
                                            <p:txEl>
                                              <p:pRg st="1" end="1"/>
                                            </p:txEl>
                                          </p:spTgt>
                                        </p:tgtEl>
                                      </p:cBhvr>
                                    </p:animEffect>
                                    <p:anim calcmode="lin" valueType="num">
                                      <p:cBhvr>
                                        <p:cTn id="13"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1000"/>
                                        <p:tgtEl>
                                          <p:spTgt spid="5">
                                            <p:txEl>
                                              <p:pRg st="2" end="2"/>
                                            </p:txEl>
                                          </p:spTgt>
                                        </p:tgtEl>
                                      </p:cBhvr>
                                    </p:animEffect>
                                    <p:anim calcmode="lin" valueType="num">
                                      <p:cBhvr>
                                        <p:cTn id="1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0"/>
          </p:nvPr>
        </p:nvSpPr>
        <p:spPr>
          <a:xfrm>
            <a:off x="466343" y="900000"/>
            <a:ext cx="8129017" cy="3376990"/>
          </a:xfrm>
        </p:spPr>
        <p:txBody>
          <a:bodyPr/>
          <a:lstStyle/>
          <a:p>
            <a:r>
              <a:rPr lang="zh-CN" altLang="en-US" dirty="0"/>
              <a:t>确定与传输媒体的接口的一些特性：</a:t>
            </a:r>
          </a:p>
          <a:p>
            <a:pPr lvl="1"/>
            <a:r>
              <a:rPr lang="zh-CN" altLang="en-US" dirty="0"/>
              <a:t>机械特性：指明接口所用接线器的形状和尺寸、引线数目和排列、固定和锁定装置等。</a:t>
            </a:r>
          </a:p>
          <a:p>
            <a:pPr lvl="1"/>
            <a:r>
              <a:rPr lang="zh-CN" altLang="en-US" dirty="0"/>
              <a:t>电气特性：指明在接口电缆的各条线上出现的电压的范围。</a:t>
            </a:r>
          </a:p>
          <a:p>
            <a:pPr lvl="1"/>
            <a:r>
              <a:rPr lang="zh-CN" altLang="en-US" dirty="0"/>
              <a:t>功能特性：指明某条线上出现的某一电平的电压的意义。</a:t>
            </a:r>
          </a:p>
          <a:p>
            <a:pPr lvl="1"/>
            <a:r>
              <a:rPr lang="zh-CN" altLang="en-US" dirty="0"/>
              <a:t>过程特性：指明对于不同功能的各种可能事件的出现顺序。 </a:t>
            </a:r>
          </a:p>
          <a:p>
            <a:endParaRPr lang="zh-CN" altLang="en-US" dirty="0"/>
          </a:p>
        </p:txBody>
      </p:sp>
      <p:sp>
        <p:nvSpPr>
          <p:cNvPr id="5" name="文本占位符 4"/>
          <p:cNvSpPr>
            <a:spLocks noGrp="1"/>
          </p:cNvSpPr>
          <p:nvPr>
            <p:ph type="body" sz="quarter" idx="11"/>
          </p:nvPr>
        </p:nvSpPr>
        <p:spPr>
          <a:xfrm>
            <a:off x="1332000" y="360000"/>
            <a:ext cx="6480000" cy="354012"/>
          </a:xfrm>
        </p:spPr>
        <p:txBody>
          <a:bodyPr>
            <a:normAutofit fontScale="92500" lnSpcReduction="10000"/>
          </a:bodyPr>
          <a:lstStyle/>
          <a:p>
            <a:r>
              <a:rPr lang="zh-CN" altLang="en-US" dirty="0"/>
              <a:t>物理层的主要任务</a:t>
            </a:r>
          </a:p>
        </p:txBody>
      </p:sp>
    </p:spTree>
    <p:custDataLst>
      <p:tags r:id="rId1"/>
    </p:custDataLst>
    <p:extLst>
      <p:ext uri="{BB962C8B-B14F-4D97-AF65-F5344CB8AC3E}">
        <p14:creationId xmlns:p14="http://schemas.microsoft.com/office/powerpoint/2010/main" val="1961820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1000"/>
                                        <p:tgtEl>
                                          <p:spTgt spid="4">
                                            <p:txEl>
                                              <p:pRg st="1" end="1"/>
                                            </p:txEl>
                                          </p:spTgt>
                                        </p:tgtEl>
                                      </p:cBhvr>
                                    </p:animEffect>
                                    <p:anim calcmode="lin" valueType="num">
                                      <p:cBhvr>
                                        <p:cTn id="13"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1000"/>
                                        <p:tgtEl>
                                          <p:spTgt spid="4">
                                            <p:txEl>
                                              <p:pRg st="2" end="2"/>
                                            </p:txEl>
                                          </p:spTgt>
                                        </p:tgtEl>
                                      </p:cBhvr>
                                    </p:animEffect>
                                    <p:anim calcmode="lin" valueType="num">
                                      <p:cBhvr>
                                        <p:cTn id="18"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1000"/>
                                        <p:tgtEl>
                                          <p:spTgt spid="4">
                                            <p:txEl>
                                              <p:pRg st="3" end="3"/>
                                            </p:txEl>
                                          </p:spTgt>
                                        </p:tgtEl>
                                      </p:cBhvr>
                                    </p:animEffect>
                                    <p:anim calcmode="lin" valueType="num">
                                      <p:cBhvr>
                                        <p:cTn id="23"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4">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1000"/>
                                        <p:tgtEl>
                                          <p:spTgt spid="4">
                                            <p:txEl>
                                              <p:pRg st="4" end="4"/>
                                            </p:txEl>
                                          </p:spTgt>
                                        </p:tgtEl>
                                      </p:cBhvr>
                                    </p:animEffect>
                                    <p:anim calcmode="lin" valueType="num">
                                      <p:cBhvr>
                                        <p:cTn id="28"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9A36B-EE21-ED24-639F-2144EF2CACCD}"/>
            </a:ext>
          </a:extLst>
        </p:cNvPr>
        <p:cNvGrpSpPr/>
        <p:nvPr/>
      </p:nvGrpSpPr>
      <p:grpSpPr>
        <a:xfrm>
          <a:off x="0" y="0"/>
          <a:ext cx="0" cy="0"/>
          <a:chOff x="0" y="0"/>
          <a:chExt cx="0" cy="0"/>
        </a:xfrm>
      </p:grpSpPr>
      <p:sp>
        <p:nvSpPr>
          <p:cNvPr id="4" name="内容占位符 3">
            <a:extLst>
              <a:ext uri="{FF2B5EF4-FFF2-40B4-BE49-F238E27FC236}">
                <a16:creationId xmlns:a16="http://schemas.microsoft.com/office/drawing/2014/main" id="{BCC60C2E-E7C4-6522-9F27-94A0EC8B0403}"/>
              </a:ext>
            </a:extLst>
          </p:cNvPr>
          <p:cNvSpPr>
            <a:spLocks noGrp="1"/>
          </p:cNvSpPr>
          <p:nvPr>
            <p:ph sz="quarter" idx="10"/>
          </p:nvPr>
        </p:nvSpPr>
        <p:spPr>
          <a:xfrm>
            <a:off x="466343" y="900000"/>
            <a:ext cx="8129017" cy="3376990"/>
          </a:xfrm>
        </p:spPr>
        <p:txBody>
          <a:bodyPr/>
          <a:lstStyle/>
          <a:p>
            <a:r>
              <a:rPr lang="zh-CN" altLang="en-US" dirty="0"/>
              <a:t>数据在计算机内部多采用并行传输方式，但在通信线路（传输媒体）上的传输方式一般都是串行传输。因此物理层还要完成传输方式的转换。</a:t>
            </a:r>
          </a:p>
          <a:p>
            <a:r>
              <a:rPr lang="zh-CN" altLang="en-US" dirty="0"/>
              <a:t>需要考虑不同传输媒体的特性。</a:t>
            </a:r>
            <a:endParaRPr lang="en-US" altLang="zh-CN" dirty="0"/>
          </a:p>
          <a:p>
            <a:r>
              <a:rPr lang="zh-CN" altLang="en-US" dirty="0"/>
              <a:t>为了提高传输比特流的效率，需要使用信道复用技术。</a:t>
            </a:r>
            <a:endParaRPr lang="en-US" altLang="zh-CN" dirty="0"/>
          </a:p>
          <a:p>
            <a:r>
              <a:rPr lang="zh-CN" altLang="en-US" dirty="0"/>
              <a:t>需要使用各种调制和编码技术，将数字信号转换为适合在传输媒体上传输的信号。</a:t>
            </a:r>
            <a:endParaRPr lang="en-US" altLang="zh-CN" dirty="0"/>
          </a:p>
          <a:p>
            <a:r>
              <a:rPr lang="en-US" altLang="zh-CN" dirty="0"/>
              <a:t>…</a:t>
            </a:r>
          </a:p>
          <a:p>
            <a:endParaRPr lang="zh-CN" altLang="en-US" dirty="0"/>
          </a:p>
        </p:txBody>
      </p:sp>
      <p:sp>
        <p:nvSpPr>
          <p:cNvPr id="5" name="文本占位符 4">
            <a:extLst>
              <a:ext uri="{FF2B5EF4-FFF2-40B4-BE49-F238E27FC236}">
                <a16:creationId xmlns:a16="http://schemas.microsoft.com/office/drawing/2014/main" id="{27D9E740-B565-8ABB-DAE0-8EFBE851F81D}"/>
              </a:ext>
            </a:extLst>
          </p:cNvPr>
          <p:cNvSpPr>
            <a:spLocks noGrp="1"/>
          </p:cNvSpPr>
          <p:nvPr>
            <p:ph type="body" sz="quarter" idx="11"/>
          </p:nvPr>
        </p:nvSpPr>
        <p:spPr>
          <a:xfrm>
            <a:off x="1332000" y="360000"/>
            <a:ext cx="6480000" cy="354012"/>
          </a:xfrm>
        </p:spPr>
        <p:txBody>
          <a:bodyPr>
            <a:normAutofit fontScale="92500" lnSpcReduction="10000"/>
          </a:bodyPr>
          <a:lstStyle/>
          <a:p>
            <a:r>
              <a:rPr lang="zh-CN" altLang="en-US" dirty="0"/>
              <a:t>物理层还需要考虑的问题</a:t>
            </a:r>
          </a:p>
        </p:txBody>
      </p:sp>
    </p:spTree>
    <p:custDataLst>
      <p:tags r:id="rId1"/>
    </p:custDataLst>
    <p:extLst>
      <p:ext uri="{BB962C8B-B14F-4D97-AF65-F5344CB8AC3E}">
        <p14:creationId xmlns:p14="http://schemas.microsoft.com/office/powerpoint/2010/main" val="3719324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1000"/>
                                        <p:tgtEl>
                                          <p:spTgt spid="4">
                                            <p:txEl>
                                              <p:pRg st="1" end="1"/>
                                            </p:txEl>
                                          </p:spTgt>
                                        </p:tgtEl>
                                      </p:cBhvr>
                                    </p:animEffect>
                                    <p:anim calcmode="lin" valueType="num">
                                      <p:cBhvr>
                                        <p:cTn id="13"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1000"/>
                                        <p:tgtEl>
                                          <p:spTgt spid="4">
                                            <p:txEl>
                                              <p:pRg st="2" end="2"/>
                                            </p:txEl>
                                          </p:spTgt>
                                        </p:tgtEl>
                                      </p:cBhvr>
                                    </p:animEffect>
                                    <p:anim calcmode="lin" valueType="num">
                                      <p:cBhvr>
                                        <p:cTn id="18"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1000"/>
                                        <p:tgtEl>
                                          <p:spTgt spid="4">
                                            <p:txEl>
                                              <p:pRg st="3" end="3"/>
                                            </p:txEl>
                                          </p:spTgt>
                                        </p:tgtEl>
                                      </p:cBhvr>
                                    </p:animEffect>
                                    <p:anim calcmode="lin" valueType="num">
                                      <p:cBhvr>
                                        <p:cTn id="23"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4">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1000"/>
                                        <p:tgtEl>
                                          <p:spTgt spid="4">
                                            <p:txEl>
                                              <p:pRg st="4" end="4"/>
                                            </p:txEl>
                                          </p:spTgt>
                                        </p:tgtEl>
                                      </p:cBhvr>
                                    </p:animEffect>
                                    <p:anim calcmode="lin" valueType="num">
                                      <p:cBhvr>
                                        <p:cTn id="28"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9"/>
          <p:cNvSpPr>
            <a:spLocks noChangeArrowheads="1"/>
          </p:cNvSpPr>
          <p:nvPr/>
        </p:nvSpPr>
        <p:spPr bwMode="auto">
          <a:xfrm>
            <a:off x="2629135" y="1379948"/>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7" name="Rectangle 10"/>
          <p:cNvSpPr>
            <a:spLocks noChangeArrowheads="1"/>
          </p:cNvSpPr>
          <p:nvPr/>
        </p:nvSpPr>
        <p:spPr bwMode="auto">
          <a:xfrm>
            <a:off x="2629135" y="1986373"/>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8" name="Rectangle 11"/>
          <p:cNvSpPr>
            <a:spLocks noChangeArrowheads="1"/>
          </p:cNvSpPr>
          <p:nvPr/>
        </p:nvSpPr>
        <p:spPr bwMode="auto">
          <a:xfrm>
            <a:off x="2629135" y="2603910"/>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dirty="0">
              <a:solidFill>
                <a:srgbClr val="FFFFFF"/>
              </a:solidFill>
              <a:latin typeface="宋体" charset="-122"/>
            </a:endParaRPr>
          </a:p>
        </p:txBody>
      </p:sp>
      <p:sp>
        <p:nvSpPr>
          <p:cNvPr id="9" name="Line 16"/>
          <p:cNvSpPr>
            <a:spLocks noChangeShapeType="1"/>
          </p:cNvSpPr>
          <p:nvPr/>
        </p:nvSpPr>
        <p:spPr bwMode="auto">
          <a:xfrm>
            <a:off x="3637198" y="1308510"/>
            <a:ext cx="0" cy="180022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Rectangle 8"/>
          <p:cNvSpPr>
            <a:spLocks noChangeArrowheads="1"/>
          </p:cNvSpPr>
          <p:nvPr/>
        </p:nvSpPr>
        <p:spPr bwMode="auto">
          <a:xfrm>
            <a:off x="2700573" y="1125948"/>
            <a:ext cx="5616113" cy="1846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200000"/>
              </a:lnSpc>
            </a:pPr>
            <a:r>
              <a:rPr lang="en-US" altLang="zh-CN" sz="2000" b="1" dirty="0">
                <a:solidFill>
                  <a:schemeClr val="bg1"/>
                </a:solidFill>
                <a:latin typeface="微软雅黑" pitchFamily="34" charset="-122"/>
                <a:ea typeface="微软雅黑" pitchFamily="34" charset="-122"/>
              </a:rPr>
              <a:t>2.2.1                                    </a:t>
            </a:r>
            <a:r>
              <a:rPr lang="zh-CN" altLang="en-US" sz="2000" b="1" dirty="0">
                <a:solidFill>
                  <a:schemeClr val="bg1"/>
                </a:solidFill>
                <a:latin typeface="微软雅黑" pitchFamily="34" charset="-122"/>
                <a:ea typeface="微软雅黑" pitchFamily="34" charset="-122"/>
              </a:rPr>
              <a:t>通信中的常用术语</a:t>
            </a:r>
          </a:p>
          <a:p>
            <a:pPr eaLnBrk="0" hangingPunct="0">
              <a:lnSpc>
                <a:spcPct val="200000"/>
              </a:lnSpc>
            </a:pPr>
            <a:r>
              <a:rPr lang="en-US" altLang="zh-CN" sz="2000" b="1" dirty="0">
                <a:solidFill>
                  <a:schemeClr val="bg1"/>
                </a:solidFill>
                <a:latin typeface="微软雅黑" pitchFamily="34" charset="-122"/>
                <a:ea typeface="微软雅黑" pitchFamily="34" charset="-122"/>
              </a:rPr>
              <a:t>2.2.2                          </a:t>
            </a:r>
            <a:r>
              <a:rPr lang="zh-CN" altLang="en-US" sz="2000" b="1" dirty="0">
                <a:solidFill>
                  <a:schemeClr val="bg1"/>
                </a:solidFill>
                <a:latin typeface="微软雅黑" pitchFamily="34" charset="-122"/>
                <a:ea typeface="微软雅黑" pitchFamily="34" charset="-122"/>
              </a:rPr>
              <a:t>有关信道的几个基本概念</a:t>
            </a:r>
          </a:p>
          <a:p>
            <a:pPr eaLnBrk="0" hangingPunct="0">
              <a:lnSpc>
                <a:spcPct val="200000"/>
              </a:lnSpc>
            </a:pPr>
            <a:r>
              <a:rPr lang="en-US" altLang="zh-CN" sz="2000" b="1" dirty="0">
                <a:solidFill>
                  <a:schemeClr val="bg1"/>
                </a:solidFill>
                <a:latin typeface="微软雅黑" pitchFamily="34" charset="-122"/>
                <a:ea typeface="微软雅黑" pitchFamily="34" charset="-122"/>
              </a:rPr>
              <a:t>2.2.3                                       </a:t>
            </a:r>
            <a:r>
              <a:rPr lang="zh-CN" altLang="en-US" sz="2000" b="1" dirty="0">
                <a:solidFill>
                  <a:schemeClr val="bg1"/>
                </a:solidFill>
                <a:latin typeface="微软雅黑" pitchFamily="34" charset="-122"/>
                <a:ea typeface="微软雅黑" pitchFamily="34" charset="-122"/>
              </a:rPr>
              <a:t>信道的极限容量</a:t>
            </a:r>
          </a:p>
        </p:txBody>
      </p:sp>
      <p:sp>
        <p:nvSpPr>
          <p:cNvPr id="11" name="Rectangle 27"/>
          <p:cNvSpPr>
            <a:spLocks noChangeArrowheads="1"/>
          </p:cNvSpPr>
          <p:nvPr/>
        </p:nvSpPr>
        <p:spPr bwMode="auto">
          <a:xfrm>
            <a:off x="639730" y="1379948"/>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12" name="Rectangle 29"/>
          <p:cNvSpPr>
            <a:spLocks noChangeArrowheads="1"/>
          </p:cNvSpPr>
          <p:nvPr/>
        </p:nvSpPr>
        <p:spPr bwMode="auto">
          <a:xfrm>
            <a:off x="648619" y="1474880"/>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2.2</a:t>
            </a:r>
          </a:p>
          <a:p>
            <a:pPr eaLnBrk="0" hangingPunct="0"/>
            <a:r>
              <a:rPr lang="zh-CN" altLang="en-US" sz="2000" b="1" dirty="0">
                <a:solidFill>
                  <a:schemeClr val="bg1"/>
                </a:solidFill>
                <a:latin typeface="微软雅黑" pitchFamily="34" charset="-122"/>
                <a:ea typeface="微软雅黑" pitchFamily="34" charset="-122"/>
              </a:rPr>
              <a:t>现代通信的基础知识</a:t>
            </a:r>
            <a:endParaRPr lang="zh-CN" altLang="fr-FR" sz="2000" b="1" dirty="0">
              <a:solidFill>
                <a:schemeClr val="bg1"/>
              </a:solidFill>
              <a:latin typeface="微软雅黑" pitchFamily="34" charset="-122"/>
              <a:ea typeface="微软雅黑" pitchFamily="34" charset="-122"/>
            </a:endParaRPr>
          </a:p>
        </p:txBody>
      </p:sp>
    </p:spTree>
    <p:custDataLst>
      <p:tags r:id="rId1"/>
    </p:custDataLst>
    <p:extLst>
      <p:ext uri="{BB962C8B-B14F-4D97-AF65-F5344CB8AC3E}">
        <p14:creationId xmlns:p14="http://schemas.microsoft.com/office/powerpoint/2010/main" val="668946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fill="hold" grpId="0" nodeType="clickEffect">
                                  <p:stCondLst>
                                    <p:cond delay="0"/>
                                  </p:stCondLst>
                                  <p:childTnLst>
                                    <p:anim calcmode="discrete" valueType="str">
                                      <p:cBhvr>
                                        <p:cTn id="6" dur="1000" fill="hold"/>
                                        <p:tgtEl>
                                          <p:spTgt spid="6"/>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35" presetClass="emph" presetSubtype="0" fill="hold" grpId="0" nodeType="clickEffect">
                                  <p:stCondLst>
                                    <p:cond delay="0"/>
                                  </p:stCondLst>
                                  <p:childTnLst>
                                    <p:anim calcmode="discrete" valueType="str">
                                      <p:cBhvr>
                                        <p:cTn id="10" dur="1000" fill="hold"/>
                                        <p:tgtEl>
                                          <p:spTgt spid="7"/>
                                        </p:tgtEl>
                                        <p:attrNameLst>
                                          <p:attrName>style.visibility</p:attrName>
                                        </p:attrNameLst>
                                      </p:cBhvr>
                                      <p:tavLst>
                                        <p:tav tm="0">
                                          <p:val>
                                            <p:strVal val="hidden"/>
                                          </p:val>
                                        </p:tav>
                                        <p:tav tm="50000">
                                          <p:val>
                                            <p:strVal val="visible"/>
                                          </p:val>
                                        </p:tav>
                                      </p:tavLst>
                                    </p:anim>
                                  </p:childTnLst>
                                </p:cTn>
                              </p:par>
                            </p:childTnLst>
                          </p:cTn>
                        </p:par>
                      </p:childTnLst>
                    </p:cTn>
                  </p:par>
                  <p:par>
                    <p:cTn id="11" fill="hold">
                      <p:stCondLst>
                        <p:cond delay="indefinite"/>
                      </p:stCondLst>
                      <p:childTnLst>
                        <p:par>
                          <p:cTn id="12" fill="hold">
                            <p:stCondLst>
                              <p:cond delay="0"/>
                            </p:stCondLst>
                            <p:childTnLst>
                              <p:par>
                                <p:cTn id="13" presetID="35" presetClass="emph" presetSubtype="0" fill="hold" grpId="0" nodeType="clickEffect">
                                  <p:stCondLst>
                                    <p:cond delay="0"/>
                                  </p:stCondLst>
                                  <p:childTnLst>
                                    <p:anim calcmode="discrete" valueType="str">
                                      <p:cBhvr>
                                        <p:cTn id="14" dur="1000" fill="hold"/>
                                        <p:tgtEl>
                                          <p:spTgt spid="8"/>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a:xfrm>
            <a:off x="1332000" y="360000"/>
            <a:ext cx="6480000" cy="354012"/>
          </a:xfrm>
        </p:spPr>
        <p:txBody>
          <a:bodyPr>
            <a:normAutofit fontScale="92500" lnSpcReduction="10000"/>
          </a:bodyPr>
          <a:lstStyle/>
          <a:p>
            <a:r>
              <a:rPr lang="en-US" altLang="zh-CN" dirty="0"/>
              <a:t>2.2.1  </a:t>
            </a:r>
            <a:r>
              <a:rPr lang="zh-CN" altLang="en-US" dirty="0"/>
              <a:t>通信中的常用术语</a:t>
            </a:r>
          </a:p>
        </p:txBody>
      </p:sp>
      <p:sp>
        <p:nvSpPr>
          <p:cNvPr id="99" name="内容占位符 2">
            <a:extLst>
              <a:ext uri="{FF2B5EF4-FFF2-40B4-BE49-F238E27FC236}">
                <a16:creationId xmlns:a16="http://schemas.microsoft.com/office/drawing/2014/main" id="{8DB2E432-7B17-39A0-E33D-CD034B15619D}"/>
              </a:ext>
            </a:extLst>
          </p:cNvPr>
          <p:cNvSpPr txBox="1">
            <a:spLocks/>
          </p:cNvSpPr>
          <p:nvPr/>
        </p:nvSpPr>
        <p:spPr>
          <a:xfrm>
            <a:off x="1966823" y="1570008"/>
            <a:ext cx="6628537" cy="2518913"/>
          </a:xfrm>
          <a:prstGeom prst="rect">
            <a:avLst/>
          </a:prstGeom>
        </p:spPr>
        <p:txBody>
          <a:bodyPr/>
          <a:lstStyle>
            <a:lvl1pPr marL="342900" indent="-342900">
              <a:lnSpc>
                <a:spcPts val="3000"/>
              </a:lnSpc>
              <a:spcBef>
                <a:spcPts val="0"/>
              </a:spcBef>
              <a:buClr>
                <a:srgbClr val="0066CC"/>
              </a:buClr>
              <a:buFont typeface="Wingdings" panose="05000000000000000000" pitchFamily="2" charset="2"/>
              <a:buChar char="l"/>
              <a:defRPr lang="zh-CN" altLang="en-US" sz="2000" b="1" dirty="0" smtClean="0">
                <a:solidFill>
                  <a:srgbClr val="0000FF"/>
                </a:solidFill>
                <a:latin typeface="微软雅黑" pitchFamily="34" charset="-122"/>
                <a:ea typeface="微软雅黑" pitchFamily="34" charset="-122"/>
              </a:defRPr>
            </a:lvl1pPr>
            <a:lvl2pPr marL="742950" indent="-285750">
              <a:lnSpc>
                <a:spcPts val="3000"/>
              </a:lnSpc>
              <a:spcBef>
                <a:spcPts val="0"/>
              </a:spcBef>
              <a:buClr>
                <a:schemeClr val="accent6">
                  <a:lumMod val="50000"/>
                </a:schemeClr>
              </a:buClr>
              <a:buFont typeface="Wingdings" panose="05000000000000000000" pitchFamily="2" charset="2"/>
              <a:buChar char="u"/>
              <a:defRPr sz="1800" b="1">
                <a:latin typeface="微软雅黑" panose="020B0503020204020204" pitchFamily="34" charset="-122"/>
                <a:ea typeface="微软雅黑" panose="020B0503020204020204" pitchFamily="34" charset="-122"/>
              </a:defRPr>
            </a:lvl2pPr>
            <a:lvl3pPr marL="1143000" indent="-228600">
              <a:lnSpc>
                <a:spcPts val="3000"/>
              </a:lnSpc>
              <a:spcBef>
                <a:spcPts val="0"/>
              </a:spcBef>
              <a:buClr>
                <a:srgbClr val="006600"/>
              </a:buClr>
              <a:buFont typeface="Wingdings" panose="05000000000000000000" pitchFamily="2" charset="2"/>
              <a:buChar char="Ø"/>
              <a:defRPr sz="1600" b="1">
                <a:latin typeface="微软雅黑" panose="020B0503020204020204" pitchFamily="34" charset="-122"/>
                <a:ea typeface="微软雅黑" panose="020B0503020204020204" pitchFamily="34" charset="-122"/>
              </a:defRPr>
            </a:lvl3pPr>
            <a:lvl4pPr marL="1600200" indent="-228600">
              <a:lnSpc>
                <a:spcPts val="3000"/>
              </a:lnSpc>
              <a:spcBef>
                <a:spcPts val="0"/>
              </a:spcBef>
              <a:buFont typeface="Arial" charset="0"/>
              <a:buChar char="–"/>
              <a:defRPr sz="1400" b="1">
                <a:latin typeface="微软雅黑" panose="020B0503020204020204" pitchFamily="34" charset="-122"/>
                <a:ea typeface="微软雅黑" panose="020B0503020204020204" pitchFamily="34" charset="-122"/>
              </a:defRPr>
            </a:lvl4pPr>
            <a:lvl5pPr marL="2057400" indent="-228600">
              <a:lnSpc>
                <a:spcPts val="3000"/>
              </a:lnSpc>
              <a:spcBef>
                <a:spcPts val="0"/>
              </a:spcBef>
              <a:buFont typeface="Arial" charset="0"/>
              <a:buChar char="»"/>
              <a:defRPr sz="1400" b="1">
                <a:latin typeface="微软雅黑" panose="020B0503020204020204" pitchFamily="34" charset="-122"/>
                <a:ea typeface="微软雅黑" panose="020B0503020204020204" pitchFamily="34" charset="-122"/>
              </a:defRPr>
            </a:lvl5pPr>
            <a:lvl6pPr marL="2514600" indent="-228600">
              <a:spcBef>
                <a:spcPct val="20000"/>
              </a:spcBef>
              <a:buFont typeface="Arial" pitchFamily="34" charset="0"/>
              <a:buChar char="•"/>
              <a:defRPr sz="2000">
                <a:latin typeface="+mn-lt"/>
                <a:ea typeface="+mn-ea"/>
              </a:defRPr>
            </a:lvl6pPr>
            <a:lvl7pPr marL="2971800" indent="-228600">
              <a:spcBef>
                <a:spcPct val="20000"/>
              </a:spcBef>
              <a:buFont typeface="Arial" pitchFamily="34" charset="0"/>
              <a:buChar char="•"/>
              <a:defRPr sz="2000">
                <a:latin typeface="+mn-lt"/>
                <a:ea typeface="+mn-ea"/>
              </a:defRPr>
            </a:lvl7pPr>
            <a:lvl8pPr marL="3429000" indent="-228600">
              <a:spcBef>
                <a:spcPct val="20000"/>
              </a:spcBef>
              <a:buFont typeface="Arial" pitchFamily="34" charset="0"/>
              <a:buChar char="•"/>
              <a:defRPr sz="2000">
                <a:latin typeface="+mn-lt"/>
                <a:ea typeface="+mn-ea"/>
              </a:defRPr>
            </a:lvl8pPr>
            <a:lvl9pPr marL="3886200" indent="-228600">
              <a:spcBef>
                <a:spcPct val="20000"/>
              </a:spcBef>
              <a:buFont typeface="Arial" pitchFamily="34" charset="0"/>
              <a:buChar char="•"/>
              <a:defRPr sz="2000">
                <a:latin typeface="+mn-lt"/>
                <a:ea typeface="+mn-ea"/>
              </a:defRPr>
            </a:lvl9pPr>
          </a:lstStyle>
          <a:p>
            <a:r>
              <a:rPr lang="zh-CN" altLang="zh-CN" dirty="0"/>
              <a:t>消息</a:t>
            </a:r>
            <a:r>
              <a:rPr lang="en-US" altLang="zh-CN" dirty="0">
                <a:solidFill>
                  <a:schemeClr val="tx1"/>
                </a:solidFill>
              </a:rPr>
              <a:t>(message)</a:t>
            </a:r>
            <a:r>
              <a:rPr lang="zh-CN" altLang="en-US" dirty="0">
                <a:solidFill>
                  <a:schemeClr val="tx1"/>
                </a:solidFill>
              </a:rPr>
              <a:t>：</a:t>
            </a:r>
            <a:r>
              <a:rPr lang="zh-CN" altLang="zh-CN" dirty="0">
                <a:solidFill>
                  <a:schemeClr val="tx1"/>
                </a:solidFill>
              </a:rPr>
              <a:t>如话音、文字、图像、视频等。</a:t>
            </a:r>
            <a:r>
              <a:rPr lang="zh-CN" altLang="en-US" dirty="0">
                <a:solidFill>
                  <a:schemeClr val="tx1"/>
                </a:solidFill>
              </a:rPr>
              <a:t>通信的目的就传送消息。</a:t>
            </a:r>
            <a:endParaRPr lang="en-US" altLang="zh-CN" dirty="0"/>
          </a:p>
          <a:p>
            <a:endParaRPr lang="en-US" altLang="zh-CN" dirty="0"/>
          </a:p>
          <a:p>
            <a:endParaRPr lang="en-US" altLang="zh-CN" dirty="0"/>
          </a:p>
          <a:p>
            <a:r>
              <a:rPr lang="zh-CN" altLang="en-US" dirty="0"/>
              <a:t>数据 </a:t>
            </a:r>
            <a:r>
              <a:rPr lang="en-US" altLang="zh-CN" dirty="0">
                <a:solidFill>
                  <a:schemeClr val="tx1"/>
                </a:solidFill>
              </a:rPr>
              <a:t>(data)</a:t>
            </a:r>
            <a:r>
              <a:rPr lang="zh-CN" altLang="en-US" dirty="0">
                <a:solidFill>
                  <a:schemeClr val="tx1"/>
                </a:solidFill>
              </a:rPr>
              <a:t>：</a:t>
            </a:r>
            <a:r>
              <a:rPr lang="en-US" altLang="zh-CN" dirty="0">
                <a:solidFill>
                  <a:schemeClr val="tx1"/>
                </a:solidFill>
              </a:rPr>
              <a:t> </a:t>
            </a:r>
            <a:r>
              <a:rPr lang="zh-CN" altLang="en-US" dirty="0">
                <a:solidFill>
                  <a:schemeClr val="tx1"/>
                </a:solidFill>
              </a:rPr>
              <a:t>运送消息的实体。是使用特定方式表示的信息，通常是有意义的符号序列。</a:t>
            </a:r>
          </a:p>
        </p:txBody>
      </p:sp>
      <p:pic>
        <p:nvPicPr>
          <p:cNvPr id="100" name="Picture 4" descr="查看源图像">
            <a:extLst>
              <a:ext uri="{FF2B5EF4-FFF2-40B4-BE49-F238E27FC236}">
                <a16:creationId xmlns:a16="http://schemas.microsoft.com/office/drawing/2014/main" id="{45560551-084A-06DA-2DF4-E11C2D39523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39400" y="1292053"/>
            <a:ext cx="1124653" cy="1428358"/>
          </a:xfrm>
          <a:prstGeom prst="rect">
            <a:avLst/>
          </a:prstGeom>
          <a:noFill/>
          <a:extLst>
            <a:ext uri="{909E8E84-426E-40DD-AFC4-6F175D3DCCD1}">
              <a14:hiddenFill xmlns:a14="http://schemas.microsoft.com/office/drawing/2010/main">
                <a:solidFill>
                  <a:srgbClr val="FFFFFF"/>
                </a:solidFill>
              </a14:hiddenFill>
            </a:ext>
          </a:extLst>
        </p:spPr>
      </p:pic>
      <p:sp>
        <p:nvSpPr>
          <p:cNvPr id="101" name="文本框 100">
            <a:extLst>
              <a:ext uri="{FF2B5EF4-FFF2-40B4-BE49-F238E27FC236}">
                <a16:creationId xmlns:a16="http://schemas.microsoft.com/office/drawing/2014/main" id="{4D71D1BF-EABB-C5DB-4425-FA0DB05AEA6D}"/>
              </a:ext>
            </a:extLst>
          </p:cNvPr>
          <p:cNvSpPr txBox="1"/>
          <p:nvPr/>
        </p:nvSpPr>
        <p:spPr>
          <a:xfrm>
            <a:off x="739400" y="2822987"/>
            <a:ext cx="1124653" cy="1477328"/>
          </a:xfrm>
          <a:prstGeom prst="rect">
            <a:avLst/>
          </a:prstGeom>
          <a:noFill/>
          <a:ln>
            <a:solidFill>
              <a:schemeClr val="tx1"/>
            </a:solidFill>
          </a:ln>
        </p:spPr>
        <p:txBody>
          <a:bodyPr wrap="square" rtlCol="0">
            <a:spAutoFit/>
          </a:bodyPr>
          <a:lstStyle/>
          <a:p>
            <a:r>
              <a:rPr lang="en-US" altLang="zh-CN" b="1" dirty="0"/>
              <a:t>11001001001100111101011011001110……</a:t>
            </a:r>
            <a:endParaRPr lang="zh-CN" altLang="en-US" b="1" dirty="0"/>
          </a:p>
        </p:txBody>
      </p:sp>
    </p:spTree>
    <p:custDataLst>
      <p:tags r:id="rId1"/>
    </p:custDataLst>
    <p:extLst>
      <p:ext uri="{BB962C8B-B14F-4D97-AF65-F5344CB8AC3E}">
        <p14:creationId xmlns:p14="http://schemas.microsoft.com/office/powerpoint/2010/main" val="2072806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2000" fill="hold" nodeType="clickEffect">
                                  <p:stCondLst>
                                    <p:cond delay="0"/>
                                  </p:stCondLst>
                                  <p:childTnLst>
                                    <p:anim calcmode="discrete" valueType="str">
                                      <p:cBhvr>
                                        <p:cTn id="6" dur="500" fill="hold"/>
                                        <p:tgtEl>
                                          <p:spTgt spid="99">
                                            <p:txEl>
                                              <p:pRg st="0" end="0"/>
                                            </p:txEl>
                                          </p:spTgt>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35" presetClass="emph" presetSubtype="0" repeatCount="2000" fill="hold" nodeType="clickEffect">
                                  <p:stCondLst>
                                    <p:cond delay="0"/>
                                  </p:stCondLst>
                                  <p:childTnLst>
                                    <p:anim calcmode="discrete" valueType="str">
                                      <p:cBhvr>
                                        <p:cTn id="10" dur="500" fill="hold"/>
                                        <p:tgtEl>
                                          <p:spTgt spid="99">
                                            <p:txEl>
                                              <p:pRg st="3" end="3"/>
                                            </p:txEl>
                                          </p:spTgt>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a:xfrm>
            <a:off x="466343" y="900000"/>
            <a:ext cx="8129017" cy="3376990"/>
          </a:xfrm>
        </p:spPr>
        <p:txBody>
          <a:bodyPr/>
          <a:lstStyle/>
          <a:p>
            <a:r>
              <a:rPr lang="zh-CN" altLang="en-US" dirty="0"/>
              <a:t>信号 </a:t>
            </a:r>
            <a:r>
              <a:rPr lang="en-US" altLang="zh-CN" dirty="0"/>
              <a:t>(signal)</a:t>
            </a:r>
            <a:r>
              <a:rPr lang="zh-CN" altLang="en-US" dirty="0"/>
              <a:t>：数据的电气的或电磁的表现。 </a:t>
            </a:r>
          </a:p>
          <a:p>
            <a:pPr lvl="1"/>
            <a:r>
              <a:rPr lang="zh-CN" altLang="en-US" dirty="0"/>
              <a:t>模拟信号 </a:t>
            </a:r>
            <a:r>
              <a:rPr lang="en-US" altLang="zh-CN" dirty="0"/>
              <a:t>(analogous signal)</a:t>
            </a:r>
            <a:r>
              <a:rPr lang="zh-CN" altLang="en-US" dirty="0"/>
              <a:t>：代表消息的参数的取值是连续的。 </a:t>
            </a:r>
          </a:p>
          <a:p>
            <a:pPr lvl="1"/>
            <a:r>
              <a:rPr lang="zh-CN" altLang="en-US" dirty="0"/>
              <a:t>数字信号 </a:t>
            </a:r>
            <a:r>
              <a:rPr lang="en-US" altLang="zh-CN" dirty="0"/>
              <a:t>(digital signal)</a:t>
            </a:r>
            <a:r>
              <a:rPr lang="zh-CN" altLang="en-US" dirty="0"/>
              <a:t>：代表消息的参数的取值是离散的。 </a:t>
            </a:r>
          </a:p>
          <a:p>
            <a:r>
              <a:rPr lang="zh-CN" altLang="en-US" dirty="0"/>
              <a:t>码元或符号：代表不同离散数值的基本波形。</a:t>
            </a:r>
            <a:endParaRPr lang="en-US" altLang="zh-CN" dirty="0"/>
          </a:p>
          <a:p>
            <a:pPr lvl="1"/>
            <a:r>
              <a:rPr lang="zh-CN" altLang="zh-CN" dirty="0"/>
              <a:t>使用二进制编码时，只有两种不同的码元</a:t>
            </a:r>
            <a:r>
              <a:rPr lang="zh-CN" altLang="en-US" dirty="0"/>
              <a:t>：</a:t>
            </a:r>
            <a:endParaRPr lang="en-US" altLang="zh-CN" dirty="0"/>
          </a:p>
          <a:p>
            <a:pPr lvl="1"/>
            <a:r>
              <a:rPr lang="en-US" altLang="zh-CN" dirty="0"/>
              <a:t>    0 </a:t>
            </a:r>
            <a:r>
              <a:rPr lang="zh-CN" altLang="zh-CN" dirty="0"/>
              <a:t>状态</a:t>
            </a:r>
            <a:r>
              <a:rPr lang="zh-CN" altLang="en-US" dirty="0"/>
              <a:t>，</a:t>
            </a:r>
            <a:r>
              <a:rPr lang="en-US" altLang="zh-CN" dirty="0"/>
              <a:t>1 </a:t>
            </a:r>
            <a:r>
              <a:rPr lang="zh-CN" altLang="zh-CN" dirty="0"/>
              <a:t>状态。</a:t>
            </a:r>
            <a:endParaRPr lang="zh-CN" altLang="en-US" dirty="0"/>
          </a:p>
          <a:p>
            <a:endParaRPr lang="zh-CN" altLang="en-US" dirty="0"/>
          </a:p>
        </p:txBody>
      </p:sp>
      <p:sp>
        <p:nvSpPr>
          <p:cNvPr id="4" name="文本占位符 3"/>
          <p:cNvSpPr>
            <a:spLocks noGrp="1"/>
          </p:cNvSpPr>
          <p:nvPr>
            <p:ph type="body" sz="quarter" idx="11"/>
          </p:nvPr>
        </p:nvSpPr>
        <p:spPr>
          <a:xfrm>
            <a:off x="1332000" y="360000"/>
            <a:ext cx="6480000" cy="354012"/>
          </a:xfrm>
        </p:spPr>
        <p:txBody>
          <a:bodyPr>
            <a:normAutofit fontScale="92500" lnSpcReduction="10000"/>
          </a:bodyPr>
          <a:lstStyle/>
          <a:p>
            <a:r>
              <a:rPr lang="en-US" altLang="zh-CN" dirty="0"/>
              <a:t>2.2.1  </a:t>
            </a:r>
            <a:r>
              <a:rPr lang="zh-CN" altLang="en-US" dirty="0"/>
              <a:t>通信中的常用术语</a:t>
            </a:r>
          </a:p>
        </p:txBody>
      </p:sp>
      <p:sp>
        <p:nvSpPr>
          <p:cNvPr id="5" name="Freeform 5"/>
          <p:cNvSpPr>
            <a:spLocks/>
          </p:cNvSpPr>
          <p:nvPr/>
        </p:nvSpPr>
        <p:spPr bwMode="auto">
          <a:xfrm>
            <a:off x="6693999" y="2248378"/>
            <a:ext cx="783565" cy="288984"/>
          </a:xfrm>
          <a:custGeom>
            <a:avLst/>
            <a:gdLst>
              <a:gd name="T0" fmla="*/ 0 w 1008"/>
              <a:gd name="T1" fmla="*/ 384 h 704"/>
              <a:gd name="T2" fmla="*/ 192 w 1008"/>
              <a:gd name="T3" fmla="*/ 48 h 704"/>
              <a:gd name="T4" fmla="*/ 480 w 1008"/>
              <a:gd name="T5" fmla="*/ 672 h 704"/>
              <a:gd name="T6" fmla="*/ 720 w 1008"/>
              <a:gd name="T7" fmla="*/ 240 h 704"/>
              <a:gd name="T8" fmla="*/ 864 w 1008"/>
              <a:gd name="T9" fmla="*/ 576 h 704"/>
              <a:gd name="T10" fmla="*/ 1008 w 1008"/>
              <a:gd name="T11" fmla="*/ 144 h 704"/>
            </a:gdLst>
            <a:ahLst/>
            <a:cxnLst>
              <a:cxn ang="0">
                <a:pos x="T0" y="T1"/>
              </a:cxn>
              <a:cxn ang="0">
                <a:pos x="T2" y="T3"/>
              </a:cxn>
              <a:cxn ang="0">
                <a:pos x="T4" y="T5"/>
              </a:cxn>
              <a:cxn ang="0">
                <a:pos x="T6" y="T7"/>
              </a:cxn>
              <a:cxn ang="0">
                <a:pos x="T8" y="T9"/>
              </a:cxn>
              <a:cxn ang="0">
                <a:pos x="T10" y="T11"/>
              </a:cxn>
            </a:cxnLst>
            <a:rect l="0" t="0" r="r" b="b"/>
            <a:pathLst>
              <a:path w="1008" h="704">
                <a:moveTo>
                  <a:pt x="0" y="384"/>
                </a:moveTo>
                <a:cubicBezTo>
                  <a:pt x="56" y="192"/>
                  <a:pt x="112" y="0"/>
                  <a:pt x="192" y="48"/>
                </a:cubicBezTo>
                <a:cubicBezTo>
                  <a:pt x="272" y="96"/>
                  <a:pt x="392" y="640"/>
                  <a:pt x="480" y="672"/>
                </a:cubicBezTo>
                <a:cubicBezTo>
                  <a:pt x="568" y="704"/>
                  <a:pt x="656" y="256"/>
                  <a:pt x="720" y="240"/>
                </a:cubicBezTo>
                <a:cubicBezTo>
                  <a:pt x="784" y="224"/>
                  <a:pt x="816" y="592"/>
                  <a:pt x="864" y="576"/>
                </a:cubicBezTo>
                <a:cubicBezTo>
                  <a:pt x="912" y="560"/>
                  <a:pt x="960" y="352"/>
                  <a:pt x="1008" y="144"/>
                </a:cubicBezTo>
              </a:path>
            </a:pathLst>
          </a:custGeom>
          <a:noFill/>
          <a:ln w="57150"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eaLnBrk="1" hangingPunct="1">
              <a:defRPr/>
            </a:pPr>
            <a:endParaRPr lang="zh-CN" altLang="en-US">
              <a:effectLst>
                <a:outerShdw blurRad="38100" dist="38100" dir="2700000" algn="tl">
                  <a:srgbClr val="000000">
                    <a:alpha val="43137"/>
                  </a:srgbClr>
                </a:outerShdw>
              </a:effectLst>
              <a:latin typeface="Arial" charset="0"/>
            </a:endParaRPr>
          </a:p>
        </p:txBody>
      </p:sp>
      <p:sp>
        <p:nvSpPr>
          <p:cNvPr id="6" name="Freeform 6"/>
          <p:cNvSpPr>
            <a:spLocks/>
          </p:cNvSpPr>
          <p:nvPr/>
        </p:nvSpPr>
        <p:spPr bwMode="auto">
          <a:xfrm>
            <a:off x="6626674" y="3042541"/>
            <a:ext cx="891947" cy="320856"/>
          </a:xfrm>
          <a:custGeom>
            <a:avLst/>
            <a:gdLst>
              <a:gd name="T0" fmla="*/ 0 w 1056"/>
              <a:gd name="T1" fmla="*/ 174 h 480"/>
              <a:gd name="T2" fmla="*/ 79 w 1056"/>
              <a:gd name="T3" fmla="*/ 174 h 480"/>
              <a:gd name="T4" fmla="*/ 79 w 1056"/>
              <a:gd name="T5" fmla="*/ 0 h 480"/>
              <a:gd name="T6" fmla="*/ 212 w 1056"/>
              <a:gd name="T7" fmla="*/ 0 h 480"/>
              <a:gd name="T8" fmla="*/ 212 w 1056"/>
              <a:gd name="T9" fmla="*/ 174 h 480"/>
              <a:gd name="T10" fmla="*/ 344 w 1056"/>
              <a:gd name="T11" fmla="*/ 174 h 480"/>
              <a:gd name="T12" fmla="*/ 344 w 1056"/>
              <a:gd name="T13" fmla="*/ 0 h 480"/>
              <a:gd name="T14" fmla="*/ 477 w 1056"/>
              <a:gd name="T15" fmla="*/ 0 h 480"/>
              <a:gd name="T16" fmla="*/ 477 w 1056"/>
              <a:gd name="T17" fmla="*/ 174 h 480"/>
              <a:gd name="T18" fmla="*/ 582 w 1056"/>
              <a:gd name="T19" fmla="*/ 174 h 4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38100" cmpd="sng">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40" name="组合 39"/>
          <p:cNvGrpSpPr/>
          <p:nvPr/>
        </p:nvGrpSpPr>
        <p:grpSpPr>
          <a:xfrm>
            <a:off x="6216296" y="3704393"/>
            <a:ext cx="1665870" cy="829834"/>
            <a:chOff x="758150" y="3424687"/>
            <a:chExt cx="1665870" cy="829834"/>
          </a:xfrm>
        </p:grpSpPr>
        <p:sp>
          <p:nvSpPr>
            <p:cNvPr id="11" name="Line 6"/>
            <p:cNvSpPr>
              <a:spLocks noChangeShapeType="1"/>
            </p:cNvSpPr>
            <p:nvPr/>
          </p:nvSpPr>
          <p:spPr bwMode="auto">
            <a:xfrm>
              <a:off x="758150" y="3757892"/>
              <a:ext cx="310138" cy="0"/>
            </a:xfrm>
            <a:prstGeom prst="line">
              <a:avLst/>
            </a:prstGeom>
            <a:noFill/>
            <a:ln w="38100">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9" name="Line 14"/>
            <p:cNvSpPr>
              <a:spLocks noChangeShapeType="1"/>
            </p:cNvSpPr>
            <p:nvPr/>
          </p:nvSpPr>
          <p:spPr bwMode="auto">
            <a:xfrm>
              <a:off x="1068288" y="4091258"/>
              <a:ext cx="310138" cy="0"/>
            </a:xfrm>
            <a:prstGeom prst="line">
              <a:avLst/>
            </a:prstGeom>
            <a:noFill/>
            <a:ln w="38100">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 name="Line 15"/>
            <p:cNvSpPr>
              <a:spLocks noChangeShapeType="1"/>
            </p:cNvSpPr>
            <p:nvPr/>
          </p:nvSpPr>
          <p:spPr bwMode="auto">
            <a:xfrm>
              <a:off x="1378426" y="3757892"/>
              <a:ext cx="309281" cy="0"/>
            </a:xfrm>
            <a:prstGeom prst="line">
              <a:avLst/>
            </a:prstGeom>
            <a:noFill/>
            <a:ln w="38100">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1" name="Line 16"/>
            <p:cNvSpPr>
              <a:spLocks noChangeShapeType="1"/>
            </p:cNvSpPr>
            <p:nvPr/>
          </p:nvSpPr>
          <p:spPr bwMode="auto">
            <a:xfrm>
              <a:off x="1687707" y="3757892"/>
              <a:ext cx="310138" cy="0"/>
            </a:xfrm>
            <a:prstGeom prst="line">
              <a:avLst/>
            </a:prstGeom>
            <a:noFill/>
            <a:ln w="38100">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2" name="Line 17"/>
            <p:cNvSpPr>
              <a:spLocks noChangeShapeType="1"/>
            </p:cNvSpPr>
            <p:nvPr/>
          </p:nvSpPr>
          <p:spPr bwMode="auto">
            <a:xfrm>
              <a:off x="1997845" y="4091258"/>
              <a:ext cx="309281" cy="0"/>
            </a:xfrm>
            <a:prstGeom prst="line">
              <a:avLst/>
            </a:prstGeom>
            <a:noFill/>
            <a:ln w="38100">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6" name="Line 21"/>
            <p:cNvSpPr>
              <a:spLocks noChangeShapeType="1"/>
            </p:cNvSpPr>
            <p:nvPr/>
          </p:nvSpPr>
          <p:spPr bwMode="auto">
            <a:xfrm>
              <a:off x="1068288" y="3757892"/>
              <a:ext cx="0" cy="333366"/>
            </a:xfrm>
            <a:prstGeom prst="line">
              <a:avLst/>
            </a:prstGeom>
            <a:noFill/>
            <a:ln w="38100">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7" name="Line 22"/>
            <p:cNvSpPr>
              <a:spLocks noChangeShapeType="1"/>
            </p:cNvSpPr>
            <p:nvPr/>
          </p:nvSpPr>
          <p:spPr bwMode="auto">
            <a:xfrm>
              <a:off x="1378426" y="3757892"/>
              <a:ext cx="0" cy="333366"/>
            </a:xfrm>
            <a:prstGeom prst="line">
              <a:avLst/>
            </a:prstGeom>
            <a:noFill/>
            <a:ln w="38100">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8" name="Line 23"/>
            <p:cNvSpPr>
              <a:spLocks noChangeShapeType="1"/>
            </p:cNvSpPr>
            <p:nvPr/>
          </p:nvSpPr>
          <p:spPr bwMode="auto">
            <a:xfrm>
              <a:off x="1997845" y="3757892"/>
              <a:ext cx="0" cy="333366"/>
            </a:xfrm>
            <a:prstGeom prst="line">
              <a:avLst/>
            </a:prstGeom>
            <a:noFill/>
            <a:ln w="38100">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1" name="Line 26"/>
            <p:cNvSpPr>
              <a:spLocks noChangeShapeType="1"/>
            </p:cNvSpPr>
            <p:nvPr/>
          </p:nvSpPr>
          <p:spPr bwMode="auto">
            <a:xfrm>
              <a:off x="758150" y="3757892"/>
              <a:ext cx="0" cy="333366"/>
            </a:xfrm>
            <a:prstGeom prst="line">
              <a:avLst/>
            </a:prstGeom>
            <a:noFill/>
            <a:ln w="38100">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8" name="组合 7"/>
            <p:cNvGrpSpPr/>
            <p:nvPr/>
          </p:nvGrpSpPr>
          <p:grpSpPr>
            <a:xfrm>
              <a:off x="758150" y="3548780"/>
              <a:ext cx="1557914" cy="705741"/>
              <a:chOff x="-1086307" y="2612396"/>
              <a:chExt cx="2936545" cy="3819525"/>
            </a:xfrm>
          </p:grpSpPr>
          <p:sp>
            <p:nvSpPr>
              <p:cNvPr id="9" name="Line 4"/>
              <p:cNvSpPr>
                <a:spLocks noChangeShapeType="1"/>
              </p:cNvSpPr>
              <p:nvPr/>
            </p:nvSpPr>
            <p:spPr bwMode="auto">
              <a:xfrm>
                <a:off x="-1086307" y="2612396"/>
                <a:ext cx="0" cy="3819525"/>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 name="Line 5"/>
              <p:cNvSpPr>
                <a:spLocks noChangeShapeType="1"/>
              </p:cNvSpPr>
              <p:nvPr/>
            </p:nvSpPr>
            <p:spPr bwMode="auto">
              <a:xfrm>
                <a:off x="-501721" y="2612396"/>
                <a:ext cx="0" cy="3819525"/>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 name="Line 7"/>
              <p:cNvSpPr>
                <a:spLocks noChangeShapeType="1"/>
              </p:cNvSpPr>
              <p:nvPr/>
            </p:nvSpPr>
            <p:spPr bwMode="auto">
              <a:xfrm>
                <a:off x="82865" y="2612396"/>
                <a:ext cx="0" cy="3819525"/>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 name="Line 9"/>
              <p:cNvSpPr>
                <a:spLocks noChangeShapeType="1"/>
              </p:cNvSpPr>
              <p:nvPr/>
            </p:nvSpPr>
            <p:spPr bwMode="auto">
              <a:xfrm>
                <a:off x="665836" y="2612396"/>
                <a:ext cx="0" cy="3819525"/>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 name="Line 10"/>
              <p:cNvSpPr>
                <a:spLocks noChangeShapeType="1"/>
              </p:cNvSpPr>
              <p:nvPr/>
            </p:nvSpPr>
            <p:spPr bwMode="auto">
              <a:xfrm>
                <a:off x="1250422" y="2612396"/>
                <a:ext cx="0" cy="3819525"/>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 name="Line 10"/>
              <p:cNvSpPr>
                <a:spLocks noChangeShapeType="1"/>
              </p:cNvSpPr>
              <p:nvPr/>
            </p:nvSpPr>
            <p:spPr bwMode="auto">
              <a:xfrm>
                <a:off x="1850238" y="2612396"/>
                <a:ext cx="0" cy="3819525"/>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38" name="Text Box 52"/>
            <p:cNvSpPr txBox="1">
              <a:spLocks noChangeArrowheads="1"/>
            </p:cNvSpPr>
            <p:nvPr/>
          </p:nvSpPr>
          <p:spPr bwMode="auto">
            <a:xfrm>
              <a:off x="767087" y="3424687"/>
              <a:ext cx="1656933" cy="301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spcBef>
                  <a:spcPct val="50000"/>
                </a:spcBef>
              </a:pPr>
              <a:r>
                <a:rPr kumimoji="1" lang="en-US" altLang="zh-CN" sz="1800" b="1" dirty="0">
                  <a:latin typeface="Times New Roman" panose="02020603050405020304" pitchFamily="18" charset="0"/>
                  <a:ea typeface="宋体" panose="02010600030101010101" pitchFamily="2" charset="-122"/>
                </a:rPr>
                <a:t>1   0    1   1    0     </a:t>
              </a:r>
            </a:p>
          </p:txBody>
        </p:sp>
      </p:grpSp>
      <p:grpSp>
        <p:nvGrpSpPr>
          <p:cNvPr id="44" name="组合 43">
            <a:extLst>
              <a:ext uri="{FF2B5EF4-FFF2-40B4-BE49-F238E27FC236}">
                <a16:creationId xmlns:a16="http://schemas.microsoft.com/office/drawing/2014/main" id="{34DFB312-29BE-0A89-C6E4-530A21D22E99}"/>
              </a:ext>
            </a:extLst>
          </p:cNvPr>
          <p:cNvGrpSpPr/>
          <p:nvPr/>
        </p:nvGrpSpPr>
        <p:grpSpPr>
          <a:xfrm>
            <a:off x="6356896" y="4419087"/>
            <a:ext cx="1253735" cy="577787"/>
            <a:chOff x="898750" y="4139381"/>
            <a:chExt cx="1253735" cy="577787"/>
          </a:xfrm>
        </p:grpSpPr>
        <p:sp>
          <p:nvSpPr>
            <p:cNvPr id="3" name="文本框 2">
              <a:extLst>
                <a:ext uri="{FF2B5EF4-FFF2-40B4-BE49-F238E27FC236}">
                  <a16:creationId xmlns:a16="http://schemas.microsoft.com/office/drawing/2014/main" id="{38C9A64A-DABA-2B45-F9C7-83319AE213C9}"/>
                </a:ext>
              </a:extLst>
            </p:cNvPr>
            <p:cNvSpPr txBox="1"/>
            <p:nvPr/>
          </p:nvSpPr>
          <p:spPr>
            <a:xfrm>
              <a:off x="1249591" y="4378614"/>
              <a:ext cx="595035" cy="338554"/>
            </a:xfrm>
            <a:prstGeom prst="rect">
              <a:avLst/>
            </a:prstGeom>
            <a:noFill/>
          </p:spPr>
          <p:txBody>
            <a:bodyPr wrap="none" rtlCol="0">
              <a:spAutoFit/>
            </a:bodyPr>
            <a:lstStyle/>
            <a:p>
              <a:r>
                <a:rPr lang="zh-CN" altLang="en-US" sz="1600" b="1" dirty="0">
                  <a:latin typeface="微软雅黑" pitchFamily="34" charset="-122"/>
                  <a:ea typeface="微软雅黑" pitchFamily="34" charset="-122"/>
                </a:rPr>
                <a:t>码元</a:t>
              </a:r>
            </a:p>
          </p:txBody>
        </p:sp>
        <p:grpSp>
          <p:nvGrpSpPr>
            <p:cNvPr id="43" name="组合 42">
              <a:extLst>
                <a:ext uri="{FF2B5EF4-FFF2-40B4-BE49-F238E27FC236}">
                  <a16:creationId xmlns:a16="http://schemas.microsoft.com/office/drawing/2014/main" id="{D3F5335C-4333-AB6F-19EF-064A2A31ADD9}"/>
                </a:ext>
              </a:extLst>
            </p:cNvPr>
            <p:cNvGrpSpPr/>
            <p:nvPr/>
          </p:nvGrpSpPr>
          <p:grpSpPr>
            <a:xfrm>
              <a:off x="898750" y="4139381"/>
              <a:ext cx="1253735" cy="280219"/>
              <a:chOff x="898750" y="4139381"/>
              <a:chExt cx="1253735" cy="280219"/>
            </a:xfrm>
          </p:grpSpPr>
          <p:cxnSp>
            <p:nvCxnSpPr>
              <p:cNvPr id="13" name="直接箭头连接符 12">
                <a:extLst>
                  <a:ext uri="{FF2B5EF4-FFF2-40B4-BE49-F238E27FC236}">
                    <a16:creationId xmlns:a16="http://schemas.microsoft.com/office/drawing/2014/main" id="{D6557CAD-3DB0-BB16-7055-A58C285E8FAB}"/>
                  </a:ext>
                </a:extLst>
              </p:cNvPr>
              <p:cNvCxnSpPr>
                <a:cxnSpLocks/>
              </p:cNvCxnSpPr>
              <p:nvPr/>
            </p:nvCxnSpPr>
            <p:spPr>
              <a:xfrm flipH="1" flipV="1">
                <a:off x="898750" y="4173794"/>
                <a:ext cx="479676" cy="2458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A089A293-B30C-2263-08B2-F83914935DED}"/>
                  </a:ext>
                </a:extLst>
              </p:cNvPr>
              <p:cNvCxnSpPr>
                <a:cxnSpLocks/>
              </p:cNvCxnSpPr>
              <p:nvPr/>
            </p:nvCxnSpPr>
            <p:spPr>
              <a:xfrm flipH="1" flipV="1">
                <a:off x="1249591" y="4173794"/>
                <a:ext cx="202711" cy="2411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B9900BB8-7B18-FF85-C135-70E2BCDBFA39}"/>
                  </a:ext>
                </a:extLst>
              </p:cNvPr>
              <p:cNvCxnSpPr>
                <a:stCxn id="3" idx="0"/>
              </p:cNvCxnSpPr>
              <p:nvPr/>
            </p:nvCxnSpPr>
            <p:spPr>
              <a:xfrm flipH="1" flipV="1">
                <a:off x="1547108" y="4139381"/>
                <a:ext cx="1" cy="2392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24C3AC2E-8DED-D732-1E52-5363E2D6B830}"/>
                  </a:ext>
                </a:extLst>
              </p:cNvPr>
              <p:cNvCxnSpPr>
                <a:cxnSpLocks/>
              </p:cNvCxnSpPr>
              <p:nvPr/>
            </p:nvCxnSpPr>
            <p:spPr>
              <a:xfrm flipV="1">
                <a:off x="1613831" y="4173794"/>
                <a:ext cx="237457" cy="2289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0385368C-F018-755B-A5D0-BA8530CDFAA7}"/>
                  </a:ext>
                </a:extLst>
              </p:cNvPr>
              <p:cNvCxnSpPr/>
              <p:nvPr/>
            </p:nvCxnSpPr>
            <p:spPr>
              <a:xfrm flipV="1">
                <a:off x="1687707" y="4173794"/>
                <a:ext cx="464778" cy="2411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grpSp>
        <p:nvGrpSpPr>
          <p:cNvPr id="45" name="组合 44">
            <a:extLst>
              <a:ext uri="{FF2B5EF4-FFF2-40B4-BE49-F238E27FC236}">
                <a16:creationId xmlns:a16="http://schemas.microsoft.com/office/drawing/2014/main" id="{747301A1-12B1-FBF3-7DCF-BAE415CB0F90}"/>
              </a:ext>
            </a:extLst>
          </p:cNvPr>
          <p:cNvGrpSpPr/>
          <p:nvPr/>
        </p:nvGrpSpPr>
        <p:grpSpPr>
          <a:xfrm>
            <a:off x="5699684" y="3880664"/>
            <a:ext cx="516611" cy="696560"/>
            <a:chOff x="241538" y="3600958"/>
            <a:chExt cx="516611" cy="696560"/>
          </a:xfrm>
        </p:grpSpPr>
        <p:sp>
          <p:nvSpPr>
            <p:cNvPr id="46" name="Text Box 27">
              <a:extLst>
                <a:ext uri="{FF2B5EF4-FFF2-40B4-BE49-F238E27FC236}">
                  <a16:creationId xmlns:a16="http://schemas.microsoft.com/office/drawing/2014/main" id="{AEA6CB71-8C9E-3178-D8AD-C662F534A11C}"/>
                </a:ext>
              </a:extLst>
            </p:cNvPr>
            <p:cNvSpPr txBox="1">
              <a:spLocks noChangeArrowheads="1"/>
            </p:cNvSpPr>
            <p:nvPr/>
          </p:nvSpPr>
          <p:spPr bwMode="auto">
            <a:xfrm>
              <a:off x="241538" y="3928186"/>
              <a:ext cx="17134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spcBef>
                  <a:spcPct val="50000"/>
                </a:spcBef>
              </a:pPr>
              <a:r>
                <a:rPr kumimoji="1" lang="en-US" altLang="zh-CN" sz="1800" b="1" dirty="0">
                  <a:solidFill>
                    <a:srgbClr val="0000FF"/>
                  </a:solidFill>
                  <a:latin typeface="Times New Roman" panose="02020603050405020304" pitchFamily="18" charset="0"/>
                  <a:ea typeface="宋体" panose="02010600030101010101" pitchFamily="2" charset="-122"/>
                </a:rPr>
                <a:t>0</a:t>
              </a:r>
            </a:p>
          </p:txBody>
        </p:sp>
        <p:sp>
          <p:nvSpPr>
            <p:cNvPr id="47" name="Text Box 28">
              <a:extLst>
                <a:ext uri="{FF2B5EF4-FFF2-40B4-BE49-F238E27FC236}">
                  <a16:creationId xmlns:a16="http://schemas.microsoft.com/office/drawing/2014/main" id="{71AB4A9B-FCFC-BA6C-52E8-D99E68831404}"/>
                </a:ext>
              </a:extLst>
            </p:cNvPr>
            <p:cNvSpPr txBox="1">
              <a:spLocks noChangeArrowheads="1"/>
            </p:cNvSpPr>
            <p:nvPr/>
          </p:nvSpPr>
          <p:spPr bwMode="auto">
            <a:xfrm>
              <a:off x="241538" y="3600958"/>
              <a:ext cx="17134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spcBef>
                  <a:spcPct val="50000"/>
                </a:spcBef>
              </a:pPr>
              <a:r>
                <a:rPr kumimoji="1" lang="en-US" altLang="zh-CN" sz="1800" b="1" dirty="0">
                  <a:solidFill>
                    <a:srgbClr val="0000FF"/>
                  </a:solidFill>
                  <a:latin typeface="Times New Roman" panose="02020603050405020304" pitchFamily="18" charset="0"/>
                  <a:ea typeface="宋体" panose="02010600030101010101" pitchFamily="2" charset="-122"/>
                </a:rPr>
                <a:t>1</a:t>
              </a:r>
            </a:p>
          </p:txBody>
        </p:sp>
        <p:sp>
          <p:nvSpPr>
            <p:cNvPr id="48" name="Line 50">
              <a:extLst>
                <a:ext uri="{FF2B5EF4-FFF2-40B4-BE49-F238E27FC236}">
                  <a16:creationId xmlns:a16="http://schemas.microsoft.com/office/drawing/2014/main" id="{8AC60288-DF47-0425-97F7-3C07A660B10C}"/>
                </a:ext>
              </a:extLst>
            </p:cNvPr>
            <p:cNvSpPr>
              <a:spLocks noChangeShapeType="1"/>
            </p:cNvSpPr>
            <p:nvPr/>
          </p:nvSpPr>
          <p:spPr bwMode="auto">
            <a:xfrm flipH="1">
              <a:off x="483137" y="3757892"/>
              <a:ext cx="275012" cy="0"/>
            </a:xfrm>
            <a:prstGeom prst="line">
              <a:avLst/>
            </a:prstGeom>
            <a:noFill/>
            <a:ln w="19050">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0000FF"/>
                </a:solidFill>
              </a:endParaRPr>
            </a:p>
          </p:txBody>
        </p:sp>
        <p:sp>
          <p:nvSpPr>
            <p:cNvPr id="49" name="Line 51">
              <a:extLst>
                <a:ext uri="{FF2B5EF4-FFF2-40B4-BE49-F238E27FC236}">
                  <a16:creationId xmlns:a16="http://schemas.microsoft.com/office/drawing/2014/main" id="{E93BE8A3-13AF-A4CD-0B2D-7F779BFBC8B9}"/>
                </a:ext>
              </a:extLst>
            </p:cNvPr>
            <p:cNvSpPr>
              <a:spLocks noChangeShapeType="1"/>
            </p:cNvSpPr>
            <p:nvPr/>
          </p:nvSpPr>
          <p:spPr bwMode="auto">
            <a:xfrm flipH="1">
              <a:off x="483137" y="4091258"/>
              <a:ext cx="275012" cy="0"/>
            </a:xfrm>
            <a:prstGeom prst="line">
              <a:avLst/>
            </a:prstGeom>
            <a:noFill/>
            <a:ln w="19050">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0000FF"/>
                </a:solidFill>
              </a:endParaRPr>
            </a:p>
          </p:txBody>
        </p:sp>
      </p:grpSp>
    </p:spTree>
    <p:custDataLst>
      <p:tags r:id="rId1"/>
    </p:custDataLst>
    <p:extLst>
      <p:ext uri="{BB962C8B-B14F-4D97-AF65-F5344CB8AC3E}">
        <p14:creationId xmlns:p14="http://schemas.microsoft.com/office/powerpoint/2010/main" val="928713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2000" fill="hold" nodeType="withEffect">
                                  <p:stCondLst>
                                    <p:cond delay="0"/>
                                  </p:stCondLst>
                                  <p:childTnLst>
                                    <p:anim calcmode="discrete" valueType="str">
                                      <p:cBhvr>
                                        <p:cTn id="6" dur="500" fill="hold"/>
                                        <p:tgtEl>
                                          <p:spTgt spid="2">
                                            <p:txEl>
                                              <p:pRg st="0" end="0"/>
                                            </p:txEl>
                                          </p:spTgt>
                                        </p:tgtEl>
                                        <p:attrNameLst>
                                          <p:attrName>style.visibility</p:attrName>
                                        </p:attrNameLst>
                                      </p:cBhvr>
                                      <p:tavLst>
                                        <p:tav tm="0">
                                          <p:val>
                                            <p:strVal val="hidden"/>
                                          </p:val>
                                        </p:tav>
                                        <p:tav tm="50000">
                                          <p:val>
                                            <p:strVal val="visible"/>
                                          </p:val>
                                        </p:tav>
                                      </p:tavLst>
                                    </p:anim>
                                  </p:childTnLst>
                                </p:cTn>
                              </p:par>
                              <p:par>
                                <p:cTn id="7" presetID="35" presetClass="emph" presetSubtype="0" repeatCount="2000" fill="hold" nodeType="withEffect">
                                  <p:stCondLst>
                                    <p:cond delay="0"/>
                                  </p:stCondLst>
                                  <p:childTnLst>
                                    <p:anim calcmode="discrete" valueType="str">
                                      <p:cBhvr>
                                        <p:cTn id="8" dur="500" fill="hold"/>
                                        <p:tgtEl>
                                          <p:spTgt spid="2">
                                            <p:txEl>
                                              <p:pRg st="1" end="1"/>
                                            </p:txEl>
                                          </p:spTgt>
                                        </p:tgtEl>
                                        <p:attrNameLst>
                                          <p:attrName>style.visibility</p:attrName>
                                        </p:attrNameLst>
                                      </p:cBhvr>
                                      <p:tavLst>
                                        <p:tav tm="0">
                                          <p:val>
                                            <p:strVal val="hidden"/>
                                          </p:val>
                                        </p:tav>
                                        <p:tav tm="50000">
                                          <p:val>
                                            <p:strVal val="visible"/>
                                          </p:val>
                                        </p:tav>
                                      </p:tavLst>
                                    </p:anim>
                                  </p:childTnLst>
                                </p:cTn>
                              </p:par>
                              <p:par>
                                <p:cTn id="9" presetID="35" presetClass="emph" presetSubtype="0" repeatCount="2000" fill="hold" nodeType="withEffect">
                                  <p:stCondLst>
                                    <p:cond delay="0"/>
                                  </p:stCondLst>
                                  <p:childTnLst>
                                    <p:anim calcmode="discrete" valueType="str">
                                      <p:cBhvr>
                                        <p:cTn id="10" dur="500" fill="hold"/>
                                        <p:tgtEl>
                                          <p:spTgt spid="2">
                                            <p:txEl>
                                              <p:pRg st="2" end="2"/>
                                            </p:txEl>
                                          </p:spTgt>
                                        </p:tgtEl>
                                        <p:attrNameLst>
                                          <p:attrName>style.visibility</p:attrName>
                                        </p:attrNameLst>
                                      </p:cBhvr>
                                      <p:tavLst>
                                        <p:tav tm="0">
                                          <p:val>
                                            <p:strVal val="hidden"/>
                                          </p:val>
                                        </p:tav>
                                        <p:tav tm="50000">
                                          <p:val>
                                            <p:strVal val="visible"/>
                                          </p:val>
                                        </p:tav>
                                      </p:tavLst>
                                    </p:anim>
                                  </p:childTnLst>
                                </p:cTn>
                              </p:par>
                              <p:par>
                                <p:cTn id="11" presetID="35" presetClass="emph" presetSubtype="0" repeatCount="2000" fill="hold" nodeType="withEffect">
                                  <p:stCondLst>
                                    <p:cond delay="0"/>
                                  </p:stCondLst>
                                  <p:childTnLst>
                                    <p:anim calcmode="discrete" valueType="str">
                                      <p:cBhvr>
                                        <p:cTn id="12" dur="500" fill="hold"/>
                                        <p:tgtEl>
                                          <p:spTgt spid="2">
                                            <p:txEl>
                                              <p:pRg st="3" end="3"/>
                                            </p:txEl>
                                          </p:spTgt>
                                        </p:tgtEl>
                                        <p:attrNameLst>
                                          <p:attrName>style.visibility</p:attrName>
                                        </p:attrNameLst>
                                      </p:cBhvr>
                                      <p:tavLst>
                                        <p:tav tm="0">
                                          <p:val>
                                            <p:strVal val="hidden"/>
                                          </p:val>
                                        </p:tav>
                                        <p:tav tm="50000">
                                          <p:val>
                                            <p:strVal val="visible"/>
                                          </p:val>
                                        </p:tav>
                                      </p:tavLst>
                                    </p:anim>
                                  </p:childTnLst>
                                </p:cTn>
                              </p:par>
                              <p:par>
                                <p:cTn id="13" presetID="35" presetClass="emph" presetSubtype="0" repeatCount="2000" fill="hold" nodeType="withEffect">
                                  <p:stCondLst>
                                    <p:cond delay="0"/>
                                  </p:stCondLst>
                                  <p:childTnLst>
                                    <p:anim calcmode="discrete" valueType="str">
                                      <p:cBhvr>
                                        <p:cTn id="14" dur="500" fill="hold"/>
                                        <p:tgtEl>
                                          <p:spTgt spid="2">
                                            <p:txEl>
                                              <p:pRg st="4" end="4"/>
                                            </p:txEl>
                                          </p:spTgt>
                                        </p:tgtEl>
                                        <p:attrNameLst>
                                          <p:attrName>style.visibility</p:attrName>
                                        </p:attrNameLst>
                                      </p:cBhvr>
                                      <p:tavLst>
                                        <p:tav tm="0">
                                          <p:val>
                                            <p:strVal val="hidden"/>
                                          </p:val>
                                        </p:tav>
                                        <p:tav tm="50000">
                                          <p:val>
                                            <p:strVal val="visible"/>
                                          </p:val>
                                        </p:tav>
                                      </p:tavLst>
                                    </p:anim>
                                  </p:childTnLst>
                                </p:cTn>
                              </p:par>
                              <p:par>
                                <p:cTn id="15" presetID="35" presetClass="emph" presetSubtype="0" repeatCount="2000" fill="hold" nodeType="withEffect">
                                  <p:stCondLst>
                                    <p:cond delay="0"/>
                                  </p:stCondLst>
                                  <p:childTnLst>
                                    <p:anim calcmode="discrete" valueType="str">
                                      <p:cBhvr>
                                        <p:cTn id="16" dur="500" fill="hold"/>
                                        <p:tgtEl>
                                          <p:spTgt spid="2">
                                            <p:txEl>
                                              <p:pRg st="5" end="5"/>
                                            </p:txEl>
                                          </p:spTgt>
                                        </p:tgtEl>
                                        <p:attrNameLst>
                                          <p:attrName>style.visibility</p:attrName>
                                        </p:attrNameLst>
                                      </p:cBhvr>
                                      <p:tavLst>
                                        <p:tav tm="0">
                                          <p:val>
                                            <p:strVal val="hidden"/>
                                          </p:val>
                                        </p:tav>
                                        <p:tav tm="50000">
                                          <p:val>
                                            <p:strVal val="visible"/>
                                          </p:val>
                                        </p:tav>
                                      </p:tavLst>
                                    </p:anim>
                                  </p:childTnLst>
                                </p:cTn>
                              </p:par>
                              <p:par>
                                <p:cTn id="17" presetID="35" presetClass="emph" presetSubtype="0" repeatCount="2000" fill="hold" grpId="0" nodeType="withEffect">
                                  <p:stCondLst>
                                    <p:cond delay="0"/>
                                  </p:stCondLst>
                                  <p:childTnLst>
                                    <p:anim calcmode="discrete" valueType="str">
                                      <p:cBhvr>
                                        <p:cTn id="18" dur="500" fill="hold"/>
                                        <p:tgtEl>
                                          <p:spTgt spid="5"/>
                                        </p:tgtEl>
                                        <p:attrNameLst>
                                          <p:attrName>style.visibility</p:attrName>
                                        </p:attrNameLst>
                                      </p:cBhvr>
                                      <p:tavLst>
                                        <p:tav tm="0">
                                          <p:val>
                                            <p:strVal val="hidden"/>
                                          </p:val>
                                        </p:tav>
                                        <p:tav tm="50000">
                                          <p:val>
                                            <p:strVal val="visible"/>
                                          </p:val>
                                        </p:tav>
                                      </p:tavLst>
                                    </p:anim>
                                  </p:childTnLst>
                                </p:cTn>
                              </p:par>
                              <p:par>
                                <p:cTn id="19" presetID="35" presetClass="emph" presetSubtype="0" repeatCount="2000" fill="hold" grpId="0" nodeType="withEffect">
                                  <p:stCondLst>
                                    <p:cond delay="0"/>
                                  </p:stCondLst>
                                  <p:childTnLst>
                                    <p:anim calcmode="discrete" valueType="str">
                                      <p:cBhvr>
                                        <p:cTn id="20" dur="500" fill="hold"/>
                                        <p:tgtEl>
                                          <p:spTgt spid="6"/>
                                        </p:tgtEl>
                                        <p:attrNameLst>
                                          <p:attrName>style.visibility</p:attrName>
                                        </p:attrNameLst>
                                      </p:cBhvr>
                                      <p:tavLst>
                                        <p:tav tm="0">
                                          <p:val>
                                            <p:strVal val="hidden"/>
                                          </p:val>
                                        </p:tav>
                                        <p:tav tm="50000">
                                          <p:val>
                                            <p:strVal val="visible"/>
                                          </p:val>
                                        </p:tav>
                                      </p:tavLst>
                                    </p:anim>
                                  </p:childTnLst>
                                </p:cTn>
                              </p:par>
                              <p:par>
                                <p:cTn id="21" presetID="35" presetClass="emph" presetSubtype="0" repeatCount="2000" fill="hold" nodeType="withEffect">
                                  <p:stCondLst>
                                    <p:cond delay="0"/>
                                  </p:stCondLst>
                                  <p:childTnLst>
                                    <p:anim calcmode="discrete" valueType="str">
                                      <p:cBhvr>
                                        <p:cTn id="22" dur="500" fill="hold"/>
                                        <p:tgtEl>
                                          <p:spTgt spid="44"/>
                                        </p:tgtEl>
                                        <p:attrNameLst>
                                          <p:attrName>style.visibility</p:attrName>
                                        </p:attrNameLst>
                                      </p:cBhvr>
                                      <p:tavLst>
                                        <p:tav tm="0">
                                          <p:val>
                                            <p:strVal val="hidden"/>
                                          </p:val>
                                        </p:tav>
                                        <p:tav tm="50000">
                                          <p:val>
                                            <p:strVal val="visible"/>
                                          </p:val>
                                        </p:tav>
                                      </p:tavLst>
                                    </p:anim>
                                  </p:childTnLst>
                                </p:cTn>
                              </p:par>
                              <p:par>
                                <p:cTn id="23" presetID="22" presetClass="entr" presetSubtype="8" repeatCount="3000" fill="hold" nodeType="withEffect">
                                  <p:stCondLst>
                                    <p:cond delay="0"/>
                                  </p:stCondLst>
                                  <p:childTnLst>
                                    <p:set>
                                      <p:cBhvr>
                                        <p:cTn id="24" dur="1" fill="hold">
                                          <p:stCondLst>
                                            <p:cond delay="0"/>
                                          </p:stCondLst>
                                        </p:cTn>
                                        <p:tgtEl>
                                          <p:spTgt spid="45"/>
                                        </p:tgtEl>
                                        <p:attrNameLst>
                                          <p:attrName>style.visibility</p:attrName>
                                        </p:attrNameLst>
                                      </p:cBhvr>
                                      <p:to>
                                        <p:strVal val="visible"/>
                                      </p:to>
                                    </p:set>
                                    <p:animEffect transition="in" filter="wipe(left)">
                                      <p:cBhvr>
                                        <p:cTn id="25"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8BFC2-9A88-FEC8-4F4A-56D0D43003EC}"/>
            </a:ext>
          </a:extLst>
        </p:cNvPr>
        <p:cNvGrpSpPr/>
        <p:nvPr/>
      </p:nvGrpSpPr>
      <p:grpSpPr>
        <a:xfrm>
          <a:off x="0" y="0"/>
          <a:ext cx="0" cy="0"/>
          <a:chOff x="0" y="0"/>
          <a:chExt cx="0" cy="0"/>
        </a:xfrm>
      </p:grpSpPr>
      <p:sp>
        <p:nvSpPr>
          <p:cNvPr id="5" name="内容占位符 4">
            <a:extLst>
              <a:ext uri="{FF2B5EF4-FFF2-40B4-BE49-F238E27FC236}">
                <a16:creationId xmlns:a16="http://schemas.microsoft.com/office/drawing/2014/main" id="{59179BF7-9715-17C4-91CD-287371C61BB7}"/>
              </a:ext>
            </a:extLst>
          </p:cNvPr>
          <p:cNvSpPr>
            <a:spLocks noGrp="1"/>
          </p:cNvSpPr>
          <p:nvPr>
            <p:ph sz="quarter" idx="10"/>
          </p:nvPr>
        </p:nvSpPr>
        <p:spPr>
          <a:xfrm>
            <a:off x="466343" y="900000"/>
            <a:ext cx="8129017" cy="3376990"/>
          </a:xfrm>
        </p:spPr>
        <p:txBody>
          <a:bodyPr/>
          <a:lstStyle/>
          <a:p>
            <a:r>
              <a:rPr lang="zh-CN" altLang="en-US" dirty="0"/>
              <a:t>信道</a:t>
            </a:r>
            <a:r>
              <a:rPr lang="en-US" altLang="zh-CN" dirty="0"/>
              <a:t>(channel)</a:t>
            </a:r>
            <a:r>
              <a:rPr lang="zh-CN" altLang="en-US" dirty="0"/>
              <a:t>：传输信息的路径。抽象概念，不是具体物理实体。</a:t>
            </a:r>
          </a:p>
        </p:txBody>
      </p:sp>
      <p:sp>
        <p:nvSpPr>
          <p:cNvPr id="4" name="文本占位符 3">
            <a:extLst>
              <a:ext uri="{FF2B5EF4-FFF2-40B4-BE49-F238E27FC236}">
                <a16:creationId xmlns:a16="http://schemas.microsoft.com/office/drawing/2014/main" id="{1AB4DB6C-4A9F-A0D9-5E32-F6581FD6FAC8}"/>
              </a:ext>
            </a:extLst>
          </p:cNvPr>
          <p:cNvSpPr>
            <a:spLocks noGrp="1"/>
          </p:cNvSpPr>
          <p:nvPr>
            <p:ph type="body" sz="quarter" idx="11"/>
          </p:nvPr>
        </p:nvSpPr>
        <p:spPr>
          <a:xfrm>
            <a:off x="1332000" y="360000"/>
            <a:ext cx="6480000" cy="354012"/>
          </a:xfrm>
        </p:spPr>
        <p:txBody>
          <a:bodyPr>
            <a:normAutofit fontScale="92500" lnSpcReduction="10000"/>
          </a:bodyPr>
          <a:lstStyle/>
          <a:p>
            <a:r>
              <a:rPr lang="en-US" altLang="zh-CN" dirty="0"/>
              <a:t>2.2.2  </a:t>
            </a:r>
            <a:r>
              <a:rPr lang="zh-CN" altLang="en-US" dirty="0"/>
              <a:t>有关信道的几个基本概念</a:t>
            </a:r>
          </a:p>
        </p:txBody>
      </p:sp>
      <p:sp>
        <p:nvSpPr>
          <p:cNvPr id="6" name="内容占位符 4">
            <a:extLst>
              <a:ext uri="{FF2B5EF4-FFF2-40B4-BE49-F238E27FC236}">
                <a16:creationId xmlns:a16="http://schemas.microsoft.com/office/drawing/2014/main" id="{F492C528-098B-336E-22B5-2FA6121EF6F4}"/>
              </a:ext>
            </a:extLst>
          </p:cNvPr>
          <p:cNvSpPr txBox="1">
            <a:spLocks/>
          </p:cNvSpPr>
          <p:nvPr/>
        </p:nvSpPr>
        <p:spPr>
          <a:xfrm>
            <a:off x="466343" y="1519624"/>
            <a:ext cx="5448997" cy="3172691"/>
          </a:xfrm>
          <a:prstGeom prst="rect">
            <a:avLst/>
          </a:prstGeom>
        </p:spPr>
        <p:txBody>
          <a:bodyPr/>
          <a:lstStyle>
            <a:lvl1pPr marL="342900" indent="-342900" algn="l" rtl="0" fontAlgn="base">
              <a:lnSpc>
                <a:spcPts val="3000"/>
              </a:lnSpc>
              <a:spcBef>
                <a:spcPts val="0"/>
              </a:spcBef>
              <a:spcAft>
                <a:spcPts val="0"/>
              </a:spcAft>
              <a:buClr>
                <a:srgbClr val="0066CC"/>
              </a:buClr>
              <a:buFont typeface="Wingdings" panose="05000000000000000000" pitchFamily="2" charset="2"/>
              <a:buChar char="l"/>
              <a:defRPr lang="zh-CN" altLang="en-US" sz="2000" b="1" kern="1200" dirty="0" smtClean="0">
                <a:solidFill>
                  <a:schemeClr val="tx1"/>
                </a:solidFill>
                <a:latin typeface="微软雅黑" pitchFamily="34" charset="-122"/>
                <a:ea typeface="微软雅黑" pitchFamily="34" charset="-122"/>
                <a:cs typeface="+mn-cs"/>
              </a:defRPr>
            </a:lvl1pPr>
            <a:lvl2pPr marL="742950" indent="-285750" algn="l" rtl="0" fontAlgn="base">
              <a:lnSpc>
                <a:spcPts val="3000"/>
              </a:lnSpc>
              <a:spcBef>
                <a:spcPts val="0"/>
              </a:spcBef>
              <a:spcAft>
                <a:spcPts val="0"/>
              </a:spcAft>
              <a:buClr>
                <a:schemeClr val="accent6">
                  <a:lumMod val="50000"/>
                </a:schemeClr>
              </a:buClr>
              <a:buFont typeface="Wingdings" panose="05000000000000000000" pitchFamily="2" charset="2"/>
              <a:buChar char="u"/>
              <a:defRPr sz="1800" b="1"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fontAlgn="base">
              <a:lnSpc>
                <a:spcPts val="3000"/>
              </a:lnSpc>
              <a:spcBef>
                <a:spcPts val="0"/>
              </a:spcBef>
              <a:spcAft>
                <a:spcPts val="0"/>
              </a:spcAft>
              <a:buClr>
                <a:srgbClr val="006600"/>
              </a:buClr>
              <a:buFont typeface="Wingdings" panose="05000000000000000000" pitchFamily="2" charset="2"/>
              <a:buChar char="Ø"/>
              <a:defRPr sz="1600" b="1"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fontAlgn="base">
              <a:lnSpc>
                <a:spcPts val="3000"/>
              </a:lnSpc>
              <a:spcBef>
                <a:spcPts val="0"/>
              </a:spcBef>
              <a:spcAft>
                <a:spcPts val="0"/>
              </a:spcAft>
              <a:buFont typeface="Arial" charset="0"/>
              <a:buChar char="–"/>
              <a:defRPr sz="1400" b="1"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fontAlgn="base">
              <a:lnSpc>
                <a:spcPts val="3000"/>
              </a:lnSpc>
              <a:spcBef>
                <a:spcPts val="0"/>
              </a:spcBef>
              <a:spcAft>
                <a:spcPts val="0"/>
              </a:spcAft>
              <a:buFont typeface="Arial" charset="0"/>
              <a:buChar char="»"/>
              <a:defRPr sz="1400" b="1"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indent="-285750">
              <a:buClr>
                <a:srgbClr val="0070C0"/>
              </a:buClr>
            </a:pPr>
            <a:r>
              <a:rPr lang="zh-CN" altLang="en-US" dirty="0">
                <a:solidFill>
                  <a:srgbClr val="0000FF"/>
                </a:solidFill>
              </a:rPr>
              <a:t>单向通信（单工通信）：</a:t>
            </a:r>
            <a:r>
              <a:rPr lang="zh-CN" altLang="en-US" dirty="0">
                <a:solidFill>
                  <a:srgbClr val="C00000"/>
                </a:solidFill>
              </a:rPr>
              <a:t>只能有一个方向</a:t>
            </a:r>
            <a:r>
              <a:rPr lang="zh-CN" altLang="en-US" dirty="0"/>
              <a:t>的通信，没有反方向的交互。</a:t>
            </a:r>
          </a:p>
          <a:p>
            <a:pPr marL="285750" indent="-285750">
              <a:buClr>
                <a:srgbClr val="0070C0"/>
              </a:buClr>
            </a:pPr>
            <a:r>
              <a:rPr lang="zh-CN" altLang="en-US" dirty="0">
                <a:solidFill>
                  <a:srgbClr val="0000FF"/>
                </a:solidFill>
              </a:rPr>
              <a:t>双向交替通信（半双工通信）：</a:t>
            </a:r>
            <a:r>
              <a:rPr lang="zh-CN" altLang="en-US" dirty="0"/>
              <a:t>通信的双方都可以发送信息，但双方</a:t>
            </a:r>
            <a:r>
              <a:rPr lang="zh-CN" altLang="en-US" dirty="0">
                <a:solidFill>
                  <a:srgbClr val="C00000"/>
                </a:solidFill>
              </a:rPr>
              <a:t>不能同时</a:t>
            </a:r>
            <a:r>
              <a:rPr lang="zh-CN" altLang="en-US" dirty="0"/>
              <a:t>发送（当然也就不能同时接收）。</a:t>
            </a:r>
          </a:p>
          <a:p>
            <a:pPr marL="285750" indent="-285750">
              <a:buClr>
                <a:srgbClr val="0070C0"/>
              </a:buClr>
            </a:pPr>
            <a:r>
              <a:rPr lang="zh-CN" altLang="en-US" dirty="0">
                <a:solidFill>
                  <a:srgbClr val="0000FF"/>
                </a:solidFill>
              </a:rPr>
              <a:t>双向同时通信（全双工通信）：</a:t>
            </a:r>
            <a:r>
              <a:rPr lang="zh-CN" altLang="en-US" dirty="0"/>
              <a:t>通信的双方可以</a:t>
            </a:r>
            <a:r>
              <a:rPr lang="zh-CN" altLang="en-US" dirty="0">
                <a:solidFill>
                  <a:srgbClr val="C00000"/>
                </a:solidFill>
              </a:rPr>
              <a:t>同时发送和接收</a:t>
            </a:r>
            <a:r>
              <a:rPr lang="zh-CN" altLang="en-US" dirty="0"/>
              <a:t>信息。 </a:t>
            </a:r>
          </a:p>
          <a:p>
            <a:endParaRPr lang="zh-CN" altLang="en-US" dirty="0"/>
          </a:p>
        </p:txBody>
      </p:sp>
      <p:sp>
        <p:nvSpPr>
          <p:cNvPr id="2" name="椭圆 1">
            <a:extLst>
              <a:ext uri="{FF2B5EF4-FFF2-40B4-BE49-F238E27FC236}">
                <a16:creationId xmlns:a16="http://schemas.microsoft.com/office/drawing/2014/main" id="{E43DF6D7-F9D0-B1DA-B5C5-2C0956DB13E6}"/>
              </a:ext>
            </a:extLst>
          </p:cNvPr>
          <p:cNvSpPr/>
          <p:nvPr/>
        </p:nvSpPr>
        <p:spPr>
          <a:xfrm>
            <a:off x="5869858" y="1769806"/>
            <a:ext cx="373626" cy="373626"/>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b="1" dirty="0"/>
              <a:t>A</a:t>
            </a:r>
            <a:endParaRPr lang="zh-CN" altLang="en-US" b="1" dirty="0"/>
          </a:p>
        </p:txBody>
      </p:sp>
      <p:sp>
        <p:nvSpPr>
          <p:cNvPr id="21" name="椭圆 20">
            <a:extLst>
              <a:ext uri="{FF2B5EF4-FFF2-40B4-BE49-F238E27FC236}">
                <a16:creationId xmlns:a16="http://schemas.microsoft.com/office/drawing/2014/main" id="{7B8607AD-823D-0BC1-EE97-C3F9932224BD}"/>
              </a:ext>
            </a:extLst>
          </p:cNvPr>
          <p:cNvSpPr/>
          <p:nvPr/>
        </p:nvSpPr>
        <p:spPr>
          <a:xfrm>
            <a:off x="8192404" y="1769806"/>
            <a:ext cx="373626" cy="373626"/>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b="1" dirty="0"/>
              <a:t>B</a:t>
            </a:r>
            <a:endParaRPr lang="zh-CN" altLang="en-US" b="1" dirty="0"/>
          </a:p>
        </p:txBody>
      </p:sp>
      <p:cxnSp>
        <p:nvCxnSpPr>
          <p:cNvPr id="36" name="直接箭头连接符 35">
            <a:extLst>
              <a:ext uri="{FF2B5EF4-FFF2-40B4-BE49-F238E27FC236}">
                <a16:creationId xmlns:a16="http://schemas.microsoft.com/office/drawing/2014/main" id="{A0CF1DCB-1442-E25F-FF1C-403187F90861}"/>
              </a:ext>
            </a:extLst>
          </p:cNvPr>
          <p:cNvCxnSpPr>
            <a:stCxn id="2" idx="6"/>
            <a:endCxn id="21" idx="2"/>
          </p:cNvCxnSpPr>
          <p:nvPr/>
        </p:nvCxnSpPr>
        <p:spPr>
          <a:xfrm>
            <a:off x="6243484" y="1956619"/>
            <a:ext cx="1948920" cy="0"/>
          </a:xfrm>
          <a:prstGeom prst="straightConnector1">
            <a:avLst/>
          </a:prstGeom>
          <a:ln>
            <a:tailEnd type="triangle"/>
          </a:ln>
          <a:effectLst/>
        </p:spPr>
        <p:style>
          <a:lnRef idx="3">
            <a:schemeClr val="accent6"/>
          </a:lnRef>
          <a:fillRef idx="0">
            <a:schemeClr val="accent6"/>
          </a:fillRef>
          <a:effectRef idx="2">
            <a:schemeClr val="accent6"/>
          </a:effectRef>
          <a:fontRef idx="minor">
            <a:schemeClr val="tx1"/>
          </a:fontRef>
        </p:style>
      </p:cxnSp>
      <p:sp>
        <p:nvSpPr>
          <p:cNvPr id="37" name="椭圆 36">
            <a:extLst>
              <a:ext uri="{FF2B5EF4-FFF2-40B4-BE49-F238E27FC236}">
                <a16:creationId xmlns:a16="http://schemas.microsoft.com/office/drawing/2014/main" id="{21EA4634-191C-F295-AB1B-5C96A7B49549}"/>
              </a:ext>
            </a:extLst>
          </p:cNvPr>
          <p:cNvSpPr/>
          <p:nvPr/>
        </p:nvSpPr>
        <p:spPr>
          <a:xfrm>
            <a:off x="5869858" y="2626443"/>
            <a:ext cx="373626" cy="373626"/>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b="1" dirty="0"/>
              <a:t>A</a:t>
            </a:r>
            <a:endParaRPr lang="zh-CN" altLang="en-US" b="1" dirty="0"/>
          </a:p>
        </p:txBody>
      </p:sp>
      <p:sp>
        <p:nvSpPr>
          <p:cNvPr id="38" name="椭圆 37">
            <a:extLst>
              <a:ext uri="{FF2B5EF4-FFF2-40B4-BE49-F238E27FC236}">
                <a16:creationId xmlns:a16="http://schemas.microsoft.com/office/drawing/2014/main" id="{4BF70269-C95F-2914-E56D-25E3688253A4}"/>
              </a:ext>
            </a:extLst>
          </p:cNvPr>
          <p:cNvSpPr/>
          <p:nvPr/>
        </p:nvSpPr>
        <p:spPr>
          <a:xfrm>
            <a:off x="8192404" y="2626443"/>
            <a:ext cx="373626" cy="373626"/>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b="1" dirty="0"/>
              <a:t>B</a:t>
            </a:r>
            <a:endParaRPr lang="zh-CN" altLang="en-US" b="1" dirty="0"/>
          </a:p>
        </p:txBody>
      </p:sp>
      <p:cxnSp>
        <p:nvCxnSpPr>
          <p:cNvPr id="39" name="直接箭头连接符 38">
            <a:extLst>
              <a:ext uri="{FF2B5EF4-FFF2-40B4-BE49-F238E27FC236}">
                <a16:creationId xmlns:a16="http://schemas.microsoft.com/office/drawing/2014/main" id="{974E22B5-E460-E497-FE21-FAF98D98E5F0}"/>
              </a:ext>
            </a:extLst>
          </p:cNvPr>
          <p:cNvCxnSpPr>
            <a:stCxn id="37" idx="6"/>
            <a:endCxn id="38" idx="2"/>
          </p:cNvCxnSpPr>
          <p:nvPr/>
        </p:nvCxnSpPr>
        <p:spPr>
          <a:xfrm>
            <a:off x="6243484" y="2813256"/>
            <a:ext cx="1948920" cy="0"/>
          </a:xfrm>
          <a:prstGeom prst="straightConnector1">
            <a:avLst/>
          </a:prstGeom>
          <a:ln>
            <a:tailEnd type="triangle"/>
          </a:ln>
          <a:effectLst/>
        </p:spPr>
        <p:style>
          <a:lnRef idx="3">
            <a:schemeClr val="accent6"/>
          </a:lnRef>
          <a:fillRef idx="0">
            <a:schemeClr val="accent6"/>
          </a:fillRef>
          <a:effectRef idx="2">
            <a:schemeClr val="accent6"/>
          </a:effectRef>
          <a:fontRef idx="minor">
            <a:schemeClr val="tx1"/>
          </a:fontRef>
        </p:style>
      </p:cxnSp>
      <p:cxnSp>
        <p:nvCxnSpPr>
          <p:cNvPr id="40" name="直接箭头连接符 39">
            <a:extLst>
              <a:ext uri="{FF2B5EF4-FFF2-40B4-BE49-F238E27FC236}">
                <a16:creationId xmlns:a16="http://schemas.microsoft.com/office/drawing/2014/main" id="{02FCA5A9-0BDC-5152-65FD-132C67D4A01E}"/>
              </a:ext>
            </a:extLst>
          </p:cNvPr>
          <p:cNvCxnSpPr>
            <a:cxnSpLocks/>
          </p:cNvCxnSpPr>
          <p:nvPr/>
        </p:nvCxnSpPr>
        <p:spPr>
          <a:xfrm flipH="1">
            <a:off x="6243484" y="2813259"/>
            <a:ext cx="1948920" cy="0"/>
          </a:xfrm>
          <a:prstGeom prst="straightConnector1">
            <a:avLst/>
          </a:prstGeom>
          <a:ln>
            <a:tailEnd type="triangle"/>
          </a:ln>
          <a:effectLst/>
        </p:spPr>
        <p:style>
          <a:lnRef idx="3">
            <a:schemeClr val="accent6"/>
          </a:lnRef>
          <a:fillRef idx="0">
            <a:schemeClr val="accent6"/>
          </a:fillRef>
          <a:effectRef idx="2">
            <a:schemeClr val="accent6"/>
          </a:effectRef>
          <a:fontRef idx="minor">
            <a:schemeClr val="tx1"/>
          </a:fontRef>
        </p:style>
      </p:cxnSp>
      <p:sp>
        <p:nvSpPr>
          <p:cNvPr id="41" name="椭圆 40">
            <a:extLst>
              <a:ext uri="{FF2B5EF4-FFF2-40B4-BE49-F238E27FC236}">
                <a16:creationId xmlns:a16="http://schemas.microsoft.com/office/drawing/2014/main" id="{CD5F822B-713C-8E95-CF00-E31232B884AD}"/>
              </a:ext>
            </a:extLst>
          </p:cNvPr>
          <p:cNvSpPr/>
          <p:nvPr/>
        </p:nvSpPr>
        <p:spPr>
          <a:xfrm>
            <a:off x="5869858" y="3535464"/>
            <a:ext cx="373626" cy="373626"/>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b="1" dirty="0"/>
              <a:t>A</a:t>
            </a:r>
            <a:endParaRPr lang="zh-CN" altLang="en-US" b="1" dirty="0"/>
          </a:p>
        </p:txBody>
      </p:sp>
      <p:sp>
        <p:nvSpPr>
          <p:cNvPr id="42" name="椭圆 41">
            <a:extLst>
              <a:ext uri="{FF2B5EF4-FFF2-40B4-BE49-F238E27FC236}">
                <a16:creationId xmlns:a16="http://schemas.microsoft.com/office/drawing/2014/main" id="{BFF49A21-00D2-09BA-ABAF-0B1F01832173}"/>
              </a:ext>
            </a:extLst>
          </p:cNvPr>
          <p:cNvSpPr/>
          <p:nvPr/>
        </p:nvSpPr>
        <p:spPr>
          <a:xfrm>
            <a:off x="8192404" y="3535464"/>
            <a:ext cx="373626" cy="373626"/>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b="1" dirty="0"/>
              <a:t>B</a:t>
            </a:r>
            <a:endParaRPr lang="zh-CN" altLang="en-US" b="1" dirty="0"/>
          </a:p>
        </p:txBody>
      </p:sp>
      <p:cxnSp>
        <p:nvCxnSpPr>
          <p:cNvPr id="43" name="直接箭头连接符 42">
            <a:extLst>
              <a:ext uri="{FF2B5EF4-FFF2-40B4-BE49-F238E27FC236}">
                <a16:creationId xmlns:a16="http://schemas.microsoft.com/office/drawing/2014/main" id="{50C27499-179A-A69B-FEE8-16988F00620D}"/>
              </a:ext>
            </a:extLst>
          </p:cNvPr>
          <p:cNvCxnSpPr>
            <a:cxnSpLocks/>
          </p:cNvCxnSpPr>
          <p:nvPr/>
        </p:nvCxnSpPr>
        <p:spPr>
          <a:xfrm>
            <a:off x="6243484" y="3678032"/>
            <a:ext cx="1948920" cy="0"/>
          </a:xfrm>
          <a:prstGeom prst="straightConnector1">
            <a:avLst/>
          </a:prstGeom>
          <a:ln>
            <a:tailEnd type="triangle"/>
          </a:ln>
          <a:effectLst/>
        </p:spPr>
        <p:style>
          <a:lnRef idx="3">
            <a:schemeClr val="accent6"/>
          </a:lnRef>
          <a:fillRef idx="0">
            <a:schemeClr val="accent6"/>
          </a:fillRef>
          <a:effectRef idx="2">
            <a:schemeClr val="accent6"/>
          </a:effectRef>
          <a:fontRef idx="minor">
            <a:schemeClr val="tx1"/>
          </a:fontRef>
        </p:style>
      </p:cxnSp>
      <p:cxnSp>
        <p:nvCxnSpPr>
          <p:cNvPr id="44" name="直接箭头连接符 43">
            <a:extLst>
              <a:ext uri="{FF2B5EF4-FFF2-40B4-BE49-F238E27FC236}">
                <a16:creationId xmlns:a16="http://schemas.microsoft.com/office/drawing/2014/main" id="{9551DDBA-8046-3ADD-CF38-3B5A630C2E9C}"/>
              </a:ext>
            </a:extLst>
          </p:cNvPr>
          <p:cNvCxnSpPr>
            <a:cxnSpLocks/>
          </p:cNvCxnSpPr>
          <p:nvPr/>
        </p:nvCxnSpPr>
        <p:spPr>
          <a:xfrm flipH="1">
            <a:off x="6243484" y="3771439"/>
            <a:ext cx="1948920" cy="0"/>
          </a:xfrm>
          <a:prstGeom prst="straightConnector1">
            <a:avLst/>
          </a:prstGeom>
          <a:ln>
            <a:tailEnd type="triangle"/>
          </a:ln>
          <a:effectLst/>
        </p:spPr>
        <p:style>
          <a:lnRef idx="3">
            <a:schemeClr val="accent6"/>
          </a:lnRef>
          <a:fillRef idx="0">
            <a:schemeClr val="accent6"/>
          </a:fillRef>
          <a:effectRef idx="2">
            <a:schemeClr val="accent6"/>
          </a:effectRef>
          <a:fontRef idx="minor">
            <a:schemeClr val="tx1"/>
          </a:fontRef>
        </p:style>
      </p:cxnSp>
    </p:spTree>
    <p:custDataLst>
      <p:tags r:id="rId1"/>
    </p:custDataLst>
    <p:extLst>
      <p:ext uri="{BB962C8B-B14F-4D97-AF65-F5344CB8AC3E}">
        <p14:creationId xmlns:p14="http://schemas.microsoft.com/office/powerpoint/2010/main" val="2625429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xEl>
                                              <p:pRg st="0" end="0"/>
                                            </p:txEl>
                                          </p:spTgt>
                                        </p:tgtEl>
                                        <p:attrNameLst>
                                          <p:attrName>style.visibility</p:attrName>
                                        </p:attrNameLst>
                                      </p:cBhvr>
                                      <p:to>
                                        <p:strVal val="visible"/>
                                      </p:to>
                                    </p:set>
                                    <p:animEffect transition="in" filter="fade">
                                      <p:cBhvr>
                                        <p:cTn id="14" dur="1000"/>
                                        <p:tgtEl>
                                          <p:spTgt spid="6">
                                            <p:txEl>
                                              <p:pRg st="0" end="0"/>
                                            </p:txEl>
                                          </p:spTgt>
                                        </p:tgtEl>
                                      </p:cBhvr>
                                    </p:animEffect>
                                    <p:anim calcmode="lin" valueType="num">
                                      <p:cBhvr>
                                        <p:cTn id="15"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0" end="0"/>
                                            </p:txEl>
                                          </p:spTgt>
                                        </p:tgtEl>
                                        <p:attrNameLst>
                                          <p:attrName>ppt_y</p:attrName>
                                        </p:attrNameLst>
                                      </p:cBhvr>
                                      <p:tavLst>
                                        <p:tav tm="0">
                                          <p:val>
                                            <p:strVal val="#ppt_y+.1"/>
                                          </p:val>
                                        </p:tav>
                                        <p:tav tm="100000">
                                          <p:val>
                                            <p:strVal val="#ppt_y"/>
                                          </p:val>
                                        </p:tav>
                                      </p:tavLst>
                                    </p:anim>
                                  </p:childTnLst>
                                </p:cTn>
                              </p:par>
                              <p:par>
                                <p:cTn id="17" presetID="1" presetClass="entr" presetSubtype="0" fill="hold" grpId="0" nodeType="withEffect">
                                  <p:stCondLst>
                                    <p:cond delay="0"/>
                                  </p:stCondLst>
                                  <p:childTnLst>
                                    <p:set>
                                      <p:cBhvr>
                                        <p:cTn id="18" dur="1" fill="hold">
                                          <p:stCondLst>
                                            <p:cond delay="0"/>
                                          </p:stCondLst>
                                        </p:cTn>
                                        <p:tgtEl>
                                          <p:spTgt spid="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22" presetClass="entr" presetSubtype="8" repeatCount="3000" fill="hold" nodeType="withEffect">
                                  <p:stCondLst>
                                    <p:cond delay="0"/>
                                  </p:stCondLst>
                                  <p:childTnLst>
                                    <p:set>
                                      <p:cBhvr>
                                        <p:cTn id="22" dur="1" fill="hold">
                                          <p:stCondLst>
                                            <p:cond delay="0"/>
                                          </p:stCondLst>
                                        </p:cTn>
                                        <p:tgtEl>
                                          <p:spTgt spid="36"/>
                                        </p:tgtEl>
                                        <p:attrNameLst>
                                          <p:attrName>style.visibility</p:attrName>
                                        </p:attrNameLst>
                                      </p:cBhvr>
                                      <p:to>
                                        <p:strVal val="visible"/>
                                      </p:to>
                                    </p:set>
                                    <p:animEffect transition="in" filter="wipe(left)">
                                      <p:cBhvr>
                                        <p:cTn id="23" dur="1000"/>
                                        <p:tgtEl>
                                          <p:spTgt spid="36"/>
                                        </p:tgtEl>
                                      </p:cBhvr>
                                    </p:animEffect>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6">
                                            <p:txEl>
                                              <p:pRg st="1" end="1"/>
                                            </p:txEl>
                                          </p:spTgt>
                                        </p:tgtEl>
                                        <p:attrNameLst>
                                          <p:attrName>style.visibility</p:attrName>
                                        </p:attrNameLst>
                                      </p:cBhvr>
                                      <p:to>
                                        <p:strVal val="visible"/>
                                      </p:to>
                                    </p:set>
                                    <p:animEffect transition="in" filter="fade">
                                      <p:cBhvr>
                                        <p:cTn id="28" dur="1000"/>
                                        <p:tgtEl>
                                          <p:spTgt spid="6">
                                            <p:txEl>
                                              <p:pRg st="1" end="1"/>
                                            </p:txEl>
                                          </p:spTgt>
                                        </p:tgtEl>
                                      </p:cBhvr>
                                    </p:animEffect>
                                    <p:anim calcmode="lin" valueType="num">
                                      <p:cBhvr>
                                        <p:cTn id="29"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30" dur="1000" fill="hold"/>
                                        <p:tgtEl>
                                          <p:spTgt spid="6">
                                            <p:txEl>
                                              <p:pRg st="1" end="1"/>
                                            </p:txEl>
                                          </p:spTgt>
                                        </p:tgtEl>
                                        <p:attrNameLst>
                                          <p:attrName>ppt_y</p:attrName>
                                        </p:attrNameLst>
                                      </p:cBhvr>
                                      <p:tavLst>
                                        <p:tav tm="0">
                                          <p:val>
                                            <p:strVal val="#ppt_y+.1"/>
                                          </p:val>
                                        </p:tav>
                                        <p:tav tm="100000">
                                          <p:val>
                                            <p:strVal val="#ppt_y"/>
                                          </p:val>
                                        </p:tav>
                                      </p:tavLst>
                                    </p:anim>
                                  </p:childTnLst>
                                </p:cTn>
                              </p:par>
                              <p:par>
                                <p:cTn id="31" presetID="1" presetClass="entr" presetSubtype="0" fill="hold" grpId="0" nodeType="withEffect">
                                  <p:stCondLst>
                                    <p:cond delay="0"/>
                                  </p:stCondLst>
                                  <p:childTnLst>
                                    <p:set>
                                      <p:cBhvr>
                                        <p:cTn id="32" dur="1" fill="hold">
                                          <p:stCondLst>
                                            <p:cond delay="0"/>
                                          </p:stCondLst>
                                        </p:cTn>
                                        <p:tgtEl>
                                          <p:spTgt spid="3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par>
                                <p:cTn id="35" presetID="22" presetClass="entr" presetSubtype="8" fill="hold" nodeType="withEffect">
                                  <p:stCondLst>
                                    <p:cond delay="0"/>
                                  </p:stCondLst>
                                  <p:childTnLst>
                                    <p:set>
                                      <p:cBhvr>
                                        <p:cTn id="36" dur="1" fill="hold">
                                          <p:stCondLst>
                                            <p:cond delay="0"/>
                                          </p:stCondLst>
                                        </p:cTn>
                                        <p:tgtEl>
                                          <p:spTgt spid="39"/>
                                        </p:tgtEl>
                                        <p:attrNameLst>
                                          <p:attrName>style.visibility</p:attrName>
                                        </p:attrNameLst>
                                      </p:cBhvr>
                                      <p:to>
                                        <p:strVal val="visible"/>
                                      </p:to>
                                    </p:set>
                                    <p:animEffect transition="in" filter="wipe(left)">
                                      <p:cBhvr>
                                        <p:cTn id="37" dur="1000"/>
                                        <p:tgtEl>
                                          <p:spTgt spid="39"/>
                                        </p:tgtEl>
                                      </p:cBhvr>
                                    </p:animEffect>
                                  </p:childTnLst>
                                  <p:subTnLst>
                                    <p:set>
                                      <p:cBhvr override="childStyle">
                                        <p:cTn dur="1" fill="hold" display="0" masterRel="sameClick" afterEffect="1">
                                          <p:stCondLst>
                                            <p:cond evt="end" delay="0">
                                              <p:tn val="35"/>
                                            </p:cond>
                                          </p:stCondLst>
                                        </p:cTn>
                                        <p:tgtEl>
                                          <p:spTgt spid="39"/>
                                        </p:tgtEl>
                                        <p:attrNameLst>
                                          <p:attrName>style.visibility</p:attrName>
                                        </p:attrNameLst>
                                      </p:cBhvr>
                                      <p:to>
                                        <p:strVal val="hidden"/>
                                      </p:to>
                                    </p:set>
                                  </p:subTnLst>
                                </p:cTn>
                              </p:par>
                            </p:childTnLst>
                          </p:cTn>
                        </p:par>
                        <p:par>
                          <p:cTn id="38" fill="hold">
                            <p:stCondLst>
                              <p:cond delay="1000"/>
                            </p:stCondLst>
                            <p:childTnLst>
                              <p:par>
                                <p:cTn id="39" presetID="22" presetClass="entr" presetSubtype="2" fill="hold" nodeType="afterEffect">
                                  <p:stCondLst>
                                    <p:cond delay="0"/>
                                  </p:stCondLst>
                                  <p:childTnLst>
                                    <p:set>
                                      <p:cBhvr>
                                        <p:cTn id="40" dur="1" fill="hold">
                                          <p:stCondLst>
                                            <p:cond delay="0"/>
                                          </p:stCondLst>
                                        </p:cTn>
                                        <p:tgtEl>
                                          <p:spTgt spid="40"/>
                                        </p:tgtEl>
                                        <p:attrNameLst>
                                          <p:attrName>style.visibility</p:attrName>
                                        </p:attrNameLst>
                                      </p:cBhvr>
                                      <p:to>
                                        <p:strVal val="visible"/>
                                      </p:to>
                                    </p:set>
                                    <p:animEffect transition="in" filter="wipe(right)">
                                      <p:cBhvr>
                                        <p:cTn id="41" dur="1000"/>
                                        <p:tgtEl>
                                          <p:spTgt spid="40"/>
                                        </p:tgtEl>
                                      </p:cBhvr>
                                    </p:animEffect>
                                  </p:childTnLst>
                                  <p:subTnLst>
                                    <p:set>
                                      <p:cBhvr override="childStyle">
                                        <p:cTn dur="1" fill="hold" display="0" masterRel="sameClick" afterEffect="1">
                                          <p:stCondLst>
                                            <p:cond evt="end" delay="0">
                                              <p:tn val="39"/>
                                            </p:cond>
                                          </p:stCondLst>
                                        </p:cTn>
                                        <p:tgtEl>
                                          <p:spTgt spid="40"/>
                                        </p:tgtEl>
                                        <p:attrNameLst>
                                          <p:attrName>style.visibility</p:attrName>
                                        </p:attrNameLst>
                                      </p:cBhvr>
                                      <p:to>
                                        <p:strVal val="hidden"/>
                                      </p:to>
                                    </p:set>
                                  </p:subTnLst>
                                </p:cTn>
                              </p:par>
                            </p:childTnLst>
                          </p:cTn>
                        </p:par>
                        <p:par>
                          <p:cTn id="42" fill="hold">
                            <p:stCondLst>
                              <p:cond delay="2000"/>
                            </p:stCondLst>
                            <p:childTnLst>
                              <p:par>
                                <p:cTn id="43" presetID="22" presetClass="entr" presetSubtype="8" fill="hold" nodeType="afterEffect">
                                  <p:stCondLst>
                                    <p:cond delay="0"/>
                                  </p:stCondLst>
                                  <p:childTnLst>
                                    <p:set>
                                      <p:cBhvr>
                                        <p:cTn id="44" dur="1" fill="hold">
                                          <p:stCondLst>
                                            <p:cond delay="0"/>
                                          </p:stCondLst>
                                        </p:cTn>
                                        <p:tgtEl>
                                          <p:spTgt spid="39"/>
                                        </p:tgtEl>
                                        <p:attrNameLst>
                                          <p:attrName>style.visibility</p:attrName>
                                        </p:attrNameLst>
                                      </p:cBhvr>
                                      <p:to>
                                        <p:strVal val="visible"/>
                                      </p:to>
                                    </p:set>
                                    <p:animEffect transition="in" filter="wipe(left)">
                                      <p:cBhvr>
                                        <p:cTn id="45" dur="1000"/>
                                        <p:tgtEl>
                                          <p:spTgt spid="39"/>
                                        </p:tgtEl>
                                      </p:cBhvr>
                                    </p:animEffect>
                                  </p:childTnLst>
                                  <p:subTnLst>
                                    <p:set>
                                      <p:cBhvr override="childStyle">
                                        <p:cTn dur="1" fill="hold" display="0" masterRel="sameClick" afterEffect="1">
                                          <p:stCondLst>
                                            <p:cond evt="end" delay="0">
                                              <p:tn val="43"/>
                                            </p:cond>
                                          </p:stCondLst>
                                        </p:cTn>
                                        <p:tgtEl>
                                          <p:spTgt spid="39"/>
                                        </p:tgtEl>
                                        <p:attrNameLst>
                                          <p:attrName>style.visibility</p:attrName>
                                        </p:attrNameLst>
                                      </p:cBhvr>
                                      <p:to>
                                        <p:strVal val="hidden"/>
                                      </p:to>
                                    </p:set>
                                  </p:subTnLst>
                                </p:cTn>
                              </p:par>
                            </p:childTnLst>
                          </p:cTn>
                        </p:par>
                        <p:par>
                          <p:cTn id="46" fill="hold">
                            <p:stCondLst>
                              <p:cond delay="3000"/>
                            </p:stCondLst>
                            <p:childTnLst>
                              <p:par>
                                <p:cTn id="47" presetID="22" presetClass="entr" presetSubtype="2" fill="hold" nodeType="afterEffect">
                                  <p:stCondLst>
                                    <p:cond delay="0"/>
                                  </p:stCondLst>
                                  <p:childTnLst>
                                    <p:set>
                                      <p:cBhvr>
                                        <p:cTn id="48" dur="1" fill="hold">
                                          <p:stCondLst>
                                            <p:cond delay="0"/>
                                          </p:stCondLst>
                                        </p:cTn>
                                        <p:tgtEl>
                                          <p:spTgt spid="40"/>
                                        </p:tgtEl>
                                        <p:attrNameLst>
                                          <p:attrName>style.visibility</p:attrName>
                                        </p:attrNameLst>
                                      </p:cBhvr>
                                      <p:to>
                                        <p:strVal val="visible"/>
                                      </p:to>
                                    </p:set>
                                    <p:animEffect transition="in" filter="wipe(right)">
                                      <p:cBhvr>
                                        <p:cTn id="49" dur="1000"/>
                                        <p:tgtEl>
                                          <p:spTgt spid="40"/>
                                        </p:tgtEl>
                                      </p:cBhvr>
                                    </p:animEffect>
                                  </p:childTnLst>
                                  <p:subTnLst>
                                    <p:set>
                                      <p:cBhvr override="childStyle">
                                        <p:cTn dur="1" fill="hold" display="0" masterRel="sameClick" afterEffect="1">
                                          <p:stCondLst>
                                            <p:cond evt="end" delay="0">
                                              <p:tn val="47"/>
                                            </p:cond>
                                          </p:stCondLst>
                                        </p:cTn>
                                        <p:tgtEl>
                                          <p:spTgt spid="40"/>
                                        </p:tgtEl>
                                        <p:attrNameLst>
                                          <p:attrName>style.visibility</p:attrName>
                                        </p:attrNameLst>
                                      </p:cBhvr>
                                      <p:to>
                                        <p:strVal val="hidden"/>
                                      </p:to>
                                    </p:set>
                                  </p:subTnLst>
                                </p:cTn>
                              </p:par>
                            </p:childTnLst>
                          </p:cTn>
                        </p:par>
                        <p:par>
                          <p:cTn id="50" fill="hold">
                            <p:stCondLst>
                              <p:cond delay="4000"/>
                            </p:stCondLst>
                            <p:childTnLst>
                              <p:par>
                                <p:cTn id="51" presetID="22" presetClass="entr" presetSubtype="8" fill="hold" nodeType="afterEffect">
                                  <p:stCondLst>
                                    <p:cond delay="0"/>
                                  </p:stCondLst>
                                  <p:childTnLst>
                                    <p:set>
                                      <p:cBhvr>
                                        <p:cTn id="52" dur="1" fill="hold">
                                          <p:stCondLst>
                                            <p:cond delay="0"/>
                                          </p:stCondLst>
                                        </p:cTn>
                                        <p:tgtEl>
                                          <p:spTgt spid="39"/>
                                        </p:tgtEl>
                                        <p:attrNameLst>
                                          <p:attrName>style.visibility</p:attrName>
                                        </p:attrNameLst>
                                      </p:cBhvr>
                                      <p:to>
                                        <p:strVal val="visible"/>
                                      </p:to>
                                    </p:set>
                                    <p:animEffect transition="in" filter="wipe(left)">
                                      <p:cBhvr>
                                        <p:cTn id="53" dur="1000"/>
                                        <p:tgtEl>
                                          <p:spTgt spid="39"/>
                                        </p:tgtEl>
                                      </p:cBhvr>
                                    </p:animEffect>
                                  </p:childTnLst>
                                  <p:subTnLst>
                                    <p:set>
                                      <p:cBhvr override="childStyle">
                                        <p:cTn dur="1" fill="hold" display="0" masterRel="sameClick" afterEffect="1">
                                          <p:stCondLst>
                                            <p:cond evt="end" delay="0">
                                              <p:tn val="51"/>
                                            </p:cond>
                                          </p:stCondLst>
                                        </p:cTn>
                                        <p:tgtEl>
                                          <p:spTgt spid="39"/>
                                        </p:tgtEl>
                                        <p:attrNameLst>
                                          <p:attrName>style.visibility</p:attrName>
                                        </p:attrNameLst>
                                      </p:cBhvr>
                                      <p:to>
                                        <p:strVal val="hidden"/>
                                      </p:to>
                                    </p:set>
                                  </p:subTnLst>
                                </p:cTn>
                              </p:par>
                            </p:childTnLst>
                          </p:cTn>
                        </p:par>
                        <p:par>
                          <p:cTn id="54" fill="hold">
                            <p:stCondLst>
                              <p:cond delay="5000"/>
                            </p:stCondLst>
                            <p:childTnLst>
                              <p:par>
                                <p:cTn id="55" presetID="22" presetClass="entr" presetSubtype="2" fill="hold" nodeType="afterEffect">
                                  <p:stCondLst>
                                    <p:cond delay="0"/>
                                  </p:stCondLst>
                                  <p:childTnLst>
                                    <p:set>
                                      <p:cBhvr>
                                        <p:cTn id="56" dur="1" fill="hold">
                                          <p:stCondLst>
                                            <p:cond delay="0"/>
                                          </p:stCondLst>
                                        </p:cTn>
                                        <p:tgtEl>
                                          <p:spTgt spid="40"/>
                                        </p:tgtEl>
                                        <p:attrNameLst>
                                          <p:attrName>style.visibility</p:attrName>
                                        </p:attrNameLst>
                                      </p:cBhvr>
                                      <p:to>
                                        <p:strVal val="visible"/>
                                      </p:to>
                                    </p:set>
                                    <p:animEffect transition="in" filter="wipe(right)">
                                      <p:cBhvr>
                                        <p:cTn id="57" dur="1000"/>
                                        <p:tgtEl>
                                          <p:spTgt spid="40"/>
                                        </p:tgtEl>
                                      </p:cBhvr>
                                    </p:animEffect>
                                  </p:childTnLst>
                                  <p:subTnLst>
                                    <p:set>
                                      <p:cBhvr override="childStyle">
                                        <p:cTn dur="1" fill="hold" display="0" masterRel="sameClick" afterEffect="1">
                                          <p:stCondLst>
                                            <p:cond evt="end" delay="0">
                                              <p:tn val="55"/>
                                            </p:cond>
                                          </p:stCondLst>
                                        </p:cTn>
                                        <p:tgtEl>
                                          <p:spTgt spid="40"/>
                                        </p:tgtEl>
                                        <p:attrNameLst>
                                          <p:attrName>style.visibility</p:attrName>
                                        </p:attrNameLst>
                                      </p:cBhvr>
                                      <p:to>
                                        <p:strVal val="hidden"/>
                                      </p:to>
                                    </p:set>
                                  </p:subTnLst>
                                </p:cTn>
                              </p:par>
                            </p:childTnLst>
                          </p:cTn>
                        </p:par>
                        <p:par>
                          <p:cTn id="58" fill="hold">
                            <p:stCondLst>
                              <p:cond delay="6000"/>
                            </p:stCondLst>
                            <p:childTnLst>
                              <p:par>
                                <p:cTn id="59" presetID="35" presetClass="emph" presetSubtype="0" repeatCount="indefinite" fill="hold" nodeType="afterEffect">
                                  <p:stCondLst>
                                    <p:cond delay="0"/>
                                  </p:stCondLst>
                                  <p:childTnLst>
                                    <p:anim calcmode="discrete" valueType="str">
                                      <p:cBhvr>
                                        <p:cTn id="60" dur="1000" fill="hold"/>
                                        <p:tgtEl>
                                          <p:spTgt spid="39"/>
                                        </p:tgtEl>
                                        <p:attrNameLst>
                                          <p:attrName>style.visibility</p:attrName>
                                        </p:attrNameLst>
                                      </p:cBhvr>
                                      <p:tavLst>
                                        <p:tav tm="0">
                                          <p:val>
                                            <p:strVal val="hidden"/>
                                          </p:val>
                                        </p:tav>
                                        <p:tav tm="50000">
                                          <p:val>
                                            <p:strVal val="visible"/>
                                          </p:val>
                                        </p:tav>
                                      </p:tavLst>
                                    </p:anim>
                                  </p:childTnLst>
                                </p:cTn>
                              </p:par>
                              <p:par>
                                <p:cTn id="61" presetID="35" presetClass="emph" presetSubtype="0" repeatCount="indefinite" fill="hold" nodeType="withEffect">
                                  <p:stCondLst>
                                    <p:cond delay="500"/>
                                  </p:stCondLst>
                                  <p:childTnLst>
                                    <p:anim calcmode="discrete" valueType="str">
                                      <p:cBhvr>
                                        <p:cTn id="62" dur="1000" fill="hold"/>
                                        <p:tgtEl>
                                          <p:spTgt spid="40"/>
                                        </p:tgtEl>
                                        <p:attrNameLst>
                                          <p:attrName>style.visibility</p:attrName>
                                        </p:attrNameLst>
                                      </p:cBhvr>
                                      <p:tavLst>
                                        <p:tav tm="0">
                                          <p:val>
                                            <p:strVal val="hidden"/>
                                          </p:val>
                                        </p:tav>
                                        <p:tav tm="50000">
                                          <p:val>
                                            <p:strVal val="visible"/>
                                          </p:val>
                                        </p:tav>
                                      </p:tavLst>
                                    </p:anim>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nodeType="clickEffect">
                                  <p:stCondLst>
                                    <p:cond delay="0"/>
                                  </p:stCondLst>
                                  <p:childTnLst>
                                    <p:set>
                                      <p:cBhvr>
                                        <p:cTn id="66" dur="1" fill="hold">
                                          <p:stCondLst>
                                            <p:cond delay="0"/>
                                          </p:stCondLst>
                                        </p:cTn>
                                        <p:tgtEl>
                                          <p:spTgt spid="6">
                                            <p:txEl>
                                              <p:pRg st="2" end="2"/>
                                            </p:txEl>
                                          </p:spTgt>
                                        </p:tgtEl>
                                        <p:attrNameLst>
                                          <p:attrName>style.visibility</p:attrName>
                                        </p:attrNameLst>
                                      </p:cBhvr>
                                      <p:to>
                                        <p:strVal val="visible"/>
                                      </p:to>
                                    </p:set>
                                    <p:animEffect transition="in" filter="fade">
                                      <p:cBhvr>
                                        <p:cTn id="67" dur="1000"/>
                                        <p:tgtEl>
                                          <p:spTgt spid="6">
                                            <p:txEl>
                                              <p:pRg st="2" end="2"/>
                                            </p:txEl>
                                          </p:spTgt>
                                        </p:tgtEl>
                                      </p:cBhvr>
                                    </p:animEffect>
                                    <p:anim calcmode="lin" valueType="num">
                                      <p:cBhvr>
                                        <p:cTn id="68"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69" dur="1000" fill="hold"/>
                                        <p:tgtEl>
                                          <p:spTgt spid="6">
                                            <p:txEl>
                                              <p:pRg st="2" end="2"/>
                                            </p:txEl>
                                          </p:spTgt>
                                        </p:tgtEl>
                                        <p:attrNameLst>
                                          <p:attrName>ppt_y</p:attrName>
                                        </p:attrNameLst>
                                      </p:cBhvr>
                                      <p:tavLst>
                                        <p:tav tm="0">
                                          <p:val>
                                            <p:strVal val="#ppt_y+.1"/>
                                          </p:val>
                                        </p:tav>
                                        <p:tav tm="100000">
                                          <p:val>
                                            <p:strVal val="#ppt_y"/>
                                          </p:val>
                                        </p:tav>
                                      </p:tavLst>
                                    </p:anim>
                                  </p:childTnLst>
                                </p:cTn>
                              </p:par>
                              <p:par>
                                <p:cTn id="70" presetID="1" presetClass="entr" presetSubtype="0" fill="hold" grpId="0" nodeType="withEffect">
                                  <p:stCondLst>
                                    <p:cond delay="0"/>
                                  </p:stCondLst>
                                  <p:childTnLst>
                                    <p:set>
                                      <p:cBhvr>
                                        <p:cTn id="71" dur="1" fill="hold">
                                          <p:stCondLst>
                                            <p:cond delay="0"/>
                                          </p:stCondLst>
                                        </p:cTn>
                                        <p:tgtEl>
                                          <p:spTgt spid="41"/>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42"/>
                                        </p:tgtEl>
                                        <p:attrNameLst>
                                          <p:attrName>style.visibility</p:attrName>
                                        </p:attrNameLst>
                                      </p:cBhvr>
                                      <p:to>
                                        <p:strVal val="visible"/>
                                      </p:to>
                                    </p:set>
                                  </p:childTnLst>
                                </p:cTn>
                              </p:par>
                              <p:par>
                                <p:cTn id="74" presetID="22" presetClass="entr" presetSubtype="8" repeatCount="3000" fill="hold" nodeType="withEffect">
                                  <p:stCondLst>
                                    <p:cond delay="0"/>
                                  </p:stCondLst>
                                  <p:childTnLst>
                                    <p:set>
                                      <p:cBhvr>
                                        <p:cTn id="75" dur="1" fill="hold">
                                          <p:stCondLst>
                                            <p:cond delay="0"/>
                                          </p:stCondLst>
                                        </p:cTn>
                                        <p:tgtEl>
                                          <p:spTgt spid="43"/>
                                        </p:tgtEl>
                                        <p:attrNameLst>
                                          <p:attrName>style.visibility</p:attrName>
                                        </p:attrNameLst>
                                      </p:cBhvr>
                                      <p:to>
                                        <p:strVal val="visible"/>
                                      </p:to>
                                    </p:set>
                                    <p:animEffect transition="in" filter="wipe(left)">
                                      <p:cBhvr>
                                        <p:cTn id="76" dur="1000"/>
                                        <p:tgtEl>
                                          <p:spTgt spid="43"/>
                                        </p:tgtEl>
                                      </p:cBhvr>
                                    </p:animEffect>
                                  </p:childTnLst>
                                </p:cTn>
                              </p:par>
                              <p:par>
                                <p:cTn id="77" presetID="22" presetClass="entr" presetSubtype="2" repeatCount="3000" fill="hold" nodeType="withEffect">
                                  <p:stCondLst>
                                    <p:cond delay="0"/>
                                  </p:stCondLst>
                                  <p:childTnLst>
                                    <p:set>
                                      <p:cBhvr>
                                        <p:cTn id="78" dur="1" fill="hold">
                                          <p:stCondLst>
                                            <p:cond delay="0"/>
                                          </p:stCondLst>
                                        </p:cTn>
                                        <p:tgtEl>
                                          <p:spTgt spid="44"/>
                                        </p:tgtEl>
                                        <p:attrNameLst>
                                          <p:attrName>style.visibility</p:attrName>
                                        </p:attrNameLst>
                                      </p:cBhvr>
                                      <p:to>
                                        <p:strVal val="visible"/>
                                      </p:to>
                                    </p:set>
                                    <p:animEffect transition="in" filter="wipe(right)">
                                      <p:cBhvr>
                                        <p:cTn id="79" dur="10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2" grpId="0" animBg="1"/>
      <p:bldP spid="21" grpId="0" animBg="1"/>
      <p:bldP spid="37" grpId="0" animBg="1"/>
      <p:bldP spid="38" grpId="0" animBg="1"/>
      <p:bldP spid="41" grpId="0" animBg="1"/>
      <p:bldP spid="4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466343" y="899999"/>
            <a:ext cx="8129017" cy="3600000"/>
          </a:xfrm>
        </p:spPr>
        <p:txBody>
          <a:bodyPr>
            <a:normAutofit/>
          </a:bodyPr>
          <a:lstStyle/>
          <a:p>
            <a:r>
              <a:rPr lang="zh-CN" altLang="en-US" dirty="0"/>
              <a:t>基带信号（即基本频带信号）</a:t>
            </a:r>
            <a:endParaRPr lang="en-US" altLang="zh-CN" dirty="0"/>
          </a:p>
          <a:p>
            <a:pPr lvl="1"/>
            <a:r>
              <a:rPr lang="zh-CN" altLang="en-US" dirty="0"/>
              <a:t>来自信源的信号。</a:t>
            </a:r>
            <a:endParaRPr lang="en-US" altLang="zh-CN" dirty="0"/>
          </a:p>
          <a:p>
            <a:pPr lvl="1"/>
            <a:r>
              <a:rPr lang="zh-CN" altLang="en-US" dirty="0"/>
              <a:t>包含有较多的低频成分，甚至有直流成分。</a:t>
            </a:r>
            <a:endParaRPr lang="en-US" altLang="zh-CN" dirty="0"/>
          </a:p>
          <a:p>
            <a:r>
              <a:rPr lang="zh-CN" altLang="en-US" dirty="0"/>
              <a:t>调制</a:t>
            </a:r>
            <a:r>
              <a:rPr lang="en-US" altLang="zh-CN" dirty="0"/>
              <a:t>(modulation)</a:t>
            </a:r>
          </a:p>
          <a:p>
            <a:pPr lvl="1"/>
            <a:r>
              <a:rPr lang="zh-CN" altLang="en-US" dirty="0"/>
              <a:t>基带调制：仅对基带信号的波形进行变换，把数字信号转换为另一种形式的数字信号。把这种过程称为编码 </a:t>
            </a:r>
            <a:r>
              <a:rPr lang="en-US" altLang="zh-CN" dirty="0"/>
              <a:t>(coding)</a:t>
            </a:r>
            <a:r>
              <a:rPr lang="zh-CN" altLang="en-US" dirty="0"/>
              <a:t>。</a:t>
            </a:r>
          </a:p>
          <a:p>
            <a:pPr lvl="1"/>
            <a:r>
              <a:rPr lang="zh-CN" altLang="en-US" dirty="0"/>
              <a:t>带通调制：使用载波 </a:t>
            </a:r>
            <a:r>
              <a:rPr lang="en-US" altLang="zh-CN" dirty="0"/>
              <a:t>(carrier)</a:t>
            </a:r>
            <a:r>
              <a:rPr lang="zh-CN" altLang="en-US" dirty="0"/>
              <a:t>进行调制，把基带信号的频率范围搬移到较高的频段，并转换为模拟信号。经过载波调制后的信号称为带通信号（即仅在一段频率范围内能够通过信道）。</a:t>
            </a:r>
          </a:p>
        </p:txBody>
      </p:sp>
      <p:sp>
        <p:nvSpPr>
          <p:cNvPr id="2" name="文本占位符 1"/>
          <p:cNvSpPr>
            <a:spLocks noGrp="1"/>
          </p:cNvSpPr>
          <p:nvPr>
            <p:ph type="body" sz="quarter" idx="11"/>
          </p:nvPr>
        </p:nvSpPr>
        <p:spPr>
          <a:xfrm>
            <a:off x="1332000" y="360000"/>
            <a:ext cx="6480000" cy="354012"/>
          </a:xfrm>
        </p:spPr>
        <p:txBody>
          <a:bodyPr>
            <a:normAutofit fontScale="92500" lnSpcReduction="10000"/>
          </a:bodyPr>
          <a:lstStyle/>
          <a:p>
            <a:r>
              <a:rPr lang="en-US" altLang="zh-CN" dirty="0"/>
              <a:t>2.2.2  </a:t>
            </a:r>
            <a:r>
              <a:rPr lang="zh-CN" altLang="en-US" dirty="0"/>
              <a:t>有关信道的几个基本概念</a:t>
            </a:r>
          </a:p>
        </p:txBody>
      </p:sp>
    </p:spTree>
    <p:custDataLst>
      <p:tags r:id="rId1"/>
    </p:custDataLst>
    <p:extLst>
      <p:ext uri="{BB962C8B-B14F-4D97-AF65-F5344CB8AC3E}">
        <p14:creationId xmlns:p14="http://schemas.microsoft.com/office/powerpoint/2010/main" val="2363089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1000"/>
                                        <p:tgtEl>
                                          <p:spTgt spid="3">
                                            <p:txEl>
                                              <p:pRg st="4" end="4"/>
                                            </p:txEl>
                                          </p:spTgt>
                                        </p:tgtEl>
                                      </p:cBhvr>
                                    </p:animEffect>
                                    <p:anim calcmode="lin" valueType="num">
                                      <p:cBhvr>
                                        <p:cTn id="3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1000"/>
                                        <p:tgtEl>
                                          <p:spTgt spid="3">
                                            <p:txEl>
                                              <p:pRg st="5" end="5"/>
                                            </p:txEl>
                                          </p:spTgt>
                                        </p:tgtEl>
                                      </p:cBhvr>
                                    </p:animEffect>
                                    <p:anim calcmode="lin" valueType="num">
                                      <p:cBhvr>
                                        <p:cTn id="3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19846-FA49-89DA-AB8C-D44A807F74DB}"/>
            </a:ext>
          </a:extLst>
        </p:cNvPr>
        <p:cNvGrpSpPr/>
        <p:nvPr/>
      </p:nvGrpSpPr>
      <p:grpSpPr>
        <a:xfrm>
          <a:off x="0" y="0"/>
          <a:ext cx="0" cy="0"/>
          <a:chOff x="0" y="0"/>
          <a:chExt cx="0" cy="0"/>
        </a:xfrm>
      </p:grpSpPr>
      <p:sp>
        <p:nvSpPr>
          <p:cNvPr id="5" name="文本占位符 4">
            <a:extLst>
              <a:ext uri="{FF2B5EF4-FFF2-40B4-BE49-F238E27FC236}">
                <a16:creationId xmlns:a16="http://schemas.microsoft.com/office/drawing/2014/main" id="{DC53EBFA-22B3-2B80-8A16-03D1D5F7D732}"/>
              </a:ext>
            </a:extLst>
          </p:cNvPr>
          <p:cNvSpPr>
            <a:spLocks noGrp="1"/>
          </p:cNvSpPr>
          <p:nvPr>
            <p:ph type="body" sz="quarter" idx="11"/>
          </p:nvPr>
        </p:nvSpPr>
        <p:spPr>
          <a:xfrm>
            <a:off x="1332000" y="360000"/>
            <a:ext cx="6480000" cy="354012"/>
          </a:xfrm>
        </p:spPr>
        <p:txBody>
          <a:bodyPr>
            <a:normAutofit fontScale="92500" lnSpcReduction="10000"/>
          </a:bodyPr>
          <a:lstStyle/>
          <a:p>
            <a:r>
              <a:rPr lang="en-US" altLang="zh-CN" dirty="0"/>
              <a:t>(1) </a:t>
            </a:r>
            <a:r>
              <a:rPr lang="zh-CN" altLang="en-US" dirty="0"/>
              <a:t>基带信号常用的编码方法</a:t>
            </a:r>
          </a:p>
        </p:txBody>
      </p:sp>
      <p:sp>
        <p:nvSpPr>
          <p:cNvPr id="6" name="圆角矩形 5">
            <a:extLst>
              <a:ext uri="{FF2B5EF4-FFF2-40B4-BE49-F238E27FC236}">
                <a16:creationId xmlns:a16="http://schemas.microsoft.com/office/drawing/2014/main" id="{A97F0032-82D2-8B0A-AB86-842597B27333}"/>
              </a:ext>
            </a:extLst>
          </p:cNvPr>
          <p:cNvSpPr/>
          <p:nvPr/>
        </p:nvSpPr>
        <p:spPr>
          <a:xfrm>
            <a:off x="545145" y="1032955"/>
            <a:ext cx="8053711" cy="255582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4" name="组合 173">
            <a:extLst>
              <a:ext uri="{FF2B5EF4-FFF2-40B4-BE49-F238E27FC236}">
                <a16:creationId xmlns:a16="http://schemas.microsoft.com/office/drawing/2014/main" id="{D18A6F60-F5CF-7AF0-2990-4C5CB58865D4}"/>
              </a:ext>
            </a:extLst>
          </p:cNvPr>
          <p:cNvGrpSpPr/>
          <p:nvPr/>
        </p:nvGrpSpPr>
        <p:grpSpPr>
          <a:xfrm>
            <a:off x="766490" y="1146902"/>
            <a:ext cx="7345085" cy="2294626"/>
            <a:chOff x="766490" y="1642196"/>
            <a:chExt cx="7345085" cy="2294626"/>
          </a:xfrm>
        </p:grpSpPr>
        <p:sp>
          <p:nvSpPr>
            <p:cNvPr id="121" name="Rectangle 7">
              <a:extLst>
                <a:ext uri="{FF2B5EF4-FFF2-40B4-BE49-F238E27FC236}">
                  <a16:creationId xmlns:a16="http://schemas.microsoft.com/office/drawing/2014/main" id="{38725625-FD9C-9277-EE2E-BF6C785B8A9C}"/>
                </a:ext>
              </a:extLst>
            </p:cNvPr>
            <p:cNvSpPr>
              <a:spLocks noChangeArrowheads="1"/>
            </p:cNvSpPr>
            <p:nvPr/>
          </p:nvSpPr>
          <p:spPr bwMode="auto">
            <a:xfrm>
              <a:off x="1176859" y="3108207"/>
              <a:ext cx="1003481"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1600" b="1">
                  <a:latin typeface="微软雅黑" panose="020B0503020204020204" pitchFamily="34" charset="-122"/>
                  <a:ea typeface="微软雅黑" panose="020B0503020204020204" pitchFamily="34" charset="-122"/>
                </a:rPr>
                <a:t>曼彻斯特</a:t>
              </a:r>
            </a:p>
          </p:txBody>
        </p:sp>
        <p:sp>
          <p:nvSpPr>
            <p:cNvPr id="122" name="Rectangle 8">
              <a:extLst>
                <a:ext uri="{FF2B5EF4-FFF2-40B4-BE49-F238E27FC236}">
                  <a16:creationId xmlns:a16="http://schemas.microsoft.com/office/drawing/2014/main" id="{3E19457B-9C9A-8B14-F961-175ED84EFE05}"/>
                </a:ext>
              </a:extLst>
            </p:cNvPr>
            <p:cNvSpPr>
              <a:spLocks noChangeArrowheads="1"/>
            </p:cNvSpPr>
            <p:nvPr/>
          </p:nvSpPr>
          <p:spPr bwMode="auto">
            <a:xfrm>
              <a:off x="6936193" y="1646180"/>
              <a:ext cx="596323" cy="2290642"/>
            </a:xfrm>
            <a:prstGeom prst="rect">
              <a:avLst/>
            </a:prstGeom>
            <a:solidFill>
              <a:schemeClr val="accent2">
                <a:lumMod val="40000"/>
                <a:lumOff val="60000"/>
              </a:schemeClr>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 name="Rectangle 9">
              <a:extLst>
                <a:ext uri="{FF2B5EF4-FFF2-40B4-BE49-F238E27FC236}">
                  <a16:creationId xmlns:a16="http://schemas.microsoft.com/office/drawing/2014/main" id="{8E612760-2BDE-734D-FD87-C9AC52C6B796}"/>
                </a:ext>
              </a:extLst>
            </p:cNvPr>
            <p:cNvSpPr>
              <a:spLocks noChangeArrowheads="1"/>
            </p:cNvSpPr>
            <p:nvPr/>
          </p:nvSpPr>
          <p:spPr bwMode="auto">
            <a:xfrm>
              <a:off x="3370203" y="1646180"/>
              <a:ext cx="583043" cy="2290642"/>
            </a:xfrm>
            <a:prstGeom prst="rect">
              <a:avLst/>
            </a:prstGeom>
            <a:solidFill>
              <a:schemeClr val="accent2">
                <a:lumMod val="40000"/>
                <a:lumOff val="60000"/>
              </a:schemeClr>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4" name="Rectangle 10">
              <a:extLst>
                <a:ext uri="{FF2B5EF4-FFF2-40B4-BE49-F238E27FC236}">
                  <a16:creationId xmlns:a16="http://schemas.microsoft.com/office/drawing/2014/main" id="{A094E967-1AFB-DA0B-601A-73DAD23BCFD8}"/>
                </a:ext>
              </a:extLst>
            </p:cNvPr>
            <p:cNvSpPr>
              <a:spLocks noChangeArrowheads="1"/>
            </p:cNvSpPr>
            <p:nvPr/>
          </p:nvSpPr>
          <p:spPr bwMode="auto">
            <a:xfrm>
              <a:off x="4570820" y="1642196"/>
              <a:ext cx="577731" cy="2294626"/>
            </a:xfrm>
            <a:prstGeom prst="rect">
              <a:avLst/>
            </a:prstGeom>
            <a:solidFill>
              <a:schemeClr val="accent2">
                <a:lumMod val="40000"/>
                <a:lumOff val="60000"/>
              </a:schemeClr>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5" name="Rectangle 11">
              <a:extLst>
                <a:ext uri="{FF2B5EF4-FFF2-40B4-BE49-F238E27FC236}">
                  <a16:creationId xmlns:a16="http://schemas.microsoft.com/office/drawing/2014/main" id="{5638DCD1-7035-E21D-A52E-B9A365351822}"/>
                </a:ext>
              </a:extLst>
            </p:cNvPr>
            <p:cNvSpPr>
              <a:spLocks noChangeArrowheads="1"/>
            </p:cNvSpPr>
            <p:nvPr/>
          </p:nvSpPr>
          <p:spPr bwMode="auto">
            <a:xfrm>
              <a:off x="5762139" y="1642196"/>
              <a:ext cx="576402" cy="2294626"/>
            </a:xfrm>
            <a:prstGeom prst="rect">
              <a:avLst/>
            </a:prstGeom>
            <a:solidFill>
              <a:schemeClr val="accent2">
                <a:lumMod val="40000"/>
                <a:lumOff val="60000"/>
              </a:schemeClr>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6" name="Rectangle 12">
              <a:extLst>
                <a:ext uri="{FF2B5EF4-FFF2-40B4-BE49-F238E27FC236}">
                  <a16:creationId xmlns:a16="http://schemas.microsoft.com/office/drawing/2014/main" id="{6C76C67F-8FCB-3D28-1661-C4BABBC77869}"/>
                </a:ext>
              </a:extLst>
            </p:cNvPr>
            <p:cNvSpPr>
              <a:spLocks noChangeArrowheads="1"/>
            </p:cNvSpPr>
            <p:nvPr/>
          </p:nvSpPr>
          <p:spPr bwMode="auto">
            <a:xfrm>
              <a:off x="2196149" y="1642196"/>
              <a:ext cx="597652" cy="2294626"/>
            </a:xfrm>
            <a:prstGeom prst="rect">
              <a:avLst/>
            </a:prstGeom>
            <a:solidFill>
              <a:schemeClr val="accent2">
                <a:lumMod val="40000"/>
                <a:lumOff val="60000"/>
              </a:schemeClr>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7" name="Rectangle 13">
              <a:extLst>
                <a:ext uri="{FF2B5EF4-FFF2-40B4-BE49-F238E27FC236}">
                  <a16:creationId xmlns:a16="http://schemas.microsoft.com/office/drawing/2014/main" id="{DF01291E-9868-D370-2BC1-00224984CC49}"/>
                </a:ext>
              </a:extLst>
            </p:cNvPr>
            <p:cNvSpPr>
              <a:spLocks noChangeArrowheads="1"/>
            </p:cNvSpPr>
            <p:nvPr/>
          </p:nvSpPr>
          <p:spPr bwMode="auto">
            <a:xfrm>
              <a:off x="2346227" y="1696641"/>
              <a:ext cx="245701" cy="278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1600" dirty="0">
                  <a:latin typeface="Arial Rounded MT Bold" panose="020F0704030504030204" pitchFamily="34" charset="0"/>
                </a:rPr>
                <a:t>1</a:t>
              </a:r>
            </a:p>
          </p:txBody>
        </p:sp>
        <p:sp>
          <p:nvSpPr>
            <p:cNvPr id="128" name="Rectangle 14">
              <a:extLst>
                <a:ext uri="{FF2B5EF4-FFF2-40B4-BE49-F238E27FC236}">
                  <a16:creationId xmlns:a16="http://schemas.microsoft.com/office/drawing/2014/main" id="{2AB1F53B-18C5-C1C7-8F6D-DD75CC593038}"/>
                </a:ext>
              </a:extLst>
            </p:cNvPr>
            <p:cNvSpPr>
              <a:spLocks noChangeArrowheads="1"/>
            </p:cNvSpPr>
            <p:nvPr/>
          </p:nvSpPr>
          <p:spPr bwMode="auto">
            <a:xfrm>
              <a:off x="7669313" y="1696641"/>
              <a:ext cx="245701" cy="278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1600">
                  <a:latin typeface="Arial Rounded MT Bold" panose="020F0704030504030204" pitchFamily="34" charset="0"/>
                </a:rPr>
                <a:t>1</a:t>
              </a:r>
            </a:p>
          </p:txBody>
        </p:sp>
        <p:sp>
          <p:nvSpPr>
            <p:cNvPr id="129" name="Rectangle 15">
              <a:extLst>
                <a:ext uri="{FF2B5EF4-FFF2-40B4-BE49-F238E27FC236}">
                  <a16:creationId xmlns:a16="http://schemas.microsoft.com/office/drawing/2014/main" id="{8319C926-ED43-DE34-BC61-8F256DB315A1}"/>
                </a:ext>
              </a:extLst>
            </p:cNvPr>
            <p:cNvSpPr>
              <a:spLocks noChangeArrowheads="1"/>
            </p:cNvSpPr>
            <p:nvPr/>
          </p:nvSpPr>
          <p:spPr bwMode="auto">
            <a:xfrm>
              <a:off x="4727537" y="1696641"/>
              <a:ext cx="245702" cy="278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1600">
                  <a:latin typeface="Arial Rounded MT Bold" panose="020F0704030504030204" pitchFamily="34" charset="0"/>
                </a:rPr>
                <a:t>1</a:t>
              </a:r>
            </a:p>
          </p:txBody>
        </p:sp>
        <p:sp>
          <p:nvSpPr>
            <p:cNvPr id="130" name="Rectangle 16">
              <a:extLst>
                <a:ext uri="{FF2B5EF4-FFF2-40B4-BE49-F238E27FC236}">
                  <a16:creationId xmlns:a16="http://schemas.microsoft.com/office/drawing/2014/main" id="{8E9981E4-1002-1D23-E603-8B088D59F6B3}"/>
                </a:ext>
              </a:extLst>
            </p:cNvPr>
            <p:cNvSpPr>
              <a:spLocks noChangeArrowheads="1"/>
            </p:cNvSpPr>
            <p:nvPr/>
          </p:nvSpPr>
          <p:spPr bwMode="auto">
            <a:xfrm>
              <a:off x="7075645" y="1696641"/>
              <a:ext cx="249686" cy="278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1600">
                  <a:latin typeface="Arial Rounded MT Bold" panose="020F0704030504030204" pitchFamily="34" charset="0"/>
                </a:rPr>
                <a:t>1</a:t>
              </a:r>
            </a:p>
          </p:txBody>
        </p:sp>
        <p:sp>
          <p:nvSpPr>
            <p:cNvPr id="131" name="Rectangle 17">
              <a:extLst>
                <a:ext uri="{FF2B5EF4-FFF2-40B4-BE49-F238E27FC236}">
                  <a16:creationId xmlns:a16="http://schemas.microsoft.com/office/drawing/2014/main" id="{DFC601EC-3DD0-CE87-4B3A-FC1C47DCB660}"/>
                </a:ext>
              </a:extLst>
            </p:cNvPr>
            <p:cNvSpPr>
              <a:spLocks noChangeArrowheads="1"/>
            </p:cNvSpPr>
            <p:nvPr/>
          </p:nvSpPr>
          <p:spPr bwMode="auto">
            <a:xfrm>
              <a:off x="6487290" y="1696641"/>
              <a:ext cx="245701" cy="278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1600">
                  <a:latin typeface="Arial Rounded MT Bold" panose="020F0704030504030204" pitchFamily="34" charset="0"/>
                </a:rPr>
                <a:t>1</a:t>
              </a:r>
            </a:p>
          </p:txBody>
        </p:sp>
        <p:sp>
          <p:nvSpPr>
            <p:cNvPr id="132" name="Rectangle 18">
              <a:extLst>
                <a:ext uri="{FF2B5EF4-FFF2-40B4-BE49-F238E27FC236}">
                  <a16:creationId xmlns:a16="http://schemas.microsoft.com/office/drawing/2014/main" id="{355F91D5-895D-6401-E222-85E2CA6849AA}"/>
                </a:ext>
              </a:extLst>
            </p:cNvPr>
            <p:cNvSpPr>
              <a:spLocks noChangeArrowheads="1"/>
            </p:cNvSpPr>
            <p:nvPr/>
          </p:nvSpPr>
          <p:spPr bwMode="auto">
            <a:xfrm>
              <a:off x="2951847" y="1696641"/>
              <a:ext cx="245701" cy="278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1600">
                  <a:latin typeface="Arial Rounded MT Bold" panose="020F0704030504030204" pitchFamily="34" charset="0"/>
                </a:rPr>
                <a:t>0</a:t>
              </a:r>
            </a:p>
          </p:txBody>
        </p:sp>
        <p:sp>
          <p:nvSpPr>
            <p:cNvPr id="133" name="Rectangle 19">
              <a:extLst>
                <a:ext uri="{FF2B5EF4-FFF2-40B4-BE49-F238E27FC236}">
                  <a16:creationId xmlns:a16="http://schemas.microsoft.com/office/drawing/2014/main" id="{ABA869E4-B005-A403-9EC0-7812369AC700}"/>
                </a:ext>
              </a:extLst>
            </p:cNvPr>
            <p:cNvSpPr>
              <a:spLocks noChangeArrowheads="1"/>
            </p:cNvSpPr>
            <p:nvPr/>
          </p:nvSpPr>
          <p:spPr bwMode="auto">
            <a:xfrm>
              <a:off x="3558796" y="1696641"/>
              <a:ext cx="245702" cy="278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1600">
                  <a:latin typeface="Arial Rounded MT Bold" panose="020F0704030504030204" pitchFamily="34" charset="0"/>
                </a:rPr>
                <a:t>0</a:t>
              </a:r>
            </a:p>
          </p:txBody>
        </p:sp>
        <p:sp>
          <p:nvSpPr>
            <p:cNvPr id="134" name="Rectangle 20">
              <a:extLst>
                <a:ext uri="{FF2B5EF4-FFF2-40B4-BE49-F238E27FC236}">
                  <a16:creationId xmlns:a16="http://schemas.microsoft.com/office/drawing/2014/main" id="{DAD06831-163B-0601-DE55-22BB0BFC38C4}"/>
                </a:ext>
              </a:extLst>
            </p:cNvPr>
            <p:cNvSpPr>
              <a:spLocks noChangeArrowheads="1"/>
            </p:cNvSpPr>
            <p:nvPr/>
          </p:nvSpPr>
          <p:spPr bwMode="auto">
            <a:xfrm>
              <a:off x="4137854" y="1696641"/>
              <a:ext cx="245702" cy="278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1600">
                  <a:latin typeface="Arial Rounded MT Bold" panose="020F0704030504030204" pitchFamily="34" charset="0"/>
                </a:rPr>
                <a:t>0</a:t>
              </a:r>
            </a:p>
          </p:txBody>
        </p:sp>
        <p:sp>
          <p:nvSpPr>
            <p:cNvPr id="135" name="Rectangle 21">
              <a:extLst>
                <a:ext uri="{FF2B5EF4-FFF2-40B4-BE49-F238E27FC236}">
                  <a16:creationId xmlns:a16="http://schemas.microsoft.com/office/drawing/2014/main" id="{054D00AC-45EC-C50D-BB1F-F8319746CD80}"/>
                </a:ext>
              </a:extLst>
            </p:cNvPr>
            <p:cNvSpPr>
              <a:spLocks noChangeArrowheads="1"/>
            </p:cNvSpPr>
            <p:nvPr/>
          </p:nvSpPr>
          <p:spPr bwMode="auto">
            <a:xfrm>
              <a:off x="5319877" y="1696641"/>
              <a:ext cx="245702" cy="278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1600">
                  <a:latin typeface="Arial Rounded MT Bold" panose="020F0704030504030204" pitchFamily="34" charset="0"/>
                </a:rPr>
                <a:t>0</a:t>
              </a:r>
            </a:p>
          </p:txBody>
        </p:sp>
        <p:sp>
          <p:nvSpPr>
            <p:cNvPr id="136" name="Rectangle 22">
              <a:extLst>
                <a:ext uri="{FF2B5EF4-FFF2-40B4-BE49-F238E27FC236}">
                  <a16:creationId xmlns:a16="http://schemas.microsoft.com/office/drawing/2014/main" id="{F8F3C282-9D8C-2657-2312-8037DB5D4417}"/>
                </a:ext>
              </a:extLst>
            </p:cNvPr>
            <p:cNvSpPr>
              <a:spLocks noChangeArrowheads="1"/>
            </p:cNvSpPr>
            <p:nvPr/>
          </p:nvSpPr>
          <p:spPr bwMode="auto">
            <a:xfrm>
              <a:off x="5897607" y="1696641"/>
              <a:ext cx="245701" cy="278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1600">
                  <a:latin typeface="Arial Rounded MT Bold" panose="020F0704030504030204" pitchFamily="34" charset="0"/>
                </a:rPr>
                <a:t>0</a:t>
              </a:r>
            </a:p>
          </p:txBody>
        </p:sp>
        <p:grpSp>
          <p:nvGrpSpPr>
            <p:cNvPr id="137" name="Group 23">
              <a:extLst>
                <a:ext uri="{FF2B5EF4-FFF2-40B4-BE49-F238E27FC236}">
                  <a16:creationId xmlns:a16="http://schemas.microsoft.com/office/drawing/2014/main" id="{39C8B204-9218-E176-D0AA-EF7A27E9B385}"/>
                </a:ext>
              </a:extLst>
            </p:cNvPr>
            <p:cNvGrpSpPr>
              <a:grpSpLocks/>
            </p:cNvGrpSpPr>
            <p:nvPr/>
          </p:nvGrpSpPr>
          <p:grpSpPr bwMode="auto">
            <a:xfrm>
              <a:off x="2173572" y="2088373"/>
              <a:ext cx="5859645" cy="325338"/>
              <a:chOff x="832" y="286"/>
              <a:chExt cx="4728" cy="965"/>
            </a:xfrm>
          </p:grpSpPr>
          <p:sp>
            <p:nvSpPr>
              <p:cNvPr id="138" name="Freeform 24">
                <a:extLst>
                  <a:ext uri="{FF2B5EF4-FFF2-40B4-BE49-F238E27FC236}">
                    <a16:creationId xmlns:a16="http://schemas.microsoft.com/office/drawing/2014/main" id="{8D28F909-0B53-4D83-0DCB-8C807CB90148}"/>
                  </a:ext>
                </a:extLst>
              </p:cNvPr>
              <p:cNvSpPr>
                <a:spLocks/>
              </p:cNvSpPr>
              <p:nvPr/>
            </p:nvSpPr>
            <p:spPr bwMode="auto">
              <a:xfrm>
                <a:off x="832" y="298"/>
                <a:ext cx="4728" cy="953"/>
              </a:xfrm>
              <a:custGeom>
                <a:avLst/>
                <a:gdLst>
                  <a:gd name="T0" fmla="*/ 0 w 4728"/>
                  <a:gd name="T1" fmla="*/ 0 h 953"/>
                  <a:gd name="T2" fmla="*/ 486 w 4728"/>
                  <a:gd name="T3" fmla="*/ 0 h 953"/>
                  <a:gd name="T4" fmla="*/ 486 w 4728"/>
                  <a:gd name="T5" fmla="*/ 952 h 953"/>
                  <a:gd name="T6" fmla="*/ 1924 w 4728"/>
                  <a:gd name="T7" fmla="*/ 952 h 953"/>
                  <a:gd name="T8" fmla="*/ 1924 w 4728"/>
                  <a:gd name="T9" fmla="*/ 0 h 953"/>
                  <a:gd name="T10" fmla="*/ 2410 w 4728"/>
                  <a:gd name="T11" fmla="*/ 0 h 953"/>
                  <a:gd name="T12" fmla="*/ 2410 w 4728"/>
                  <a:gd name="T13" fmla="*/ 952 h 953"/>
                  <a:gd name="T14" fmla="*/ 3372 w 4728"/>
                  <a:gd name="T15" fmla="*/ 952 h 953"/>
                  <a:gd name="T16" fmla="*/ 3372 w 4728"/>
                  <a:gd name="T17" fmla="*/ 0 h 953"/>
                  <a:gd name="T18" fmla="*/ 4727 w 4728"/>
                  <a:gd name="T19" fmla="*/ 0 h 9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28" h="953">
                    <a:moveTo>
                      <a:pt x="0" y="0"/>
                    </a:moveTo>
                    <a:lnTo>
                      <a:pt x="486" y="0"/>
                    </a:lnTo>
                    <a:lnTo>
                      <a:pt x="486" y="952"/>
                    </a:lnTo>
                    <a:lnTo>
                      <a:pt x="1924" y="952"/>
                    </a:lnTo>
                    <a:lnTo>
                      <a:pt x="1924" y="0"/>
                    </a:lnTo>
                    <a:lnTo>
                      <a:pt x="2410" y="0"/>
                    </a:lnTo>
                    <a:lnTo>
                      <a:pt x="2410" y="952"/>
                    </a:lnTo>
                    <a:lnTo>
                      <a:pt x="3372" y="952"/>
                    </a:lnTo>
                    <a:lnTo>
                      <a:pt x="3372" y="0"/>
                    </a:lnTo>
                    <a:lnTo>
                      <a:pt x="4727" y="0"/>
                    </a:lnTo>
                  </a:path>
                </a:pathLst>
              </a:custGeom>
              <a:noFill/>
              <a:ln w="952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9" name="Line 25">
                <a:extLst>
                  <a:ext uri="{FF2B5EF4-FFF2-40B4-BE49-F238E27FC236}">
                    <a16:creationId xmlns:a16="http://schemas.microsoft.com/office/drawing/2014/main" id="{C122DE29-2D6B-5717-1283-2337195964A4}"/>
                  </a:ext>
                </a:extLst>
              </p:cNvPr>
              <p:cNvSpPr>
                <a:spLocks noChangeShapeType="1"/>
              </p:cNvSpPr>
              <p:nvPr/>
            </p:nvSpPr>
            <p:spPr bwMode="auto">
              <a:xfrm flipV="1">
                <a:off x="3721" y="1152"/>
                <a:ext cx="0" cy="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0" name="Line 26">
                <a:extLst>
                  <a:ext uri="{FF2B5EF4-FFF2-40B4-BE49-F238E27FC236}">
                    <a16:creationId xmlns:a16="http://schemas.microsoft.com/office/drawing/2014/main" id="{AA646D2E-BFD7-B76D-47A1-9B2E441591AE}"/>
                  </a:ext>
                </a:extLst>
              </p:cNvPr>
              <p:cNvSpPr>
                <a:spLocks noChangeShapeType="1"/>
              </p:cNvSpPr>
              <p:nvPr/>
            </p:nvSpPr>
            <p:spPr bwMode="auto">
              <a:xfrm flipV="1">
                <a:off x="4676" y="286"/>
                <a:ext cx="0" cy="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 name="Line 27">
                <a:extLst>
                  <a:ext uri="{FF2B5EF4-FFF2-40B4-BE49-F238E27FC236}">
                    <a16:creationId xmlns:a16="http://schemas.microsoft.com/office/drawing/2014/main" id="{926A3904-D1E0-457C-2C59-FC35F7CAB101}"/>
                  </a:ext>
                </a:extLst>
              </p:cNvPr>
              <p:cNvSpPr>
                <a:spLocks noChangeShapeType="1"/>
              </p:cNvSpPr>
              <p:nvPr/>
            </p:nvSpPr>
            <p:spPr bwMode="auto">
              <a:xfrm flipV="1">
                <a:off x="5155" y="299"/>
                <a:ext cx="0" cy="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 name="Line 28">
                <a:extLst>
                  <a:ext uri="{FF2B5EF4-FFF2-40B4-BE49-F238E27FC236}">
                    <a16:creationId xmlns:a16="http://schemas.microsoft.com/office/drawing/2014/main" id="{64CDFC1B-C375-8244-E18F-8FB016E12A1B}"/>
                  </a:ext>
                </a:extLst>
              </p:cNvPr>
              <p:cNvSpPr>
                <a:spLocks noChangeShapeType="1"/>
              </p:cNvSpPr>
              <p:nvPr/>
            </p:nvSpPr>
            <p:spPr bwMode="auto">
              <a:xfrm flipV="1">
                <a:off x="2282" y="1150"/>
                <a:ext cx="0" cy="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 name="Line 29">
                <a:extLst>
                  <a:ext uri="{FF2B5EF4-FFF2-40B4-BE49-F238E27FC236}">
                    <a16:creationId xmlns:a16="http://schemas.microsoft.com/office/drawing/2014/main" id="{6390D2B4-47CD-ADE3-9DB8-CA814A600018}"/>
                  </a:ext>
                </a:extLst>
              </p:cNvPr>
              <p:cNvSpPr>
                <a:spLocks noChangeShapeType="1"/>
              </p:cNvSpPr>
              <p:nvPr/>
            </p:nvSpPr>
            <p:spPr bwMode="auto">
              <a:xfrm flipV="1">
                <a:off x="1796" y="1151"/>
                <a:ext cx="0" cy="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44" name="Freeform 30">
              <a:extLst>
                <a:ext uri="{FF2B5EF4-FFF2-40B4-BE49-F238E27FC236}">
                  <a16:creationId xmlns:a16="http://schemas.microsoft.com/office/drawing/2014/main" id="{A7361042-755B-3900-A819-BC03E5402F60}"/>
                </a:ext>
              </a:extLst>
            </p:cNvPr>
            <p:cNvSpPr>
              <a:spLocks/>
            </p:cNvSpPr>
            <p:nvPr/>
          </p:nvSpPr>
          <p:spPr bwMode="auto">
            <a:xfrm>
              <a:off x="2174900" y="3108207"/>
              <a:ext cx="5845036" cy="318698"/>
            </a:xfrm>
            <a:custGeom>
              <a:avLst/>
              <a:gdLst>
                <a:gd name="T0" fmla="*/ 0 w 4401"/>
                <a:gd name="T1" fmla="*/ 0 h 245"/>
                <a:gd name="T2" fmla="*/ 222 w 4401"/>
                <a:gd name="T3" fmla="*/ 0 h 245"/>
                <a:gd name="T4" fmla="*/ 222 w 4401"/>
                <a:gd name="T5" fmla="*/ 245 h 245"/>
                <a:gd name="T6" fmla="*/ 676 w 4401"/>
                <a:gd name="T7" fmla="*/ 245 h 245"/>
                <a:gd name="T8" fmla="*/ 676 w 4401"/>
                <a:gd name="T9" fmla="*/ 0 h 245"/>
                <a:gd name="T10" fmla="*/ 898 w 4401"/>
                <a:gd name="T11" fmla="*/ 0 h 245"/>
                <a:gd name="T12" fmla="*/ 898 w 4401"/>
                <a:gd name="T13" fmla="*/ 245 h 245"/>
                <a:gd name="T14" fmla="*/ 1129 w 4401"/>
                <a:gd name="T15" fmla="*/ 245 h 245"/>
                <a:gd name="T16" fmla="*/ 1129 w 4401"/>
                <a:gd name="T17" fmla="*/ 0 h 245"/>
                <a:gd name="T18" fmla="*/ 1351 w 4401"/>
                <a:gd name="T19" fmla="*/ 0 h 245"/>
                <a:gd name="T20" fmla="*/ 1351 w 4401"/>
                <a:gd name="T21" fmla="*/ 245 h 245"/>
                <a:gd name="T22" fmla="*/ 1573 w 4401"/>
                <a:gd name="T23" fmla="*/ 245 h 245"/>
                <a:gd name="T24" fmla="*/ 1573 w 4401"/>
                <a:gd name="T25" fmla="*/ 0 h 245"/>
                <a:gd name="T26" fmla="*/ 2027 w 4401"/>
                <a:gd name="T27" fmla="*/ 0 h 245"/>
                <a:gd name="T28" fmla="*/ 2027 w 4401"/>
                <a:gd name="T29" fmla="*/ 245 h 245"/>
                <a:gd name="T30" fmla="*/ 2471 w 4401"/>
                <a:gd name="T31" fmla="*/ 245 h 245"/>
                <a:gd name="T32" fmla="*/ 2471 w 4401"/>
                <a:gd name="T33" fmla="*/ 3 h 245"/>
                <a:gd name="T34" fmla="*/ 2693 w 4401"/>
                <a:gd name="T35" fmla="*/ 0 h 245"/>
                <a:gd name="T36" fmla="*/ 2693 w 4401"/>
                <a:gd name="T37" fmla="*/ 245 h 245"/>
                <a:gd name="T38" fmla="*/ 2915 w 4401"/>
                <a:gd name="T39" fmla="*/ 245 h 245"/>
                <a:gd name="T40" fmla="*/ 2915 w 4401"/>
                <a:gd name="T41" fmla="*/ 0 h 245"/>
                <a:gd name="T42" fmla="*/ 3368 w 4401"/>
                <a:gd name="T43" fmla="*/ 0 h 245"/>
                <a:gd name="T44" fmla="*/ 3368 w 4401"/>
                <a:gd name="T45" fmla="*/ 245 h 245"/>
                <a:gd name="T46" fmla="*/ 3590 w 4401"/>
                <a:gd name="T47" fmla="*/ 245 h 245"/>
                <a:gd name="T48" fmla="*/ 3590 w 4401"/>
                <a:gd name="T49" fmla="*/ 0 h 245"/>
                <a:gd name="T50" fmla="*/ 3812 w 4401"/>
                <a:gd name="T51" fmla="*/ 0 h 245"/>
                <a:gd name="T52" fmla="*/ 3812 w 4401"/>
                <a:gd name="T53" fmla="*/ 245 h 245"/>
                <a:gd name="T54" fmla="*/ 4034 w 4401"/>
                <a:gd name="T55" fmla="*/ 245 h 245"/>
                <a:gd name="T56" fmla="*/ 4034 w 4401"/>
                <a:gd name="T57" fmla="*/ 0 h 245"/>
                <a:gd name="T58" fmla="*/ 4256 w 4401"/>
                <a:gd name="T59" fmla="*/ 0 h 245"/>
                <a:gd name="T60" fmla="*/ 4256 w 4401"/>
                <a:gd name="T61" fmla="*/ 245 h 245"/>
                <a:gd name="T62" fmla="*/ 4401 w 4401"/>
                <a:gd name="T63" fmla="*/ 245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401" h="245">
                  <a:moveTo>
                    <a:pt x="0" y="0"/>
                  </a:moveTo>
                  <a:lnTo>
                    <a:pt x="222" y="0"/>
                  </a:lnTo>
                  <a:lnTo>
                    <a:pt x="222" y="245"/>
                  </a:lnTo>
                  <a:lnTo>
                    <a:pt x="676" y="245"/>
                  </a:lnTo>
                  <a:lnTo>
                    <a:pt x="676" y="0"/>
                  </a:lnTo>
                  <a:lnTo>
                    <a:pt x="898" y="0"/>
                  </a:lnTo>
                  <a:lnTo>
                    <a:pt x="898" y="245"/>
                  </a:lnTo>
                  <a:lnTo>
                    <a:pt x="1129" y="245"/>
                  </a:lnTo>
                  <a:lnTo>
                    <a:pt x="1129" y="0"/>
                  </a:lnTo>
                  <a:lnTo>
                    <a:pt x="1351" y="0"/>
                  </a:lnTo>
                  <a:lnTo>
                    <a:pt x="1351" y="245"/>
                  </a:lnTo>
                  <a:lnTo>
                    <a:pt x="1573" y="245"/>
                  </a:lnTo>
                  <a:lnTo>
                    <a:pt x="1573" y="0"/>
                  </a:lnTo>
                  <a:lnTo>
                    <a:pt x="2027" y="0"/>
                  </a:lnTo>
                  <a:lnTo>
                    <a:pt x="2027" y="245"/>
                  </a:lnTo>
                  <a:lnTo>
                    <a:pt x="2471" y="245"/>
                  </a:lnTo>
                  <a:lnTo>
                    <a:pt x="2471" y="3"/>
                  </a:lnTo>
                  <a:lnTo>
                    <a:pt x="2693" y="0"/>
                  </a:lnTo>
                  <a:lnTo>
                    <a:pt x="2693" y="245"/>
                  </a:lnTo>
                  <a:lnTo>
                    <a:pt x="2915" y="245"/>
                  </a:lnTo>
                  <a:lnTo>
                    <a:pt x="2915" y="0"/>
                  </a:lnTo>
                  <a:lnTo>
                    <a:pt x="3368" y="0"/>
                  </a:lnTo>
                  <a:lnTo>
                    <a:pt x="3368" y="245"/>
                  </a:lnTo>
                  <a:lnTo>
                    <a:pt x="3590" y="245"/>
                  </a:lnTo>
                  <a:lnTo>
                    <a:pt x="3590" y="0"/>
                  </a:lnTo>
                  <a:lnTo>
                    <a:pt x="3812" y="0"/>
                  </a:lnTo>
                  <a:lnTo>
                    <a:pt x="3812" y="245"/>
                  </a:lnTo>
                  <a:lnTo>
                    <a:pt x="4034" y="245"/>
                  </a:lnTo>
                  <a:lnTo>
                    <a:pt x="4034" y="0"/>
                  </a:lnTo>
                  <a:lnTo>
                    <a:pt x="4256" y="0"/>
                  </a:lnTo>
                  <a:lnTo>
                    <a:pt x="4256" y="245"/>
                  </a:lnTo>
                  <a:lnTo>
                    <a:pt x="4401" y="245"/>
                  </a:lnTo>
                </a:path>
              </a:pathLst>
            </a:custGeom>
            <a:noFill/>
            <a:ln w="952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5" name="Line 32">
              <a:extLst>
                <a:ext uri="{FF2B5EF4-FFF2-40B4-BE49-F238E27FC236}">
                  <a16:creationId xmlns:a16="http://schemas.microsoft.com/office/drawing/2014/main" id="{11B5AC7E-ECB3-1566-78FF-32DACE52A421}"/>
                </a:ext>
              </a:extLst>
            </p:cNvPr>
            <p:cNvSpPr>
              <a:spLocks noChangeShapeType="1"/>
            </p:cNvSpPr>
            <p:nvPr/>
          </p:nvSpPr>
          <p:spPr bwMode="auto">
            <a:xfrm flipH="1" flipV="1">
              <a:off x="2190837" y="1675394"/>
              <a:ext cx="2656" cy="2261428"/>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 name="Line 33">
              <a:extLst>
                <a:ext uri="{FF2B5EF4-FFF2-40B4-BE49-F238E27FC236}">
                  <a16:creationId xmlns:a16="http://schemas.microsoft.com/office/drawing/2014/main" id="{607E3F8F-19CB-4958-548A-1387607D854C}"/>
                </a:ext>
              </a:extLst>
            </p:cNvPr>
            <p:cNvSpPr>
              <a:spLocks noChangeShapeType="1"/>
            </p:cNvSpPr>
            <p:nvPr/>
          </p:nvSpPr>
          <p:spPr bwMode="auto">
            <a:xfrm flipV="1">
              <a:off x="2779192" y="1664771"/>
              <a:ext cx="0" cy="2272051"/>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7" name="Line 34">
              <a:extLst>
                <a:ext uri="{FF2B5EF4-FFF2-40B4-BE49-F238E27FC236}">
                  <a16:creationId xmlns:a16="http://schemas.microsoft.com/office/drawing/2014/main" id="{07EC7B3B-69EF-820C-463A-172CCE4046B2}"/>
                </a:ext>
              </a:extLst>
            </p:cNvPr>
            <p:cNvSpPr>
              <a:spLocks noChangeShapeType="1"/>
            </p:cNvSpPr>
            <p:nvPr/>
          </p:nvSpPr>
          <p:spPr bwMode="auto">
            <a:xfrm flipV="1">
              <a:off x="3366219" y="1675394"/>
              <a:ext cx="0" cy="2261428"/>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 name="Line 35">
              <a:extLst>
                <a:ext uri="{FF2B5EF4-FFF2-40B4-BE49-F238E27FC236}">
                  <a16:creationId xmlns:a16="http://schemas.microsoft.com/office/drawing/2014/main" id="{E6B0BFC0-2DAD-8B7F-68E0-DFDA63250387}"/>
                </a:ext>
              </a:extLst>
            </p:cNvPr>
            <p:cNvSpPr>
              <a:spLocks noChangeShapeType="1"/>
            </p:cNvSpPr>
            <p:nvPr/>
          </p:nvSpPr>
          <p:spPr bwMode="auto">
            <a:xfrm flipH="1" flipV="1">
              <a:off x="3959887" y="1642196"/>
              <a:ext cx="0" cy="2294626"/>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 name="Line 36">
              <a:extLst>
                <a:ext uri="{FF2B5EF4-FFF2-40B4-BE49-F238E27FC236}">
                  <a16:creationId xmlns:a16="http://schemas.microsoft.com/office/drawing/2014/main" id="{2DD44B68-5E09-026C-6DD6-6EA5E4A63EE5}"/>
                </a:ext>
              </a:extLst>
            </p:cNvPr>
            <p:cNvSpPr>
              <a:spLocks noChangeShapeType="1"/>
            </p:cNvSpPr>
            <p:nvPr/>
          </p:nvSpPr>
          <p:spPr bwMode="auto">
            <a:xfrm flipV="1">
              <a:off x="4558867" y="1675394"/>
              <a:ext cx="0" cy="2261428"/>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0" name="Line 37">
              <a:extLst>
                <a:ext uri="{FF2B5EF4-FFF2-40B4-BE49-F238E27FC236}">
                  <a16:creationId xmlns:a16="http://schemas.microsoft.com/office/drawing/2014/main" id="{C0D16F57-EC33-B4C5-CE28-ABAEC05DF6A6}"/>
                </a:ext>
              </a:extLst>
            </p:cNvPr>
            <p:cNvSpPr>
              <a:spLocks noChangeShapeType="1"/>
            </p:cNvSpPr>
            <p:nvPr/>
          </p:nvSpPr>
          <p:spPr bwMode="auto">
            <a:xfrm flipV="1">
              <a:off x="5161831" y="1675394"/>
              <a:ext cx="0" cy="2261428"/>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 name="Line 38">
              <a:extLst>
                <a:ext uri="{FF2B5EF4-FFF2-40B4-BE49-F238E27FC236}">
                  <a16:creationId xmlns:a16="http://schemas.microsoft.com/office/drawing/2014/main" id="{A4800AC7-CF96-3DF2-8932-23DCCEEE8513}"/>
                </a:ext>
              </a:extLst>
            </p:cNvPr>
            <p:cNvSpPr>
              <a:spLocks noChangeShapeType="1"/>
            </p:cNvSpPr>
            <p:nvPr/>
          </p:nvSpPr>
          <p:spPr bwMode="auto">
            <a:xfrm flipV="1">
              <a:off x="5752842" y="1675394"/>
              <a:ext cx="0" cy="2261428"/>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2" name="Line 39">
              <a:extLst>
                <a:ext uri="{FF2B5EF4-FFF2-40B4-BE49-F238E27FC236}">
                  <a16:creationId xmlns:a16="http://schemas.microsoft.com/office/drawing/2014/main" id="{82A311A6-F7B8-18BF-0893-32D4CE0805AE}"/>
                </a:ext>
              </a:extLst>
            </p:cNvPr>
            <p:cNvSpPr>
              <a:spLocks noChangeShapeType="1"/>
            </p:cNvSpPr>
            <p:nvPr/>
          </p:nvSpPr>
          <p:spPr bwMode="auto">
            <a:xfrm flipV="1">
              <a:off x="6347838" y="1675394"/>
              <a:ext cx="0" cy="2261428"/>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 name="Line 40">
              <a:extLst>
                <a:ext uri="{FF2B5EF4-FFF2-40B4-BE49-F238E27FC236}">
                  <a16:creationId xmlns:a16="http://schemas.microsoft.com/office/drawing/2014/main" id="{B8193138-1B07-50A7-CB75-0B2A153FFD43}"/>
                </a:ext>
              </a:extLst>
            </p:cNvPr>
            <p:cNvSpPr>
              <a:spLocks noChangeShapeType="1"/>
            </p:cNvSpPr>
            <p:nvPr/>
          </p:nvSpPr>
          <p:spPr bwMode="auto">
            <a:xfrm flipH="1" flipV="1">
              <a:off x="6938850" y="1675394"/>
              <a:ext cx="1328" cy="2261428"/>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 name="Line 41">
              <a:extLst>
                <a:ext uri="{FF2B5EF4-FFF2-40B4-BE49-F238E27FC236}">
                  <a16:creationId xmlns:a16="http://schemas.microsoft.com/office/drawing/2014/main" id="{3562AD79-7313-589D-67BB-72B8C981524C}"/>
                </a:ext>
              </a:extLst>
            </p:cNvPr>
            <p:cNvSpPr>
              <a:spLocks noChangeShapeType="1"/>
            </p:cNvSpPr>
            <p:nvPr/>
          </p:nvSpPr>
          <p:spPr bwMode="auto">
            <a:xfrm flipV="1">
              <a:off x="7520564" y="1676722"/>
              <a:ext cx="11953" cy="22601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 name="Rectangle 42">
              <a:extLst>
                <a:ext uri="{FF2B5EF4-FFF2-40B4-BE49-F238E27FC236}">
                  <a16:creationId xmlns:a16="http://schemas.microsoft.com/office/drawing/2014/main" id="{A1C24B50-5E71-6352-5412-A89EAF8AECED}"/>
                </a:ext>
              </a:extLst>
            </p:cNvPr>
            <p:cNvSpPr>
              <a:spLocks noChangeArrowheads="1"/>
            </p:cNvSpPr>
            <p:nvPr/>
          </p:nvSpPr>
          <p:spPr bwMode="auto">
            <a:xfrm>
              <a:off x="1321130" y="1703280"/>
              <a:ext cx="859211"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1600" b="1" dirty="0">
                  <a:latin typeface="微软雅黑" panose="020B0503020204020204" pitchFamily="34" charset="-122"/>
                  <a:ea typeface="微软雅黑" panose="020B0503020204020204" pitchFamily="34" charset="-122"/>
                </a:rPr>
                <a:t> </a:t>
              </a:r>
              <a:r>
                <a:rPr kumimoji="1" lang="zh-CN" altLang="en-US" sz="1600" b="1" dirty="0">
                  <a:latin typeface="微软雅黑" panose="020B0503020204020204" pitchFamily="34" charset="-122"/>
                  <a:ea typeface="微软雅黑" panose="020B0503020204020204" pitchFamily="34" charset="-122"/>
                </a:rPr>
                <a:t>比特流</a:t>
              </a:r>
            </a:p>
          </p:txBody>
        </p:sp>
        <p:grpSp>
          <p:nvGrpSpPr>
            <p:cNvPr id="156" name="Group 66">
              <a:extLst>
                <a:ext uri="{FF2B5EF4-FFF2-40B4-BE49-F238E27FC236}">
                  <a16:creationId xmlns:a16="http://schemas.microsoft.com/office/drawing/2014/main" id="{FF183553-74A7-13B7-5B97-A59BEC14E964}"/>
                </a:ext>
              </a:extLst>
            </p:cNvPr>
            <p:cNvGrpSpPr>
              <a:grpSpLocks/>
            </p:cNvGrpSpPr>
            <p:nvPr/>
          </p:nvGrpSpPr>
          <p:grpSpPr bwMode="auto">
            <a:xfrm>
              <a:off x="2174900" y="2591651"/>
              <a:ext cx="5936675" cy="325337"/>
              <a:chOff x="1260" y="3138"/>
              <a:chExt cx="4470" cy="192"/>
            </a:xfrm>
          </p:grpSpPr>
          <p:sp>
            <p:nvSpPr>
              <p:cNvPr id="157" name="Freeform 46">
                <a:extLst>
                  <a:ext uri="{FF2B5EF4-FFF2-40B4-BE49-F238E27FC236}">
                    <a16:creationId xmlns:a16="http://schemas.microsoft.com/office/drawing/2014/main" id="{1A62D1B7-A272-7B6B-029B-8D6AC8930838}"/>
                  </a:ext>
                </a:extLst>
              </p:cNvPr>
              <p:cNvSpPr>
                <a:spLocks/>
              </p:cNvSpPr>
              <p:nvPr/>
            </p:nvSpPr>
            <p:spPr bwMode="auto">
              <a:xfrm>
                <a:off x="1260" y="3138"/>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8" name="Freeform 47">
                <a:extLst>
                  <a:ext uri="{FF2B5EF4-FFF2-40B4-BE49-F238E27FC236}">
                    <a16:creationId xmlns:a16="http://schemas.microsoft.com/office/drawing/2014/main" id="{84512E51-7B3E-65E3-7CA4-5ACCC6FE504C}"/>
                  </a:ext>
                </a:extLst>
              </p:cNvPr>
              <p:cNvSpPr>
                <a:spLocks/>
              </p:cNvSpPr>
              <p:nvPr/>
            </p:nvSpPr>
            <p:spPr bwMode="auto">
              <a:xfrm>
                <a:off x="3036" y="3138"/>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9" name="Freeform 48">
                <a:extLst>
                  <a:ext uri="{FF2B5EF4-FFF2-40B4-BE49-F238E27FC236}">
                    <a16:creationId xmlns:a16="http://schemas.microsoft.com/office/drawing/2014/main" id="{260528DF-3FEE-FD6E-6E7F-007C66ADEB0C}"/>
                  </a:ext>
                </a:extLst>
              </p:cNvPr>
              <p:cNvSpPr>
                <a:spLocks/>
              </p:cNvSpPr>
              <p:nvPr/>
            </p:nvSpPr>
            <p:spPr bwMode="auto">
              <a:xfrm>
                <a:off x="4386" y="3138"/>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0" name="Freeform 49">
                <a:extLst>
                  <a:ext uri="{FF2B5EF4-FFF2-40B4-BE49-F238E27FC236}">
                    <a16:creationId xmlns:a16="http://schemas.microsoft.com/office/drawing/2014/main" id="{8B02F890-4942-83BA-8291-57AB391CE6FC}"/>
                  </a:ext>
                </a:extLst>
              </p:cNvPr>
              <p:cNvSpPr>
                <a:spLocks/>
              </p:cNvSpPr>
              <p:nvPr/>
            </p:nvSpPr>
            <p:spPr bwMode="auto">
              <a:xfrm>
                <a:off x="4830" y="3138"/>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1" name="Freeform 50">
                <a:extLst>
                  <a:ext uri="{FF2B5EF4-FFF2-40B4-BE49-F238E27FC236}">
                    <a16:creationId xmlns:a16="http://schemas.microsoft.com/office/drawing/2014/main" id="{D2FDCC01-67AE-A11C-E925-08486C6BD0F4}"/>
                  </a:ext>
                </a:extLst>
              </p:cNvPr>
              <p:cNvSpPr>
                <a:spLocks/>
              </p:cNvSpPr>
              <p:nvPr/>
            </p:nvSpPr>
            <p:spPr bwMode="auto">
              <a:xfrm>
                <a:off x="5250" y="3138"/>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2" name="Freeform 51">
                <a:extLst>
                  <a:ext uri="{FF2B5EF4-FFF2-40B4-BE49-F238E27FC236}">
                    <a16:creationId xmlns:a16="http://schemas.microsoft.com/office/drawing/2014/main" id="{E9800ED1-A053-4520-40A8-8A301F72DE90}"/>
                  </a:ext>
                </a:extLst>
              </p:cNvPr>
              <p:cNvSpPr>
                <a:spLocks/>
              </p:cNvSpPr>
              <p:nvPr/>
            </p:nvSpPr>
            <p:spPr bwMode="auto">
              <a:xfrm flipV="1">
                <a:off x="1692" y="3234"/>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 name="Freeform 52">
                <a:extLst>
                  <a:ext uri="{FF2B5EF4-FFF2-40B4-BE49-F238E27FC236}">
                    <a16:creationId xmlns:a16="http://schemas.microsoft.com/office/drawing/2014/main" id="{5B0257D6-3F1C-7ACD-440E-D392C78D95CF}"/>
                  </a:ext>
                </a:extLst>
              </p:cNvPr>
              <p:cNvSpPr>
                <a:spLocks/>
              </p:cNvSpPr>
              <p:nvPr/>
            </p:nvSpPr>
            <p:spPr bwMode="auto">
              <a:xfrm flipV="1">
                <a:off x="2130" y="3234"/>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 name="Freeform 53">
                <a:extLst>
                  <a:ext uri="{FF2B5EF4-FFF2-40B4-BE49-F238E27FC236}">
                    <a16:creationId xmlns:a16="http://schemas.microsoft.com/office/drawing/2014/main" id="{AC0D338C-9516-99C6-0A9F-E8ACA5148171}"/>
                  </a:ext>
                </a:extLst>
              </p:cNvPr>
              <p:cNvSpPr>
                <a:spLocks/>
              </p:cNvSpPr>
              <p:nvPr/>
            </p:nvSpPr>
            <p:spPr bwMode="auto">
              <a:xfrm flipV="1">
                <a:off x="2592" y="3234"/>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5" name="Freeform 54">
                <a:extLst>
                  <a:ext uri="{FF2B5EF4-FFF2-40B4-BE49-F238E27FC236}">
                    <a16:creationId xmlns:a16="http://schemas.microsoft.com/office/drawing/2014/main" id="{D6563B13-3813-A476-DBBB-21A89B44CA70}"/>
                  </a:ext>
                </a:extLst>
              </p:cNvPr>
              <p:cNvSpPr>
                <a:spLocks/>
              </p:cNvSpPr>
              <p:nvPr/>
            </p:nvSpPr>
            <p:spPr bwMode="auto">
              <a:xfrm flipV="1">
                <a:off x="3486" y="3234"/>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6" name="Freeform 55">
                <a:extLst>
                  <a:ext uri="{FF2B5EF4-FFF2-40B4-BE49-F238E27FC236}">
                    <a16:creationId xmlns:a16="http://schemas.microsoft.com/office/drawing/2014/main" id="{2403E07C-511D-DA51-996D-10A47E651D76}"/>
                  </a:ext>
                </a:extLst>
              </p:cNvPr>
              <p:cNvSpPr>
                <a:spLocks/>
              </p:cNvSpPr>
              <p:nvPr/>
            </p:nvSpPr>
            <p:spPr bwMode="auto">
              <a:xfrm flipV="1">
                <a:off x="3936" y="3234"/>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67" name="Group 65">
              <a:extLst>
                <a:ext uri="{FF2B5EF4-FFF2-40B4-BE49-F238E27FC236}">
                  <a16:creationId xmlns:a16="http://schemas.microsoft.com/office/drawing/2014/main" id="{5E80E957-4942-7D88-B9F1-F1F678A552C0}"/>
                </a:ext>
              </a:extLst>
            </p:cNvPr>
            <p:cNvGrpSpPr>
              <a:grpSpLocks/>
            </p:cNvGrpSpPr>
            <p:nvPr/>
          </p:nvGrpSpPr>
          <p:grpSpPr bwMode="auto">
            <a:xfrm>
              <a:off x="2182868" y="3594222"/>
              <a:ext cx="5924723" cy="318698"/>
              <a:chOff x="1264" y="2804"/>
              <a:chExt cx="4461" cy="258"/>
            </a:xfrm>
          </p:grpSpPr>
          <p:sp>
            <p:nvSpPr>
              <p:cNvPr id="168" name="Freeform 63">
                <a:extLst>
                  <a:ext uri="{FF2B5EF4-FFF2-40B4-BE49-F238E27FC236}">
                    <a16:creationId xmlns:a16="http://schemas.microsoft.com/office/drawing/2014/main" id="{5C6FD4D4-3E09-95BB-4CBC-7BA8A2F555BC}"/>
                  </a:ext>
                </a:extLst>
              </p:cNvPr>
              <p:cNvSpPr>
                <a:spLocks/>
              </p:cNvSpPr>
              <p:nvPr/>
            </p:nvSpPr>
            <p:spPr bwMode="auto">
              <a:xfrm>
                <a:off x="1264" y="2804"/>
                <a:ext cx="2909" cy="258"/>
              </a:xfrm>
              <a:custGeom>
                <a:avLst/>
                <a:gdLst>
                  <a:gd name="T0" fmla="*/ 0 w 2909"/>
                  <a:gd name="T1" fmla="*/ 0 h 258"/>
                  <a:gd name="T2" fmla="*/ 223 w 2909"/>
                  <a:gd name="T3" fmla="*/ 0 h 258"/>
                  <a:gd name="T4" fmla="*/ 223 w 2909"/>
                  <a:gd name="T5" fmla="*/ 258 h 258"/>
                  <a:gd name="T6" fmla="*/ 446 w 2909"/>
                  <a:gd name="T7" fmla="*/ 258 h 258"/>
                  <a:gd name="T8" fmla="*/ 446 w 2909"/>
                  <a:gd name="T9" fmla="*/ 5 h 258"/>
                  <a:gd name="T10" fmla="*/ 681 w 2909"/>
                  <a:gd name="T11" fmla="*/ 5 h 258"/>
                  <a:gd name="T12" fmla="*/ 681 w 2909"/>
                  <a:gd name="T13" fmla="*/ 258 h 258"/>
                  <a:gd name="T14" fmla="*/ 887 w 2909"/>
                  <a:gd name="T15" fmla="*/ 258 h 258"/>
                  <a:gd name="T16" fmla="*/ 887 w 2909"/>
                  <a:gd name="T17" fmla="*/ 0 h 258"/>
                  <a:gd name="T18" fmla="*/ 1111 w 2909"/>
                  <a:gd name="T19" fmla="*/ 0 h 258"/>
                  <a:gd name="T20" fmla="*/ 1111 w 2909"/>
                  <a:gd name="T21" fmla="*/ 258 h 258"/>
                  <a:gd name="T22" fmla="*/ 1340 w 2909"/>
                  <a:gd name="T23" fmla="*/ 258 h 258"/>
                  <a:gd name="T24" fmla="*/ 1340 w 2909"/>
                  <a:gd name="T25" fmla="*/ 0 h 258"/>
                  <a:gd name="T26" fmla="*/ 1563 w 2909"/>
                  <a:gd name="T27" fmla="*/ 0 h 258"/>
                  <a:gd name="T28" fmla="*/ 1563 w 2909"/>
                  <a:gd name="T29" fmla="*/ 258 h 258"/>
                  <a:gd name="T30" fmla="*/ 2010 w 2909"/>
                  <a:gd name="T31" fmla="*/ 258 h 258"/>
                  <a:gd name="T32" fmla="*/ 2010 w 2909"/>
                  <a:gd name="T33" fmla="*/ 0 h 258"/>
                  <a:gd name="T34" fmla="*/ 2245 w 2909"/>
                  <a:gd name="T35" fmla="*/ 0 h 258"/>
                  <a:gd name="T36" fmla="*/ 2245 w 2909"/>
                  <a:gd name="T37" fmla="*/ 258 h 258"/>
                  <a:gd name="T38" fmla="*/ 2462 w 2909"/>
                  <a:gd name="T39" fmla="*/ 258 h 258"/>
                  <a:gd name="T40" fmla="*/ 2462 w 2909"/>
                  <a:gd name="T41" fmla="*/ 0 h 258"/>
                  <a:gd name="T42" fmla="*/ 2686 w 2909"/>
                  <a:gd name="T43" fmla="*/ 0 h 258"/>
                  <a:gd name="T44" fmla="*/ 2686 w 2909"/>
                  <a:gd name="T45" fmla="*/ 258 h 258"/>
                  <a:gd name="T46" fmla="*/ 2909 w 2909"/>
                  <a:gd name="T47" fmla="*/ 258 h 258"/>
                  <a:gd name="T48" fmla="*/ 2909 w 2909"/>
                  <a:gd name="T49" fmla="*/ 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09" h="258">
                    <a:moveTo>
                      <a:pt x="0" y="0"/>
                    </a:moveTo>
                    <a:lnTo>
                      <a:pt x="223" y="0"/>
                    </a:lnTo>
                    <a:lnTo>
                      <a:pt x="223" y="258"/>
                    </a:lnTo>
                    <a:lnTo>
                      <a:pt x="446" y="258"/>
                    </a:lnTo>
                    <a:lnTo>
                      <a:pt x="446" y="5"/>
                    </a:lnTo>
                    <a:lnTo>
                      <a:pt x="681" y="5"/>
                    </a:lnTo>
                    <a:lnTo>
                      <a:pt x="681" y="258"/>
                    </a:lnTo>
                    <a:lnTo>
                      <a:pt x="887" y="258"/>
                    </a:lnTo>
                    <a:lnTo>
                      <a:pt x="887" y="0"/>
                    </a:lnTo>
                    <a:lnTo>
                      <a:pt x="1111" y="0"/>
                    </a:lnTo>
                    <a:lnTo>
                      <a:pt x="1111" y="258"/>
                    </a:lnTo>
                    <a:lnTo>
                      <a:pt x="1340" y="258"/>
                    </a:lnTo>
                    <a:lnTo>
                      <a:pt x="1340" y="0"/>
                    </a:lnTo>
                    <a:lnTo>
                      <a:pt x="1563" y="0"/>
                    </a:lnTo>
                    <a:lnTo>
                      <a:pt x="1563" y="258"/>
                    </a:lnTo>
                    <a:lnTo>
                      <a:pt x="2010" y="258"/>
                    </a:lnTo>
                    <a:lnTo>
                      <a:pt x="2010" y="0"/>
                    </a:lnTo>
                    <a:lnTo>
                      <a:pt x="2245" y="0"/>
                    </a:lnTo>
                    <a:lnTo>
                      <a:pt x="2245" y="258"/>
                    </a:lnTo>
                    <a:lnTo>
                      <a:pt x="2462" y="258"/>
                    </a:lnTo>
                    <a:lnTo>
                      <a:pt x="2462" y="0"/>
                    </a:lnTo>
                    <a:lnTo>
                      <a:pt x="2686" y="0"/>
                    </a:lnTo>
                    <a:lnTo>
                      <a:pt x="2686" y="258"/>
                    </a:lnTo>
                    <a:lnTo>
                      <a:pt x="2909" y="258"/>
                    </a:lnTo>
                    <a:lnTo>
                      <a:pt x="2909" y="0"/>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9" name="Freeform 64">
                <a:extLst>
                  <a:ext uri="{FF2B5EF4-FFF2-40B4-BE49-F238E27FC236}">
                    <a16:creationId xmlns:a16="http://schemas.microsoft.com/office/drawing/2014/main" id="{515AB9B3-2FD8-AD51-3F5E-6FDF1A2A4A45}"/>
                  </a:ext>
                </a:extLst>
              </p:cNvPr>
              <p:cNvSpPr>
                <a:spLocks/>
              </p:cNvSpPr>
              <p:nvPr/>
            </p:nvSpPr>
            <p:spPr bwMode="auto">
              <a:xfrm>
                <a:off x="4173" y="2804"/>
                <a:ext cx="1552" cy="258"/>
              </a:xfrm>
              <a:custGeom>
                <a:avLst/>
                <a:gdLst>
                  <a:gd name="T0" fmla="*/ 0 w 1552"/>
                  <a:gd name="T1" fmla="*/ 0 h 258"/>
                  <a:gd name="T2" fmla="*/ 453 w 1552"/>
                  <a:gd name="T3" fmla="*/ 0 h 258"/>
                  <a:gd name="T4" fmla="*/ 453 w 1552"/>
                  <a:gd name="T5" fmla="*/ 258 h 258"/>
                  <a:gd name="T6" fmla="*/ 905 w 1552"/>
                  <a:gd name="T7" fmla="*/ 258 h 258"/>
                  <a:gd name="T8" fmla="*/ 905 w 1552"/>
                  <a:gd name="T9" fmla="*/ 0 h 258"/>
                  <a:gd name="T10" fmla="*/ 1329 w 1552"/>
                  <a:gd name="T11" fmla="*/ 0 h 258"/>
                  <a:gd name="T12" fmla="*/ 1329 w 1552"/>
                  <a:gd name="T13" fmla="*/ 258 h 258"/>
                  <a:gd name="T14" fmla="*/ 1552 w 1552"/>
                  <a:gd name="T15" fmla="*/ 258 h 2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52" h="258">
                    <a:moveTo>
                      <a:pt x="0" y="0"/>
                    </a:moveTo>
                    <a:lnTo>
                      <a:pt x="453" y="0"/>
                    </a:lnTo>
                    <a:lnTo>
                      <a:pt x="453" y="258"/>
                    </a:lnTo>
                    <a:lnTo>
                      <a:pt x="905" y="258"/>
                    </a:lnTo>
                    <a:lnTo>
                      <a:pt x="905" y="0"/>
                    </a:lnTo>
                    <a:lnTo>
                      <a:pt x="1329" y="0"/>
                    </a:lnTo>
                    <a:lnTo>
                      <a:pt x="1329" y="258"/>
                    </a:lnTo>
                    <a:lnTo>
                      <a:pt x="1552" y="258"/>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70" name="Rectangle 68">
              <a:extLst>
                <a:ext uri="{FF2B5EF4-FFF2-40B4-BE49-F238E27FC236}">
                  <a16:creationId xmlns:a16="http://schemas.microsoft.com/office/drawing/2014/main" id="{3DFECD15-DAEA-F9C6-AD4B-BD4E49D4369E}"/>
                </a:ext>
              </a:extLst>
            </p:cNvPr>
            <p:cNvSpPr>
              <a:spLocks noChangeArrowheads="1"/>
            </p:cNvSpPr>
            <p:nvPr/>
          </p:nvSpPr>
          <p:spPr bwMode="auto">
            <a:xfrm>
              <a:off x="766490" y="3594222"/>
              <a:ext cx="1413850"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r>
                <a:rPr kumimoji="1" lang="zh-CN" altLang="en-US" sz="1600" b="1" dirty="0">
                  <a:latin typeface="微软雅黑" panose="020B0503020204020204" pitchFamily="34" charset="-122"/>
                  <a:ea typeface="微软雅黑" panose="020B0503020204020204" pitchFamily="34" charset="-122"/>
                </a:rPr>
                <a:t>差分曼彻斯特</a:t>
              </a:r>
            </a:p>
          </p:txBody>
        </p:sp>
      </p:grpSp>
      <p:sp>
        <p:nvSpPr>
          <p:cNvPr id="4" name="文本框 3">
            <a:extLst>
              <a:ext uri="{FF2B5EF4-FFF2-40B4-BE49-F238E27FC236}">
                <a16:creationId xmlns:a16="http://schemas.microsoft.com/office/drawing/2014/main" id="{22A13F44-35C6-5392-C58F-C8D93955D58E}"/>
              </a:ext>
            </a:extLst>
          </p:cNvPr>
          <p:cNvSpPr txBox="1"/>
          <p:nvPr/>
        </p:nvSpPr>
        <p:spPr>
          <a:xfrm>
            <a:off x="845156" y="3632746"/>
            <a:ext cx="7888231" cy="893963"/>
          </a:xfrm>
          <a:prstGeom prst="rect">
            <a:avLst/>
          </a:prstGeom>
          <a:noFill/>
        </p:spPr>
        <p:txBody>
          <a:bodyPr wrap="square">
            <a:spAutoFit/>
          </a:bodyPr>
          <a:lstStyle/>
          <a:p>
            <a:pPr marL="285750" marR="0" lvl="0" indent="-285750" algn="l" defTabSz="914400" rtl="0" eaLnBrk="0" fontAlgn="base" latinLnBrk="0" hangingPunct="0">
              <a:lnSpc>
                <a:spcPts val="3300"/>
              </a:lnSpc>
              <a:spcBef>
                <a:spcPts val="0"/>
              </a:spcBef>
              <a:spcAft>
                <a:spcPct val="0"/>
              </a:spcAft>
              <a:buClr>
                <a:srgbClr val="0070C0"/>
              </a:buClr>
              <a:buSzTx/>
              <a:buFont typeface="Wingdings" panose="05000000000000000000" pitchFamily="2" charset="2"/>
              <a:buChar char="l"/>
              <a:tabLst/>
              <a:defRPr/>
            </a:pPr>
            <a:r>
              <a:rPr kumimoji="0" lang="zh-CN" altLang="en-US" b="1" i="0" u="none" strike="noStrike" kern="1200" cap="none" spc="0" normalizeH="0" baseline="0" noProof="0" dirty="0">
                <a:ln>
                  <a:noFill/>
                </a:ln>
                <a:solidFill>
                  <a:srgbClr val="0000FF"/>
                </a:solidFill>
                <a:effectLst/>
                <a:uLnTx/>
                <a:uFillTx/>
                <a:latin typeface="微软雅黑" pitchFamily="34" charset="-122"/>
                <a:ea typeface="微软雅黑" pitchFamily="34" charset="-122"/>
                <a:cs typeface="+mn-cs"/>
              </a:rPr>
              <a:t>不归零制</a:t>
            </a:r>
            <a:r>
              <a:rPr kumimoji="0" lang="zh-CN" altLang="en-US" b="1"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rPr>
              <a:t>：正电平代表 </a:t>
            </a:r>
            <a:r>
              <a:rPr kumimoji="0" lang="en-US" altLang="zh-CN" b="1"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rPr>
              <a:t>1</a:t>
            </a:r>
            <a:r>
              <a:rPr kumimoji="0" lang="zh-CN" altLang="en-US" b="1"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rPr>
              <a:t>，负电平代表 </a:t>
            </a:r>
            <a:r>
              <a:rPr kumimoji="0" lang="en-US" altLang="zh-CN" b="1"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rPr>
              <a:t>0</a:t>
            </a:r>
            <a:r>
              <a:rPr kumimoji="0" lang="zh-CN" altLang="en-US" b="1"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rPr>
              <a:t>。</a:t>
            </a:r>
          </a:p>
          <a:p>
            <a:pPr marL="285750" marR="0" lvl="0" indent="-285750" algn="l" defTabSz="914400" rtl="0" eaLnBrk="0" fontAlgn="base" latinLnBrk="0" hangingPunct="0">
              <a:lnSpc>
                <a:spcPts val="3300"/>
              </a:lnSpc>
              <a:spcBef>
                <a:spcPts val="0"/>
              </a:spcBef>
              <a:spcAft>
                <a:spcPct val="0"/>
              </a:spcAft>
              <a:buClr>
                <a:srgbClr val="0070C0"/>
              </a:buClr>
              <a:buSzTx/>
              <a:buFont typeface="Wingdings" panose="05000000000000000000" pitchFamily="2" charset="2"/>
              <a:buChar char="l"/>
              <a:tabLst/>
              <a:defRPr/>
            </a:pPr>
            <a:r>
              <a:rPr kumimoji="0" lang="zh-CN" altLang="en-US" b="1" i="0" u="none" strike="noStrike" kern="1200" cap="none" spc="0" normalizeH="0" baseline="0" noProof="0" dirty="0">
                <a:ln>
                  <a:noFill/>
                </a:ln>
                <a:solidFill>
                  <a:srgbClr val="0000FF"/>
                </a:solidFill>
                <a:effectLst/>
                <a:uLnTx/>
                <a:uFillTx/>
                <a:latin typeface="微软雅黑" pitchFamily="34" charset="-122"/>
                <a:ea typeface="微软雅黑" pitchFamily="34" charset="-122"/>
                <a:cs typeface="+mn-cs"/>
              </a:rPr>
              <a:t>归零制</a:t>
            </a:r>
            <a:r>
              <a:rPr kumimoji="0" lang="zh-CN" altLang="en-US" b="1"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rPr>
              <a:t>：正脉冲代表 </a:t>
            </a:r>
            <a:r>
              <a:rPr kumimoji="0" lang="en-US" altLang="zh-CN" b="1"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rPr>
              <a:t>1</a:t>
            </a:r>
            <a:r>
              <a:rPr kumimoji="0" lang="zh-CN" altLang="en-US" b="1"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rPr>
              <a:t>，负脉冲代表 </a:t>
            </a:r>
            <a:r>
              <a:rPr kumimoji="0" lang="en-US" altLang="zh-CN" b="1"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rPr>
              <a:t>0</a:t>
            </a:r>
            <a:r>
              <a:rPr kumimoji="0" lang="zh-CN" altLang="en-US" b="1"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rPr>
              <a:t>。</a:t>
            </a:r>
          </a:p>
        </p:txBody>
      </p:sp>
      <p:sp>
        <p:nvSpPr>
          <p:cNvPr id="2" name="Rectangle 6">
            <a:extLst>
              <a:ext uri="{FF2B5EF4-FFF2-40B4-BE49-F238E27FC236}">
                <a16:creationId xmlns:a16="http://schemas.microsoft.com/office/drawing/2014/main" id="{2A32AE4E-A39A-E8DE-AFCE-7EE9B4FACD6F}"/>
              </a:ext>
            </a:extLst>
          </p:cNvPr>
          <p:cNvSpPr>
            <a:spLocks noChangeArrowheads="1"/>
          </p:cNvSpPr>
          <p:nvPr/>
        </p:nvSpPr>
        <p:spPr bwMode="auto">
          <a:xfrm>
            <a:off x="933205" y="1632917"/>
            <a:ext cx="124713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1600" b="1" dirty="0">
                <a:latin typeface="微软雅黑" panose="020B0503020204020204" pitchFamily="34" charset="-122"/>
                <a:ea typeface="微软雅黑" panose="020B0503020204020204" pitchFamily="34" charset="-122"/>
              </a:rPr>
              <a:t>    </a:t>
            </a:r>
            <a:r>
              <a:rPr kumimoji="1" lang="zh-CN" altLang="en-US" sz="1600" b="1" dirty="0">
                <a:latin typeface="微软雅黑" panose="020B0503020204020204" pitchFamily="34" charset="-122"/>
                <a:ea typeface="微软雅黑" panose="020B0503020204020204" pitchFamily="34" charset="-122"/>
              </a:rPr>
              <a:t>不归零制</a:t>
            </a:r>
          </a:p>
        </p:txBody>
      </p:sp>
      <p:sp>
        <p:nvSpPr>
          <p:cNvPr id="3" name="Rectangle 69">
            <a:extLst>
              <a:ext uri="{FF2B5EF4-FFF2-40B4-BE49-F238E27FC236}">
                <a16:creationId xmlns:a16="http://schemas.microsoft.com/office/drawing/2014/main" id="{A000B53B-4391-8359-EFE9-939F070F1F48}"/>
              </a:ext>
            </a:extLst>
          </p:cNvPr>
          <p:cNvSpPr>
            <a:spLocks noChangeArrowheads="1"/>
          </p:cNvSpPr>
          <p:nvPr/>
        </p:nvSpPr>
        <p:spPr bwMode="auto">
          <a:xfrm>
            <a:off x="1138388" y="2102996"/>
            <a:ext cx="1041953"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1600" b="1" dirty="0">
                <a:latin typeface="微软雅黑" panose="020B0503020204020204" pitchFamily="34" charset="-122"/>
                <a:ea typeface="微软雅黑" panose="020B0503020204020204" pitchFamily="34" charset="-122"/>
              </a:rPr>
              <a:t>    </a:t>
            </a:r>
            <a:r>
              <a:rPr kumimoji="1" lang="zh-CN" altLang="en-US" sz="1600" b="1" dirty="0">
                <a:latin typeface="微软雅黑" panose="020B0503020204020204" pitchFamily="34" charset="-122"/>
                <a:ea typeface="微软雅黑" panose="020B0503020204020204" pitchFamily="34" charset="-122"/>
              </a:rPr>
              <a:t>归零制</a:t>
            </a:r>
          </a:p>
        </p:txBody>
      </p:sp>
    </p:spTree>
    <p:custDataLst>
      <p:tags r:id="rId1"/>
    </p:custDataLst>
    <p:extLst>
      <p:ext uri="{BB962C8B-B14F-4D97-AF65-F5344CB8AC3E}">
        <p14:creationId xmlns:p14="http://schemas.microsoft.com/office/powerpoint/2010/main" val="1829171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0" presetID="35" presetClass="emph" presetSubtype="0" repeatCount="3000" fill="hold" grpId="0" nodeType="withEffect">
                                  <p:stCondLst>
                                    <p:cond delay="0"/>
                                  </p:stCondLst>
                                  <p:childTnLst>
                                    <p:anim calcmode="discrete" valueType="str">
                                      <p:cBhvr>
                                        <p:cTn id="11" dur="500" fill="hold"/>
                                        <p:tgtEl>
                                          <p:spTgt spid="2"/>
                                        </p:tgtEl>
                                        <p:attrNameLst>
                                          <p:attrName>style.visibility</p:attrName>
                                        </p:attrNameLst>
                                      </p:cBhvr>
                                      <p:tavLst>
                                        <p:tav tm="0">
                                          <p:val>
                                            <p:strVal val="hidden"/>
                                          </p:val>
                                        </p:tav>
                                        <p:tav tm="50000">
                                          <p:val>
                                            <p:strVal val="visible"/>
                                          </p:val>
                                        </p:tav>
                                      </p:tavLst>
                                    </p:anim>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grpId="0" nodeType="clickEffect">
                                  <p:stCondLst>
                                    <p:cond delay="0"/>
                                  </p:stCondLst>
                                  <p:childTnLst>
                                    <p:set>
                                      <p:cBhvr>
                                        <p:cTn id="15" dur="1" fill="hold">
                                          <p:stCondLst>
                                            <p:cond delay="0"/>
                                          </p:stCondLst>
                                        </p:cTn>
                                        <p:tgtEl>
                                          <p:spTgt spid="4">
                                            <p:txEl>
                                              <p:pRg st="1" end="1"/>
                                            </p:txEl>
                                          </p:spTgt>
                                        </p:tgtEl>
                                        <p:attrNameLst>
                                          <p:attrName>style.visibility</p:attrName>
                                        </p:attrNameLst>
                                      </p:cBhvr>
                                      <p:to>
                                        <p:strVal val="visible"/>
                                      </p:to>
                                    </p:set>
                                    <p:animEffect transition="in" filter="fade">
                                      <p:cBhvr>
                                        <p:cTn id="16" dur="1000"/>
                                        <p:tgtEl>
                                          <p:spTgt spid="4">
                                            <p:txEl>
                                              <p:pRg st="1" end="1"/>
                                            </p:txEl>
                                          </p:spTgt>
                                        </p:tgtEl>
                                      </p:cBhvr>
                                    </p:animEffect>
                                    <p:anim calcmode="lin" valueType="num">
                                      <p:cBhvr>
                                        <p:cTn id="17"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8"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9" presetID="35" presetClass="emph" presetSubtype="0" repeatCount="3000" fill="hold" grpId="0" nodeType="withEffect">
                                  <p:stCondLst>
                                    <p:cond delay="0"/>
                                  </p:stCondLst>
                                  <p:childTnLst>
                                    <p:anim calcmode="discrete" valueType="str">
                                      <p:cBhvr>
                                        <p:cTn id="20" dur="5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2" grpId="0"/>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1"/>
          </p:nvPr>
        </p:nvSpPr>
        <p:spPr>
          <a:xfrm>
            <a:off x="1332000" y="360000"/>
            <a:ext cx="6480000" cy="354012"/>
          </a:xfrm>
        </p:spPr>
        <p:txBody>
          <a:bodyPr>
            <a:normAutofit fontScale="92500" lnSpcReduction="10000"/>
          </a:bodyPr>
          <a:lstStyle/>
          <a:p>
            <a:r>
              <a:rPr lang="en-US" altLang="zh-CN" dirty="0"/>
              <a:t>(1) </a:t>
            </a:r>
            <a:r>
              <a:rPr lang="zh-CN" altLang="en-US" dirty="0"/>
              <a:t>基带信号常用的编码方法</a:t>
            </a:r>
          </a:p>
        </p:txBody>
      </p:sp>
      <p:sp>
        <p:nvSpPr>
          <p:cNvPr id="6" name="圆角矩形 5"/>
          <p:cNvSpPr/>
          <p:nvPr/>
        </p:nvSpPr>
        <p:spPr>
          <a:xfrm>
            <a:off x="545145" y="1032955"/>
            <a:ext cx="8053711" cy="255582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74" name="组合 173"/>
          <p:cNvGrpSpPr/>
          <p:nvPr/>
        </p:nvGrpSpPr>
        <p:grpSpPr>
          <a:xfrm>
            <a:off x="933205" y="1146902"/>
            <a:ext cx="7178370" cy="2294626"/>
            <a:chOff x="933205" y="1642196"/>
            <a:chExt cx="7178370" cy="2294626"/>
          </a:xfrm>
        </p:grpSpPr>
        <p:sp>
          <p:nvSpPr>
            <p:cNvPr id="120" name="Rectangle 6"/>
            <p:cNvSpPr>
              <a:spLocks noChangeArrowheads="1"/>
            </p:cNvSpPr>
            <p:nvPr/>
          </p:nvSpPr>
          <p:spPr bwMode="auto">
            <a:xfrm>
              <a:off x="933205" y="2128211"/>
              <a:ext cx="124713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1600" b="1">
                  <a:latin typeface="微软雅黑" panose="020B0503020204020204" pitchFamily="34" charset="-122"/>
                  <a:ea typeface="微软雅黑" panose="020B0503020204020204" pitchFamily="34" charset="-122"/>
                </a:rPr>
                <a:t>    </a:t>
              </a:r>
              <a:r>
                <a:rPr kumimoji="1" lang="zh-CN" altLang="en-US" sz="1600" b="1">
                  <a:latin typeface="微软雅黑" panose="020B0503020204020204" pitchFamily="34" charset="-122"/>
                  <a:ea typeface="微软雅黑" panose="020B0503020204020204" pitchFamily="34" charset="-122"/>
                </a:rPr>
                <a:t>不归零制</a:t>
              </a:r>
            </a:p>
          </p:txBody>
        </p:sp>
        <p:sp>
          <p:nvSpPr>
            <p:cNvPr id="122" name="Rectangle 8"/>
            <p:cNvSpPr>
              <a:spLocks noChangeArrowheads="1"/>
            </p:cNvSpPr>
            <p:nvPr/>
          </p:nvSpPr>
          <p:spPr bwMode="auto">
            <a:xfrm>
              <a:off x="6936193" y="1646180"/>
              <a:ext cx="596323" cy="2290642"/>
            </a:xfrm>
            <a:prstGeom prst="rect">
              <a:avLst/>
            </a:prstGeom>
            <a:solidFill>
              <a:schemeClr val="accent2">
                <a:lumMod val="40000"/>
                <a:lumOff val="60000"/>
              </a:schemeClr>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 name="Rectangle 9"/>
            <p:cNvSpPr>
              <a:spLocks noChangeArrowheads="1"/>
            </p:cNvSpPr>
            <p:nvPr/>
          </p:nvSpPr>
          <p:spPr bwMode="auto">
            <a:xfrm>
              <a:off x="3370203" y="1646180"/>
              <a:ext cx="583043" cy="2290642"/>
            </a:xfrm>
            <a:prstGeom prst="rect">
              <a:avLst/>
            </a:prstGeom>
            <a:solidFill>
              <a:schemeClr val="accent2">
                <a:lumMod val="40000"/>
                <a:lumOff val="60000"/>
              </a:schemeClr>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4" name="Rectangle 10"/>
            <p:cNvSpPr>
              <a:spLocks noChangeArrowheads="1"/>
            </p:cNvSpPr>
            <p:nvPr/>
          </p:nvSpPr>
          <p:spPr bwMode="auto">
            <a:xfrm>
              <a:off x="4570820" y="1642196"/>
              <a:ext cx="577731" cy="2294626"/>
            </a:xfrm>
            <a:prstGeom prst="rect">
              <a:avLst/>
            </a:prstGeom>
            <a:solidFill>
              <a:schemeClr val="accent2">
                <a:lumMod val="40000"/>
                <a:lumOff val="60000"/>
              </a:schemeClr>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5" name="Rectangle 11"/>
            <p:cNvSpPr>
              <a:spLocks noChangeArrowheads="1"/>
            </p:cNvSpPr>
            <p:nvPr/>
          </p:nvSpPr>
          <p:spPr bwMode="auto">
            <a:xfrm>
              <a:off x="5762139" y="1642196"/>
              <a:ext cx="576402" cy="2294626"/>
            </a:xfrm>
            <a:prstGeom prst="rect">
              <a:avLst/>
            </a:prstGeom>
            <a:solidFill>
              <a:schemeClr val="accent2">
                <a:lumMod val="40000"/>
                <a:lumOff val="60000"/>
              </a:schemeClr>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6" name="Rectangle 12"/>
            <p:cNvSpPr>
              <a:spLocks noChangeArrowheads="1"/>
            </p:cNvSpPr>
            <p:nvPr/>
          </p:nvSpPr>
          <p:spPr bwMode="auto">
            <a:xfrm>
              <a:off x="2196149" y="1642196"/>
              <a:ext cx="597652" cy="2294626"/>
            </a:xfrm>
            <a:prstGeom prst="rect">
              <a:avLst/>
            </a:prstGeom>
            <a:solidFill>
              <a:schemeClr val="accent2">
                <a:lumMod val="40000"/>
                <a:lumOff val="60000"/>
              </a:schemeClr>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7" name="Rectangle 13"/>
            <p:cNvSpPr>
              <a:spLocks noChangeArrowheads="1"/>
            </p:cNvSpPr>
            <p:nvPr/>
          </p:nvSpPr>
          <p:spPr bwMode="auto">
            <a:xfrm>
              <a:off x="2346227" y="1696641"/>
              <a:ext cx="245701" cy="278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1600" dirty="0">
                  <a:latin typeface="Arial Rounded MT Bold" panose="020F0704030504030204" pitchFamily="34" charset="0"/>
                </a:rPr>
                <a:t>1</a:t>
              </a:r>
            </a:p>
          </p:txBody>
        </p:sp>
        <p:sp>
          <p:nvSpPr>
            <p:cNvPr id="128" name="Rectangle 14"/>
            <p:cNvSpPr>
              <a:spLocks noChangeArrowheads="1"/>
            </p:cNvSpPr>
            <p:nvPr/>
          </p:nvSpPr>
          <p:spPr bwMode="auto">
            <a:xfrm>
              <a:off x="7669313" y="1696641"/>
              <a:ext cx="245701" cy="278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1600">
                  <a:latin typeface="Arial Rounded MT Bold" panose="020F0704030504030204" pitchFamily="34" charset="0"/>
                </a:rPr>
                <a:t>1</a:t>
              </a:r>
            </a:p>
          </p:txBody>
        </p:sp>
        <p:sp>
          <p:nvSpPr>
            <p:cNvPr id="129" name="Rectangle 15"/>
            <p:cNvSpPr>
              <a:spLocks noChangeArrowheads="1"/>
            </p:cNvSpPr>
            <p:nvPr/>
          </p:nvSpPr>
          <p:spPr bwMode="auto">
            <a:xfrm>
              <a:off x="4727537" y="1696641"/>
              <a:ext cx="245702" cy="278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1600">
                  <a:latin typeface="Arial Rounded MT Bold" panose="020F0704030504030204" pitchFamily="34" charset="0"/>
                </a:rPr>
                <a:t>1</a:t>
              </a:r>
            </a:p>
          </p:txBody>
        </p:sp>
        <p:sp>
          <p:nvSpPr>
            <p:cNvPr id="130" name="Rectangle 16"/>
            <p:cNvSpPr>
              <a:spLocks noChangeArrowheads="1"/>
            </p:cNvSpPr>
            <p:nvPr/>
          </p:nvSpPr>
          <p:spPr bwMode="auto">
            <a:xfrm>
              <a:off x="7075645" y="1696641"/>
              <a:ext cx="249686" cy="278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1600">
                  <a:latin typeface="Arial Rounded MT Bold" panose="020F0704030504030204" pitchFamily="34" charset="0"/>
                </a:rPr>
                <a:t>1</a:t>
              </a:r>
            </a:p>
          </p:txBody>
        </p:sp>
        <p:sp>
          <p:nvSpPr>
            <p:cNvPr id="131" name="Rectangle 17"/>
            <p:cNvSpPr>
              <a:spLocks noChangeArrowheads="1"/>
            </p:cNvSpPr>
            <p:nvPr/>
          </p:nvSpPr>
          <p:spPr bwMode="auto">
            <a:xfrm>
              <a:off x="6487290" y="1696641"/>
              <a:ext cx="245701" cy="278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1600">
                  <a:latin typeface="Arial Rounded MT Bold" panose="020F0704030504030204" pitchFamily="34" charset="0"/>
                </a:rPr>
                <a:t>1</a:t>
              </a:r>
            </a:p>
          </p:txBody>
        </p:sp>
        <p:sp>
          <p:nvSpPr>
            <p:cNvPr id="132" name="Rectangle 18"/>
            <p:cNvSpPr>
              <a:spLocks noChangeArrowheads="1"/>
            </p:cNvSpPr>
            <p:nvPr/>
          </p:nvSpPr>
          <p:spPr bwMode="auto">
            <a:xfrm>
              <a:off x="2951847" y="1696641"/>
              <a:ext cx="245701" cy="278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1600">
                  <a:latin typeface="Arial Rounded MT Bold" panose="020F0704030504030204" pitchFamily="34" charset="0"/>
                </a:rPr>
                <a:t>0</a:t>
              </a:r>
            </a:p>
          </p:txBody>
        </p:sp>
        <p:sp>
          <p:nvSpPr>
            <p:cNvPr id="133" name="Rectangle 19"/>
            <p:cNvSpPr>
              <a:spLocks noChangeArrowheads="1"/>
            </p:cNvSpPr>
            <p:nvPr/>
          </p:nvSpPr>
          <p:spPr bwMode="auto">
            <a:xfrm>
              <a:off x="3558796" y="1696641"/>
              <a:ext cx="245702" cy="278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1600">
                  <a:latin typeface="Arial Rounded MT Bold" panose="020F0704030504030204" pitchFamily="34" charset="0"/>
                </a:rPr>
                <a:t>0</a:t>
              </a:r>
            </a:p>
          </p:txBody>
        </p:sp>
        <p:sp>
          <p:nvSpPr>
            <p:cNvPr id="134" name="Rectangle 20"/>
            <p:cNvSpPr>
              <a:spLocks noChangeArrowheads="1"/>
            </p:cNvSpPr>
            <p:nvPr/>
          </p:nvSpPr>
          <p:spPr bwMode="auto">
            <a:xfrm>
              <a:off x="4137854" y="1696641"/>
              <a:ext cx="245702" cy="278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1600">
                  <a:latin typeface="Arial Rounded MT Bold" panose="020F0704030504030204" pitchFamily="34" charset="0"/>
                </a:rPr>
                <a:t>0</a:t>
              </a:r>
            </a:p>
          </p:txBody>
        </p:sp>
        <p:sp>
          <p:nvSpPr>
            <p:cNvPr id="135" name="Rectangle 21"/>
            <p:cNvSpPr>
              <a:spLocks noChangeArrowheads="1"/>
            </p:cNvSpPr>
            <p:nvPr/>
          </p:nvSpPr>
          <p:spPr bwMode="auto">
            <a:xfrm>
              <a:off x="5319877" y="1696641"/>
              <a:ext cx="245702" cy="278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1600">
                  <a:latin typeface="Arial Rounded MT Bold" panose="020F0704030504030204" pitchFamily="34" charset="0"/>
                </a:rPr>
                <a:t>0</a:t>
              </a:r>
            </a:p>
          </p:txBody>
        </p:sp>
        <p:sp>
          <p:nvSpPr>
            <p:cNvPr id="136" name="Rectangle 22"/>
            <p:cNvSpPr>
              <a:spLocks noChangeArrowheads="1"/>
            </p:cNvSpPr>
            <p:nvPr/>
          </p:nvSpPr>
          <p:spPr bwMode="auto">
            <a:xfrm>
              <a:off x="5897607" y="1696641"/>
              <a:ext cx="245701" cy="278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1600">
                  <a:latin typeface="Arial Rounded MT Bold" panose="020F0704030504030204" pitchFamily="34" charset="0"/>
                </a:rPr>
                <a:t>0</a:t>
              </a:r>
            </a:p>
          </p:txBody>
        </p:sp>
        <p:grpSp>
          <p:nvGrpSpPr>
            <p:cNvPr id="137" name="Group 23"/>
            <p:cNvGrpSpPr>
              <a:grpSpLocks/>
            </p:cNvGrpSpPr>
            <p:nvPr/>
          </p:nvGrpSpPr>
          <p:grpSpPr bwMode="auto">
            <a:xfrm>
              <a:off x="2173572" y="2088373"/>
              <a:ext cx="5859645" cy="325338"/>
              <a:chOff x="832" y="286"/>
              <a:chExt cx="4728" cy="965"/>
            </a:xfrm>
          </p:grpSpPr>
          <p:sp>
            <p:nvSpPr>
              <p:cNvPr id="138" name="Freeform 24"/>
              <p:cNvSpPr>
                <a:spLocks/>
              </p:cNvSpPr>
              <p:nvPr/>
            </p:nvSpPr>
            <p:spPr bwMode="auto">
              <a:xfrm>
                <a:off x="832" y="298"/>
                <a:ext cx="4728" cy="953"/>
              </a:xfrm>
              <a:custGeom>
                <a:avLst/>
                <a:gdLst>
                  <a:gd name="T0" fmla="*/ 0 w 4728"/>
                  <a:gd name="T1" fmla="*/ 0 h 953"/>
                  <a:gd name="T2" fmla="*/ 486 w 4728"/>
                  <a:gd name="T3" fmla="*/ 0 h 953"/>
                  <a:gd name="T4" fmla="*/ 486 w 4728"/>
                  <a:gd name="T5" fmla="*/ 952 h 953"/>
                  <a:gd name="T6" fmla="*/ 1924 w 4728"/>
                  <a:gd name="T7" fmla="*/ 952 h 953"/>
                  <a:gd name="T8" fmla="*/ 1924 w 4728"/>
                  <a:gd name="T9" fmla="*/ 0 h 953"/>
                  <a:gd name="T10" fmla="*/ 2410 w 4728"/>
                  <a:gd name="T11" fmla="*/ 0 h 953"/>
                  <a:gd name="T12" fmla="*/ 2410 w 4728"/>
                  <a:gd name="T13" fmla="*/ 952 h 953"/>
                  <a:gd name="T14" fmla="*/ 3372 w 4728"/>
                  <a:gd name="T15" fmla="*/ 952 h 953"/>
                  <a:gd name="T16" fmla="*/ 3372 w 4728"/>
                  <a:gd name="T17" fmla="*/ 0 h 953"/>
                  <a:gd name="T18" fmla="*/ 4727 w 4728"/>
                  <a:gd name="T19" fmla="*/ 0 h 9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28" h="953">
                    <a:moveTo>
                      <a:pt x="0" y="0"/>
                    </a:moveTo>
                    <a:lnTo>
                      <a:pt x="486" y="0"/>
                    </a:lnTo>
                    <a:lnTo>
                      <a:pt x="486" y="952"/>
                    </a:lnTo>
                    <a:lnTo>
                      <a:pt x="1924" y="952"/>
                    </a:lnTo>
                    <a:lnTo>
                      <a:pt x="1924" y="0"/>
                    </a:lnTo>
                    <a:lnTo>
                      <a:pt x="2410" y="0"/>
                    </a:lnTo>
                    <a:lnTo>
                      <a:pt x="2410" y="952"/>
                    </a:lnTo>
                    <a:lnTo>
                      <a:pt x="3372" y="952"/>
                    </a:lnTo>
                    <a:lnTo>
                      <a:pt x="3372" y="0"/>
                    </a:lnTo>
                    <a:lnTo>
                      <a:pt x="4727" y="0"/>
                    </a:lnTo>
                  </a:path>
                </a:pathLst>
              </a:custGeom>
              <a:noFill/>
              <a:ln w="952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9" name="Line 25"/>
              <p:cNvSpPr>
                <a:spLocks noChangeShapeType="1"/>
              </p:cNvSpPr>
              <p:nvPr/>
            </p:nvSpPr>
            <p:spPr bwMode="auto">
              <a:xfrm flipV="1">
                <a:off x="3721" y="1152"/>
                <a:ext cx="0" cy="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0" name="Line 26"/>
              <p:cNvSpPr>
                <a:spLocks noChangeShapeType="1"/>
              </p:cNvSpPr>
              <p:nvPr/>
            </p:nvSpPr>
            <p:spPr bwMode="auto">
              <a:xfrm flipV="1">
                <a:off x="4676" y="286"/>
                <a:ext cx="0" cy="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 name="Line 27"/>
              <p:cNvSpPr>
                <a:spLocks noChangeShapeType="1"/>
              </p:cNvSpPr>
              <p:nvPr/>
            </p:nvSpPr>
            <p:spPr bwMode="auto">
              <a:xfrm flipV="1">
                <a:off x="5155" y="299"/>
                <a:ext cx="0" cy="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 name="Line 28"/>
              <p:cNvSpPr>
                <a:spLocks noChangeShapeType="1"/>
              </p:cNvSpPr>
              <p:nvPr/>
            </p:nvSpPr>
            <p:spPr bwMode="auto">
              <a:xfrm flipV="1">
                <a:off x="2282" y="1150"/>
                <a:ext cx="0" cy="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 name="Line 29"/>
              <p:cNvSpPr>
                <a:spLocks noChangeShapeType="1"/>
              </p:cNvSpPr>
              <p:nvPr/>
            </p:nvSpPr>
            <p:spPr bwMode="auto">
              <a:xfrm flipV="1">
                <a:off x="1796" y="1151"/>
                <a:ext cx="0" cy="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44" name="Freeform 30"/>
            <p:cNvSpPr>
              <a:spLocks/>
            </p:cNvSpPr>
            <p:nvPr/>
          </p:nvSpPr>
          <p:spPr bwMode="auto">
            <a:xfrm>
              <a:off x="2174900" y="3108207"/>
              <a:ext cx="5845036" cy="318698"/>
            </a:xfrm>
            <a:custGeom>
              <a:avLst/>
              <a:gdLst>
                <a:gd name="T0" fmla="*/ 0 w 4401"/>
                <a:gd name="T1" fmla="*/ 0 h 245"/>
                <a:gd name="T2" fmla="*/ 222 w 4401"/>
                <a:gd name="T3" fmla="*/ 0 h 245"/>
                <a:gd name="T4" fmla="*/ 222 w 4401"/>
                <a:gd name="T5" fmla="*/ 245 h 245"/>
                <a:gd name="T6" fmla="*/ 676 w 4401"/>
                <a:gd name="T7" fmla="*/ 245 h 245"/>
                <a:gd name="T8" fmla="*/ 676 w 4401"/>
                <a:gd name="T9" fmla="*/ 0 h 245"/>
                <a:gd name="T10" fmla="*/ 898 w 4401"/>
                <a:gd name="T11" fmla="*/ 0 h 245"/>
                <a:gd name="T12" fmla="*/ 898 w 4401"/>
                <a:gd name="T13" fmla="*/ 245 h 245"/>
                <a:gd name="T14" fmla="*/ 1129 w 4401"/>
                <a:gd name="T15" fmla="*/ 245 h 245"/>
                <a:gd name="T16" fmla="*/ 1129 w 4401"/>
                <a:gd name="T17" fmla="*/ 0 h 245"/>
                <a:gd name="T18" fmla="*/ 1351 w 4401"/>
                <a:gd name="T19" fmla="*/ 0 h 245"/>
                <a:gd name="T20" fmla="*/ 1351 w 4401"/>
                <a:gd name="T21" fmla="*/ 245 h 245"/>
                <a:gd name="T22" fmla="*/ 1573 w 4401"/>
                <a:gd name="T23" fmla="*/ 245 h 245"/>
                <a:gd name="T24" fmla="*/ 1573 w 4401"/>
                <a:gd name="T25" fmla="*/ 0 h 245"/>
                <a:gd name="T26" fmla="*/ 2027 w 4401"/>
                <a:gd name="T27" fmla="*/ 0 h 245"/>
                <a:gd name="T28" fmla="*/ 2027 w 4401"/>
                <a:gd name="T29" fmla="*/ 245 h 245"/>
                <a:gd name="T30" fmla="*/ 2471 w 4401"/>
                <a:gd name="T31" fmla="*/ 245 h 245"/>
                <a:gd name="T32" fmla="*/ 2471 w 4401"/>
                <a:gd name="T33" fmla="*/ 3 h 245"/>
                <a:gd name="T34" fmla="*/ 2693 w 4401"/>
                <a:gd name="T35" fmla="*/ 0 h 245"/>
                <a:gd name="T36" fmla="*/ 2693 w 4401"/>
                <a:gd name="T37" fmla="*/ 245 h 245"/>
                <a:gd name="T38" fmla="*/ 2915 w 4401"/>
                <a:gd name="T39" fmla="*/ 245 h 245"/>
                <a:gd name="T40" fmla="*/ 2915 w 4401"/>
                <a:gd name="T41" fmla="*/ 0 h 245"/>
                <a:gd name="T42" fmla="*/ 3368 w 4401"/>
                <a:gd name="T43" fmla="*/ 0 h 245"/>
                <a:gd name="T44" fmla="*/ 3368 w 4401"/>
                <a:gd name="T45" fmla="*/ 245 h 245"/>
                <a:gd name="T46" fmla="*/ 3590 w 4401"/>
                <a:gd name="T47" fmla="*/ 245 h 245"/>
                <a:gd name="T48" fmla="*/ 3590 w 4401"/>
                <a:gd name="T49" fmla="*/ 0 h 245"/>
                <a:gd name="T50" fmla="*/ 3812 w 4401"/>
                <a:gd name="T51" fmla="*/ 0 h 245"/>
                <a:gd name="T52" fmla="*/ 3812 w 4401"/>
                <a:gd name="T53" fmla="*/ 245 h 245"/>
                <a:gd name="T54" fmla="*/ 4034 w 4401"/>
                <a:gd name="T55" fmla="*/ 245 h 245"/>
                <a:gd name="T56" fmla="*/ 4034 w 4401"/>
                <a:gd name="T57" fmla="*/ 0 h 245"/>
                <a:gd name="T58" fmla="*/ 4256 w 4401"/>
                <a:gd name="T59" fmla="*/ 0 h 245"/>
                <a:gd name="T60" fmla="*/ 4256 w 4401"/>
                <a:gd name="T61" fmla="*/ 245 h 245"/>
                <a:gd name="T62" fmla="*/ 4401 w 4401"/>
                <a:gd name="T63" fmla="*/ 245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401" h="245">
                  <a:moveTo>
                    <a:pt x="0" y="0"/>
                  </a:moveTo>
                  <a:lnTo>
                    <a:pt x="222" y="0"/>
                  </a:lnTo>
                  <a:lnTo>
                    <a:pt x="222" y="245"/>
                  </a:lnTo>
                  <a:lnTo>
                    <a:pt x="676" y="245"/>
                  </a:lnTo>
                  <a:lnTo>
                    <a:pt x="676" y="0"/>
                  </a:lnTo>
                  <a:lnTo>
                    <a:pt x="898" y="0"/>
                  </a:lnTo>
                  <a:lnTo>
                    <a:pt x="898" y="245"/>
                  </a:lnTo>
                  <a:lnTo>
                    <a:pt x="1129" y="245"/>
                  </a:lnTo>
                  <a:lnTo>
                    <a:pt x="1129" y="0"/>
                  </a:lnTo>
                  <a:lnTo>
                    <a:pt x="1351" y="0"/>
                  </a:lnTo>
                  <a:lnTo>
                    <a:pt x="1351" y="245"/>
                  </a:lnTo>
                  <a:lnTo>
                    <a:pt x="1573" y="245"/>
                  </a:lnTo>
                  <a:lnTo>
                    <a:pt x="1573" y="0"/>
                  </a:lnTo>
                  <a:lnTo>
                    <a:pt x="2027" y="0"/>
                  </a:lnTo>
                  <a:lnTo>
                    <a:pt x="2027" y="245"/>
                  </a:lnTo>
                  <a:lnTo>
                    <a:pt x="2471" y="245"/>
                  </a:lnTo>
                  <a:lnTo>
                    <a:pt x="2471" y="3"/>
                  </a:lnTo>
                  <a:lnTo>
                    <a:pt x="2693" y="0"/>
                  </a:lnTo>
                  <a:lnTo>
                    <a:pt x="2693" y="245"/>
                  </a:lnTo>
                  <a:lnTo>
                    <a:pt x="2915" y="245"/>
                  </a:lnTo>
                  <a:lnTo>
                    <a:pt x="2915" y="0"/>
                  </a:lnTo>
                  <a:lnTo>
                    <a:pt x="3368" y="0"/>
                  </a:lnTo>
                  <a:lnTo>
                    <a:pt x="3368" y="245"/>
                  </a:lnTo>
                  <a:lnTo>
                    <a:pt x="3590" y="245"/>
                  </a:lnTo>
                  <a:lnTo>
                    <a:pt x="3590" y="0"/>
                  </a:lnTo>
                  <a:lnTo>
                    <a:pt x="3812" y="0"/>
                  </a:lnTo>
                  <a:lnTo>
                    <a:pt x="3812" y="245"/>
                  </a:lnTo>
                  <a:lnTo>
                    <a:pt x="4034" y="245"/>
                  </a:lnTo>
                  <a:lnTo>
                    <a:pt x="4034" y="0"/>
                  </a:lnTo>
                  <a:lnTo>
                    <a:pt x="4256" y="0"/>
                  </a:lnTo>
                  <a:lnTo>
                    <a:pt x="4256" y="245"/>
                  </a:lnTo>
                  <a:lnTo>
                    <a:pt x="4401" y="245"/>
                  </a:lnTo>
                </a:path>
              </a:pathLst>
            </a:custGeom>
            <a:noFill/>
            <a:ln w="952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5" name="Line 32"/>
            <p:cNvSpPr>
              <a:spLocks noChangeShapeType="1"/>
            </p:cNvSpPr>
            <p:nvPr/>
          </p:nvSpPr>
          <p:spPr bwMode="auto">
            <a:xfrm flipH="1" flipV="1">
              <a:off x="2190837" y="1675394"/>
              <a:ext cx="2656" cy="2261428"/>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 name="Line 33"/>
            <p:cNvSpPr>
              <a:spLocks noChangeShapeType="1"/>
            </p:cNvSpPr>
            <p:nvPr/>
          </p:nvSpPr>
          <p:spPr bwMode="auto">
            <a:xfrm flipV="1">
              <a:off x="2779192" y="1664771"/>
              <a:ext cx="0" cy="2272051"/>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7" name="Line 34"/>
            <p:cNvSpPr>
              <a:spLocks noChangeShapeType="1"/>
            </p:cNvSpPr>
            <p:nvPr/>
          </p:nvSpPr>
          <p:spPr bwMode="auto">
            <a:xfrm flipV="1">
              <a:off x="3366219" y="1675394"/>
              <a:ext cx="0" cy="2261428"/>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 name="Line 35"/>
            <p:cNvSpPr>
              <a:spLocks noChangeShapeType="1"/>
            </p:cNvSpPr>
            <p:nvPr/>
          </p:nvSpPr>
          <p:spPr bwMode="auto">
            <a:xfrm flipH="1" flipV="1">
              <a:off x="3959887" y="1642196"/>
              <a:ext cx="0" cy="2294626"/>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 name="Line 36"/>
            <p:cNvSpPr>
              <a:spLocks noChangeShapeType="1"/>
            </p:cNvSpPr>
            <p:nvPr/>
          </p:nvSpPr>
          <p:spPr bwMode="auto">
            <a:xfrm flipV="1">
              <a:off x="4558867" y="1675394"/>
              <a:ext cx="0" cy="2261428"/>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0" name="Line 37"/>
            <p:cNvSpPr>
              <a:spLocks noChangeShapeType="1"/>
            </p:cNvSpPr>
            <p:nvPr/>
          </p:nvSpPr>
          <p:spPr bwMode="auto">
            <a:xfrm flipV="1">
              <a:off x="5161831" y="1675394"/>
              <a:ext cx="0" cy="2261428"/>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 name="Line 38"/>
            <p:cNvSpPr>
              <a:spLocks noChangeShapeType="1"/>
            </p:cNvSpPr>
            <p:nvPr/>
          </p:nvSpPr>
          <p:spPr bwMode="auto">
            <a:xfrm flipV="1">
              <a:off x="5752842" y="1675394"/>
              <a:ext cx="0" cy="2261428"/>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2" name="Line 39"/>
            <p:cNvSpPr>
              <a:spLocks noChangeShapeType="1"/>
            </p:cNvSpPr>
            <p:nvPr/>
          </p:nvSpPr>
          <p:spPr bwMode="auto">
            <a:xfrm flipV="1">
              <a:off x="6347838" y="1675394"/>
              <a:ext cx="0" cy="2261428"/>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 name="Line 40"/>
            <p:cNvSpPr>
              <a:spLocks noChangeShapeType="1"/>
            </p:cNvSpPr>
            <p:nvPr/>
          </p:nvSpPr>
          <p:spPr bwMode="auto">
            <a:xfrm flipH="1" flipV="1">
              <a:off x="6938850" y="1675394"/>
              <a:ext cx="1328" cy="2261428"/>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 name="Line 41"/>
            <p:cNvSpPr>
              <a:spLocks noChangeShapeType="1"/>
            </p:cNvSpPr>
            <p:nvPr/>
          </p:nvSpPr>
          <p:spPr bwMode="auto">
            <a:xfrm flipV="1">
              <a:off x="7520564" y="1676722"/>
              <a:ext cx="11953" cy="22601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 name="Rectangle 42"/>
            <p:cNvSpPr>
              <a:spLocks noChangeArrowheads="1"/>
            </p:cNvSpPr>
            <p:nvPr/>
          </p:nvSpPr>
          <p:spPr bwMode="auto">
            <a:xfrm>
              <a:off x="1321130" y="1703280"/>
              <a:ext cx="859211"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1600" b="1" dirty="0">
                  <a:latin typeface="微软雅黑" panose="020B0503020204020204" pitchFamily="34" charset="-122"/>
                  <a:ea typeface="微软雅黑" panose="020B0503020204020204" pitchFamily="34" charset="-122"/>
                </a:rPr>
                <a:t> </a:t>
              </a:r>
              <a:r>
                <a:rPr kumimoji="1" lang="zh-CN" altLang="en-US" sz="1600" b="1" dirty="0">
                  <a:latin typeface="微软雅黑" panose="020B0503020204020204" pitchFamily="34" charset="-122"/>
                  <a:ea typeface="微软雅黑" panose="020B0503020204020204" pitchFamily="34" charset="-122"/>
                </a:rPr>
                <a:t>比特流</a:t>
              </a:r>
            </a:p>
          </p:txBody>
        </p:sp>
        <p:grpSp>
          <p:nvGrpSpPr>
            <p:cNvPr id="156" name="Group 66"/>
            <p:cNvGrpSpPr>
              <a:grpSpLocks/>
            </p:cNvGrpSpPr>
            <p:nvPr/>
          </p:nvGrpSpPr>
          <p:grpSpPr bwMode="auto">
            <a:xfrm>
              <a:off x="2174900" y="2591651"/>
              <a:ext cx="5936675" cy="325337"/>
              <a:chOff x="1260" y="3138"/>
              <a:chExt cx="4470" cy="192"/>
            </a:xfrm>
          </p:grpSpPr>
          <p:sp>
            <p:nvSpPr>
              <p:cNvPr id="157" name="Freeform 46"/>
              <p:cNvSpPr>
                <a:spLocks/>
              </p:cNvSpPr>
              <p:nvPr/>
            </p:nvSpPr>
            <p:spPr bwMode="auto">
              <a:xfrm>
                <a:off x="1260" y="3138"/>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8" name="Freeform 47"/>
              <p:cNvSpPr>
                <a:spLocks/>
              </p:cNvSpPr>
              <p:nvPr/>
            </p:nvSpPr>
            <p:spPr bwMode="auto">
              <a:xfrm>
                <a:off x="3036" y="3138"/>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9" name="Freeform 48"/>
              <p:cNvSpPr>
                <a:spLocks/>
              </p:cNvSpPr>
              <p:nvPr/>
            </p:nvSpPr>
            <p:spPr bwMode="auto">
              <a:xfrm>
                <a:off x="4386" y="3138"/>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0" name="Freeform 49"/>
              <p:cNvSpPr>
                <a:spLocks/>
              </p:cNvSpPr>
              <p:nvPr/>
            </p:nvSpPr>
            <p:spPr bwMode="auto">
              <a:xfrm>
                <a:off x="4830" y="3138"/>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1" name="Freeform 50"/>
              <p:cNvSpPr>
                <a:spLocks/>
              </p:cNvSpPr>
              <p:nvPr/>
            </p:nvSpPr>
            <p:spPr bwMode="auto">
              <a:xfrm>
                <a:off x="5250" y="3138"/>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2" name="Freeform 51"/>
              <p:cNvSpPr>
                <a:spLocks/>
              </p:cNvSpPr>
              <p:nvPr/>
            </p:nvSpPr>
            <p:spPr bwMode="auto">
              <a:xfrm flipV="1">
                <a:off x="1692" y="3234"/>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 name="Freeform 52"/>
              <p:cNvSpPr>
                <a:spLocks/>
              </p:cNvSpPr>
              <p:nvPr/>
            </p:nvSpPr>
            <p:spPr bwMode="auto">
              <a:xfrm flipV="1">
                <a:off x="2130" y="3234"/>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 name="Freeform 53"/>
              <p:cNvSpPr>
                <a:spLocks/>
              </p:cNvSpPr>
              <p:nvPr/>
            </p:nvSpPr>
            <p:spPr bwMode="auto">
              <a:xfrm flipV="1">
                <a:off x="2592" y="3234"/>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5" name="Freeform 54"/>
              <p:cNvSpPr>
                <a:spLocks/>
              </p:cNvSpPr>
              <p:nvPr/>
            </p:nvSpPr>
            <p:spPr bwMode="auto">
              <a:xfrm flipV="1">
                <a:off x="3486" y="3234"/>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6" name="Freeform 55"/>
              <p:cNvSpPr>
                <a:spLocks/>
              </p:cNvSpPr>
              <p:nvPr/>
            </p:nvSpPr>
            <p:spPr bwMode="auto">
              <a:xfrm flipV="1">
                <a:off x="3936" y="3234"/>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67" name="Group 65"/>
            <p:cNvGrpSpPr>
              <a:grpSpLocks/>
            </p:cNvGrpSpPr>
            <p:nvPr/>
          </p:nvGrpSpPr>
          <p:grpSpPr bwMode="auto">
            <a:xfrm>
              <a:off x="2182868" y="3594222"/>
              <a:ext cx="5924723" cy="318698"/>
              <a:chOff x="1264" y="2804"/>
              <a:chExt cx="4461" cy="258"/>
            </a:xfrm>
          </p:grpSpPr>
          <p:sp>
            <p:nvSpPr>
              <p:cNvPr id="168" name="Freeform 63"/>
              <p:cNvSpPr>
                <a:spLocks/>
              </p:cNvSpPr>
              <p:nvPr/>
            </p:nvSpPr>
            <p:spPr bwMode="auto">
              <a:xfrm>
                <a:off x="1264" y="2804"/>
                <a:ext cx="2909" cy="258"/>
              </a:xfrm>
              <a:custGeom>
                <a:avLst/>
                <a:gdLst>
                  <a:gd name="T0" fmla="*/ 0 w 2909"/>
                  <a:gd name="T1" fmla="*/ 0 h 258"/>
                  <a:gd name="T2" fmla="*/ 223 w 2909"/>
                  <a:gd name="T3" fmla="*/ 0 h 258"/>
                  <a:gd name="T4" fmla="*/ 223 w 2909"/>
                  <a:gd name="T5" fmla="*/ 258 h 258"/>
                  <a:gd name="T6" fmla="*/ 446 w 2909"/>
                  <a:gd name="T7" fmla="*/ 258 h 258"/>
                  <a:gd name="T8" fmla="*/ 446 w 2909"/>
                  <a:gd name="T9" fmla="*/ 5 h 258"/>
                  <a:gd name="T10" fmla="*/ 681 w 2909"/>
                  <a:gd name="T11" fmla="*/ 5 h 258"/>
                  <a:gd name="T12" fmla="*/ 681 w 2909"/>
                  <a:gd name="T13" fmla="*/ 258 h 258"/>
                  <a:gd name="T14" fmla="*/ 887 w 2909"/>
                  <a:gd name="T15" fmla="*/ 258 h 258"/>
                  <a:gd name="T16" fmla="*/ 887 w 2909"/>
                  <a:gd name="T17" fmla="*/ 0 h 258"/>
                  <a:gd name="T18" fmla="*/ 1111 w 2909"/>
                  <a:gd name="T19" fmla="*/ 0 h 258"/>
                  <a:gd name="T20" fmla="*/ 1111 w 2909"/>
                  <a:gd name="T21" fmla="*/ 258 h 258"/>
                  <a:gd name="T22" fmla="*/ 1340 w 2909"/>
                  <a:gd name="T23" fmla="*/ 258 h 258"/>
                  <a:gd name="T24" fmla="*/ 1340 w 2909"/>
                  <a:gd name="T25" fmla="*/ 0 h 258"/>
                  <a:gd name="T26" fmla="*/ 1563 w 2909"/>
                  <a:gd name="T27" fmla="*/ 0 h 258"/>
                  <a:gd name="T28" fmla="*/ 1563 w 2909"/>
                  <a:gd name="T29" fmla="*/ 258 h 258"/>
                  <a:gd name="T30" fmla="*/ 2010 w 2909"/>
                  <a:gd name="T31" fmla="*/ 258 h 258"/>
                  <a:gd name="T32" fmla="*/ 2010 w 2909"/>
                  <a:gd name="T33" fmla="*/ 0 h 258"/>
                  <a:gd name="T34" fmla="*/ 2245 w 2909"/>
                  <a:gd name="T35" fmla="*/ 0 h 258"/>
                  <a:gd name="T36" fmla="*/ 2245 w 2909"/>
                  <a:gd name="T37" fmla="*/ 258 h 258"/>
                  <a:gd name="T38" fmla="*/ 2462 w 2909"/>
                  <a:gd name="T39" fmla="*/ 258 h 258"/>
                  <a:gd name="T40" fmla="*/ 2462 w 2909"/>
                  <a:gd name="T41" fmla="*/ 0 h 258"/>
                  <a:gd name="T42" fmla="*/ 2686 w 2909"/>
                  <a:gd name="T43" fmla="*/ 0 h 258"/>
                  <a:gd name="T44" fmla="*/ 2686 w 2909"/>
                  <a:gd name="T45" fmla="*/ 258 h 258"/>
                  <a:gd name="T46" fmla="*/ 2909 w 2909"/>
                  <a:gd name="T47" fmla="*/ 258 h 258"/>
                  <a:gd name="T48" fmla="*/ 2909 w 2909"/>
                  <a:gd name="T49" fmla="*/ 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09" h="258">
                    <a:moveTo>
                      <a:pt x="0" y="0"/>
                    </a:moveTo>
                    <a:lnTo>
                      <a:pt x="223" y="0"/>
                    </a:lnTo>
                    <a:lnTo>
                      <a:pt x="223" y="258"/>
                    </a:lnTo>
                    <a:lnTo>
                      <a:pt x="446" y="258"/>
                    </a:lnTo>
                    <a:lnTo>
                      <a:pt x="446" y="5"/>
                    </a:lnTo>
                    <a:lnTo>
                      <a:pt x="681" y="5"/>
                    </a:lnTo>
                    <a:lnTo>
                      <a:pt x="681" y="258"/>
                    </a:lnTo>
                    <a:lnTo>
                      <a:pt x="887" y="258"/>
                    </a:lnTo>
                    <a:lnTo>
                      <a:pt x="887" y="0"/>
                    </a:lnTo>
                    <a:lnTo>
                      <a:pt x="1111" y="0"/>
                    </a:lnTo>
                    <a:lnTo>
                      <a:pt x="1111" y="258"/>
                    </a:lnTo>
                    <a:lnTo>
                      <a:pt x="1340" y="258"/>
                    </a:lnTo>
                    <a:lnTo>
                      <a:pt x="1340" y="0"/>
                    </a:lnTo>
                    <a:lnTo>
                      <a:pt x="1563" y="0"/>
                    </a:lnTo>
                    <a:lnTo>
                      <a:pt x="1563" y="258"/>
                    </a:lnTo>
                    <a:lnTo>
                      <a:pt x="2010" y="258"/>
                    </a:lnTo>
                    <a:lnTo>
                      <a:pt x="2010" y="0"/>
                    </a:lnTo>
                    <a:lnTo>
                      <a:pt x="2245" y="0"/>
                    </a:lnTo>
                    <a:lnTo>
                      <a:pt x="2245" y="258"/>
                    </a:lnTo>
                    <a:lnTo>
                      <a:pt x="2462" y="258"/>
                    </a:lnTo>
                    <a:lnTo>
                      <a:pt x="2462" y="0"/>
                    </a:lnTo>
                    <a:lnTo>
                      <a:pt x="2686" y="0"/>
                    </a:lnTo>
                    <a:lnTo>
                      <a:pt x="2686" y="258"/>
                    </a:lnTo>
                    <a:lnTo>
                      <a:pt x="2909" y="258"/>
                    </a:lnTo>
                    <a:lnTo>
                      <a:pt x="2909" y="0"/>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9" name="Freeform 64"/>
              <p:cNvSpPr>
                <a:spLocks/>
              </p:cNvSpPr>
              <p:nvPr/>
            </p:nvSpPr>
            <p:spPr bwMode="auto">
              <a:xfrm>
                <a:off x="4173" y="2804"/>
                <a:ext cx="1552" cy="258"/>
              </a:xfrm>
              <a:custGeom>
                <a:avLst/>
                <a:gdLst>
                  <a:gd name="T0" fmla="*/ 0 w 1552"/>
                  <a:gd name="T1" fmla="*/ 0 h 258"/>
                  <a:gd name="T2" fmla="*/ 453 w 1552"/>
                  <a:gd name="T3" fmla="*/ 0 h 258"/>
                  <a:gd name="T4" fmla="*/ 453 w 1552"/>
                  <a:gd name="T5" fmla="*/ 258 h 258"/>
                  <a:gd name="T6" fmla="*/ 905 w 1552"/>
                  <a:gd name="T7" fmla="*/ 258 h 258"/>
                  <a:gd name="T8" fmla="*/ 905 w 1552"/>
                  <a:gd name="T9" fmla="*/ 0 h 258"/>
                  <a:gd name="T10" fmla="*/ 1329 w 1552"/>
                  <a:gd name="T11" fmla="*/ 0 h 258"/>
                  <a:gd name="T12" fmla="*/ 1329 w 1552"/>
                  <a:gd name="T13" fmla="*/ 258 h 258"/>
                  <a:gd name="T14" fmla="*/ 1552 w 1552"/>
                  <a:gd name="T15" fmla="*/ 258 h 2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52" h="258">
                    <a:moveTo>
                      <a:pt x="0" y="0"/>
                    </a:moveTo>
                    <a:lnTo>
                      <a:pt x="453" y="0"/>
                    </a:lnTo>
                    <a:lnTo>
                      <a:pt x="453" y="258"/>
                    </a:lnTo>
                    <a:lnTo>
                      <a:pt x="905" y="258"/>
                    </a:lnTo>
                    <a:lnTo>
                      <a:pt x="905" y="0"/>
                    </a:lnTo>
                    <a:lnTo>
                      <a:pt x="1329" y="0"/>
                    </a:lnTo>
                    <a:lnTo>
                      <a:pt x="1329" y="258"/>
                    </a:lnTo>
                    <a:lnTo>
                      <a:pt x="1552" y="258"/>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71" name="Rectangle 69"/>
            <p:cNvSpPr>
              <a:spLocks noChangeArrowheads="1"/>
            </p:cNvSpPr>
            <p:nvPr/>
          </p:nvSpPr>
          <p:spPr bwMode="auto">
            <a:xfrm>
              <a:off x="1138388" y="2598290"/>
              <a:ext cx="1041953"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1600" b="1">
                  <a:latin typeface="微软雅黑" panose="020B0503020204020204" pitchFamily="34" charset="-122"/>
                  <a:ea typeface="微软雅黑" panose="020B0503020204020204" pitchFamily="34" charset="-122"/>
                </a:rPr>
                <a:t>    </a:t>
              </a:r>
              <a:r>
                <a:rPr kumimoji="1" lang="zh-CN" altLang="en-US" sz="1600" b="1">
                  <a:latin typeface="微软雅黑" panose="020B0503020204020204" pitchFamily="34" charset="-122"/>
                  <a:ea typeface="微软雅黑" panose="020B0503020204020204" pitchFamily="34" charset="-122"/>
                </a:rPr>
                <a:t>归零制</a:t>
              </a:r>
            </a:p>
          </p:txBody>
        </p:sp>
      </p:grpSp>
      <p:sp>
        <p:nvSpPr>
          <p:cNvPr id="4" name="文本框 3">
            <a:extLst>
              <a:ext uri="{FF2B5EF4-FFF2-40B4-BE49-F238E27FC236}">
                <a16:creationId xmlns:a16="http://schemas.microsoft.com/office/drawing/2014/main" id="{C5C06DA4-AFC4-3A79-3EA5-B8658571854D}"/>
              </a:ext>
            </a:extLst>
          </p:cNvPr>
          <p:cNvSpPr txBox="1"/>
          <p:nvPr/>
        </p:nvSpPr>
        <p:spPr>
          <a:xfrm>
            <a:off x="845156" y="3632746"/>
            <a:ext cx="7888231" cy="893963"/>
          </a:xfrm>
          <a:prstGeom prst="rect">
            <a:avLst/>
          </a:prstGeom>
          <a:noFill/>
        </p:spPr>
        <p:txBody>
          <a:bodyPr wrap="square">
            <a:spAutoFit/>
          </a:bodyPr>
          <a:lstStyle/>
          <a:p>
            <a:pPr marL="285750" marR="0" lvl="0" indent="-285750" algn="l" defTabSz="914400" rtl="0" eaLnBrk="0" fontAlgn="base" latinLnBrk="0" hangingPunct="0">
              <a:lnSpc>
                <a:spcPts val="3300"/>
              </a:lnSpc>
              <a:spcBef>
                <a:spcPts val="0"/>
              </a:spcBef>
              <a:spcAft>
                <a:spcPct val="0"/>
              </a:spcAft>
              <a:buClr>
                <a:srgbClr val="0070C0"/>
              </a:buClr>
              <a:buSzTx/>
              <a:buFont typeface="Wingdings" panose="05000000000000000000" pitchFamily="2" charset="2"/>
              <a:buChar char="l"/>
              <a:tabLst/>
              <a:defRPr/>
            </a:pPr>
            <a:r>
              <a:rPr kumimoji="0" lang="zh-CN" altLang="en-US" b="1" i="0" u="none" strike="noStrike" kern="1200" cap="none" spc="0" normalizeH="0" baseline="0" noProof="0" dirty="0">
                <a:ln>
                  <a:noFill/>
                </a:ln>
                <a:solidFill>
                  <a:srgbClr val="0000FF"/>
                </a:solidFill>
                <a:effectLst/>
                <a:uLnTx/>
                <a:uFillTx/>
                <a:latin typeface="微软雅黑" pitchFamily="34" charset="-122"/>
                <a:ea typeface="微软雅黑" pitchFamily="34" charset="-122"/>
                <a:cs typeface="+mn-cs"/>
              </a:rPr>
              <a:t>曼彻斯特编码</a:t>
            </a:r>
            <a:r>
              <a:rPr kumimoji="0" lang="zh-CN" altLang="en-US" b="1"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rPr>
              <a:t>：位周期中心的向上跳变代表 </a:t>
            </a:r>
            <a:r>
              <a:rPr kumimoji="0" lang="en-US" altLang="zh-CN" b="1"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rPr>
              <a:t>0</a:t>
            </a:r>
            <a:r>
              <a:rPr kumimoji="0" lang="zh-CN" altLang="en-US" b="1"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rPr>
              <a:t>，位周期中心的向下跳变代表 </a:t>
            </a:r>
            <a:r>
              <a:rPr kumimoji="0" lang="en-US" altLang="zh-CN" b="1"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rPr>
              <a:t>1</a:t>
            </a:r>
            <a:r>
              <a:rPr kumimoji="0" lang="zh-CN" altLang="en-US" b="1"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rPr>
              <a:t>。但也可反过来定义。</a:t>
            </a:r>
          </a:p>
        </p:txBody>
      </p:sp>
      <p:sp>
        <p:nvSpPr>
          <p:cNvPr id="7" name="Rectangle 7"/>
          <p:cNvSpPr>
            <a:spLocks noChangeArrowheads="1"/>
          </p:cNvSpPr>
          <p:nvPr/>
        </p:nvSpPr>
        <p:spPr bwMode="auto">
          <a:xfrm>
            <a:off x="1176859" y="2612913"/>
            <a:ext cx="1003481"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1600" b="1" dirty="0">
                <a:latin typeface="微软雅黑" panose="020B0503020204020204" pitchFamily="34" charset="-122"/>
                <a:ea typeface="微软雅黑" panose="020B0503020204020204" pitchFamily="34" charset="-122"/>
              </a:rPr>
              <a:t>曼彻斯特</a:t>
            </a:r>
          </a:p>
        </p:txBody>
      </p:sp>
      <p:sp>
        <p:nvSpPr>
          <p:cNvPr id="8" name="Rectangle 68"/>
          <p:cNvSpPr>
            <a:spLocks noChangeArrowheads="1"/>
          </p:cNvSpPr>
          <p:nvPr/>
        </p:nvSpPr>
        <p:spPr bwMode="auto">
          <a:xfrm>
            <a:off x="766490" y="3098928"/>
            <a:ext cx="1413850"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r>
              <a:rPr kumimoji="1" lang="zh-CN" altLang="en-US" sz="1600" b="1" dirty="0">
                <a:latin typeface="微软雅黑" panose="020B0503020204020204" pitchFamily="34" charset="-122"/>
                <a:ea typeface="微软雅黑" panose="020B0503020204020204" pitchFamily="34" charset="-122"/>
              </a:rPr>
              <a:t>差分曼彻斯特</a:t>
            </a:r>
          </a:p>
        </p:txBody>
      </p:sp>
      <p:grpSp>
        <p:nvGrpSpPr>
          <p:cNvPr id="19" name="组合 18">
            <a:extLst>
              <a:ext uri="{FF2B5EF4-FFF2-40B4-BE49-F238E27FC236}">
                <a16:creationId xmlns:a16="http://schemas.microsoft.com/office/drawing/2014/main" id="{40745DB9-77C5-C81A-10A5-535EDD2D16B5}"/>
              </a:ext>
            </a:extLst>
          </p:cNvPr>
          <p:cNvGrpSpPr/>
          <p:nvPr/>
        </p:nvGrpSpPr>
        <p:grpSpPr>
          <a:xfrm>
            <a:off x="2516632" y="2653649"/>
            <a:ext cx="5362134" cy="216157"/>
            <a:chOff x="2516632" y="2592692"/>
            <a:chExt cx="5362134" cy="338919"/>
          </a:xfrm>
        </p:grpSpPr>
        <p:cxnSp>
          <p:nvCxnSpPr>
            <p:cNvPr id="3" name="直接箭头连接符 2">
              <a:extLst>
                <a:ext uri="{FF2B5EF4-FFF2-40B4-BE49-F238E27FC236}">
                  <a16:creationId xmlns:a16="http://schemas.microsoft.com/office/drawing/2014/main" id="{0BCF84D9-743B-74D3-B9C1-CBB70383012C}"/>
                </a:ext>
              </a:extLst>
            </p:cNvPr>
            <p:cNvCxnSpPr>
              <a:cxnSpLocks/>
            </p:cNvCxnSpPr>
            <p:nvPr/>
          </p:nvCxnSpPr>
          <p:spPr>
            <a:xfrm>
              <a:off x="2516632" y="2612913"/>
              <a:ext cx="0" cy="31869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04111E5A-063B-B093-8964-B9B62DFDE423}"/>
                </a:ext>
              </a:extLst>
            </p:cNvPr>
            <p:cNvCxnSpPr>
              <a:cxnSpLocks/>
            </p:cNvCxnSpPr>
            <p:nvPr/>
          </p:nvCxnSpPr>
          <p:spPr>
            <a:xfrm>
              <a:off x="6697081" y="2612913"/>
              <a:ext cx="0" cy="31869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5E30FD47-EEA4-62DD-C119-740A0FB79BDD}"/>
                </a:ext>
              </a:extLst>
            </p:cNvPr>
            <p:cNvCxnSpPr>
              <a:cxnSpLocks/>
            </p:cNvCxnSpPr>
            <p:nvPr/>
          </p:nvCxnSpPr>
          <p:spPr>
            <a:xfrm>
              <a:off x="7292613" y="2612913"/>
              <a:ext cx="0" cy="31869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D1B1569B-1844-EE12-B9B7-BEA9FA717659}"/>
                </a:ext>
              </a:extLst>
            </p:cNvPr>
            <p:cNvCxnSpPr>
              <a:cxnSpLocks/>
            </p:cNvCxnSpPr>
            <p:nvPr/>
          </p:nvCxnSpPr>
          <p:spPr>
            <a:xfrm>
              <a:off x="7878766" y="2612913"/>
              <a:ext cx="0" cy="31869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4D12DC2A-7E61-FF12-8B1F-533DAA84C0EA}"/>
                </a:ext>
              </a:extLst>
            </p:cNvPr>
            <p:cNvCxnSpPr>
              <a:cxnSpLocks/>
            </p:cNvCxnSpPr>
            <p:nvPr/>
          </p:nvCxnSpPr>
          <p:spPr>
            <a:xfrm>
              <a:off x="4915173" y="2612913"/>
              <a:ext cx="0" cy="31869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6FC8A6A5-F7AC-92DC-1080-CC67D8BE7EC9}"/>
                </a:ext>
              </a:extLst>
            </p:cNvPr>
            <p:cNvCxnSpPr>
              <a:cxnSpLocks/>
            </p:cNvCxnSpPr>
            <p:nvPr/>
          </p:nvCxnSpPr>
          <p:spPr>
            <a:xfrm>
              <a:off x="6103486" y="2612913"/>
              <a:ext cx="0" cy="318698"/>
            </a:xfrm>
            <a:prstGeom prst="straightConnector1">
              <a:avLst/>
            </a:prstGeom>
            <a:ln w="28575">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ECA5AB73-A403-9324-73CF-5BF6A1F905D5}"/>
                </a:ext>
              </a:extLst>
            </p:cNvPr>
            <p:cNvCxnSpPr>
              <a:cxnSpLocks/>
            </p:cNvCxnSpPr>
            <p:nvPr/>
          </p:nvCxnSpPr>
          <p:spPr>
            <a:xfrm>
              <a:off x="5496231" y="2612913"/>
              <a:ext cx="0" cy="318698"/>
            </a:xfrm>
            <a:prstGeom prst="straightConnector1">
              <a:avLst/>
            </a:prstGeom>
            <a:ln w="28575">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4073CD7D-6E3F-3A47-05A2-F100B12C2A6B}"/>
                </a:ext>
              </a:extLst>
            </p:cNvPr>
            <p:cNvCxnSpPr>
              <a:cxnSpLocks/>
            </p:cNvCxnSpPr>
            <p:nvPr/>
          </p:nvCxnSpPr>
          <p:spPr>
            <a:xfrm>
              <a:off x="4300476" y="2612913"/>
              <a:ext cx="0" cy="318698"/>
            </a:xfrm>
            <a:prstGeom prst="straightConnector1">
              <a:avLst/>
            </a:prstGeom>
            <a:ln w="28575">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4161D42E-1B11-E473-FB9C-5EEB5BDC78ED}"/>
                </a:ext>
              </a:extLst>
            </p:cNvPr>
            <p:cNvCxnSpPr>
              <a:cxnSpLocks/>
            </p:cNvCxnSpPr>
            <p:nvPr/>
          </p:nvCxnSpPr>
          <p:spPr>
            <a:xfrm>
              <a:off x="3114101" y="2592692"/>
              <a:ext cx="0" cy="318698"/>
            </a:xfrm>
            <a:prstGeom prst="straightConnector1">
              <a:avLst/>
            </a:prstGeom>
            <a:ln w="28575">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532E307E-87C5-6B20-88B3-73354C3E4147}"/>
                </a:ext>
              </a:extLst>
            </p:cNvPr>
            <p:cNvCxnSpPr>
              <a:cxnSpLocks/>
            </p:cNvCxnSpPr>
            <p:nvPr/>
          </p:nvCxnSpPr>
          <p:spPr>
            <a:xfrm>
              <a:off x="3721356" y="2612913"/>
              <a:ext cx="0" cy="318698"/>
            </a:xfrm>
            <a:prstGeom prst="straightConnector1">
              <a:avLst/>
            </a:prstGeom>
            <a:ln w="28575">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1116514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0" presetID="35" presetClass="emph" presetSubtype="0" repeatCount="3000" fill="hold" grpId="0" nodeType="withEffect">
                                  <p:stCondLst>
                                    <p:cond delay="0"/>
                                  </p:stCondLst>
                                  <p:childTnLst>
                                    <p:anim calcmode="discrete" valueType="str">
                                      <p:cBhvr>
                                        <p:cTn id="11" dur="500" fill="hold"/>
                                        <p:tgtEl>
                                          <p:spTgt spid="7"/>
                                        </p:tgtEl>
                                        <p:attrNameLst>
                                          <p:attrName>style.visibility</p:attrName>
                                        </p:attrNameLst>
                                      </p:cBhvr>
                                      <p:tavLst>
                                        <p:tav tm="0">
                                          <p:val>
                                            <p:strVal val="hidden"/>
                                          </p:val>
                                        </p:tav>
                                        <p:tav tm="50000">
                                          <p:val>
                                            <p:strVal val="visible"/>
                                          </p:val>
                                        </p:tav>
                                      </p:tavLst>
                                    </p:anim>
                                  </p:childTnLst>
                                </p:cTn>
                              </p:par>
                            </p:childTnLst>
                          </p:cTn>
                        </p:par>
                      </p:childTnLst>
                    </p:cTn>
                  </p:par>
                  <p:par>
                    <p:cTn id="12" fill="hold">
                      <p:stCondLst>
                        <p:cond delay="indefinite"/>
                      </p:stCondLst>
                      <p:childTnLst>
                        <p:par>
                          <p:cTn id="13" fill="hold">
                            <p:stCondLst>
                              <p:cond delay="0"/>
                            </p:stCondLst>
                            <p:childTnLst>
                              <p:par>
                                <p:cTn id="14" presetID="35" presetClass="emph" presetSubtype="0" repeatCount="3000" fill="hold" nodeType="clickEffect">
                                  <p:stCondLst>
                                    <p:cond delay="0"/>
                                  </p:stCondLst>
                                  <p:childTnLst>
                                    <p:anim calcmode="discrete" valueType="str">
                                      <p:cBhvr>
                                        <p:cTn id="15" dur="500" fill="hold"/>
                                        <p:tgtEl>
                                          <p:spTgt spid="1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B1FF6-AF57-7EDC-96CD-8373713B3211}"/>
            </a:ext>
          </a:extLst>
        </p:cNvPr>
        <p:cNvGrpSpPr/>
        <p:nvPr/>
      </p:nvGrpSpPr>
      <p:grpSpPr>
        <a:xfrm>
          <a:off x="0" y="0"/>
          <a:ext cx="0" cy="0"/>
          <a:chOff x="0" y="0"/>
          <a:chExt cx="0" cy="0"/>
        </a:xfrm>
      </p:grpSpPr>
      <p:sp>
        <p:nvSpPr>
          <p:cNvPr id="5" name="文本占位符 4">
            <a:extLst>
              <a:ext uri="{FF2B5EF4-FFF2-40B4-BE49-F238E27FC236}">
                <a16:creationId xmlns:a16="http://schemas.microsoft.com/office/drawing/2014/main" id="{5EDB0D30-D5C5-98EB-B32A-8C26EAA36FDF}"/>
              </a:ext>
            </a:extLst>
          </p:cNvPr>
          <p:cNvSpPr>
            <a:spLocks noGrp="1"/>
          </p:cNvSpPr>
          <p:nvPr>
            <p:ph type="body" sz="quarter" idx="11"/>
          </p:nvPr>
        </p:nvSpPr>
        <p:spPr>
          <a:xfrm>
            <a:off x="1332000" y="360000"/>
            <a:ext cx="6480000" cy="354012"/>
          </a:xfrm>
        </p:spPr>
        <p:txBody>
          <a:bodyPr>
            <a:normAutofit fontScale="92500" lnSpcReduction="10000"/>
          </a:bodyPr>
          <a:lstStyle/>
          <a:p>
            <a:r>
              <a:rPr lang="en-US" altLang="zh-CN" dirty="0"/>
              <a:t>(1) </a:t>
            </a:r>
            <a:r>
              <a:rPr lang="zh-CN" altLang="en-US" dirty="0"/>
              <a:t>基带信号常用的编码方法</a:t>
            </a:r>
          </a:p>
        </p:txBody>
      </p:sp>
      <p:sp>
        <p:nvSpPr>
          <p:cNvPr id="6" name="圆角矩形 5">
            <a:extLst>
              <a:ext uri="{FF2B5EF4-FFF2-40B4-BE49-F238E27FC236}">
                <a16:creationId xmlns:a16="http://schemas.microsoft.com/office/drawing/2014/main" id="{5B7E092C-0FC5-E568-2595-067574FD6583}"/>
              </a:ext>
            </a:extLst>
          </p:cNvPr>
          <p:cNvSpPr/>
          <p:nvPr/>
        </p:nvSpPr>
        <p:spPr>
          <a:xfrm>
            <a:off x="545145" y="1032955"/>
            <a:ext cx="8053711" cy="255582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4" name="组合 173">
            <a:extLst>
              <a:ext uri="{FF2B5EF4-FFF2-40B4-BE49-F238E27FC236}">
                <a16:creationId xmlns:a16="http://schemas.microsoft.com/office/drawing/2014/main" id="{596F5CAC-D10E-27D5-C6C9-ED76D0DB58E5}"/>
              </a:ext>
            </a:extLst>
          </p:cNvPr>
          <p:cNvGrpSpPr/>
          <p:nvPr/>
        </p:nvGrpSpPr>
        <p:grpSpPr>
          <a:xfrm>
            <a:off x="933205" y="1146902"/>
            <a:ext cx="7178370" cy="2294626"/>
            <a:chOff x="933205" y="1642196"/>
            <a:chExt cx="7178370" cy="2294626"/>
          </a:xfrm>
        </p:grpSpPr>
        <p:sp>
          <p:nvSpPr>
            <p:cNvPr id="120" name="Rectangle 6">
              <a:extLst>
                <a:ext uri="{FF2B5EF4-FFF2-40B4-BE49-F238E27FC236}">
                  <a16:creationId xmlns:a16="http://schemas.microsoft.com/office/drawing/2014/main" id="{A194E7E0-D003-9959-1BBD-5D43CBF9B857}"/>
                </a:ext>
              </a:extLst>
            </p:cNvPr>
            <p:cNvSpPr>
              <a:spLocks noChangeArrowheads="1"/>
            </p:cNvSpPr>
            <p:nvPr/>
          </p:nvSpPr>
          <p:spPr bwMode="auto">
            <a:xfrm>
              <a:off x="933205" y="2128211"/>
              <a:ext cx="124713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1600" b="1">
                  <a:latin typeface="微软雅黑" panose="020B0503020204020204" pitchFamily="34" charset="-122"/>
                  <a:ea typeface="微软雅黑" panose="020B0503020204020204" pitchFamily="34" charset="-122"/>
                </a:rPr>
                <a:t>    </a:t>
              </a:r>
              <a:r>
                <a:rPr kumimoji="1" lang="zh-CN" altLang="en-US" sz="1600" b="1">
                  <a:latin typeface="微软雅黑" panose="020B0503020204020204" pitchFamily="34" charset="-122"/>
                  <a:ea typeface="微软雅黑" panose="020B0503020204020204" pitchFamily="34" charset="-122"/>
                </a:rPr>
                <a:t>不归零制</a:t>
              </a:r>
            </a:p>
          </p:txBody>
        </p:sp>
        <p:sp>
          <p:nvSpPr>
            <p:cNvPr id="121" name="Rectangle 7">
              <a:extLst>
                <a:ext uri="{FF2B5EF4-FFF2-40B4-BE49-F238E27FC236}">
                  <a16:creationId xmlns:a16="http://schemas.microsoft.com/office/drawing/2014/main" id="{22D0A86A-C787-C8EA-8DEB-7F72EF23DAD8}"/>
                </a:ext>
              </a:extLst>
            </p:cNvPr>
            <p:cNvSpPr>
              <a:spLocks noChangeArrowheads="1"/>
            </p:cNvSpPr>
            <p:nvPr/>
          </p:nvSpPr>
          <p:spPr bwMode="auto">
            <a:xfrm>
              <a:off x="1176859" y="3108207"/>
              <a:ext cx="1003481"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1600" b="1">
                  <a:latin typeface="微软雅黑" panose="020B0503020204020204" pitchFamily="34" charset="-122"/>
                  <a:ea typeface="微软雅黑" panose="020B0503020204020204" pitchFamily="34" charset="-122"/>
                </a:rPr>
                <a:t>曼彻斯特</a:t>
              </a:r>
            </a:p>
          </p:txBody>
        </p:sp>
        <p:sp>
          <p:nvSpPr>
            <p:cNvPr id="122" name="Rectangle 8">
              <a:extLst>
                <a:ext uri="{FF2B5EF4-FFF2-40B4-BE49-F238E27FC236}">
                  <a16:creationId xmlns:a16="http://schemas.microsoft.com/office/drawing/2014/main" id="{8E1F8197-3BCC-BFF8-FE73-F9D2B388EC5F}"/>
                </a:ext>
              </a:extLst>
            </p:cNvPr>
            <p:cNvSpPr>
              <a:spLocks noChangeArrowheads="1"/>
            </p:cNvSpPr>
            <p:nvPr/>
          </p:nvSpPr>
          <p:spPr bwMode="auto">
            <a:xfrm>
              <a:off x="6936193" y="1646180"/>
              <a:ext cx="596323" cy="2290642"/>
            </a:xfrm>
            <a:prstGeom prst="rect">
              <a:avLst/>
            </a:prstGeom>
            <a:solidFill>
              <a:schemeClr val="accent2">
                <a:lumMod val="40000"/>
                <a:lumOff val="60000"/>
              </a:schemeClr>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 name="Rectangle 9">
              <a:extLst>
                <a:ext uri="{FF2B5EF4-FFF2-40B4-BE49-F238E27FC236}">
                  <a16:creationId xmlns:a16="http://schemas.microsoft.com/office/drawing/2014/main" id="{B637AEEB-FE42-FE33-0D2F-CFEA138142A0}"/>
                </a:ext>
              </a:extLst>
            </p:cNvPr>
            <p:cNvSpPr>
              <a:spLocks noChangeArrowheads="1"/>
            </p:cNvSpPr>
            <p:nvPr/>
          </p:nvSpPr>
          <p:spPr bwMode="auto">
            <a:xfrm>
              <a:off x="3370203" y="1646180"/>
              <a:ext cx="583043" cy="2290642"/>
            </a:xfrm>
            <a:prstGeom prst="rect">
              <a:avLst/>
            </a:prstGeom>
            <a:solidFill>
              <a:schemeClr val="accent2">
                <a:lumMod val="40000"/>
                <a:lumOff val="60000"/>
              </a:schemeClr>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4" name="Rectangle 10">
              <a:extLst>
                <a:ext uri="{FF2B5EF4-FFF2-40B4-BE49-F238E27FC236}">
                  <a16:creationId xmlns:a16="http://schemas.microsoft.com/office/drawing/2014/main" id="{3637BBE7-461D-6B8D-378E-74676E024E88}"/>
                </a:ext>
              </a:extLst>
            </p:cNvPr>
            <p:cNvSpPr>
              <a:spLocks noChangeArrowheads="1"/>
            </p:cNvSpPr>
            <p:nvPr/>
          </p:nvSpPr>
          <p:spPr bwMode="auto">
            <a:xfrm>
              <a:off x="4570820" y="1642196"/>
              <a:ext cx="577731" cy="2294626"/>
            </a:xfrm>
            <a:prstGeom prst="rect">
              <a:avLst/>
            </a:prstGeom>
            <a:solidFill>
              <a:schemeClr val="accent2">
                <a:lumMod val="40000"/>
                <a:lumOff val="60000"/>
              </a:schemeClr>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5" name="Rectangle 11">
              <a:extLst>
                <a:ext uri="{FF2B5EF4-FFF2-40B4-BE49-F238E27FC236}">
                  <a16:creationId xmlns:a16="http://schemas.microsoft.com/office/drawing/2014/main" id="{D31A17AB-E195-F104-3548-76D56E4B3313}"/>
                </a:ext>
              </a:extLst>
            </p:cNvPr>
            <p:cNvSpPr>
              <a:spLocks noChangeArrowheads="1"/>
            </p:cNvSpPr>
            <p:nvPr/>
          </p:nvSpPr>
          <p:spPr bwMode="auto">
            <a:xfrm>
              <a:off x="5762139" y="1642196"/>
              <a:ext cx="576402" cy="2294626"/>
            </a:xfrm>
            <a:prstGeom prst="rect">
              <a:avLst/>
            </a:prstGeom>
            <a:solidFill>
              <a:schemeClr val="accent2">
                <a:lumMod val="40000"/>
                <a:lumOff val="60000"/>
              </a:schemeClr>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6" name="Rectangle 12">
              <a:extLst>
                <a:ext uri="{FF2B5EF4-FFF2-40B4-BE49-F238E27FC236}">
                  <a16:creationId xmlns:a16="http://schemas.microsoft.com/office/drawing/2014/main" id="{C960046A-9F92-B809-4424-4A80D27F958A}"/>
                </a:ext>
              </a:extLst>
            </p:cNvPr>
            <p:cNvSpPr>
              <a:spLocks noChangeArrowheads="1"/>
            </p:cNvSpPr>
            <p:nvPr/>
          </p:nvSpPr>
          <p:spPr bwMode="auto">
            <a:xfrm>
              <a:off x="2196149" y="1642196"/>
              <a:ext cx="597652" cy="2294626"/>
            </a:xfrm>
            <a:prstGeom prst="rect">
              <a:avLst/>
            </a:prstGeom>
            <a:solidFill>
              <a:schemeClr val="accent2">
                <a:lumMod val="40000"/>
                <a:lumOff val="60000"/>
              </a:schemeClr>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7" name="Rectangle 13">
              <a:extLst>
                <a:ext uri="{FF2B5EF4-FFF2-40B4-BE49-F238E27FC236}">
                  <a16:creationId xmlns:a16="http://schemas.microsoft.com/office/drawing/2014/main" id="{778B886A-6D00-0FEE-5FB4-F40D8A8E5B89}"/>
                </a:ext>
              </a:extLst>
            </p:cNvPr>
            <p:cNvSpPr>
              <a:spLocks noChangeArrowheads="1"/>
            </p:cNvSpPr>
            <p:nvPr/>
          </p:nvSpPr>
          <p:spPr bwMode="auto">
            <a:xfrm>
              <a:off x="2346227" y="1696641"/>
              <a:ext cx="245701" cy="278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1600" dirty="0">
                  <a:latin typeface="Arial Rounded MT Bold" panose="020F0704030504030204" pitchFamily="34" charset="0"/>
                </a:rPr>
                <a:t>1</a:t>
              </a:r>
            </a:p>
          </p:txBody>
        </p:sp>
        <p:sp>
          <p:nvSpPr>
            <p:cNvPr id="128" name="Rectangle 14">
              <a:extLst>
                <a:ext uri="{FF2B5EF4-FFF2-40B4-BE49-F238E27FC236}">
                  <a16:creationId xmlns:a16="http://schemas.microsoft.com/office/drawing/2014/main" id="{017AD31B-8478-7E53-48F1-09A51202CE70}"/>
                </a:ext>
              </a:extLst>
            </p:cNvPr>
            <p:cNvSpPr>
              <a:spLocks noChangeArrowheads="1"/>
            </p:cNvSpPr>
            <p:nvPr/>
          </p:nvSpPr>
          <p:spPr bwMode="auto">
            <a:xfrm>
              <a:off x="7669313" y="1696641"/>
              <a:ext cx="245701" cy="278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1600">
                  <a:latin typeface="Arial Rounded MT Bold" panose="020F0704030504030204" pitchFamily="34" charset="0"/>
                </a:rPr>
                <a:t>1</a:t>
              </a:r>
            </a:p>
          </p:txBody>
        </p:sp>
        <p:sp>
          <p:nvSpPr>
            <p:cNvPr id="129" name="Rectangle 15">
              <a:extLst>
                <a:ext uri="{FF2B5EF4-FFF2-40B4-BE49-F238E27FC236}">
                  <a16:creationId xmlns:a16="http://schemas.microsoft.com/office/drawing/2014/main" id="{2C8210C1-D489-554E-209E-E7922474E280}"/>
                </a:ext>
              </a:extLst>
            </p:cNvPr>
            <p:cNvSpPr>
              <a:spLocks noChangeArrowheads="1"/>
            </p:cNvSpPr>
            <p:nvPr/>
          </p:nvSpPr>
          <p:spPr bwMode="auto">
            <a:xfrm>
              <a:off x="4727537" y="1696641"/>
              <a:ext cx="245702" cy="278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1600">
                  <a:latin typeface="Arial Rounded MT Bold" panose="020F0704030504030204" pitchFamily="34" charset="0"/>
                </a:rPr>
                <a:t>1</a:t>
              </a:r>
            </a:p>
          </p:txBody>
        </p:sp>
        <p:sp>
          <p:nvSpPr>
            <p:cNvPr id="130" name="Rectangle 16">
              <a:extLst>
                <a:ext uri="{FF2B5EF4-FFF2-40B4-BE49-F238E27FC236}">
                  <a16:creationId xmlns:a16="http://schemas.microsoft.com/office/drawing/2014/main" id="{7D9C5816-4DD5-FC88-09DD-E8A52B5A3A14}"/>
                </a:ext>
              </a:extLst>
            </p:cNvPr>
            <p:cNvSpPr>
              <a:spLocks noChangeArrowheads="1"/>
            </p:cNvSpPr>
            <p:nvPr/>
          </p:nvSpPr>
          <p:spPr bwMode="auto">
            <a:xfrm>
              <a:off x="7075645" y="1696641"/>
              <a:ext cx="249686" cy="278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1600">
                  <a:latin typeface="Arial Rounded MT Bold" panose="020F0704030504030204" pitchFamily="34" charset="0"/>
                </a:rPr>
                <a:t>1</a:t>
              </a:r>
            </a:p>
          </p:txBody>
        </p:sp>
        <p:sp>
          <p:nvSpPr>
            <p:cNvPr id="131" name="Rectangle 17">
              <a:extLst>
                <a:ext uri="{FF2B5EF4-FFF2-40B4-BE49-F238E27FC236}">
                  <a16:creationId xmlns:a16="http://schemas.microsoft.com/office/drawing/2014/main" id="{1438CD4B-7CBF-0D5C-846F-6997AE3FE760}"/>
                </a:ext>
              </a:extLst>
            </p:cNvPr>
            <p:cNvSpPr>
              <a:spLocks noChangeArrowheads="1"/>
            </p:cNvSpPr>
            <p:nvPr/>
          </p:nvSpPr>
          <p:spPr bwMode="auto">
            <a:xfrm>
              <a:off x="6487290" y="1696641"/>
              <a:ext cx="245701" cy="278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1600">
                  <a:latin typeface="Arial Rounded MT Bold" panose="020F0704030504030204" pitchFamily="34" charset="0"/>
                </a:rPr>
                <a:t>1</a:t>
              </a:r>
            </a:p>
          </p:txBody>
        </p:sp>
        <p:sp>
          <p:nvSpPr>
            <p:cNvPr id="132" name="Rectangle 18">
              <a:extLst>
                <a:ext uri="{FF2B5EF4-FFF2-40B4-BE49-F238E27FC236}">
                  <a16:creationId xmlns:a16="http://schemas.microsoft.com/office/drawing/2014/main" id="{F8AACE0D-423D-6DDD-870E-505929A35942}"/>
                </a:ext>
              </a:extLst>
            </p:cNvPr>
            <p:cNvSpPr>
              <a:spLocks noChangeArrowheads="1"/>
            </p:cNvSpPr>
            <p:nvPr/>
          </p:nvSpPr>
          <p:spPr bwMode="auto">
            <a:xfrm>
              <a:off x="2951847" y="1696641"/>
              <a:ext cx="245701" cy="278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1600">
                  <a:latin typeface="Arial Rounded MT Bold" panose="020F0704030504030204" pitchFamily="34" charset="0"/>
                </a:rPr>
                <a:t>0</a:t>
              </a:r>
            </a:p>
          </p:txBody>
        </p:sp>
        <p:sp>
          <p:nvSpPr>
            <p:cNvPr id="133" name="Rectangle 19">
              <a:extLst>
                <a:ext uri="{FF2B5EF4-FFF2-40B4-BE49-F238E27FC236}">
                  <a16:creationId xmlns:a16="http://schemas.microsoft.com/office/drawing/2014/main" id="{4A23950D-6FF0-2362-76BA-5F0BDA192475}"/>
                </a:ext>
              </a:extLst>
            </p:cNvPr>
            <p:cNvSpPr>
              <a:spLocks noChangeArrowheads="1"/>
            </p:cNvSpPr>
            <p:nvPr/>
          </p:nvSpPr>
          <p:spPr bwMode="auto">
            <a:xfrm>
              <a:off x="3558796" y="1696641"/>
              <a:ext cx="245702" cy="278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1600">
                  <a:latin typeface="Arial Rounded MT Bold" panose="020F0704030504030204" pitchFamily="34" charset="0"/>
                </a:rPr>
                <a:t>0</a:t>
              </a:r>
            </a:p>
          </p:txBody>
        </p:sp>
        <p:sp>
          <p:nvSpPr>
            <p:cNvPr id="134" name="Rectangle 20">
              <a:extLst>
                <a:ext uri="{FF2B5EF4-FFF2-40B4-BE49-F238E27FC236}">
                  <a16:creationId xmlns:a16="http://schemas.microsoft.com/office/drawing/2014/main" id="{96CE4241-72EE-37CC-EA2E-1CAF65D82B4D}"/>
                </a:ext>
              </a:extLst>
            </p:cNvPr>
            <p:cNvSpPr>
              <a:spLocks noChangeArrowheads="1"/>
            </p:cNvSpPr>
            <p:nvPr/>
          </p:nvSpPr>
          <p:spPr bwMode="auto">
            <a:xfrm>
              <a:off x="4137854" y="1696641"/>
              <a:ext cx="245702" cy="278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1600">
                  <a:latin typeface="Arial Rounded MT Bold" panose="020F0704030504030204" pitchFamily="34" charset="0"/>
                </a:rPr>
                <a:t>0</a:t>
              </a:r>
            </a:p>
          </p:txBody>
        </p:sp>
        <p:sp>
          <p:nvSpPr>
            <p:cNvPr id="135" name="Rectangle 21">
              <a:extLst>
                <a:ext uri="{FF2B5EF4-FFF2-40B4-BE49-F238E27FC236}">
                  <a16:creationId xmlns:a16="http://schemas.microsoft.com/office/drawing/2014/main" id="{3DADCA58-C66E-15C4-5F3D-50413A0AAA56}"/>
                </a:ext>
              </a:extLst>
            </p:cNvPr>
            <p:cNvSpPr>
              <a:spLocks noChangeArrowheads="1"/>
            </p:cNvSpPr>
            <p:nvPr/>
          </p:nvSpPr>
          <p:spPr bwMode="auto">
            <a:xfrm>
              <a:off x="5319877" y="1696641"/>
              <a:ext cx="245702" cy="278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1600">
                  <a:latin typeface="Arial Rounded MT Bold" panose="020F0704030504030204" pitchFamily="34" charset="0"/>
                </a:rPr>
                <a:t>0</a:t>
              </a:r>
            </a:p>
          </p:txBody>
        </p:sp>
        <p:sp>
          <p:nvSpPr>
            <p:cNvPr id="136" name="Rectangle 22">
              <a:extLst>
                <a:ext uri="{FF2B5EF4-FFF2-40B4-BE49-F238E27FC236}">
                  <a16:creationId xmlns:a16="http://schemas.microsoft.com/office/drawing/2014/main" id="{6EE3D308-6BD1-E455-87B0-AC5B890F29BE}"/>
                </a:ext>
              </a:extLst>
            </p:cNvPr>
            <p:cNvSpPr>
              <a:spLocks noChangeArrowheads="1"/>
            </p:cNvSpPr>
            <p:nvPr/>
          </p:nvSpPr>
          <p:spPr bwMode="auto">
            <a:xfrm>
              <a:off x="5897607" y="1696641"/>
              <a:ext cx="245701" cy="278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1600">
                  <a:latin typeface="Arial Rounded MT Bold" panose="020F0704030504030204" pitchFamily="34" charset="0"/>
                </a:rPr>
                <a:t>0</a:t>
              </a:r>
            </a:p>
          </p:txBody>
        </p:sp>
        <p:grpSp>
          <p:nvGrpSpPr>
            <p:cNvPr id="137" name="Group 23">
              <a:extLst>
                <a:ext uri="{FF2B5EF4-FFF2-40B4-BE49-F238E27FC236}">
                  <a16:creationId xmlns:a16="http://schemas.microsoft.com/office/drawing/2014/main" id="{0DF813A2-3742-F97E-09F7-CD7A2473B14C}"/>
                </a:ext>
              </a:extLst>
            </p:cNvPr>
            <p:cNvGrpSpPr>
              <a:grpSpLocks/>
            </p:cNvGrpSpPr>
            <p:nvPr/>
          </p:nvGrpSpPr>
          <p:grpSpPr bwMode="auto">
            <a:xfrm>
              <a:off x="2173572" y="2088373"/>
              <a:ext cx="5859645" cy="325338"/>
              <a:chOff x="832" y="286"/>
              <a:chExt cx="4728" cy="965"/>
            </a:xfrm>
          </p:grpSpPr>
          <p:sp>
            <p:nvSpPr>
              <p:cNvPr id="138" name="Freeform 24">
                <a:extLst>
                  <a:ext uri="{FF2B5EF4-FFF2-40B4-BE49-F238E27FC236}">
                    <a16:creationId xmlns:a16="http://schemas.microsoft.com/office/drawing/2014/main" id="{9EA384A8-8346-29D3-7243-0918799BE4D1}"/>
                  </a:ext>
                </a:extLst>
              </p:cNvPr>
              <p:cNvSpPr>
                <a:spLocks/>
              </p:cNvSpPr>
              <p:nvPr/>
            </p:nvSpPr>
            <p:spPr bwMode="auto">
              <a:xfrm>
                <a:off x="832" y="298"/>
                <a:ext cx="4728" cy="953"/>
              </a:xfrm>
              <a:custGeom>
                <a:avLst/>
                <a:gdLst>
                  <a:gd name="T0" fmla="*/ 0 w 4728"/>
                  <a:gd name="T1" fmla="*/ 0 h 953"/>
                  <a:gd name="T2" fmla="*/ 486 w 4728"/>
                  <a:gd name="T3" fmla="*/ 0 h 953"/>
                  <a:gd name="T4" fmla="*/ 486 w 4728"/>
                  <a:gd name="T5" fmla="*/ 952 h 953"/>
                  <a:gd name="T6" fmla="*/ 1924 w 4728"/>
                  <a:gd name="T7" fmla="*/ 952 h 953"/>
                  <a:gd name="T8" fmla="*/ 1924 w 4728"/>
                  <a:gd name="T9" fmla="*/ 0 h 953"/>
                  <a:gd name="T10" fmla="*/ 2410 w 4728"/>
                  <a:gd name="T11" fmla="*/ 0 h 953"/>
                  <a:gd name="T12" fmla="*/ 2410 w 4728"/>
                  <a:gd name="T13" fmla="*/ 952 h 953"/>
                  <a:gd name="T14" fmla="*/ 3372 w 4728"/>
                  <a:gd name="T15" fmla="*/ 952 h 953"/>
                  <a:gd name="T16" fmla="*/ 3372 w 4728"/>
                  <a:gd name="T17" fmla="*/ 0 h 953"/>
                  <a:gd name="T18" fmla="*/ 4727 w 4728"/>
                  <a:gd name="T19" fmla="*/ 0 h 9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28" h="953">
                    <a:moveTo>
                      <a:pt x="0" y="0"/>
                    </a:moveTo>
                    <a:lnTo>
                      <a:pt x="486" y="0"/>
                    </a:lnTo>
                    <a:lnTo>
                      <a:pt x="486" y="952"/>
                    </a:lnTo>
                    <a:lnTo>
                      <a:pt x="1924" y="952"/>
                    </a:lnTo>
                    <a:lnTo>
                      <a:pt x="1924" y="0"/>
                    </a:lnTo>
                    <a:lnTo>
                      <a:pt x="2410" y="0"/>
                    </a:lnTo>
                    <a:lnTo>
                      <a:pt x="2410" y="952"/>
                    </a:lnTo>
                    <a:lnTo>
                      <a:pt x="3372" y="952"/>
                    </a:lnTo>
                    <a:lnTo>
                      <a:pt x="3372" y="0"/>
                    </a:lnTo>
                    <a:lnTo>
                      <a:pt x="4727" y="0"/>
                    </a:lnTo>
                  </a:path>
                </a:pathLst>
              </a:custGeom>
              <a:noFill/>
              <a:ln w="952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9" name="Line 25">
                <a:extLst>
                  <a:ext uri="{FF2B5EF4-FFF2-40B4-BE49-F238E27FC236}">
                    <a16:creationId xmlns:a16="http://schemas.microsoft.com/office/drawing/2014/main" id="{98BCD141-9260-EF7B-9C4E-8B3C560DAF9A}"/>
                  </a:ext>
                </a:extLst>
              </p:cNvPr>
              <p:cNvSpPr>
                <a:spLocks noChangeShapeType="1"/>
              </p:cNvSpPr>
              <p:nvPr/>
            </p:nvSpPr>
            <p:spPr bwMode="auto">
              <a:xfrm flipV="1">
                <a:off x="3721" y="1152"/>
                <a:ext cx="0" cy="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0" name="Line 26">
                <a:extLst>
                  <a:ext uri="{FF2B5EF4-FFF2-40B4-BE49-F238E27FC236}">
                    <a16:creationId xmlns:a16="http://schemas.microsoft.com/office/drawing/2014/main" id="{AA47E304-4C1B-231F-C9A9-FD0193E71671}"/>
                  </a:ext>
                </a:extLst>
              </p:cNvPr>
              <p:cNvSpPr>
                <a:spLocks noChangeShapeType="1"/>
              </p:cNvSpPr>
              <p:nvPr/>
            </p:nvSpPr>
            <p:spPr bwMode="auto">
              <a:xfrm flipV="1">
                <a:off x="4676" y="286"/>
                <a:ext cx="0" cy="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 name="Line 27">
                <a:extLst>
                  <a:ext uri="{FF2B5EF4-FFF2-40B4-BE49-F238E27FC236}">
                    <a16:creationId xmlns:a16="http://schemas.microsoft.com/office/drawing/2014/main" id="{674AD108-6226-1377-103C-0D872345C402}"/>
                  </a:ext>
                </a:extLst>
              </p:cNvPr>
              <p:cNvSpPr>
                <a:spLocks noChangeShapeType="1"/>
              </p:cNvSpPr>
              <p:nvPr/>
            </p:nvSpPr>
            <p:spPr bwMode="auto">
              <a:xfrm flipV="1">
                <a:off x="5155" y="299"/>
                <a:ext cx="0" cy="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 name="Line 28">
                <a:extLst>
                  <a:ext uri="{FF2B5EF4-FFF2-40B4-BE49-F238E27FC236}">
                    <a16:creationId xmlns:a16="http://schemas.microsoft.com/office/drawing/2014/main" id="{02735E02-323A-7B51-30C1-BAADDCACFAF8}"/>
                  </a:ext>
                </a:extLst>
              </p:cNvPr>
              <p:cNvSpPr>
                <a:spLocks noChangeShapeType="1"/>
              </p:cNvSpPr>
              <p:nvPr/>
            </p:nvSpPr>
            <p:spPr bwMode="auto">
              <a:xfrm flipV="1">
                <a:off x="2282" y="1150"/>
                <a:ext cx="0" cy="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 name="Line 29">
                <a:extLst>
                  <a:ext uri="{FF2B5EF4-FFF2-40B4-BE49-F238E27FC236}">
                    <a16:creationId xmlns:a16="http://schemas.microsoft.com/office/drawing/2014/main" id="{D660FBC8-0D2D-69CD-AAB3-F5BF52D4A65D}"/>
                  </a:ext>
                </a:extLst>
              </p:cNvPr>
              <p:cNvSpPr>
                <a:spLocks noChangeShapeType="1"/>
              </p:cNvSpPr>
              <p:nvPr/>
            </p:nvSpPr>
            <p:spPr bwMode="auto">
              <a:xfrm flipV="1">
                <a:off x="1796" y="1151"/>
                <a:ext cx="0" cy="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44" name="Freeform 30">
              <a:extLst>
                <a:ext uri="{FF2B5EF4-FFF2-40B4-BE49-F238E27FC236}">
                  <a16:creationId xmlns:a16="http://schemas.microsoft.com/office/drawing/2014/main" id="{6249110E-8891-F054-C5DF-4BF605D599DB}"/>
                </a:ext>
              </a:extLst>
            </p:cNvPr>
            <p:cNvSpPr>
              <a:spLocks/>
            </p:cNvSpPr>
            <p:nvPr/>
          </p:nvSpPr>
          <p:spPr bwMode="auto">
            <a:xfrm>
              <a:off x="2174900" y="3108207"/>
              <a:ext cx="5845036" cy="318698"/>
            </a:xfrm>
            <a:custGeom>
              <a:avLst/>
              <a:gdLst>
                <a:gd name="T0" fmla="*/ 0 w 4401"/>
                <a:gd name="T1" fmla="*/ 0 h 245"/>
                <a:gd name="T2" fmla="*/ 222 w 4401"/>
                <a:gd name="T3" fmla="*/ 0 h 245"/>
                <a:gd name="T4" fmla="*/ 222 w 4401"/>
                <a:gd name="T5" fmla="*/ 245 h 245"/>
                <a:gd name="T6" fmla="*/ 676 w 4401"/>
                <a:gd name="T7" fmla="*/ 245 h 245"/>
                <a:gd name="T8" fmla="*/ 676 w 4401"/>
                <a:gd name="T9" fmla="*/ 0 h 245"/>
                <a:gd name="T10" fmla="*/ 898 w 4401"/>
                <a:gd name="T11" fmla="*/ 0 h 245"/>
                <a:gd name="T12" fmla="*/ 898 w 4401"/>
                <a:gd name="T13" fmla="*/ 245 h 245"/>
                <a:gd name="T14" fmla="*/ 1129 w 4401"/>
                <a:gd name="T15" fmla="*/ 245 h 245"/>
                <a:gd name="T16" fmla="*/ 1129 w 4401"/>
                <a:gd name="T17" fmla="*/ 0 h 245"/>
                <a:gd name="T18" fmla="*/ 1351 w 4401"/>
                <a:gd name="T19" fmla="*/ 0 h 245"/>
                <a:gd name="T20" fmla="*/ 1351 w 4401"/>
                <a:gd name="T21" fmla="*/ 245 h 245"/>
                <a:gd name="T22" fmla="*/ 1573 w 4401"/>
                <a:gd name="T23" fmla="*/ 245 h 245"/>
                <a:gd name="T24" fmla="*/ 1573 w 4401"/>
                <a:gd name="T25" fmla="*/ 0 h 245"/>
                <a:gd name="T26" fmla="*/ 2027 w 4401"/>
                <a:gd name="T27" fmla="*/ 0 h 245"/>
                <a:gd name="T28" fmla="*/ 2027 w 4401"/>
                <a:gd name="T29" fmla="*/ 245 h 245"/>
                <a:gd name="T30" fmla="*/ 2471 w 4401"/>
                <a:gd name="T31" fmla="*/ 245 h 245"/>
                <a:gd name="T32" fmla="*/ 2471 w 4401"/>
                <a:gd name="T33" fmla="*/ 3 h 245"/>
                <a:gd name="T34" fmla="*/ 2693 w 4401"/>
                <a:gd name="T35" fmla="*/ 0 h 245"/>
                <a:gd name="T36" fmla="*/ 2693 w 4401"/>
                <a:gd name="T37" fmla="*/ 245 h 245"/>
                <a:gd name="T38" fmla="*/ 2915 w 4401"/>
                <a:gd name="T39" fmla="*/ 245 h 245"/>
                <a:gd name="T40" fmla="*/ 2915 w 4401"/>
                <a:gd name="T41" fmla="*/ 0 h 245"/>
                <a:gd name="T42" fmla="*/ 3368 w 4401"/>
                <a:gd name="T43" fmla="*/ 0 h 245"/>
                <a:gd name="T44" fmla="*/ 3368 w 4401"/>
                <a:gd name="T45" fmla="*/ 245 h 245"/>
                <a:gd name="T46" fmla="*/ 3590 w 4401"/>
                <a:gd name="T47" fmla="*/ 245 h 245"/>
                <a:gd name="T48" fmla="*/ 3590 w 4401"/>
                <a:gd name="T49" fmla="*/ 0 h 245"/>
                <a:gd name="T50" fmla="*/ 3812 w 4401"/>
                <a:gd name="T51" fmla="*/ 0 h 245"/>
                <a:gd name="T52" fmla="*/ 3812 w 4401"/>
                <a:gd name="T53" fmla="*/ 245 h 245"/>
                <a:gd name="T54" fmla="*/ 4034 w 4401"/>
                <a:gd name="T55" fmla="*/ 245 h 245"/>
                <a:gd name="T56" fmla="*/ 4034 w 4401"/>
                <a:gd name="T57" fmla="*/ 0 h 245"/>
                <a:gd name="T58" fmla="*/ 4256 w 4401"/>
                <a:gd name="T59" fmla="*/ 0 h 245"/>
                <a:gd name="T60" fmla="*/ 4256 w 4401"/>
                <a:gd name="T61" fmla="*/ 245 h 245"/>
                <a:gd name="T62" fmla="*/ 4401 w 4401"/>
                <a:gd name="T63" fmla="*/ 245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401" h="245">
                  <a:moveTo>
                    <a:pt x="0" y="0"/>
                  </a:moveTo>
                  <a:lnTo>
                    <a:pt x="222" y="0"/>
                  </a:lnTo>
                  <a:lnTo>
                    <a:pt x="222" y="245"/>
                  </a:lnTo>
                  <a:lnTo>
                    <a:pt x="676" y="245"/>
                  </a:lnTo>
                  <a:lnTo>
                    <a:pt x="676" y="0"/>
                  </a:lnTo>
                  <a:lnTo>
                    <a:pt x="898" y="0"/>
                  </a:lnTo>
                  <a:lnTo>
                    <a:pt x="898" y="245"/>
                  </a:lnTo>
                  <a:lnTo>
                    <a:pt x="1129" y="245"/>
                  </a:lnTo>
                  <a:lnTo>
                    <a:pt x="1129" y="0"/>
                  </a:lnTo>
                  <a:lnTo>
                    <a:pt x="1351" y="0"/>
                  </a:lnTo>
                  <a:lnTo>
                    <a:pt x="1351" y="245"/>
                  </a:lnTo>
                  <a:lnTo>
                    <a:pt x="1573" y="245"/>
                  </a:lnTo>
                  <a:lnTo>
                    <a:pt x="1573" y="0"/>
                  </a:lnTo>
                  <a:lnTo>
                    <a:pt x="2027" y="0"/>
                  </a:lnTo>
                  <a:lnTo>
                    <a:pt x="2027" y="245"/>
                  </a:lnTo>
                  <a:lnTo>
                    <a:pt x="2471" y="245"/>
                  </a:lnTo>
                  <a:lnTo>
                    <a:pt x="2471" y="3"/>
                  </a:lnTo>
                  <a:lnTo>
                    <a:pt x="2693" y="0"/>
                  </a:lnTo>
                  <a:lnTo>
                    <a:pt x="2693" y="245"/>
                  </a:lnTo>
                  <a:lnTo>
                    <a:pt x="2915" y="245"/>
                  </a:lnTo>
                  <a:lnTo>
                    <a:pt x="2915" y="0"/>
                  </a:lnTo>
                  <a:lnTo>
                    <a:pt x="3368" y="0"/>
                  </a:lnTo>
                  <a:lnTo>
                    <a:pt x="3368" y="245"/>
                  </a:lnTo>
                  <a:lnTo>
                    <a:pt x="3590" y="245"/>
                  </a:lnTo>
                  <a:lnTo>
                    <a:pt x="3590" y="0"/>
                  </a:lnTo>
                  <a:lnTo>
                    <a:pt x="3812" y="0"/>
                  </a:lnTo>
                  <a:lnTo>
                    <a:pt x="3812" y="245"/>
                  </a:lnTo>
                  <a:lnTo>
                    <a:pt x="4034" y="245"/>
                  </a:lnTo>
                  <a:lnTo>
                    <a:pt x="4034" y="0"/>
                  </a:lnTo>
                  <a:lnTo>
                    <a:pt x="4256" y="0"/>
                  </a:lnTo>
                  <a:lnTo>
                    <a:pt x="4256" y="245"/>
                  </a:lnTo>
                  <a:lnTo>
                    <a:pt x="4401" y="245"/>
                  </a:lnTo>
                </a:path>
              </a:pathLst>
            </a:custGeom>
            <a:noFill/>
            <a:ln w="952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5" name="Line 32">
              <a:extLst>
                <a:ext uri="{FF2B5EF4-FFF2-40B4-BE49-F238E27FC236}">
                  <a16:creationId xmlns:a16="http://schemas.microsoft.com/office/drawing/2014/main" id="{E3DDA811-F29A-A39F-BC85-FFCF655AD743}"/>
                </a:ext>
              </a:extLst>
            </p:cNvPr>
            <p:cNvSpPr>
              <a:spLocks noChangeShapeType="1"/>
            </p:cNvSpPr>
            <p:nvPr/>
          </p:nvSpPr>
          <p:spPr bwMode="auto">
            <a:xfrm flipH="1" flipV="1">
              <a:off x="2190837" y="1675394"/>
              <a:ext cx="2656" cy="2261428"/>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 name="Line 33">
              <a:extLst>
                <a:ext uri="{FF2B5EF4-FFF2-40B4-BE49-F238E27FC236}">
                  <a16:creationId xmlns:a16="http://schemas.microsoft.com/office/drawing/2014/main" id="{6066175F-0EE2-7663-3BF7-72106861C6F6}"/>
                </a:ext>
              </a:extLst>
            </p:cNvPr>
            <p:cNvSpPr>
              <a:spLocks noChangeShapeType="1"/>
            </p:cNvSpPr>
            <p:nvPr/>
          </p:nvSpPr>
          <p:spPr bwMode="auto">
            <a:xfrm flipV="1">
              <a:off x="2779192" y="1664771"/>
              <a:ext cx="0" cy="2272051"/>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7" name="Line 34">
              <a:extLst>
                <a:ext uri="{FF2B5EF4-FFF2-40B4-BE49-F238E27FC236}">
                  <a16:creationId xmlns:a16="http://schemas.microsoft.com/office/drawing/2014/main" id="{9A8E9C44-2A3F-BF6A-2135-7EDE8C44D1E5}"/>
                </a:ext>
              </a:extLst>
            </p:cNvPr>
            <p:cNvSpPr>
              <a:spLocks noChangeShapeType="1"/>
            </p:cNvSpPr>
            <p:nvPr/>
          </p:nvSpPr>
          <p:spPr bwMode="auto">
            <a:xfrm flipV="1">
              <a:off x="3366219" y="1675394"/>
              <a:ext cx="0" cy="2261428"/>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 name="Line 35">
              <a:extLst>
                <a:ext uri="{FF2B5EF4-FFF2-40B4-BE49-F238E27FC236}">
                  <a16:creationId xmlns:a16="http://schemas.microsoft.com/office/drawing/2014/main" id="{DFDCC525-B1A8-3AAC-5CB2-A3AEB3706179}"/>
                </a:ext>
              </a:extLst>
            </p:cNvPr>
            <p:cNvSpPr>
              <a:spLocks noChangeShapeType="1"/>
            </p:cNvSpPr>
            <p:nvPr/>
          </p:nvSpPr>
          <p:spPr bwMode="auto">
            <a:xfrm flipH="1" flipV="1">
              <a:off x="3959887" y="1642196"/>
              <a:ext cx="0" cy="2294626"/>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 name="Line 36">
              <a:extLst>
                <a:ext uri="{FF2B5EF4-FFF2-40B4-BE49-F238E27FC236}">
                  <a16:creationId xmlns:a16="http://schemas.microsoft.com/office/drawing/2014/main" id="{AA48B12C-98AC-B49E-4563-0FF8ABD83D05}"/>
                </a:ext>
              </a:extLst>
            </p:cNvPr>
            <p:cNvSpPr>
              <a:spLocks noChangeShapeType="1"/>
            </p:cNvSpPr>
            <p:nvPr/>
          </p:nvSpPr>
          <p:spPr bwMode="auto">
            <a:xfrm flipV="1">
              <a:off x="4558867" y="1675394"/>
              <a:ext cx="0" cy="2261428"/>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0" name="Line 37">
              <a:extLst>
                <a:ext uri="{FF2B5EF4-FFF2-40B4-BE49-F238E27FC236}">
                  <a16:creationId xmlns:a16="http://schemas.microsoft.com/office/drawing/2014/main" id="{F65ABC61-7A71-843B-A660-F134E3F6F6AC}"/>
                </a:ext>
              </a:extLst>
            </p:cNvPr>
            <p:cNvSpPr>
              <a:spLocks noChangeShapeType="1"/>
            </p:cNvSpPr>
            <p:nvPr/>
          </p:nvSpPr>
          <p:spPr bwMode="auto">
            <a:xfrm flipV="1">
              <a:off x="5161831" y="1675394"/>
              <a:ext cx="0" cy="2261428"/>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 name="Line 38">
              <a:extLst>
                <a:ext uri="{FF2B5EF4-FFF2-40B4-BE49-F238E27FC236}">
                  <a16:creationId xmlns:a16="http://schemas.microsoft.com/office/drawing/2014/main" id="{3556AD09-2D27-0AAE-9E99-14C830B3D606}"/>
                </a:ext>
              </a:extLst>
            </p:cNvPr>
            <p:cNvSpPr>
              <a:spLocks noChangeShapeType="1"/>
            </p:cNvSpPr>
            <p:nvPr/>
          </p:nvSpPr>
          <p:spPr bwMode="auto">
            <a:xfrm flipV="1">
              <a:off x="5752842" y="1675394"/>
              <a:ext cx="0" cy="2261428"/>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2" name="Line 39">
              <a:extLst>
                <a:ext uri="{FF2B5EF4-FFF2-40B4-BE49-F238E27FC236}">
                  <a16:creationId xmlns:a16="http://schemas.microsoft.com/office/drawing/2014/main" id="{EB5791AE-A3A6-F829-576B-ED807FDB2A59}"/>
                </a:ext>
              </a:extLst>
            </p:cNvPr>
            <p:cNvSpPr>
              <a:spLocks noChangeShapeType="1"/>
            </p:cNvSpPr>
            <p:nvPr/>
          </p:nvSpPr>
          <p:spPr bwMode="auto">
            <a:xfrm flipV="1">
              <a:off x="6347838" y="1675394"/>
              <a:ext cx="0" cy="2261428"/>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 name="Line 40">
              <a:extLst>
                <a:ext uri="{FF2B5EF4-FFF2-40B4-BE49-F238E27FC236}">
                  <a16:creationId xmlns:a16="http://schemas.microsoft.com/office/drawing/2014/main" id="{0DF9A03F-B7C0-5BC0-E1B7-ED27761E4E0C}"/>
                </a:ext>
              </a:extLst>
            </p:cNvPr>
            <p:cNvSpPr>
              <a:spLocks noChangeShapeType="1"/>
            </p:cNvSpPr>
            <p:nvPr/>
          </p:nvSpPr>
          <p:spPr bwMode="auto">
            <a:xfrm flipH="1" flipV="1">
              <a:off x="6938850" y="1675394"/>
              <a:ext cx="1328" cy="2261428"/>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 name="Line 41">
              <a:extLst>
                <a:ext uri="{FF2B5EF4-FFF2-40B4-BE49-F238E27FC236}">
                  <a16:creationId xmlns:a16="http://schemas.microsoft.com/office/drawing/2014/main" id="{907B11F8-1CAA-B377-99B8-8CEC5E8E013E}"/>
                </a:ext>
              </a:extLst>
            </p:cNvPr>
            <p:cNvSpPr>
              <a:spLocks noChangeShapeType="1"/>
            </p:cNvSpPr>
            <p:nvPr/>
          </p:nvSpPr>
          <p:spPr bwMode="auto">
            <a:xfrm flipV="1">
              <a:off x="7520564" y="1676722"/>
              <a:ext cx="11953" cy="22601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 name="Rectangle 42">
              <a:extLst>
                <a:ext uri="{FF2B5EF4-FFF2-40B4-BE49-F238E27FC236}">
                  <a16:creationId xmlns:a16="http://schemas.microsoft.com/office/drawing/2014/main" id="{F9DE240D-558E-237E-9F7A-0877E8D145FC}"/>
                </a:ext>
              </a:extLst>
            </p:cNvPr>
            <p:cNvSpPr>
              <a:spLocks noChangeArrowheads="1"/>
            </p:cNvSpPr>
            <p:nvPr/>
          </p:nvSpPr>
          <p:spPr bwMode="auto">
            <a:xfrm>
              <a:off x="1321130" y="1703280"/>
              <a:ext cx="859211"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1600" b="1" dirty="0">
                  <a:latin typeface="微软雅黑" panose="020B0503020204020204" pitchFamily="34" charset="-122"/>
                  <a:ea typeface="微软雅黑" panose="020B0503020204020204" pitchFamily="34" charset="-122"/>
                </a:rPr>
                <a:t> </a:t>
              </a:r>
              <a:r>
                <a:rPr kumimoji="1" lang="zh-CN" altLang="en-US" sz="1600" b="1" dirty="0">
                  <a:latin typeface="微软雅黑" panose="020B0503020204020204" pitchFamily="34" charset="-122"/>
                  <a:ea typeface="微软雅黑" panose="020B0503020204020204" pitchFamily="34" charset="-122"/>
                </a:rPr>
                <a:t>比特流</a:t>
              </a:r>
            </a:p>
          </p:txBody>
        </p:sp>
        <p:grpSp>
          <p:nvGrpSpPr>
            <p:cNvPr id="156" name="Group 66">
              <a:extLst>
                <a:ext uri="{FF2B5EF4-FFF2-40B4-BE49-F238E27FC236}">
                  <a16:creationId xmlns:a16="http://schemas.microsoft.com/office/drawing/2014/main" id="{97B630D3-C11D-A089-4940-C0416C7FD910}"/>
                </a:ext>
              </a:extLst>
            </p:cNvPr>
            <p:cNvGrpSpPr>
              <a:grpSpLocks/>
            </p:cNvGrpSpPr>
            <p:nvPr/>
          </p:nvGrpSpPr>
          <p:grpSpPr bwMode="auto">
            <a:xfrm>
              <a:off x="2174900" y="2591651"/>
              <a:ext cx="5936675" cy="325337"/>
              <a:chOff x="1260" y="3138"/>
              <a:chExt cx="4470" cy="192"/>
            </a:xfrm>
          </p:grpSpPr>
          <p:sp>
            <p:nvSpPr>
              <p:cNvPr id="157" name="Freeform 46">
                <a:extLst>
                  <a:ext uri="{FF2B5EF4-FFF2-40B4-BE49-F238E27FC236}">
                    <a16:creationId xmlns:a16="http://schemas.microsoft.com/office/drawing/2014/main" id="{03394A62-2093-2454-7C8C-9160DE2AB6B0}"/>
                  </a:ext>
                </a:extLst>
              </p:cNvPr>
              <p:cNvSpPr>
                <a:spLocks/>
              </p:cNvSpPr>
              <p:nvPr/>
            </p:nvSpPr>
            <p:spPr bwMode="auto">
              <a:xfrm>
                <a:off x="1260" y="3138"/>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8" name="Freeform 47">
                <a:extLst>
                  <a:ext uri="{FF2B5EF4-FFF2-40B4-BE49-F238E27FC236}">
                    <a16:creationId xmlns:a16="http://schemas.microsoft.com/office/drawing/2014/main" id="{322456FE-4DFB-3ACF-DEA0-A4A7F0E2FDD8}"/>
                  </a:ext>
                </a:extLst>
              </p:cNvPr>
              <p:cNvSpPr>
                <a:spLocks/>
              </p:cNvSpPr>
              <p:nvPr/>
            </p:nvSpPr>
            <p:spPr bwMode="auto">
              <a:xfrm>
                <a:off x="3036" y="3138"/>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9" name="Freeform 48">
                <a:extLst>
                  <a:ext uri="{FF2B5EF4-FFF2-40B4-BE49-F238E27FC236}">
                    <a16:creationId xmlns:a16="http://schemas.microsoft.com/office/drawing/2014/main" id="{DE88D737-6340-2350-89CF-7530D6450CB4}"/>
                  </a:ext>
                </a:extLst>
              </p:cNvPr>
              <p:cNvSpPr>
                <a:spLocks/>
              </p:cNvSpPr>
              <p:nvPr/>
            </p:nvSpPr>
            <p:spPr bwMode="auto">
              <a:xfrm>
                <a:off x="4386" y="3138"/>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0" name="Freeform 49">
                <a:extLst>
                  <a:ext uri="{FF2B5EF4-FFF2-40B4-BE49-F238E27FC236}">
                    <a16:creationId xmlns:a16="http://schemas.microsoft.com/office/drawing/2014/main" id="{B0DCEDEB-AB7F-44E9-6A77-419717AD886F}"/>
                  </a:ext>
                </a:extLst>
              </p:cNvPr>
              <p:cNvSpPr>
                <a:spLocks/>
              </p:cNvSpPr>
              <p:nvPr/>
            </p:nvSpPr>
            <p:spPr bwMode="auto">
              <a:xfrm>
                <a:off x="4830" y="3138"/>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1" name="Freeform 50">
                <a:extLst>
                  <a:ext uri="{FF2B5EF4-FFF2-40B4-BE49-F238E27FC236}">
                    <a16:creationId xmlns:a16="http://schemas.microsoft.com/office/drawing/2014/main" id="{9506A0ED-970A-8FEC-DFEE-C5A7553AA0E9}"/>
                  </a:ext>
                </a:extLst>
              </p:cNvPr>
              <p:cNvSpPr>
                <a:spLocks/>
              </p:cNvSpPr>
              <p:nvPr/>
            </p:nvSpPr>
            <p:spPr bwMode="auto">
              <a:xfrm>
                <a:off x="5250" y="3138"/>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2" name="Freeform 51">
                <a:extLst>
                  <a:ext uri="{FF2B5EF4-FFF2-40B4-BE49-F238E27FC236}">
                    <a16:creationId xmlns:a16="http://schemas.microsoft.com/office/drawing/2014/main" id="{EFDAB8A9-7093-A2CE-6C44-5E8688214982}"/>
                  </a:ext>
                </a:extLst>
              </p:cNvPr>
              <p:cNvSpPr>
                <a:spLocks/>
              </p:cNvSpPr>
              <p:nvPr/>
            </p:nvSpPr>
            <p:spPr bwMode="auto">
              <a:xfrm flipV="1">
                <a:off x="1692" y="3234"/>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 name="Freeform 52">
                <a:extLst>
                  <a:ext uri="{FF2B5EF4-FFF2-40B4-BE49-F238E27FC236}">
                    <a16:creationId xmlns:a16="http://schemas.microsoft.com/office/drawing/2014/main" id="{BE07E61A-9905-33B0-5737-427492FC0D5D}"/>
                  </a:ext>
                </a:extLst>
              </p:cNvPr>
              <p:cNvSpPr>
                <a:spLocks/>
              </p:cNvSpPr>
              <p:nvPr/>
            </p:nvSpPr>
            <p:spPr bwMode="auto">
              <a:xfrm flipV="1">
                <a:off x="2130" y="3234"/>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 name="Freeform 53">
                <a:extLst>
                  <a:ext uri="{FF2B5EF4-FFF2-40B4-BE49-F238E27FC236}">
                    <a16:creationId xmlns:a16="http://schemas.microsoft.com/office/drawing/2014/main" id="{87D38691-8151-74E5-77B1-7340A7E40245}"/>
                  </a:ext>
                </a:extLst>
              </p:cNvPr>
              <p:cNvSpPr>
                <a:spLocks/>
              </p:cNvSpPr>
              <p:nvPr/>
            </p:nvSpPr>
            <p:spPr bwMode="auto">
              <a:xfrm flipV="1">
                <a:off x="2592" y="3234"/>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5" name="Freeform 54">
                <a:extLst>
                  <a:ext uri="{FF2B5EF4-FFF2-40B4-BE49-F238E27FC236}">
                    <a16:creationId xmlns:a16="http://schemas.microsoft.com/office/drawing/2014/main" id="{3CCA35E3-6129-F234-B6BE-CEDE0BF1261A}"/>
                  </a:ext>
                </a:extLst>
              </p:cNvPr>
              <p:cNvSpPr>
                <a:spLocks/>
              </p:cNvSpPr>
              <p:nvPr/>
            </p:nvSpPr>
            <p:spPr bwMode="auto">
              <a:xfrm flipV="1">
                <a:off x="3486" y="3234"/>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6" name="Freeform 55">
                <a:extLst>
                  <a:ext uri="{FF2B5EF4-FFF2-40B4-BE49-F238E27FC236}">
                    <a16:creationId xmlns:a16="http://schemas.microsoft.com/office/drawing/2014/main" id="{C35D2E55-FE2F-F2CC-B93A-4B6040C6B1E7}"/>
                  </a:ext>
                </a:extLst>
              </p:cNvPr>
              <p:cNvSpPr>
                <a:spLocks/>
              </p:cNvSpPr>
              <p:nvPr/>
            </p:nvSpPr>
            <p:spPr bwMode="auto">
              <a:xfrm flipV="1">
                <a:off x="3936" y="3234"/>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67" name="Group 65">
              <a:extLst>
                <a:ext uri="{FF2B5EF4-FFF2-40B4-BE49-F238E27FC236}">
                  <a16:creationId xmlns:a16="http://schemas.microsoft.com/office/drawing/2014/main" id="{63E19F1B-4D51-0956-49F3-13CF954DED66}"/>
                </a:ext>
              </a:extLst>
            </p:cNvPr>
            <p:cNvGrpSpPr>
              <a:grpSpLocks/>
            </p:cNvGrpSpPr>
            <p:nvPr/>
          </p:nvGrpSpPr>
          <p:grpSpPr bwMode="auto">
            <a:xfrm>
              <a:off x="2182868" y="3594222"/>
              <a:ext cx="5924723" cy="318698"/>
              <a:chOff x="1264" y="2804"/>
              <a:chExt cx="4461" cy="258"/>
            </a:xfrm>
          </p:grpSpPr>
          <p:sp>
            <p:nvSpPr>
              <p:cNvPr id="168" name="Freeform 63">
                <a:extLst>
                  <a:ext uri="{FF2B5EF4-FFF2-40B4-BE49-F238E27FC236}">
                    <a16:creationId xmlns:a16="http://schemas.microsoft.com/office/drawing/2014/main" id="{CA4FF8C3-D637-B5F4-1742-0B39B53A4870}"/>
                  </a:ext>
                </a:extLst>
              </p:cNvPr>
              <p:cNvSpPr>
                <a:spLocks/>
              </p:cNvSpPr>
              <p:nvPr/>
            </p:nvSpPr>
            <p:spPr bwMode="auto">
              <a:xfrm>
                <a:off x="1264" y="2804"/>
                <a:ext cx="2909" cy="258"/>
              </a:xfrm>
              <a:custGeom>
                <a:avLst/>
                <a:gdLst>
                  <a:gd name="T0" fmla="*/ 0 w 2909"/>
                  <a:gd name="T1" fmla="*/ 0 h 258"/>
                  <a:gd name="T2" fmla="*/ 223 w 2909"/>
                  <a:gd name="T3" fmla="*/ 0 h 258"/>
                  <a:gd name="T4" fmla="*/ 223 w 2909"/>
                  <a:gd name="T5" fmla="*/ 258 h 258"/>
                  <a:gd name="T6" fmla="*/ 446 w 2909"/>
                  <a:gd name="T7" fmla="*/ 258 h 258"/>
                  <a:gd name="T8" fmla="*/ 446 w 2909"/>
                  <a:gd name="T9" fmla="*/ 5 h 258"/>
                  <a:gd name="T10" fmla="*/ 681 w 2909"/>
                  <a:gd name="T11" fmla="*/ 5 h 258"/>
                  <a:gd name="T12" fmla="*/ 681 w 2909"/>
                  <a:gd name="T13" fmla="*/ 258 h 258"/>
                  <a:gd name="T14" fmla="*/ 887 w 2909"/>
                  <a:gd name="T15" fmla="*/ 258 h 258"/>
                  <a:gd name="T16" fmla="*/ 887 w 2909"/>
                  <a:gd name="T17" fmla="*/ 0 h 258"/>
                  <a:gd name="T18" fmla="*/ 1111 w 2909"/>
                  <a:gd name="T19" fmla="*/ 0 h 258"/>
                  <a:gd name="T20" fmla="*/ 1111 w 2909"/>
                  <a:gd name="T21" fmla="*/ 258 h 258"/>
                  <a:gd name="T22" fmla="*/ 1340 w 2909"/>
                  <a:gd name="T23" fmla="*/ 258 h 258"/>
                  <a:gd name="T24" fmla="*/ 1340 w 2909"/>
                  <a:gd name="T25" fmla="*/ 0 h 258"/>
                  <a:gd name="T26" fmla="*/ 1563 w 2909"/>
                  <a:gd name="T27" fmla="*/ 0 h 258"/>
                  <a:gd name="T28" fmla="*/ 1563 w 2909"/>
                  <a:gd name="T29" fmla="*/ 258 h 258"/>
                  <a:gd name="T30" fmla="*/ 2010 w 2909"/>
                  <a:gd name="T31" fmla="*/ 258 h 258"/>
                  <a:gd name="T32" fmla="*/ 2010 w 2909"/>
                  <a:gd name="T33" fmla="*/ 0 h 258"/>
                  <a:gd name="T34" fmla="*/ 2245 w 2909"/>
                  <a:gd name="T35" fmla="*/ 0 h 258"/>
                  <a:gd name="T36" fmla="*/ 2245 w 2909"/>
                  <a:gd name="T37" fmla="*/ 258 h 258"/>
                  <a:gd name="T38" fmla="*/ 2462 w 2909"/>
                  <a:gd name="T39" fmla="*/ 258 h 258"/>
                  <a:gd name="T40" fmla="*/ 2462 w 2909"/>
                  <a:gd name="T41" fmla="*/ 0 h 258"/>
                  <a:gd name="T42" fmla="*/ 2686 w 2909"/>
                  <a:gd name="T43" fmla="*/ 0 h 258"/>
                  <a:gd name="T44" fmla="*/ 2686 w 2909"/>
                  <a:gd name="T45" fmla="*/ 258 h 258"/>
                  <a:gd name="T46" fmla="*/ 2909 w 2909"/>
                  <a:gd name="T47" fmla="*/ 258 h 258"/>
                  <a:gd name="T48" fmla="*/ 2909 w 2909"/>
                  <a:gd name="T49" fmla="*/ 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09" h="258">
                    <a:moveTo>
                      <a:pt x="0" y="0"/>
                    </a:moveTo>
                    <a:lnTo>
                      <a:pt x="223" y="0"/>
                    </a:lnTo>
                    <a:lnTo>
                      <a:pt x="223" y="258"/>
                    </a:lnTo>
                    <a:lnTo>
                      <a:pt x="446" y="258"/>
                    </a:lnTo>
                    <a:lnTo>
                      <a:pt x="446" y="5"/>
                    </a:lnTo>
                    <a:lnTo>
                      <a:pt x="681" y="5"/>
                    </a:lnTo>
                    <a:lnTo>
                      <a:pt x="681" y="258"/>
                    </a:lnTo>
                    <a:lnTo>
                      <a:pt x="887" y="258"/>
                    </a:lnTo>
                    <a:lnTo>
                      <a:pt x="887" y="0"/>
                    </a:lnTo>
                    <a:lnTo>
                      <a:pt x="1111" y="0"/>
                    </a:lnTo>
                    <a:lnTo>
                      <a:pt x="1111" y="258"/>
                    </a:lnTo>
                    <a:lnTo>
                      <a:pt x="1340" y="258"/>
                    </a:lnTo>
                    <a:lnTo>
                      <a:pt x="1340" y="0"/>
                    </a:lnTo>
                    <a:lnTo>
                      <a:pt x="1563" y="0"/>
                    </a:lnTo>
                    <a:lnTo>
                      <a:pt x="1563" y="258"/>
                    </a:lnTo>
                    <a:lnTo>
                      <a:pt x="2010" y="258"/>
                    </a:lnTo>
                    <a:lnTo>
                      <a:pt x="2010" y="0"/>
                    </a:lnTo>
                    <a:lnTo>
                      <a:pt x="2245" y="0"/>
                    </a:lnTo>
                    <a:lnTo>
                      <a:pt x="2245" y="258"/>
                    </a:lnTo>
                    <a:lnTo>
                      <a:pt x="2462" y="258"/>
                    </a:lnTo>
                    <a:lnTo>
                      <a:pt x="2462" y="0"/>
                    </a:lnTo>
                    <a:lnTo>
                      <a:pt x="2686" y="0"/>
                    </a:lnTo>
                    <a:lnTo>
                      <a:pt x="2686" y="258"/>
                    </a:lnTo>
                    <a:lnTo>
                      <a:pt x="2909" y="258"/>
                    </a:lnTo>
                    <a:lnTo>
                      <a:pt x="2909" y="0"/>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9" name="Freeform 64">
                <a:extLst>
                  <a:ext uri="{FF2B5EF4-FFF2-40B4-BE49-F238E27FC236}">
                    <a16:creationId xmlns:a16="http://schemas.microsoft.com/office/drawing/2014/main" id="{885FD194-2195-EB90-9EE5-E2C3B8109FEF}"/>
                  </a:ext>
                </a:extLst>
              </p:cNvPr>
              <p:cNvSpPr>
                <a:spLocks/>
              </p:cNvSpPr>
              <p:nvPr/>
            </p:nvSpPr>
            <p:spPr bwMode="auto">
              <a:xfrm>
                <a:off x="4173" y="2804"/>
                <a:ext cx="1552" cy="258"/>
              </a:xfrm>
              <a:custGeom>
                <a:avLst/>
                <a:gdLst>
                  <a:gd name="T0" fmla="*/ 0 w 1552"/>
                  <a:gd name="T1" fmla="*/ 0 h 258"/>
                  <a:gd name="T2" fmla="*/ 453 w 1552"/>
                  <a:gd name="T3" fmla="*/ 0 h 258"/>
                  <a:gd name="T4" fmla="*/ 453 w 1552"/>
                  <a:gd name="T5" fmla="*/ 258 h 258"/>
                  <a:gd name="T6" fmla="*/ 905 w 1552"/>
                  <a:gd name="T7" fmla="*/ 258 h 258"/>
                  <a:gd name="T8" fmla="*/ 905 w 1552"/>
                  <a:gd name="T9" fmla="*/ 0 h 258"/>
                  <a:gd name="T10" fmla="*/ 1329 w 1552"/>
                  <a:gd name="T11" fmla="*/ 0 h 258"/>
                  <a:gd name="T12" fmla="*/ 1329 w 1552"/>
                  <a:gd name="T13" fmla="*/ 258 h 258"/>
                  <a:gd name="T14" fmla="*/ 1552 w 1552"/>
                  <a:gd name="T15" fmla="*/ 258 h 2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52" h="258">
                    <a:moveTo>
                      <a:pt x="0" y="0"/>
                    </a:moveTo>
                    <a:lnTo>
                      <a:pt x="453" y="0"/>
                    </a:lnTo>
                    <a:lnTo>
                      <a:pt x="453" y="258"/>
                    </a:lnTo>
                    <a:lnTo>
                      <a:pt x="905" y="258"/>
                    </a:lnTo>
                    <a:lnTo>
                      <a:pt x="905" y="0"/>
                    </a:lnTo>
                    <a:lnTo>
                      <a:pt x="1329" y="0"/>
                    </a:lnTo>
                    <a:lnTo>
                      <a:pt x="1329" y="258"/>
                    </a:lnTo>
                    <a:lnTo>
                      <a:pt x="1552" y="258"/>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71" name="Rectangle 69">
              <a:extLst>
                <a:ext uri="{FF2B5EF4-FFF2-40B4-BE49-F238E27FC236}">
                  <a16:creationId xmlns:a16="http://schemas.microsoft.com/office/drawing/2014/main" id="{F4911407-682A-5A28-AE20-BB8D79169E0A}"/>
                </a:ext>
              </a:extLst>
            </p:cNvPr>
            <p:cNvSpPr>
              <a:spLocks noChangeArrowheads="1"/>
            </p:cNvSpPr>
            <p:nvPr/>
          </p:nvSpPr>
          <p:spPr bwMode="auto">
            <a:xfrm>
              <a:off x="1138388" y="2598290"/>
              <a:ext cx="1041953"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1600" b="1">
                  <a:latin typeface="微软雅黑" panose="020B0503020204020204" pitchFamily="34" charset="-122"/>
                  <a:ea typeface="微软雅黑" panose="020B0503020204020204" pitchFamily="34" charset="-122"/>
                </a:rPr>
                <a:t>    </a:t>
              </a:r>
              <a:r>
                <a:rPr kumimoji="1" lang="zh-CN" altLang="en-US" sz="1600" b="1">
                  <a:latin typeface="微软雅黑" panose="020B0503020204020204" pitchFamily="34" charset="-122"/>
                  <a:ea typeface="微软雅黑" panose="020B0503020204020204" pitchFamily="34" charset="-122"/>
                </a:rPr>
                <a:t>归零制</a:t>
              </a:r>
            </a:p>
          </p:txBody>
        </p:sp>
      </p:grpSp>
      <p:sp>
        <p:nvSpPr>
          <p:cNvPr id="4" name="文本框 3">
            <a:extLst>
              <a:ext uri="{FF2B5EF4-FFF2-40B4-BE49-F238E27FC236}">
                <a16:creationId xmlns:a16="http://schemas.microsoft.com/office/drawing/2014/main" id="{15625BAD-7698-1D7C-2074-50FAB1474494}"/>
              </a:ext>
            </a:extLst>
          </p:cNvPr>
          <p:cNvSpPr txBox="1"/>
          <p:nvPr/>
        </p:nvSpPr>
        <p:spPr>
          <a:xfrm>
            <a:off x="845156" y="3632746"/>
            <a:ext cx="7888231" cy="893963"/>
          </a:xfrm>
          <a:prstGeom prst="rect">
            <a:avLst/>
          </a:prstGeom>
          <a:noFill/>
        </p:spPr>
        <p:txBody>
          <a:bodyPr wrap="square">
            <a:spAutoFit/>
          </a:bodyPr>
          <a:lstStyle/>
          <a:p>
            <a:pPr marL="285750" marR="0" lvl="0" indent="-285750" algn="l" defTabSz="914400" rtl="0" eaLnBrk="0" fontAlgn="base" latinLnBrk="0" hangingPunct="0">
              <a:lnSpc>
                <a:spcPts val="3300"/>
              </a:lnSpc>
              <a:spcBef>
                <a:spcPts val="0"/>
              </a:spcBef>
              <a:spcAft>
                <a:spcPct val="0"/>
              </a:spcAft>
              <a:buClr>
                <a:srgbClr val="0070C0"/>
              </a:buClr>
              <a:buSzTx/>
              <a:buFont typeface="Wingdings" panose="05000000000000000000" pitchFamily="2" charset="2"/>
              <a:buChar char="l"/>
              <a:tabLst/>
              <a:defRPr/>
            </a:pPr>
            <a:r>
              <a:rPr kumimoji="0" lang="zh-CN" altLang="en-US" b="1" i="0" u="none" strike="noStrike" kern="1200" cap="none" spc="0" normalizeH="0" baseline="0" noProof="0" dirty="0">
                <a:ln>
                  <a:noFill/>
                </a:ln>
                <a:solidFill>
                  <a:srgbClr val="0000FF"/>
                </a:solidFill>
                <a:effectLst/>
                <a:uLnTx/>
                <a:uFillTx/>
                <a:latin typeface="微软雅黑" pitchFamily="34" charset="-122"/>
                <a:ea typeface="微软雅黑" pitchFamily="34" charset="-122"/>
                <a:cs typeface="+mn-cs"/>
              </a:rPr>
              <a:t>差分曼彻斯特编码</a:t>
            </a:r>
            <a:r>
              <a:rPr kumimoji="0" lang="zh-CN" altLang="en-US" b="1"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rPr>
              <a:t>：在每一位的中心处始终都有跳变。位开始边界有跳变代表 </a:t>
            </a:r>
            <a:r>
              <a:rPr kumimoji="0" lang="en-US" altLang="zh-CN" b="1"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rPr>
              <a:t>0</a:t>
            </a:r>
            <a:r>
              <a:rPr kumimoji="0" lang="zh-CN" altLang="en-US" b="1"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rPr>
              <a:t>，而位开始边界没有跳变代表 </a:t>
            </a:r>
            <a:r>
              <a:rPr kumimoji="0" lang="en-US" altLang="zh-CN" b="1"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rPr>
              <a:t>1</a:t>
            </a:r>
            <a:r>
              <a:rPr kumimoji="0" lang="zh-CN" altLang="en-US" b="1"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rPr>
              <a:t>。</a:t>
            </a:r>
          </a:p>
        </p:txBody>
      </p:sp>
      <p:sp>
        <p:nvSpPr>
          <p:cNvPr id="2" name="Rectangle 68">
            <a:extLst>
              <a:ext uri="{FF2B5EF4-FFF2-40B4-BE49-F238E27FC236}">
                <a16:creationId xmlns:a16="http://schemas.microsoft.com/office/drawing/2014/main" id="{5EAFE531-4D1D-C9E0-D6AA-2483BCBB6B36}"/>
              </a:ext>
            </a:extLst>
          </p:cNvPr>
          <p:cNvSpPr>
            <a:spLocks noChangeArrowheads="1"/>
          </p:cNvSpPr>
          <p:nvPr/>
        </p:nvSpPr>
        <p:spPr bwMode="auto">
          <a:xfrm>
            <a:off x="766490" y="3098928"/>
            <a:ext cx="1413850"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r>
              <a:rPr kumimoji="1" lang="zh-CN" altLang="en-US" sz="1600" b="1" dirty="0">
                <a:latin typeface="微软雅黑" panose="020B0503020204020204" pitchFamily="34" charset="-122"/>
                <a:ea typeface="微软雅黑" panose="020B0503020204020204" pitchFamily="34" charset="-122"/>
              </a:rPr>
              <a:t>差分曼彻斯特</a:t>
            </a:r>
          </a:p>
        </p:txBody>
      </p:sp>
      <p:grpSp>
        <p:nvGrpSpPr>
          <p:cNvPr id="23" name="组合 22">
            <a:extLst>
              <a:ext uri="{FF2B5EF4-FFF2-40B4-BE49-F238E27FC236}">
                <a16:creationId xmlns:a16="http://schemas.microsoft.com/office/drawing/2014/main" id="{F0502302-9ED1-E364-3FD1-164486763AA7}"/>
              </a:ext>
            </a:extLst>
          </p:cNvPr>
          <p:cNvGrpSpPr/>
          <p:nvPr/>
        </p:nvGrpSpPr>
        <p:grpSpPr>
          <a:xfrm>
            <a:off x="2127432" y="3111238"/>
            <a:ext cx="5512709" cy="249703"/>
            <a:chOff x="2127432" y="3111238"/>
            <a:chExt cx="5512709" cy="249703"/>
          </a:xfrm>
        </p:grpSpPr>
        <p:cxnSp>
          <p:nvCxnSpPr>
            <p:cNvPr id="7" name="直接箭头连接符 6">
              <a:extLst>
                <a:ext uri="{FF2B5EF4-FFF2-40B4-BE49-F238E27FC236}">
                  <a16:creationId xmlns:a16="http://schemas.microsoft.com/office/drawing/2014/main" id="{F871E98B-7014-47ED-14A9-0B2B68F65226}"/>
                </a:ext>
              </a:extLst>
            </p:cNvPr>
            <p:cNvCxnSpPr>
              <a:cxnSpLocks/>
            </p:cNvCxnSpPr>
            <p:nvPr/>
          </p:nvCxnSpPr>
          <p:spPr>
            <a:xfrm>
              <a:off x="2127432" y="3161649"/>
              <a:ext cx="212496"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9D5C124E-CA1D-92F6-42D8-FC033528244F}"/>
                </a:ext>
              </a:extLst>
            </p:cNvPr>
            <p:cNvCxnSpPr>
              <a:cxnSpLocks/>
            </p:cNvCxnSpPr>
            <p:nvPr/>
          </p:nvCxnSpPr>
          <p:spPr>
            <a:xfrm>
              <a:off x="5798688" y="3124137"/>
              <a:ext cx="0" cy="203260"/>
            </a:xfrm>
            <a:prstGeom prst="straightConnector1">
              <a:avLst/>
            </a:prstGeom>
            <a:ln w="28575">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F8B010D8-C38D-40DA-E683-A50F54FE5C29}"/>
                </a:ext>
              </a:extLst>
            </p:cNvPr>
            <p:cNvCxnSpPr>
              <a:cxnSpLocks/>
            </p:cNvCxnSpPr>
            <p:nvPr/>
          </p:nvCxnSpPr>
          <p:spPr>
            <a:xfrm>
              <a:off x="5191433" y="3124137"/>
              <a:ext cx="0" cy="203260"/>
            </a:xfrm>
            <a:prstGeom prst="straightConnector1">
              <a:avLst/>
            </a:prstGeom>
            <a:ln w="28575">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24D0DE6B-6467-5BCE-05A4-A77F5CB8DDAB}"/>
                </a:ext>
              </a:extLst>
            </p:cNvPr>
            <p:cNvCxnSpPr>
              <a:cxnSpLocks/>
            </p:cNvCxnSpPr>
            <p:nvPr/>
          </p:nvCxnSpPr>
          <p:spPr>
            <a:xfrm>
              <a:off x="3995678" y="3124137"/>
              <a:ext cx="0" cy="203260"/>
            </a:xfrm>
            <a:prstGeom prst="straightConnector1">
              <a:avLst/>
            </a:prstGeom>
            <a:ln w="28575">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6F809A45-6D39-4F7B-7974-A877AF104589}"/>
                </a:ext>
              </a:extLst>
            </p:cNvPr>
            <p:cNvCxnSpPr>
              <a:cxnSpLocks/>
            </p:cNvCxnSpPr>
            <p:nvPr/>
          </p:nvCxnSpPr>
          <p:spPr>
            <a:xfrm>
              <a:off x="2809303" y="3111238"/>
              <a:ext cx="0" cy="203260"/>
            </a:xfrm>
            <a:prstGeom prst="straightConnector1">
              <a:avLst/>
            </a:prstGeom>
            <a:ln w="28575">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8B36D5BD-7F73-C664-4A88-1FEF6D976DB1}"/>
                </a:ext>
              </a:extLst>
            </p:cNvPr>
            <p:cNvCxnSpPr>
              <a:cxnSpLocks/>
            </p:cNvCxnSpPr>
            <p:nvPr/>
          </p:nvCxnSpPr>
          <p:spPr>
            <a:xfrm>
              <a:off x="3416558" y="3124137"/>
              <a:ext cx="0" cy="203260"/>
            </a:xfrm>
            <a:prstGeom prst="straightConnector1">
              <a:avLst/>
            </a:prstGeom>
            <a:ln w="28575">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5559D56C-B091-5381-7030-152AC3DAC14E}"/>
                </a:ext>
              </a:extLst>
            </p:cNvPr>
            <p:cNvCxnSpPr>
              <a:cxnSpLocks/>
            </p:cNvCxnSpPr>
            <p:nvPr/>
          </p:nvCxnSpPr>
          <p:spPr>
            <a:xfrm>
              <a:off x="4475196" y="3360941"/>
              <a:ext cx="212496"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B498B691-187C-6463-ACF9-ACCEF3AEFD1D}"/>
                </a:ext>
              </a:extLst>
            </p:cNvPr>
            <p:cNvCxnSpPr>
              <a:cxnSpLocks/>
            </p:cNvCxnSpPr>
            <p:nvPr/>
          </p:nvCxnSpPr>
          <p:spPr>
            <a:xfrm>
              <a:off x="6260183" y="3161649"/>
              <a:ext cx="212496"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499F5D5F-DC4E-7D26-E3B0-40D6DB0469EC}"/>
                </a:ext>
              </a:extLst>
            </p:cNvPr>
            <p:cNvCxnSpPr>
              <a:cxnSpLocks/>
            </p:cNvCxnSpPr>
            <p:nvPr/>
          </p:nvCxnSpPr>
          <p:spPr>
            <a:xfrm>
              <a:off x="6857835" y="3360941"/>
              <a:ext cx="212496"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050EC5FC-30DA-19D3-FE88-F6BDC92054CF}"/>
                </a:ext>
              </a:extLst>
            </p:cNvPr>
            <p:cNvCxnSpPr>
              <a:cxnSpLocks/>
            </p:cNvCxnSpPr>
            <p:nvPr/>
          </p:nvCxnSpPr>
          <p:spPr>
            <a:xfrm>
              <a:off x="7427645" y="3141655"/>
              <a:ext cx="212496"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3297296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0" presetID="35" presetClass="emph" presetSubtype="0" repeatCount="3000" fill="hold" grpId="0" nodeType="withEffect">
                                  <p:stCondLst>
                                    <p:cond delay="0"/>
                                  </p:stCondLst>
                                  <p:childTnLst>
                                    <p:anim calcmode="discrete" valueType="str">
                                      <p:cBhvr>
                                        <p:cTn id="11" dur="500" fill="hold"/>
                                        <p:tgtEl>
                                          <p:spTgt spid="2"/>
                                        </p:tgtEl>
                                        <p:attrNameLst>
                                          <p:attrName>style.visibility</p:attrName>
                                        </p:attrNameLst>
                                      </p:cBhvr>
                                      <p:tavLst>
                                        <p:tav tm="0">
                                          <p:val>
                                            <p:strVal val="hidden"/>
                                          </p:val>
                                        </p:tav>
                                        <p:tav tm="50000">
                                          <p:val>
                                            <p:strVal val="visible"/>
                                          </p:val>
                                        </p:tav>
                                      </p:tavLst>
                                    </p:anim>
                                  </p:childTnLst>
                                </p:cTn>
                              </p:par>
                            </p:childTnLst>
                          </p:cTn>
                        </p:par>
                      </p:childTnLst>
                    </p:cTn>
                  </p:par>
                  <p:par>
                    <p:cTn id="12" fill="hold">
                      <p:stCondLst>
                        <p:cond delay="indefinite"/>
                      </p:stCondLst>
                      <p:childTnLst>
                        <p:par>
                          <p:cTn id="13" fill="hold">
                            <p:stCondLst>
                              <p:cond delay="0"/>
                            </p:stCondLst>
                            <p:childTnLst>
                              <p:par>
                                <p:cTn id="14" presetID="35" presetClass="emph" presetSubtype="0" repeatCount="3000" fill="hold" nodeType="clickEffect">
                                  <p:stCondLst>
                                    <p:cond delay="0"/>
                                  </p:stCondLst>
                                  <p:childTnLst>
                                    <p:anim calcmode="discrete" valueType="str">
                                      <p:cBhvr>
                                        <p:cTn id="15" dur="500" fill="hold"/>
                                        <p:tgtEl>
                                          <p:spTgt spid="2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68D93-D8B8-503E-C522-CC188E894E7E}"/>
            </a:ext>
          </a:extLst>
        </p:cNvPr>
        <p:cNvGrpSpPr/>
        <p:nvPr/>
      </p:nvGrpSpPr>
      <p:grpSpPr>
        <a:xfrm>
          <a:off x="0" y="0"/>
          <a:ext cx="0" cy="0"/>
          <a:chOff x="0" y="0"/>
          <a:chExt cx="0" cy="0"/>
        </a:xfrm>
      </p:grpSpPr>
      <p:sp>
        <p:nvSpPr>
          <p:cNvPr id="5" name="文本占位符 4">
            <a:extLst>
              <a:ext uri="{FF2B5EF4-FFF2-40B4-BE49-F238E27FC236}">
                <a16:creationId xmlns:a16="http://schemas.microsoft.com/office/drawing/2014/main" id="{E2A9CAC4-0CB6-BCD2-40EF-2249E04DEF10}"/>
              </a:ext>
            </a:extLst>
          </p:cNvPr>
          <p:cNvSpPr>
            <a:spLocks noGrp="1"/>
          </p:cNvSpPr>
          <p:nvPr>
            <p:ph type="body" sz="quarter" idx="11"/>
          </p:nvPr>
        </p:nvSpPr>
        <p:spPr>
          <a:xfrm>
            <a:off x="1332000" y="360000"/>
            <a:ext cx="6480000" cy="354012"/>
          </a:xfrm>
        </p:spPr>
        <p:txBody>
          <a:bodyPr>
            <a:normAutofit fontScale="92500" lnSpcReduction="10000"/>
          </a:bodyPr>
          <a:lstStyle/>
          <a:p>
            <a:r>
              <a:rPr lang="en-US" altLang="zh-CN" dirty="0"/>
              <a:t>(1) </a:t>
            </a:r>
            <a:r>
              <a:rPr lang="zh-CN" altLang="en-US" dirty="0"/>
              <a:t>基带信号常用的编码方法</a:t>
            </a:r>
          </a:p>
        </p:txBody>
      </p:sp>
      <p:sp>
        <p:nvSpPr>
          <p:cNvPr id="6" name="圆角矩形 5">
            <a:extLst>
              <a:ext uri="{FF2B5EF4-FFF2-40B4-BE49-F238E27FC236}">
                <a16:creationId xmlns:a16="http://schemas.microsoft.com/office/drawing/2014/main" id="{CA937095-959D-9076-0C18-224AF75E9B49}"/>
              </a:ext>
            </a:extLst>
          </p:cNvPr>
          <p:cNvSpPr/>
          <p:nvPr/>
        </p:nvSpPr>
        <p:spPr>
          <a:xfrm>
            <a:off x="545145" y="1032955"/>
            <a:ext cx="8053711" cy="255582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4" name="组合 173">
            <a:extLst>
              <a:ext uri="{FF2B5EF4-FFF2-40B4-BE49-F238E27FC236}">
                <a16:creationId xmlns:a16="http://schemas.microsoft.com/office/drawing/2014/main" id="{D28059EE-25BB-20DF-0C16-35D3722106C0}"/>
              </a:ext>
            </a:extLst>
          </p:cNvPr>
          <p:cNvGrpSpPr/>
          <p:nvPr/>
        </p:nvGrpSpPr>
        <p:grpSpPr>
          <a:xfrm>
            <a:off x="766490" y="1146902"/>
            <a:ext cx="7345085" cy="2294626"/>
            <a:chOff x="766490" y="1642196"/>
            <a:chExt cx="7345085" cy="2294626"/>
          </a:xfrm>
        </p:grpSpPr>
        <p:sp>
          <p:nvSpPr>
            <p:cNvPr id="120" name="Rectangle 6">
              <a:extLst>
                <a:ext uri="{FF2B5EF4-FFF2-40B4-BE49-F238E27FC236}">
                  <a16:creationId xmlns:a16="http://schemas.microsoft.com/office/drawing/2014/main" id="{A7128135-E4FA-C552-2E46-5C6327AACDA1}"/>
                </a:ext>
              </a:extLst>
            </p:cNvPr>
            <p:cNvSpPr>
              <a:spLocks noChangeArrowheads="1"/>
            </p:cNvSpPr>
            <p:nvPr/>
          </p:nvSpPr>
          <p:spPr bwMode="auto">
            <a:xfrm>
              <a:off x="933205" y="2128211"/>
              <a:ext cx="124713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1600" b="1">
                  <a:latin typeface="微软雅黑" panose="020B0503020204020204" pitchFamily="34" charset="-122"/>
                  <a:ea typeface="微软雅黑" panose="020B0503020204020204" pitchFamily="34" charset="-122"/>
                </a:rPr>
                <a:t>    </a:t>
              </a:r>
              <a:r>
                <a:rPr kumimoji="1" lang="zh-CN" altLang="en-US" sz="1600" b="1">
                  <a:latin typeface="微软雅黑" panose="020B0503020204020204" pitchFamily="34" charset="-122"/>
                  <a:ea typeface="微软雅黑" panose="020B0503020204020204" pitchFamily="34" charset="-122"/>
                </a:rPr>
                <a:t>不归零制</a:t>
              </a:r>
            </a:p>
          </p:txBody>
        </p:sp>
        <p:sp>
          <p:nvSpPr>
            <p:cNvPr id="121" name="Rectangle 7">
              <a:extLst>
                <a:ext uri="{FF2B5EF4-FFF2-40B4-BE49-F238E27FC236}">
                  <a16:creationId xmlns:a16="http://schemas.microsoft.com/office/drawing/2014/main" id="{94317436-EF70-11BA-D3CD-4413B288B3A1}"/>
                </a:ext>
              </a:extLst>
            </p:cNvPr>
            <p:cNvSpPr>
              <a:spLocks noChangeArrowheads="1"/>
            </p:cNvSpPr>
            <p:nvPr/>
          </p:nvSpPr>
          <p:spPr bwMode="auto">
            <a:xfrm>
              <a:off x="1176859" y="3108207"/>
              <a:ext cx="1003481"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1600" b="1">
                  <a:latin typeface="微软雅黑" panose="020B0503020204020204" pitchFamily="34" charset="-122"/>
                  <a:ea typeface="微软雅黑" panose="020B0503020204020204" pitchFamily="34" charset="-122"/>
                </a:rPr>
                <a:t>曼彻斯特</a:t>
              </a:r>
            </a:p>
          </p:txBody>
        </p:sp>
        <p:sp>
          <p:nvSpPr>
            <p:cNvPr id="122" name="Rectangle 8">
              <a:extLst>
                <a:ext uri="{FF2B5EF4-FFF2-40B4-BE49-F238E27FC236}">
                  <a16:creationId xmlns:a16="http://schemas.microsoft.com/office/drawing/2014/main" id="{9CA03EF9-026F-134D-DF0C-75FA2D92E3A1}"/>
                </a:ext>
              </a:extLst>
            </p:cNvPr>
            <p:cNvSpPr>
              <a:spLocks noChangeArrowheads="1"/>
            </p:cNvSpPr>
            <p:nvPr/>
          </p:nvSpPr>
          <p:spPr bwMode="auto">
            <a:xfrm>
              <a:off x="6936193" y="1646180"/>
              <a:ext cx="596323" cy="2290642"/>
            </a:xfrm>
            <a:prstGeom prst="rect">
              <a:avLst/>
            </a:prstGeom>
            <a:solidFill>
              <a:schemeClr val="accent2">
                <a:lumMod val="40000"/>
                <a:lumOff val="60000"/>
              </a:schemeClr>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 name="Rectangle 9">
              <a:extLst>
                <a:ext uri="{FF2B5EF4-FFF2-40B4-BE49-F238E27FC236}">
                  <a16:creationId xmlns:a16="http://schemas.microsoft.com/office/drawing/2014/main" id="{11586351-7CBF-F27E-B9B3-E60CC85685A5}"/>
                </a:ext>
              </a:extLst>
            </p:cNvPr>
            <p:cNvSpPr>
              <a:spLocks noChangeArrowheads="1"/>
            </p:cNvSpPr>
            <p:nvPr/>
          </p:nvSpPr>
          <p:spPr bwMode="auto">
            <a:xfrm>
              <a:off x="3370203" y="1646180"/>
              <a:ext cx="583043" cy="2290642"/>
            </a:xfrm>
            <a:prstGeom prst="rect">
              <a:avLst/>
            </a:prstGeom>
            <a:solidFill>
              <a:schemeClr val="accent2">
                <a:lumMod val="40000"/>
                <a:lumOff val="60000"/>
              </a:schemeClr>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4" name="Rectangle 10">
              <a:extLst>
                <a:ext uri="{FF2B5EF4-FFF2-40B4-BE49-F238E27FC236}">
                  <a16:creationId xmlns:a16="http://schemas.microsoft.com/office/drawing/2014/main" id="{D209471D-2B2E-A05C-BB67-FD202C81388E}"/>
                </a:ext>
              </a:extLst>
            </p:cNvPr>
            <p:cNvSpPr>
              <a:spLocks noChangeArrowheads="1"/>
            </p:cNvSpPr>
            <p:nvPr/>
          </p:nvSpPr>
          <p:spPr bwMode="auto">
            <a:xfrm>
              <a:off x="4570820" y="1642196"/>
              <a:ext cx="577731" cy="2294626"/>
            </a:xfrm>
            <a:prstGeom prst="rect">
              <a:avLst/>
            </a:prstGeom>
            <a:solidFill>
              <a:schemeClr val="accent2">
                <a:lumMod val="40000"/>
                <a:lumOff val="60000"/>
              </a:schemeClr>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5" name="Rectangle 11">
              <a:extLst>
                <a:ext uri="{FF2B5EF4-FFF2-40B4-BE49-F238E27FC236}">
                  <a16:creationId xmlns:a16="http://schemas.microsoft.com/office/drawing/2014/main" id="{7A61EEB3-2E3F-79B9-2CB4-73513A18DB32}"/>
                </a:ext>
              </a:extLst>
            </p:cNvPr>
            <p:cNvSpPr>
              <a:spLocks noChangeArrowheads="1"/>
            </p:cNvSpPr>
            <p:nvPr/>
          </p:nvSpPr>
          <p:spPr bwMode="auto">
            <a:xfrm>
              <a:off x="5762139" y="1642196"/>
              <a:ext cx="576402" cy="2294626"/>
            </a:xfrm>
            <a:prstGeom prst="rect">
              <a:avLst/>
            </a:prstGeom>
            <a:solidFill>
              <a:schemeClr val="accent2">
                <a:lumMod val="40000"/>
                <a:lumOff val="60000"/>
              </a:schemeClr>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6" name="Rectangle 12">
              <a:extLst>
                <a:ext uri="{FF2B5EF4-FFF2-40B4-BE49-F238E27FC236}">
                  <a16:creationId xmlns:a16="http://schemas.microsoft.com/office/drawing/2014/main" id="{C84F6A81-0D1B-9FDE-ACA3-34D002265445}"/>
                </a:ext>
              </a:extLst>
            </p:cNvPr>
            <p:cNvSpPr>
              <a:spLocks noChangeArrowheads="1"/>
            </p:cNvSpPr>
            <p:nvPr/>
          </p:nvSpPr>
          <p:spPr bwMode="auto">
            <a:xfrm>
              <a:off x="2196149" y="1642196"/>
              <a:ext cx="597652" cy="2294626"/>
            </a:xfrm>
            <a:prstGeom prst="rect">
              <a:avLst/>
            </a:prstGeom>
            <a:solidFill>
              <a:schemeClr val="accent2">
                <a:lumMod val="40000"/>
                <a:lumOff val="60000"/>
              </a:schemeClr>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7" name="Rectangle 13">
              <a:extLst>
                <a:ext uri="{FF2B5EF4-FFF2-40B4-BE49-F238E27FC236}">
                  <a16:creationId xmlns:a16="http://schemas.microsoft.com/office/drawing/2014/main" id="{B3521D0B-1D4C-5158-4DCF-05E1DE060B5C}"/>
                </a:ext>
              </a:extLst>
            </p:cNvPr>
            <p:cNvSpPr>
              <a:spLocks noChangeArrowheads="1"/>
            </p:cNvSpPr>
            <p:nvPr/>
          </p:nvSpPr>
          <p:spPr bwMode="auto">
            <a:xfrm>
              <a:off x="2346227" y="1696641"/>
              <a:ext cx="245701" cy="278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1600" dirty="0">
                  <a:latin typeface="Arial Rounded MT Bold" panose="020F0704030504030204" pitchFamily="34" charset="0"/>
                </a:rPr>
                <a:t>1</a:t>
              </a:r>
            </a:p>
          </p:txBody>
        </p:sp>
        <p:sp>
          <p:nvSpPr>
            <p:cNvPr id="128" name="Rectangle 14">
              <a:extLst>
                <a:ext uri="{FF2B5EF4-FFF2-40B4-BE49-F238E27FC236}">
                  <a16:creationId xmlns:a16="http://schemas.microsoft.com/office/drawing/2014/main" id="{6B2CB675-3592-2545-EB7A-C703DEAD5ED9}"/>
                </a:ext>
              </a:extLst>
            </p:cNvPr>
            <p:cNvSpPr>
              <a:spLocks noChangeArrowheads="1"/>
            </p:cNvSpPr>
            <p:nvPr/>
          </p:nvSpPr>
          <p:spPr bwMode="auto">
            <a:xfrm>
              <a:off x="7669313" y="1696641"/>
              <a:ext cx="245701" cy="278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1600">
                  <a:latin typeface="Arial Rounded MT Bold" panose="020F0704030504030204" pitchFamily="34" charset="0"/>
                </a:rPr>
                <a:t>1</a:t>
              </a:r>
            </a:p>
          </p:txBody>
        </p:sp>
        <p:sp>
          <p:nvSpPr>
            <p:cNvPr id="129" name="Rectangle 15">
              <a:extLst>
                <a:ext uri="{FF2B5EF4-FFF2-40B4-BE49-F238E27FC236}">
                  <a16:creationId xmlns:a16="http://schemas.microsoft.com/office/drawing/2014/main" id="{94517441-2A4C-E504-7BAD-EEB0E78E9FDA}"/>
                </a:ext>
              </a:extLst>
            </p:cNvPr>
            <p:cNvSpPr>
              <a:spLocks noChangeArrowheads="1"/>
            </p:cNvSpPr>
            <p:nvPr/>
          </p:nvSpPr>
          <p:spPr bwMode="auto">
            <a:xfrm>
              <a:off x="4727537" y="1696641"/>
              <a:ext cx="245702" cy="278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1600">
                  <a:latin typeface="Arial Rounded MT Bold" panose="020F0704030504030204" pitchFamily="34" charset="0"/>
                </a:rPr>
                <a:t>1</a:t>
              </a:r>
            </a:p>
          </p:txBody>
        </p:sp>
        <p:sp>
          <p:nvSpPr>
            <p:cNvPr id="130" name="Rectangle 16">
              <a:extLst>
                <a:ext uri="{FF2B5EF4-FFF2-40B4-BE49-F238E27FC236}">
                  <a16:creationId xmlns:a16="http://schemas.microsoft.com/office/drawing/2014/main" id="{BB4758EA-836C-4E13-0520-E1B7DB244D10}"/>
                </a:ext>
              </a:extLst>
            </p:cNvPr>
            <p:cNvSpPr>
              <a:spLocks noChangeArrowheads="1"/>
            </p:cNvSpPr>
            <p:nvPr/>
          </p:nvSpPr>
          <p:spPr bwMode="auto">
            <a:xfrm>
              <a:off x="7075645" y="1696641"/>
              <a:ext cx="249686" cy="278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1600">
                  <a:latin typeface="Arial Rounded MT Bold" panose="020F0704030504030204" pitchFamily="34" charset="0"/>
                </a:rPr>
                <a:t>1</a:t>
              </a:r>
            </a:p>
          </p:txBody>
        </p:sp>
        <p:sp>
          <p:nvSpPr>
            <p:cNvPr id="131" name="Rectangle 17">
              <a:extLst>
                <a:ext uri="{FF2B5EF4-FFF2-40B4-BE49-F238E27FC236}">
                  <a16:creationId xmlns:a16="http://schemas.microsoft.com/office/drawing/2014/main" id="{DF07F02E-D802-DF3D-A604-77135C31F26B}"/>
                </a:ext>
              </a:extLst>
            </p:cNvPr>
            <p:cNvSpPr>
              <a:spLocks noChangeArrowheads="1"/>
            </p:cNvSpPr>
            <p:nvPr/>
          </p:nvSpPr>
          <p:spPr bwMode="auto">
            <a:xfrm>
              <a:off x="6487290" y="1696641"/>
              <a:ext cx="245701" cy="278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1600">
                  <a:latin typeface="Arial Rounded MT Bold" panose="020F0704030504030204" pitchFamily="34" charset="0"/>
                </a:rPr>
                <a:t>1</a:t>
              </a:r>
            </a:p>
          </p:txBody>
        </p:sp>
        <p:sp>
          <p:nvSpPr>
            <p:cNvPr id="132" name="Rectangle 18">
              <a:extLst>
                <a:ext uri="{FF2B5EF4-FFF2-40B4-BE49-F238E27FC236}">
                  <a16:creationId xmlns:a16="http://schemas.microsoft.com/office/drawing/2014/main" id="{CB5F1133-E9A7-B63D-4507-5062FAEA2326}"/>
                </a:ext>
              </a:extLst>
            </p:cNvPr>
            <p:cNvSpPr>
              <a:spLocks noChangeArrowheads="1"/>
            </p:cNvSpPr>
            <p:nvPr/>
          </p:nvSpPr>
          <p:spPr bwMode="auto">
            <a:xfrm>
              <a:off x="2951847" y="1696641"/>
              <a:ext cx="245701" cy="278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1600">
                  <a:latin typeface="Arial Rounded MT Bold" panose="020F0704030504030204" pitchFamily="34" charset="0"/>
                </a:rPr>
                <a:t>0</a:t>
              </a:r>
            </a:p>
          </p:txBody>
        </p:sp>
        <p:sp>
          <p:nvSpPr>
            <p:cNvPr id="133" name="Rectangle 19">
              <a:extLst>
                <a:ext uri="{FF2B5EF4-FFF2-40B4-BE49-F238E27FC236}">
                  <a16:creationId xmlns:a16="http://schemas.microsoft.com/office/drawing/2014/main" id="{ECC0B2CF-6AED-9DE4-21FE-D41A44462A65}"/>
                </a:ext>
              </a:extLst>
            </p:cNvPr>
            <p:cNvSpPr>
              <a:spLocks noChangeArrowheads="1"/>
            </p:cNvSpPr>
            <p:nvPr/>
          </p:nvSpPr>
          <p:spPr bwMode="auto">
            <a:xfrm>
              <a:off x="3558796" y="1696641"/>
              <a:ext cx="245702" cy="278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1600">
                  <a:latin typeface="Arial Rounded MT Bold" panose="020F0704030504030204" pitchFamily="34" charset="0"/>
                </a:rPr>
                <a:t>0</a:t>
              </a:r>
            </a:p>
          </p:txBody>
        </p:sp>
        <p:sp>
          <p:nvSpPr>
            <p:cNvPr id="134" name="Rectangle 20">
              <a:extLst>
                <a:ext uri="{FF2B5EF4-FFF2-40B4-BE49-F238E27FC236}">
                  <a16:creationId xmlns:a16="http://schemas.microsoft.com/office/drawing/2014/main" id="{BA667619-739E-F7CD-E0A0-A9A7079FEC4C}"/>
                </a:ext>
              </a:extLst>
            </p:cNvPr>
            <p:cNvSpPr>
              <a:spLocks noChangeArrowheads="1"/>
            </p:cNvSpPr>
            <p:nvPr/>
          </p:nvSpPr>
          <p:spPr bwMode="auto">
            <a:xfrm>
              <a:off x="4137854" y="1696641"/>
              <a:ext cx="245702" cy="278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1600">
                  <a:latin typeface="Arial Rounded MT Bold" panose="020F0704030504030204" pitchFamily="34" charset="0"/>
                </a:rPr>
                <a:t>0</a:t>
              </a:r>
            </a:p>
          </p:txBody>
        </p:sp>
        <p:sp>
          <p:nvSpPr>
            <p:cNvPr id="135" name="Rectangle 21">
              <a:extLst>
                <a:ext uri="{FF2B5EF4-FFF2-40B4-BE49-F238E27FC236}">
                  <a16:creationId xmlns:a16="http://schemas.microsoft.com/office/drawing/2014/main" id="{9353BA4F-758C-8E46-A87B-8EBF9081033A}"/>
                </a:ext>
              </a:extLst>
            </p:cNvPr>
            <p:cNvSpPr>
              <a:spLocks noChangeArrowheads="1"/>
            </p:cNvSpPr>
            <p:nvPr/>
          </p:nvSpPr>
          <p:spPr bwMode="auto">
            <a:xfrm>
              <a:off x="5319877" y="1696641"/>
              <a:ext cx="245702" cy="278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1600">
                  <a:latin typeface="Arial Rounded MT Bold" panose="020F0704030504030204" pitchFamily="34" charset="0"/>
                </a:rPr>
                <a:t>0</a:t>
              </a:r>
            </a:p>
          </p:txBody>
        </p:sp>
        <p:sp>
          <p:nvSpPr>
            <p:cNvPr id="136" name="Rectangle 22">
              <a:extLst>
                <a:ext uri="{FF2B5EF4-FFF2-40B4-BE49-F238E27FC236}">
                  <a16:creationId xmlns:a16="http://schemas.microsoft.com/office/drawing/2014/main" id="{A48501C3-22A0-95DD-20BF-0045C8361E41}"/>
                </a:ext>
              </a:extLst>
            </p:cNvPr>
            <p:cNvSpPr>
              <a:spLocks noChangeArrowheads="1"/>
            </p:cNvSpPr>
            <p:nvPr/>
          </p:nvSpPr>
          <p:spPr bwMode="auto">
            <a:xfrm>
              <a:off x="5897607" y="1696641"/>
              <a:ext cx="245701" cy="278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1600">
                  <a:latin typeface="Arial Rounded MT Bold" panose="020F0704030504030204" pitchFamily="34" charset="0"/>
                </a:rPr>
                <a:t>0</a:t>
              </a:r>
            </a:p>
          </p:txBody>
        </p:sp>
        <p:grpSp>
          <p:nvGrpSpPr>
            <p:cNvPr id="137" name="Group 23">
              <a:extLst>
                <a:ext uri="{FF2B5EF4-FFF2-40B4-BE49-F238E27FC236}">
                  <a16:creationId xmlns:a16="http://schemas.microsoft.com/office/drawing/2014/main" id="{F8BB90BA-13AF-6B40-AE43-991C768BC141}"/>
                </a:ext>
              </a:extLst>
            </p:cNvPr>
            <p:cNvGrpSpPr>
              <a:grpSpLocks/>
            </p:cNvGrpSpPr>
            <p:nvPr/>
          </p:nvGrpSpPr>
          <p:grpSpPr bwMode="auto">
            <a:xfrm>
              <a:off x="2173572" y="2088373"/>
              <a:ext cx="5859645" cy="325338"/>
              <a:chOff x="832" y="286"/>
              <a:chExt cx="4728" cy="965"/>
            </a:xfrm>
          </p:grpSpPr>
          <p:sp>
            <p:nvSpPr>
              <p:cNvPr id="138" name="Freeform 24">
                <a:extLst>
                  <a:ext uri="{FF2B5EF4-FFF2-40B4-BE49-F238E27FC236}">
                    <a16:creationId xmlns:a16="http://schemas.microsoft.com/office/drawing/2014/main" id="{B186C740-5FD9-F911-0A5E-4B1CA127B159}"/>
                  </a:ext>
                </a:extLst>
              </p:cNvPr>
              <p:cNvSpPr>
                <a:spLocks/>
              </p:cNvSpPr>
              <p:nvPr/>
            </p:nvSpPr>
            <p:spPr bwMode="auto">
              <a:xfrm>
                <a:off x="832" y="298"/>
                <a:ext cx="4728" cy="953"/>
              </a:xfrm>
              <a:custGeom>
                <a:avLst/>
                <a:gdLst>
                  <a:gd name="T0" fmla="*/ 0 w 4728"/>
                  <a:gd name="T1" fmla="*/ 0 h 953"/>
                  <a:gd name="T2" fmla="*/ 486 w 4728"/>
                  <a:gd name="T3" fmla="*/ 0 h 953"/>
                  <a:gd name="T4" fmla="*/ 486 w 4728"/>
                  <a:gd name="T5" fmla="*/ 952 h 953"/>
                  <a:gd name="T6" fmla="*/ 1924 w 4728"/>
                  <a:gd name="T7" fmla="*/ 952 h 953"/>
                  <a:gd name="T8" fmla="*/ 1924 w 4728"/>
                  <a:gd name="T9" fmla="*/ 0 h 953"/>
                  <a:gd name="T10" fmla="*/ 2410 w 4728"/>
                  <a:gd name="T11" fmla="*/ 0 h 953"/>
                  <a:gd name="T12" fmla="*/ 2410 w 4728"/>
                  <a:gd name="T13" fmla="*/ 952 h 953"/>
                  <a:gd name="T14" fmla="*/ 3372 w 4728"/>
                  <a:gd name="T15" fmla="*/ 952 h 953"/>
                  <a:gd name="T16" fmla="*/ 3372 w 4728"/>
                  <a:gd name="T17" fmla="*/ 0 h 953"/>
                  <a:gd name="T18" fmla="*/ 4727 w 4728"/>
                  <a:gd name="T19" fmla="*/ 0 h 9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28" h="953">
                    <a:moveTo>
                      <a:pt x="0" y="0"/>
                    </a:moveTo>
                    <a:lnTo>
                      <a:pt x="486" y="0"/>
                    </a:lnTo>
                    <a:lnTo>
                      <a:pt x="486" y="952"/>
                    </a:lnTo>
                    <a:lnTo>
                      <a:pt x="1924" y="952"/>
                    </a:lnTo>
                    <a:lnTo>
                      <a:pt x="1924" y="0"/>
                    </a:lnTo>
                    <a:lnTo>
                      <a:pt x="2410" y="0"/>
                    </a:lnTo>
                    <a:lnTo>
                      <a:pt x="2410" y="952"/>
                    </a:lnTo>
                    <a:lnTo>
                      <a:pt x="3372" y="952"/>
                    </a:lnTo>
                    <a:lnTo>
                      <a:pt x="3372" y="0"/>
                    </a:lnTo>
                    <a:lnTo>
                      <a:pt x="4727" y="0"/>
                    </a:lnTo>
                  </a:path>
                </a:pathLst>
              </a:custGeom>
              <a:noFill/>
              <a:ln w="952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9" name="Line 25">
                <a:extLst>
                  <a:ext uri="{FF2B5EF4-FFF2-40B4-BE49-F238E27FC236}">
                    <a16:creationId xmlns:a16="http://schemas.microsoft.com/office/drawing/2014/main" id="{5B88D4B5-E62A-A9D9-3660-964AEF11841A}"/>
                  </a:ext>
                </a:extLst>
              </p:cNvPr>
              <p:cNvSpPr>
                <a:spLocks noChangeShapeType="1"/>
              </p:cNvSpPr>
              <p:nvPr/>
            </p:nvSpPr>
            <p:spPr bwMode="auto">
              <a:xfrm flipV="1">
                <a:off x="3721" y="1152"/>
                <a:ext cx="0" cy="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0" name="Line 26">
                <a:extLst>
                  <a:ext uri="{FF2B5EF4-FFF2-40B4-BE49-F238E27FC236}">
                    <a16:creationId xmlns:a16="http://schemas.microsoft.com/office/drawing/2014/main" id="{92C9AF64-2A6C-2794-1016-C5C2D20BA206}"/>
                  </a:ext>
                </a:extLst>
              </p:cNvPr>
              <p:cNvSpPr>
                <a:spLocks noChangeShapeType="1"/>
              </p:cNvSpPr>
              <p:nvPr/>
            </p:nvSpPr>
            <p:spPr bwMode="auto">
              <a:xfrm flipV="1">
                <a:off x="4676" y="286"/>
                <a:ext cx="0" cy="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 name="Line 27">
                <a:extLst>
                  <a:ext uri="{FF2B5EF4-FFF2-40B4-BE49-F238E27FC236}">
                    <a16:creationId xmlns:a16="http://schemas.microsoft.com/office/drawing/2014/main" id="{6D1C1A4A-0927-0E1D-BDAF-2E314B5B5CAA}"/>
                  </a:ext>
                </a:extLst>
              </p:cNvPr>
              <p:cNvSpPr>
                <a:spLocks noChangeShapeType="1"/>
              </p:cNvSpPr>
              <p:nvPr/>
            </p:nvSpPr>
            <p:spPr bwMode="auto">
              <a:xfrm flipV="1">
                <a:off x="5155" y="299"/>
                <a:ext cx="0" cy="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 name="Line 28">
                <a:extLst>
                  <a:ext uri="{FF2B5EF4-FFF2-40B4-BE49-F238E27FC236}">
                    <a16:creationId xmlns:a16="http://schemas.microsoft.com/office/drawing/2014/main" id="{6B2E819E-9CFA-602A-D60A-5EC93F919189}"/>
                  </a:ext>
                </a:extLst>
              </p:cNvPr>
              <p:cNvSpPr>
                <a:spLocks noChangeShapeType="1"/>
              </p:cNvSpPr>
              <p:nvPr/>
            </p:nvSpPr>
            <p:spPr bwMode="auto">
              <a:xfrm flipV="1">
                <a:off x="2282" y="1150"/>
                <a:ext cx="0" cy="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 name="Line 29">
                <a:extLst>
                  <a:ext uri="{FF2B5EF4-FFF2-40B4-BE49-F238E27FC236}">
                    <a16:creationId xmlns:a16="http://schemas.microsoft.com/office/drawing/2014/main" id="{98AE0FD5-3966-C62B-2D41-DDE5C412A33A}"/>
                  </a:ext>
                </a:extLst>
              </p:cNvPr>
              <p:cNvSpPr>
                <a:spLocks noChangeShapeType="1"/>
              </p:cNvSpPr>
              <p:nvPr/>
            </p:nvSpPr>
            <p:spPr bwMode="auto">
              <a:xfrm flipV="1">
                <a:off x="1796" y="1151"/>
                <a:ext cx="0" cy="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44" name="Freeform 30">
              <a:extLst>
                <a:ext uri="{FF2B5EF4-FFF2-40B4-BE49-F238E27FC236}">
                  <a16:creationId xmlns:a16="http://schemas.microsoft.com/office/drawing/2014/main" id="{768A7973-E28A-1CCA-BE17-AAA96E849B93}"/>
                </a:ext>
              </a:extLst>
            </p:cNvPr>
            <p:cNvSpPr>
              <a:spLocks/>
            </p:cNvSpPr>
            <p:nvPr/>
          </p:nvSpPr>
          <p:spPr bwMode="auto">
            <a:xfrm>
              <a:off x="2174900" y="3108207"/>
              <a:ext cx="5845036" cy="318698"/>
            </a:xfrm>
            <a:custGeom>
              <a:avLst/>
              <a:gdLst>
                <a:gd name="T0" fmla="*/ 0 w 4401"/>
                <a:gd name="T1" fmla="*/ 0 h 245"/>
                <a:gd name="T2" fmla="*/ 222 w 4401"/>
                <a:gd name="T3" fmla="*/ 0 h 245"/>
                <a:gd name="T4" fmla="*/ 222 w 4401"/>
                <a:gd name="T5" fmla="*/ 245 h 245"/>
                <a:gd name="T6" fmla="*/ 676 w 4401"/>
                <a:gd name="T7" fmla="*/ 245 h 245"/>
                <a:gd name="T8" fmla="*/ 676 w 4401"/>
                <a:gd name="T9" fmla="*/ 0 h 245"/>
                <a:gd name="T10" fmla="*/ 898 w 4401"/>
                <a:gd name="T11" fmla="*/ 0 h 245"/>
                <a:gd name="T12" fmla="*/ 898 w 4401"/>
                <a:gd name="T13" fmla="*/ 245 h 245"/>
                <a:gd name="T14" fmla="*/ 1129 w 4401"/>
                <a:gd name="T15" fmla="*/ 245 h 245"/>
                <a:gd name="T16" fmla="*/ 1129 w 4401"/>
                <a:gd name="T17" fmla="*/ 0 h 245"/>
                <a:gd name="T18" fmla="*/ 1351 w 4401"/>
                <a:gd name="T19" fmla="*/ 0 h 245"/>
                <a:gd name="T20" fmla="*/ 1351 w 4401"/>
                <a:gd name="T21" fmla="*/ 245 h 245"/>
                <a:gd name="T22" fmla="*/ 1573 w 4401"/>
                <a:gd name="T23" fmla="*/ 245 h 245"/>
                <a:gd name="T24" fmla="*/ 1573 w 4401"/>
                <a:gd name="T25" fmla="*/ 0 h 245"/>
                <a:gd name="T26" fmla="*/ 2027 w 4401"/>
                <a:gd name="T27" fmla="*/ 0 h 245"/>
                <a:gd name="T28" fmla="*/ 2027 w 4401"/>
                <a:gd name="T29" fmla="*/ 245 h 245"/>
                <a:gd name="T30" fmla="*/ 2471 w 4401"/>
                <a:gd name="T31" fmla="*/ 245 h 245"/>
                <a:gd name="T32" fmla="*/ 2471 w 4401"/>
                <a:gd name="T33" fmla="*/ 3 h 245"/>
                <a:gd name="T34" fmla="*/ 2693 w 4401"/>
                <a:gd name="T35" fmla="*/ 0 h 245"/>
                <a:gd name="T36" fmla="*/ 2693 w 4401"/>
                <a:gd name="T37" fmla="*/ 245 h 245"/>
                <a:gd name="T38" fmla="*/ 2915 w 4401"/>
                <a:gd name="T39" fmla="*/ 245 h 245"/>
                <a:gd name="T40" fmla="*/ 2915 w 4401"/>
                <a:gd name="T41" fmla="*/ 0 h 245"/>
                <a:gd name="T42" fmla="*/ 3368 w 4401"/>
                <a:gd name="T43" fmla="*/ 0 h 245"/>
                <a:gd name="T44" fmla="*/ 3368 w 4401"/>
                <a:gd name="T45" fmla="*/ 245 h 245"/>
                <a:gd name="T46" fmla="*/ 3590 w 4401"/>
                <a:gd name="T47" fmla="*/ 245 h 245"/>
                <a:gd name="T48" fmla="*/ 3590 w 4401"/>
                <a:gd name="T49" fmla="*/ 0 h 245"/>
                <a:gd name="T50" fmla="*/ 3812 w 4401"/>
                <a:gd name="T51" fmla="*/ 0 h 245"/>
                <a:gd name="T52" fmla="*/ 3812 w 4401"/>
                <a:gd name="T53" fmla="*/ 245 h 245"/>
                <a:gd name="T54" fmla="*/ 4034 w 4401"/>
                <a:gd name="T55" fmla="*/ 245 h 245"/>
                <a:gd name="T56" fmla="*/ 4034 w 4401"/>
                <a:gd name="T57" fmla="*/ 0 h 245"/>
                <a:gd name="T58" fmla="*/ 4256 w 4401"/>
                <a:gd name="T59" fmla="*/ 0 h 245"/>
                <a:gd name="T60" fmla="*/ 4256 w 4401"/>
                <a:gd name="T61" fmla="*/ 245 h 245"/>
                <a:gd name="T62" fmla="*/ 4401 w 4401"/>
                <a:gd name="T63" fmla="*/ 245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401" h="245">
                  <a:moveTo>
                    <a:pt x="0" y="0"/>
                  </a:moveTo>
                  <a:lnTo>
                    <a:pt x="222" y="0"/>
                  </a:lnTo>
                  <a:lnTo>
                    <a:pt x="222" y="245"/>
                  </a:lnTo>
                  <a:lnTo>
                    <a:pt x="676" y="245"/>
                  </a:lnTo>
                  <a:lnTo>
                    <a:pt x="676" y="0"/>
                  </a:lnTo>
                  <a:lnTo>
                    <a:pt x="898" y="0"/>
                  </a:lnTo>
                  <a:lnTo>
                    <a:pt x="898" y="245"/>
                  </a:lnTo>
                  <a:lnTo>
                    <a:pt x="1129" y="245"/>
                  </a:lnTo>
                  <a:lnTo>
                    <a:pt x="1129" y="0"/>
                  </a:lnTo>
                  <a:lnTo>
                    <a:pt x="1351" y="0"/>
                  </a:lnTo>
                  <a:lnTo>
                    <a:pt x="1351" y="245"/>
                  </a:lnTo>
                  <a:lnTo>
                    <a:pt x="1573" y="245"/>
                  </a:lnTo>
                  <a:lnTo>
                    <a:pt x="1573" y="0"/>
                  </a:lnTo>
                  <a:lnTo>
                    <a:pt x="2027" y="0"/>
                  </a:lnTo>
                  <a:lnTo>
                    <a:pt x="2027" y="245"/>
                  </a:lnTo>
                  <a:lnTo>
                    <a:pt x="2471" y="245"/>
                  </a:lnTo>
                  <a:lnTo>
                    <a:pt x="2471" y="3"/>
                  </a:lnTo>
                  <a:lnTo>
                    <a:pt x="2693" y="0"/>
                  </a:lnTo>
                  <a:lnTo>
                    <a:pt x="2693" y="245"/>
                  </a:lnTo>
                  <a:lnTo>
                    <a:pt x="2915" y="245"/>
                  </a:lnTo>
                  <a:lnTo>
                    <a:pt x="2915" y="0"/>
                  </a:lnTo>
                  <a:lnTo>
                    <a:pt x="3368" y="0"/>
                  </a:lnTo>
                  <a:lnTo>
                    <a:pt x="3368" y="245"/>
                  </a:lnTo>
                  <a:lnTo>
                    <a:pt x="3590" y="245"/>
                  </a:lnTo>
                  <a:lnTo>
                    <a:pt x="3590" y="0"/>
                  </a:lnTo>
                  <a:lnTo>
                    <a:pt x="3812" y="0"/>
                  </a:lnTo>
                  <a:lnTo>
                    <a:pt x="3812" y="245"/>
                  </a:lnTo>
                  <a:lnTo>
                    <a:pt x="4034" y="245"/>
                  </a:lnTo>
                  <a:lnTo>
                    <a:pt x="4034" y="0"/>
                  </a:lnTo>
                  <a:lnTo>
                    <a:pt x="4256" y="0"/>
                  </a:lnTo>
                  <a:lnTo>
                    <a:pt x="4256" y="245"/>
                  </a:lnTo>
                  <a:lnTo>
                    <a:pt x="4401" y="245"/>
                  </a:lnTo>
                </a:path>
              </a:pathLst>
            </a:custGeom>
            <a:noFill/>
            <a:ln w="952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5" name="Line 32">
              <a:extLst>
                <a:ext uri="{FF2B5EF4-FFF2-40B4-BE49-F238E27FC236}">
                  <a16:creationId xmlns:a16="http://schemas.microsoft.com/office/drawing/2014/main" id="{282E85DD-0CF0-93D6-00C4-C5412F02467F}"/>
                </a:ext>
              </a:extLst>
            </p:cNvPr>
            <p:cNvSpPr>
              <a:spLocks noChangeShapeType="1"/>
            </p:cNvSpPr>
            <p:nvPr/>
          </p:nvSpPr>
          <p:spPr bwMode="auto">
            <a:xfrm flipH="1" flipV="1">
              <a:off x="2190837" y="1675394"/>
              <a:ext cx="2656" cy="2261428"/>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 name="Line 33">
              <a:extLst>
                <a:ext uri="{FF2B5EF4-FFF2-40B4-BE49-F238E27FC236}">
                  <a16:creationId xmlns:a16="http://schemas.microsoft.com/office/drawing/2014/main" id="{DB47009B-16BF-48EC-9EA5-78F9C629BCEE}"/>
                </a:ext>
              </a:extLst>
            </p:cNvPr>
            <p:cNvSpPr>
              <a:spLocks noChangeShapeType="1"/>
            </p:cNvSpPr>
            <p:nvPr/>
          </p:nvSpPr>
          <p:spPr bwMode="auto">
            <a:xfrm flipV="1">
              <a:off x="2779192" y="1664771"/>
              <a:ext cx="0" cy="2272051"/>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7" name="Line 34">
              <a:extLst>
                <a:ext uri="{FF2B5EF4-FFF2-40B4-BE49-F238E27FC236}">
                  <a16:creationId xmlns:a16="http://schemas.microsoft.com/office/drawing/2014/main" id="{B23E26CE-01F3-3313-9495-AE98E2D1041D}"/>
                </a:ext>
              </a:extLst>
            </p:cNvPr>
            <p:cNvSpPr>
              <a:spLocks noChangeShapeType="1"/>
            </p:cNvSpPr>
            <p:nvPr/>
          </p:nvSpPr>
          <p:spPr bwMode="auto">
            <a:xfrm flipV="1">
              <a:off x="3366219" y="1675394"/>
              <a:ext cx="0" cy="2261428"/>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 name="Line 35">
              <a:extLst>
                <a:ext uri="{FF2B5EF4-FFF2-40B4-BE49-F238E27FC236}">
                  <a16:creationId xmlns:a16="http://schemas.microsoft.com/office/drawing/2014/main" id="{D927C0DD-17C0-F36E-3E79-8295322A8200}"/>
                </a:ext>
              </a:extLst>
            </p:cNvPr>
            <p:cNvSpPr>
              <a:spLocks noChangeShapeType="1"/>
            </p:cNvSpPr>
            <p:nvPr/>
          </p:nvSpPr>
          <p:spPr bwMode="auto">
            <a:xfrm flipH="1" flipV="1">
              <a:off x="3959887" y="1642196"/>
              <a:ext cx="0" cy="2294626"/>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 name="Line 36">
              <a:extLst>
                <a:ext uri="{FF2B5EF4-FFF2-40B4-BE49-F238E27FC236}">
                  <a16:creationId xmlns:a16="http://schemas.microsoft.com/office/drawing/2014/main" id="{F936C1C2-AA0A-2696-676E-E7A46BCEEF7C}"/>
                </a:ext>
              </a:extLst>
            </p:cNvPr>
            <p:cNvSpPr>
              <a:spLocks noChangeShapeType="1"/>
            </p:cNvSpPr>
            <p:nvPr/>
          </p:nvSpPr>
          <p:spPr bwMode="auto">
            <a:xfrm flipV="1">
              <a:off x="4558867" y="1675394"/>
              <a:ext cx="0" cy="2261428"/>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0" name="Line 37">
              <a:extLst>
                <a:ext uri="{FF2B5EF4-FFF2-40B4-BE49-F238E27FC236}">
                  <a16:creationId xmlns:a16="http://schemas.microsoft.com/office/drawing/2014/main" id="{E8E7F814-BF45-DB89-5CD7-F9801ADD4A6F}"/>
                </a:ext>
              </a:extLst>
            </p:cNvPr>
            <p:cNvSpPr>
              <a:spLocks noChangeShapeType="1"/>
            </p:cNvSpPr>
            <p:nvPr/>
          </p:nvSpPr>
          <p:spPr bwMode="auto">
            <a:xfrm flipV="1">
              <a:off x="5161831" y="1675394"/>
              <a:ext cx="0" cy="2261428"/>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 name="Line 38">
              <a:extLst>
                <a:ext uri="{FF2B5EF4-FFF2-40B4-BE49-F238E27FC236}">
                  <a16:creationId xmlns:a16="http://schemas.microsoft.com/office/drawing/2014/main" id="{1D10B881-FA6C-44CF-19F3-2A6248AC260D}"/>
                </a:ext>
              </a:extLst>
            </p:cNvPr>
            <p:cNvSpPr>
              <a:spLocks noChangeShapeType="1"/>
            </p:cNvSpPr>
            <p:nvPr/>
          </p:nvSpPr>
          <p:spPr bwMode="auto">
            <a:xfrm flipV="1">
              <a:off x="5752842" y="1675394"/>
              <a:ext cx="0" cy="2261428"/>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2" name="Line 39">
              <a:extLst>
                <a:ext uri="{FF2B5EF4-FFF2-40B4-BE49-F238E27FC236}">
                  <a16:creationId xmlns:a16="http://schemas.microsoft.com/office/drawing/2014/main" id="{030C970D-E781-6BB0-0533-0DA22A4BF986}"/>
                </a:ext>
              </a:extLst>
            </p:cNvPr>
            <p:cNvSpPr>
              <a:spLocks noChangeShapeType="1"/>
            </p:cNvSpPr>
            <p:nvPr/>
          </p:nvSpPr>
          <p:spPr bwMode="auto">
            <a:xfrm flipV="1">
              <a:off x="6347838" y="1675394"/>
              <a:ext cx="0" cy="2261428"/>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 name="Line 40">
              <a:extLst>
                <a:ext uri="{FF2B5EF4-FFF2-40B4-BE49-F238E27FC236}">
                  <a16:creationId xmlns:a16="http://schemas.microsoft.com/office/drawing/2014/main" id="{B558E8EF-127D-9194-19CC-F43BA1AEC676}"/>
                </a:ext>
              </a:extLst>
            </p:cNvPr>
            <p:cNvSpPr>
              <a:spLocks noChangeShapeType="1"/>
            </p:cNvSpPr>
            <p:nvPr/>
          </p:nvSpPr>
          <p:spPr bwMode="auto">
            <a:xfrm flipH="1" flipV="1">
              <a:off x="6938850" y="1675394"/>
              <a:ext cx="1328" cy="2261428"/>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 name="Line 41">
              <a:extLst>
                <a:ext uri="{FF2B5EF4-FFF2-40B4-BE49-F238E27FC236}">
                  <a16:creationId xmlns:a16="http://schemas.microsoft.com/office/drawing/2014/main" id="{B449DE64-3B0B-5CB4-3AEE-3EA0BA1E8A66}"/>
                </a:ext>
              </a:extLst>
            </p:cNvPr>
            <p:cNvSpPr>
              <a:spLocks noChangeShapeType="1"/>
            </p:cNvSpPr>
            <p:nvPr/>
          </p:nvSpPr>
          <p:spPr bwMode="auto">
            <a:xfrm flipV="1">
              <a:off x="7520564" y="1676722"/>
              <a:ext cx="11953" cy="22601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 name="Rectangle 42">
              <a:extLst>
                <a:ext uri="{FF2B5EF4-FFF2-40B4-BE49-F238E27FC236}">
                  <a16:creationId xmlns:a16="http://schemas.microsoft.com/office/drawing/2014/main" id="{41A2BA1E-67FD-C082-383A-69982E384F40}"/>
                </a:ext>
              </a:extLst>
            </p:cNvPr>
            <p:cNvSpPr>
              <a:spLocks noChangeArrowheads="1"/>
            </p:cNvSpPr>
            <p:nvPr/>
          </p:nvSpPr>
          <p:spPr bwMode="auto">
            <a:xfrm>
              <a:off x="1321130" y="1703280"/>
              <a:ext cx="859211"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1600" b="1" dirty="0">
                  <a:latin typeface="微软雅黑" panose="020B0503020204020204" pitchFamily="34" charset="-122"/>
                  <a:ea typeface="微软雅黑" panose="020B0503020204020204" pitchFamily="34" charset="-122"/>
                </a:rPr>
                <a:t> </a:t>
              </a:r>
              <a:r>
                <a:rPr kumimoji="1" lang="zh-CN" altLang="en-US" sz="1600" b="1" dirty="0">
                  <a:latin typeface="微软雅黑" panose="020B0503020204020204" pitchFamily="34" charset="-122"/>
                  <a:ea typeface="微软雅黑" panose="020B0503020204020204" pitchFamily="34" charset="-122"/>
                </a:rPr>
                <a:t>比特流</a:t>
              </a:r>
            </a:p>
          </p:txBody>
        </p:sp>
        <p:grpSp>
          <p:nvGrpSpPr>
            <p:cNvPr id="156" name="Group 66">
              <a:extLst>
                <a:ext uri="{FF2B5EF4-FFF2-40B4-BE49-F238E27FC236}">
                  <a16:creationId xmlns:a16="http://schemas.microsoft.com/office/drawing/2014/main" id="{812B18F1-1523-33F4-1616-917039014AE7}"/>
                </a:ext>
              </a:extLst>
            </p:cNvPr>
            <p:cNvGrpSpPr>
              <a:grpSpLocks/>
            </p:cNvGrpSpPr>
            <p:nvPr/>
          </p:nvGrpSpPr>
          <p:grpSpPr bwMode="auto">
            <a:xfrm>
              <a:off x="2174900" y="2591651"/>
              <a:ext cx="5936675" cy="325337"/>
              <a:chOff x="1260" y="3138"/>
              <a:chExt cx="4470" cy="192"/>
            </a:xfrm>
          </p:grpSpPr>
          <p:sp>
            <p:nvSpPr>
              <p:cNvPr id="157" name="Freeform 46">
                <a:extLst>
                  <a:ext uri="{FF2B5EF4-FFF2-40B4-BE49-F238E27FC236}">
                    <a16:creationId xmlns:a16="http://schemas.microsoft.com/office/drawing/2014/main" id="{A6A9A3E7-E441-31C7-A776-6B0825F176FE}"/>
                  </a:ext>
                </a:extLst>
              </p:cNvPr>
              <p:cNvSpPr>
                <a:spLocks/>
              </p:cNvSpPr>
              <p:nvPr/>
            </p:nvSpPr>
            <p:spPr bwMode="auto">
              <a:xfrm>
                <a:off x="1260" y="3138"/>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8" name="Freeform 47">
                <a:extLst>
                  <a:ext uri="{FF2B5EF4-FFF2-40B4-BE49-F238E27FC236}">
                    <a16:creationId xmlns:a16="http://schemas.microsoft.com/office/drawing/2014/main" id="{92ED66D4-6CA1-4D4F-20A3-210FB7288E33}"/>
                  </a:ext>
                </a:extLst>
              </p:cNvPr>
              <p:cNvSpPr>
                <a:spLocks/>
              </p:cNvSpPr>
              <p:nvPr/>
            </p:nvSpPr>
            <p:spPr bwMode="auto">
              <a:xfrm>
                <a:off x="3036" y="3138"/>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9" name="Freeform 48">
                <a:extLst>
                  <a:ext uri="{FF2B5EF4-FFF2-40B4-BE49-F238E27FC236}">
                    <a16:creationId xmlns:a16="http://schemas.microsoft.com/office/drawing/2014/main" id="{80FFA3D4-B4F1-C512-A14D-33F4BA44B6E3}"/>
                  </a:ext>
                </a:extLst>
              </p:cNvPr>
              <p:cNvSpPr>
                <a:spLocks/>
              </p:cNvSpPr>
              <p:nvPr/>
            </p:nvSpPr>
            <p:spPr bwMode="auto">
              <a:xfrm>
                <a:off x="4386" y="3138"/>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0" name="Freeform 49">
                <a:extLst>
                  <a:ext uri="{FF2B5EF4-FFF2-40B4-BE49-F238E27FC236}">
                    <a16:creationId xmlns:a16="http://schemas.microsoft.com/office/drawing/2014/main" id="{176EB893-DAEB-6F70-65E8-E1C1520C09A9}"/>
                  </a:ext>
                </a:extLst>
              </p:cNvPr>
              <p:cNvSpPr>
                <a:spLocks/>
              </p:cNvSpPr>
              <p:nvPr/>
            </p:nvSpPr>
            <p:spPr bwMode="auto">
              <a:xfrm>
                <a:off x="4830" y="3138"/>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1" name="Freeform 50">
                <a:extLst>
                  <a:ext uri="{FF2B5EF4-FFF2-40B4-BE49-F238E27FC236}">
                    <a16:creationId xmlns:a16="http://schemas.microsoft.com/office/drawing/2014/main" id="{2745DD6A-B755-5893-964A-F4A39379ECD2}"/>
                  </a:ext>
                </a:extLst>
              </p:cNvPr>
              <p:cNvSpPr>
                <a:spLocks/>
              </p:cNvSpPr>
              <p:nvPr/>
            </p:nvSpPr>
            <p:spPr bwMode="auto">
              <a:xfrm>
                <a:off x="5250" y="3138"/>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2" name="Freeform 51">
                <a:extLst>
                  <a:ext uri="{FF2B5EF4-FFF2-40B4-BE49-F238E27FC236}">
                    <a16:creationId xmlns:a16="http://schemas.microsoft.com/office/drawing/2014/main" id="{4B7604CD-DFA7-DED5-ED79-CFAF23215F21}"/>
                  </a:ext>
                </a:extLst>
              </p:cNvPr>
              <p:cNvSpPr>
                <a:spLocks/>
              </p:cNvSpPr>
              <p:nvPr/>
            </p:nvSpPr>
            <p:spPr bwMode="auto">
              <a:xfrm flipV="1">
                <a:off x="1692" y="3234"/>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 name="Freeform 52">
                <a:extLst>
                  <a:ext uri="{FF2B5EF4-FFF2-40B4-BE49-F238E27FC236}">
                    <a16:creationId xmlns:a16="http://schemas.microsoft.com/office/drawing/2014/main" id="{9678D6D7-CBC8-5746-0AC1-BE8921E3B90C}"/>
                  </a:ext>
                </a:extLst>
              </p:cNvPr>
              <p:cNvSpPr>
                <a:spLocks/>
              </p:cNvSpPr>
              <p:nvPr/>
            </p:nvSpPr>
            <p:spPr bwMode="auto">
              <a:xfrm flipV="1">
                <a:off x="2130" y="3234"/>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 name="Freeform 53">
                <a:extLst>
                  <a:ext uri="{FF2B5EF4-FFF2-40B4-BE49-F238E27FC236}">
                    <a16:creationId xmlns:a16="http://schemas.microsoft.com/office/drawing/2014/main" id="{F4B84AC4-7CF2-046A-DEA6-DE99938F6861}"/>
                  </a:ext>
                </a:extLst>
              </p:cNvPr>
              <p:cNvSpPr>
                <a:spLocks/>
              </p:cNvSpPr>
              <p:nvPr/>
            </p:nvSpPr>
            <p:spPr bwMode="auto">
              <a:xfrm flipV="1">
                <a:off x="2592" y="3234"/>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5" name="Freeform 54">
                <a:extLst>
                  <a:ext uri="{FF2B5EF4-FFF2-40B4-BE49-F238E27FC236}">
                    <a16:creationId xmlns:a16="http://schemas.microsoft.com/office/drawing/2014/main" id="{6984A741-55F3-0ACB-112B-45F4D7EEC4AC}"/>
                  </a:ext>
                </a:extLst>
              </p:cNvPr>
              <p:cNvSpPr>
                <a:spLocks/>
              </p:cNvSpPr>
              <p:nvPr/>
            </p:nvSpPr>
            <p:spPr bwMode="auto">
              <a:xfrm flipV="1">
                <a:off x="3486" y="3234"/>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6" name="Freeform 55">
                <a:extLst>
                  <a:ext uri="{FF2B5EF4-FFF2-40B4-BE49-F238E27FC236}">
                    <a16:creationId xmlns:a16="http://schemas.microsoft.com/office/drawing/2014/main" id="{64FC2C22-C77A-E7EB-210B-080C6E72C8CE}"/>
                  </a:ext>
                </a:extLst>
              </p:cNvPr>
              <p:cNvSpPr>
                <a:spLocks/>
              </p:cNvSpPr>
              <p:nvPr/>
            </p:nvSpPr>
            <p:spPr bwMode="auto">
              <a:xfrm flipV="1">
                <a:off x="3936" y="3234"/>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67" name="Group 65">
              <a:extLst>
                <a:ext uri="{FF2B5EF4-FFF2-40B4-BE49-F238E27FC236}">
                  <a16:creationId xmlns:a16="http://schemas.microsoft.com/office/drawing/2014/main" id="{2AA5E3B1-EEB7-D4EC-32E2-D88020D8C930}"/>
                </a:ext>
              </a:extLst>
            </p:cNvPr>
            <p:cNvGrpSpPr>
              <a:grpSpLocks/>
            </p:cNvGrpSpPr>
            <p:nvPr/>
          </p:nvGrpSpPr>
          <p:grpSpPr bwMode="auto">
            <a:xfrm>
              <a:off x="2182868" y="3594222"/>
              <a:ext cx="5924723" cy="318698"/>
              <a:chOff x="1264" y="2804"/>
              <a:chExt cx="4461" cy="258"/>
            </a:xfrm>
          </p:grpSpPr>
          <p:sp>
            <p:nvSpPr>
              <p:cNvPr id="168" name="Freeform 63">
                <a:extLst>
                  <a:ext uri="{FF2B5EF4-FFF2-40B4-BE49-F238E27FC236}">
                    <a16:creationId xmlns:a16="http://schemas.microsoft.com/office/drawing/2014/main" id="{A79B7BBE-ADF1-B74A-FF3D-B649BAA8EB86}"/>
                  </a:ext>
                </a:extLst>
              </p:cNvPr>
              <p:cNvSpPr>
                <a:spLocks/>
              </p:cNvSpPr>
              <p:nvPr/>
            </p:nvSpPr>
            <p:spPr bwMode="auto">
              <a:xfrm>
                <a:off x="1264" y="2804"/>
                <a:ext cx="2909" cy="258"/>
              </a:xfrm>
              <a:custGeom>
                <a:avLst/>
                <a:gdLst>
                  <a:gd name="T0" fmla="*/ 0 w 2909"/>
                  <a:gd name="T1" fmla="*/ 0 h 258"/>
                  <a:gd name="T2" fmla="*/ 223 w 2909"/>
                  <a:gd name="T3" fmla="*/ 0 h 258"/>
                  <a:gd name="T4" fmla="*/ 223 w 2909"/>
                  <a:gd name="T5" fmla="*/ 258 h 258"/>
                  <a:gd name="T6" fmla="*/ 446 w 2909"/>
                  <a:gd name="T7" fmla="*/ 258 h 258"/>
                  <a:gd name="T8" fmla="*/ 446 w 2909"/>
                  <a:gd name="T9" fmla="*/ 5 h 258"/>
                  <a:gd name="T10" fmla="*/ 681 w 2909"/>
                  <a:gd name="T11" fmla="*/ 5 h 258"/>
                  <a:gd name="T12" fmla="*/ 681 w 2909"/>
                  <a:gd name="T13" fmla="*/ 258 h 258"/>
                  <a:gd name="T14" fmla="*/ 887 w 2909"/>
                  <a:gd name="T15" fmla="*/ 258 h 258"/>
                  <a:gd name="T16" fmla="*/ 887 w 2909"/>
                  <a:gd name="T17" fmla="*/ 0 h 258"/>
                  <a:gd name="T18" fmla="*/ 1111 w 2909"/>
                  <a:gd name="T19" fmla="*/ 0 h 258"/>
                  <a:gd name="T20" fmla="*/ 1111 w 2909"/>
                  <a:gd name="T21" fmla="*/ 258 h 258"/>
                  <a:gd name="T22" fmla="*/ 1340 w 2909"/>
                  <a:gd name="T23" fmla="*/ 258 h 258"/>
                  <a:gd name="T24" fmla="*/ 1340 w 2909"/>
                  <a:gd name="T25" fmla="*/ 0 h 258"/>
                  <a:gd name="T26" fmla="*/ 1563 w 2909"/>
                  <a:gd name="T27" fmla="*/ 0 h 258"/>
                  <a:gd name="T28" fmla="*/ 1563 w 2909"/>
                  <a:gd name="T29" fmla="*/ 258 h 258"/>
                  <a:gd name="T30" fmla="*/ 2010 w 2909"/>
                  <a:gd name="T31" fmla="*/ 258 h 258"/>
                  <a:gd name="T32" fmla="*/ 2010 w 2909"/>
                  <a:gd name="T33" fmla="*/ 0 h 258"/>
                  <a:gd name="T34" fmla="*/ 2245 w 2909"/>
                  <a:gd name="T35" fmla="*/ 0 h 258"/>
                  <a:gd name="T36" fmla="*/ 2245 w 2909"/>
                  <a:gd name="T37" fmla="*/ 258 h 258"/>
                  <a:gd name="T38" fmla="*/ 2462 w 2909"/>
                  <a:gd name="T39" fmla="*/ 258 h 258"/>
                  <a:gd name="T40" fmla="*/ 2462 w 2909"/>
                  <a:gd name="T41" fmla="*/ 0 h 258"/>
                  <a:gd name="T42" fmla="*/ 2686 w 2909"/>
                  <a:gd name="T43" fmla="*/ 0 h 258"/>
                  <a:gd name="T44" fmla="*/ 2686 w 2909"/>
                  <a:gd name="T45" fmla="*/ 258 h 258"/>
                  <a:gd name="T46" fmla="*/ 2909 w 2909"/>
                  <a:gd name="T47" fmla="*/ 258 h 258"/>
                  <a:gd name="T48" fmla="*/ 2909 w 2909"/>
                  <a:gd name="T49" fmla="*/ 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09" h="258">
                    <a:moveTo>
                      <a:pt x="0" y="0"/>
                    </a:moveTo>
                    <a:lnTo>
                      <a:pt x="223" y="0"/>
                    </a:lnTo>
                    <a:lnTo>
                      <a:pt x="223" y="258"/>
                    </a:lnTo>
                    <a:lnTo>
                      <a:pt x="446" y="258"/>
                    </a:lnTo>
                    <a:lnTo>
                      <a:pt x="446" y="5"/>
                    </a:lnTo>
                    <a:lnTo>
                      <a:pt x="681" y="5"/>
                    </a:lnTo>
                    <a:lnTo>
                      <a:pt x="681" y="258"/>
                    </a:lnTo>
                    <a:lnTo>
                      <a:pt x="887" y="258"/>
                    </a:lnTo>
                    <a:lnTo>
                      <a:pt x="887" y="0"/>
                    </a:lnTo>
                    <a:lnTo>
                      <a:pt x="1111" y="0"/>
                    </a:lnTo>
                    <a:lnTo>
                      <a:pt x="1111" y="258"/>
                    </a:lnTo>
                    <a:lnTo>
                      <a:pt x="1340" y="258"/>
                    </a:lnTo>
                    <a:lnTo>
                      <a:pt x="1340" y="0"/>
                    </a:lnTo>
                    <a:lnTo>
                      <a:pt x="1563" y="0"/>
                    </a:lnTo>
                    <a:lnTo>
                      <a:pt x="1563" y="258"/>
                    </a:lnTo>
                    <a:lnTo>
                      <a:pt x="2010" y="258"/>
                    </a:lnTo>
                    <a:lnTo>
                      <a:pt x="2010" y="0"/>
                    </a:lnTo>
                    <a:lnTo>
                      <a:pt x="2245" y="0"/>
                    </a:lnTo>
                    <a:lnTo>
                      <a:pt x="2245" y="258"/>
                    </a:lnTo>
                    <a:lnTo>
                      <a:pt x="2462" y="258"/>
                    </a:lnTo>
                    <a:lnTo>
                      <a:pt x="2462" y="0"/>
                    </a:lnTo>
                    <a:lnTo>
                      <a:pt x="2686" y="0"/>
                    </a:lnTo>
                    <a:lnTo>
                      <a:pt x="2686" y="258"/>
                    </a:lnTo>
                    <a:lnTo>
                      <a:pt x="2909" y="258"/>
                    </a:lnTo>
                    <a:lnTo>
                      <a:pt x="2909" y="0"/>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9" name="Freeform 64">
                <a:extLst>
                  <a:ext uri="{FF2B5EF4-FFF2-40B4-BE49-F238E27FC236}">
                    <a16:creationId xmlns:a16="http://schemas.microsoft.com/office/drawing/2014/main" id="{B42C7100-8780-052A-8720-69A7728A61EE}"/>
                  </a:ext>
                </a:extLst>
              </p:cNvPr>
              <p:cNvSpPr>
                <a:spLocks/>
              </p:cNvSpPr>
              <p:nvPr/>
            </p:nvSpPr>
            <p:spPr bwMode="auto">
              <a:xfrm>
                <a:off x="4173" y="2804"/>
                <a:ext cx="1552" cy="258"/>
              </a:xfrm>
              <a:custGeom>
                <a:avLst/>
                <a:gdLst>
                  <a:gd name="T0" fmla="*/ 0 w 1552"/>
                  <a:gd name="T1" fmla="*/ 0 h 258"/>
                  <a:gd name="T2" fmla="*/ 453 w 1552"/>
                  <a:gd name="T3" fmla="*/ 0 h 258"/>
                  <a:gd name="T4" fmla="*/ 453 w 1552"/>
                  <a:gd name="T5" fmla="*/ 258 h 258"/>
                  <a:gd name="T6" fmla="*/ 905 w 1552"/>
                  <a:gd name="T7" fmla="*/ 258 h 258"/>
                  <a:gd name="T8" fmla="*/ 905 w 1552"/>
                  <a:gd name="T9" fmla="*/ 0 h 258"/>
                  <a:gd name="T10" fmla="*/ 1329 w 1552"/>
                  <a:gd name="T11" fmla="*/ 0 h 258"/>
                  <a:gd name="T12" fmla="*/ 1329 w 1552"/>
                  <a:gd name="T13" fmla="*/ 258 h 258"/>
                  <a:gd name="T14" fmla="*/ 1552 w 1552"/>
                  <a:gd name="T15" fmla="*/ 258 h 2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52" h="258">
                    <a:moveTo>
                      <a:pt x="0" y="0"/>
                    </a:moveTo>
                    <a:lnTo>
                      <a:pt x="453" y="0"/>
                    </a:lnTo>
                    <a:lnTo>
                      <a:pt x="453" y="258"/>
                    </a:lnTo>
                    <a:lnTo>
                      <a:pt x="905" y="258"/>
                    </a:lnTo>
                    <a:lnTo>
                      <a:pt x="905" y="0"/>
                    </a:lnTo>
                    <a:lnTo>
                      <a:pt x="1329" y="0"/>
                    </a:lnTo>
                    <a:lnTo>
                      <a:pt x="1329" y="258"/>
                    </a:lnTo>
                    <a:lnTo>
                      <a:pt x="1552" y="258"/>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70" name="Rectangle 68">
              <a:extLst>
                <a:ext uri="{FF2B5EF4-FFF2-40B4-BE49-F238E27FC236}">
                  <a16:creationId xmlns:a16="http://schemas.microsoft.com/office/drawing/2014/main" id="{F3A0D797-689B-5FEF-E706-8537032CB543}"/>
                </a:ext>
              </a:extLst>
            </p:cNvPr>
            <p:cNvSpPr>
              <a:spLocks noChangeArrowheads="1"/>
            </p:cNvSpPr>
            <p:nvPr/>
          </p:nvSpPr>
          <p:spPr bwMode="auto">
            <a:xfrm>
              <a:off x="766490" y="3594222"/>
              <a:ext cx="1413850"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r>
                <a:rPr kumimoji="1" lang="zh-CN" altLang="en-US" sz="1600" b="1" dirty="0">
                  <a:latin typeface="微软雅黑" panose="020B0503020204020204" pitchFamily="34" charset="-122"/>
                  <a:ea typeface="微软雅黑" panose="020B0503020204020204" pitchFamily="34" charset="-122"/>
                </a:rPr>
                <a:t>差分曼彻斯特</a:t>
              </a:r>
            </a:p>
          </p:txBody>
        </p:sp>
        <p:sp>
          <p:nvSpPr>
            <p:cNvPr id="171" name="Rectangle 69">
              <a:extLst>
                <a:ext uri="{FF2B5EF4-FFF2-40B4-BE49-F238E27FC236}">
                  <a16:creationId xmlns:a16="http://schemas.microsoft.com/office/drawing/2014/main" id="{5573BD81-2A03-6973-7C55-3EB106E82AC3}"/>
                </a:ext>
              </a:extLst>
            </p:cNvPr>
            <p:cNvSpPr>
              <a:spLocks noChangeArrowheads="1"/>
            </p:cNvSpPr>
            <p:nvPr/>
          </p:nvSpPr>
          <p:spPr bwMode="auto">
            <a:xfrm>
              <a:off x="1138388" y="2598290"/>
              <a:ext cx="1041953"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1600" b="1">
                  <a:latin typeface="微软雅黑" panose="020B0503020204020204" pitchFamily="34" charset="-122"/>
                  <a:ea typeface="微软雅黑" panose="020B0503020204020204" pitchFamily="34" charset="-122"/>
                </a:rPr>
                <a:t>    </a:t>
              </a:r>
              <a:r>
                <a:rPr kumimoji="1" lang="zh-CN" altLang="en-US" sz="1600" b="1">
                  <a:latin typeface="微软雅黑" panose="020B0503020204020204" pitchFamily="34" charset="-122"/>
                  <a:ea typeface="微软雅黑" panose="020B0503020204020204" pitchFamily="34" charset="-122"/>
                </a:rPr>
                <a:t>归零制</a:t>
              </a:r>
            </a:p>
          </p:txBody>
        </p:sp>
      </p:grpSp>
      <p:sp>
        <p:nvSpPr>
          <p:cNvPr id="4" name="文本框 3">
            <a:extLst>
              <a:ext uri="{FF2B5EF4-FFF2-40B4-BE49-F238E27FC236}">
                <a16:creationId xmlns:a16="http://schemas.microsoft.com/office/drawing/2014/main" id="{C1342AC6-2A98-8868-FC30-ABB600AA1A32}"/>
              </a:ext>
            </a:extLst>
          </p:cNvPr>
          <p:cNvSpPr txBox="1"/>
          <p:nvPr/>
        </p:nvSpPr>
        <p:spPr>
          <a:xfrm>
            <a:off x="845156" y="3632746"/>
            <a:ext cx="7812147" cy="1099468"/>
          </a:xfrm>
          <a:prstGeom prst="rect">
            <a:avLst/>
          </a:prstGeom>
          <a:noFill/>
        </p:spPr>
        <p:txBody>
          <a:bodyPr wrap="square">
            <a:spAutoFit/>
          </a:bodyPr>
          <a:lstStyle/>
          <a:p>
            <a:pPr marL="285750" lvl="0" indent="-285750" eaLnBrk="0" hangingPunct="0">
              <a:lnSpc>
                <a:spcPct val="125000"/>
              </a:lnSpc>
              <a:spcBef>
                <a:spcPts val="0"/>
              </a:spcBef>
              <a:buClr>
                <a:srgbClr val="0070C0"/>
              </a:buClr>
              <a:buFont typeface="Wingdings" panose="05000000000000000000" pitchFamily="2" charset="2"/>
              <a:buChar char="l"/>
              <a:defRPr/>
            </a:pPr>
            <a:r>
              <a:rPr lang="zh-CN" altLang="en-US" b="1" dirty="0">
                <a:solidFill>
                  <a:srgbClr val="0000FF"/>
                </a:solidFill>
                <a:latin typeface="微软雅黑" pitchFamily="34" charset="-122"/>
                <a:ea typeface="微软雅黑" pitchFamily="34" charset="-122"/>
              </a:rPr>
              <a:t>曼彻斯特编码</a:t>
            </a:r>
            <a:r>
              <a:rPr lang="zh-CN" altLang="en-US" b="1" dirty="0">
                <a:latin typeface="微软雅黑" pitchFamily="34" charset="-122"/>
                <a:ea typeface="微软雅黑" pitchFamily="34" charset="-122"/>
              </a:rPr>
              <a:t>和</a:t>
            </a:r>
            <a:r>
              <a:rPr lang="zh-CN" altLang="en-US" b="1" dirty="0">
                <a:solidFill>
                  <a:srgbClr val="0000FF"/>
                </a:solidFill>
                <a:latin typeface="微软雅黑" pitchFamily="34" charset="-122"/>
                <a:ea typeface="微软雅黑" pitchFamily="34" charset="-122"/>
              </a:rPr>
              <a:t>差分曼彻斯特编码</a:t>
            </a:r>
            <a:r>
              <a:rPr lang="zh-CN" altLang="en-US" b="1" dirty="0">
                <a:latin typeface="微软雅黑" pitchFamily="34" charset="-122"/>
                <a:ea typeface="微软雅黑" pitchFamily="34" charset="-122"/>
              </a:rPr>
              <a:t>产生的信号频率比不归零制高</a:t>
            </a:r>
            <a:r>
              <a:rPr kumimoji="0" lang="zh-CN" altLang="en-US" b="1" i="0" u="none" strike="noStrike" kern="1200" cap="none" spc="0" normalizeH="0" baseline="0" noProof="0" dirty="0">
                <a:ln>
                  <a:noFill/>
                </a:ln>
                <a:effectLst/>
                <a:uLnTx/>
                <a:uFillTx/>
                <a:latin typeface="微软雅黑" pitchFamily="34" charset="-122"/>
                <a:ea typeface="微软雅黑" pitchFamily="34" charset="-122"/>
              </a:rPr>
              <a:t>。</a:t>
            </a:r>
          </a:p>
          <a:p>
            <a:pPr marL="285750" lvl="0" indent="-285750" eaLnBrk="0" hangingPunct="0">
              <a:lnSpc>
                <a:spcPct val="125000"/>
              </a:lnSpc>
              <a:spcBef>
                <a:spcPts val="0"/>
              </a:spcBef>
              <a:buClr>
                <a:srgbClr val="0070C0"/>
              </a:buClr>
              <a:buFont typeface="Wingdings" panose="05000000000000000000" pitchFamily="2" charset="2"/>
              <a:buChar char="l"/>
              <a:defRPr/>
            </a:pPr>
            <a:r>
              <a:rPr lang="zh-CN" altLang="en-US" b="1" dirty="0">
                <a:solidFill>
                  <a:srgbClr val="0000FF"/>
                </a:solidFill>
                <a:latin typeface="微软雅黑" pitchFamily="34" charset="-122"/>
                <a:ea typeface="微软雅黑" pitchFamily="34" charset="-122"/>
              </a:rPr>
              <a:t>曼彻斯特编码</a:t>
            </a:r>
            <a:r>
              <a:rPr lang="zh-CN" altLang="en-US" b="1" dirty="0">
                <a:latin typeface="微软雅黑" pitchFamily="34" charset="-122"/>
                <a:ea typeface="微软雅黑" pitchFamily="34" charset="-122"/>
              </a:rPr>
              <a:t>和</a:t>
            </a:r>
            <a:r>
              <a:rPr lang="zh-CN" altLang="en-US" b="1" dirty="0">
                <a:solidFill>
                  <a:srgbClr val="0000FF"/>
                </a:solidFill>
                <a:latin typeface="微软雅黑" pitchFamily="34" charset="-122"/>
                <a:ea typeface="微软雅黑" pitchFamily="34" charset="-122"/>
              </a:rPr>
              <a:t>差分曼彻斯特编码</a:t>
            </a:r>
            <a:r>
              <a:rPr lang="zh-CN" altLang="en-US" b="1" dirty="0">
                <a:latin typeface="微软雅黑" pitchFamily="34" charset="-122"/>
                <a:ea typeface="微软雅黑" pitchFamily="34" charset="-122"/>
              </a:rPr>
              <a:t>能从信号波形本身中提取信号时钟频率，具有</a:t>
            </a:r>
            <a:r>
              <a:rPr lang="zh-CN" altLang="en-US" b="1" dirty="0">
                <a:solidFill>
                  <a:srgbClr val="C00000"/>
                </a:solidFill>
                <a:latin typeface="微软雅黑" pitchFamily="34" charset="-122"/>
                <a:ea typeface="微软雅黑" pitchFamily="34" charset="-122"/>
              </a:rPr>
              <a:t>自同步能力</a:t>
            </a:r>
            <a:r>
              <a:rPr lang="zh-CN" altLang="en-US" b="1" dirty="0">
                <a:latin typeface="微软雅黑" pitchFamily="34" charset="-122"/>
                <a:ea typeface="微软雅黑" pitchFamily="34" charset="-122"/>
              </a:rPr>
              <a:t>。</a:t>
            </a:r>
          </a:p>
        </p:txBody>
      </p:sp>
    </p:spTree>
    <p:custDataLst>
      <p:tags r:id="rId1"/>
    </p:custDataLst>
    <p:extLst>
      <p:ext uri="{BB962C8B-B14F-4D97-AF65-F5344CB8AC3E}">
        <p14:creationId xmlns:p14="http://schemas.microsoft.com/office/powerpoint/2010/main" val="3491763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圆角矩形 179">
            <a:extLst>
              <a:ext uri="{FF2B5EF4-FFF2-40B4-BE49-F238E27FC236}">
                <a16:creationId xmlns:a16="http://schemas.microsoft.com/office/drawing/2014/main" id="{AFBAC6DC-286C-2989-597F-13DE4E95A579}"/>
              </a:ext>
            </a:extLst>
          </p:cNvPr>
          <p:cNvSpPr/>
          <p:nvPr/>
        </p:nvSpPr>
        <p:spPr>
          <a:xfrm>
            <a:off x="1193710" y="2622550"/>
            <a:ext cx="7046049" cy="211201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内容占位符 3"/>
          <p:cNvSpPr>
            <a:spLocks noGrp="1"/>
          </p:cNvSpPr>
          <p:nvPr>
            <p:ph sz="quarter" idx="10"/>
          </p:nvPr>
        </p:nvSpPr>
        <p:spPr>
          <a:xfrm>
            <a:off x="466343" y="900000"/>
            <a:ext cx="8129017" cy="3376990"/>
          </a:xfrm>
        </p:spPr>
        <p:txBody>
          <a:bodyPr/>
          <a:lstStyle/>
          <a:p>
            <a:r>
              <a:rPr lang="zh-CN" altLang="en-US" dirty="0"/>
              <a:t>最基本的带通调制方法有以下几种：</a:t>
            </a:r>
          </a:p>
          <a:p>
            <a:r>
              <a:rPr lang="zh-CN" altLang="en-US" dirty="0"/>
              <a:t>调幅</a:t>
            </a:r>
            <a:r>
              <a:rPr lang="en-US" altLang="zh-CN" dirty="0"/>
              <a:t>(AM)</a:t>
            </a:r>
            <a:r>
              <a:rPr lang="zh-CN" altLang="en-US" dirty="0"/>
              <a:t>：载波的振幅随基带数字信号而变化。 </a:t>
            </a:r>
          </a:p>
          <a:p>
            <a:r>
              <a:rPr lang="zh-CN" altLang="en-US" dirty="0"/>
              <a:t>调频</a:t>
            </a:r>
            <a:r>
              <a:rPr lang="en-US" altLang="zh-CN" dirty="0"/>
              <a:t>(FM)</a:t>
            </a:r>
            <a:r>
              <a:rPr lang="zh-CN" altLang="en-US" dirty="0"/>
              <a:t>：载波的频率随基带数字信号而变化。</a:t>
            </a:r>
          </a:p>
          <a:p>
            <a:r>
              <a:rPr lang="zh-CN" altLang="en-US" dirty="0"/>
              <a:t>调相</a:t>
            </a:r>
            <a:r>
              <a:rPr lang="en-US" altLang="zh-CN" dirty="0"/>
              <a:t>(PM) </a:t>
            </a:r>
            <a:r>
              <a:rPr lang="zh-CN" altLang="en-US" dirty="0"/>
              <a:t>：载波的初始相位随基带数字信号而变化。</a:t>
            </a:r>
          </a:p>
        </p:txBody>
      </p:sp>
      <p:sp>
        <p:nvSpPr>
          <p:cNvPr id="5" name="文本占位符 4"/>
          <p:cNvSpPr>
            <a:spLocks noGrp="1"/>
          </p:cNvSpPr>
          <p:nvPr>
            <p:ph type="body" sz="quarter" idx="11"/>
          </p:nvPr>
        </p:nvSpPr>
        <p:spPr>
          <a:xfrm>
            <a:off x="1332000" y="360000"/>
            <a:ext cx="6480000" cy="354012"/>
          </a:xfrm>
        </p:spPr>
        <p:txBody>
          <a:bodyPr>
            <a:normAutofit fontScale="92500" lnSpcReduction="10000"/>
          </a:bodyPr>
          <a:lstStyle/>
          <a:p>
            <a:r>
              <a:rPr lang="en-US" altLang="zh-CN" dirty="0"/>
              <a:t>(2) </a:t>
            </a:r>
            <a:r>
              <a:rPr lang="zh-CN" altLang="en-US" dirty="0"/>
              <a:t>基本的带通调制方法</a:t>
            </a:r>
          </a:p>
        </p:txBody>
      </p:sp>
      <p:grpSp>
        <p:nvGrpSpPr>
          <p:cNvPr id="2" name="组合 1">
            <a:extLst>
              <a:ext uri="{FF2B5EF4-FFF2-40B4-BE49-F238E27FC236}">
                <a16:creationId xmlns:a16="http://schemas.microsoft.com/office/drawing/2014/main" id="{7F2FF25B-3BF4-DDB9-BB35-16B2C54D0D52}"/>
              </a:ext>
            </a:extLst>
          </p:cNvPr>
          <p:cNvGrpSpPr/>
          <p:nvPr/>
        </p:nvGrpSpPr>
        <p:grpSpPr>
          <a:xfrm>
            <a:off x="2627150" y="2762045"/>
            <a:ext cx="5138532" cy="1856017"/>
            <a:chOff x="2486384" y="1192176"/>
            <a:chExt cx="4887529" cy="2610629"/>
          </a:xfrm>
        </p:grpSpPr>
        <p:sp>
          <p:nvSpPr>
            <p:cNvPr id="3" name="Rectangle 12">
              <a:extLst>
                <a:ext uri="{FF2B5EF4-FFF2-40B4-BE49-F238E27FC236}">
                  <a16:creationId xmlns:a16="http://schemas.microsoft.com/office/drawing/2014/main" id="{B450BA7E-F536-22D3-3155-53F3A6A50E31}"/>
                </a:ext>
              </a:extLst>
            </p:cNvPr>
            <p:cNvSpPr>
              <a:spLocks noChangeArrowheads="1"/>
            </p:cNvSpPr>
            <p:nvPr/>
          </p:nvSpPr>
          <p:spPr bwMode="auto">
            <a:xfrm>
              <a:off x="6860578" y="1192176"/>
              <a:ext cx="513335" cy="2610629"/>
            </a:xfrm>
            <a:prstGeom prst="rect">
              <a:avLst/>
            </a:prstGeom>
            <a:solidFill>
              <a:schemeClr val="accent2">
                <a:lumMod val="40000"/>
                <a:lumOff val="60000"/>
              </a:schemeClr>
            </a:solidFill>
            <a:ln>
              <a:noFill/>
            </a:ln>
            <a:effectLst/>
          </p:spPr>
          <p:txBody>
            <a:bodyPr wrap="none" anchor="ctr"/>
            <a:lstStyle/>
            <a:p>
              <a:endParaRPr lang="zh-CN" altLang="en-US" sz="1600"/>
            </a:p>
          </p:txBody>
        </p:sp>
        <p:sp>
          <p:nvSpPr>
            <p:cNvPr id="6" name="Rectangle 12">
              <a:extLst>
                <a:ext uri="{FF2B5EF4-FFF2-40B4-BE49-F238E27FC236}">
                  <a16:creationId xmlns:a16="http://schemas.microsoft.com/office/drawing/2014/main" id="{7A5B889E-A924-0CB8-5402-61E4BB651271}"/>
                </a:ext>
              </a:extLst>
            </p:cNvPr>
            <p:cNvSpPr>
              <a:spLocks noChangeArrowheads="1"/>
            </p:cNvSpPr>
            <p:nvPr/>
          </p:nvSpPr>
          <p:spPr bwMode="auto">
            <a:xfrm>
              <a:off x="5757144" y="1192176"/>
              <a:ext cx="513335" cy="2610629"/>
            </a:xfrm>
            <a:prstGeom prst="rect">
              <a:avLst/>
            </a:prstGeom>
            <a:solidFill>
              <a:schemeClr val="accent2">
                <a:lumMod val="40000"/>
                <a:lumOff val="60000"/>
              </a:schemeClr>
            </a:solidFill>
            <a:ln>
              <a:noFill/>
            </a:ln>
            <a:effectLst/>
          </p:spPr>
          <p:txBody>
            <a:bodyPr wrap="none" anchor="ctr"/>
            <a:lstStyle/>
            <a:p>
              <a:endParaRPr lang="zh-CN" altLang="en-US" sz="1600"/>
            </a:p>
          </p:txBody>
        </p:sp>
        <p:sp>
          <p:nvSpPr>
            <p:cNvPr id="7" name="Rectangle 12">
              <a:extLst>
                <a:ext uri="{FF2B5EF4-FFF2-40B4-BE49-F238E27FC236}">
                  <a16:creationId xmlns:a16="http://schemas.microsoft.com/office/drawing/2014/main" id="{3FAF8C6E-9B5E-A6A3-72BE-48870FBD0713}"/>
                </a:ext>
              </a:extLst>
            </p:cNvPr>
            <p:cNvSpPr>
              <a:spLocks noChangeArrowheads="1"/>
            </p:cNvSpPr>
            <p:nvPr/>
          </p:nvSpPr>
          <p:spPr bwMode="auto">
            <a:xfrm>
              <a:off x="4678722" y="1192176"/>
              <a:ext cx="513335" cy="2610629"/>
            </a:xfrm>
            <a:prstGeom prst="rect">
              <a:avLst/>
            </a:prstGeom>
            <a:solidFill>
              <a:schemeClr val="accent2">
                <a:lumMod val="40000"/>
                <a:lumOff val="60000"/>
              </a:schemeClr>
            </a:solidFill>
            <a:ln>
              <a:noFill/>
            </a:ln>
            <a:effectLst/>
          </p:spPr>
          <p:txBody>
            <a:bodyPr wrap="none" anchor="ctr"/>
            <a:lstStyle/>
            <a:p>
              <a:endParaRPr lang="zh-CN" altLang="en-US" sz="1600"/>
            </a:p>
          </p:txBody>
        </p:sp>
        <p:sp>
          <p:nvSpPr>
            <p:cNvPr id="8" name="Rectangle 12">
              <a:extLst>
                <a:ext uri="{FF2B5EF4-FFF2-40B4-BE49-F238E27FC236}">
                  <a16:creationId xmlns:a16="http://schemas.microsoft.com/office/drawing/2014/main" id="{13589377-4C11-580A-79E1-5A0E583141A3}"/>
                </a:ext>
              </a:extLst>
            </p:cNvPr>
            <p:cNvSpPr>
              <a:spLocks noChangeArrowheads="1"/>
            </p:cNvSpPr>
            <p:nvPr/>
          </p:nvSpPr>
          <p:spPr bwMode="auto">
            <a:xfrm>
              <a:off x="3591793" y="1192176"/>
              <a:ext cx="513335" cy="2610629"/>
            </a:xfrm>
            <a:prstGeom prst="rect">
              <a:avLst/>
            </a:prstGeom>
            <a:solidFill>
              <a:schemeClr val="accent2">
                <a:lumMod val="40000"/>
                <a:lumOff val="60000"/>
              </a:schemeClr>
            </a:solidFill>
            <a:ln>
              <a:noFill/>
            </a:ln>
            <a:effectLst/>
          </p:spPr>
          <p:txBody>
            <a:bodyPr wrap="none" anchor="ctr"/>
            <a:lstStyle/>
            <a:p>
              <a:endParaRPr lang="zh-CN" altLang="en-US" sz="1600"/>
            </a:p>
          </p:txBody>
        </p:sp>
        <p:sp>
          <p:nvSpPr>
            <p:cNvPr id="9" name="Rectangle 12">
              <a:extLst>
                <a:ext uri="{FF2B5EF4-FFF2-40B4-BE49-F238E27FC236}">
                  <a16:creationId xmlns:a16="http://schemas.microsoft.com/office/drawing/2014/main" id="{6A5E6C81-53B2-1FB2-C1F7-BD3B83E6DBD9}"/>
                </a:ext>
              </a:extLst>
            </p:cNvPr>
            <p:cNvSpPr>
              <a:spLocks noChangeArrowheads="1"/>
            </p:cNvSpPr>
            <p:nvPr/>
          </p:nvSpPr>
          <p:spPr bwMode="auto">
            <a:xfrm>
              <a:off x="2513371" y="1192176"/>
              <a:ext cx="513335" cy="2610629"/>
            </a:xfrm>
            <a:prstGeom prst="rect">
              <a:avLst/>
            </a:prstGeom>
            <a:solidFill>
              <a:schemeClr val="accent2">
                <a:lumMod val="40000"/>
                <a:lumOff val="60000"/>
              </a:schemeClr>
            </a:solidFill>
            <a:ln>
              <a:noFill/>
            </a:ln>
            <a:effectLst/>
          </p:spPr>
          <p:txBody>
            <a:bodyPr wrap="none" anchor="ctr"/>
            <a:lstStyle/>
            <a:p>
              <a:endParaRPr lang="zh-CN" altLang="en-US" sz="1600"/>
            </a:p>
          </p:txBody>
        </p:sp>
        <p:sp>
          <p:nvSpPr>
            <p:cNvPr id="10" name="Rectangle 4">
              <a:extLst>
                <a:ext uri="{FF2B5EF4-FFF2-40B4-BE49-F238E27FC236}">
                  <a16:creationId xmlns:a16="http://schemas.microsoft.com/office/drawing/2014/main" id="{2059445E-050D-4BF9-474A-EC7E7B7302E0}"/>
                </a:ext>
              </a:extLst>
            </p:cNvPr>
            <p:cNvSpPr>
              <a:spLocks noChangeArrowheads="1"/>
            </p:cNvSpPr>
            <p:nvPr/>
          </p:nvSpPr>
          <p:spPr bwMode="auto">
            <a:xfrm>
              <a:off x="2629834" y="1219140"/>
              <a:ext cx="259201" cy="429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r>
                <a:rPr kumimoji="1" lang="en-US" altLang="zh-CN" sz="1400">
                  <a:latin typeface="Times New Roman" panose="02020603050405020304" pitchFamily="18" charset="0"/>
                </a:rPr>
                <a:t>0</a:t>
              </a:r>
            </a:p>
          </p:txBody>
        </p:sp>
        <p:sp>
          <p:nvSpPr>
            <p:cNvPr id="11" name="Rectangle 5">
              <a:extLst>
                <a:ext uri="{FF2B5EF4-FFF2-40B4-BE49-F238E27FC236}">
                  <a16:creationId xmlns:a16="http://schemas.microsoft.com/office/drawing/2014/main" id="{47697FAA-1EF0-CEE8-DE01-C5593D1F8771}"/>
                </a:ext>
              </a:extLst>
            </p:cNvPr>
            <p:cNvSpPr>
              <a:spLocks noChangeArrowheads="1"/>
            </p:cNvSpPr>
            <p:nvPr/>
          </p:nvSpPr>
          <p:spPr bwMode="auto">
            <a:xfrm>
              <a:off x="3163234" y="1219140"/>
              <a:ext cx="259201" cy="429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r>
                <a:rPr kumimoji="1" lang="en-US" altLang="zh-CN" sz="1400">
                  <a:latin typeface="Times New Roman" panose="02020603050405020304" pitchFamily="18" charset="0"/>
                </a:rPr>
                <a:t>1</a:t>
              </a:r>
            </a:p>
          </p:txBody>
        </p:sp>
        <p:sp>
          <p:nvSpPr>
            <p:cNvPr id="12" name="Rectangle 6">
              <a:extLst>
                <a:ext uri="{FF2B5EF4-FFF2-40B4-BE49-F238E27FC236}">
                  <a16:creationId xmlns:a16="http://schemas.microsoft.com/office/drawing/2014/main" id="{55C2E736-4C56-5628-39FD-D61236B78CF1}"/>
                </a:ext>
              </a:extLst>
            </p:cNvPr>
            <p:cNvSpPr>
              <a:spLocks noChangeArrowheads="1"/>
            </p:cNvSpPr>
            <p:nvPr/>
          </p:nvSpPr>
          <p:spPr bwMode="auto">
            <a:xfrm>
              <a:off x="3693458" y="1219140"/>
              <a:ext cx="259201" cy="429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r>
                <a:rPr kumimoji="1" lang="en-US" altLang="zh-CN" sz="1400">
                  <a:latin typeface="Times New Roman" panose="02020603050405020304" pitchFamily="18" charset="0"/>
                </a:rPr>
                <a:t>0</a:t>
              </a:r>
            </a:p>
          </p:txBody>
        </p:sp>
        <p:sp>
          <p:nvSpPr>
            <p:cNvPr id="13" name="Rectangle 7">
              <a:extLst>
                <a:ext uri="{FF2B5EF4-FFF2-40B4-BE49-F238E27FC236}">
                  <a16:creationId xmlns:a16="http://schemas.microsoft.com/office/drawing/2014/main" id="{A39D841A-467C-EB6A-4018-BDF599DC6096}"/>
                </a:ext>
              </a:extLst>
            </p:cNvPr>
            <p:cNvSpPr>
              <a:spLocks noChangeArrowheads="1"/>
            </p:cNvSpPr>
            <p:nvPr/>
          </p:nvSpPr>
          <p:spPr bwMode="auto">
            <a:xfrm>
              <a:off x="4257021" y="1219140"/>
              <a:ext cx="259201" cy="429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r>
                <a:rPr kumimoji="1" lang="en-US" altLang="zh-CN" sz="1400">
                  <a:latin typeface="Times New Roman" panose="02020603050405020304" pitchFamily="18" charset="0"/>
                </a:rPr>
                <a:t>0</a:t>
              </a:r>
            </a:p>
          </p:txBody>
        </p:sp>
        <p:sp>
          <p:nvSpPr>
            <p:cNvPr id="14" name="Rectangle 8">
              <a:extLst>
                <a:ext uri="{FF2B5EF4-FFF2-40B4-BE49-F238E27FC236}">
                  <a16:creationId xmlns:a16="http://schemas.microsoft.com/office/drawing/2014/main" id="{F2DD27E0-1BF5-1190-5B34-E042FBDBF902}"/>
                </a:ext>
              </a:extLst>
            </p:cNvPr>
            <p:cNvSpPr>
              <a:spLocks noChangeArrowheads="1"/>
            </p:cNvSpPr>
            <p:nvPr/>
          </p:nvSpPr>
          <p:spPr bwMode="auto">
            <a:xfrm>
              <a:off x="4790420" y="1219140"/>
              <a:ext cx="259201" cy="429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r>
                <a:rPr kumimoji="1" lang="en-US" altLang="zh-CN" sz="1400">
                  <a:latin typeface="Times New Roman" panose="02020603050405020304" pitchFamily="18" charset="0"/>
                </a:rPr>
                <a:t>1</a:t>
              </a:r>
            </a:p>
          </p:txBody>
        </p:sp>
        <p:sp>
          <p:nvSpPr>
            <p:cNvPr id="15" name="Rectangle 9">
              <a:extLst>
                <a:ext uri="{FF2B5EF4-FFF2-40B4-BE49-F238E27FC236}">
                  <a16:creationId xmlns:a16="http://schemas.microsoft.com/office/drawing/2014/main" id="{2C42CC5E-35B8-EBCD-4DA5-A0F2DA00C493}"/>
                </a:ext>
              </a:extLst>
            </p:cNvPr>
            <p:cNvSpPr>
              <a:spLocks noChangeArrowheads="1"/>
            </p:cNvSpPr>
            <p:nvPr/>
          </p:nvSpPr>
          <p:spPr bwMode="auto">
            <a:xfrm>
              <a:off x="5323821" y="1219140"/>
              <a:ext cx="259201" cy="429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r>
                <a:rPr kumimoji="1" lang="en-US" altLang="zh-CN" sz="1400">
                  <a:latin typeface="Times New Roman" panose="02020603050405020304" pitchFamily="18" charset="0"/>
                </a:rPr>
                <a:t>1</a:t>
              </a:r>
            </a:p>
          </p:txBody>
        </p:sp>
        <p:sp>
          <p:nvSpPr>
            <p:cNvPr id="16" name="Rectangle 10">
              <a:extLst>
                <a:ext uri="{FF2B5EF4-FFF2-40B4-BE49-F238E27FC236}">
                  <a16:creationId xmlns:a16="http://schemas.microsoft.com/office/drawing/2014/main" id="{C22A38AE-D988-3254-8E85-14289720DEC4}"/>
                </a:ext>
              </a:extLst>
            </p:cNvPr>
            <p:cNvSpPr>
              <a:spLocks noChangeArrowheads="1"/>
            </p:cNvSpPr>
            <p:nvPr/>
          </p:nvSpPr>
          <p:spPr bwMode="auto">
            <a:xfrm>
              <a:off x="5855633" y="1219140"/>
              <a:ext cx="259201" cy="429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r>
                <a:rPr kumimoji="1" lang="en-US" altLang="zh-CN" sz="1400">
                  <a:latin typeface="Times New Roman" panose="02020603050405020304" pitchFamily="18" charset="0"/>
                </a:rPr>
                <a:t>1</a:t>
              </a:r>
            </a:p>
          </p:txBody>
        </p:sp>
        <p:sp>
          <p:nvSpPr>
            <p:cNvPr id="17" name="Rectangle 11">
              <a:extLst>
                <a:ext uri="{FF2B5EF4-FFF2-40B4-BE49-F238E27FC236}">
                  <a16:creationId xmlns:a16="http://schemas.microsoft.com/office/drawing/2014/main" id="{715629C0-B9A8-200A-D2C9-2B08FDA89538}"/>
                </a:ext>
              </a:extLst>
            </p:cNvPr>
            <p:cNvSpPr>
              <a:spLocks noChangeArrowheads="1"/>
            </p:cNvSpPr>
            <p:nvPr/>
          </p:nvSpPr>
          <p:spPr bwMode="auto">
            <a:xfrm>
              <a:off x="6419196" y="1219140"/>
              <a:ext cx="259201" cy="429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r>
                <a:rPr kumimoji="1" lang="en-US" altLang="zh-CN" sz="1400">
                  <a:latin typeface="Times New Roman" panose="02020603050405020304" pitchFamily="18" charset="0"/>
                </a:rPr>
                <a:t>0</a:t>
              </a:r>
            </a:p>
          </p:txBody>
        </p:sp>
        <p:sp>
          <p:nvSpPr>
            <p:cNvPr id="18" name="Rectangle 12">
              <a:extLst>
                <a:ext uri="{FF2B5EF4-FFF2-40B4-BE49-F238E27FC236}">
                  <a16:creationId xmlns:a16="http://schemas.microsoft.com/office/drawing/2014/main" id="{3F3E66DA-6047-7BC2-06DB-BE08447FAA44}"/>
                </a:ext>
              </a:extLst>
            </p:cNvPr>
            <p:cNvSpPr>
              <a:spLocks noChangeArrowheads="1"/>
            </p:cNvSpPr>
            <p:nvPr/>
          </p:nvSpPr>
          <p:spPr bwMode="auto">
            <a:xfrm>
              <a:off x="6968471" y="1219140"/>
              <a:ext cx="259201" cy="429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r>
                <a:rPr kumimoji="1" lang="en-US" altLang="zh-CN" sz="1400" dirty="0">
                  <a:latin typeface="Times New Roman" panose="02020603050405020304" pitchFamily="18" charset="0"/>
                </a:rPr>
                <a:t>0</a:t>
              </a:r>
            </a:p>
          </p:txBody>
        </p:sp>
        <p:sp>
          <p:nvSpPr>
            <p:cNvPr id="19" name="Freeform 13">
              <a:extLst>
                <a:ext uri="{FF2B5EF4-FFF2-40B4-BE49-F238E27FC236}">
                  <a16:creationId xmlns:a16="http://schemas.microsoft.com/office/drawing/2014/main" id="{9C92C8B9-7A35-5727-6982-DD0C5581BA4E}"/>
                </a:ext>
              </a:extLst>
            </p:cNvPr>
            <p:cNvSpPr>
              <a:spLocks/>
            </p:cNvSpPr>
            <p:nvPr/>
          </p:nvSpPr>
          <p:spPr bwMode="auto">
            <a:xfrm>
              <a:off x="2497497" y="1298270"/>
              <a:ext cx="4875212" cy="282575"/>
            </a:xfrm>
            <a:custGeom>
              <a:avLst/>
              <a:gdLst>
                <a:gd name="T0" fmla="*/ 0 w 4321"/>
                <a:gd name="T1" fmla="*/ 486 h 487"/>
                <a:gd name="T2" fmla="*/ 477 w 4321"/>
                <a:gd name="T3" fmla="*/ 486 h 487"/>
                <a:gd name="T4" fmla="*/ 477 w 4321"/>
                <a:gd name="T5" fmla="*/ 0 h 487"/>
                <a:gd name="T6" fmla="*/ 963 w 4321"/>
                <a:gd name="T7" fmla="*/ 0 h 487"/>
                <a:gd name="T8" fmla="*/ 963 w 4321"/>
                <a:gd name="T9" fmla="*/ 486 h 487"/>
                <a:gd name="T10" fmla="*/ 1926 w 4321"/>
                <a:gd name="T11" fmla="*/ 486 h 487"/>
                <a:gd name="T12" fmla="*/ 1926 w 4321"/>
                <a:gd name="T13" fmla="*/ 0 h 487"/>
                <a:gd name="T14" fmla="*/ 3357 w 4321"/>
                <a:gd name="T15" fmla="*/ 0 h 487"/>
                <a:gd name="T16" fmla="*/ 3357 w 4321"/>
                <a:gd name="T17" fmla="*/ 486 h 487"/>
                <a:gd name="T18" fmla="*/ 4320 w 4321"/>
                <a:gd name="T19" fmla="*/ 486 h 4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21" h="487">
                  <a:moveTo>
                    <a:pt x="0" y="486"/>
                  </a:moveTo>
                  <a:lnTo>
                    <a:pt x="477" y="486"/>
                  </a:lnTo>
                  <a:lnTo>
                    <a:pt x="477" y="0"/>
                  </a:lnTo>
                  <a:lnTo>
                    <a:pt x="963" y="0"/>
                  </a:lnTo>
                  <a:lnTo>
                    <a:pt x="963" y="486"/>
                  </a:lnTo>
                  <a:lnTo>
                    <a:pt x="1926" y="486"/>
                  </a:lnTo>
                  <a:lnTo>
                    <a:pt x="1926" y="0"/>
                  </a:lnTo>
                  <a:lnTo>
                    <a:pt x="3357" y="0"/>
                  </a:lnTo>
                  <a:lnTo>
                    <a:pt x="3357" y="486"/>
                  </a:lnTo>
                  <a:lnTo>
                    <a:pt x="4320" y="486"/>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grpSp>
          <p:nvGrpSpPr>
            <p:cNvPr id="20" name="Group 173">
              <a:extLst>
                <a:ext uri="{FF2B5EF4-FFF2-40B4-BE49-F238E27FC236}">
                  <a16:creationId xmlns:a16="http://schemas.microsoft.com/office/drawing/2014/main" id="{515D10E5-6C2E-65E2-7ADE-D649316FA1B6}"/>
                </a:ext>
              </a:extLst>
            </p:cNvPr>
            <p:cNvGrpSpPr>
              <a:grpSpLocks/>
            </p:cNvGrpSpPr>
            <p:nvPr/>
          </p:nvGrpSpPr>
          <p:grpSpPr bwMode="auto">
            <a:xfrm>
              <a:off x="2500672" y="2550808"/>
              <a:ext cx="4857750" cy="423862"/>
              <a:chOff x="771" y="669"/>
              <a:chExt cx="3060" cy="267"/>
            </a:xfrm>
          </p:grpSpPr>
          <p:sp>
            <p:nvSpPr>
              <p:cNvPr id="114" name="Freeform 47">
                <a:extLst>
                  <a:ext uri="{FF2B5EF4-FFF2-40B4-BE49-F238E27FC236}">
                    <a16:creationId xmlns:a16="http://schemas.microsoft.com/office/drawing/2014/main" id="{82844D02-7248-1976-8609-2A811732D20E}"/>
                  </a:ext>
                </a:extLst>
              </p:cNvPr>
              <p:cNvSpPr>
                <a:spLocks/>
              </p:cNvSpPr>
              <p:nvPr/>
            </p:nvSpPr>
            <p:spPr bwMode="auto">
              <a:xfrm>
                <a:off x="1108" y="671"/>
                <a:ext cx="27" cy="142"/>
              </a:xfrm>
              <a:custGeom>
                <a:avLst/>
                <a:gdLst>
                  <a:gd name="T0" fmla="*/ 0 w 38"/>
                  <a:gd name="T1" fmla="*/ 290 h 290"/>
                  <a:gd name="T2" fmla="*/ 26 w 38"/>
                  <a:gd name="T3" fmla="*/ 40 h 290"/>
                  <a:gd name="T4" fmla="*/ 27 w 38"/>
                  <a:gd name="T5" fmla="*/ 28 h 290"/>
                  <a:gd name="T6" fmla="*/ 28 w 38"/>
                  <a:gd name="T7" fmla="*/ 19 h 290"/>
                  <a:gd name="T8" fmla="*/ 30 w 38"/>
                  <a:gd name="T9" fmla="*/ 11 h 290"/>
                  <a:gd name="T10" fmla="*/ 33 w 38"/>
                  <a:gd name="T11" fmla="*/ 4 h 290"/>
                  <a:gd name="T12" fmla="*/ 38 w 38"/>
                  <a:gd name="T13" fmla="*/ 0 h 290"/>
                </a:gdLst>
                <a:ahLst/>
                <a:cxnLst>
                  <a:cxn ang="0">
                    <a:pos x="T0" y="T1"/>
                  </a:cxn>
                  <a:cxn ang="0">
                    <a:pos x="T2" y="T3"/>
                  </a:cxn>
                  <a:cxn ang="0">
                    <a:pos x="T4" y="T5"/>
                  </a:cxn>
                  <a:cxn ang="0">
                    <a:pos x="T6" y="T7"/>
                  </a:cxn>
                  <a:cxn ang="0">
                    <a:pos x="T8" y="T9"/>
                  </a:cxn>
                  <a:cxn ang="0">
                    <a:pos x="T10" y="T11"/>
                  </a:cxn>
                  <a:cxn ang="0">
                    <a:pos x="T12" y="T13"/>
                  </a:cxn>
                </a:cxnLst>
                <a:rect l="0" t="0" r="r" b="b"/>
                <a:pathLst>
                  <a:path w="38" h="290">
                    <a:moveTo>
                      <a:pt x="0" y="290"/>
                    </a:moveTo>
                    <a:lnTo>
                      <a:pt x="26" y="40"/>
                    </a:lnTo>
                    <a:lnTo>
                      <a:pt x="27" y="28"/>
                    </a:lnTo>
                    <a:lnTo>
                      <a:pt x="28" y="19"/>
                    </a:lnTo>
                    <a:lnTo>
                      <a:pt x="30" y="11"/>
                    </a:lnTo>
                    <a:lnTo>
                      <a:pt x="33" y="4"/>
                    </a:lnTo>
                    <a:lnTo>
                      <a:pt x="38" y="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15" name="Freeform 48">
                <a:extLst>
                  <a:ext uri="{FF2B5EF4-FFF2-40B4-BE49-F238E27FC236}">
                    <a16:creationId xmlns:a16="http://schemas.microsoft.com/office/drawing/2014/main" id="{76B3C33A-23DB-C905-E856-254625339815}"/>
                  </a:ext>
                </a:extLst>
              </p:cNvPr>
              <p:cNvSpPr>
                <a:spLocks/>
              </p:cNvSpPr>
              <p:nvPr/>
            </p:nvSpPr>
            <p:spPr bwMode="auto">
              <a:xfrm>
                <a:off x="1136" y="673"/>
                <a:ext cx="61" cy="260"/>
              </a:xfrm>
              <a:custGeom>
                <a:avLst/>
                <a:gdLst>
                  <a:gd name="T0" fmla="*/ 0 w 87"/>
                  <a:gd name="T1" fmla="*/ 0 h 709"/>
                  <a:gd name="T2" fmla="*/ 7 w 87"/>
                  <a:gd name="T3" fmla="*/ 4 h 709"/>
                  <a:gd name="T4" fmla="*/ 12 w 87"/>
                  <a:gd name="T5" fmla="*/ 16 h 709"/>
                  <a:gd name="T6" fmla="*/ 14 w 87"/>
                  <a:gd name="T7" fmla="*/ 33 h 709"/>
                  <a:gd name="T8" fmla="*/ 16 w 87"/>
                  <a:gd name="T9" fmla="*/ 59 h 709"/>
                  <a:gd name="T10" fmla="*/ 43 w 87"/>
                  <a:gd name="T11" fmla="*/ 651 h 709"/>
                  <a:gd name="T12" fmla="*/ 46 w 87"/>
                  <a:gd name="T13" fmla="*/ 684 h 709"/>
                  <a:gd name="T14" fmla="*/ 48 w 87"/>
                  <a:gd name="T15" fmla="*/ 694 h 709"/>
                  <a:gd name="T16" fmla="*/ 53 w 87"/>
                  <a:gd name="T17" fmla="*/ 704 h 709"/>
                  <a:gd name="T18" fmla="*/ 58 w 87"/>
                  <a:gd name="T19" fmla="*/ 708 h 709"/>
                  <a:gd name="T20" fmla="*/ 64 w 87"/>
                  <a:gd name="T21" fmla="*/ 700 h 709"/>
                  <a:gd name="T22" fmla="*/ 68 w 87"/>
                  <a:gd name="T23" fmla="*/ 684 h 709"/>
                  <a:gd name="T24" fmla="*/ 86 w 87"/>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7" h="709">
                    <a:moveTo>
                      <a:pt x="0" y="0"/>
                    </a:moveTo>
                    <a:lnTo>
                      <a:pt x="7" y="4"/>
                    </a:lnTo>
                    <a:lnTo>
                      <a:pt x="12" y="16"/>
                    </a:lnTo>
                    <a:lnTo>
                      <a:pt x="14" y="33"/>
                    </a:lnTo>
                    <a:lnTo>
                      <a:pt x="16" y="59"/>
                    </a:lnTo>
                    <a:lnTo>
                      <a:pt x="43" y="651"/>
                    </a:lnTo>
                    <a:lnTo>
                      <a:pt x="46" y="684"/>
                    </a:lnTo>
                    <a:lnTo>
                      <a:pt x="48" y="694"/>
                    </a:lnTo>
                    <a:lnTo>
                      <a:pt x="53" y="704"/>
                    </a:lnTo>
                    <a:lnTo>
                      <a:pt x="58" y="708"/>
                    </a:lnTo>
                    <a:lnTo>
                      <a:pt x="64" y="700"/>
                    </a:lnTo>
                    <a:lnTo>
                      <a:pt x="68" y="684"/>
                    </a:lnTo>
                    <a:lnTo>
                      <a:pt x="86" y="38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grpSp>
            <p:nvGrpSpPr>
              <p:cNvPr id="116" name="Group 49">
                <a:extLst>
                  <a:ext uri="{FF2B5EF4-FFF2-40B4-BE49-F238E27FC236}">
                    <a16:creationId xmlns:a16="http://schemas.microsoft.com/office/drawing/2014/main" id="{385FE999-3B06-9819-1C39-39C49B980E71}"/>
                  </a:ext>
                </a:extLst>
              </p:cNvPr>
              <p:cNvGrpSpPr>
                <a:grpSpLocks/>
              </p:cNvGrpSpPr>
              <p:nvPr/>
            </p:nvGrpSpPr>
            <p:grpSpPr bwMode="auto">
              <a:xfrm>
                <a:off x="1197" y="671"/>
                <a:ext cx="85" cy="262"/>
                <a:chOff x="1557" y="2272"/>
                <a:chExt cx="119" cy="713"/>
              </a:xfrm>
            </p:grpSpPr>
            <p:sp>
              <p:nvSpPr>
                <p:cNvPr id="172" name="Freeform 50">
                  <a:extLst>
                    <a:ext uri="{FF2B5EF4-FFF2-40B4-BE49-F238E27FC236}">
                      <a16:creationId xmlns:a16="http://schemas.microsoft.com/office/drawing/2014/main" id="{91B2C7C7-8F12-1B1E-82C4-78ECB086E688}"/>
                    </a:ext>
                  </a:extLst>
                </p:cNvPr>
                <p:cNvSpPr>
                  <a:spLocks/>
                </p:cNvSpPr>
                <p:nvPr/>
              </p:nvSpPr>
              <p:spPr bwMode="auto">
                <a:xfrm>
                  <a:off x="1557" y="2272"/>
                  <a:ext cx="33" cy="363"/>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73" name="Freeform 51">
                  <a:extLst>
                    <a:ext uri="{FF2B5EF4-FFF2-40B4-BE49-F238E27FC236}">
                      <a16:creationId xmlns:a16="http://schemas.microsoft.com/office/drawing/2014/main" id="{2866D0AC-2047-AF41-F27A-141052741E01}"/>
                    </a:ext>
                  </a:extLst>
                </p:cNvPr>
                <p:cNvSpPr>
                  <a:spLocks/>
                </p:cNvSpPr>
                <p:nvPr/>
              </p:nvSpPr>
              <p:spPr bwMode="auto">
                <a:xfrm>
                  <a:off x="1590" y="2276"/>
                  <a:ext cx="86" cy="709"/>
                </a:xfrm>
                <a:custGeom>
                  <a:avLst/>
                  <a:gdLst>
                    <a:gd name="T0" fmla="*/ 0 w 86"/>
                    <a:gd name="T1" fmla="*/ 0 h 709"/>
                    <a:gd name="T2" fmla="*/ 7 w 86"/>
                    <a:gd name="T3" fmla="*/ 4 h 709"/>
                    <a:gd name="T4" fmla="*/ 12 w 86"/>
                    <a:gd name="T5" fmla="*/ 16 h 709"/>
                    <a:gd name="T6" fmla="*/ 14 w 86"/>
                    <a:gd name="T7" fmla="*/ 33 h 709"/>
                    <a:gd name="T8" fmla="*/ 15 w 86"/>
                    <a:gd name="T9" fmla="*/ 59 h 709"/>
                    <a:gd name="T10" fmla="*/ 43 w 86"/>
                    <a:gd name="T11" fmla="*/ 651 h 709"/>
                    <a:gd name="T12" fmla="*/ 45 w 86"/>
                    <a:gd name="T13" fmla="*/ 684 h 709"/>
                    <a:gd name="T14" fmla="*/ 47 w 86"/>
                    <a:gd name="T15" fmla="*/ 694 h 709"/>
                    <a:gd name="T16" fmla="*/ 53 w 86"/>
                    <a:gd name="T17" fmla="*/ 704 h 709"/>
                    <a:gd name="T18" fmla="*/ 57 w 86"/>
                    <a:gd name="T19" fmla="*/ 708 h 709"/>
                    <a:gd name="T20" fmla="*/ 63 w 86"/>
                    <a:gd name="T21" fmla="*/ 700 h 709"/>
                    <a:gd name="T22" fmla="*/ 67 w 86"/>
                    <a:gd name="T23" fmla="*/ 684 h 709"/>
                    <a:gd name="T24" fmla="*/ 85 w 86"/>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709">
                      <a:moveTo>
                        <a:pt x="0" y="0"/>
                      </a:moveTo>
                      <a:lnTo>
                        <a:pt x="7" y="4"/>
                      </a:lnTo>
                      <a:lnTo>
                        <a:pt x="12" y="16"/>
                      </a:lnTo>
                      <a:lnTo>
                        <a:pt x="14" y="33"/>
                      </a:lnTo>
                      <a:lnTo>
                        <a:pt x="15" y="59"/>
                      </a:lnTo>
                      <a:lnTo>
                        <a:pt x="43" y="651"/>
                      </a:lnTo>
                      <a:lnTo>
                        <a:pt x="45" y="684"/>
                      </a:lnTo>
                      <a:lnTo>
                        <a:pt x="47" y="694"/>
                      </a:lnTo>
                      <a:lnTo>
                        <a:pt x="53" y="704"/>
                      </a:lnTo>
                      <a:lnTo>
                        <a:pt x="57" y="708"/>
                      </a:lnTo>
                      <a:lnTo>
                        <a:pt x="63" y="700"/>
                      </a:lnTo>
                      <a:lnTo>
                        <a:pt x="67" y="684"/>
                      </a:lnTo>
                      <a:lnTo>
                        <a:pt x="85" y="38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grpSp>
          <p:sp>
            <p:nvSpPr>
              <p:cNvPr id="117" name="Freeform 52">
                <a:extLst>
                  <a:ext uri="{FF2B5EF4-FFF2-40B4-BE49-F238E27FC236}">
                    <a16:creationId xmlns:a16="http://schemas.microsoft.com/office/drawing/2014/main" id="{FC38E719-9AEB-211B-C292-8FFC4E0691E3}"/>
                  </a:ext>
                </a:extLst>
              </p:cNvPr>
              <p:cNvSpPr>
                <a:spLocks/>
              </p:cNvSpPr>
              <p:nvPr/>
            </p:nvSpPr>
            <p:spPr bwMode="auto">
              <a:xfrm>
                <a:off x="1280" y="669"/>
                <a:ext cx="25" cy="144"/>
              </a:xfrm>
              <a:custGeom>
                <a:avLst/>
                <a:gdLst>
                  <a:gd name="T0" fmla="*/ 0 w 35"/>
                  <a:gd name="T1" fmla="*/ 294 h 294"/>
                  <a:gd name="T2" fmla="*/ 22 w 35"/>
                  <a:gd name="T3" fmla="*/ 40 h 294"/>
                  <a:gd name="T4" fmla="*/ 24 w 35"/>
                  <a:gd name="T5" fmla="*/ 28 h 294"/>
                  <a:gd name="T6" fmla="*/ 25 w 35"/>
                  <a:gd name="T7" fmla="*/ 19 h 294"/>
                  <a:gd name="T8" fmla="*/ 26 w 35"/>
                  <a:gd name="T9" fmla="*/ 11 h 294"/>
                  <a:gd name="T10" fmla="*/ 30 w 35"/>
                  <a:gd name="T11" fmla="*/ 4 h 294"/>
                  <a:gd name="T12" fmla="*/ 35 w 35"/>
                  <a:gd name="T13" fmla="*/ 0 h 294"/>
                </a:gdLst>
                <a:ahLst/>
                <a:cxnLst>
                  <a:cxn ang="0">
                    <a:pos x="T0" y="T1"/>
                  </a:cxn>
                  <a:cxn ang="0">
                    <a:pos x="T2" y="T3"/>
                  </a:cxn>
                  <a:cxn ang="0">
                    <a:pos x="T4" y="T5"/>
                  </a:cxn>
                  <a:cxn ang="0">
                    <a:pos x="T6" y="T7"/>
                  </a:cxn>
                  <a:cxn ang="0">
                    <a:pos x="T8" y="T9"/>
                  </a:cxn>
                  <a:cxn ang="0">
                    <a:pos x="T10" y="T11"/>
                  </a:cxn>
                  <a:cxn ang="0">
                    <a:pos x="T12" y="T13"/>
                  </a:cxn>
                </a:cxnLst>
                <a:rect l="0" t="0" r="r" b="b"/>
                <a:pathLst>
                  <a:path w="35" h="294">
                    <a:moveTo>
                      <a:pt x="0" y="294"/>
                    </a:moveTo>
                    <a:lnTo>
                      <a:pt x="22" y="40"/>
                    </a:lnTo>
                    <a:lnTo>
                      <a:pt x="24" y="28"/>
                    </a:lnTo>
                    <a:lnTo>
                      <a:pt x="25" y="19"/>
                    </a:lnTo>
                    <a:lnTo>
                      <a:pt x="26" y="11"/>
                    </a:lnTo>
                    <a:lnTo>
                      <a:pt x="30" y="4"/>
                    </a:lnTo>
                    <a:lnTo>
                      <a:pt x="35" y="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18" name="Freeform 53">
                <a:extLst>
                  <a:ext uri="{FF2B5EF4-FFF2-40B4-BE49-F238E27FC236}">
                    <a16:creationId xmlns:a16="http://schemas.microsoft.com/office/drawing/2014/main" id="{9DA08F32-392D-BCCD-FE33-09E44143DC47}"/>
                  </a:ext>
                </a:extLst>
              </p:cNvPr>
              <p:cNvSpPr>
                <a:spLocks/>
              </p:cNvSpPr>
              <p:nvPr/>
            </p:nvSpPr>
            <p:spPr bwMode="auto">
              <a:xfrm>
                <a:off x="1306" y="671"/>
                <a:ext cx="61" cy="259"/>
              </a:xfrm>
              <a:custGeom>
                <a:avLst/>
                <a:gdLst>
                  <a:gd name="T0" fmla="*/ 0 w 85"/>
                  <a:gd name="T1" fmla="*/ 0 h 709"/>
                  <a:gd name="T2" fmla="*/ 7 w 85"/>
                  <a:gd name="T3" fmla="*/ 4 h 709"/>
                  <a:gd name="T4" fmla="*/ 12 w 85"/>
                  <a:gd name="T5" fmla="*/ 16 h 709"/>
                  <a:gd name="T6" fmla="*/ 14 w 85"/>
                  <a:gd name="T7" fmla="*/ 33 h 709"/>
                  <a:gd name="T8" fmla="*/ 15 w 85"/>
                  <a:gd name="T9" fmla="*/ 59 h 709"/>
                  <a:gd name="T10" fmla="*/ 42 w 85"/>
                  <a:gd name="T11" fmla="*/ 651 h 709"/>
                  <a:gd name="T12" fmla="*/ 45 w 85"/>
                  <a:gd name="T13" fmla="*/ 684 h 709"/>
                  <a:gd name="T14" fmla="*/ 47 w 85"/>
                  <a:gd name="T15" fmla="*/ 694 h 709"/>
                  <a:gd name="T16" fmla="*/ 52 w 85"/>
                  <a:gd name="T17" fmla="*/ 704 h 709"/>
                  <a:gd name="T18" fmla="*/ 57 w 85"/>
                  <a:gd name="T19" fmla="*/ 708 h 709"/>
                  <a:gd name="T20" fmla="*/ 62 w 85"/>
                  <a:gd name="T21" fmla="*/ 700 h 709"/>
                  <a:gd name="T22" fmla="*/ 66 w 85"/>
                  <a:gd name="T23" fmla="*/ 684 h 709"/>
                  <a:gd name="T24" fmla="*/ 84 w 85"/>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09">
                    <a:moveTo>
                      <a:pt x="0" y="0"/>
                    </a:moveTo>
                    <a:lnTo>
                      <a:pt x="7" y="4"/>
                    </a:lnTo>
                    <a:lnTo>
                      <a:pt x="12" y="16"/>
                    </a:lnTo>
                    <a:lnTo>
                      <a:pt x="14" y="33"/>
                    </a:lnTo>
                    <a:lnTo>
                      <a:pt x="15" y="59"/>
                    </a:lnTo>
                    <a:lnTo>
                      <a:pt x="42" y="651"/>
                    </a:lnTo>
                    <a:lnTo>
                      <a:pt x="45" y="684"/>
                    </a:lnTo>
                    <a:lnTo>
                      <a:pt x="47" y="694"/>
                    </a:lnTo>
                    <a:lnTo>
                      <a:pt x="52" y="704"/>
                    </a:lnTo>
                    <a:lnTo>
                      <a:pt x="57" y="708"/>
                    </a:lnTo>
                    <a:lnTo>
                      <a:pt x="62" y="700"/>
                    </a:lnTo>
                    <a:lnTo>
                      <a:pt x="66" y="684"/>
                    </a:lnTo>
                    <a:lnTo>
                      <a:pt x="84" y="38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19" name="Freeform 54">
                <a:extLst>
                  <a:ext uri="{FF2B5EF4-FFF2-40B4-BE49-F238E27FC236}">
                    <a16:creationId xmlns:a16="http://schemas.microsoft.com/office/drawing/2014/main" id="{73E92EBA-3324-F797-55E6-66C75A435427}"/>
                  </a:ext>
                </a:extLst>
              </p:cNvPr>
              <p:cNvSpPr>
                <a:spLocks/>
              </p:cNvSpPr>
              <p:nvPr/>
            </p:nvSpPr>
            <p:spPr bwMode="auto">
              <a:xfrm>
                <a:off x="1366" y="669"/>
                <a:ext cx="25" cy="137"/>
              </a:xfrm>
              <a:custGeom>
                <a:avLst/>
                <a:gdLst>
                  <a:gd name="T0" fmla="*/ 0 w 35"/>
                  <a:gd name="T1" fmla="*/ 279 h 279"/>
                  <a:gd name="T2" fmla="*/ 22 w 35"/>
                  <a:gd name="T3" fmla="*/ 40 h 279"/>
                  <a:gd name="T4" fmla="*/ 23 w 35"/>
                  <a:gd name="T5" fmla="*/ 28 h 279"/>
                  <a:gd name="T6" fmla="*/ 24 w 35"/>
                  <a:gd name="T7" fmla="*/ 19 h 279"/>
                  <a:gd name="T8" fmla="*/ 26 w 35"/>
                  <a:gd name="T9" fmla="*/ 11 h 279"/>
                  <a:gd name="T10" fmla="*/ 30 w 35"/>
                  <a:gd name="T11" fmla="*/ 4 h 279"/>
                  <a:gd name="T12" fmla="*/ 35 w 35"/>
                  <a:gd name="T13" fmla="*/ 0 h 279"/>
                </a:gdLst>
                <a:ahLst/>
                <a:cxnLst>
                  <a:cxn ang="0">
                    <a:pos x="T0" y="T1"/>
                  </a:cxn>
                  <a:cxn ang="0">
                    <a:pos x="T2" y="T3"/>
                  </a:cxn>
                  <a:cxn ang="0">
                    <a:pos x="T4" y="T5"/>
                  </a:cxn>
                  <a:cxn ang="0">
                    <a:pos x="T6" y="T7"/>
                  </a:cxn>
                  <a:cxn ang="0">
                    <a:pos x="T8" y="T9"/>
                  </a:cxn>
                  <a:cxn ang="0">
                    <a:pos x="T10" y="T11"/>
                  </a:cxn>
                  <a:cxn ang="0">
                    <a:pos x="T12" y="T13"/>
                  </a:cxn>
                </a:cxnLst>
                <a:rect l="0" t="0" r="r" b="b"/>
                <a:pathLst>
                  <a:path w="35" h="279">
                    <a:moveTo>
                      <a:pt x="0" y="279"/>
                    </a:moveTo>
                    <a:lnTo>
                      <a:pt x="22" y="40"/>
                    </a:lnTo>
                    <a:lnTo>
                      <a:pt x="23" y="28"/>
                    </a:lnTo>
                    <a:lnTo>
                      <a:pt x="24" y="19"/>
                    </a:lnTo>
                    <a:lnTo>
                      <a:pt x="26" y="11"/>
                    </a:lnTo>
                    <a:lnTo>
                      <a:pt x="30" y="4"/>
                    </a:lnTo>
                    <a:lnTo>
                      <a:pt x="35" y="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20" name="Freeform 55">
                <a:extLst>
                  <a:ext uri="{FF2B5EF4-FFF2-40B4-BE49-F238E27FC236}">
                    <a16:creationId xmlns:a16="http://schemas.microsoft.com/office/drawing/2014/main" id="{78CA8887-A2D8-84EE-DE78-30DE469D8E5E}"/>
                  </a:ext>
                </a:extLst>
              </p:cNvPr>
              <p:cNvSpPr>
                <a:spLocks/>
              </p:cNvSpPr>
              <p:nvPr/>
            </p:nvSpPr>
            <p:spPr bwMode="auto">
              <a:xfrm>
                <a:off x="1392" y="671"/>
                <a:ext cx="67" cy="259"/>
              </a:xfrm>
              <a:custGeom>
                <a:avLst/>
                <a:gdLst>
                  <a:gd name="T0" fmla="*/ 0 w 96"/>
                  <a:gd name="T1" fmla="*/ 0 h 530"/>
                  <a:gd name="T2" fmla="*/ 7 w 96"/>
                  <a:gd name="T3" fmla="*/ 3 h 530"/>
                  <a:gd name="T4" fmla="*/ 12 w 96"/>
                  <a:gd name="T5" fmla="*/ 12 h 530"/>
                  <a:gd name="T6" fmla="*/ 14 w 96"/>
                  <a:gd name="T7" fmla="*/ 25 h 530"/>
                  <a:gd name="T8" fmla="*/ 15 w 96"/>
                  <a:gd name="T9" fmla="*/ 44 h 530"/>
                  <a:gd name="T10" fmla="*/ 42 w 96"/>
                  <a:gd name="T11" fmla="*/ 488 h 530"/>
                  <a:gd name="T12" fmla="*/ 45 w 96"/>
                  <a:gd name="T13" fmla="*/ 512 h 530"/>
                  <a:gd name="T14" fmla="*/ 47 w 96"/>
                  <a:gd name="T15" fmla="*/ 520 h 530"/>
                  <a:gd name="T16" fmla="*/ 52 w 96"/>
                  <a:gd name="T17" fmla="*/ 527 h 530"/>
                  <a:gd name="T18" fmla="*/ 57 w 96"/>
                  <a:gd name="T19" fmla="*/ 530 h 530"/>
                  <a:gd name="T20" fmla="*/ 62 w 96"/>
                  <a:gd name="T21" fmla="*/ 524 h 530"/>
                  <a:gd name="T22" fmla="*/ 66 w 96"/>
                  <a:gd name="T23" fmla="*/ 512 h 530"/>
                  <a:gd name="T24" fmla="*/ 96 w 96"/>
                  <a:gd name="T25" fmla="*/ 285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6"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96" y="285"/>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21" name="Freeform 56">
                <a:extLst>
                  <a:ext uri="{FF2B5EF4-FFF2-40B4-BE49-F238E27FC236}">
                    <a16:creationId xmlns:a16="http://schemas.microsoft.com/office/drawing/2014/main" id="{83EE0C8E-A66D-30E8-7F86-9414C873F272}"/>
                  </a:ext>
                </a:extLst>
              </p:cNvPr>
              <p:cNvSpPr>
                <a:spLocks/>
              </p:cNvSpPr>
              <p:nvPr/>
            </p:nvSpPr>
            <p:spPr bwMode="auto">
              <a:xfrm>
                <a:off x="2817" y="672"/>
                <a:ext cx="24" cy="133"/>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22" name="Freeform 57">
                <a:extLst>
                  <a:ext uri="{FF2B5EF4-FFF2-40B4-BE49-F238E27FC236}">
                    <a16:creationId xmlns:a16="http://schemas.microsoft.com/office/drawing/2014/main" id="{0A51F5EE-F3E0-CACC-1889-B55668B9B6CF}"/>
                  </a:ext>
                </a:extLst>
              </p:cNvPr>
              <p:cNvSpPr>
                <a:spLocks/>
              </p:cNvSpPr>
              <p:nvPr/>
            </p:nvSpPr>
            <p:spPr bwMode="auto">
              <a:xfrm>
                <a:off x="2841" y="673"/>
                <a:ext cx="60" cy="260"/>
              </a:xfrm>
              <a:custGeom>
                <a:avLst/>
                <a:gdLst>
                  <a:gd name="T0" fmla="*/ 0 w 85"/>
                  <a:gd name="T1" fmla="*/ 0 h 530"/>
                  <a:gd name="T2" fmla="*/ 7 w 85"/>
                  <a:gd name="T3" fmla="*/ 3 h 530"/>
                  <a:gd name="T4" fmla="*/ 12 w 85"/>
                  <a:gd name="T5" fmla="*/ 12 h 530"/>
                  <a:gd name="T6" fmla="*/ 14 w 85"/>
                  <a:gd name="T7" fmla="*/ 25 h 530"/>
                  <a:gd name="T8" fmla="*/ 15 w 85"/>
                  <a:gd name="T9" fmla="*/ 44 h 530"/>
                  <a:gd name="T10" fmla="*/ 43 w 85"/>
                  <a:gd name="T11" fmla="*/ 488 h 530"/>
                  <a:gd name="T12" fmla="*/ 45 w 85"/>
                  <a:gd name="T13" fmla="*/ 512 h 530"/>
                  <a:gd name="T14" fmla="*/ 47 w 85"/>
                  <a:gd name="T15" fmla="*/ 520 h 530"/>
                  <a:gd name="T16" fmla="*/ 53 w 85"/>
                  <a:gd name="T17" fmla="*/ 527 h 530"/>
                  <a:gd name="T18" fmla="*/ 57 w 85"/>
                  <a:gd name="T19" fmla="*/ 530 h 530"/>
                  <a:gd name="T20" fmla="*/ 63 w 85"/>
                  <a:gd name="T21" fmla="*/ 524 h 530"/>
                  <a:gd name="T22" fmla="*/ 67 w 85"/>
                  <a:gd name="T23" fmla="*/ 512 h 530"/>
                  <a:gd name="T24" fmla="*/ 85 w 85"/>
                  <a:gd name="T25" fmla="*/ 270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5" y="27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23" name="Freeform 58">
                <a:extLst>
                  <a:ext uri="{FF2B5EF4-FFF2-40B4-BE49-F238E27FC236}">
                    <a16:creationId xmlns:a16="http://schemas.microsoft.com/office/drawing/2014/main" id="{8E21B626-BA58-9C44-A2FD-3270DE45DD22}"/>
                  </a:ext>
                </a:extLst>
              </p:cNvPr>
              <p:cNvSpPr>
                <a:spLocks/>
              </p:cNvSpPr>
              <p:nvPr/>
            </p:nvSpPr>
            <p:spPr bwMode="auto">
              <a:xfrm>
                <a:off x="2901" y="672"/>
                <a:ext cx="24" cy="133"/>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24" name="Freeform 59">
                <a:extLst>
                  <a:ext uri="{FF2B5EF4-FFF2-40B4-BE49-F238E27FC236}">
                    <a16:creationId xmlns:a16="http://schemas.microsoft.com/office/drawing/2014/main" id="{5E099FD9-A627-55EB-CEAC-B4FECA27CE30}"/>
                  </a:ext>
                </a:extLst>
              </p:cNvPr>
              <p:cNvSpPr>
                <a:spLocks/>
              </p:cNvSpPr>
              <p:nvPr/>
            </p:nvSpPr>
            <p:spPr bwMode="auto">
              <a:xfrm>
                <a:off x="2925" y="673"/>
                <a:ext cx="61" cy="260"/>
              </a:xfrm>
              <a:custGeom>
                <a:avLst/>
                <a:gdLst>
                  <a:gd name="T0" fmla="*/ 0 w 87"/>
                  <a:gd name="T1" fmla="*/ 0 h 530"/>
                  <a:gd name="T2" fmla="*/ 7 w 87"/>
                  <a:gd name="T3" fmla="*/ 3 h 530"/>
                  <a:gd name="T4" fmla="*/ 12 w 87"/>
                  <a:gd name="T5" fmla="*/ 12 h 530"/>
                  <a:gd name="T6" fmla="*/ 14 w 87"/>
                  <a:gd name="T7" fmla="*/ 25 h 530"/>
                  <a:gd name="T8" fmla="*/ 15 w 87"/>
                  <a:gd name="T9" fmla="*/ 44 h 530"/>
                  <a:gd name="T10" fmla="*/ 42 w 87"/>
                  <a:gd name="T11" fmla="*/ 488 h 530"/>
                  <a:gd name="T12" fmla="*/ 45 w 87"/>
                  <a:gd name="T13" fmla="*/ 512 h 530"/>
                  <a:gd name="T14" fmla="*/ 47 w 87"/>
                  <a:gd name="T15" fmla="*/ 520 h 530"/>
                  <a:gd name="T16" fmla="*/ 52 w 87"/>
                  <a:gd name="T17" fmla="*/ 527 h 530"/>
                  <a:gd name="T18" fmla="*/ 57 w 87"/>
                  <a:gd name="T19" fmla="*/ 530 h 530"/>
                  <a:gd name="T20" fmla="*/ 62 w 87"/>
                  <a:gd name="T21" fmla="*/ 524 h 530"/>
                  <a:gd name="T22" fmla="*/ 66 w 87"/>
                  <a:gd name="T23" fmla="*/ 512 h 530"/>
                  <a:gd name="T24" fmla="*/ 87 w 87"/>
                  <a:gd name="T25" fmla="*/ 264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7"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87" y="264"/>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25" name="Freeform 60">
                <a:extLst>
                  <a:ext uri="{FF2B5EF4-FFF2-40B4-BE49-F238E27FC236}">
                    <a16:creationId xmlns:a16="http://schemas.microsoft.com/office/drawing/2014/main" id="{FD5B4B2D-EFE9-6ADF-AE1E-D4C2A37547F1}"/>
                  </a:ext>
                </a:extLst>
              </p:cNvPr>
              <p:cNvSpPr>
                <a:spLocks/>
              </p:cNvSpPr>
              <p:nvPr/>
            </p:nvSpPr>
            <p:spPr bwMode="auto">
              <a:xfrm>
                <a:off x="2985" y="670"/>
                <a:ext cx="24" cy="133"/>
              </a:xfrm>
              <a:custGeom>
                <a:avLst/>
                <a:gdLst>
                  <a:gd name="T0" fmla="*/ 0 w 34"/>
                  <a:gd name="T1" fmla="*/ 362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26" name="Freeform 61">
                <a:extLst>
                  <a:ext uri="{FF2B5EF4-FFF2-40B4-BE49-F238E27FC236}">
                    <a16:creationId xmlns:a16="http://schemas.microsoft.com/office/drawing/2014/main" id="{43E6BC18-0C86-D7DD-22F8-0CE0539DA024}"/>
                  </a:ext>
                </a:extLst>
              </p:cNvPr>
              <p:cNvSpPr>
                <a:spLocks/>
              </p:cNvSpPr>
              <p:nvPr/>
            </p:nvSpPr>
            <p:spPr bwMode="auto">
              <a:xfrm>
                <a:off x="3009" y="671"/>
                <a:ext cx="61" cy="260"/>
              </a:xfrm>
              <a:custGeom>
                <a:avLst/>
                <a:gdLst>
                  <a:gd name="T0" fmla="*/ 0 w 85"/>
                  <a:gd name="T1" fmla="*/ 0 h 530"/>
                  <a:gd name="T2" fmla="*/ 7 w 85"/>
                  <a:gd name="T3" fmla="*/ 3 h 530"/>
                  <a:gd name="T4" fmla="*/ 12 w 85"/>
                  <a:gd name="T5" fmla="*/ 12 h 530"/>
                  <a:gd name="T6" fmla="*/ 13 w 85"/>
                  <a:gd name="T7" fmla="*/ 25 h 530"/>
                  <a:gd name="T8" fmla="*/ 15 w 85"/>
                  <a:gd name="T9" fmla="*/ 44 h 530"/>
                  <a:gd name="T10" fmla="*/ 42 w 85"/>
                  <a:gd name="T11" fmla="*/ 488 h 530"/>
                  <a:gd name="T12" fmla="*/ 44 w 85"/>
                  <a:gd name="T13" fmla="*/ 512 h 530"/>
                  <a:gd name="T14" fmla="*/ 46 w 85"/>
                  <a:gd name="T15" fmla="*/ 520 h 530"/>
                  <a:gd name="T16" fmla="*/ 52 w 85"/>
                  <a:gd name="T17" fmla="*/ 527 h 530"/>
                  <a:gd name="T18" fmla="*/ 56 w 85"/>
                  <a:gd name="T19" fmla="*/ 530 h 530"/>
                  <a:gd name="T20" fmla="*/ 62 w 85"/>
                  <a:gd name="T21" fmla="*/ 524 h 530"/>
                  <a:gd name="T22" fmla="*/ 65 w 85"/>
                  <a:gd name="T23" fmla="*/ 512 h 530"/>
                  <a:gd name="T24" fmla="*/ 85 w 85"/>
                  <a:gd name="T25" fmla="*/ 274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85" y="274"/>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grpSp>
            <p:nvGrpSpPr>
              <p:cNvPr id="127" name="Group 62">
                <a:extLst>
                  <a:ext uri="{FF2B5EF4-FFF2-40B4-BE49-F238E27FC236}">
                    <a16:creationId xmlns:a16="http://schemas.microsoft.com/office/drawing/2014/main" id="{733F5DD5-1FBA-0F0A-8BDE-E369FEDBDD3F}"/>
                  </a:ext>
                </a:extLst>
              </p:cNvPr>
              <p:cNvGrpSpPr>
                <a:grpSpLocks/>
              </p:cNvGrpSpPr>
              <p:nvPr/>
            </p:nvGrpSpPr>
            <p:grpSpPr bwMode="auto">
              <a:xfrm>
                <a:off x="3069" y="670"/>
                <a:ext cx="85" cy="261"/>
                <a:chOff x="4190" y="2269"/>
                <a:chExt cx="119" cy="713"/>
              </a:xfrm>
            </p:grpSpPr>
            <p:sp>
              <p:nvSpPr>
                <p:cNvPr id="170" name="Freeform 63">
                  <a:extLst>
                    <a:ext uri="{FF2B5EF4-FFF2-40B4-BE49-F238E27FC236}">
                      <a16:creationId xmlns:a16="http://schemas.microsoft.com/office/drawing/2014/main" id="{CBDFEF56-2BF7-AAB2-9F60-AE82D5FE1702}"/>
                    </a:ext>
                  </a:extLst>
                </p:cNvPr>
                <p:cNvSpPr>
                  <a:spLocks/>
                </p:cNvSpPr>
                <p:nvPr/>
              </p:nvSpPr>
              <p:spPr bwMode="auto">
                <a:xfrm>
                  <a:off x="4190" y="2269"/>
                  <a:ext cx="35" cy="363"/>
                </a:xfrm>
                <a:custGeom>
                  <a:avLst/>
                  <a:gdLst>
                    <a:gd name="T0" fmla="*/ 0 w 35"/>
                    <a:gd name="T1" fmla="*/ 362 h 363"/>
                    <a:gd name="T2" fmla="*/ 21 w 35"/>
                    <a:gd name="T3" fmla="*/ 54 h 363"/>
                    <a:gd name="T4" fmla="*/ 22 w 35"/>
                    <a:gd name="T5" fmla="*/ 38 h 363"/>
                    <a:gd name="T6" fmla="*/ 23 w 35"/>
                    <a:gd name="T7" fmla="*/ 25 h 363"/>
                    <a:gd name="T8" fmla="*/ 25 w 35"/>
                    <a:gd name="T9" fmla="*/ 15 h 363"/>
                    <a:gd name="T10" fmla="*/ 29 w 35"/>
                    <a:gd name="T11" fmla="*/ 6 h 363"/>
                    <a:gd name="T12" fmla="*/ 34 w 3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71" name="Freeform 64">
                  <a:extLst>
                    <a:ext uri="{FF2B5EF4-FFF2-40B4-BE49-F238E27FC236}">
                      <a16:creationId xmlns:a16="http://schemas.microsoft.com/office/drawing/2014/main" id="{D6DBD62B-9979-120C-47A3-AF9B4CEB9A08}"/>
                    </a:ext>
                  </a:extLst>
                </p:cNvPr>
                <p:cNvSpPr>
                  <a:spLocks/>
                </p:cNvSpPr>
                <p:nvPr/>
              </p:nvSpPr>
              <p:spPr bwMode="auto">
                <a:xfrm>
                  <a:off x="4225" y="227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grpSp>
          <p:sp>
            <p:nvSpPr>
              <p:cNvPr id="128" name="Freeform 65">
                <a:extLst>
                  <a:ext uri="{FF2B5EF4-FFF2-40B4-BE49-F238E27FC236}">
                    <a16:creationId xmlns:a16="http://schemas.microsoft.com/office/drawing/2014/main" id="{077C76A9-4611-C1EB-C9B7-79E603876DA5}"/>
                  </a:ext>
                </a:extLst>
              </p:cNvPr>
              <p:cNvSpPr>
                <a:spLocks/>
              </p:cNvSpPr>
              <p:nvPr/>
            </p:nvSpPr>
            <p:spPr bwMode="auto">
              <a:xfrm>
                <a:off x="2480" y="672"/>
                <a:ext cx="23" cy="133"/>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29" name="Freeform 66">
                <a:extLst>
                  <a:ext uri="{FF2B5EF4-FFF2-40B4-BE49-F238E27FC236}">
                    <a16:creationId xmlns:a16="http://schemas.microsoft.com/office/drawing/2014/main" id="{E6BD3C02-2E40-1632-3665-17D6742DDD78}"/>
                  </a:ext>
                </a:extLst>
              </p:cNvPr>
              <p:cNvSpPr>
                <a:spLocks/>
              </p:cNvSpPr>
              <p:nvPr/>
            </p:nvSpPr>
            <p:spPr bwMode="auto">
              <a:xfrm>
                <a:off x="2503" y="673"/>
                <a:ext cx="63" cy="260"/>
              </a:xfrm>
              <a:custGeom>
                <a:avLst/>
                <a:gdLst>
                  <a:gd name="T0" fmla="*/ 0 w 89"/>
                  <a:gd name="T1" fmla="*/ 0 h 530"/>
                  <a:gd name="T2" fmla="*/ 7 w 89"/>
                  <a:gd name="T3" fmla="*/ 3 h 530"/>
                  <a:gd name="T4" fmla="*/ 12 w 89"/>
                  <a:gd name="T5" fmla="*/ 12 h 530"/>
                  <a:gd name="T6" fmla="*/ 14 w 89"/>
                  <a:gd name="T7" fmla="*/ 25 h 530"/>
                  <a:gd name="T8" fmla="*/ 15 w 89"/>
                  <a:gd name="T9" fmla="*/ 44 h 530"/>
                  <a:gd name="T10" fmla="*/ 43 w 89"/>
                  <a:gd name="T11" fmla="*/ 488 h 530"/>
                  <a:gd name="T12" fmla="*/ 45 w 89"/>
                  <a:gd name="T13" fmla="*/ 512 h 530"/>
                  <a:gd name="T14" fmla="*/ 47 w 89"/>
                  <a:gd name="T15" fmla="*/ 520 h 530"/>
                  <a:gd name="T16" fmla="*/ 53 w 89"/>
                  <a:gd name="T17" fmla="*/ 527 h 530"/>
                  <a:gd name="T18" fmla="*/ 57 w 89"/>
                  <a:gd name="T19" fmla="*/ 530 h 530"/>
                  <a:gd name="T20" fmla="*/ 63 w 89"/>
                  <a:gd name="T21" fmla="*/ 524 h 530"/>
                  <a:gd name="T22" fmla="*/ 67 w 89"/>
                  <a:gd name="T23" fmla="*/ 512 h 530"/>
                  <a:gd name="T24" fmla="*/ 89 w 89"/>
                  <a:gd name="T25" fmla="*/ 264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9"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9" y="264"/>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30" name="Freeform 67">
                <a:extLst>
                  <a:ext uri="{FF2B5EF4-FFF2-40B4-BE49-F238E27FC236}">
                    <a16:creationId xmlns:a16="http://schemas.microsoft.com/office/drawing/2014/main" id="{17A0F3FB-FC8C-991B-99BD-B557CD1AF303}"/>
                  </a:ext>
                </a:extLst>
              </p:cNvPr>
              <p:cNvSpPr>
                <a:spLocks/>
              </p:cNvSpPr>
              <p:nvPr/>
            </p:nvSpPr>
            <p:spPr bwMode="auto">
              <a:xfrm>
                <a:off x="2564" y="672"/>
                <a:ext cx="23" cy="133"/>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31" name="Freeform 68">
                <a:extLst>
                  <a:ext uri="{FF2B5EF4-FFF2-40B4-BE49-F238E27FC236}">
                    <a16:creationId xmlns:a16="http://schemas.microsoft.com/office/drawing/2014/main" id="{A9531D27-206C-D34F-2583-DA07CEA35818}"/>
                  </a:ext>
                </a:extLst>
              </p:cNvPr>
              <p:cNvSpPr>
                <a:spLocks/>
              </p:cNvSpPr>
              <p:nvPr/>
            </p:nvSpPr>
            <p:spPr bwMode="auto">
              <a:xfrm>
                <a:off x="2587" y="673"/>
                <a:ext cx="61" cy="260"/>
              </a:xfrm>
              <a:custGeom>
                <a:avLst/>
                <a:gdLst>
                  <a:gd name="T0" fmla="*/ 0 w 85"/>
                  <a:gd name="T1" fmla="*/ 0 h 530"/>
                  <a:gd name="T2" fmla="*/ 7 w 85"/>
                  <a:gd name="T3" fmla="*/ 3 h 530"/>
                  <a:gd name="T4" fmla="*/ 12 w 85"/>
                  <a:gd name="T5" fmla="*/ 12 h 530"/>
                  <a:gd name="T6" fmla="*/ 14 w 85"/>
                  <a:gd name="T7" fmla="*/ 25 h 530"/>
                  <a:gd name="T8" fmla="*/ 15 w 85"/>
                  <a:gd name="T9" fmla="*/ 44 h 530"/>
                  <a:gd name="T10" fmla="*/ 42 w 85"/>
                  <a:gd name="T11" fmla="*/ 488 h 530"/>
                  <a:gd name="T12" fmla="*/ 45 w 85"/>
                  <a:gd name="T13" fmla="*/ 512 h 530"/>
                  <a:gd name="T14" fmla="*/ 47 w 85"/>
                  <a:gd name="T15" fmla="*/ 520 h 530"/>
                  <a:gd name="T16" fmla="*/ 52 w 85"/>
                  <a:gd name="T17" fmla="*/ 527 h 530"/>
                  <a:gd name="T18" fmla="*/ 57 w 85"/>
                  <a:gd name="T19" fmla="*/ 530 h 530"/>
                  <a:gd name="T20" fmla="*/ 62 w 85"/>
                  <a:gd name="T21" fmla="*/ 524 h 530"/>
                  <a:gd name="T22" fmla="*/ 66 w 85"/>
                  <a:gd name="T23" fmla="*/ 512 h 530"/>
                  <a:gd name="T24" fmla="*/ 85 w 85"/>
                  <a:gd name="T25" fmla="*/ 264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85" y="264"/>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32" name="Freeform 69">
                <a:extLst>
                  <a:ext uri="{FF2B5EF4-FFF2-40B4-BE49-F238E27FC236}">
                    <a16:creationId xmlns:a16="http://schemas.microsoft.com/office/drawing/2014/main" id="{BDF7CFD9-A775-2712-443A-96E023F4E9A0}"/>
                  </a:ext>
                </a:extLst>
              </p:cNvPr>
              <p:cNvSpPr>
                <a:spLocks/>
              </p:cNvSpPr>
              <p:nvPr/>
            </p:nvSpPr>
            <p:spPr bwMode="auto">
              <a:xfrm>
                <a:off x="2648" y="670"/>
                <a:ext cx="24" cy="133"/>
              </a:xfrm>
              <a:custGeom>
                <a:avLst/>
                <a:gdLst>
                  <a:gd name="T0" fmla="*/ 0 w 34"/>
                  <a:gd name="T1" fmla="*/ 362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33" name="Freeform 70">
                <a:extLst>
                  <a:ext uri="{FF2B5EF4-FFF2-40B4-BE49-F238E27FC236}">
                    <a16:creationId xmlns:a16="http://schemas.microsoft.com/office/drawing/2014/main" id="{48AE93E1-C1BA-229B-2986-70DC68A85D80}"/>
                  </a:ext>
                </a:extLst>
              </p:cNvPr>
              <p:cNvSpPr>
                <a:spLocks/>
              </p:cNvSpPr>
              <p:nvPr/>
            </p:nvSpPr>
            <p:spPr bwMode="auto">
              <a:xfrm>
                <a:off x="2672" y="671"/>
                <a:ext cx="61" cy="260"/>
              </a:xfrm>
              <a:custGeom>
                <a:avLst/>
                <a:gdLst>
                  <a:gd name="T0" fmla="*/ 0 w 86"/>
                  <a:gd name="T1" fmla="*/ 0 h 530"/>
                  <a:gd name="T2" fmla="*/ 7 w 86"/>
                  <a:gd name="T3" fmla="*/ 3 h 530"/>
                  <a:gd name="T4" fmla="*/ 12 w 86"/>
                  <a:gd name="T5" fmla="*/ 12 h 530"/>
                  <a:gd name="T6" fmla="*/ 13 w 86"/>
                  <a:gd name="T7" fmla="*/ 25 h 530"/>
                  <a:gd name="T8" fmla="*/ 15 w 86"/>
                  <a:gd name="T9" fmla="*/ 44 h 530"/>
                  <a:gd name="T10" fmla="*/ 42 w 86"/>
                  <a:gd name="T11" fmla="*/ 488 h 530"/>
                  <a:gd name="T12" fmla="*/ 44 w 86"/>
                  <a:gd name="T13" fmla="*/ 512 h 530"/>
                  <a:gd name="T14" fmla="*/ 46 w 86"/>
                  <a:gd name="T15" fmla="*/ 520 h 530"/>
                  <a:gd name="T16" fmla="*/ 52 w 86"/>
                  <a:gd name="T17" fmla="*/ 527 h 530"/>
                  <a:gd name="T18" fmla="*/ 56 w 86"/>
                  <a:gd name="T19" fmla="*/ 530 h 530"/>
                  <a:gd name="T20" fmla="*/ 62 w 86"/>
                  <a:gd name="T21" fmla="*/ 524 h 530"/>
                  <a:gd name="T22" fmla="*/ 65 w 86"/>
                  <a:gd name="T23" fmla="*/ 512 h 530"/>
                  <a:gd name="T24" fmla="*/ 86 w 86"/>
                  <a:gd name="T25" fmla="*/ 274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86" y="274"/>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grpSp>
            <p:nvGrpSpPr>
              <p:cNvPr id="134" name="Group 71">
                <a:extLst>
                  <a:ext uri="{FF2B5EF4-FFF2-40B4-BE49-F238E27FC236}">
                    <a16:creationId xmlns:a16="http://schemas.microsoft.com/office/drawing/2014/main" id="{51345C3A-B5AD-B3B1-D667-78BA4DC7672C}"/>
                  </a:ext>
                </a:extLst>
              </p:cNvPr>
              <p:cNvGrpSpPr>
                <a:grpSpLocks/>
              </p:cNvGrpSpPr>
              <p:nvPr/>
            </p:nvGrpSpPr>
            <p:grpSpPr bwMode="auto">
              <a:xfrm>
                <a:off x="2731" y="670"/>
                <a:ext cx="85" cy="261"/>
                <a:chOff x="3715" y="2269"/>
                <a:chExt cx="119" cy="713"/>
              </a:xfrm>
            </p:grpSpPr>
            <p:sp>
              <p:nvSpPr>
                <p:cNvPr id="168" name="Freeform 72">
                  <a:extLst>
                    <a:ext uri="{FF2B5EF4-FFF2-40B4-BE49-F238E27FC236}">
                      <a16:creationId xmlns:a16="http://schemas.microsoft.com/office/drawing/2014/main" id="{713DD9FE-8ECA-B56E-AC1C-B0E6C11AEF93}"/>
                    </a:ext>
                  </a:extLst>
                </p:cNvPr>
                <p:cNvSpPr>
                  <a:spLocks/>
                </p:cNvSpPr>
                <p:nvPr/>
              </p:nvSpPr>
              <p:spPr bwMode="auto">
                <a:xfrm>
                  <a:off x="3715" y="2269"/>
                  <a:ext cx="35" cy="363"/>
                </a:xfrm>
                <a:custGeom>
                  <a:avLst/>
                  <a:gdLst>
                    <a:gd name="T0" fmla="*/ 0 w 35"/>
                    <a:gd name="T1" fmla="*/ 362 h 363"/>
                    <a:gd name="T2" fmla="*/ 21 w 35"/>
                    <a:gd name="T3" fmla="*/ 54 h 363"/>
                    <a:gd name="T4" fmla="*/ 22 w 35"/>
                    <a:gd name="T5" fmla="*/ 38 h 363"/>
                    <a:gd name="T6" fmla="*/ 23 w 35"/>
                    <a:gd name="T7" fmla="*/ 25 h 363"/>
                    <a:gd name="T8" fmla="*/ 25 w 35"/>
                    <a:gd name="T9" fmla="*/ 15 h 363"/>
                    <a:gd name="T10" fmla="*/ 29 w 35"/>
                    <a:gd name="T11" fmla="*/ 6 h 363"/>
                    <a:gd name="T12" fmla="*/ 34 w 3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69" name="Freeform 73">
                  <a:extLst>
                    <a:ext uri="{FF2B5EF4-FFF2-40B4-BE49-F238E27FC236}">
                      <a16:creationId xmlns:a16="http://schemas.microsoft.com/office/drawing/2014/main" id="{6383C6D4-944C-FD67-B731-AA51B5C96034}"/>
                    </a:ext>
                  </a:extLst>
                </p:cNvPr>
                <p:cNvSpPr>
                  <a:spLocks/>
                </p:cNvSpPr>
                <p:nvPr/>
              </p:nvSpPr>
              <p:spPr bwMode="auto">
                <a:xfrm>
                  <a:off x="3750" y="227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grpSp>
          <p:sp>
            <p:nvSpPr>
              <p:cNvPr id="135" name="Freeform 74">
                <a:extLst>
                  <a:ext uri="{FF2B5EF4-FFF2-40B4-BE49-F238E27FC236}">
                    <a16:creationId xmlns:a16="http://schemas.microsoft.com/office/drawing/2014/main" id="{6707A98F-7F24-9A0D-35D3-96CB88264FB4}"/>
                  </a:ext>
                </a:extLst>
              </p:cNvPr>
              <p:cNvSpPr>
                <a:spLocks/>
              </p:cNvSpPr>
              <p:nvPr/>
            </p:nvSpPr>
            <p:spPr bwMode="auto">
              <a:xfrm>
                <a:off x="2136" y="672"/>
                <a:ext cx="23" cy="133"/>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36" name="Freeform 75">
                <a:extLst>
                  <a:ext uri="{FF2B5EF4-FFF2-40B4-BE49-F238E27FC236}">
                    <a16:creationId xmlns:a16="http://schemas.microsoft.com/office/drawing/2014/main" id="{8A0E101F-56DA-1BD4-09F8-179517E17A02}"/>
                  </a:ext>
                </a:extLst>
              </p:cNvPr>
              <p:cNvSpPr>
                <a:spLocks/>
              </p:cNvSpPr>
              <p:nvPr/>
            </p:nvSpPr>
            <p:spPr bwMode="auto">
              <a:xfrm>
                <a:off x="2159" y="673"/>
                <a:ext cx="62" cy="260"/>
              </a:xfrm>
              <a:custGeom>
                <a:avLst/>
                <a:gdLst>
                  <a:gd name="T0" fmla="*/ 0 w 87"/>
                  <a:gd name="T1" fmla="*/ 0 h 530"/>
                  <a:gd name="T2" fmla="*/ 7 w 87"/>
                  <a:gd name="T3" fmla="*/ 3 h 530"/>
                  <a:gd name="T4" fmla="*/ 12 w 87"/>
                  <a:gd name="T5" fmla="*/ 12 h 530"/>
                  <a:gd name="T6" fmla="*/ 14 w 87"/>
                  <a:gd name="T7" fmla="*/ 25 h 530"/>
                  <a:gd name="T8" fmla="*/ 15 w 87"/>
                  <a:gd name="T9" fmla="*/ 44 h 530"/>
                  <a:gd name="T10" fmla="*/ 43 w 87"/>
                  <a:gd name="T11" fmla="*/ 488 h 530"/>
                  <a:gd name="T12" fmla="*/ 45 w 87"/>
                  <a:gd name="T13" fmla="*/ 512 h 530"/>
                  <a:gd name="T14" fmla="*/ 47 w 87"/>
                  <a:gd name="T15" fmla="*/ 520 h 530"/>
                  <a:gd name="T16" fmla="*/ 53 w 87"/>
                  <a:gd name="T17" fmla="*/ 527 h 530"/>
                  <a:gd name="T18" fmla="*/ 57 w 87"/>
                  <a:gd name="T19" fmla="*/ 530 h 530"/>
                  <a:gd name="T20" fmla="*/ 63 w 87"/>
                  <a:gd name="T21" fmla="*/ 524 h 530"/>
                  <a:gd name="T22" fmla="*/ 67 w 87"/>
                  <a:gd name="T23" fmla="*/ 512 h 530"/>
                  <a:gd name="T24" fmla="*/ 87 w 87"/>
                  <a:gd name="T25" fmla="*/ 276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7"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7" y="276"/>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37" name="Freeform 76">
                <a:extLst>
                  <a:ext uri="{FF2B5EF4-FFF2-40B4-BE49-F238E27FC236}">
                    <a16:creationId xmlns:a16="http://schemas.microsoft.com/office/drawing/2014/main" id="{635631D4-0108-E443-E415-98DCC0AAFCF4}"/>
                  </a:ext>
                </a:extLst>
              </p:cNvPr>
              <p:cNvSpPr>
                <a:spLocks/>
              </p:cNvSpPr>
              <p:nvPr/>
            </p:nvSpPr>
            <p:spPr bwMode="auto">
              <a:xfrm>
                <a:off x="2220" y="672"/>
                <a:ext cx="23" cy="133"/>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38" name="Freeform 77">
                <a:extLst>
                  <a:ext uri="{FF2B5EF4-FFF2-40B4-BE49-F238E27FC236}">
                    <a16:creationId xmlns:a16="http://schemas.microsoft.com/office/drawing/2014/main" id="{D4D2BAF9-32E4-E94D-472D-700A7F128933}"/>
                  </a:ext>
                </a:extLst>
              </p:cNvPr>
              <p:cNvSpPr>
                <a:spLocks/>
              </p:cNvSpPr>
              <p:nvPr/>
            </p:nvSpPr>
            <p:spPr bwMode="auto">
              <a:xfrm>
                <a:off x="2243" y="673"/>
                <a:ext cx="61" cy="260"/>
              </a:xfrm>
              <a:custGeom>
                <a:avLst/>
                <a:gdLst>
                  <a:gd name="T0" fmla="*/ 0 w 86"/>
                  <a:gd name="T1" fmla="*/ 0 h 530"/>
                  <a:gd name="T2" fmla="*/ 7 w 86"/>
                  <a:gd name="T3" fmla="*/ 3 h 530"/>
                  <a:gd name="T4" fmla="*/ 12 w 86"/>
                  <a:gd name="T5" fmla="*/ 12 h 530"/>
                  <a:gd name="T6" fmla="*/ 14 w 86"/>
                  <a:gd name="T7" fmla="*/ 25 h 530"/>
                  <a:gd name="T8" fmla="*/ 15 w 86"/>
                  <a:gd name="T9" fmla="*/ 44 h 530"/>
                  <a:gd name="T10" fmla="*/ 43 w 86"/>
                  <a:gd name="T11" fmla="*/ 488 h 530"/>
                  <a:gd name="T12" fmla="*/ 45 w 86"/>
                  <a:gd name="T13" fmla="*/ 512 h 530"/>
                  <a:gd name="T14" fmla="*/ 47 w 86"/>
                  <a:gd name="T15" fmla="*/ 520 h 530"/>
                  <a:gd name="T16" fmla="*/ 53 w 86"/>
                  <a:gd name="T17" fmla="*/ 527 h 530"/>
                  <a:gd name="T18" fmla="*/ 57 w 86"/>
                  <a:gd name="T19" fmla="*/ 530 h 530"/>
                  <a:gd name="T20" fmla="*/ 63 w 86"/>
                  <a:gd name="T21" fmla="*/ 524 h 530"/>
                  <a:gd name="T22" fmla="*/ 67 w 86"/>
                  <a:gd name="T23" fmla="*/ 512 h 530"/>
                  <a:gd name="T24" fmla="*/ 86 w 86"/>
                  <a:gd name="T25" fmla="*/ 258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6" y="258"/>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39" name="Freeform 78">
                <a:extLst>
                  <a:ext uri="{FF2B5EF4-FFF2-40B4-BE49-F238E27FC236}">
                    <a16:creationId xmlns:a16="http://schemas.microsoft.com/office/drawing/2014/main" id="{15B7F2AF-A9A4-834B-01E7-6AFE3D0E7E8B}"/>
                  </a:ext>
                </a:extLst>
              </p:cNvPr>
              <p:cNvSpPr>
                <a:spLocks/>
              </p:cNvSpPr>
              <p:nvPr/>
            </p:nvSpPr>
            <p:spPr bwMode="auto">
              <a:xfrm>
                <a:off x="2304" y="670"/>
                <a:ext cx="24" cy="133"/>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40" name="Freeform 79">
                <a:extLst>
                  <a:ext uri="{FF2B5EF4-FFF2-40B4-BE49-F238E27FC236}">
                    <a16:creationId xmlns:a16="http://schemas.microsoft.com/office/drawing/2014/main" id="{E5CC5D7F-C1B8-66E0-A08C-F7ADBA73F105}"/>
                  </a:ext>
                </a:extLst>
              </p:cNvPr>
              <p:cNvSpPr>
                <a:spLocks/>
              </p:cNvSpPr>
              <p:nvPr/>
            </p:nvSpPr>
            <p:spPr bwMode="auto">
              <a:xfrm>
                <a:off x="2328" y="671"/>
                <a:ext cx="61" cy="260"/>
              </a:xfrm>
              <a:custGeom>
                <a:avLst/>
                <a:gdLst>
                  <a:gd name="T0" fmla="*/ 0 w 87"/>
                  <a:gd name="T1" fmla="*/ 0 h 530"/>
                  <a:gd name="T2" fmla="*/ 7 w 87"/>
                  <a:gd name="T3" fmla="*/ 3 h 530"/>
                  <a:gd name="T4" fmla="*/ 12 w 87"/>
                  <a:gd name="T5" fmla="*/ 12 h 530"/>
                  <a:gd name="T6" fmla="*/ 13 w 87"/>
                  <a:gd name="T7" fmla="*/ 25 h 530"/>
                  <a:gd name="T8" fmla="*/ 15 w 87"/>
                  <a:gd name="T9" fmla="*/ 44 h 530"/>
                  <a:gd name="T10" fmla="*/ 42 w 87"/>
                  <a:gd name="T11" fmla="*/ 488 h 530"/>
                  <a:gd name="T12" fmla="*/ 44 w 87"/>
                  <a:gd name="T13" fmla="*/ 512 h 530"/>
                  <a:gd name="T14" fmla="*/ 46 w 87"/>
                  <a:gd name="T15" fmla="*/ 520 h 530"/>
                  <a:gd name="T16" fmla="*/ 52 w 87"/>
                  <a:gd name="T17" fmla="*/ 527 h 530"/>
                  <a:gd name="T18" fmla="*/ 56 w 87"/>
                  <a:gd name="T19" fmla="*/ 530 h 530"/>
                  <a:gd name="T20" fmla="*/ 62 w 87"/>
                  <a:gd name="T21" fmla="*/ 524 h 530"/>
                  <a:gd name="T22" fmla="*/ 65 w 87"/>
                  <a:gd name="T23" fmla="*/ 512 h 530"/>
                  <a:gd name="T24" fmla="*/ 87 w 87"/>
                  <a:gd name="T25" fmla="*/ 265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7"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87" y="265"/>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41" name="Freeform 80">
                <a:extLst>
                  <a:ext uri="{FF2B5EF4-FFF2-40B4-BE49-F238E27FC236}">
                    <a16:creationId xmlns:a16="http://schemas.microsoft.com/office/drawing/2014/main" id="{A31E8CCD-63ED-89C5-556C-143CA3C682DF}"/>
                  </a:ext>
                </a:extLst>
              </p:cNvPr>
              <p:cNvSpPr>
                <a:spLocks/>
              </p:cNvSpPr>
              <p:nvPr/>
            </p:nvSpPr>
            <p:spPr bwMode="auto">
              <a:xfrm>
                <a:off x="2387" y="670"/>
                <a:ext cx="25" cy="133"/>
              </a:xfrm>
              <a:custGeom>
                <a:avLst/>
                <a:gdLst>
                  <a:gd name="T0" fmla="*/ 0 w 35"/>
                  <a:gd name="T1" fmla="*/ 362 h 363"/>
                  <a:gd name="T2" fmla="*/ 21 w 35"/>
                  <a:gd name="T3" fmla="*/ 54 h 363"/>
                  <a:gd name="T4" fmla="*/ 22 w 35"/>
                  <a:gd name="T5" fmla="*/ 38 h 363"/>
                  <a:gd name="T6" fmla="*/ 23 w 35"/>
                  <a:gd name="T7" fmla="*/ 25 h 363"/>
                  <a:gd name="T8" fmla="*/ 25 w 35"/>
                  <a:gd name="T9" fmla="*/ 15 h 363"/>
                  <a:gd name="T10" fmla="*/ 29 w 35"/>
                  <a:gd name="T11" fmla="*/ 6 h 363"/>
                  <a:gd name="T12" fmla="*/ 34 w 3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42" name="Freeform 81">
                <a:extLst>
                  <a:ext uri="{FF2B5EF4-FFF2-40B4-BE49-F238E27FC236}">
                    <a16:creationId xmlns:a16="http://schemas.microsoft.com/office/drawing/2014/main" id="{BFAEFD4D-2475-3373-EA05-1918A0541660}"/>
                  </a:ext>
                </a:extLst>
              </p:cNvPr>
              <p:cNvSpPr>
                <a:spLocks/>
              </p:cNvSpPr>
              <p:nvPr/>
            </p:nvSpPr>
            <p:spPr bwMode="auto">
              <a:xfrm>
                <a:off x="2412" y="671"/>
                <a:ext cx="67" cy="260"/>
              </a:xfrm>
              <a:custGeom>
                <a:avLst/>
                <a:gdLst>
                  <a:gd name="T0" fmla="*/ 0 w 94"/>
                  <a:gd name="T1" fmla="*/ 0 h 530"/>
                  <a:gd name="T2" fmla="*/ 7 w 94"/>
                  <a:gd name="T3" fmla="*/ 3 h 530"/>
                  <a:gd name="T4" fmla="*/ 12 w 94"/>
                  <a:gd name="T5" fmla="*/ 12 h 530"/>
                  <a:gd name="T6" fmla="*/ 13 w 94"/>
                  <a:gd name="T7" fmla="*/ 25 h 530"/>
                  <a:gd name="T8" fmla="*/ 15 w 94"/>
                  <a:gd name="T9" fmla="*/ 44 h 530"/>
                  <a:gd name="T10" fmla="*/ 42 w 94"/>
                  <a:gd name="T11" fmla="*/ 488 h 530"/>
                  <a:gd name="T12" fmla="*/ 44 w 94"/>
                  <a:gd name="T13" fmla="*/ 512 h 530"/>
                  <a:gd name="T14" fmla="*/ 46 w 94"/>
                  <a:gd name="T15" fmla="*/ 520 h 530"/>
                  <a:gd name="T16" fmla="*/ 52 w 94"/>
                  <a:gd name="T17" fmla="*/ 527 h 530"/>
                  <a:gd name="T18" fmla="*/ 56 w 94"/>
                  <a:gd name="T19" fmla="*/ 530 h 530"/>
                  <a:gd name="T20" fmla="*/ 62 w 94"/>
                  <a:gd name="T21" fmla="*/ 524 h 530"/>
                  <a:gd name="T22" fmla="*/ 65 w 94"/>
                  <a:gd name="T23" fmla="*/ 512 h 530"/>
                  <a:gd name="T24" fmla="*/ 94 w 94"/>
                  <a:gd name="T25" fmla="*/ 274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4"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94" y="274"/>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grpSp>
            <p:nvGrpSpPr>
              <p:cNvPr id="143" name="Group 82">
                <a:extLst>
                  <a:ext uri="{FF2B5EF4-FFF2-40B4-BE49-F238E27FC236}">
                    <a16:creationId xmlns:a16="http://schemas.microsoft.com/office/drawing/2014/main" id="{E007C31F-1343-1D5F-CC7E-14DBFFB6BB8D}"/>
                  </a:ext>
                </a:extLst>
              </p:cNvPr>
              <p:cNvGrpSpPr>
                <a:grpSpLocks/>
              </p:cNvGrpSpPr>
              <p:nvPr/>
            </p:nvGrpSpPr>
            <p:grpSpPr bwMode="auto">
              <a:xfrm>
                <a:off x="771" y="676"/>
                <a:ext cx="337" cy="260"/>
                <a:chOff x="956" y="2283"/>
                <a:chExt cx="476" cy="711"/>
              </a:xfrm>
            </p:grpSpPr>
            <p:sp>
              <p:nvSpPr>
                <p:cNvPr id="164" name="Freeform 83">
                  <a:extLst>
                    <a:ext uri="{FF2B5EF4-FFF2-40B4-BE49-F238E27FC236}">
                      <a16:creationId xmlns:a16="http://schemas.microsoft.com/office/drawing/2014/main" id="{0CDFD713-5B3F-754B-7083-B4301D285541}"/>
                    </a:ext>
                  </a:extLst>
                </p:cNvPr>
                <p:cNvSpPr>
                  <a:spLocks/>
                </p:cNvSpPr>
                <p:nvPr/>
              </p:nvSpPr>
              <p:spPr bwMode="auto">
                <a:xfrm>
                  <a:off x="956" y="2284"/>
                  <a:ext cx="65" cy="363"/>
                </a:xfrm>
                <a:custGeom>
                  <a:avLst/>
                  <a:gdLst>
                    <a:gd name="T0" fmla="*/ 0 w 65"/>
                    <a:gd name="T1" fmla="*/ 362 h 363"/>
                    <a:gd name="T2" fmla="*/ 40 w 65"/>
                    <a:gd name="T3" fmla="*/ 54 h 363"/>
                    <a:gd name="T4" fmla="*/ 42 w 65"/>
                    <a:gd name="T5" fmla="*/ 38 h 363"/>
                    <a:gd name="T6" fmla="*/ 44 w 65"/>
                    <a:gd name="T7" fmla="*/ 25 h 363"/>
                    <a:gd name="T8" fmla="*/ 47 w 65"/>
                    <a:gd name="T9" fmla="*/ 15 h 363"/>
                    <a:gd name="T10" fmla="*/ 55 w 65"/>
                    <a:gd name="T11" fmla="*/ 6 h 363"/>
                    <a:gd name="T12" fmla="*/ 64 w 6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5" h="363">
                      <a:moveTo>
                        <a:pt x="0" y="362"/>
                      </a:moveTo>
                      <a:lnTo>
                        <a:pt x="40" y="54"/>
                      </a:lnTo>
                      <a:lnTo>
                        <a:pt x="42" y="38"/>
                      </a:lnTo>
                      <a:lnTo>
                        <a:pt x="44" y="25"/>
                      </a:lnTo>
                      <a:lnTo>
                        <a:pt x="47" y="15"/>
                      </a:lnTo>
                      <a:lnTo>
                        <a:pt x="55" y="6"/>
                      </a:lnTo>
                      <a:lnTo>
                        <a:pt x="64" y="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65" name="Freeform 84">
                  <a:extLst>
                    <a:ext uri="{FF2B5EF4-FFF2-40B4-BE49-F238E27FC236}">
                      <a16:creationId xmlns:a16="http://schemas.microsoft.com/office/drawing/2014/main" id="{FD52DB10-4D17-BA0E-E22D-938C8BB15DA2}"/>
                    </a:ext>
                  </a:extLst>
                </p:cNvPr>
                <p:cNvSpPr>
                  <a:spLocks/>
                </p:cNvSpPr>
                <p:nvPr/>
              </p:nvSpPr>
              <p:spPr bwMode="auto">
                <a:xfrm>
                  <a:off x="1022" y="2283"/>
                  <a:ext cx="171" cy="711"/>
                </a:xfrm>
                <a:custGeom>
                  <a:avLst/>
                  <a:gdLst>
                    <a:gd name="T0" fmla="*/ 0 w 171"/>
                    <a:gd name="T1" fmla="*/ 0 h 711"/>
                    <a:gd name="T2" fmla="*/ 14 w 171"/>
                    <a:gd name="T3" fmla="*/ 4 h 711"/>
                    <a:gd name="T4" fmla="*/ 24 w 171"/>
                    <a:gd name="T5" fmla="*/ 16 h 711"/>
                    <a:gd name="T6" fmla="*/ 28 w 171"/>
                    <a:gd name="T7" fmla="*/ 33 h 711"/>
                    <a:gd name="T8" fmla="*/ 31 w 171"/>
                    <a:gd name="T9" fmla="*/ 59 h 711"/>
                    <a:gd name="T10" fmla="*/ 85 w 171"/>
                    <a:gd name="T11" fmla="*/ 653 h 711"/>
                    <a:gd name="T12" fmla="*/ 90 w 171"/>
                    <a:gd name="T13" fmla="*/ 686 h 711"/>
                    <a:gd name="T14" fmla="*/ 95 w 171"/>
                    <a:gd name="T15" fmla="*/ 696 h 711"/>
                    <a:gd name="T16" fmla="*/ 106 w 171"/>
                    <a:gd name="T17" fmla="*/ 706 h 711"/>
                    <a:gd name="T18" fmla="*/ 115 w 171"/>
                    <a:gd name="T19" fmla="*/ 710 h 711"/>
                    <a:gd name="T20" fmla="*/ 126 w 171"/>
                    <a:gd name="T21" fmla="*/ 702 h 711"/>
                    <a:gd name="T22" fmla="*/ 134 w 171"/>
                    <a:gd name="T23" fmla="*/ 686 h 711"/>
                    <a:gd name="T24" fmla="*/ 170 w 171"/>
                    <a:gd name="T25" fmla="*/ 381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711">
                      <a:moveTo>
                        <a:pt x="0" y="0"/>
                      </a:moveTo>
                      <a:lnTo>
                        <a:pt x="14" y="4"/>
                      </a:lnTo>
                      <a:lnTo>
                        <a:pt x="24" y="16"/>
                      </a:lnTo>
                      <a:lnTo>
                        <a:pt x="28" y="33"/>
                      </a:lnTo>
                      <a:lnTo>
                        <a:pt x="31" y="59"/>
                      </a:lnTo>
                      <a:lnTo>
                        <a:pt x="85" y="653"/>
                      </a:lnTo>
                      <a:lnTo>
                        <a:pt x="90" y="686"/>
                      </a:lnTo>
                      <a:lnTo>
                        <a:pt x="95" y="696"/>
                      </a:lnTo>
                      <a:lnTo>
                        <a:pt x="106" y="706"/>
                      </a:lnTo>
                      <a:lnTo>
                        <a:pt x="115" y="710"/>
                      </a:lnTo>
                      <a:lnTo>
                        <a:pt x="126" y="702"/>
                      </a:lnTo>
                      <a:lnTo>
                        <a:pt x="134" y="686"/>
                      </a:lnTo>
                      <a:lnTo>
                        <a:pt x="170" y="381"/>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66" name="Freeform 85">
                  <a:extLst>
                    <a:ext uri="{FF2B5EF4-FFF2-40B4-BE49-F238E27FC236}">
                      <a16:creationId xmlns:a16="http://schemas.microsoft.com/office/drawing/2014/main" id="{273DB0BA-FFB1-F705-65CA-16AFDBA6FFDF}"/>
                    </a:ext>
                  </a:extLst>
                </p:cNvPr>
                <p:cNvSpPr>
                  <a:spLocks/>
                </p:cNvSpPr>
                <p:nvPr/>
              </p:nvSpPr>
              <p:spPr bwMode="auto">
                <a:xfrm>
                  <a:off x="1194" y="2290"/>
                  <a:ext cx="66" cy="363"/>
                </a:xfrm>
                <a:custGeom>
                  <a:avLst/>
                  <a:gdLst>
                    <a:gd name="T0" fmla="*/ 0 w 66"/>
                    <a:gd name="T1" fmla="*/ 362 h 363"/>
                    <a:gd name="T2" fmla="*/ 40 w 66"/>
                    <a:gd name="T3" fmla="*/ 54 h 363"/>
                    <a:gd name="T4" fmla="*/ 43 w 66"/>
                    <a:gd name="T5" fmla="*/ 38 h 363"/>
                    <a:gd name="T6" fmla="*/ 44 w 66"/>
                    <a:gd name="T7" fmla="*/ 25 h 363"/>
                    <a:gd name="T8" fmla="*/ 48 w 66"/>
                    <a:gd name="T9" fmla="*/ 15 h 363"/>
                    <a:gd name="T10" fmla="*/ 56 w 66"/>
                    <a:gd name="T11" fmla="*/ 6 h 363"/>
                    <a:gd name="T12" fmla="*/ 65 w 66"/>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6" h="363">
                      <a:moveTo>
                        <a:pt x="0" y="362"/>
                      </a:moveTo>
                      <a:lnTo>
                        <a:pt x="40" y="54"/>
                      </a:lnTo>
                      <a:lnTo>
                        <a:pt x="43" y="38"/>
                      </a:lnTo>
                      <a:lnTo>
                        <a:pt x="44" y="25"/>
                      </a:lnTo>
                      <a:lnTo>
                        <a:pt x="48" y="15"/>
                      </a:lnTo>
                      <a:lnTo>
                        <a:pt x="56" y="6"/>
                      </a:lnTo>
                      <a:lnTo>
                        <a:pt x="65" y="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67" name="Freeform 86">
                  <a:extLst>
                    <a:ext uri="{FF2B5EF4-FFF2-40B4-BE49-F238E27FC236}">
                      <a16:creationId xmlns:a16="http://schemas.microsoft.com/office/drawing/2014/main" id="{34C5B1D0-0149-ACB2-3D00-C3D7C335E2AC}"/>
                    </a:ext>
                  </a:extLst>
                </p:cNvPr>
                <p:cNvSpPr>
                  <a:spLocks/>
                </p:cNvSpPr>
                <p:nvPr/>
              </p:nvSpPr>
              <p:spPr bwMode="auto">
                <a:xfrm>
                  <a:off x="1261" y="2285"/>
                  <a:ext cx="171" cy="709"/>
                </a:xfrm>
                <a:custGeom>
                  <a:avLst/>
                  <a:gdLst>
                    <a:gd name="T0" fmla="*/ 0 w 171"/>
                    <a:gd name="T1" fmla="*/ 0 h 709"/>
                    <a:gd name="T2" fmla="*/ 14 w 171"/>
                    <a:gd name="T3" fmla="*/ 4 h 709"/>
                    <a:gd name="T4" fmla="*/ 24 w 171"/>
                    <a:gd name="T5" fmla="*/ 16 h 709"/>
                    <a:gd name="T6" fmla="*/ 28 w 171"/>
                    <a:gd name="T7" fmla="*/ 33 h 709"/>
                    <a:gd name="T8" fmla="*/ 31 w 171"/>
                    <a:gd name="T9" fmla="*/ 59 h 709"/>
                    <a:gd name="T10" fmla="*/ 85 w 171"/>
                    <a:gd name="T11" fmla="*/ 651 h 709"/>
                    <a:gd name="T12" fmla="*/ 90 w 171"/>
                    <a:gd name="T13" fmla="*/ 684 h 709"/>
                    <a:gd name="T14" fmla="*/ 95 w 171"/>
                    <a:gd name="T15" fmla="*/ 694 h 709"/>
                    <a:gd name="T16" fmla="*/ 106 w 171"/>
                    <a:gd name="T17" fmla="*/ 704 h 709"/>
                    <a:gd name="T18" fmla="*/ 115 w 171"/>
                    <a:gd name="T19" fmla="*/ 708 h 709"/>
                    <a:gd name="T20" fmla="*/ 126 w 171"/>
                    <a:gd name="T21" fmla="*/ 700 h 709"/>
                    <a:gd name="T22" fmla="*/ 134 w 171"/>
                    <a:gd name="T23" fmla="*/ 684 h 709"/>
                    <a:gd name="T24" fmla="*/ 170 w 171"/>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709">
                      <a:moveTo>
                        <a:pt x="0" y="0"/>
                      </a:moveTo>
                      <a:lnTo>
                        <a:pt x="14" y="4"/>
                      </a:lnTo>
                      <a:lnTo>
                        <a:pt x="24" y="16"/>
                      </a:lnTo>
                      <a:lnTo>
                        <a:pt x="28" y="33"/>
                      </a:lnTo>
                      <a:lnTo>
                        <a:pt x="31" y="59"/>
                      </a:lnTo>
                      <a:lnTo>
                        <a:pt x="85" y="651"/>
                      </a:lnTo>
                      <a:lnTo>
                        <a:pt x="90" y="684"/>
                      </a:lnTo>
                      <a:lnTo>
                        <a:pt x="95" y="694"/>
                      </a:lnTo>
                      <a:lnTo>
                        <a:pt x="106" y="704"/>
                      </a:lnTo>
                      <a:lnTo>
                        <a:pt x="115" y="708"/>
                      </a:lnTo>
                      <a:lnTo>
                        <a:pt x="126" y="700"/>
                      </a:lnTo>
                      <a:lnTo>
                        <a:pt x="134" y="684"/>
                      </a:lnTo>
                      <a:lnTo>
                        <a:pt x="170" y="38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grpSp>
          <p:grpSp>
            <p:nvGrpSpPr>
              <p:cNvPr id="144" name="Group 87">
                <a:extLst>
                  <a:ext uri="{FF2B5EF4-FFF2-40B4-BE49-F238E27FC236}">
                    <a16:creationId xmlns:a16="http://schemas.microsoft.com/office/drawing/2014/main" id="{6F55FE4C-3780-7D68-7C5A-4497F4F8AE9E}"/>
                  </a:ext>
                </a:extLst>
              </p:cNvPr>
              <p:cNvGrpSpPr>
                <a:grpSpLocks/>
              </p:cNvGrpSpPr>
              <p:nvPr/>
            </p:nvGrpSpPr>
            <p:grpSpPr bwMode="auto">
              <a:xfrm>
                <a:off x="1462" y="671"/>
                <a:ext cx="338" cy="262"/>
                <a:chOff x="1929" y="2272"/>
                <a:chExt cx="476" cy="713"/>
              </a:xfrm>
            </p:grpSpPr>
            <p:grpSp>
              <p:nvGrpSpPr>
                <p:cNvPr id="158" name="Group 88">
                  <a:extLst>
                    <a:ext uri="{FF2B5EF4-FFF2-40B4-BE49-F238E27FC236}">
                      <a16:creationId xmlns:a16="http://schemas.microsoft.com/office/drawing/2014/main" id="{86781C03-F827-64A7-EFA9-C1AF087E9BCE}"/>
                    </a:ext>
                  </a:extLst>
                </p:cNvPr>
                <p:cNvGrpSpPr>
                  <a:grpSpLocks/>
                </p:cNvGrpSpPr>
                <p:nvPr/>
              </p:nvGrpSpPr>
              <p:grpSpPr bwMode="auto">
                <a:xfrm>
                  <a:off x="1929" y="2272"/>
                  <a:ext cx="238" cy="713"/>
                  <a:chOff x="1929" y="2272"/>
                  <a:chExt cx="238" cy="713"/>
                </a:xfrm>
              </p:grpSpPr>
              <p:sp>
                <p:nvSpPr>
                  <p:cNvPr id="162" name="Freeform 89">
                    <a:extLst>
                      <a:ext uri="{FF2B5EF4-FFF2-40B4-BE49-F238E27FC236}">
                        <a16:creationId xmlns:a16="http://schemas.microsoft.com/office/drawing/2014/main" id="{447ED275-28C3-93C2-46F5-262BB3D1DD8A}"/>
                      </a:ext>
                    </a:extLst>
                  </p:cNvPr>
                  <p:cNvSpPr>
                    <a:spLocks/>
                  </p:cNvSpPr>
                  <p:nvPr/>
                </p:nvSpPr>
                <p:spPr bwMode="auto">
                  <a:xfrm>
                    <a:off x="1929" y="2272"/>
                    <a:ext cx="65" cy="363"/>
                  </a:xfrm>
                  <a:custGeom>
                    <a:avLst/>
                    <a:gdLst>
                      <a:gd name="T0" fmla="*/ 0 w 65"/>
                      <a:gd name="T1" fmla="*/ 362 h 363"/>
                      <a:gd name="T2" fmla="*/ 40 w 65"/>
                      <a:gd name="T3" fmla="*/ 54 h 363"/>
                      <a:gd name="T4" fmla="*/ 42 w 65"/>
                      <a:gd name="T5" fmla="*/ 38 h 363"/>
                      <a:gd name="T6" fmla="*/ 44 w 65"/>
                      <a:gd name="T7" fmla="*/ 25 h 363"/>
                      <a:gd name="T8" fmla="*/ 47 w 65"/>
                      <a:gd name="T9" fmla="*/ 15 h 363"/>
                      <a:gd name="T10" fmla="*/ 55 w 65"/>
                      <a:gd name="T11" fmla="*/ 6 h 363"/>
                      <a:gd name="T12" fmla="*/ 64 w 6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5" h="363">
                        <a:moveTo>
                          <a:pt x="0" y="362"/>
                        </a:moveTo>
                        <a:lnTo>
                          <a:pt x="40" y="54"/>
                        </a:lnTo>
                        <a:lnTo>
                          <a:pt x="42" y="38"/>
                        </a:lnTo>
                        <a:lnTo>
                          <a:pt x="44" y="25"/>
                        </a:lnTo>
                        <a:lnTo>
                          <a:pt x="47" y="15"/>
                        </a:lnTo>
                        <a:lnTo>
                          <a:pt x="55" y="6"/>
                        </a:lnTo>
                        <a:lnTo>
                          <a:pt x="64" y="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63" name="Freeform 90">
                    <a:extLst>
                      <a:ext uri="{FF2B5EF4-FFF2-40B4-BE49-F238E27FC236}">
                        <a16:creationId xmlns:a16="http://schemas.microsoft.com/office/drawing/2014/main" id="{2B7CBD38-8829-006D-E19A-FCA3FA1FA53B}"/>
                      </a:ext>
                    </a:extLst>
                  </p:cNvPr>
                  <p:cNvSpPr>
                    <a:spLocks/>
                  </p:cNvSpPr>
                  <p:nvPr/>
                </p:nvSpPr>
                <p:spPr bwMode="auto">
                  <a:xfrm>
                    <a:off x="1995" y="2276"/>
                    <a:ext cx="172" cy="709"/>
                  </a:xfrm>
                  <a:custGeom>
                    <a:avLst/>
                    <a:gdLst>
                      <a:gd name="T0" fmla="*/ 0 w 172"/>
                      <a:gd name="T1" fmla="*/ 0 h 709"/>
                      <a:gd name="T2" fmla="*/ 14 w 172"/>
                      <a:gd name="T3" fmla="*/ 4 h 709"/>
                      <a:gd name="T4" fmla="*/ 24 w 172"/>
                      <a:gd name="T5" fmla="*/ 16 h 709"/>
                      <a:gd name="T6" fmla="*/ 28 w 172"/>
                      <a:gd name="T7" fmla="*/ 33 h 709"/>
                      <a:gd name="T8" fmla="*/ 31 w 172"/>
                      <a:gd name="T9" fmla="*/ 59 h 709"/>
                      <a:gd name="T10" fmla="*/ 86 w 172"/>
                      <a:gd name="T11" fmla="*/ 651 h 709"/>
                      <a:gd name="T12" fmla="*/ 91 w 172"/>
                      <a:gd name="T13" fmla="*/ 684 h 709"/>
                      <a:gd name="T14" fmla="*/ 95 w 172"/>
                      <a:gd name="T15" fmla="*/ 694 h 709"/>
                      <a:gd name="T16" fmla="*/ 106 w 172"/>
                      <a:gd name="T17" fmla="*/ 704 h 709"/>
                      <a:gd name="T18" fmla="*/ 115 w 172"/>
                      <a:gd name="T19" fmla="*/ 708 h 709"/>
                      <a:gd name="T20" fmla="*/ 127 w 172"/>
                      <a:gd name="T21" fmla="*/ 700 h 709"/>
                      <a:gd name="T22" fmla="*/ 135 w 172"/>
                      <a:gd name="T23" fmla="*/ 684 h 709"/>
                      <a:gd name="T24" fmla="*/ 171 w 172"/>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2" h="709">
                        <a:moveTo>
                          <a:pt x="0" y="0"/>
                        </a:moveTo>
                        <a:lnTo>
                          <a:pt x="14" y="4"/>
                        </a:lnTo>
                        <a:lnTo>
                          <a:pt x="24" y="16"/>
                        </a:lnTo>
                        <a:lnTo>
                          <a:pt x="28" y="33"/>
                        </a:lnTo>
                        <a:lnTo>
                          <a:pt x="31" y="59"/>
                        </a:lnTo>
                        <a:lnTo>
                          <a:pt x="86" y="651"/>
                        </a:lnTo>
                        <a:lnTo>
                          <a:pt x="91" y="684"/>
                        </a:lnTo>
                        <a:lnTo>
                          <a:pt x="95" y="694"/>
                        </a:lnTo>
                        <a:lnTo>
                          <a:pt x="106" y="704"/>
                        </a:lnTo>
                        <a:lnTo>
                          <a:pt x="115" y="708"/>
                        </a:lnTo>
                        <a:lnTo>
                          <a:pt x="127" y="700"/>
                        </a:lnTo>
                        <a:lnTo>
                          <a:pt x="135" y="684"/>
                        </a:lnTo>
                        <a:lnTo>
                          <a:pt x="171" y="38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grpSp>
            <p:grpSp>
              <p:nvGrpSpPr>
                <p:cNvPr id="159" name="Group 91">
                  <a:extLst>
                    <a:ext uri="{FF2B5EF4-FFF2-40B4-BE49-F238E27FC236}">
                      <a16:creationId xmlns:a16="http://schemas.microsoft.com/office/drawing/2014/main" id="{FA1A11DC-BCEA-15A2-B254-2F11294BA658}"/>
                    </a:ext>
                  </a:extLst>
                </p:cNvPr>
                <p:cNvGrpSpPr>
                  <a:grpSpLocks/>
                </p:cNvGrpSpPr>
                <p:nvPr/>
              </p:nvGrpSpPr>
              <p:grpSpPr bwMode="auto">
                <a:xfrm>
                  <a:off x="2169" y="2272"/>
                  <a:ext cx="236" cy="713"/>
                  <a:chOff x="2169" y="2272"/>
                  <a:chExt cx="236" cy="713"/>
                </a:xfrm>
              </p:grpSpPr>
              <p:sp>
                <p:nvSpPr>
                  <p:cNvPr id="160" name="Freeform 92">
                    <a:extLst>
                      <a:ext uri="{FF2B5EF4-FFF2-40B4-BE49-F238E27FC236}">
                        <a16:creationId xmlns:a16="http://schemas.microsoft.com/office/drawing/2014/main" id="{E1389F33-96FF-3C87-37B9-B9DC57026428}"/>
                      </a:ext>
                    </a:extLst>
                  </p:cNvPr>
                  <p:cNvSpPr>
                    <a:spLocks/>
                  </p:cNvSpPr>
                  <p:nvPr/>
                </p:nvSpPr>
                <p:spPr bwMode="auto">
                  <a:xfrm>
                    <a:off x="2169" y="2272"/>
                    <a:ext cx="64" cy="363"/>
                  </a:xfrm>
                  <a:custGeom>
                    <a:avLst/>
                    <a:gdLst>
                      <a:gd name="T0" fmla="*/ 0 w 64"/>
                      <a:gd name="T1" fmla="*/ 362 h 363"/>
                      <a:gd name="T2" fmla="*/ 39 w 64"/>
                      <a:gd name="T3" fmla="*/ 54 h 363"/>
                      <a:gd name="T4" fmla="*/ 41 w 64"/>
                      <a:gd name="T5" fmla="*/ 38 h 363"/>
                      <a:gd name="T6" fmla="*/ 43 w 64"/>
                      <a:gd name="T7" fmla="*/ 25 h 363"/>
                      <a:gd name="T8" fmla="*/ 46 w 64"/>
                      <a:gd name="T9" fmla="*/ 15 h 363"/>
                      <a:gd name="T10" fmla="*/ 54 w 64"/>
                      <a:gd name="T11" fmla="*/ 6 h 363"/>
                      <a:gd name="T12" fmla="*/ 63 w 6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4" h="363">
                        <a:moveTo>
                          <a:pt x="0" y="362"/>
                        </a:moveTo>
                        <a:lnTo>
                          <a:pt x="39" y="54"/>
                        </a:lnTo>
                        <a:lnTo>
                          <a:pt x="41" y="38"/>
                        </a:lnTo>
                        <a:lnTo>
                          <a:pt x="43" y="25"/>
                        </a:lnTo>
                        <a:lnTo>
                          <a:pt x="46" y="15"/>
                        </a:lnTo>
                        <a:lnTo>
                          <a:pt x="54" y="6"/>
                        </a:lnTo>
                        <a:lnTo>
                          <a:pt x="63" y="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61" name="Freeform 93">
                    <a:extLst>
                      <a:ext uri="{FF2B5EF4-FFF2-40B4-BE49-F238E27FC236}">
                        <a16:creationId xmlns:a16="http://schemas.microsoft.com/office/drawing/2014/main" id="{8038A971-1F2B-8A46-0F68-B03C173823BC}"/>
                      </a:ext>
                    </a:extLst>
                  </p:cNvPr>
                  <p:cNvSpPr>
                    <a:spLocks/>
                  </p:cNvSpPr>
                  <p:nvPr/>
                </p:nvSpPr>
                <p:spPr bwMode="auto">
                  <a:xfrm>
                    <a:off x="2234" y="2276"/>
                    <a:ext cx="171" cy="709"/>
                  </a:xfrm>
                  <a:custGeom>
                    <a:avLst/>
                    <a:gdLst>
                      <a:gd name="T0" fmla="*/ 0 w 171"/>
                      <a:gd name="T1" fmla="*/ 0 h 709"/>
                      <a:gd name="T2" fmla="*/ 14 w 171"/>
                      <a:gd name="T3" fmla="*/ 4 h 709"/>
                      <a:gd name="T4" fmla="*/ 24 w 171"/>
                      <a:gd name="T5" fmla="*/ 16 h 709"/>
                      <a:gd name="T6" fmla="*/ 28 w 171"/>
                      <a:gd name="T7" fmla="*/ 33 h 709"/>
                      <a:gd name="T8" fmla="*/ 31 w 171"/>
                      <a:gd name="T9" fmla="*/ 59 h 709"/>
                      <a:gd name="T10" fmla="*/ 85 w 171"/>
                      <a:gd name="T11" fmla="*/ 651 h 709"/>
                      <a:gd name="T12" fmla="*/ 90 w 171"/>
                      <a:gd name="T13" fmla="*/ 684 h 709"/>
                      <a:gd name="T14" fmla="*/ 95 w 171"/>
                      <a:gd name="T15" fmla="*/ 694 h 709"/>
                      <a:gd name="T16" fmla="*/ 106 w 171"/>
                      <a:gd name="T17" fmla="*/ 704 h 709"/>
                      <a:gd name="T18" fmla="*/ 115 w 171"/>
                      <a:gd name="T19" fmla="*/ 708 h 709"/>
                      <a:gd name="T20" fmla="*/ 126 w 171"/>
                      <a:gd name="T21" fmla="*/ 700 h 709"/>
                      <a:gd name="T22" fmla="*/ 134 w 171"/>
                      <a:gd name="T23" fmla="*/ 684 h 709"/>
                      <a:gd name="T24" fmla="*/ 170 w 171"/>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709">
                        <a:moveTo>
                          <a:pt x="0" y="0"/>
                        </a:moveTo>
                        <a:lnTo>
                          <a:pt x="14" y="4"/>
                        </a:lnTo>
                        <a:lnTo>
                          <a:pt x="24" y="16"/>
                        </a:lnTo>
                        <a:lnTo>
                          <a:pt x="28" y="33"/>
                        </a:lnTo>
                        <a:lnTo>
                          <a:pt x="31" y="59"/>
                        </a:lnTo>
                        <a:lnTo>
                          <a:pt x="85" y="651"/>
                        </a:lnTo>
                        <a:lnTo>
                          <a:pt x="90" y="684"/>
                        </a:lnTo>
                        <a:lnTo>
                          <a:pt x="95" y="694"/>
                        </a:lnTo>
                        <a:lnTo>
                          <a:pt x="106" y="704"/>
                        </a:lnTo>
                        <a:lnTo>
                          <a:pt x="115" y="708"/>
                        </a:lnTo>
                        <a:lnTo>
                          <a:pt x="126" y="700"/>
                        </a:lnTo>
                        <a:lnTo>
                          <a:pt x="134" y="684"/>
                        </a:lnTo>
                        <a:lnTo>
                          <a:pt x="170" y="38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grpSp>
          </p:grpSp>
          <p:sp>
            <p:nvSpPr>
              <p:cNvPr id="145" name="Freeform 94">
                <a:extLst>
                  <a:ext uri="{FF2B5EF4-FFF2-40B4-BE49-F238E27FC236}">
                    <a16:creationId xmlns:a16="http://schemas.microsoft.com/office/drawing/2014/main" id="{B1DD0D73-EC6E-3B65-2E99-D56B9F5C1BFB}"/>
                  </a:ext>
                </a:extLst>
              </p:cNvPr>
              <p:cNvSpPr>
                <a:spLocks/>
              </p:cNvSpPr>
              <p:nvPr/>
            </p:nvSpPr>
            <p:spPr bwMode="auto">
              <a:xfrm>
                <a:off x="1799" y="669"/>
                <a:ext cx="48" cy="144"/>
              </a:xfrm>
              <a:custGeom>
                <a:avLst/>
                <a:gdLst>
                  <a:gd name="T0" fmla="*/ 0 w 68"/>
                  <a:gd name="T1" fmla="*/ 294 h 294"/>
                  <a:gd name="T2" fmla="*/ 43 w 68"/>
                  <a:gd name="T3" fmla="*/ 40 h 294"/>
                  <a:gd name="T4" fmla="*/ 45 w 68"/>
                  <a:gd name="T5" fmla="*/ 28 h 294"/>
                  <a:gd name="T6" fmla="*/ 47 w 68"/>
                  <a:gd name="T7" fmla="*/ 19 h 294"/>
                  <a:gd name="T8" fmla="*/ 51 w 68"/>
                  <a:gd name="T9" fmla="*/ 11 h 294"/>
                  <a:gd name="T10" fmla="*/ 58 w 68"/>
                  <a:gd name="T11" fmla="*/ 4 h 294"/>
                  <a:gd name="T12" fmla="*/ 68 w 68"/>
                  <a:gd name="T13" fmla="*/ 0 h 294"/>
                </a:gdLst>
                <a:ahLst/>
                <a:cxnLst>
                  <a:cxn ang="0">
                    <a:pos x="T0" y="T1"/>
                  </a:cxn>
                  <a:cxn ang="0">
                    <a:pos x="T2" y="T3"/>
                  </a:cxn>
                  <a:cxn ang="0">
                    <a:pos x="T4" y="T5"/>
                  </a:cxn>
                  <a:cxn ang="0">
                    <a:pos x="T6" y="T7"/>
                  </a:cxn>
                  <a:cxn ang="0">
                    <a:pos x="T8" y="T9"/>
                  </a:cxn>
                  <a:cxn ang="0">
                    <a:pos x="T10" y="T11"/>
                  </a:cxn>
                  <a:cxn ang="0">
                    <a:pos x="T12" y="T13"/>
                  </a:cxn>
                </a:cxnLst>
                <a:rect l="0" t="0" r="r" b="b"/>
                <a:pathLst>
                  <a:path w="68" h="294">
                    <a:moveTo>
                      <a:pt x="0" y="294"/>
                    </a:moveTo>
                    <a:lnTo>
                      <a:pt x="43" y="40"/>
                    </a:lnTo>
                    <a:lnTo>
                      <a:pt x="45" y="28"/>
                    </a:lnTo>
                    <a:lnTo>
                      <a:pt x="47" y="19"/>
                    </a:lnTo>
                    <a:lnTo>
                      <a:pt x="51" y="11"/>
                    </a:lnTo>
                    <a:lnTo>
                      <a:pt x="58" y="4"/>
                    </a:lnTo>
                    <a:lnTo>
                      <a:pt x="68" y="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46" name="Freeform 95">
                <a:extLst>
                  <a:ext uri="{FF2B5EF4-FFF2-40B4-BE49-F238E27FC236}">
                    <a16:creationId xmlns:a16="http://schemas.microsoft.com/office/drawing/2014/main" id="{21939DD7-CFBD-4653-2530-17C4FF907E37}"/>
                  </a:ext>
                </a:extLst>
              </p:cNvPr>
              <p:cNvSpPr>
                <a:spLocks/>
              </p:cNvSpPr>
              <p:nvPr/>
            </p:nvSpPr>
            <p:spPr bwMode="auto">
              <a:xfrm>
                <a:off x="1848" y="671"/>
                <a:ext cx="120" cy="259"/>
              </a:xfrm>
              <a:custGeom>
                <a:avLst/>
                <a:gdLst>
                  <a:gd name="T0" fmla="*/ 0 w 168"/>
                  <a:gd name="T1" fmla="*/ 0 h 709"/>
                  <a:gd name="T2" fmla="*/ 14 w 168"/>
                  <a:gd name="T3" fmla="*/ 4 h 709"/>
                  <a:gd name="T4" fmla="*/ 24 w 168"/>
                  <a:gd name="T5" fmla="*/ 16 h 709"/>
                  <a:gd name="T6" fmla="*/ 27 w 168"/>
                  <a:gd name="T7" fmla="*/ 33 h 709"/>
                  <a:gd name="T8" fmla="*/ 30 w 168"/>
                  <a:gd name="T9" fmla="*/ 59 h 709"/>
                  <a:gd name="T10" fmla="*/ 84 w 168"/>
                  <a:gd name="T11" fmla="*/ 651 h 709"/>
                  <a:gd name="T12" fmla="*/ 89 w 168"/>
                  <a:gd name="T13" fmla="*/ 684 h 709"/>
                  <a:gd name="T14" fmla="*/ 93 w 168"/>
                  <a:gd name="T15" fmla="*/ 694 h 709"/>
                  <a:gd name="T16" fmla="*/ 104 w 168"/>
                  <a:gd name="T17" fmla="*/ 704 h 709"/>
                  <a:gd name="T18" fmla="*/ 113 w 168"/>
                  <a:gd name="T19" fmla="*/ 708 h 709"/>
                  <a:gd name="T20" fmla="*/ 124 w 168"/>
                  <a:gd name="T21" fmla="*/ 700 h 709"/>
                  <a:gd name="T22" fmla="*/ 132 w 168"/>
                  <a:gd name="T23" fmla="*/ 684 h 709"/>
                  <a:gd name="T24" fmla="*/ 167 w 168"/>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47" name="Freeform 96">
                <a:extLst>
                  <a:ext uri="{FF2B5EF4-FFF2-40B4-BE49-F238E27FC236}">
                    <a16:creationId xmlns:a16="http://schemas.microsoft.com/office/drawing/2014/main" id="{C93726F6-8536-E5C7-EEB3-D6689F4DC921}"/>
                  </a:ext>
                </a:extLst>
              </p:cNvPr>
              <p:cNvSpPr>
                <a:spLocks/>
              </p:cNvSpPr>
              <p:nvPr/>
            </p:nvSpPr>
            <p:spPr bwMode="auto">
              <a:xfrm>
                <a:off x="1968" y="669"/>
                <a:ext cx="49" cy="143"/>
              </a:xfrm>
              <a:custGeom>
                <a:avLst/>
                <a:gdLst>
                  <a:gd name="T0" fmla="*/ 0 w 71"/>
                  <a:gd name="T1" fmla="*/ 291 h 291"/>
                  <a:gd name="T2" fmla="*/ 45 w 71"/>
                  <a:gd name="T3" fmla="*/ 40 h 291"/>
                  <a:gd name="T4" fmla="*/ 48 w 71"/>
                  <a:gd name="T5" fmla="*/ 28 h 291"/>
                  <a:gd name="T6" fmla="*/ 50 w 71"/>
                  <a:gd name="T7" fmla="*/ 19 h 291"/>
                  <a:gd name="T8" fmla="*/ 53 w 71"/>
                  <a:gd name="T9" fmla="*/ 11 h 291"/>
                  <a:gd name="T10" fmla="*/ 61 w 71"/>
                  <a:gd name="T11" fmla="*/ 4 h 291"/>
                  <a:gd name="T12" fmla="*/ 71 w 71"/>
                  <a:gd name="T13" fmla="*/ 0 h 291"/>
                </a:gdLst>
                <a:ahLst/>
                <a:cxnLst>
                  <a:cxn ang="0">
                    <a:pos x="T0" y="T1"/>
                  </a:cxn>
                  <a:cxn ang="0">
                    <a:pos x="T2" y="T3"/>
                  </a:cxn>
                  <a:cxn ang="0">
                    <a:pos x="T4" y="T5"/>
                  </a:cxn>
                  <a:cxn ang="0">
                    <a:pos x="T6" y="T7"/>
                  </a:cxn>
                  <a:cxn ang="0">
                    <a:pos x="T8" y="T9"/>
                  </a:cxn>
                  <a:cxn ang="0">
                    <a:pos x="T10" y="T11"/>
                  </a:cxn>
                  <a:cxn ang="0">
                    <a:pos x="T12" y="T13"/>
                  </a:cxn>
                </a:cxnLst>
                <a:rect l="0" t="0" r="r" b="b"/>
                <a:pathLst>
                  <a:path w="71" h="291">
                    <a:moveTo>
                      <a:pt x="0" y="291"/>
                    </a:moveTo>
                    <a:lnTo>
                      <a:pt x="45" y="40"/>
                    </a:lnTo>
                    <a:lnTo>
                      <a:pt x="48" y="28"/>
                    </a:lnTo>
                    <a:lnTo>
                      <a:pt x="50" y="19"/>
                    </a:lnTo>
                    <a:lnTo>
                      <a:pt x="53" y="11"/>
                    </a:lnTo>
                    <a:lnTo>
                      <a:pt x="61" y="4"/>
                    </a:lnTo>
                    <a:lnTo>
                      <a:pt x="71" y="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48" name="Freeform 97">
                <a:extLst>
                  <a:ext uri="{FF2B5EF4-FFF2-40B4-BE49-F238E27FC236}">
                    <a16:creationId xmlns:a16="http://schemas.microsoft.com/office/drawing/2014/main" id="{059E1476-38BF-9D52-F3F9-B0F78CF8F179}"/>
                  </a:ext>
                </a:extLst>
              </p:cNvPr>
              <p:cNvSpPr>
                <a:spLocks/>
              </p:cNvSpPr>
              <p:nvPr/>
            </p:nvSpPr>
            <p:spPr bwMode="auto">
              <a:xfrm>
                <a:off x="2019" y="671"/>
                <a:ext cx="117" cy="259"/>
              </a:xfrm>
              <a:custGeom>
                <a:avLst/>
                <a:gdLst>
                  <a:gd name="T0" fmla="*/ 0 w 164"/>
                  <a:gd name="T1" fmla="*/ 0 h 530"/>
                  <a:gd name="T2" fmla="*/ 14 w 164"/>
                  <a:gd name="T3" fmla="*/ 3 h 530"/>
                  <a:gd name="T4" fmla="*/ 24 w 164"/>
                  <a:gd name="T5" fmla="*/ 12 h 530"/>
                  <a:gd name="T6" fmla="*/ 27 w 164"/>
                  <a:gd name="T7" fmla="*/ 25 h 530"/>
                  <a:gd name="T8" fmla="*/ 30 w 164"/>
                  <a:gd name="T9" fmla="*/ 44 h 530"/>
                  <a:gd name="T10" fmla="*/ 84 w 164"/>
                  <a:gd name="T11" fmla="*/ 488 h 530"/>
                  <a:gd name="T12" fmla="*/ 89 w 164"/>
                  <a:gd name="T13" fmla="*/ 512 h 530"/>
                  <a:gd name="T14" fmla="*/ 93 w 164"/>
                  <a:gd name="T15" fmla="*/ 520 h 530"/>
                  <a:gd name="T16" fmla="*/ 104 w 164"/>
                  <a:gd name="T17" fmla="*/ 527 h 530"/>
                  <a:gd name="T18" fmla="*/ 113 w 164"/>
                  <a:gd name="T19" fmla="*/ 530 h 530"/>
                  <a:gd name="T20" fmla="*/ 124 w 164"/>
                  <a:gd name="T21" fmla="*/ 524 h 530"/>
                  <a:gd name="T22" fmla="*/ 132 w 164"/>
                  <a:gd name="T23" fmla="*/ 512 h 530"/>
                  <a:gd name="T24" fmla="*/ 164 w 164"/>
                  <a:gd name="T25" fmla="*/ 282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4" h="530">
                    <a:moveTo>
                      <a:pt x="0" y="0"/>
                    </a:moveTo>
                    <a:lnTo>
                      <a:pt x="14" y="3"/>
                    </a:lnTo>
                    <a:lnTo>
                      <a:pt x="24" y="12"/>
                    </a:lnTo>
                    <a:lnTo>
                      <a:pt x="27" y="25"/>
                    </a:lnTo>
                    <a:lnTo>
                      <a:pt x="30" y="44"/>
                    </a:lnTo>
                    <a:lnTo>
                      <a:pt x="84" y="488"/>
                    </a:lnTo>
                    <a:lnTo>
                      <a:pt x="89" y="512"/>
                    </a:lnTo>
                    <a:lnTo>
                      <a:pt x="93" y="520"/>
                    </a:lnTo>
                    <a:lnTo>
                      <a:pt x="104" y="527"/>
                    </a:lnTo>
                    <a:lnTo>
                      <a:pt x="113" y="530"/>
                    </a:lnTo>
                    <a:lnTo>
                      <a:pt x="124" y="524"/>
                    </a:lnTo>
                    <a:lnTo>
                      <a:pt x="132" y="512"/>
                    </a:lnTo>
                    <a:lnTo>
                      <a:pt x="164" y="282"/>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49" name="Freeform 98">
                <a:extLst>
                  <a:ext uri="{FF2B5EF4-FFF2-40B4-BE49-F238E27FC236}">
                    <a16:creationId xmlns:a16="http://schemas.microsoft.com/office/drawing/2014/main" id="{B501E447-56F9-5D82-DE14-18E64138AFD3}"/>
                  </a:ext>
                </a:extLst>
              </p:cNvPr>
              <p:cNvSpPr>
                <a:spLocks/>
              </p:cNvSpPr>
              <p:nvPr/>
            </p:nvSpPr>
            <p:spPr bwMode="auto">
              <a:xfrm>
                <a:off x="3155" y="672"/>
                <a:ext cx="46" cy="133"/>
              </a:xfrm>
              <a:custGeom>
                <a:avLst/>
                <a:gdLst>
                  <a:gd name="T0" fmla="*/ 0 w 65"/>
                  <a:gd name="T1" fmla="*/ 362 h 363"/>
                  <a:gd name="T2" fmla="*/ 40 w 65"/>
                  <a:gd name="T3" fmla="*/ 54 h 363"/>
                  <a:gd name="T4" fmla="*/ 42 w 65"/>
                  <a:gd name="T5" fmla="*/ 38 h 363"/>
                  <a:gd name="T6" fmla="*/ 44 w 65"/>
                  <a:gd name="T7" fmla="*/ 25 h 363"/>
                  <a:gd name="T8" fmla="*/ 47 w 65"/>
                  <a:gd name="T9" fmla="*/ 15 h 363"/>
                  <a:gd name="T10" fmla="*/ 55 w 65"/>
                  <a:gd name="T11" fmla="*/ 6 h 363"/>
                  <a:gd name="T12" fmla="*/ 64 w 6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5" h="363">
                    <a:moveTo>
                      <a:pt x="0" y="362"/>
                    </a:moveTo>
                    <a:lnTo>
                      <a:pt x="40" y="54"/>
                    </a:lnTo>
                    <a:lnTo>
                      <a:pt x="42" y="38"/>
                    </a:lnTo>
                    <a:lnTo>
                      <a:pt x="44" y="25"/>
                    </a:lnTo>
                    <a:lnTo>
                      <a:pt x="47" y="15"/>
                    </a:lnTo>
                    <a:lnTo>
                      <a:pt x="55" y="6"/>
                    </a:lnTo>
                    <a:lnTo>
                      <a:pt x="64" y="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50" name="Freeform 99">
                <a:extLst>
                  <a:ext uri="{FF2B5EF4-FFF2-40B4-BE49-F238E27FC236}">
                    <a16:creationId xmlns:a16="http://schemas.microsoft.com/office/drawing/2014/main" id="{BA2CC622-5C24-8972-EEFE-37E358355C8F}"/>
                  </a:ext>
                </a:extLst>
              </p:cNvPr>
              <p:cNvSpPr>
                <a:spLocks/>
              </p:cNvSpPr>
              <p:nvPr/>
            </p:nvSpPr>
            <p:spPr bwMode="auto">
              <a:xfrm>
                <a:off x="3202" y="673"/>
                <a:ext cx="124" cy="260"/>
              </a:xfrm>
              <a:custGeom>
                <a:avLst/>
                <a:gdLst>
                  <a:gd name="T0" fmla="*/ 0 w 174"/>
                  <a:gd name="T1" fmla="*/ 0 h 530"/>
                  <a:gd name="T2" fmla="*/ 14 w 174"/>
                  <a:gd name="T3" fmla="*/ 3 h 530"/>
                  <a:gd name="T4" fmla="*/ 24 w 174"/>
                  <a:gd name="T5" fmla="*/ 12 h 530"/>
                  <a:gd name="T6" fmla="*/ 28 w 174"/>
                  <a:gd name="T7" fmla="*/ 25 h 530"/>
                  <a:gd name="T8" fmla="*/ 31 w 174"/>
                  <a:gd name="T9" fmla="*/ 44 h 530"/>
                  <a:gd name="T10" fmla="*/ 86 w 174"/>
                  <a:gd name="T11" fmla="*/ 488 h 530"/>
                  <a:gd name="T12" fmla="*/ 91 w 174"/>
                  <a:gd name="T13" fmla="*/ 512 h 530"/>
                  <a:gd name="T14" fmla="*/ 95 w 174"/>
                  <a:gd name="T15" fmla="*/ 520 h 530"/>
                  <a:gd name="T16" fmla="*/ 106 w 174"/>
                  <a:gd name="T17" fmla="*/ 527 h 530"/>
                  <a:gd name="T18" fmla="*/ 115 w 174"/>
                  <a:gd name="T19" fmla="*/ 530 h 530"/>
                  <a:gd name="T20" fmla="*/ 127 w 174"/>
                  <a:gd name="T21" fmla="*/ 524 h 530"/>
                  <a:gd name="T22" fmla="*/ 135 w 174"/>
                  <a:gd name="T23" fmla="*/ 512 h 530"/>
                  <a:gd name="T24" fmla="*/ 174 w 174"/>
                  <a:gd name="T25" fmla="*/ 261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4" h="530">
                    <a:moveTo>
                      <a:pt x="0" y="0"/>
                    </a:moveTo>
                    <a:lnTo>
                      <a:pt x="14" y="3"/>
                    </a:lnTo>
                    <a:lnTo>
                      <a:pt x="24" y="12"/>
                    </a:lnTo>
                    <a:lnTo>
                      <a:pt x="28" y="25"/>
                    </a:lnTo>
                    <a:lnTo>
                      <a:pt x="31" y="44"/>
                    </a:lnTo>
                    <a:lnTo>
                      <a:pt x="86" y="488"/>
                    </a:lnTo>
                    <a:lnTo>
                      <a:pt x="91" y="512"/>
                    </a:lnTo>
                    <a:lnTo>
                      <a:pt x="95" y="520"/>
                    </a:lnTo>
                    <a:lnTo>
                      <a:pt x="106" y="527"/>
                    </a:lnTo>
                    <a:lnTo>
                      <a:pt x="115" y="530"/>
                    </a:lnTo>
                    <a:lnTo>
                      <a:pt x="127" y="524"/>
                    </a:lnTo>
                    <a:lnTo>
                      <a:pt x="135" y="512"/>
                    </a:lnTo>
                    <a:lnTo>
                      <a:pt x="174" y="261"/>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51" name="Freeform 100">
                <a:extLst>
                  <a:ext uri="{FF2B5EF4-FFF2-40B4-BE49-F238E27FC236}">
                    <a16:creationId xmlns:a16="http://schemas.microsoft.com/office/drawing/2014/main" id="{8F81EB8D-AD36-65A2-D87F-847027FF865D}"/>
                  </a:ext>
                </a:extLst>
              </p:cNvPr>
              <p:cNvSpPr>
                <a:spLocks/>
              </p:cNvSpPr>
              <p:nvPr/>
            </p:nvSpPr>
            <p:spPr bwMode="auto">
              <a:xfrm>
                <a:off x="3326" y="672"/>
                <a:ext cx="45" cy="133"/>
              </a:xfrm>
              <a:custGeom>
                <a:avLst/>
                <a:gdLst>
                  <a:gd name="T0" fmla="*/ 0 w 64"/>
                  <a:gd name="T1" fmla="*/ 362 h 363"/>
                  <a:gd name="T2" fmla="*/ 39 w 64"/>
                  <a:gd name="T3" fmla="*/ 54 h 363"/>
                  <a:gd name="T4" fmla="*/ 41 w 64"/>
                  <a:gd name="T5" fmla="*/ 38 h 363"/>
                  <a:gd name="T6" fmla="*/ 43 w 64"/>
                  <a:gd name="T7" fmla="*/ 25 h 363"/>
                  <a:gd name="T8" fmla="*/ 46 w 64"/>
                  <a:gd name="T9" fmla="*/ 15 h 363"/>
                  <a:gd name="T10" fmla="*/ 54 w 64"/>
                  <a:gd name="T11" fmla="*/ 6 h 363"/>
                  <a:gd name="T12" fmla="*/ 63 w 6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4" h="363">
                    <a:moveTo>
                      <a:pt x="0" y="362"/>
                    </a:moveTo>
                    <a:lnTo>
                      <a:pt x="39" y="54"/>
                    </a:lnTo>
                    <a:lnTo>
                      <a:pt x="41" y="38"/>
                    </a:lnTo>
                    <a:lnTo>
                      <a:pt x="43" y="25"/>
                    </a:lnTo>
                    <a:lnTo>
                      <a:pt x="46" y="15"/>
                    </a:lnTo>
                    <a:lnTo>
                      <a:pt x="54" y="6"/>
                    </a:lnTo>
                    <a:lnTo>
                      <a:pt x="63" y="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52" name="Freeform 101">
                <a:extLst>
                  <a:ext uri="{FF2B5EF4-FFF2-40B4-BE49-F238E27FC236}">
                    <a16:creationId xmlns:a16="http://schemas.microsoft.com/office/drawing/2014/main" id="{74ED1F35-E8A9-E187-0496-DE912DDE8501}"/>
                  </a:ext>
                </a:extLst>
              </p:cNvPr>
              <p:cNvSpPr>
                <a:spLocks/>
              </p:cNvSpPr>
              <p:nvPr/>
            </p:nvSpPr>
            <p:spPr bwMode="auto">
              <a:xfrm>
                <a:off x="3371" y="673"/>
                <a:ext cx="125" cy="260"/>
              </a:xfrm>
              <a:custGeom>
                <a:avLst/>
                <a:gdLst>
                  <a:gd name="T0" fmla="*/ 0 w 175"/>
                  <a:gd name="T1" fmla="*/ 0 h 530"/>
                  <a:gd name="T2" fmla="*/ 14 w 175"/>
                  <a:gd name="T3" fmla="*/ 3 h 530"/>
                  <a:gd name="T4" fmla="*/ 24 w 175"/>
                  <a:gd name="T5" fmla="*/ 12 h 530"/>
                  <a:gd name="T6" fmla="*/ 28 w 175"/>
                  <a:gd name="T7" fmla="*/ 25 h 530"/>
                  <a:gd name="T8" fmla="*/ 31 w 175"/>
                  <a:gd name="T9" fmla="*/ 44 h 530"/>
                  <a:gd name="T10" fmla="*/ 85 w 175"/>
                  <a:gd name="T11" fmla="*/ 488 h 530"/>
                  <a:gd name="T12" fmla="*/ 90 w 175"/>
                  <a:gd name="T13" fmla="*/ 512 h 530"/>
                  <a:gd name="T14" fmla="*/ 95 w 175"/>
                  <a:gd name="T15" fmla="*/ 520 h 530"/>
                  <a:gd name="T16" fmla="*/ 106 w 175"/>
                  <a:gd name="T17" fmla="*/ 527 h 530"/>
                  <a:gd name="T18" fmla="*/ 115 w 175"/>
                  <a:gd name="T19" fmla="*/ 530 h 530"/>
                  <a:gd name="T20" fmla="*/ 126 w 175"/>
                  <a:gd name="T21" fmla="*/ 524 h 530"/>
                  <a:gd name="T22" fmla="*/ 134 w 175"/>
                  <a:gd name="T23" fmla="*/ 512 h 530"/>
                  <a:gd name="T24" fmla="*/ 175 w 175"/>
                  <a:gd name="T25" fmla="*/ 258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5" h="530">
                    <a:moveTo>
                      <a:pt x="0" y="0"/>
                    </a:moveTo>
                    <a:lnTo>
                      <a:pt x="14" y="3"/>
                    </a:lnTo>
                    <a:lnTo>
                      <a:pt x="24" y="12"/>
                    </a:lnTo>
                    <a:lnTo>
                      <a:pt x="28" y="25"/>
                    </a:lnTo>
                    <a:lnTo>
                      <a:pt x="31" y="44"/>
                    </a:lnTo>
                    <a:lnTo>
                      <a:pt x="85" y="488"/>
                    </a:lnTo>
                    <a:lnTo>
                      <a:pt x="90" y="512"/>
                    </a:lnTo>
                    <a:lnTo>
                      <a:pt x="95" y="520"/>
                    </a:lnTo>
                    <a:lnTo>
                      <a:pt x="106" y="527"/>
                    </a:lnTo>
                    <a:lnTo>
                      <a:pt x="115" y="530"/>
                    </a:lnTo>
                    <a:lnTo>
                      <a:pt x="126" y="524"/>
                    </a:lnTo>
                    <a:lnTo>
                      <a:pt x="134" y="512"/>
                    </a:lnTo>
                    <a:lnTo>
                      <a:pt x="175" y="258"/>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53" name="Freeform 102">
                <a:extLst>
                  <a:ext uri="{FF2B5EF4-FFF2-40B4-BE49-F238E27FC236}">
                    <a16:creationId xmlns:a16="http://schemas.microsoft.com/office/drawing/2014/main" id="{5FDF5261-4CD4-5202-7D38-9114942D54C0}"/>
                  </a:ext>
                </a:extLst>
              </p:cNvPr>
              <p:cNvSpPr>
                <a:spLocks/>
              </p:cNvSpPr>
              <p:nvPr/>
            </p:nvSpPr>
            <p:spPr bwMode="auto">
              <a:xfrm>
                <a:off x="3493" y="670"/>
                <a:ext cx="48" cy="133"/>
              </a:xfrm>
              <a:custGeom>
                <a:avLst/>
                <a:gdLst>
                  <a:gd name="T0" fmla="*/ 0 w 67"/>
                  <a:gd name="T1" fmla="*/ 362 h 363"/>
                  <a:gd name="T2" fmla="*/ 41 w 67"/>
                  <a:gd name="T3" fmla="*/ 54 h 363"/>
                  <a:gd name="T4" fmla="*/ 43 w 67"/>
                  <a:gd name="T5" fmla="*/ 38 h 363"/>
                  <a:gd name="T6" fmla="*/ 45 w 67"/>
                  <a:gd name="T7" fmla="*/ 25 h 363"/>
                  <a:gd name="T8" fmla="*/ 49 w 67"/>
                  <a:gd name="T9" fmla="*/ 15 h 363"/>
                  <a:gd name="T10" fmla="*/ 56 w 67"/>
                  <a:gd name="T11" fmla="*/ 6 h 363"/>
                  <a:gd name="T12" fmla="*/ 66 w 67"/>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7" h="363">
                    <a:moveTo>
                      <a:pt x="0" y="362"/>
                    </a:moveTo>
                    <a:lnTo>
                      <a:pt x="41" y="54"/>
                    </a:lnTo>
                    <a:lnTo>
                      <a:pt x="43" y="38"/>
                    </a:lnTo>
                    <a:lnTo>
                      <a:pt x="45" y="25"/>
                    </a:lnTo>
                    <a:lnTo>
                      <a:pt x="49" y="15"/>
                    </a:lnTo>
                    <a:lnTo>
                      <a:pt x="56" y="6"/>
                    </a:lnTo>
                    <a:lnTo>
                      <a:pt x="66" y="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54" name="Freeform 103">
                <a:extLst>
                  <a:ext uri="{FF2B5EF4-FFF2-40B4-BE49-F238E27FC236}">
                    <a16:creationId xmlns:a16="http://schemas.microsoft.com/office/drawing/2014/main" id="{2814FEFC-138E-04FD-C062-FFD41769B3FA}"/>
                  </a:ext>
                </a:extLst>
              </p:cNvPr>
              <p:cNvSpPr>
                <a:spLocks/>
              </p:cNvSpPr>
              <p:nvPr/>
            </p:nvSpPr>
            <p:spPr bwMode="auto">
              <a:xfrm>
                <a:off x="3541" y="671"/>
                <a:ext cx="122" cy="260"/>
              </a:xfrm>
              <a:custGeom>
                <a:avLst/>
                <a:gdLst>
                  <a:gd name="T0" fmla="*/ 0 w 170"/>
                  <a:gd name="T1" fmla="*/ 0 h 530"/>
                  <a:gd name="T2" fmla="*/ 14 w 170"/>
                  <a:gd name="T3" fmla="*/ 3 h 530"/>
                  <a:gd name="T4" fmla="*/ 24 w 170"/>
                  <a:gd name="T5" fmla="*/ 12 h 530"/>
                  <a:gd name="T6" fmla="*/ 27 w 170"/>
                  <a:gd name="T7" fmla="*/ 25 h 530"/>
                  <a:gd name="T8" fmla="*/ 30 w 170"/>
                  <a:gd name="T9" fmla="*/ 44 h 530"/>
                  <a:gd name="T10" fmla="*/ 84 w 170"/>
                  <a:gd name="T11" fmla="*/ 488 h 530"/>
                  <a:gd name="T12" fmla="*/ 89 w 170"/>
                  <a:gd name="T13" fmla="*/ 512 h 530"/>
                  <a:gd name="T14" fmla="*/ 93 w 170"/>
                  <a:gd name="T15" fmla="*/ 520 h 530"/>
                  <a:gd name="T16" fmla="*/ 104 w 170"/>
                  <a:gd name="T17" fmla="*/ 527 h 530"/>
                  <a:gd name="T18" fmla="*/ 113 w 170"/>
                  <a:gd name="T19" fmla="*/ 530 h 530"/>
                  <a:gd name="T20" fmla="*/ 124 w 170"/>
                  <a:gd name="T21" fmla="*/ 524 h 530"/>
                  <a:gd name="T22" fmla="*/ 132 w 170"/>
                  <a:gd name="T23" fmla="*/ 512 h 530"/>
                  <a:gd name="T24" fmla="*/ 170 w 170"/>
                  <a:gd name="T25" fmla="*/ 265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0" h="530">
                    <a:moveTo>
                      <a:pt x="0" y="0"/>
                    </a:moveTo>
                    <a:lnTo>
                      <a:pt x="14" y="3"/>
                    </a:lnTo>
                    <a:lnTo>
                      <a:pt x="24" y="12"/>
                    </a:lnTo>
                    <a:lnTo>
                      <a:pt x="27" y="25"/>
                    </a:lnTo>
                    <a:lnTo>
                      <a:pt x="30" y="44"/>
                    </a:lnTo>
                    <a:lnTo>
                      <a:pt x="84" y="488"/>
                    </a:lnTo>
                    <a:lnTo>
                      <a:pt x="89" y="512"/>
                    </a:lnTo>
                    <a:lnTo>
                      <a:pt x="93" y="520"/>
                    </a:lnTo>
                    <a:lnTo>
                      <a:pt x="104" y="527"/>
                    </a:lnTo>
                    <a:lnTo>
                      <a:pt x="113" y="530"/>
                    </a:lnTo>
                    <a:lnTo>
                      <a:pt x="124" y="524"/>
                    </a:lnTo>
                    <a:lnTo>
                      <a:pt x="132" y="512"/>
                    </a:lnTo>
                    <a:lnTo>
                      <a:pt x="170" y="265"/>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grpSp>
            <p:nvGrpSpPr>
              <p:cNvPr id="155" name="Group 104">
                <a:extLst>
                  <a:ext uri="{FF2B5EF4-FFF2-40B4-BE49-F238E27FC236}">
                    <a16:creationId xmlns:a16="http://schemas.microsoft.com/office/drawing/2014/main" id="{45AE9706-288E-DCAA-2584-50ECC166F60A}"/>
                  </a:ext>
                </a:extLst>
              </p:cNvPr>
              <p:cNvGrpSpPr>
                <a:grpSpLocks/>
              </p:cNvGrpSpPr>
              <p:nvPr/>
            </p:nvGrpSpPr>
            <p:grpSpPr bwMode="auto">
              <a:xfrm>
                <a:off x="3663" y="670"/>
                <a:ext cx="168" cy="261"/>
                <a:chOff x="5025" y="2269"/>
                <a:chExt cx="238" cy="713"/>
              </a:xfrm>
            </p:grpSpPr>
            <p:sp>
              <p:nvSpPr>
                <p:cNvPr id="156" name="Freeform 105">
                  <a:extLst>
                    <a:ext uri="{FF2B5EF4-FFF2-40B4-BE49-F238E27FC236}">
                      <a16:creationId xmlns:a16="http://schemas.microsoft.com/office/drawing/2014/main" id="{F499A646-B759-3BB5-604C-FBF11E9051B4}"/>
                    </a:ext>
                  </a:extLst>
                </p:cNvPr>
                <p:cNvSpPr>
                  <a:spLocks/>
                </p:cNvSpPr>
                <p:nvPr/>
              </p:nvSpPr>
              <p:spPr bwMode="auto">
                <a:xfrm>
                  <a:off x="5025" y="2269"/>
                  <a:ext cx="69" cy="363"/>
                </a:xfrm>
                <a:custGeom>
                  <a:avLst/>
                  <a:gdLst>
                    <a:gd name="T0" fmla="*/ 0 w 69"/>
                    <a:gd name="T1" fmla="*/ 362 h 363"/>
                    <a:gd name="T2" fmla="*/ 42 w 69"/>
                    <a:gd name="T3" fmla="*/ 54 h 363"/>
                    <a:gd name="T4" fmla="*/ 45 w 69"/>
                    <a:gd name="T5" fmla="*/ 38 h 363"/>
                    <a:gd name="T6" fmla="*/ 47 w 69"/>
                    <a:gd name="T7" fmla="*/ 25 h 363"/>
                    <a:gd name="T8" fmla="*/ 50 w 69"/>
                    <a:gd name="T9" fmla="*/ 15 h 363"/>
                    <a:gd name="T10" fmla="*/ 58 w 69"/>
                    <a:gd name="T11" fmla="*/ 6 h 363"/>
                    <a:gd name="T12" fmla="*/ 68 w 69"/>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9" h="363">
                      <a:moveTo>
                        <a:pt x="0" y="362"/>
                      </a:moveTo>
                      <a:lnTo>
                        <a:pt x="42" y="54"/>
                      </a:lnTo>
                      <a:lnTo>
                        <a:pt x="45" y="38"/>
                      </a:lnTo>
                      <a:lnTo>
                        <a:pt x="47" y="25"/>
                      </a:lnTo>
                      <a:lnTo>
                        <a:pt x="50" y="15"/>
                      </a:lnTo>
                      <a:lnTo>
                        <a:pt x="58" y="6"/>
                      </a:lnTo>
                      <a:lnTo>
                        <a:pt x="68" y="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57" name="Freeform 106">
                  <a:extLst>
                    <a:ext uri="{FF2B5EF4-FFF2-40B4-BE49-F238E27FC236}">
                      <a16:creationId xmlns:a16="http://schemas.microsoft.com/office/drawing/2014/main" id="{C13AE7F6-431C-1F52-E035-656529D20BE7}"/>
                    </a:ext>
                  </a:extLst>
                </p:cNvPr>
                <p:cNvSpPr>
                  <a:spLocks/>
                </p:cNvSpPr>
                <p:nvPr/>
              </p:nvSpPr>
              <p:spPr bwMode="auto">
                <a:xfrm>
                  <a:off x="5095" y="2273"/>
                  <a:ext cx="168" cy="709"/>
                </a:xfrm>
                <a:custGeom>
                  <a:avLst/>
                  <a:gdLst>
                    <a:gd name="T0" fmla="*/ 0 w 168"/>
                    <a:gd name="T1" fmla="*/ 0 h 709"/>
                    <a:gd name="T2" fmla="*/ 14 w 168"/>
                    <a:gd name="T3" fmla="*/ 4 h 709"/>
                    <a:gd name="T4" fmla="*/ 24 w 168"/>
                    <a:gd name="T5" fmla="*/ 16 h 709"/>
                    <a:gd name="T6" fmla="*/ 27 w 168"/>
                    <a:gd name="T7" fmla="*/ 33 h 709"/>
                    <a:gd name="T8" fmla="*/ 30 w 168"/>
                    <a:gd name="T9" fmla="*/ 59 h 709"/>
                    <a:gd name="T10" fmla="*/ 84 w 168"/>
                    <a:gd name="T11" fmla="*/ 651 h 709"/>
                    <a:gd name="T12" fmla="*/ 89 w 168"/>
                    <a:gd name="T13" fmla="*/ 684 h 709"/>
                    <a:gd name="T14" fmla="*/ 93 w 168"/>
                    <a:gd name="T15" fmla="*/ 694 h 709"/>
                    <a:gd name="T16" fmla="*/ 104 w 168"/>
                    <a:gd name="T17" fmla="*/ 704 h 709"/>
                    <a:gd name="T18" fmla="*/ 113 w 168"/>
                    <a:gd name="T19" fmla="*/ 708 h 709"/>
                    <a:gd name="T20" fmla="*/ 124 w 168"/>
                    <a:gd name="T21" fmla="*/ 700 h 709"/>
                    <a:gd name="T22" fmla="*/ 132 w 168"/>
                    <a:gd name="T23" fmla="*/ 684 h 709"/>
                    <a:gd name="T24" fmla="*/ 167 w 168"/>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grpSp>
        </p:grpSp>
        <p:grpSp>
          <p:nvGrpSpPr>
            <p:cNvPr id="21" name="Group 172">
              <a:extLst>
                <a:ext uri="{FF2B5EF4-FFF2-40B4-BE49-F238E27FC236}">
                  <a16:creationId xmlns:a16="http://schemas.microsoft.com/office/drawing/2014/main" id="{15469E18-D12A-6E38-8ABA-B9E60C7D6696}"/>
                </a:ext>
              </a:extLst>
            </p:cNvPr>
            <p:cNvGrpSpPr>
              <a:grpSpLocks/>
            </p:cNvGrpSpPr>
            <p:nvPr/>
          </p:nvGrpSpPr>
          <p:grpSpPr bwMode="auto">
            <a:xfrm>
              <a:off x="2486384" y="3235020"/>
              <a:ext cx="4879975" cy="425450"/>
              <a:chOff x="762" y="1028"/>
              <a:chExt cx="3074" cy="268"/>
            </a:xfrm>
          </p:grpSpPr>
          <p:grpSp>
            <p:nvGrpSpPr>
              <p:cNvPr id="67" name="Group 107">
                <a:extLst>
                  <a:ext uri="{FF2B5EF4-FFF2-40B4-BE49-F238E27FC236}">
                    <a16:creationId xmlns:a16="http://schemas.microsoft.com/office/drawing/2014/main" id="{56640B5A-CF31-5A3C-3036-7CC40B7EAD29}"/>
                  </a:ext>
                </a:extLst>
              </p:cNvPr>
              <p:cNvGrpSpPr>
                <a:grpSpLocks/>
              </p:cNvGrpSpPr>
              <p:nvPr/>
            </p:nvGrpSpPr>
            <p:grpSpPr bwMode="auto">
              <a:xfrm>
                <a:off x="762" y="1029"/>
                <a:ext cx="168" cy="262"/>
                <a:chOff x="944" y="3250"/>
                <a:chExt cx="237" cy="713"/>
              </a:xfrm>
            </p:grpSpPr>
            <p:sp>
              <p:nvSpPr>
                <p:cNvPr id="112" name="Freeform 108">
                  <a:extLst>
                    <a:ext uri="{FF2B5EF4-FFF2-40B4-BE49-F238E27FC236}">
                      <a16:creationId xmlns:a16="http://schemas.microsoft.com/office/drawing/2014/main" id="{A815E95D-B7B3-209F-D23C-E7D458C8B097}"/>
                    </a:ext>
                  </a:extLst>
                </p:cNvPr>
                <p:cNvSpPr>
                  <a:spLocks/>
                </p:cNvSpPr>
                <p:nvPr/>
              </p:nvSpPr>
              <p:spPr bwMode="auto">
                <a:xfrm>
                  <a:off x="944" y="3250"/>
                  <a:ext cx="65" cy="363"/>
                </a:xfrm>
                <a:custGeom>
                  <a:avLst/>
                  <a:gdLst>
                    <a:gd name="T0" fmla="*/ 0 w 65"/>
                    <a:gd name="T1" fmla="*/ 362 h 363"/>
                    <a:gd name="T2" fmla="*/ 40 w 65"/>
                    <a:gd name="T3" fmla="*/ 54 h 363"/>
                    <a:gd name="T4" fmla="*/ 42 w 65"/>
                    <a:gd name="T5" fmla="*/ 38 h 363"/>
                    <a:gd name="T6" fmla="*/ 44 w 65"/>
                    <a:gd name="T7" fmla="*/ 25 h 363"/>
                    <a:gd name="T8" fmla="*/ 47 w 65"/>
                    <a:gd name="T9" fmla="*/ 15 h 363"/>
                    <a:gd name="T10" fmla="*/ 55 w 65"/>
                    <a:gd name="T11" fmla="*/ 6 h 363"/>
                    <a:gd name="T12" fmla="*/ 64 w 6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5" h="363">
                      <a:moveTo>
                        <a:pt x="0" y="362"/>
                      </a:moveTo>
                      <a:lnTo>
                        <a:pt x="40" y="54"/>
                      </a:lnTo>
                      <a:lnTo>
                        <a:pt x="42" y="38"/>
                      </a:lnTo>
                      <a:lnTo>
                        <a:pt x="44" y="25"/>
                      </a:lnTo>
                      <a:lnTo>
                        <a:pt x="47" y="15"/>
                      </a:lnTo>
                      <a:lnTo>
                        <a:pt x="55" y="6"/>
                      </a:lnTo>
                      <a:lnTo>
                        <a:pt x="64" y="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13" name="Freeform 109">
                  <a:extLst>
                    <a:ext uri="{FF2B5EF4-FFF2-40B4-BE49-F238E27FC236}">
                      <a16:creationId xmlns:a16="http://schemas.microsoft.com/office/drawing/2014/main" id="{90D0E041-6641-81AD-01CB-7D7AC36CE573}"/>
                    </a:ext>
                  </a:extLst>
                </p:cNvPr>
                <p:cNvSpPr>
                  <a:spLocks/>
                </p:cNvSpPr>
                <p:nvPr/>
              </p:nvSpPr>
              <p:spPr bwMode="auto">
                <a:xfrm>
                  <a:off x="1010" y="3254"/>
                  <a:ext cx="171" cy="709"/>
                </a:xfrm>
                <a:custGeom>
                  <a:avLst/>
                  <a:gdLst>
                    <a:gd name="T0" fmla="*/ 0 w 171"/>
                    <a:gd name="T1" fmla="*/ 0 h 709"/>
                    <a:gd name="T2" fmla="*/ 14 w 171"/>
                    <a:gd name="T3" fmla="*/ 4 h 709"/>
                    <a:gd name="T4" fmla="*/ 24 w 171"/>
                    <a:gd name="T5" fmla="*/ 16 h 709"/>
                    <a:gd name="T6" fmla="*/ 28 w 171"/>
                    <a:gd name="T7" fmla="*/ 33 h 709"/>
                    <a:gd name="T8" fmla="*/ 31 w 171"/>
                    <a:gd name="T9" fmla="*/ 59 h 709"/>
                    <a:gd name="T10" fmla="*/ 85 w 171"/>
                    <a:gd name="T11" fmla="*/ 651 h 709"/>
                    <a:gd name="T12" fmla="*/ 90 w 171"/>
                    <a:gd name="T13" fmla="*/ 684 h 709"/>
                    <a:gd name="T14" fmla="*/ 95 w 171"/>
                    <a:gd name="T15" fmla="*/ 694 h 709"/>
                    <a:gd name="T16" fmla="*/ 106 w 171"/>
                    <a:gd name="T17" fmla="*/ 704 h 709"/>
                    <a:gd name="T18" fmla="*/ 115 w 171"/>
                    <a:gd name="T19" fmla="*/ 708 h 709"/>
                    <a:gd name="T20" fmla="*/ 126 w 171"/>
                    <a:gd name="T21" fmla="*/ 700 h 709"/>
                    <a:gd name="T22" fmla="*/ 134 w 171"/>
                    <a:gd name="T23" fmla="*/ 684 h 709"/>
                    <a:gd name="T24" fmla="*/ 170 w 171"/>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709">
                      <a:moveTo>
                        <a:pt x="0" y="0"/>
                      </a:moveTo>
                      <a:lnTo>
                        <a:pt x="14" y="4"/>
                      </a:lnTo>
                      <a:lnTo>
                        <a:pt x="24" y="16"/>
                      </a:lnTo>
                      <a:lnTo>
                        <a:pt x="28" y="33"/>
                      </a:lnTo>
                      <a:lnTo>
                        <a:pt x="31" y="59"/>
                      </a:lnTo>
                      <a:lnTo>
                        <a:pt x="85" y="651"/>
                      </a:lnTo>
                      <a:lnTo>
                        <a:pt x="90" y="684"/>
                      </a:lnTo>
                      <a:lnTo>
                        <a:pt x="95" y="694"/>
                      </a:lnTo>
                      <a:lnTo>
                        <a:pt x="106" y="704"/>
                      </a:lnTo>
                      <a:lnTo>
                        <a:pt x="115" y="708"/>
                      </a:lnTo>
                      <a:lnTo>
                        <a:pt x="126" y="700"/>
                      </a:lnTo>
                      <a:lnTo>
                        <a:pt x="134" y="684"/>
                      </a:lnTo>
                      <a:lnTo>
                        <a:pt x="170" y="38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grpSp>
          <p:sp>
            <p:nvSpPr>
              <p:cNvPr id="68" name="Freeform 110">
                <a:extLst>
                  <a:ext uri="{FF2B5EF4-FFF2-40B4-BE49-F238E27FC236}">
                    <a16:creationId xmlns:a16="http://schemas.microsoft.com/office/drawing/2014/main" id="{E307EAD4-0617-BDC1-4528-49A101589734}"/>
                  </a:ext>
                </a:extLst>
              </p:cNvPr>
              <p:cNvSpPr>
                <a:spLocks/>
              </p:cNvSpPr>
              <p:nvPr/>
            </p:nvSpPr>
            <p:spPr bwMode="auto">
              <a:xfrm>
                <a:off x="931" y="1029"/>
                <a:ext cx="47" cy="133"/>
              </a:xfrm>
              <a:custGeom>
                <a:avLst/>
                <a:gdLst>
                  <a:gd name="T0" fmla="*/ 0 w 66"/>
                  <a:gd name="T1" fmla="*/ 362 h 363"/>
                  <a:gd name="T2" fmla="*/ 40 w 66"/>
                  <a:gd name="T3" fmla="*/ 54 h 363"/>
                  <a:gd name="T4" fmla="*/ 43 w 66"/>
                  <a:gd name="T5" fmla="*/ 38 h 363"/>
                  <a:gd name="T6" fmla="*/ 44 w 66"/>
                  <a:gd name="T7" fmla="*/ 25 h 363"/>
                  <a:gd name="T8" fmla="*/ 48 w 66"/>
                  <a:gd name="T9" fmla="*/ 15 h 363"/>
                  <a:gd name="T10" fmla="*/ 56 w 66"/>
                  <a:gd name="T11" fmla="*/ 6 h 363"/>
                  <a:gd name="T12" fmla="*/ 65 w 66"/>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6" h="363">
                    <a:moveTo>
                      <a:pt x="0" y="362"/>
                    </a:moveTo>
                    <a:lnTo>
                      <a:pt x="40" y="54"/>
                    </a:lnTo>
                    <a:lnTo>
                      <a:pt x="43" y="38"/>
                    </a:lnTo>
                    <a:lnTo>
                      <a:pt x="44" y="25"/>
                    </a:lnTo>
                    <a:lnTo>
                      <a:pt x="48" y="15"/>
                    </a:lnTo>
                    <a:lnTo>
                      <a:pt x="56" y="6"/>
                    </a:lnTo>
                    <a:lnTo>
                      <a:pt x="65" y="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69" name="Freeform 111">
                <a:extLst>
                  <a:ext uri="{FF2B5EF4-FFF2-40B4-BE49-F238E27FC236}">
                    <a16:creationId xmlns:a16="http://schemas.microsoft.com/office/drawing/2014/main" id="{FE004A22-F16A-D113-0380-8294A8D78912}"/>
                  </a:ext>
                </a:extLst>
              </p:cNvPr>
              <p:cNvSpPr>
                <a:spLocks/>
              </p:cNvSpPr>
              <p:nvPr/>
            </p:nvSpPr>
            <p:spPr bwMode="auto">
              <a:xfrm>
                <a:off x="978" y="1030"/>
                <a:ext cx="132" cy="260"/>
              </a:xfrm>
              <a:custGeom>
                <a:avLst/>
                <a:gdLst>
                  <a:gd name="T0" fmla="*/ 0 w 185"/>
                  <a:gd name="T1" fmla="*/ 1 h 531"/>
                  <a:gd name="T2" fmla="*/ 8 w 185"/>
                  <a:gd name="T3" fmla="*/ 0 h 531"/>
                  <a:gd name="T4" fmla="*/ 24 w 185"/>
                  <a:gd name="T5" fmla="*/ 13 h 531"/>
                  <a:gd name="T6" fmla="*/ 28 w 185"/>
                  <a:gd name="T7" fmla="*/ 26 h 531"/>
                  <a:gd name="T8" fmla="*/ 31 w 185"/>
                  <a:gd name="T9" fmla="*/ 45 h 531"/>
                  <a:gd name="T10" fmla="*/ 85 w 185"/>
                  <a:gd name="T11" fmla="*/ 489 h 531"/>
                  <a:gd name="T12" fmla="*/ 90 w 185"/>
                  <a:gd name="T13" fmla="*/ 513 h 531"/>
                  <a:gd name="T14" fmla="*/ 95 w 185"/>
                  <a:gd name="T15" fmla="*/ 521 h 531"/>
                  <a:gd name="T16" fmla="*/ 106 w 185"/>
                  <a:gd name="T17" fmla="*/ 528 h 531"/>
                  <a:gd name="T18" fmla="*/ 115 w 185"/>
                  <a:gd name="T19" fmla="*/ 531 h 531"/>
                  <a:gd name="T20" fmla="*/ 126 w 185"/>
                  <a:gd name="T21" fmla="*/ 525 h 531"/>
                  <a:gd name="T22" fmla="*/ 134 w 185"/>
                  <a:gd name="T23" fmla="*/ 513 h 531"/>
                  <a:gd name="T24" fmla="*/ 185 w 185"/>
                  <a:gd name="T25" fmla="*/ 258 h 5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5" h="531">
                    <a:moveTo>
                      <a:pt x="0" y="1"/>
                    </a:moveTo>
                    <a:lnTo>
                      <a:pt x="8" y="0"/>
                    </a:lnTo>
                    <a:lnTo>
                      <a:pt x="24" y="13"/>
                    </a:lnTo>
                    <a:lnTo>
                      <a:pt x="28" y="26"/>
                    </a:lnTo>
                    <a:lnTo>
                      <a:pt x="31" y="45"/>
                    </a:lnTo>
                    <a:lnTo>
                      <a:pt x="85" y="489"/>
                    </a:lnTo>
                    <a:lnTo>
                      <a:pt x="90" y="513"/>
                    </a:lnTo>
                    <a:lnTo>
                      <a:pt x="95" y="521"/>
                    </a:lnTo>
                    <a:lnTo>
                      <a:pt x="106" y="528"/>
                    </a:lnTo>
                    <a:lnTo>
                      <a:pt x="115" y="531"/>
                    </a:lnTo>
                    <a:lnTo>
                      <a:pt x="126" y="525"/>
                    </a:lnTo>
                    <a:lnTo>
                      <a:pt x="134" y="513"/>
                    </a:lnTo>
                    <a:lnTo>
                      <a:pt x="185" y="258"/>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grpSp>
            <p:nvGrpSpPr>
              <p:cNvPr id="70" name="Group 112">
                <a:extLst>
                  <a:ext uri="{FF2B5EF4-FFF2-40B4-BE49-F238E27FC236}">
                    <a16:creationId xmlns:a16="http://schemas.microsoft.com/office/drawing/2014/main" id="{9CEC3C67-8987-4AAD-5CBB-19D6700BEB00}"/>
                  </a:ext>
                </a:extLst>
              </p:cNvPr>
              <p:cNvGrpSpPr>
                <a:grpSpLocks/>
              </p:cNvGrpSpPr>
              <p:nvPr/>
            </p:nvGrpSpPr>
            <p:grpSpPr bwMode="auto">
              <a:xfrm>
                <a:off x="1111" y="1029"/>
                <a:ext cx="169" cy="262"/>
                <a:chOff x="1436" y="3250"/>
                <a:chExt cx="237" cy="713"/>
              </a:xfrm>
            </p:grpSpPr>
            <p:sp>
              <p:nvSpPr>
                <p:cNvPr id="110" name="Freeform 113">
                  <a:extLst>
                    <a:ext uri="{FF2B5EF4-FFF2-40B4-BE49-F238E27FC236}">
                      <a16:creationId xmlns:a16="http://schemas.microsoft.com/office/drawing/2014/main" id="{96D9968C-5442-987D-3986-F1B709F23668}"/>
                    </a:ext>
                  </a:extLst>
                </p:cNvPr>
                <p:cNvSpPr>
                  <a:spLocks/>
                </p:cNvSpPr>
                <p:nvPr/>
              </p:nvSpPr>
              <p:spPr bwMode="auto">
                <a:xfrm>
                  <a:off x="1436" y="3600"/>
                  <a:ext cx="65" cy="363"/>
                </a:xfrm>
                <a:custGeom>
                  <a:avLst/>
                  <a:gdLst>
                    <a:gd name="T0" fmla="*/ 0 w 65"/>
                    <a:gd name="T1" fmla="*/ 0 h 363"/>
                    <a:gd name="T2" fmla="*/ 40 w 65"/>
                    <a:gd name="T3" fmla="*/ 308 h 363"/>
                    <a:gd name="T4" fmla="*/ 42 w 65"/>
                    <a:gd name="T5" fmla="*/ 324 h 363"/>
                    <a:gd name="T6" fmla="*/ 44 w 65"/>
                    <a:gd name="T7" fmla="*/ 337 h 363"/>
                    <a:gd name="T8" fmla="*/ 47 w 65"/>
                    <a:gd name="T9" fmla="*/ 347 h 363"/>
                    <a:gd name="T10" fmla="*/ 55 w 65"/>
                    <a:gd name="T11" fmla="*/ 356 h 363"/>
                    <a:gd name="T12" fmla="*/ 64 w 65"/>
                    <a:gd name="T13" fmla="*/ 362 h 363"/>
                  </a:gdLst>
                  <a:ahLst/>
                  <a:cxnLst>
                    <a:cxn ang="0">
                      <a:pos x="T0" y="T1"/>
                    </a:cxn>
                    <a:cxn ang="0">
                      <a:pos x="T2" y="T3"/>
                    </a:cxn>
                    <a:cxn ang="0">
                      <a:pos x="T4" y="T5"/>
                    </a:cxn>
                    <a:cxn ang="0">
                      <a:pos x="T6" y="T7"/>
                    </a:cxn>
                    <a:cxn ang="0">
                      <a:pos x="T8" y="T9"/>
                    </a:cxn>
                    <a:cxn ang="0">
                      <a:pos x="T10" y="T11"/>
                    </a:cxn>
                    <a:cxn ang="0">
                      <a:pos x="T12" y="T13"/>
                    </a:cxn>
                  </a:cxnLst>
                  <a:rect l="0" t="0" r="r" b="b"/>
                  <a:pathLst>
                    <a:path w="65" h="363">
                      <a:moveTo>
                        <a:pt x="0" y="0"/>
                      </a:moveTo>
                      <a:lnTo>
                        <a:pt x="40" y="308"/>
                      </a:lnTo>
                      <a:lnTo>
                        <a:pt x="42" y="324"/>
                      </a:lnTo>
                      <a:lnTo>
                        <a:pt x="44" y="337"/>
                      </a:lnTo>
                      <a:lnTo>
                        <a:pt x="47" y="347"/>
                      </a:lnTo>
                      <a:lnTo>
                        <a:pt x="55" y="356"/>
                      </a:lnTo>
                      <a:lnTo>
                        <a:pt x="64" y="362"/>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11" name="Freeform 114">
                  <a:extLst>
                    <a:ext uri="{FF2B5EF4-FFF2-40B4-BE49-F238E27FC236}">
                      <a16:creationId xmlns:a16="http://schemas.microsoft.com/office/drawing/2014/main" id="{E31BAF33-A225-E7A1-9B98-A1DD872BE917}"/>
                    </a:ext>
                  </a:extLst>
                </p:cNvPr>
                <p:cNvSpPr>
                  <a:spLocks/>
                </p:cNvSpPr>
                <p:nvPr/>
              </p:nvSpPr>
              <p:spPr bwMode="auto">
                <a:xfrm>
                  <a:off x="1502" y="3250"/>
                  <a:ext cx="171" cy="709"/>
                </a:xfrm>
                <a:custGeom>
                  <a:avLst/>
                  <a:gdLst>
                    <a:gd name="T0" fmla="*/ 0 w 171"/>
                    <a:gd name="T1" fmla="*/ 708 h 709"/>
                    <a:gd name="T2" fmla="*/ 14 w 171"/>
                    <a:gd name="T3" fmla="*/ 704 h 709"/>
                    <a:gd name="T4" fmla="*/ 24 w 171"/>
                    <a:gd name="T5" fmla="*/ 692 h 709"/>
                    <a:gd name="T6" fmla="*/ 28 w 171"/>
                    <a:gd name="T7" fmla="*/ 675 h 709"/>
                    <a:gd name="T8" fmla="*/ 31 w 171"/>
                    <a:gd name="T9" fmla="*/ 649 h 709"/>
                    <a:gd name="T10" fmla="*/ 85 w 171"/>
                    <a:gd name="T11" fmla="*/ 57 h 709"/>
                    <a:gd name="T12" fmla="*/ 90 w 171"/>
                    <a:gd name="T13" fmla="*/ 24 h 709"/>
                    <a:gd name="T14" fmla="*/ 95 w 171"/>
                    <a:gd name="T15" fmla="*/ 14 h 709"/>
                    <a:gd name="T16" fmla="*/ 106 w 171"/>
                    <a:gd name="T17" fmla="*/ 4 h 709"/>
                    <a:gd name="T18" fmla="*/ 115 w 171"/>
                    <a:gd name="T19" fmla="*/ 0 h 709"/>
                    <a:gd name="T20" fmla="*/ 126 w 171"/>
                    <a:gd name="T21" fmla="*/ 8 h 709"/>
                    <a:gd name="T22" fmla="*/ 134 w 171"/>
                    <a:gd name="T23" fmla="*/ 24 h 709"/>
                    <a:gd name="T24" fmla="*/ 170 w 171"/>
                    <a:gd name="T25" fmla="*/ 328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709">
                      <a:moveTo>
                        <a:pt x="0" y="708"/>
                      </a:moveTo>
                      <a:lnTo>
                        <a:pt x="14" y="704"/>
                      </a:lnTo>
                      <a:lnTo>
                        <a:pt x="24" y="692"/>
                      </a:lnTo>
                      <a:lnTo>
                        <a:pt x="28" y="675"/>
                      </a:lnTo>
                      <a:lnTo>
                        <a:pt x="31" y="649"/>
                      </a:lnTo>
                      <a:lnTo>
                        <a:pt x="85" y="57"/>
                      </a:lnTo>
                      <a:lnTo>
                        <a:pt x="90" y="24"/>
                      </a:lnTo>
                      <a:lnTo>
                        <a:pt x="95" y="14"/>
                      </a:lnTo>
                      <a:lnTo>
                        <a:pt x="106" y="4"/>
                      </a:lnTo>
                      <a:lnTo>
                        <a:pt x="115" y="0"/>
                      </a:lnTo>
                      <a:lnTo>
                        <a:pt x="126" y="8"/>
                      </a:lnTo>
                      <a:lnTo>
                        <a:pt x="134" y="24"/>
                      </a:lnTo>
                      <a:lnTo>
                        <a:pt x="170" y="328"/>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grpSp>
          <p:sp>
            <p:nvSpPr>
              <p:cNvPr id="71" name="Freeform 115">
                <a:extLst>
                  <a:ext uri="{FF2B5EF4-FFF2-40B4-BE49-F238E27FC236}">
                    <a16:creationId xmlns:a16="http://schemas.microsoft.com/office/drawing/2014/main" id="{4F12A30D-422F-7F80-F03B-224E0BE3C118}"/>
                  </a:ext>
                </a:extLst>
              </p:cNvPr>
              <p:cNvSpPr>
                <a:spLocks/>
              </p:cNvSpPr>
              <p:nvPr/>
            </p:nvSpPr>
            <p:spPr bwMode="auto">
              <a:xfrm>
                <a:off x="1280" y="1158"/>
                <a:ext cx="48" cy="133"/>
              </a:xfrm>
              <a:custGeom>
                <a:avLst/>
                <a:gdLst>
                  <a:gd name="T0" fmla="*/ 0 w 66"/>
                  <a:gd name="T1" fmla="*/ 0 h 363"/>
                  <a:gd name="T2" fmla="*/ 40 w 66"/>
                  <a:gd name="T3" fmla="*/ 308 h 363"/>
                  <a:gd name="T4" fmla="*/ 43 w 66"/>
                  <a:gd name="T5" fmla="*/ 324 h 363"/>
                  <a:gd name="T6" fmla="*/ 44 w 66"/>
                  <a:gd name="T7" fmla="*/ 337 h 363"/>
                  <a:gd name="T8" fmla="*/ 48 w 66"/>
                  <a:gd name="T9" fmla="*/ 347 h 363"/>
                  <a:gd name="T10" fmla="*/ 56 w 66"/>
                  <a:gd name="T11" fmla="*/ 356 h 363"/>
                  <a:gd name="T12" fmla="*/ 65 w 66"/>
                  <a:gd name="T13" fmla="*/ 362 h 363"/>
                </a:gdLst>
                <a:ahLst/>
                <a:cxnLst>
                  <a:cxn ang="0">
                    <a:pos x="T0" y="T1"/>
                  </a:cxn>
                  <a:cxn ang="0">
                    <a:pos x="T2" y="T3"/>
                  </a:cxn>
                  <a:cxn ang="0">
                    <a:pos x="T4" y="T5"/>
                  </a:cxn>
                  <a:cxn ang="0">
                    <a:pos x="T6" y="T7"/>
                  </a:cxn>
                  <a:cxn ang="0">
                    <a:pos x="T8" y="T9"/>
                  </a:cxn>
                  <a:cxn ang="0">
                    <a:pos x="T10" y="T11"/>
                  </a:cxn>
                  <a:cxn ang="0">
                    <a:pos x="T12" y="T13"/>
                  </a:cxn>
                </a:cxnLst>
                <a:rect l="0" t="0" r="r" b="b"/>
                <a:pathLst>
                  <a:path w="66" h="363">
                    <a:moveTo>
                      <a:pt x="0" y="0"/>
                    </a:moveTo>
                    <a:lnTo>
                      <a:pt x="40" y="308"/>
                    </a:lnTo>
                    <a:lnTo>
                      <a:pt x="43" y="324"/>
                    </a:lnTo>
                    <a:lnTo>
                      <a:pt x="44" y="337"/>
                    </a:lnTo>
                    <a:lnTo>
                      <a:pt x="48" y="347"/>
                    </a:lnTo>
                    <a:lnTo>
                      <a:pt x="56" y="356"/>
                    </a:lnTo>
                    <a:lnTo>
                      <a:pt x="65" y="362"/>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72" name="Freeform 116">
                <a:extLst>
                  <a:ext uri="{FF2B5EF4-FFF2-40B4-BE49-F238E27FC236}">
                    <a16:creationId xmlns:a16="http://schemas.microsoft.com/office/drawing/2014/main" id="{B8BB831F-11B1-9D3A-8C0E-19780D9E3100}"/>
                  </a:ext>
                </a:extLst>
              </p:cNvPr>
              <p:cNvSpPr>
                <a:spLocks/>
              </p:cNvSpPr>
              <p:nvPr/>
            </p:nvSpPr>
            <p:spPr bwMode="auto">
              <a:xfrm>
                <a:off x="1329" y="1029"/>
                <a:ext cx="129" cy="260"/>
              </a:xfrm>
              <a:custGeom>
                <a:avLst/>
                <a:gdLst>
                  <a:gd name="T0" fmla="*/ 0 w 182"/>
                  <a:gd name="T1" fmla="*/ 530 h 530"/>
                  <a:gd name="T2" fmla="*/ 14 w 182"/>
                  <a:gd name="T3" fmla="*/ 527 h 530"/>
                  <a:gd name="T4" fmla="*/ 24 w 182"/>
                  <a:gd name="T5" fmla="*/ 518 h 530"/>
                  <a:gd name="T6" fmla="*/ 28 w 182"/>
                  <a:gd name="T7" fmla="*/ 506 h 530"/>
                  <a:gd name="T8" fmla="*/ 31 w 182"/>
                  <a:gd name="T9" fmla="*/ 486 h 530"/>
                  <a:gd name="T10" fmla="*/ 85 w 182"/>
                  <a:gd name="T11" fmla="*/ 43 h 530"/>
                  <a:gd name="T12" fmla="*/ 90 w 182"/>
                  <a:gd name="T13" fmla="*/ 18 h 530"/>
                  <a:gd name="T14" fmla="*/ 95 w 182"/>
                  <a:gd name="T15" fmla="*/ 10 h 530"/>
                  <a:gd name="T16" fmla="*/ 106 w 182"/>
                  <a:gd name="T17" fmla="*/ 3 h 530"/>
                  <a:gd name="T18" fmla="*/ 115 w 182"/>
                  <a:gd name="T19" fmla="*/ 0 h 530"/>
                  <a:gd name="T20" fmla="*/ 126 w 182"/>
                  <a:gd name="T21" fmla="*/ 6 h 530"/>
                  <a:gd name="T22" fmla="*/ 134 w 182"/>
                  <a:gd name="T23" fmla="*/ 18 h 530"/>
                  <a:gd name="T24" fmla="*/ 182 w 182"/>
                  <a:gd name="T25" fmla="*/ 290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2" h="530">
                    <a:moveTo>
                      <a:pt x="0" y="530"/>
                    </a:moveTo>
                    <a:lnTo>
                      <a:pt x="14" y="527"/>
                    </a:lnTo>
                    <a:lnTo>
                      <a:pt x="24" y="518"/>
                    </a:lnTo>
                    <a:lnTo>
                      <a:pt x="28" y="506"/>
                    </a:lnTo>
                    <a:lnTo>
                      <a:pt x="31" y="486"/>
                    </a:lnTo>
                    <a:lnTo>
                      <a:pt x="85" y="43"/>
                    </a:lnTo>
                    <a:lnTo>
                      <a:pt x="90" y="18"/>
                    </a:lnTo>
                    <a:lnTo>
                      <a:pt x="95" y="10"/>
                    </a:lnTo>
                    <a:lnTo>
                      <a:pt x="106" y="3"/>
                    </a:lnTo>
                    <a:lnTo>
                      <a:pt x="115" y="0"/>
                    </a:lnTo>
                    <a:lnTo>
                      <a:pt x="126" y="6"/>
                    </a:lnTo>
                    <a:lnTo>
                      <a:pt x="134" y="18"/>
                    </a:lnTo>
                    <a:lnTo>
                      <a:pt x="182" y="29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73" name="Freeform 117">
                <a:extLst>
                  <a:ext uri="{FF2B5EF4-FFF2-40B4-BE49-F238E27FC236}">
                    <a16:creationId xmlns:a16="http://schemas.microsoft.com/office/drawing/2014/main" id="{1D19B10E-3D25-B17F-D857-15AD01B5DBFC}"/>
                  </a:ext>
                </a:extLst>
              </p:cNvPr>
              <p:cNvSpPr>
                <a:spLocks/>
              </p:cNvSpPr>
              <p:nvPr/>
            </p:nvSpPr>
            <p:spPr bwMode="auto">
              <a:xfrm>
                <a:off x="1462" y="1030"/>
                <a:ext cx="49" cy="141"/>
              </a:xfrm>
              <a:custGeom>
                <a:avLst/>
                <a:gdLst>
                  <a:gd name="T0" fmla="*/ 0 w 70"/>
                  <a:gd name="T1" fmla="*/ 288 h 288"/>
                  <a:gd name="T2" fmla="*/ 46 w 70"/>
                  <a:gd name="T3" fmla="*/ 40 h 288"/>
                  <a:gd name="T4" fmla="*/ 48 w 70"/>
                  <a:gd name="T5" fmla="*/ 28 h 288"/>
                  <a:gd name="T6" fmla="*/ 50 w 70"/>
                  <a:gd name="T7" fmla="*/ 19 h 288"/>
                  <a:gd name="T8" fmla="*/ 53 w 70"/>
                  <a:gd name="T9" fmla="*/ 11 h 288"/>
                  <a:gd name="T10" fmla="*/ 61 w 70"/>
                  <a:gd name="T11" fmla="*/ 4 h 288"/>
                  <a:gd name="T12" fmla="*/ 70 w 70"/>
                  <a:gd name="T13" fmla="*/ 0 h 288"/>
                </a:gdLst>
                <a:ahLst/>
                <a:cxnLst>
                  <a:cxn ang="0">
                    <a:pos x="T0" y="T1"/>
                  </a:cxn>
                  <a:cxn ang="0">
                    <a:pos x="T2" y="T3"/>
                  </a:cxn>
                  <a:cxn ang="0">
                    <a:pos x="T4" y="T5"/>
                  </a:cxn>
                  <a:cxn ang="0">
                    <a:pos x="T6" y="T7"/>
                  </a:cxn>
                  <a:cxn ang="0">
                    <a:pos x="T8" y="T9"/>
                  </a:cxn>
                  <a:cxn ang="0">
                    <a:pos x="T10" y="T11"/>
                  </a:cxn>
                  <a:cxn ang="0">
                    <a:pos x="T12" y="T13"/>
                  </a:cxn>
                </a:cxnLst>
                <a:rect l="0" t="0" r="r" b="b"/>
                <a:pathLst>
                  <a:path w="70" h="288">
                    <a:moveTo>
                      <a:pt x="0" y="288"/>
                    </a:moveTo>
                    <a:lnTo>
                      <a:pt x="46" y="40"/>
                    </a:lnTo>
                    <a:lnTo>
                      <a:pt x="48" y="28"/>
                    </a:lnTo>
                    <a:lnTo>
                      <a:pt x="50" y="19"/>
                    </a:lnTo>
                    <a:lnTo>
                      <a:pt x="53" y="11"/>
                    </a:lnTo>
                    <a:lnTo>
                      <a:pt x="61" y="4"/>
                    </a:lnTo>
                    <a:lnTo>
                      <a:pt x="70" y="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74" name="Freeform 118">
                <a:extLst>
                  <a:ext uri="{FF2B5EF4-FFF2-40B4-BE49-F238E27FC236}">
                    <a16:creationId xmlns:a16="http://schemas.microsoft.com/office/drawing/2014/main" id="{FCCE37ED-DB3B-0D70-BDFE-AD92707DC10D}"/>
                  </a:ext>
                </a:extLst>
              </p:cNvPr>
              <p:cNvSpPr>
                <a:spLocks/>
              </p:cNvSpPr>
              <p:nvPr/>
            </p:nvSpPr>
            <p:spPr bwMode="auto">
              <a:xfrm>
                <a:off x="1513" y="1031"/>
                <a:ext cx="122" cy="260"/>
              </a:xfrm>
              <a:custGeom>
                <a:avLst/>
                <a:gdLst>
                  <a:gd name="T0" fmla="*/ 0 w 172"/>
                  <a:gd name="T1" fmla="*/ 0 h 709"/>
                  <a:gd name="T2" fmla="*/ 14 w 172"/>
                  <a:gd name="T3" fmla="*/ 4 h 709"/>
                  <a:gd name="T4" fmla="*/ 24 w 172"/>
                  <a:gd name="T5" fmla="*/ 16 h 709"/>
                  <a:gd name="T6" fmla="*/ 28 w 172"/>
                  <a:gd name="T7" fmla="*/ 33 h 709"/>
                  <a:gd name="T8" fmla="*/ 31 w 172"/>
                  <a:gd name="T9" fmla="*/ 59 h 709"/>
                  <a:gd name="T10" fmla="*/ 86 w 172"/>
                  <a:gd name="T11" fmla="*/ 651 h 709"/>
                  <a:gd name="T12" fmla="*/ 91 w 172"/>
                  <a:gd name="T13" fmla="*/ 684 h 709"/>
                  <a:gd name="T14" fmla="*/ 95 w 172"/>
                  <a:gd name="T15" fmla="*/ 694 h 709"/>
                  <a:gd name="T16" fmla="*/ 106 w 172"/>
                  <a:gd name="T17" fmla="*/ 704 h 709"/>
                  <a:gd name="T18" fmla="*/ 115 w 172"/>
                  <a:gd name="T19" fmla="*/ 708 h 709"/>
                  <a:gd name="T20" fmla="*/ 127 w 172"/>
                  <a:gd name="T21" fmla="*/ 700 h 709"/>
                  <a:gd name="T22" fmla="*/ 135 w 172"/>
                  <a:gd name="T23" fmla="*/ 684 h 709"/>
                  <a:gd name="T24" fmla="*/ 171 w 172"/>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2" h="709">
                    <a:moveTo>
                      <a:pt x="0" y="0"/>
                    </a:moveTo>
                    <a:lnTo>
                      <a:pt x="14" y="4"/>
                    </a:lnTo>
                    <a:lnTo>
                      <a:pt x="24" y="16"/>
                    </a:lnTo>
                    <a:lnTo>
                      <a:pt x="28" y="33"/>
                    </a:lnTo>
                    <a:lnTo>
                      <a:pt x="31" y="59"/>
                    </a:lnTo>
                    <a:lnTo>
                      <a:pt x="86" y="651"/>
                    </a:lnTo>
                    <a:lnTo>
                      <a:pt x="91" y="684"/>
                    </a:lnTo>
                    <a:lnTo>
                      <a:pt x="95" y="694"/>
                    </a:lnTo>
                    <a:lnTo>
                      <a:pt x="106" y="704"/>
                    </a:lnTo>
                    <a:lnTo>
                      <a:pt x="115" y="708"/>
                    </a:lnTo>
                    <a:lnTo>
                      <a:pt x="127" y="700"/>
                    </a:lnTo>
                    <a:lnTo>
                      <a:pt x="135" y="684"/>
                    </a:lnTo>
                    <a:lnTo>
                      <a:pt x="171" y="38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75" name="Freeform 119">
                <a:extLst>
                  <a:ext uri="{FF2B5EF4-FFF2-40B4-BE49-F238E27FC236}">
                    <a16:creationId xmlns:a16="http://schemas.microsoft.com/office/drawing/2014/main" id="{7E393B8E-426E-AFDA-AE96-CD7C7E122D78}"/>
                  </a:ext>
                </a:extLst>
              </p:cNvPr>
              <p:cNvSpPr>
                <a:spLocks/>
              </p:cNvSpPr>
              <p:nvPr/>
            </p:nvSpPr>
            <p:spPr bwMode="auto">
              <a:xfrm>
                <a:off x="1637" y="1034"/>
                <a:ext cx="45" cy="133"/>
              </a:xfrm>
              <a:custGeom>
                <a:avLst/>
                <a:gdLst>
                  <a:gd name="T0" fmla="*/ 0 w 64"/>
                  <a:gd name="T1" fmla="*/ 362 h 363"/>
                  <a:gd name="T2" fmla="*/ 39 w 64"/>
                  <a:gd name="T3" fmla="*/ 54 h 363"/>
                  <a:gd name="T4" fmla="*/ 41 w 64"/>
                  <a:gd name="T5" fmla="*/ 38 h 363"/>
                  <a:gd name="T6" fmla="*/ 43 w 64"/>
                  <a:gd name="T7" fmla="*/ 25 h 363"/>
                  <a:gd name="T8" fmla="*/ 46 w 64"/>
                  <a:gd name="T9" fmla="*/ 15 h 363"/>
                  <a:gd name="T10" fmla="*/ 54 w 64"/>
                  <a:gd name="T11" fmla="*/ 6 h 363"/>
                  <a:gd name="T12" fmla="*/ 63 w 6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4" h="363">
                    <a:moveTo>
                      <a:pt x="0" y="362"/>
                    </a:moveTo>
                    <a:lnTo>
                      <a:pt x="39" y="54"/>
                    </a:lnTo>
                    <a:lnTo>
                      <a:pt x="41" y="38"/>
                    </a:lnTo>
                    <a:lnTo>
                      <a:pt x="43" y="25"/>
                    </a:lnTo>
                    <a:lnTo>
                      <a:pt x="46" y="15"/>
                    </a:lnTo>
                    <a:lnTo>
                      <a:pt x="54" y="6"/>
                    </a:lnTo>
                    <a:lnTo>
                      <a:pt x="63" y="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76" name="Freeform 120">
                <a:extLst>
                  <a:ext uri="{FF2B5EF4-FFF2-40B4-BE49-F238E27FC236}">
                    <a16:creationId xmlns:a16="http://schemas.microsoft.com/office/drawing/2014/main" id="{FA08E0B3-C1B0-EF4D-09D8-398CF1DD36FB}"/>
                  </a:ext>
                </a:extLst>
              </p:cNvPr>
              <p:cNvSpPr>
                <a:spLocks/>
              </p:cNvSpPr>
              <p:nvPr/>
            </p:nvSpPr>
            <p:spPr bwMode="auto">
              <a:xfrm>
                <a:off x="1684" y="1033"/>
                <a:ext cx="126" cy="259"/>
              </a:xfrm>
              <a:custGeom>
                <a:avLst/>
                <a:gdLst>
                  <a:gd name="T0" fmla="*/ 0 w 176"/>
                  <a:gd name="T1" fmla="*/ 0 h 708"/>
                  <a:gd name="T2" fmla="*/ 15 w 176"/>
                  <a:gd name="T3" fmla="*/ 4 h 708"/>
                  <a:gd name="T4" fmla="*/ 25 w 176"/>
                  <a:gd name="T5" fmla="*/ 16 h 708"/>
                  <a:gd name="T6" fmla="*/ 28 w 176"/>
                  <a:gd name="T7" fmla="*/ 33 h 708"/>
                  <a:gd name="T8" fmla="*/ 32 w 176"/>
                  <a:gd name="T9" fmla="*/ 59 h 708"/>
                  <a:gd name="T10" fmla="*/ 88 w 176"/>
                  <a:gd name="T11" fmla="*/ 650 h 708"/>
                  <a:gd name="T12" fmla="*/ 93 w 176"/>
                  <a:gd name="T13" fmla="*/ 683 h 708"/>
                  <a:gd name="T14" fmla="*/ 97 w 176"/>
                  <a:gd name="T15" fmla="*/ 693 h 708"/>
                  <a:gd name="T16" fmla="*/ 109 w 176"/>
                  <a:gd name="T17" fmla="*/ 703 h 708"/>
                  <a:gd name="T18" fmla="*/ 118 w 176"/>
                  <a:gd name="T19" fmla="*/ 707 h 708"/>
                  <a:gd name="T20" fmla="*/ 130 w 176"/>
                  <a:gd name="T21" fmla="*/ 699 h 708"/>
                  <a:gd name="T22" fmla="*/ 138 w 176"/>
                  <a:gd name="T23" fmla="*/ 683 h 708"/>
                  <a:gd name="T24" fmla="*/ 175 w 176"/>
                  <a:gd name="T25" fmla="*/ 379 h 7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6" h="708">
                    <a:moveTo>
                      <a:pt x="0" y="0"/>
                    </a:moveTo>
                    <a:lnTo>
                      <a:pt x="15" y="4"/>
                    </a:lnTo>
                    <a:lnTo>
                      <a:pt x="25" y="16"/>
                    </a:lnTo>
                    <a:lnTo>
                      <a:pt x="28" y="33"/>
                    </a:lnTo>
                    <a:lnTo>
                      <a:pt x="32" y="59"/>
                    </a:lnTo>
                    <a:lnTo>
                      <a:pt x="88" y="650"/>
                    </a:lnTo>
                    <a:lnTo>
                      <a:pt x="93" y="683"/>
                    </a:lnTo>
                    <a:lnTo>
                      <a:pt x="97" y="693"/>
                    </a:lnTo>
                    <a:lnTo>
                      <a:pt x="109" y="703"/>
                    </a:lnTo>
                    <a:lnTo>
                      <a:pt x="118" y="707"/>
                    </a:lnTo>
                    <a:lnTo>
                      <a:pt x="130" y="699"/>
                    </a:lnTo>
                    <a:lnTo>
                      <a:pt x="138" y="683"/>
                    </a:lnTo>
                    <a:lnTo>
                      <a:pt x="175" y="379"/>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77" name="Freeform 121">
                <a:extLst>
                  <a:ext uri="{FF2B5EF4-FFF2-40B4-BE49-F238E27FC236}">
                    <a16:creationId xmlns:a16="http://schemas.microsoft.com/office/drawing/2014/main" id="{90AC5D3F-983F-21BC-A98B-F5DBCF5BAB3F}"/>
                  </a:ext>
                </a:extLst>
              </p:cNvPr>
              <p:cNvSpPr>
                <a:spLocks/>
              </p:cNvSpPr>
              <p:nvPr/>
            </p:nvSpPr>
            <p:spPr bwMode="auto">
              <a:xfrm>
                <a:off x="1810" y="1035"/>
                <a:ext cx="48" cy="134"/>
              </a:xfrm>
              <a:custGeom>
                <a:avLst/>
                <a:gdLst>
                  <a:gd name="T0" fmla="*/ 0 w 67"/>
                  <a:gd name="T1" fmla="*/ 362 h 363"/>
                  <a:gd name="T2" fmla="*/ 41 w 67"/>
                  <a:gd name="T3" fmla="*/ 54 h 363"/>
                  <a:gd name="T4" fmla="*/ 43 w 67"/>
                  <a:gd name="T5" fmla="*/ 38 h 363"/>
                  <a:gd name="T6" fmla="*/ 45 w 67"/>
                  <a:gd name="T7" fmla="*/ 25 h 363"/>
                  <a:gd name="T8" fmla="*/ 49 w 67"/>
                  <a:gd name="T9" fmla="*/ 15 h 363"/>
                  <a:gd name="T10" fmla="*/ 56 w 67"/>
                  <a:gd name="T11" fmla="*/ 6 h 363"/>
                  <a:gd name="T12" fmla="*/ 66 w 67"/>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7" h="363">
                    <a:moveTo>
                      <a:pt x="0" y="362"/>
                    </a:moveTo>
                    <a:lnTo>
                      <a:pt x="41" y="54"/>
                    </a:lnTo>
                    <a:lnTo>
                      <a:pt x="43" y="38"/>
                    </a:lnTo>
                    <a:lnTo>
                      <a:pt x="45" y="25"/>
                    </a:lnTo>
                    <a:lnTo>
                      <a:pt x="49" y="15"/>
                    </a:lnTo>
                    <a:lnTo>
                      <a:pt x="56" y="6"/>
                    </a:lnTo>
                    <a:lnTo>
                      <a:pt x="66" y="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78" name="Freeform 122">
                <a:extLst>
                  <a:ext uri="{FF2B5EF4-FFF2-40B4-BE49-F238E27FC236}">
                    <a16:creationId xmlns:a16="http://schemas.microsoft.com/office/drawing/2014/main" id="{76477684-32F1-C0F5-0133-B6429CC804C7}"/>
                  </a:ext>
                </a:extLst>
              </p:cNvPr>
              <p:cNvSpPr>
                <a:spLocks/>
              </p:cNvSpPr>
              <p:nvPr/>
            </p:nvSpPr>
            <p:spPr bwMode="auto">
              <a:xfrm>
                <a:off x="1861" y="1035"/>
                <a:ext cx="119" cy="260"/>
              </a:xfrm>
              <a:custGeom>
                <a:avLst/>
                <a:gdLst>
                  <a:gd name="T0" fmla="*/ 0 w 168"/>
                  <a:gd name="T1" fmla="*/ 0 h 709"/>
                  <a:gd name="T2" fmla="*/ 14 w 168"/>
                  <a:gd name="T3" fmla="*/ 4 h 709"/>
                  <a:gd name="T4" fmla="*/ 24 w 168"/>
                  <a:gd name="T5" fmla="*/ 16 h 709"/>
                  <a:gd name="T6" fmla="*/ 27 w 168"/>
                  <a:gd name="T7" fmla="*/ 33 h 709"/>
                  <a:gd name="T8" fmla="*/ 30 w 168"/>
                  <a:gd name="T9" fmla="*/ 59 h 709"/>
                  <a:gd name="T10" fmla="*/ 84 w 168"/>
                  <a:gd name="T11" fmla="*/ 651 h 709"/>
                  <a:gd name="T12" fmla="*/ 89 w 168"/>
                  <a:gd name="T13" fmla="*/ 684 h 709"/>
                  <a:gd name="T14" fmla="*/ 93 w 168"/>
                  <a:gd name="T15" fmla="*/ 694 h 709"/>
                  <a:gd name="T16" fmla="*/ 104 w 168"/>
                  <a:gd name="T17" fmla="*/ 704 h 709"/>
                  <a:gd name="T18" fmla="*/ 113 w 168"/>
                  <a:gd name="T19" fmla="*/ 708 h 709"/>
                  <a:gd name="T20" fmla="*/ 124 w 168"/>
                  <a:gd name="T21" fmla="*/ 700 h 709"/>
                  <a:gd name="T22" fmla="*/ 132 w 168"/>
                  <a:gd name="T23" fmla="*/ 684 h 709"/>
                  <a:gd name="T24" fmla="*/ 167 w 168"/>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79" name="Freeform 123">
                <a:extLst>
                  <a:ext uri="{FF2B5EF4-FFF2-40B4-BE49-F238E27FC236}">
                    <a16:creationId xmlns:a16="http://schemas.microsoft.com/office/drawing/2014/main" id="{882A1252-ED1A-3BDB-1EE7-928A5955D56A}"/>
                  </a:ext>
                </a:extLst>
              </p:cNvPr>
              <p:cNvSpPr>
                <a:spLocks/>
              </p:cNvSpPr>
              <p:nvPr/>
            </p:nvSpPr>
            <p:spPr bwMode="auto">
              <a:xfrm>
                <a:off x="1981" y="1035"/>
                <a:ext cx="49" cy="134"/>
              </a:xfrm>
              <a:custGeom>
                <a:avLst/>
                <a:gdLst>
                  <a:gd name="T0" fmla="*/ 0 w 69"/>
                  <a:gd name="T1" fmla="*/ 362 h 363"/>
                  <a:gd name="T2" fmla="*/ 42 w 69"/>
                  <a:gd name="T3" fmla="*/ 54 h 363"/>
                  <a:gd name="T4" fmla="*/ 45 w 69"/>
                  <a:gd name="T5" fmla="*/ 38 h 363"/>
                  <a:gd name="T6" fmla="*/ 47 w 69"/>
                  <a:gd name="T7" fmla="*/ 25 h 363"/>
                  <a:gd name="T8" fmla="*/ 50 w 69"/>
                  <a:gd name="T9" fmla="*/ 15 h 363"/>
                  <a:gd name="T10" fmla="*/ 58 w 69"/>
                  <a:gd name="T11" fmla="*/ 6 h 363"/>
                  <a:gd name="T12" fmla="*/ 68 w 69"/>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9" h="363">
                    <a:moveTo>
                      <a:pt x="0" y="362"/>
                    </a:moveTo>
                    <a:lnTo>
                      <a:pt x="42" y="54"/>
                    </a:lnTo>
                    <a:lnTo>
                      <a:pt x="45" y="38"/>
                    </a:lnTo>
                    <a:lnTo>
                      <a:pt x="47" y="25"/>
                    </a:lnTo>
                    <a:lnTo>
                      <a:pt x="50" y="15"/>
                    </a:lnTo>
                    <a:lnTo>
                      <a:pt x="58" y="6"/>
                    </a:lnTo>
                    <a:lnTo>
                      <a:pt x="68" y="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80" name="Freeform 124">
                <a:extLst>
                  <a:ext uri="{FF2B5EF4-FFF2-40B4-BE49-F238E27FC236}">
                    <a16:creationId xmlns:a16="http://schemas.microsoft.com/office/drawing/2014/main" id="{D23315AF-B0E5-ECF6-16E4-4BE59C05B664}"/>
                  </a:ext>
                </a:extLst>
              </p:cNvPr>
              <p:cNvSpPr>
                <a:spLocks/>
              </p:cNvSpPr>
              <p:nvPr/>
            </p:nvSpPr>
            <p:spPr bwMode="auto">
              <a:xfrm>
                <a:off x="2032" y="1034"/>
                <a:ext cx="119" cy="260"/>
              </a:xfrm>
              <a:custGeom>
                <a:avLst/>
                <a:gdLst>
                  <a:gd name="T0" fmla="*/ 0 w 168"/>
                  <a:gd name="T1" fmla="*/ 0 h 709"/>
                  <a:gd name="T2" fmla="*/ 14 w 168"/>
                  <a:gd name="T3" fmla="*/ 4 h 709"/>
                  <a:gd name="T4" fmla="*/ 24 w 168"/>
                  <a:gd name="T5" fmla="*/ 16 h 709"/>
                  <a:gd name="T6" fmla="*/ 27 w 168"/>
                  <a:gd name="T7" fmla="*/ 33 h 709"/>
                  <a:gd name="T8" fmla="*/ 30 w 168"/>
                  <a:gd name="T9" fmla="*/ 59 h 709"/>
                  <a:gd name="T10" fmla="*/ 84 w 168"/>
                  <a:gd name="T11" fmla="*/ 651 h 709"/>
                  <a:gd name="T12" fmla="*/ 89 w 168"/>
                  <a:gd name="T13" fmla="*/ 684 h 709"/>
                  <a:gd name="T14" fmla="*/ 93 w 168"/>
                  <a:gd name="T15" fmla="*/ 694 h 709"/>
                  <a:gd name="T16" fmla="*/ 104 w 168"/>
                  <a:gd name="T17" fmla="*/ 704 h 709"/>
                  <a:gd name="T18" fmla="*/ 113 w 168"/>
                  <a:gd name="T19" fmla="*/ 708 h 709"/>
                  <a:gd name="T20" fmla="*/ 124 w 168"/>
                  <a:gd name="T21" fmla="*/ 700 h 709"/>
                  <a:gd name="T22" fmla="*/ 132 w 168"/>
                  <a:gd name="T23" fmla="*/ 684 h 709"/>
                  <a:gd name="T24" fmla="*/ 167 w 168"/>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grpSp>
            <p:nvGrpSpPr>
              <p:cNvPr id="81" name="Group 125">
                <a:extLst>
                  <a:ext uri="{FF2B5EF4-FFF2-40B4-BE49-F238E27FC236}">
                    <a16:creationId xmlns:a16="http://schemas.microsoft.com/office/drawing/2014/main" id="{D227E990-26DB-00BC-38CE-BCE0524BC4B5}"/>
                  </a:ext>
                </a:extLst>
              </p:cNvPr>
              <p:cNvGrpSpPr>
                <a:grpSpLocks/>
              </p:cNvGrpSpPr>
              <p:nvPr/>
            </p:nvGrpSpPr>
            <p:grpSpPr bwMode="auto">
              <a:xfrm>
                <a:off x="2150" y="1035"/>
                <a:ext cx="168" cy="261"/>
                <a:chOff x="2898" y="3265"/>
                <a:chExt cx="235" cy="713"/>
              </a:xfrm>
            </p:grpSpPr>
            <p:sp>
              <p:nvSpPr>
                <p:cNvPr id="108" name="Freeform 126">
                  <a:extLst>
                    <a:ext uri="{FF2B5EF4-FFF2-40B4-BE49-F238E27FC236}">
                      <a16:creationId xmlns:a16="http://schemas.microsoft.com/office/drawing/2014/main" id="{F60D40CD-F5FD-B7CB-7A78-707ECA7F206A}"/>
                    </a:ext>
                  </a:extLst>
                </p:cNvPr>
                <p:cNvSpPr>
                  <a:spLocks/>
                </p:cNvSpPr>
                <p:nvPr/>
              </p:nvSpPr>
              <p:spPr bwMode="auto">
                <a:xfrm>
                  <a:off x="2898" y="3615"/>
                  <a:ext cx="64" cy="363"/>
                </a:xfrm>
                <a:custGeom>
                  <a:avLst/>
                  <a:gdLst>
                    <a:gd name="T0" fmla="*/ 0 w 64"/>
                    <a:gd name="T1" fmla="*/ 0 h 363"/>
                    <a:gd name="T2" fmla="*/ 39 w 64"/>
                    <a:gd name="T3" fmla="*/ 308 h 363"/>
                    <a:gd name="T4" fmla="*/ 41 w 64"/>
                    <a:gd name="T5" fmla="*/ 324 h 363"/>
                    <a:gd name="T6" fmla="*/ 43 w 64"/>
                    <a:gd name="T7" fmla="*/ 337 h 363"/>
                    <a:gd name="T8" fmla="*/ 46 w 64"/>
                    <a:gd name="T9" fmla="*/ 347 h 363"/>
                    <a:gd name="T10" fmla="*/ 54 w 64"/>
                    <a:gd name="T11" fmla="*/ 356 h 363"/>
                    <a:gd name="T12" fmla="*/ 63 w 64"/>
                    <a:gd name="T13" fmla="*/ 362 h 363"/>
                  </a:gdLst>
                  <a:ahLst/>
                  <a:cxnLst>
                    <a:cxn ang="0">
                      <a:pos x="T0" y="T1"/>
                    </a:cxn>
                    <a:cxn ang="0">
                      <a:pos x="T2" y="T3"/>
                    </a:cxn>
                    <a:cxn ang="0">
                      <a:pos x="T4" y="T5"/>
                    </a:cxn>
                    <a:cxn ang="0">
                      <a:pos x="T6" y="T7"/>
                    </a:cxn>
                    <a:cxn ang="0">
                      <a:pos x="T8" y="T9"/>
                    </a:cxn>
                    <a:cxn ang="0">
                      <a:pos x="T10" y="T11"/>
                    </a:cxn>
                    <a:cxn ang="0">
                      <a:pos x="T12" y="T13"/>
                    </a:cxn>
                  </a:cxnLst>
                  <a:rect l="0" t="0" r="r" b="b"/>
                  <a:pathLst>
                    <a:path w="64" h="363">
                      <a:moveTo>
                        <a:pt x="0" y="0"/>
                      </a:moveTo>
                      <a:lnTo>
                        <a:pt x="39" y="308"/>
                      </a:lnTo>
                      <a:lnTo>
                        <a:pt x="41" y="324"/>
                      </a:lnTo>
                      <a:lnTo>
                        <a:pt x="43" y="337"/>
                      </a:lnTo>
                      <a:lnTo>
                        <a:pt x="46" y="347"/>
                      </a:lnTo>
                      <a:lnTo>
                        <a:pt x="54" y="356"/>
                      </a:lnTo>
                      <a:lnTo>
                        <a:pt x="63" y="362"/>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09" name="Freeform 127">
                  <a:extLst>
                    <a:ext uri="{FF2B5EF4-FFF2-40B4-BE49-F238E27FC236}">
                      <a16:creationId xmlns:a16="http://schemas.microsoft.com/office/drawing/2014/main" id="{970FACFA-5916-13EB-19BF-6EA44DBB26BF}"/>
                    </a:ext>
                  </a:extLst>
                </p:cNvPr>
                <p:cNvSpPr>
                  <a:spLocks/>
                </p:cNvSpPr>
                <p:nvPr/>
              </p:nvSpPr>
              <p:spPr bwMode="auto">
                <a:xfrm>
                  <a:off x="2963" y="3265"/>
                  <a:ext cx="170" cy="709"/>
                </a:xfrm>
                <a:custGeom>
                  <a:avLst/>
                  <a:gdLst>
                    <a:gd name="T0" fmla="*/ 0 w 170"/>
                    <a:gd name="T1" fmla="*/ 708 h 709"/>
                    <a:gd name="T2" fmla="*/ 14 w 170"/>
                    <a:gd name="T3" fmla="*/ 704 h 709"/>
                    <a:gd name="T4" fmla="*/ 24 w 170"/>
                    <a:gd name="T5" fmla="*/ 692 h 709"/>
                    <a:gd name="T6" fmla="*/ 27 w 170"/>
                    <a:gd name="T7" fmla="*/ 675 h 709"/>
                    <a:gd name="T8" fmla="*/ 31 w 170"/>
                    <a:gd name="T9" fmla="*/ 649 h 709"/>
                    <a:gd name="T10" fmla="*/ 85 w 170"/>
                    <a:gd name="T11" fmla="*/ 57 h 709"/>
                    <a:gd name="T12" fmla="*/ 90 w 170"/>
                    <a:gd name="T13" fmla="*/ 24 h 709"/>
                    <a:gd name="T14" fmla="*/ 94 w 170"/>
                    <a:gd name="T15" fmla="*/ 14 h 709"/>
                    <a:gd name="T16" fmla="*/ 105 w 170"/>
                    <a:gd name="T17" fmla="*/ 4 h 709"/>
                    <a:gd name="T18" fmla="*/ 114 w 170"/>
                    <a:gd name="T19" fmla="*/ 0 h 709"/>
                    <a:gd name="T20" fmla="*/ 126 w 170"/>
                    <a:gd name="T21" fmla="*/ 8 h 709"/>
                    <a:gd name="T22" fmla="*/ 133 w 170"/>
                    <a:gd name="T23" fmla="*/ 24 h 709"/>
                    <a:gd name="T24" fmla="*/ 169 w 170"/>
                    <a:gd name="T25" fmla="*/ 328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0" h="709">
                      <a:moveTo>
                        <a:pt x="0" y="708"/>
                      </a:moveTo>
                      <a:lnTo>
                        <a:pt x="14" y="704"/>
                      </a:lnTo>
                      <a:lnTo>
                        <a:pt x="24" y="692"/>
                      </a:lnTo>
                      <a:lnTo>
                        <a:pt x="27" y="675"/>
                      </a:lnTo>
                      <a:lnTo>
                        <a:pt x="31" y="649"/>
                      </a:lnTo>
                      <a:lnTo>
                        <a:pt x="85" y="57"/>
                      </a:lnTo>
                      <a:lnTo>
                        <a:pt x="90" y="24"/>
                      </a:lnTo>
                      <a:lnTo>
                        <a:pt x="94" y="14"/>
                      </a:lnTo>
                      <a:lnTo>
                        <a:pt x="105" y="4"/>
                      </a:lnTo>
                      <a:lnTo>
                        <a:pt x="114" y="0"/>
                      </a:lnTo>
                      <a:lnTo>
                        <a:pt x="126" y="8"/>
                      </a:lnTo>
                      <a:lnTo>
                        <a:pt x="133" y="24"/>
                      </a:lnTo>
                      <a:lnTo>
                        <a:pt x="169" y="328"/>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grpSp>
          <p:sp>
            <p:nvSpPr>
              <p:cNvPr id="82" name="Freeform 128">
                <a:extLst>
                  <a:ext uri="{FF2B5EF4-FFF2-40B4-BE49-F238E27FC236}">
                    <a16:creationId xmlns:a16="http://schemas.microsoft.com/office/drawing/2014/main" id="{2906CD3C-915A-D91C-11F4-7BB1337A7308}"/>
                  </a:ext>
                </a:extLst>
              </p:cNvPr>
              <p:cNvSpPr>
                <a:spLocks/>
              </p:cNvSpPr>
              <p:nvPr/>
            </p:nvSpPr>
            <p:spPr bwMode="auto">
              <a:xfrm>
                <a:off x="2317" y="1159"/>
                <a:ext cx="44" cy="133"/>
              </a:xfrm>
              <a:custGeom>
                <a:avLst/>
                <a:gdLst>
                  <a:gd name="T0" fmla="*/ 0 w 63"/>
                  <a:gd name="T1" fmla="*/ 0 h 363"/>
                  <a:gd name="T2" fmla="*/ 38 w 63"/>
                  <a:gd name="T3" fmla="*/ 308 h 363"/>
                  <a:gd name="T4" fmla="*/ 41 w 63"/>
                  <a:gd name="T5" fmla="*/ 324 h 363"/>
                  <a:gd name="T6" fmla="*/ 42 w 63"/>
                  <a:gd name="T7" fmla="*/ 337 h 363"/>
                  <a:gd name="T8" fmla="*/ 46 w 63"/>
                  <a:gd name="T9" fmla="*/ 347 h 363"/>
                  <a:gd name="T10" fmla="*/ 53 w 63"/>
                  <a:gd name="T11" fmla="*/ 356 h 363"/>
                  <a:gd name="T12" fmla="*/ 62 w 63"/>
                  <a:gd name="T13" fmla="*/ 362 h 363"/>
                </a:gdLst>
                <a:ahLst/>
                <a:cxnLst>
                  <a:cxn ang="0">
                    <a:pos x="T0" y="T1"/>
                  </a:cxn>
                  <a:cxn ang="0">
                    <a:pos x="T2" y="T3"/>
                  </a:cxn>
                  <a:cxn ang="0">
                    <a:pos x="T4" y="T5"/>
                  </a:cxn>
                  <a:cxn ang="0">
                    <a:pos x="T6" y="T7"/>
                  </a:cxn>
                  <a:cxn ang="0">
                    <a:pos x="T8" y="T9"/>
                  </a:cxn>
                  <a:cxn ang="0">
                    <a:pos x="T10" y="T11"/>
                  </a:cxn>
                  <a:cxn ang="0">
                    <a:pos x="T12" y="T13"/>
                  </a:cxn>
                </a:cxnLst>
                <a:rect l="0" t="0" r="r" b="b"/>
                <a:pathLst>
                  <a:path w="63" h="363">
                    <a:moveTo>
                      <a:pt x="0" y="0"/>
                    </a:moveTo>
                    <a:lnTo>
                      <a:pt x="38" y="308"/>
                    </a:lnTo>
                    <a:lnTo>
                      <a:pt x="41" y="324"/>
                    </a:lnTo>
                    <a:lnTo>
                      <a:pt x="42" y="337"/>
                    </a:lnTo>
                    <a:lnTo>
                      <a:pt x="46" y="347"/>
                    </a:lnTo>
                    <a:lnTo>
                      <a:pt x="53" y="356"/>
                    </a:lnTo>
                    <a:lnTo>
                      <a:pt x="62" y="362"/>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83" name="Freeform 129">
                <a:extLst>
                  <a:ext uri="{FF2B5EF4-FFF2-40B4-BE49-F238E27FC236}">
                    <a16:creationId xmlns:a16="http://schemas.microsoft.com/office/drawing/2014/main" id="{65CDBE47-47CF-4A99-BC13-635CD9477B83}"/>
                  </a:ext>
                </a:extLst>
              </p:cNvPr>
              <p:cNvSpPr>
                <a:spLocks/>
              </p:cNvSpPr>
              <p:nvPr/>
            </p:nvSpPr>
            <p:spPr bwMode="auto">
              <a:xfrm>
                <a:off x="2362" y="1035"/>
                <a:ext cx="121" cy="260"/>
              </a:xfrm>
              <a:custGeom>
                <a:avLst/>
                <a:gdLst>
                  <a:gd name="T0" fmla="*/ 0 w 169"/>
                  <a:gd name="T1" fmla="*/ 708 h 709"/>
                  <a:gd name="T2" fmla="*/ 14 w 169"/>
                  <a:gd name="T3" fmla="*/ 704 h 709"/>
                  <a:gd name="T4" fmla="*/ 24 w 169"/>
                  <a:gd name="T5" fmla="*/ 692 h 709"/>
                  <a:gd name="T6" fmla="*/ 27 w 169"/>
                  <a:gd name="T7" fmla="*/ 675 h 709"/>
                  <a:gd name="T8" fmla="*/ 31 w 169"/>
                  <a:gd name="T9" fmla="*/ 649 h 709"/>
                  <a:gd name="T10" fmla="*/ 84 w 169"/>
                  <a:gd name="T11" fmla="*/ 57 h 709"/>
                  <a:gd name="T12" fmla="*/ 89 w 169"/>
                  <a:gd name="T13" fmla="*/ 24 h 709"/>
                  <a:gd name="T14" fmla="*/ 94 w 169"/>
                  <a:gd name="T15" fmla="*/ 14 h 709"/>
                  <a:gd name="T16" fmla="*/ 104 w 169"/>
                  <a:gd name="T17" fmla="*/ 4 h 709"/>
                  <a:gd name="T18" fmla="*/ 113 w 169"/>
                  <a:gd name="T19" fmla="*/ 0 h 709"/>
                  <a:gd name="T20" fmla="*/ 125 w 169"/>
                  <a:gd name="T21" fmla="*/ 8 h 709"/>
                  <a:gd name="T22" fmla="*/ 132 w 169"/>
                  <a:gd name="T23" fmla="*/ 24 h 709"/>
                  <a:gd name="T24" fmla="*/ 168 w 169"/>
                  <a:gd name="T25" fmla="*/ 328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9" h="709">
                    <a:moveTo>
                      <a:pt x="0" y="708"/>
                    </a:moveTo>
                    <a:lnTo>
                      <a:pt x="14" y="704"/>
                    </a:lnTo>
                    <a:lnTo>
                      <a:pt x="24" y="692"/>
                    </a:lnTo>
                    <a:lnTo>
                      <a:pt x="27" y="675"/>
                    </a:lnTo>
                    <a:lnTo>
                      <a:pt x="31" y="649"/>
                    </a:lnTo>
                    <a:lnTo>
                      <a:pt x="84" y="57"/>
                    </a:lnTo>
                    <a:lnTo>
                      <a:pt x="89" y="24"/>
                    </a:lnTo>
                    <a:lnTo>
                      <a:pt x="94" y="14"/>
                    </a:lnTo>
                    <a:lnTo>
                      <a:pt x="104" y="4"/>
                    </a:lnTo>
                    <a:lnTo>
                      <a:pt x="113" y="0"/>
                    </a:lnTo>
                    <a:lnTo>
                      <a:pt x="125" y="8"/>
                    </a:lnTo>
                    <a:lnTo>
                      <a:pt x="132" y="24"/>
                    </a:lnTo>
                    <a:lnTo>
                      <a:pt x="168" y="328"/>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grpSp>
            <p:nvGrpSpPr>
              <p:cNvPr id="84" name="Group 130">
                <a:extLst>
                  <a:ext uri="{FF2B5EF4-FFF2-40B4-BE49-F238E27FC236}">
                    <a16:creationId xmlns:a16="http://schemas.microsoft.com/office/drawing/2014/main" id="{DD47B8AF-BB1F-46A9-C8D4-E3AFD2845744}"/>
                  </a:ext>
                </a:extLst>
              </p:cNvPr>
              <p:cNvGrpSpPr>
                <a:grpSpLocks/>
              </p:cNvGrpSpPr>
              <p:nvPr/>
            </p:nvGrpSpPr>
            <p:grpSpPr bwMode="auto">
              <a:xfrm>
                <a:off x="2483" y="1032"/>
                <a:ext cx="334" cy="260"/>
                <a:chOff x="3365" y="3256"/>
                <a:chExt cx="470" cy="713"/>
              </a:xfrm>
            </p:grpSpPr>
            <p:grpSp>
              <p:nvGrpSpPr>
                <p:cNvPr id="102" name="Group 131">
                  <a:extLst>
                    <a:ext uri="{FF2B5EF4-FFF2-40B4-BE49-F238E27FC236}">
                      <a16:creationId xmlns:a16="http://schemas.microsoft.com/office/drawing/2014/main" id="{A020AF6F-3E11-8829-09AA-21EB1F11617F}"/>
                    </a:ext>
                  </a:extLst>
                </p:cNvPr>
                <p:cNvGrpSpPr>
                  <a:grpSpLocks/>
                </p:cNvGrpSpPr>
                <p:nvPr/>
              </p:nvGrpSpPr>
              <p:grpSpPr bwMode="auto">
                <a:xfrm>
                  <a:off x="3365" y="3256"/>
                  <a:ext cx="233" cy="713"/>
                  <a:chOff x="3365" y="3256"/>
                  <a:chExt cx="233" cy="713"/>
                </a:xfrm>
              </p:grpSpPr>
              <p:sp>
                <p:nvSpPr>
                  <p:cNvPr id="106" name="Freeform 132">
                    <a:extLst>
                      <a:ext uri="{FF2B5EF4-FFF2-40B4-BE49-F238E27FC236}">
                        <a16:creationId xmlns:a16="http://schemas.microsoft.com/office/drawing/2014/main" id="{5E32B6F0-ED05-3F0B-1AA4-67E90A8A2A14}"/>
                      </a:ext>
                    </a:extLst>
                  </p:cNvPr>
                  <p:cNvSpPr>
                    <a:spLocks/>
                  </p:cNvSpPr>
                  <p:nvPr/>
                </p:nvSpPr>
                <p:spPr bwMode="auto">
                  <a:xfrm>
                    <a:off x="3365" y="3606"/>
                    <a:ext cx="66" cy="363"/>
                  </a:xfrm>
                  <a:custGeom>
                    <a:avLst/>
                    <a:gdLst>
                      <a:gd name="T0" fmla="*/ 0 w 66"/>
                      <a:gd name="T1" fmla="*/ 0 h 363"/>
                      <a:gd name="T2" fmla="*/ 40 w 66"/>
                      <a:gd name="T3" fmla="*/ 308 h 363"/>
                      <a:gd name="T4" fmla="*/ 43 w 66"/>
                      <a:gd name="T5" fmla="*/ 324 h 363"/>
                      <a:gd name="T6" fmla="*/ 44 w 66"/>
                      <a:gd name="T7" fmla="*/ 337 h 363"/>
                      <a:gd name="T8" fmla="*/ 48 w 66"/>
                      <a:gd name="T9" fmla="*/ 347 h 363"/>
                      <a:gd name="T10" fmla="*/ 56 w 66"/>
                      <a:gd name="T11" fmla="*/ 356 h 363"/>
                      <a:gd name="T12" fmla="*/ 65 w 66"/>
                      <a:gd name="T13" fmla="*/ 362 h 363"/>
                    </a:gdLst>
                    <a:ahLst/>
                    <a:cxnLst>
                      <a:cxn ang="0">
                        <a:pos x="T0" y="T1"/>
                      </a:cxn>
                      <a:cxn ang="0">
                        <a:pos x="T2" y="T3"/>
                      </a:cxn>
                      <a:cxn ang="0">
                        <a:pos x="T4" y="T5"/>
                      </a:cxn>
                      <a:cxn ang="0">
                        <a:pos x="T6" y="T7"/>
                      </a:cxn>
                      <a:cxn ang="0">
                        <a:pos x="T8" y="T9"/>
                      </a:cxn>
                      <a:cxn ang="0">
                        <a:pos x="T10" y="T11"/>
                      </a:cxn>
                      <a:cxn ang="0">
                        <a:pos x="T12" y="T13"/>
                      </a:cxn>
                    </a:cxnLst>
                    <a:rect l="0" t="0" r="r" b="b"/>
                    <a:pathLst>
                      <a:path w="66" h="363">
                        <a:moveTo>
                          <a:pt x="0" y="0"/>
                        </a:moveTo>
                        <a:lnTo>
                          <a:pt x="40" y="308"/>
                        </a:lnTo>
                        <a:lnTo>
                          <a:pt x="43" y="324"/>
                        </a:lnTo>
                        <a:lnTo>
                          <a:pt x="44" y="337"/>
                        </a:lnTo>
                        <a:lnTo>
                          <a:pt x="48" y="347"/>
                        </a:lnTo>
                        <a:lnTo>
                          <a:pt x="56" y="356"/>
                        </a:lnTo>
                        <a:lnTo>
                          <a:pt x="65" y="362"/>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07" name="Freeform 133">
                    <a:extLst>
                      <a:ext uri="{FF2B5EF4-FFF2-40B4-BE49-F238E27FC236}">
                        <a16:creationId xmlns:a16="http://schemas.microsoft.com/office/drawing/2014/main" id="{F8A868C0-B0C0-95A1-7DCD-1F22BE61E302}"/>
                      </a:ext>
                    </a:extLst>
                  </p:cNvPr>
                  <p:cNvSpPr>
                    <a:spLocks/>
                  </p:cNvSpPr>
                  <p:nvPr/>
                </p:nvSpPr>
                <p:spPr bwMode="auto">
                  <a:xfrm>
                    <a:off x="3432" y="3256"/>
                    <a:ext cx="166" cy="709"/>
                  </a:xfrm>
                  <a:custGeom>
                    <a:avLst/>
                    <a:gdLst>
                      <a:gd name="T0" fmla="*/ 0 w 166"/>
                      <a:gd name="T1" fmla="*/ 708 h 709"/>
                      <a:gd name="T2" fmla="*/ 14 w 166"/>
                      <a:gd name="T3" fmla="*/ 704 h 709"/>
                      <a:gd name="T4" fmla="*/ 24 w 166"/>
                      <a:gd name="T5" fmla="*/ 692 h 709"/>
                      <a:gd name="T6" fmla="*/ 27 w 166"/>
                      <a:gd name="T7" fmla="*/ 675 h 709"/>
                      <a:gd name="T8" fmla="*/ 30 w 166"/>
                      <a:gd name="T9" fmla="*/ 649 h 709"/>
                      <a:gd name="T10" fmla="*/ 83 w 166"/>
                      <a:gd name="T11" fmla="*/ 57 h 709"/>
                      <a:gd name="T12" fmla="*/ 88 w 166"/>
                      <a:gd name="T13" fmla="*/ 24 h 709"/>
                      <a:gd name="T14" fmla="*/ 92 w 166"/>
                      <a:gd name="T15" fmla="*/ 14 h 709"/>
                      <a:gd name="T16" fmla="*/ 102 w 166"/>
                      <a:gd name="T17" fmla="*/ 4 h 709"/>
                      <a:gd name="T18" fmla="*/ 111 w 166"/>
                      <a:gd name="T19" fmla="*/ 0 h 709"/>
                      <a:gd name="T20" fmla="*/ 123 w 166"/>
                      <a:gd name="T21" fmla="*/ 8 h 709"/>
                      <a:gd name="T22" fmla="*/ 130 w 166"/>
                      <a:gd name="T23" fmla="*/ 24 h 709"/>
                      <a:gd name="T24" fmla="*/ 165 w 166"/>
                      <a:gd name="T25" fmla="*/ 328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6" h="709">
                        <a:moveTo>
                          <a:pt x="0" y="708"/>
                        </a:moveTo>
                        <a:lnTo>
                          <a:pt x="14" y="704"/>
                        </a:lnTo>
                        <a:lnTo>
                          <a:pt x="24" y="692"/>
                        </a:lnTo>
                        <a:lnTo>
                          <a:pt x="27" y="675"/>
                        </a:lnTo>
                        <a:lnTo>
                          <a:pt x="30" y="649"/>
                        </a:lnTo>
                        <a:lnTo>
                          <a:pt x="83" y="57"/>
                        </a:lnTo>
                        <a:lnTo>
                          <a:pt x="88" y="24"/>
                        </a:lnTo>
                        <a:lnTo>
                          <a:pt x="92" y="14"/>
                        </a:lnTo>
                        <a:lnTo>
                          <a:pt x="102" y="4"/>
                        </a:lnTo>
                        <a:lnTo>
                          <a:pt x="111" y="0"/>
                        </a:lnTo>
                        <a:lnTo>
                          <a:pt x="123" y="8"/>
                        </a:lnTo>
                        <a:lnTo>
                          <a:pt x="130" y="24"/>
                        </a:lnTo>
                        <a:lnTo>
                          <a:pt x="165" y="328"/>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grpSp>
            <p:grpSp>
              <p:nvGrpSpPr>
                <p:cNvPr id="103" name="Group 134">
                  <a:extLst>
                    <a:ext uri="{FF2B5EF4-FFF2-40B4-BE49-F238E27FC236}">
                      <a16:creationId xmlns:a16="http://schemas.microsoft.com/office/drawing/2014/main" id="{93D0AD7D-8881-C276-D281-CE006B8ADAE0}"/>
                    </a:ext>
                  </a:extLst>
                </p:cNvPr>
                <p:cNvGrpSpPr>
                  <a:grpSpLocks/>
                </p:cNvGrpSpPr>
                <p:nvPr/>
              </p:nvGrpSpPr>
              <p:grpSpPr bwMode="auto">
                <a:xfrm>
                  <a:off x="3600" y="3256"/>
                  <a:ext cx="235" cy="713"/>
                  <a:chOff x="3600" y="3256"/>
                  <a:chExt cx="235" cy="713"/>
                </a:xfrm>
              </p:grpSpPr>
              <p:sp>
                <p:nvSpPr>
                  <p:cNvPr id="104" name="Freeform 135">
                    <a:extLst>
                      <a:ext uri="{FF2B5EF4-FFF2-40B4-BE49-F238E27FC236}">
                        <a16:creationId xmlns:a16="http://schemas.microsoft.com/office/drawing/2014/main" id="{76A855D5-CCF4-AE73-2C3E-338704ABAA13}"/>
                      </a:ext>
                    </a:extLst>
                  </p:cNvPr>
                  <p:cNvSpPr>
                    <a:spLocks/>
                  </p:cNvSpPr>
                  <p:nvPr/>
                </p:nvSpPr>
                <p:spPr bwMode="auto">
                  <a:xfrm>
                    <a:off x="3600" y="3606"/>
                    <a:ext cx="68" cy="363"/>
                  </a:xfrm>
                  <a:custGeom>
                    <a:avLst/>
                    <a:gdLst>
                      <a:gd name="T0" fmla="*/ 0 w 68"/>
                      <a:gd name="T1" fmla="*/ 0 h 363"/>
                      <a:gd name="T2" fmla="*/ 41 w 68"/>
                      <a:gd name="T3" fmla="*/ 308 h 363"/>
                      <a:gd name="T4" fmla="*/ 44 w 68"/>
                      <a:gd name="T5" fmla="*/ 324 h 363"/>
                      <a:gd name="T6" fmla="*/ 46 w 68"/>
                      <a:gd name="T7" fmla="*/ 337 h 363"/>
                      <a:gd name="T8" fmla="*/ 49 w 68"/>
                      <a:gd name="T9" fmla="*/ 347 h 363"/>
                      <a:gd name="T10" fmla="*/ 57 w 68"/>
                      <a:gd name="T11" fmla="*/ 356 h 363"/>
                      <a:gd name="T12" fmla="*/ 67 w 68"/>
                      <a:gd name="T13" fmla="*/ 362 h 363"/>
                    </a:gdLst>
                    <a:ahLst/>
                    <a:cxnLst>
                      <a:cxn ang="0">
                        <a:pos x="T0" y="T1"/>
                      </a:cxn>
                      <a:cxn ang="0">
                        <a:pos x="T2" y="T3"/>
                      </a:cxn>
                      <a:cxn ang="0">
                        <a:pos x="T4" y="T5"/>
                      </a:cxn>
                      <a:cxn ang="0">
                        <a:pos x="T6" y="T7"/>
                      </a:cxn>
                      <a:cxn ang="0">
                        <a:pos x="T8" y="T9"/>
                      </a:cxn>
                      <a:cxn ang="0">
                        <a:pos x="T10" y="T11"/>
                      </a:cxn>
                      <a:cxn ang="0">
                        <a:pos x="T12" y="T13"/>
                      </a:cxn>
                    </a:cxnLst>
                    <a:rect l="0" t="0" r="r" b="b"/>
                    <a:pathLst>
                      <a:path w="68" h="363">
                        <a:moveTo>
                          <a:pt x="0" y="0"/>
                        </a:moveTo>
                        <a:lnTo>
                          <a:pt x="41" y="308"/>
                        </a:lnTo>
                        <a:lnTo>
                          <a:pt x="44" y="324"/>
                        </a:lnTo>
                        <a:lnTo>
                          <a:pt x="46" y="337"/>
                        </a:lnTo>
                        <a:lnTo>
                          <a:pt x="49" y="347"/>
                        </a:lnTo>
                        <a:lnTo>
                          <a:pt x="57" y="356"/>
                        </a:lnTo>
                        <a:lnTo>
                          <a:pt x="67" y="362"/>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05" name="Freeform 136">
                    <a:extLst>
                      <a:ext uri="{FF2B5EF4-FFF2-40B4-BE49-F238E27FC236}">
                        <a16:creationId xmlns:a16="http://schemas.microsoft.com/office/drawing/2014/main" id="{271A0823-72B4-03BA-55F8-F661F5B0D466}"/>
                      </a:ext>
                    </a:extLst>
                  </p:cNvPr>
                  <p:cNvSpPr>
                    <a:spLocks/>
                  </p:cNvSpPr>
                  <p:nvPr/>
                </p:nvSpPr>
                <p:spPr bwMode="auto">
                  <a:xfrm>
                    <a:off x="3669" y="3256"/>
                    <a:ext cx="166" cy="709"/>
                  </a:xfrm>
                  <a:custGeom>
                    <a:avLst/>
                    <a:gdLst>
                      <a:gd name="T0" fmla="*/ 0 w 166"/>
                      <a:gd name="T1" fmla="*/ 708 h 709"/>
                      <a:gd name="T2" fmla="*/ 14 w 166"/>
                      <a:gd name="T3" fmla="*/ 704 h 709"/>
                      <a:gd name="T4" fmla="*/ 24 w 166"/>
                      <a:gd name="T5" fmla="*/ 692 h 709"/>
                      <a:gd name="T6" fmla="*/ 27 w 166"/>
                      <a:gd name="T7" fmla="*/ 675 h 709"/>
                      <a:gd name="T8" fmla="*/ 30 w 166"/>
                      <a:gd name="T9" fmla="*/ 649 h 709"/>
                      <a:gd name="T10" fmla="*/ 83 w 166"/>
                      <a:gd name="T11" fmla="*/ 57 h 709"/>
                      <a:gd name="T12" fmla="*/ 88 w 166"/>
                      <a:gd name="T13" fmla="*/ 24 h 709"/>
                      <a:gd name="T14" fmla="*/ 92 w 166"/>
                      <a:gd name="T15" fmla="*/ 14 h 709"/>
                      <a:gd name="T16" fmla="*/ 102 w 166"/>
                      <a:gd name="T17" fmla="*/ 4 h 709"/>
                      <a:gd name="T18" fmla="*/ 111 w 166"/>
                      <a:gd name="T19" fmla="*/ 0 h 709"/>
                      <a:gd name="T20" fmla="*/ 123 w 166"/>
                      <a:gd name="T21" fmla="*/ 8 h 709"/>
                      <a:gd name="T22" fmla="*/ 130 w 166"/>
                      <a:gd name="T23" fmla="*/ 24 h 709"/>
                      <a:gd name="T24" fmla="*/ 165 w 166"/>
                      <a:gd name="T25" fmla="*/ 328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6" h="709">
                        <a:moveTo>
                          <a:pt x="0" y="708"/>
                        </a:moveTo>
                        <a:lnTo>
                          <a:pt x="14" y="704"/>
                        </a:lnTo>
                        <a:lnTo>
                          <a:pt x="24" y="692"/>
                        </a:lnTo>
                        <a:lnTo>
                          <a:pt x="27" y="675"/>
                        </a:lnTo>
                        <a:lnTo>
                          <a:pt x="30" y="649"/>
                        </a:lnTo>
                        <a:lnTo>
                          <a:pt x="83" y="57"/>
                        </a:lnTo>
                        <a:lnTo>
                          <a:pt x="88" y="24"/>
                        </a:lnTo>
                        <a:lnTo>
                          <a:pt x="92" y="14"/>
                        </a:lnTo>
                        <a:lnTo>
                          <a:pt x="102" y="4"/>
                        </a:lnTo>
                        <a:lnTo>
                          <a:pt x="111" y="0"/>
                        </a:lnTo>
                        <a:lnTo>
                          <a:pt x="123" y="8"/>
                        </a:lnTo>
                        <a:lnTo>
                          <a:pt x="130" y="24"/>
                        </a:lnTo>
                        <a:lnTo>
                          <a:pt x="165" y="328"/>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grpSp>
          </p:grpSp>
          <p:grpSp>
            <p:nvGrpSpPr>
              <p:cNvPr id="85" name="Group 137">
                <a:extLst>
                  <a:ext uri="{FF2B5EF4-FFF2-40B4-BE49-F238E27FC236}">
                    <a16:creationId xmlns:a16="http://schemas.microsoft.com/office/drawing/2014/main" id="{2634589B-5ECE-CAC3-B074-EAE15B9D6C99}"/>
                  </a:ext>
                </a:extLst>
              </p:cNvPr>
              <p:cNvGrpSpPr>
                <a:grpSpLocks/>
              </p:cNvGrpSpPr>
              <p:nvPr/>
            </p:nvGrpSpPr>
            <p:grpSpPr bwMode="auto">
              <a:xfrm>
                <a:off x="2815" y="1028"/>
                <a:ext cx="167" cy="261"/>
                <a:chOff x="3833" y="3247"/>
                <a:chExt cx="234" cy="713"/>
              </a:xfrm>
            </p:grpSpPr>
            <p:sp>
              <p:nvSpPr>
                <p:cNvPr id="100" name="Freeform 138">
                  <a:extLst>
                    <a:ext uri="{FF2B5EF4-FFF2-40B4-BE49-F238E27FC236}">
                      <a16:creationId xmlns:a16="http://schemas.microsoft.com/office/drawing/2014/main" id="{70C53FA8-A886-AFCF-D312-E32241267DAB}"/>
                    </a:ext>
                  </a:extLst>
                </p:cNvPr>
                <p:cNvSpPr>
                  <a:spLocks/>
                </p:cNvSpPr>
                <p:nvPr/>
              </p:nvSpPr>
              <p:spPr bwMode="auto">
                <a:xfrm>
                  <a:off x="3833" y="3597"/>
                  <a:ext cx="64" cy="363"/>
                </a:xfrm>
                <a:custGeom>
                  <a:avLst/>
                  <a:gdLst>
                    <a:gd name="T0" fmla="*/ 0 w 64"/>
                    <a:gd name="T1" fmla="*/ 0 h 363"/>
                    <a:gd name="T2" fmla="*/ 39 w 64"/>
                    <a:gd name="T3" fmla="*/ 308 h 363"/>
                    <a:gd name="T4" fmla="*/ 41 w 64"/>
                    <a:gd name="T5" fmla="*/ 324 h 363"/>
                    <a:gd name="T6" fmla="*/ 43 w 64"/>
                    <a:gd name="T7" fmla="*/ 337 h 363"/>
                    <a:gd name="T8" fmla="*/ 46 w 64"/>
                    <a:gd name="T9" fmla="*/ 347 h 363"/>
                    <a:gd name="T10" fmla="*/ 54 w 64"/>
                    <a:gd name="T11" fmla="*/ 356 h 363"/>
                    <a:gd name="T12" fmla="*/ 63 w 64"/>
                    <a:gd name="T13" fmla="*/ 362 h 363"/>
                  </a:gdLst>
                  <a:ahLst/>
                  <a:cxnLst>
                    <a:cxn ang="0">
                      <a:pos x="T0" y="T1"/>
                    </a:cxn>
                    <a:cxn ang="0">
                      <a:pos x="T2" y="T3"/>
                    </a:cxn>
                    <a:cxn ang="0">
                      <a:pos x="T4" y="T5"/>
                    </a:cxn>
                    <a:cxn ang="0">
                      <a:pos x="T6" y="T7"/>
                    </a:cxn>
                    <a:cxn ang="0">
                      <a:pos x="T8" y="T9"/>
                    </a:cxn>
                    <a:cxn ang="0">
                      <a:pos x="T10" y="T11"/>
                    </a:cxn>
                    <a:cxn ang="0">
                      <a:pos x="T12" y="T13"/>
                    </a:cxn>
                  </a:cxnLst>
                  <a:rect l="0" t="0" r="r" b="b"/>
                  <a:pathLst>
                    <a:path w="64" h="363">
                      <a:moveTo>
                        <a:pt x="0" y="0"/>
                      </a:moveTo>
                      <a:lnTo>
                        <a:pt x="39" y="308"/>
                      </a:lnTo>
                      <a:lnTo>
                        <a:pt x="41" y="324"/>
                      </a:lnTo>
                      <a:lnTo>
                        <a:pt x="43" y="337"/>
                      </a:lnTo>
                      <a:lnTo>
                        <a:pt x="46" y="347"/>
                      </a:lnTo>
                      <a:lnTo>
                        <a:pt x="54" y="356"/>
                      </a:lnTo>
                      <a:lnTo>
                        <a:pt x="63" y="362"/>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101" name="Freeform 139">
                  <a:extLst>
                    <a:ext uri="{FF2B5EF4-FFF2-40B4-BE49-F238E27FC236}">
                      <a16:creationId xmlns:a16="http://schemas.microsoft.com/office/drawing/2014/main" id="{8231B1E6-725F-53D7-2F29-B496F6DF47BC}"/>
                    </a:ext>
                  </a:extLst>
                </p:cNvPr>
                <p:cNvSpPr>
                  <a:spLocks/>
                </p:cNvSpPr>
                <p:nvPr/>
              </p:nvSpPr>
              <p:spPr bwMode="auto">
                <a:xfrm>
                  <a:off x="3898" y="3247"/>
                  <a:ext cx="169" cy="709"/>
                </a:xfrm>
                <a:custGeom>
                  <a:avLst/>
                  <a:gdLst>
                    <a:gd name="T0" fmla="*/ 0 w 169"/>
                    <a:gd name="T1" fmla="*/ 708 h 709"/>
                    <a:gd name="T2" fmla="*/ 14 w 169"/>
                    <a:gd name="T3" fmla="*/ 704 h 709"/>
                    <a:gd name="T4" fmla="*/ 24 w 169"/>
                    <a:gd name="T5" fmla="*/ 692 h 709"/>
                    <a:gd name="T6" fmla="*/ 27 w 169"/>
                    <a:gd name="T7" fmla="*/ 675 h 709"/>
                    <a:gd name="T8" fmla="*/ 31 w 169"/>
                    <a:gd name="T9" fmla="*/ 649 h 709"/>
                    <a:gd name="T10" fmla="*/ 84 w 169"/>
                    <a:gd name="T11" fmla="*/ 57 h 709"/>
                    <a:gd name="T12" fmla="*/ 89 w 169"/>
                    <a:gd name="T13" fmla="*/ 24 h 709"/>
                    <a:gd name="T14" fmla="*/ 94 w 169"/>
                    <a:gd name="T15" fmla="*/ 14 h 709"/>
                    <a:gd name="T16" fmla="*/ 104 w 169"/>
                    <a:gd name="T17" fmla="*/ 4 h 709"/>
                    <a:gd name="T18" fmla="*/ 113 w 169"/>
                    <a:gd name="T19" fmla="*/ 0 h 709"/>
                    <a:gd name="T20" fmla="*/ 125 w 169"/>
                    <a:gd name="T21" fmla="*/ 8 h 709"/>
                    <a:gd name="T22" fmla="*/ 132 w 169"/>
                    <a:gd name="T23" fmla="*/ 24 h 709"/>
                    <a:gd name="T24" fmla="*/ 168 w 169"/>
                    <a:gd name="T25" fmla="*/ 328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9" h="709">
                      <a:moveTo>
                        <a:pt x="0" y="708"/>
                      </a:moveTo>
                      <a:lnTo>
                        <a:pt x="14" y="704"/>
                      </a:lnTo>
                      <a:lnTo>
                        <a:pt x="24" y="692"/>
                      </a:lnTo>
                      <a:lnTo>
                        <a:pt x="27" y="675"/>
                      </a:lnTo>
                      <a:lnTo>
                        <a:pt x="31" y="649"/>
                      </a:lnTo>
                      <a:lnTo>
                        <a:pt x="84" y="57"/>
                      </a:lnTo>
                      <a:lnTo>
                        <a:pt x="89" y="24"/>
                      </a:lnTo>
                      <a:lnTo>
                        <a:pt x="94" y="14"/>
                      </a:lnTo>
                      <a:lnTo>
                        <a:pt x="104" y="4"/>
                      </a:lnTo>
                      <a:lnTo>
                        <a:pt x="113" y="0"/>
                      </a:lnTo>
                      <a:lnTo>
                        <a:pt x="125" y="8"/>
                      </a:lnTo>
                      <a:lnTo>
                        <a:pt x="132" y="24"/>
                      </a:lnTo>
                      <a:lnTo>
                        <a:pt x="168" y="328"/>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grpSp>
          <p:sp>
            <p:nvSpPr>
              <p:cNvPr id="86" name="Freeform 140">
                <a:extLst>
                  <a:ext uri="{FF2B5EF4-FFF2-40B4-BE49-F238E27FC236}">
                    <a16:creationId xmlns:a16="http://schemas.microsoft.com/office/drawing/2014/main" id="{59032897-EAF9-837B-8DAB-4C115FAA9802}"/>
                  </a:ext>
                </a:extLst>
              </p:cNvPr>
              <p:cNvSpPr>
                <a:spLocks/>
              </p:cNvSpPr>
              <p:nvPr/>
            </p:nvSpPr>
            <p:spPr bwMode="auto">
              <a:xfrm>
                <a:off x="2982" y="1156"/>
                <a:ext cx="46" cy="133"/>
              </a:xfrm>
              <a:custGeom>
                <a:avLst/>
                <a:gdLst>
                  <a:gd name="T0" fmla="*/ 0 w 64"/>
                  <a:gd name="T1" fmla="*/ 0 h 271"/>
                  <a:gd name="T2" fmla="*/ 40 w 64"/>
                  <a:gd name="T3" fmla="*/ 231 h 271"/>
                  <a:gd name="T4" fmla="*/ 42 w 64"/>
                  <a:gd name="T5" fmla="*/ 243 h 271"/>
                  <a:gd name="T6" fmla="*/ 44 w 64"/>
                  <a:gd name="T7" fmla="*/ 253 h 271"/>
                  <a:gd name="T8" fmla="*/ 55 w 64"/>
                  <a:gd name="T9" fmla="*/ 267 h 271"/>
                  <a:gd name="T10" fmla="*/ 64 w 64"/>
                  <a:gd name="T11" fmla="*/ 271 h 271"/>
                </a:gdLst>
                <a:ahLst/>
                <a:cxnLst>
                  <a:cxn ang="0">
                    <a:pos x="T0" y="T1"/>
                  </a:cxn>
                  <a:cxn ang="0">
                    <a:pos x="T2" y="T3"/>
                  </a:cxn>
                  <a:cxn ang="0">
                    <a:pos x="T4" y="T5"/>
                  </a:cxn>
                  <a:cxn ang="0">
                    <a:pos x="T6" y="T7"/>
                  </a:cxn>
                  <a:cxn ang="0">
                    <a:pos x="T8" y="T9"/>
                  </a:cxn>
                  <a:cxn ang="0">
                    <a:pos x="T10" y="T11"/>
                  </a:cxn>
                </a:cxnLst>
                <a:rect l="0" t="0" r="r" b="b"/>
                <a:pathLst>
                  <a:path w="64" h="271">
                    <a:moveTo>
                      <a:pt x="0" y="0"/>
                    </a:moveTo>
                    <a:lnTo>
                      <a:pt x="40" y="231"/>
                    </a:lnTo>
                    <a:lnTo>
                      <a:pt x="42" y="243"/>
                    </a:lnTo>
                    <a:lnTo>
                      <a:pt x="44" y="253"/>
                    </a:lnTo>
                    <a:lnTo>
                      <a:pt x="55" y="267"/>
                    </a:lnTo>
                    <a:lnTo>
                      <a:pt x="64" y="271"/>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87" name="Freeform 141">
                <a:extLst>
                  <a:ext uri="{FF2B5EF4-FFF2-40B4-BE49-F238E27FC236}">
                    <a16:creationId xmlns:a16="http://schemas.microsoft.com/office/drawing/2014/main" id="{20B5314D-EEA8-F42F-BF38-D6AEBC023C59}"/>
                  </a:ext>
                </a:extLst>
              </p:cNvPr>
              <p:cNvSpPr>
                <a:spLocks/>
              </p:cNvSpPr>
              <p:nvPr/>
            </p:nvSpPr>
            <p:spPr bwMode="auto">
              <a:xfrm>
                <a:off x="3029" y="1028"/>
                <a:ext cx="126" cy="260"/>
              </a:xfrm>
              <a:custGeom>
                <a:avLst/>
                <a:gdLst>
                  <a:gd name="T0" fmla="*/ 0 w 177"/>
                  <a:gd name="T1" fmla="*/ 530 h 530"/>
                  <a:gd name="T2" fmla="*/ 14 w 177"/>
                  <a:gd name="T3" fmla="*/ 527 h 530"/>
                  <a:gd name="T4" fmla="*/ 24 w 177"/>
                  <a:gd name="T5" fmla="*/ 518 h 530"/>
                  <a:gd name="T6" fmla="*/ 27 w 177"/>
                  <a:gd name="T7" fmla="*/ 506 h 530"/>
                  <a:gd name="T8" fmla="*/ 31 w 177"/>
                  <a:gd name="T9" fmla="*/ 486 h 530"/>
                  <a:gd name="T10" fmla="*/ 84 w 177"/>
                  <a:gd name="T11" fmla="*/ 43 h 530"/>
                  <a:gd name="T12" fmla="*/ 89 w 177"/>
                  <a:gd name="T13" fmla="*/ 18 h 530"/>
                  <a:gd name="T14" fmla="*/ 94 w 177"/>
                  <a:gd name="T15" fmla="*/ 10 h 530"/>
                  <a:gd name="T16" fmla="*/ 104 w 177"/>
                  <a:gd name="T17" fmla="*/ 3 h 530"/>
                  <a:gd name="T18" fmla="*/ 113 w 177"/>
                  <a:gd name="T19" fmla="*/ 0 h 530"/>
                  <a:gd name="T20" fmla="*/ 125 w 177"/>
                  <a:gd name="T21" fmla="*/ 6 h 530"/>
                  <a:gd name="T22" fmla="*/ 132 w 177"/>
                  <a:gd name="T23" fmla="*/ 18 h 530"/>
                  <a:gd name="T24" fmla="*/ 177 w 177"/>
                  <a:gd name="T25" fmla="*/ 280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7" h="530">
                    <a:moveTo>
                      <a:pt x="0" y="530"/>
                    </a:moveTo>
                    <a:lnTo>
                      <a:pt x="14" y="527"/>
                    </a:lnTo>
                    <a:lnTo>
                      <a:pt x="24" y="518"/>
                    </a:lnTo>
                    <a:lnTo>
                      <a:pt x="27" y="506"/>
                    </a:lnTo>
                    <a:lnTo>
                      <a:pt x="31" y="486"/>
                    </a:lnTo>
                    <a:lnTo>
                      <a:pt x="84" y="43"/>
                    </a:lnTo>
                    <a:lnTo>
                      <a:pt x="89" y="18"/>
                    </a:lnTo>
                    <a:lnTo>
                      <a:pt x="94" y="10"/>
                    </a:lnTo>
                    <a:lnTo>
                      <a:pt x="104" y="3"/>
                    </a:lnTo>
                    <a:lnTo>
                      <a:pt x="113" y="0"/>
                    </a:lnTo>
                    <a:lnTo>
                      <a:pt x="125" y="6"/>
                    </a:lnTo>
                    <a:lnTo>
                      <a:pt x="132" y="18"/>
                    </a:lnTo>
                    <a:lnTo>
                      <a:pt x="177" y="28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grpSp>
            <p:nvGrpSpPr>
              <p:cNvPr id="88" name="Group 142">
                <a:extLst>
                  <a:ext uri="{FF2B5EF4-FFF2-40B4-BE49-F238E27FC236}">
                    <a16:creationId xmlns:a16="http://schemas.microsoft.com/office/drawing/2014/main" id="{5D96E5EC-543C-1744-3210-0459A4C6C3EB}"/>
                  </a:ext>
                </a:extLst>
              </p:cNvPr>
              <p:cNvGrpSpPr>
                <a:grpSpLocks/>
              </p:cNvGrpSpPr>
              <p:nvPr/>
            </p:nvGrpSpPr>
            <p:grpSpPr bwMode="auto">
              <a:xfrm>
                <a:off x="3159" y="1029"/>
                <a:ext cx="339" cy="262"/>
                <a:chOff x="4317" y="3250"/>
                <a:chExt cx="476" cy="713"/>
              </a:xfrm>
            </p:grpSpPr>
            <p:grpSp>
              <p:nvGrpSpPr>
                <p:cNvPr id="94" name="Group 143">
                  <a:extLst>
                    <a:ext uri="{FF2B5EF4-FFF2-40B4-BE49-F238E27FC236}">
                      <a16:creationId xmlns:a16="http://schemas.microsoft.com/office/drawing/2014/main" id="{BF276FC1-3916-1FEF-0DC9-E236BD17DA8F}"/>
                    </a:ext>
                  </a:extLst>
                </p:cNvPr>
                <p:cNvGrpSpPr>
                  <a:grpSpLocks/>
                </p:cNvGrpSpPr>
                <p:nvPr/>
              </p:nvGrpSpPr>
              <p:grpSpPr bwMode="auto">
                <a:xfrm>
                  <a:off x="4317" y="3250"/>
                  <a:ext cx="238" cy="713"/>
                  <a:chOff x="4317" y="3250"/>
                  <a:chExt cx="238" cy="713"/>
                </a:xfrm>
              </p:grpSpPr>
              <p:sp>
                <p:nvSpPr>
                  <p:cNvPr id="98" name="Freeform 144">
                    <a:extLst>
                      <a:ext uri="{FF2B5EF4-FFF2-40B4-BE49-F238E27FC236}">
                        <a16:creationId xmlns:a16="http://schemas.microsoft.com/office/drawing/2014/main" id="{2E0E7B8B-3339-F34A-1460-C51E97702627}"/>
                      </a:ext>
                    </a:extLst>
                  </p:cNvPr>
                  <p:cNvSpPr>
                    <a:spLocks/>
                  </p:cNvSpPr>
                  <p:nvPr/>
                </p:nvSpPr>
                <p:spPr bwMode="auto">
                  <a:xfrm>
                    <a:off x="4317" y="3250"/>
                    <a:ext cx="65" cy="363"/>
                  </a:xfrm>
                  <a:custGeom>
                    <a:avLst/>
                    <a:gdLst>
                      <a:gd name="T0" fmla="*/ 0 w 65"/>
                      <a:gd name="T1" fmla="*/ 362 h 363"/>
                      <a:gd name="T2" fmla="*/ 40 w 65"/>
                      <a:gd name="T3" fmla="*/ 54 h 363"/>
                      <a:gd name="T4" fmla="*/ 42 w 65"/>
                      <a:gd name="T5" fmla="*/ 38 h 363"/>
                      <a:gd name="T6" fmla="*/ 44 w 65"/>
                      <a:gd name="T7" fmla="*/ 25 h 363"/>
                      <a:gd name="T8" fmla="*/ 47 w 65"/>
                      <a:gd name="T9" fmla="*/ 15 h 363"/>
                      <a:gd name="T10" fmla="*/ 55 w 65"/>
                      <a:gd name="T11" fmla="*/ 6 h 363"/>
                      <a:gd name="T12" fmla="*/ 64 w 6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5" h="363">
                        <a:moveTo>
                          <a:pt x="0" y="362"/>
                        </a:moveTo>
                        <a:lnTo>
                          <a:pt x="40" y="54"/>
                        </a:lnTo>
                        <a:lnTo>
                          <a:pt x="42" y="38"/>
                        </a:lnTo>
                        <a:lnTo>
                          <a:pt x="44" y="25"/>
                        </a:lnTo>
                        <a:lnTo>
                          <a:pt x="47" y="15"/>
                        </a:lnTo>
                        <a:lnTo>
                          <a:pt x="55" y="6"/>
                        </a:lnTo>
                        <a:lnTo>
                          <a:pt x="64" y="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99" name="Freeform 145">
                    <a:extLst>
                      <a:ext uri="{FF2B5EF4-FFF2-40B4-BE49-F238E27FC236}">
                        <a16:creationId xmlns:a16="http://schemas.microsoft.com/office/drawing/2014/main" id="{D0AFE3B5-450F-0A64-E725-3FC9C52C8B9F}"/>
                      </a:ext>
                    </a:extLst>
                  </p:cNvPr>
                  <p:cNvSpPr>
                    <a:spLocks/>
                  </p:cNvSpPr>
                  <p:nvPr/>
                </p:nvSpPr>
                <p:spPr bwMode="auto">
                  <a:xfrm>
                    <a:off x="4383" y="3254"/>
                    <a:ext cx="172" cy="709"/>
                  </a:xfrm>
                  <a:custGeom>
                    <a:avLst/>
                    <a:gdLst>
                      <a:gd name="T0" fmla="*/ 0 w 172"/>
                      <a:gd name="T1" fmla="*/ 0 h 709"/>
                      <a:gd name="T2" fmla="*/ 14 w 172"/>
                      <a:gd name="T3" fmla="*/ 4 h 709"/>
                      <a:gd name="T4" fmla="*/ 24 w 172"/>
                      <a:gd name="T5" fmla="*/ 16 h 709"/>
                      <a:gd name="T6" fmla="*/ 28 w 172"/>
                      <a:gd name="T7" fmla="*/ 33 h 709"/>
                      <a:gd name="T8" fmla="*/ 31 w 172"/>
                      <a:gd name="T9" fmla="*/ 59 h 709"/>
                      <a:gd name="T10" fmla="*/ 86 w 172"/>
                      <a:gd name="T11" fmla="*/ 651 h 709"/>
                      <a:gd name="T12" fmla="*/ 91 w 172"/>
                      <a:gd name="T13" fmla="*/ 684 h 709"/>
                      <a:gd name="T14" fmla="*/ 95 w 172"/>
                      <a:gd name="T15" fmla="*/ 694 h 709"/>
                      <a:gd name="T16" fmla="*/ 106 w 172"/>
                      <a:gd name="T17" fmla="*/ 704 h 709"/>
                      <a:gd name="T18" fmla="*/ 115 w 172"/>
                      <a:gd name="T19" fmla="*/ 708 h 709"/>
                      <a:gd name="T20" fmla="*/ 127 w 172"/>
                      <a:gd name="T21" fmla="*/ 700 h 709"/>
                      <a:gd name="T22" fmla="*/ 135 w 172"/>
                      <a:gd name="T23" fmla="*/ 684 h 709"/>
                      <a:gd name="T24" fmla="*/ 171 w 172"/>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2" h="709">
                        <a:moveTo>
                          <a:pt x="0" y="0"/>
                        </a:moveTo>
                        <a:lnTo>
                          <a:pt x="14" y="4"/>
                        </a:lnTo>
                        <a:lnTo>
                          <a:pt x="24" y="16"/>
                        </a:lnTo>
                        <a:lnTo>
                          <a:pt x="28" y="33"/>
                        </a:lnTo>
                        <a:lnTo>
                          <a:pt x="31" y="59"/>
                        </a:lnTo>
                        <a:lnTo>
                          <a:pt x="86" y="651"/>
                        </a:lnTo>
                        <a:lnTo>
                          <a:pt x="91" y="684"/>
                        </a:lnTo>
                        <a:lnTo>
                          <a:pt x="95" y="694"/>
                        </a:lnTo>
                        <a:lnTo>
                          <a:pt x="106" y="704"/>
                        </a:lnTo>
                        <a:lnTo>
                          <a:pt x="115" y="708"/>
                        </a:lnTo>
                        <a:lnTo>
                          <a:pt x="127" y="700"/>
                        </a:lnTo>
                        <a:lnTo>
                          <a:pt x="135" y="684"/>
                        </a:lnTo>
                        <a:lnTo>
                          <a:pt x="171" y="38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grpSp>
            <p:grpSp>
              <p:nvGrpSpPr>
                <p:cNvPr id="95" name="Group 146">
                  <a:extLst>
                    <a:ext uri="{FF2B5EF4-FFF2-40B4-BE49-F238E27FC236}">
                      <a16:creationId xmlns:a16="http://schemas.microsoft.com/office/drawing/2014/main" id="{3473B6CA-64E8-BBDE-4DEC-CEA9223E8E26}"/>
                    </a:ext>
                  </a:extLst>
                </p:cNvPr>
                <p:cNvGrpSpPr>
                  <a:grpSpLocks/>
                </p:cNvGrpSpPr>
                <p:nvPr/>
              </p:nvGrpSpPr>
              <p:grpSpPr bwMode="auto">
                <a:xfrm>
                  <a:off x="4557" y="3250"/>
                  <a:ext cx="236" cy="713"/>
                  <a:chOff x="4557" y="3250"/>
                  <a:chExt cx="236" cy="713"/>
                </a:xfrm>
              </p:grpSpPr>
              <p:sp>
                <p:nvSpPr>
                  <p:cNvPr id="96" name="Freeform 147">
                    <a:extLst>
                      <a:ext uri="{FF2B5EF4-FFF2-40B4-BE49-F238E27FC236}">
                        <a16:creationId xmlns:a16="http://schemas.microsoft.com/office/drawing/2014/main" id="{05E0333D-C4E8-F2BC-DB6C-994429CE0AB9}"/>
                      </a:ext>
                    </a:extLst>
                  </p:cNvPr>
                  <p:cNvSpPr>
                    <a:spLocks/>
                  </p:cNvSpPr>
                  <p:nvPr/>
                </p:nvSpPr>
                <p:spPr bwMode="auto">
                  <a:xfrm>
                    <a:off x="4557" y="3250"/>
                    <a:ext cx="64" cy="363"/>
                  </a:xfrm>
                  <a:custGeom>
                    <a:avLst/>
                    <a:gdLst>
                      <a:gd name="T0" fmla="*/ 0 w 64"/>
                      <a:gd name="T1" fmla="*/ 362 h 363"/>
                      <a:gd name="T2" fmla="*/ 39 w 64"/>
                      <a:gd name="T3" fmla="*/ 54 h 363"/>
                      <a:gd name="T4" fmla="*/ 41 w 64"/>
                      <a:gd name="T5" fmla="*/ 38 h 363"/>
                      <a:gd name="T6" fmla="*/ 43 w 64"/>
                      <a:gd name="T7" fmla="*/ 25 h 363"/>
                      <a:gd name="T8" fmla="*/ 46 w 64"/>
                      <a:gd name="T9" fmla="*/ 15 h 363"/>
                      <a:gd name="T10" fmla="*/ 54 w 64"/>
                      <a:gd name="T11" fmla="*/ 6 h 363"/>
                      <a:gd name="T12" fmla="*/ 63 w 6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4" h="363">
                        <a:moveTo>
                          <a:pt x="0" y="362"/>
                        </a:moveTo>
                        <a:lnTo>
                          <a:pt x="39" y="54"/>
                        </a:lnTo>
                        <a:lnTo>
                          <a:pt x="41" y="38"/>
                        </a:lnTo>
                        <a:lnTo>
                          <a:pt x="43" y="25"/>
                        </a:lnTo>
                        <a:lnTo>
                          <a:pt x="46" y="15"/>
                        </a:lnTo>
                        <a:lnTo>
                          <a:pt x="54" y="6"/>
                        </a:lnTo>
                        <a:lnTo>
                          <a:pt x="63" y="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97" name="Freeform 148">
                    <a:extLst>
                      <a:ext uri="{FF2B5EF4-FFF2-40B4-BE49-F238E27FC236}">
                        <a16:creationId xmlns:a16="http://schemas.microsoft.com/office/drawing/2014/main" id="{EAE0D9B1-47FA-64FF-4F91-8A54F1C46262}"/>
                      </a:ext>
                    </a:extLst>
                  </p:cNvPr>
                  <p:cNvSpPr>
                    <a:spLocks/>
                  </p:cNvSpPr>
                  <p:nvPr/>
                </p:nvSpPr>
                <p:spPr bwMode="auto">
                  <a:xfrm>
                    <a:off x="4622" y="3254"/>
                    <a:ext cx="171" cy="709"/>
                  </a:xfrm>
                  <a:custGeom>
                    <a:avLst/>
                    <a:gdLst>
                      <a:gd name="T0" fmla="*/ 0 w 171"/>
                      <a:gd name="T1" fmla="*/ 0 h 709"/>
                      <a:gd name="T2" fmla="*/ 14 w 171"/>
                      <a:gd name="T3" fmla="*/ 4 h 709"/>
                      <a:gd name="T4" fmla="*/ 24 w 171"/>
                      <a:gd name="T5" fmla="*/ 16 h 709"/>
                      <a:gd name="T6" fmla="*/ 28 w 171"/>
                      <a:gd name="T7" fmla="*/ 33 h 709"/>
                      <a:gd name="T8" fmla="*/ 31 w 171"/>
                      <a:gd name="T9" fmla="*/ 59 h 709"/>
                      <a:gd name="T10" fmla="*/ 85 w 171"/>
                      <a:gd name="T11" fmla="*/ 651 h 709"/>
                      <a:gd name="T12" fmla="*/ 90 w 171"/>
                      <a:gd name="T13" fmla="*/ 684 h 709"/>
                      <a:gd name="T14" fmla="*/ 95 w 171"/>
                      <a:gd name="T15" fmla="*/ 694 h 709"/>
                      <a:gd name="T16" fmla="*/ 106 w 171"/>
                      <a:gd name="T17" fmla="*/ 704 h 709"/>
                      <a:gd name="T18" fmla="*/ 115 w 171"/>
                      <a:gd name="T19" fmla="*/ 708 h 709"/>
                      <a:gd name="T20" fmla="*/ 126 w 171"/>
                      <a:gd name="T21" fmla="*/ 700 h 709"/>
                      <a:gd name="T22" fmla="*/ 134 w 171"/>
                      <a:gd name="T23" fmla="*/ 684 h 709"/>
                      <a:gd name="T24" fmla="*/ 170 w 171"/>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709">
                        <a:moveTo>
                          <a:pt x="0" y="0"/>
                        </a:moveTo>
                        <a:lnTo>
                          <a:pt x="14" y="4"/>
                        </a:lnTo>
                        <a:lnTo>
                          <a:pt x="24" y="16"/>
                        </a:lnTo>
                        <a:lnTo>
                          <a:pt x="28" y="33"/>
                        </a:lnTo>
                        <a:lnTo>
                          <a:pt x="31" y="59"/>
                        </a:lnTo>
                        <a:lnTo>
                          <a:pt x="85" y="651"/>
                        </a:lnTo>
                        <a:lnTo>
                          <a:pt x="90" y="684"/>
                        </a:lnTo>
                        <a:lnTo>
                          <a:pt x="95" y="694"/>
                        </a:lnTo>
                        <a:lnTo>
                          <a:pt x="106" y="704"/>
                        </a:lnTo>
                        <a:lnTo>
                          <a:pt x="115" y="708"/>
                        </a:lnTo>
                        <a:lnTo>
                          <a:pt x="126" y="700"/>
                        </a:lnTo>
                        <a:lnTo>
                          <a:pt x="134" y="684"/>
                        </a:lnTo>
                        <a:lnTo>
                          <a:pt x="170" y="38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grpSp>
          </p:grpSp>
          <p:sp>
            <p:nvSpPr>
              <p:cNvPr id="89" name="Freeform 149">
                <a:extLst>
                  <a:ext uri="{FF2B5EF4-FFF2-40B4-BE49-F238E27FC236}">
                    <a16:creationId xmlns:a16="http://schemas.microsoft.com/office/drawing/2014/main" id="{F554592E-04D6-3508-3CC2-E3AA5BCBBB35}"/>
                  </a:ext>
                </a:extLst>
              </p:cNvPr>
              <p:cNvSpPr>
                <a:spLocks/>
              </p:cNvSpPr>
              <p:nvPr/>
            </p:nvSpPr>
            <p:spPr bwMode="auto">
              <a:xfrm>
                <a:off x="3494" y="1028"/>
                <a:ext cx="50" cy="151"/>
              </a:xfrm>
              <a:custGeom>
                <a:avLst/>
                <a:gdLst>
                  <a:gd name="T0" fmla="*/ 0 w 71"/>
                  <a:gd name="T1" fmla="*/ 309 h 309"/>
                  <a:gd name="T2" fmla="*/ 46 w 71"/>
                  <a:gd name="T3" fmla="*/ 40 h 309"/>
                  <a:gd name="T4" fmla="*/ 48 w 71"/>
                  <a:gd name="T5" fmla="*/ 28 h 309"/>
                  <a:gd name="T6" fmla="*/ 50 w 71"/>
                  <a:gd name="T7" fmla="*/ 19 h 309"/>
                  <a:gd name="T8" fmla="*/ 54 w 71"/>
                  <a:gd name="T9" fmla="*/ 11 h 309"/>
                  <a:gd name="T10" fmla="*/ 61 w 71"/>
                  <a:gd name="T11" fmla="*/ 4 h 309"/>
                  <a:gd name="T12" fmla="*/ 71 w 71"/>
                  <a:gd name="T13" fmla="*/ 0 h 309"/>
                </a:gdLst>
                <a:ahLst/>
                <a:cxnLst>
                  <a:cxn ang="0">
                    <a:pos x="T0" y="T1"/>
                  </a:cxn>
                  <a:cxn ang="0">
                    <a:pos x="T2" y="T3"/>
                  </a:cxn>
                  <a:cxn ang="0">
                    <a:pos x="T4" y="T5"/>
                  </a:cxn>
                  <a:cxn ang="0">
                    <a:pos x="T6" y="T7"/>
                  </a:cxn>
                  <a:cxn ang="0">
                    <a:pos x="T8" y="T9"/>
                  </a:cxn>
                  <a:cxn ang="0">
                    <a:pos x="T10" y="T11"/>
                  </a:cxn>
                  <a:cxn ang="0">
                    <a:pos x="T12" y="T13"/>
                  </a:cxn>
                </a:cxnLst>
                <a:rect l="0" t="0" r="r" b="b"/>
                <a:pathLst>
                  <a:path w="71" h="309">
                    <a:moveTo>
                      <a:pt x="0" y="309"/>
                    </a:moveTo>
                    <a:lnTo>
                      <a:pt x="46" y="40"/>
                    </a:lnTo>
                    <a:lnTo>
                      <a:pt x="48" y="28"/>
                    </a:lnTo>
                    <a:lnTo>
                      <a:pt x="50" y="19"/>
                    </a:lnTo>
                    <a:lnTo>
                      <a:pt x="54" y="11"/>
                    </a:lnTo>
                    <a:lnTo>
                      <a:pt x="61" y="4"/>
                    </a:lnTo>
                    <a:lnTo>
                      <a:pt x="71" y="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90" name="Freeform 150">
                <a:extLst>
                  <a:ext uri="{FF2B5EF4-FFF2-40B4-BE49-F238E27FC236}">
                    <a16:creationId xmlns:a16="http://schemas.microsoft.com/office/drawing/2014/main" id="{7E6DE207-D6BB-CB4F-CF6B-A5F49EEC9024}"/>
                  </a:ext>
                </a:extLst>
              </p:cNvPr>
              <p:cNvSpPr>
                <a:spLocks/>
              </p:cNvSpPr>
              <p:nvPr/>
            </p:nvSpPr>
            <p:spPr bwMode="auto">
              <a:xfrm>
                <a:off x="3546" y="1029"/>
                <a:ext cx="120" cy="259"/>
              </a:xfrm>
              <a:custGeom>
                <a:avLst/>
                <a:gdLst>
                  <a:gd name="T0" fmla="*/ 0 w 170"/>
                  <a:gd name="T1" fmla="*/ 0 h 530"/>
                  <a:gd name="T2" fmla="*/ 14 w 170"/>
                  <a:gd name="T3" fmla="*/ 3 h 530"/>
                  <a:gd name="T4" fmla="*/ 24 w 170"/>
                  <a:gd name="T5" fmla="*/ 12 h 530"/>
                  <a:gd name="T6" fmla="*/ 27 w 170"/>
                  <a:gd name="T7" fmla="*/ 25 h 530"/>
                  <a:gd name="T8" fmla="*/ 30 w 170"/>
                  <a:gd name="T9" fmla="*/ 44 h 530"/>
                  <a:gd name="T10" fmla="*/ 84 w 170"/>
                  <a:gd name="T11" fmla="*/ 488 h 530"/>
                  <a:gd name="T12" fmla="*/ 89 w 170"/>
                  <a:gd name="T13" fmla="*/ 512 h 530"/>
                  <a:gd name="T14" fmla="*/ 93 w 170"/>
                  <a:gd name="T15" fmla="*/ 520 h 530"/>
                  <a:gd name="T16" fmla="*/ 104 w 170"/>
                  <a:gd name="T17" fmla="*/ 527 h 530"/>
                  <a:gd name="T18" fmla="*/ 113 w 170"/>
                  <a:gd name="T19" fmla="*/ 530 h 530"/>
                  <a:gd name="T20" fmla="*/ 124 w 170"/>
                  <a:gd name="T21" fmla="*/ 524 h 530"/>
                  <a:gd name="T22" fmla="*/ 132 w 170"/>
                  <a:gd name="T23" fmla="*/ 512 h 530"/>
                  <a:gd name="T24" fmla="*/ 170 w 170"/>
                  <a:gd name="T25" fmla="*/ 267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0" h="530">
                    <a:moveTo>
                      <a:pt x="0" y="0"/>
                    </a:moveTo>
                    <a:lnTo>
                      <a:pt x="14" y="3"/>
                    </a:lnTo>
                    <a:lnTo>
                      <a:pt x="24" y="12"/>
                    </a:lnTo>
                    <a:lnTo>
                      <a:pt x="27" y="25"/>
                    </a:lnTo>
                    <a:lnTo>
                      <a:pt x="30" y="44"/>
                    </a:lnTo>
                    <a:lnTo>
                      <a:pt x="84" y="488"/>
                    </a:lnTo>
                    <a:lnTo>
                      <a:pt x="89" y="512"/>
                    </a:lnTo>
                    <a:lnTo>
                      <a:pt x="93" y="520"/>
                    </a:lnTo>
                    <a:lnTo>
                      <a:pt x="104" y="527"/>
                    </a:lnTo>
                    <a:lnTo>
                      <a:pt x="113" y="530"/>
                    </a:lnTo>
                    <a:lnTo>
                      <a:pt x="124" y="524"/>
                    </a:lnTo>
                    <a:lnTo>
                      <a:pt x="132" y="512"/>
                    </a:lnTo>
                    <a:lnTo>
                      <a:pt x="170" y="267"/>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grpSp>
            <p:nvGrpSpPr>
              <p:cNvPr id="91" name="Group 151">
                <a:extLst>
                  <a:ext uri="{FF2B5EF4-FFF2-40B4-BE49-F238E27FC236}">
                    <a16:creationId xmlns:a16="http://schemas.microsoft.com/office/drawing/2014/main" id="{BFCCECFD-48A8-7057-4060-DB83E7AE3FB8}"/>
                  </a:ext>
                </a:extLst>
              </p:cNvPr>
              <p:cNvGrpSpPr>
                <a:grpSpLocks/>
              </p:cNvGrpSpPr>
              <p:nvPr/>
            </p:nvGrpSpPr>
            <p:grpSpPr bwMode="auto">
              <a:xfrm>
                <a:off x="3666" y="1028"/>
                <a:ext cx="170" cy="261"/>
                <a:chOff x="5031" y="3244"/>
                <a:chExt cx="238" cy="713"/>
              </a:xfrm>
            </p:grpSpPr>
            <p:sp>
              <p:nvSpPr>
                <p:cNvPr id="92" name="Freeform 152">
                  <a:extLst>
                    <a:ext uri="{FF2B5EF4-FFF2-40B4-BE49-F238E27FC236}">
                      <a16:creationId xmlns:a16="http://schemas.microsoft.com/office/drawing/2014/main" id="{180508D7-FA2E-B7A5-7A7A-BB1D1D5F16FA}"/>
                    </a:ext>
                  </a:extLst>
                </p:cNvPr>
                <p:cNvSpPr>
                  <a:spLocks/>
                </p:cNvSpPr>
                <p:nvPr/>
              </p:nvSpPr>
              <p:spPr bwMode="auto">
                <a:xfrm>
                  <a:off x="5031" y="3244"/>
                  <a:ext cx="69" cy="363"/>
                </a:xfrm>
                <a:custGeom>
                  <a:avLst/>
                  <a:gdLst>
                    <a:gd name="T0" fmla="*/ 0 w 69"/>
                    <a:gd name="T1" fmla="*/ 362 h 363"/>
                    <a:gd name="T2" fmla="*/ 42 w 69"/>
                    <a:gd name="T3" fmla="*/ 54 h 363"/>
                    <a:gd name="T4" fmla="*/ 45 w 69"/>
                    <a:gd name="T5" fmla="*/ 38 h 363"/>
                    <a:gd name="T6" fmla="*/ 47 w 69"/>
                    <a:gd name="T7" fmla="*/ 25 h 363"/>
                    <a:gd name="T8" fmla="*/ 50 w 69"/>
                    <a:gd name="T9" fmla="*/ 15 h 363"/>
                    <a:gd name="T10" fmla="*/ 58 w 69"/>
                    <a:gd name="T11" fmla="*/ 6 h 363"/>
                    <a:gd name="T12" fmla="*/ 68 w 69"/>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9" h="363">
                      <a:moveTo>
                        <a:pt x="0" y="362"/>
                      </a:moveTo>
                      <a:lnTo>
                        <a:pt x="42" y="54"/>
                      </a:lnTo>
                      <a:lnTo>
                        <a:pt x="45" y="38"/>
                      </a:lnTo>
                      <a:lnTo>
                        <a:pt x="47" y="25"/>
                      </a:lnTo>
                      <a:lnTo>
                        <a:pt x="50" y="15"/>
                      </a:lnTo>
                      <a:lnTo>
                        <a:pt x="58" y="6"/>
                      </a:lnTo>
                      <a:lnTo>
                        <a:pt x="68" y="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93" name="Freeform 153">
                  <a:extLst>
                    <a:ext uri="{FF2B5EF4-FFF2-40B4-BE49-F238E27FC236}">
                      <a16:creationId xmlns:a16="http://schemas.microsoft.com/office/drawing/2014/main" id="{0CEEE36F-6630-3E03-3630-CF3635F5A7C2}"/>
                    </a:ext>
                  </a:extLst>
                </p:cNvPr>
                <p:cNvSpPr>
                  <a:spLocks/>
                </p:cNvSpPr>
                <p:nvPr/>
              </p:nvSpPr>
              <p:spPr bwMode="auto">
                <a:xfrm>
                  <a:off x="5101" y="3248"/>
                  <a:ext cx="168" cy="709"/>
                </a:xfrm>
                <a:custGeom>
                  <a:avLst/>
                  <a:gdLst>
                    <a:gd name="T0" fmla="*/ 0 w 168"/>
                    <a:gd name="T1" fmla="*/ 0 h 709"/>
                    <a:gd name="T2" fmla="*/ 14 w 168"/>
                    <a:gd name="T3" fmla="*/ 4 h 709"/>
                    <a:gd name="T4" fmla="*/ 24 w 168"/>
                    <a:gd name="T5" fmla="*/ 16 h 709"/>
                    <a:gd name="T6" fmla="*/ 27 w 168"/>
                    <a:gd name="T7" fmla="*/ 33 h 709"/>
                    <a:gd name="T8" fmla="*/ 30 w 168"/>
                    <a:gd name="T9" fmla="*/ 59 h 709"/>
                    <a:gd name="T10" fmla="*/ 84 w 168"/>
                    <a:gd name="T11" fmla="*/ 651 h 709"/>
                    <a:gd name="T12" fmla="*/ 89 w 168"/>
                    <a:gd name="T13" fmla="*/ 684 h 709"/>
                    <a:gd name="T14" fmla="*/ 93 w 168"/>
                    <a:gd name="T15" fmla="*/ 694 h 709"/>
                    <a:gd name="T16" fmla="*/ 104 w 168"/>
                    <a:gd name="T17" fmla="*/ 704 h 709"/>
                    <a:gd name="T18" fmla="*/ 113 w 168"/>
                    <a:gd name="T19" fmla="*/ 708 h 709"/>
                    <a:gd name="T20" fmla="*/ 124 w 168"/>
                    <a:gd name="T21" fmla="*/ 700 h 709"/>
                    <a:gd name="T22" fmla="*/ 132 w 168"/>
                    <a:gd name="T23" fmla="*/ 684 h 709"/>
                    <a:gd name="T24" fmla="*/ 167 w 168"/>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grpSp>
        </p:grpSp>
        <p:grpSp>
          <p:nvGrpSpPr>
            <p:cNvPr id="22" name="Group 174">
              <a:extLst>
                <a:ext uri="{FF2B5EF4-FFF2-40B4-BE49-F238E27FC236}">
                  <a16:creationId xmlns:a16="http://schemas.microsoft.com/office/drawing/2014/main" id="{4F76B4D6-FF67-682C-C610-37C7652E02F7}"/>
                </a:ext>
              </a:extLst>
            </p:cNvPr>
            <p:cNvGrpSpPr>
              <a:grpSpLocks/>
            </p:cNvGrpSpPr>
            <p:nvPr/>
          </p:nvGrpSpPr>
          <p:grpSpPr bwMode="auto">
            <a:xfrm>
              <a:off x="2505434" y="1872945"/>
              <a:ext cx="4857750" cy="415925"/>
              <a:chOff x="774" y="319"/>
              <a:chExt cx="3060" cy="262"/>
            </a:xfrm>
          </p:grpSpPr>
          <p:sp>
            <p:nvSpPr>
              <p:cNvPr id="23" name="Freeform 15">
                <a:extLst>
                  <a:ext uri="{FF2B5EF4-FFF2-40B4-BE49-F238E27FC236}">
                    <a16:creationId xmlns:a16="http://schemas.microsoft.com/office/drawing/2014/main" id="{BA22D3F9-7B90-6FAB-0937-373359BF88E1}"/>
                  </a:ext>
                </a:extLst>
              </p:cNvPr>
              <p:cNvSpPr>
                <a:spLocks/>
              </p:cNvSpPr>
              <p:nvPr/>
            </p:nvSpPr>
            <p:spPr bwMode="auto">
              <a:xfrm>
                <a:off x="774" y="456"/>
                <a:ext cx="338" cy="0"/>
              </a:xfrm>
              <a:custGeom>
                <a:avLst/>
                <a:gdLst>
                  <a:gd name="T0" fmla="*/ 0 w 475"/>
                  <a:gd name="T1" fmla="*/ 0 h 1"/>
                  <a:gd name="T2" fmla="*/ 475 w 475"/>
                  <a:gd name="T3" fmla="*/ 1 h 1"/>
                </a:gdLst>
                <a:ahLst/>
                <a:cxnLst>
                  <a:cxn ang="0">
                    <a:pos x="T0" y="T1"/>
                  </a:cxn>
                  <a:cxn ang="0">
                    <a:pos x="T2" y="T3"/>
                  </a:cxn>
                </a:cxnLst>
                <a:rect l="0" t="0" r="r" b="b"/>
                <a:pathLst>
                  <a:path w="475" h="1">
                    <a:moveTo>
                      <a:pt x="0" y="0"/>
                    </a:moveTo>
                    <a:lnTo>
                      <a:pt x="475" y="1"/>
                    </a:lnTo>
                  </a:path>
                </a:pathLst>
              </a:custGeom>
              <a:noFill/>
              <a:ln w="19050" cmpd="sng">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24" name="Freeform 16">
                <a:extLst>
                  <a:ext uri="{FF2B5EF4-FFF2-40B4-BE49-F238E27FC236}">
                    <a16:creationId xmlns:a16="http://schemas.microsoft.com/office/drawing/2014/main" id="{52E740FF-2931-631D-23BB-BFE99CAE28F8}"/>
                  </a:ext>
                </a:extLst>
              </p:cNvPr>
              <p:cNvSpPr>
                <a:spLocks/>
              </p:cNvSpPr>
              <p:nvPr/>
            </p:nvSpPr>
            <p:spPr bwMode="auto">
              <a:xfrm>
                <a:off x="1452" y="455"/>
                <a:ext cx="688" cy="1"/>
              </a:xfrm>
              <a:custGeom>
                <a:avLst/>
                <a:gdLst>
                  <a:gd name="T0" fmla="*/ 0 w 969"/>
                  <a:gd name="T1" fmla="*/ 3 h 3"/>
                  <a:gd name="T2" fmla="*/ 969 w 969"/>
                  <a:gd name="T3" fmla="*/ 0 h 3"/>
                </a:gdLst>
                <a:ahLst/>
                <a:cxnLst>
                  <a:cxn ang="0">
                    <a:pos x="T0" y="T1"/>
                  </a:cxn>
                  <a:cxn ang="0">
                    <a:pos x="T2" y="T3"/>
                  </a:cxn>
                </a:cxnLst>
                <a:rect l="0" t="0" r="r" b="b"/>
                <a:pathLst>
                  <a:path w="969" h="3">
                    <a:moveTo>
                      <a:pt x="0" y="3"/>
                    </a:moveTo>
                    <a:lnTo>
                      <a:pt x="969" y="0"/>
                    </a:lnTo>
                  </a:path>
                </a:pathLst>
              </a:custGeom>
              <a:noFill/>
              <a:ln w="19050" cmpd="sng">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25" name="Line 17">
                <a:extLst>
                  <a:ext uri="{FF2B5EF4-FFF2-40B4-BE49-F238E27FC236}">
                    <a16:creationId xmlns:a16="http://schemas.microsoft.com/office/drawing/2014/main" id="{40C6E74B-5D1F-B4E3-2EEC-A81CDB729674}"/>
                  </a:ext>
                </a:extLst>
              </p:cNvPr>
              <p:cNvSpPr>
                <a:spLocks noChangeShapeType="1"/>
              </p:cNvSpPr>
              <p:nvPr/>
            </p:nvSpPr>
            <p:spPr bwMode="auto">
              <a:xfrm>
                <a:off x="3161" y="456"/>
                <a:ext cx="673"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26" name="Freeform 18">
                <a:extLst>
                  <a:ext uri="{FF2B5EF4-FFF2-40B4-BE49-F238E27FC236}">
                    <a16:creationId xmlns:a16="http://schemas.microsoft.com/office/drawing/2014/main" id="{577612CD-34F8-826C-7705-0CC01F91D4AE}"/>
                  </a:ext>
                </a:extLst>
              </p:cNvPr>
              <p:cNvSpPr>
                <a:spLocks/>
              </p:cNvSpPr>
              <p:nvPr/>
            </p:nvSpPr>
            <p:spPr bwMode="auto">
              <a:xfrm>
                <a:off x="2820" y="321"/>
                <a:ext cx="23" cy="133"/>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27" name="Freeform 19">
                <a:extLst>
                  <a:ext uri="{FF2B5EF4-FFF2-40B4-BE49-F238E27FC236}">
                    <a16:creationId xmlns:a16="http://schemas.microsoft.com/office/drawing/2014/main" id="{08E862E1-C6D5-B04D-9D65-E13ABADF3221}"/>
                  </a:ext>
                </a:extLst>
              </p:cNvPr>
              <p:cNvSpPr>
                <a:spLocks/>
              </p:cNvSpPr>
              <p:nvPr/>
            </p:nvSpPr>
            <p:spPr bwMode="auto">
              <a:xfrm>
                <a:off x="2843" y="322"/>
                <a:ext cx="62" cy="259"/>
              </a:xfrm>
              <a:custGeom>
                <a:avLst/>
                <a:gdLst>
                  <a:gd name="T0" fmla="*/ 0 w 88"/>
                  <a:gd name="T1" fmla="*/ 0 h 530"/>
                  <a:gd name="T2" fmla="*/ 7 w 88"/>
                  <a:gd name="T3" fmla="*/ 3 h 530"/>
                  <a:gd name="T4" fmla="*/ 12 w 88"/>
                  <a:gd name="T5" fmla="*/ 12 h 530"/>
                  <a:gd name="T6" fmla="*/ 14 w 88"/>
                  <a:gd name="T7" fmla="*/ 25 h 530"/>
                  <a:gd name="T8" fmla="*/ 15 w 88"/>
                  <a:gd name="T9" fmla="*/ 44 h 530"/>
                  <a:gd name="T10" fmla="*/ 43 w 88"/>
                  <a:gd name="T11" fmla="*/ 488 h 530"/>
                  <a:gd name="T12" fmla="*/ 45 w 88"/>
                  <a:gd name="T13" fmla="*/ 512 h 530"/>
                  <a:gd name="T14" fmla="*/ 47 w 88"/>
                  <a:gd name="T15" fmla="*/ 520 h 530"/>
                  <a:gd name="T16" fmla="*/ 53 w 88"/>
                  <a:gd name="T17" fmla="*/ 527 h 530"/>
                  <a:gd name="T18" fmla="*/ 57 w 88"/>
                  <a:gd name="T19" fmla="*/ 530 h 530"/>
                  <a:gd name="T20" fmla="*/ 63 w 88"/>
                  <a:gd name="T21" fmla="*/ 524 h 530"/>
                  <a:gd name="T22" fmla="*/ 67 w 88"/>
                  <a:gd name="T23" fmla="*/ 512 h 530"/>
                  <a:gd name="T24" fmla="*/ 88 w 88"/>
                  <a:gd name="T25" fmla="*/ 271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8" y="271"/>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28" name="Freeform 20">
                <a:extLst>
                  <a:ext uri="{FF2B5EF4-FFF2-40B4-BE49-F238E27FC236}">
                    <a16:creationId xmlns:a16="http://schemas.microsoft.com/office/drawing/2014/main" id="{3A04D9BD-71AF-A4C9-B589-779AAEBD7F93}"/>
                  </a:ext>
                </a:extLst>
              </p:cNvPr>
              <p:cNvSpPr>
                <a:spLocks/>
              </p:cNvSpPr>
              <p:nvPr/>
            </p:nvSpPr>
            <p:spPr bwMode="auto">
              <a:xfrm>
                <a:off x="2904" y="321"/>
                <a:ext cx="22" cy="133"/>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29" name="Freeform 21">
                <a:extLst>
                  <a:ext uri="{FF2B5EF4-FFF2-40B4-BE49-F238E27FC236}">
                    <a16:creationId xmlns:a16="http://schemas.microsoft.com/office/drawing/2014/main" id="{EF85AD26-C4D1-55EB-DBEE-F2DF2CEF55D1}"/>
                  </a:ext>
                </a:extLst>
              </p:cNvPr>
              <p:cNvSpPr>
                <a:spLocks/>
              </p:cNvSpPr>
              <p:nvPr/>
            </p:nvSpPr>
            <p:spPr bwMode="auto">
              <a:xfrm>
                <a:off x="2926" y="322"/>
                <a:ext cx="60" cy="259"/>
              </a:xfrm>
              <a:custGeom>
                <a:avLst/>
                <a:gdLst>
                  <a:gd name="T0" fmla="*/ 0 w 84"/>
                  <a:gd name="T1" fmla="*/ 0 h 530"/>
                  <a:gd name="T2" fmla="*/ 7 w 84"/>
                  <a:gd name="T3" fmla="*/ 3 h 530"/>
                  <a:gd name="T4" fmla="*/ 12 w 84"/>
                  <a:gd name="T5" fmla="*/ 12 h 530"/>
                  <a:gd name="T6" fmla="*/ 14 w 84"/>
                  <a:gd name="T7" fmla="*/ 25 h 530"/>
                  <a:gd name="T8" fmla="*/ 15 w 84"/>
                  <a:gd name="T9" fmla="*/ 44 h 530"/>
                  <a:gd name="T10" fmla="*/ 42 w 84"/>
                  <a:gd name="T11" fmla="*/ 488 h 530"/>
                  <a:gd name="T12" fmla="*/ 45 w 84"/>
                  <a:gd name="T13" fmla="*/ 512 h 530"/>
                  <a:gd name="T14" fmla="*/ 47 w 84"/>
                  <a:gd name="T15" fmla="*/ 520 h 530"/>
                  <a:gd name="T16" fmla="*/ 52 w 84"/>
                  <a:gd name="T17" fmla="*/ 527 h 530"/>
                  <a:gd name="T18" fmla="*/ 57 w 84"/>
                  <a:gd name="T19" fmla="*/ 530 h 530"/>
                  <a:gd name="T20" fmla="*/ 62 w 84"/>
                  <a:gd name="T21" fmla="*/ 524 h 530"/>
                  <a:gd name="T22" fmla="*/ 66 w 84"/>
                  <a:gd name="T23" fmla="*/ 512 h 530"/>
                  <a:gd name="T24" fmla="*/ 84 w 84"/>
                  <a:gd name="T25" fmla="*/ 271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84" y="271"/>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grpSp>
            <p:nvGrpSpPr>
              <p:cNvPr id="30" name="Group 22">
                <a:extLst>
                  <a:ext uri="{FF2B5EF4-FFF2-40B4-BE49-F238E27FC236}">
                    <a16:creationId xmlns:a16="http://schemas.microsoft.com/office/drawing/2014/main" id="{263B546B-6283-BB35-8472-AC1756606876}"/>
                  </a:ext>
                </a:extLst>
              </p:cNvPr>
              <p:cNvGrpSpPr>
                <a:grpSpLocks/>
              </p:cNvGrpSpPr>
              <p:nvPr/>
            </p:nvGrpSpPr>
            <p:grpSpPr bwMode="auto">
              <a:xfrm>
                <a:off x="2987" y="319"/>
                <a:ext cx="84" cy="261"/>
                <a:chOff x="4075" y="1309"/>
                <a:chExt cx="118" cy="713"/>
              </a:xfrm>
            </p:grpSpPr>
            <p:sp>
              <p:nvSpPr>
                <p:cNvPr id="65" name="Freeform 23">
                  <a:extLst>
                    <a:ext uri="{FF2B5EF4-FFF2-40B4-BE49-F238E27FC236}">
                      <a16:creationId xmlns:a16="http://schemas.microsoft.com/office/drawing/2014/main" id="{F2EDD192-F6CF-F0C2-BC3B-A3907182111F}"/>
                    </a:ext>
                  </a:extLst>
                </p:cNvPr>
                <p:cNvSpPr>
                  <a:spLocks/>
                </p:cNvSpPr>
                <p:nvPr/>
              </p:nvSpPr>
              <p:spPr bwMode="auto">
                <a:xfrm>
                  <a:off x="4075" y="1309"/>
                  <a:ext cx="34" cy="363"/>
                </a:xfrm>
                <a:custGeom>
                  <a:avLst/>
                  <a:gdLst>
                    <a:gd name="T0" fmla="*/ 0 w 34"/>
                    <a:gd name="T1" fmla="*/ 362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66" name="Freeform 24">
                  <a:extLst>
                    <a:ext uri="{FF2B5EF4-FFF2-40B4-BE49-F238E27FC236}">
                      <a16:creationId xmlns:a16="http://schemas.microsoft.com/office/drawing/2014/main" id="{D7C6C818-BC05-5C02-EE4F-5BF5727ECC70}"/>
                    </a:ext>
                  </a:extLst>
                </p:cNvPr>
                <p:cNvSpPr>
                  <a:spLocks/>
                </p:cNvSpPr>
                <p:nvPr/>
              </p:nvSpPr>
              <p:spPr bwMode="auto">
                <a:xfrm>
                  <a:off x="4109" y="131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grpSp>
          <p:sp>
            <p:nvSpPr>
              <p:cNvPr id="31" name="Freeform 25">
                <a:extLst>
                  <a:ext uri="{FF2B5EF4-FFF2-40B4-BE49-F238E27FC236}">
                    <a16:creationId xmlns:a16="http://schemas.microsoft.com/office/drawing/2014/main" id="{27050380-9167-1FC6-7B31-41DBCE330E7B}"/>
                  </a:ext>
                </a:extLst>
              </p:cNvPr>
              <p:cNvSpPr>
                <a:spLocks/>
              </p:cNvSpPr>
              <p:nvPr/>
            </p:nvSpPr>
            <p:spPr bwMode="auto">
              <a:xfrm>
                <a:off x="3071" y="319"/>
                <a:ext cx="25" cy="133"/>
              </a:xfrm>
              <a:custGeom>
                <a:avLst/>
                <a:gdLst>
                  <a:gd name="T0" fmla="*/ 0 w 35"/>
                  <a:gd name="T1" fmla="*/ 362 h 363"/>
                  <a:gd name="T2" fmla="*/ 21 w 35"/>
                  <a:gd name="T3" fmla="*/ 54 h 363"/>
                  <a:gd name="T4" fmla="*/ 22 w 35"/>
                  <a:gd name="T5" fmla="*/ 38 h 363"/>
                  <a:gd name="T6" fmla="*/ 23 w 35"/>
                  <a:gd name="T7" fmla="*/ 25 h 363"/>
                  <a:gd name="T8" fmla="*/ 25 w 35"/>
                  <a:gd name="T9" fmla="*/ 15 h 363"/>
                  <a:gd name="T10" fmla="*/ 29 w 35"/>
                  <a:gd name="T11" fmla="*/ 6 h 363"/>
                  <a:gd name="T12" fmla="*/ 34 w 3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32" name="Freeform 26">
                <a:extLst>
                  <a:ext uri="{FF2B5EF4-FFF2-40B4-BE49-F238E27FC236}">
                    <a16:creationId xmlns:a16="http://schemas.microsoft.com/office/drawing/2014/main" id="{C30E49F0-08D6-3694-BA0D-ECEB220E6BE6}"/>
                  </a:ext>
                </a:extLst>
              </p:cNvPr>
              <p:cNvSpPr>
                <a:spLocks/>
              </p:cNvSpPr>
              <p:nvPr/>
            </p:nvSpPr>
            <p:spPr bwMode="auto">
              <a:xfrm>
                <a:off x="3096" y="320"/>
                <a:ext cx="59" cy="259"/>
              </a:xfrm>
              <a:custGeom>
                <a:avLst/>
                <a:gdLst>
                  <a:gd name="T0" fmla="*/ 0 w 83"/>
                  <a:gd name="T1" fmla="*/ 0 h 530"/>
                  <a:gd name="T2" fmla="*/ 7 w 83"/>
                  <a:gd name="T3" fmla="*/ 3 h 530"/>
                  <a:gd name="T4" fmla="*/ 12 w 83"/>
                  <a:gd name="T5" fmla="*/ 12 h 530"/>
                  <a:gd name="T6" fmla="*/ 13 w 83"/>
                  <a:gd name="T7" fmla="*/ 25 h 530"/>
                  <a:gd name="T8" fmla="*/ 15 w 83"/>
                  <a:gd name="T9" fmla="*/ 44 h 530"/>
                  <a:gd name="T10" fmla="*/ 42 w 83"/>
                  <a:gd name="T11" fmla="*/ 488 h 530"/>
                  <a:gd name="T12" fmla="*/ 44 w 83"/>
                  <a:gd name="T13" fmla="*/ 512 h 530"/>
                  <a:gd name="T14" fmla="*/ 46 w 83"/>
                  <a:gd name="T15" fmla="*/ 520 h 530"/>
                  <a:gd name="T16" fmla="*/ 52 w 83"/>
                  <a:gd name="T17" fmla="*/ 527 h 530"/>
                  <a:gd name="T18" fmla="*/ 56 w 83"/>
                  <a:gd name="T19" fmla="*/ 530 h 530"/>
                  <a:gd name="T20" fmla="*/ 62 w 83"/>
                  <a:gd name="T21" fmla="*/ 524 h 530"/>
                  <a:gd name="T22" fmla="*/ 65 w 83"/>
                  <a:gd name="T23" fmla="*/ 512 h 530"/>
                  <a:gd name="T24" fmla="*/ 83 w 83"/>
                  <a:gd name="T25" fmla="*/ 278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3"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83" y="278"/>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33" name="Freeform 27">
                <a:extLst>
                  <a:ext uri="{FF2B5EF4-FFF2-40B4-BE49-F238E27FC236}">
                    <a16:creationId xmlns:a16="http://schemas.microsoft.com/office/drawing/2014/main" id="{A314DE7F-E48A-4502-31C1-E3D32FFF6754}"/>
                  </a:ext>
                </a:extLst>
              </p:cNvPr>
              <p:cNvSpPr>
                <a:spLocks/>
              </p:cNvSpPr>
              <p:nvPr/>
            </p:nvSpPr>
            <p:spPr bwMode="auto">
              <a:xfrm>
                <a:off x="2482" y="321"/>
                <a:ext cx="23" cy="133"/>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34" name="Freeform 28">
                <a:extLst>
                  <a:ext uri="{FF2B5EF4-FFF2-40B4-BE49-F238E27FC236}">
                    <a16:creationId xmlns:a16="http://schemas.microsoft.com/office/drawing/2014/main" id="{CC507403-60BD-E739-CDAB-4A22CDD53D97}"/>
                  </a:ext>
                </a:extLst>
              </p:cNvPr>
              <p:cNvSpPr>
                <a:spLocks/>
              </p:cNvSpPr>
              <p:nvPr/>
            </p:nvSpPr>
            <p:spPr bwMode="auto">
              <a:xfrm>
                <a:off x="2505" y="322"/>
                <a:ext cx="61" cy="259"/>
              </a:xfrm>
              <a:custGeom>
                <a:avLst/>
                <a:gdLst>
                  <a:gd name="T0" fmla="*/ 0 w 86"/>
                  <a:gd name="T1" fmla="*/ 0 h 530"/>
                  <a:gd name="T2" fmla="*/ 7 w 86"/>
                  <a:gd name="T3" fmla="*/ 3 h 530"/>
                  <a:gd name="T4" fmla="*/ 12 w 86"/>
                  <a:gd name="T5" fmla="*/ 12 h 530"/>
                  <a:gd name="T6" fmla="*/ 14 w 86"/>
                  <a:gd name="T7" fmla="*/ 25 h 530"/>
                  <a:gd name="T8" fmla="*/ 15 w 86"/>
                  <a:gd name="T9" fmla="*/ 44 h 530"/>
                  <a:gd name="T10" fmla="*/ 43 w 86"/>
                  <a:gd name="T11" fmla="*/ 488 h 530"/>
                  <a:gd name="T12" fmla="*/ 45 w 86"/>
                  <a:gd name="T13" fmla="*/ 512 h 530"/>
                  <a:gd name="T14" fmla="*/ 47 w 86"/>
                  <a:gd name="T15" fmla="*/ 520 h 530"/>
                  <a:gd name="T16" fmla="*/ 53 w 86"/>
                  <a:gd name="T17" fmla="*/ 527 h 530"/>
                  <a:gd name="T18" fmla="*/ 57 w 86"/>
                  <a:gd name="T19" fmla="*/ 530 h 530"/>
                  <a:gd name="T20" fmla="*/ 63 w 86"/>
                  <a:gd name="T21" fmla="*/ 524 h 530"/>
                  <a:gd name="T22" fmla="*/ 67 w 86"/>
                  <a:gd name="T23" fmla="*/ 512 h 530"/>
                  <a:gd name="T24" fmla="*/ 86 w 86"/>
                  <a:gd name="T25" fmla="*/ 268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6" y="268"/>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35" name="Freeform 29">
                <a:extLst>
                  <a:ext uri="{FF2B5EF4-FFF2-40B4-BE49-F238E27FC236}">
                    <a16:creationId xmlns:a16="http://schemas.microsoft.com/office/drawing/2014/main" id="{611D6081-428F-C78F-901A-2541BCDDB55A}"/>
                  </a:ext>
                </a:extLst>
              </p:cNvPr>
              <p:cNvSpPr>
                <a:spLocks/>
              </p:cNvSpPr>
              <p:nvPr/>
            </p:nvSpPr>
            <p:spPr bwMode="auto">
              <a:xfrm>
                <a:off x="2566" y="321"/>
                <a:ext cx="23" cy="133"/>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36" name="Freeform 30">
                <a:extLst>
                  <a:ext uri="{FF2B5EF4-FFF2-40B4-BE49-F238E27FC236}">
                    <a16:creationId xmlns:a16="http://schemas.microsoft.com/office/drawing/2014/main" id="{1BB40333-7327-064D-A477-D519F94F3139}"/>
                  </a:ext>
                </a:extLst>
              </p:cNvPr>
              <p:cNvSpPr>
                <a:spLocks/>
              </p:cNvSpPr>
              <p:nvPr/>
            </p:nvSpPr>
            <p:spPr bwMode="auto">
              <a:xfrm>
                <a:off x="2589" y="322"/>
                <a:ext cx="60" cy="259"/>
              </a:xfrm>
              <a:custGeom>
                <a:avLst/>
                <a:gdLst>
                  <a:gd name="T0" fmla="*/ 0 w 85"/>
                  <a:gd name="T1" fmla="*/ 0 h 530"/>
                  <a:gd name="T2" fmla="*/ 7 w 85"/>
                  <a:gd name="T3" fmla="*/ 3 h 530"/>
                  <a:gd name="T4" fmla="*/ 12 w 85"/>
                  <a:gd name="T5" fmla="*/ 12 h 530"/>
                  <a:gd name="T6" fmla="*/ 14 w 85"/>
                  <a:gd name="T7" fmla="*/ 25 h 530"/>
                  <a:gd name="T8" fmla="*/ 15 w 85"/>
                  <a:gd name="T9" fmla="*/ 44 h 530"/>
                  <a:gd name="T10" fmla="*/ 42 w 85"/>
                  <a:gd name="T11" fmla="*/ 488 h 530"/>
                  <a:gd name="T12" fmla="*/ 45 w 85"/>
                  <a:gd name="T13" fmla="*/ 512 h 530"/>
                  <a:gd name="T14" fmla="*/ 47 w 85"/>
                  <a:gd name="T15" fmla="*/ 520 h 530"/>
                  <a:gd name="T16" fmla="*/ 52 w 85"/>
                  <a:gd name="T17" fmla="*/ 527 h 530"/>
                  <a:gd name="T18" fmla="*/ 57 w 85"/>
                  <a:gd name="T19" fmla="*/ 530 h 530"/>
                  <a:gd name="T20" fmla="*/ 62 w 85"/>
                  <a:gd name="T21" fmla="*/ 524 h 530"/>
                  <a:gd name="T22" fmla="*/ 66 w 85"/>
                  <a:gd name="T23" fmla="*/ 512 h 530"/>
                  <a:gd name="T24" fmla="*/ 85 w 85"/>
                  <a:gd name="T25" fmla="*/ 271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85" y="271"/>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grpSp>
            <p:nvGrpSpPr>
              <p:cNvPr id="37" name="Group 31">
                <a:extLst>
                  <a:ext uri="{FF2B5EF4-FFF2-40B4-BE49-F238E27FC236}">
                    <a16:creationId xmlns:a16="http://schemas.microsoft.com/office/drawing/2014/main" id="{A75BDF84-CCFE-0642-B7E1-59D21E8B9402}"/>
                  </a:ext>
                </a:extLst>
              </p:cNvPr>
              <p:cNvGrpSpPr>
                <a:grpSpLocks/>
              </p:cNvGrpSpPr>
              <p:nvPr/>
            </p:nvGrpSpPr>
            <p:grpSpPr bwMode="auto">
              <a:xfrm>
                <a:off x="2649" y="319"/>
                <a:ext cx="169" cy="261"/>
                <a:chOff x="3600" y="1309"/>
                <a:chExt cx="237" cy="713"/>
              </a:xfrm>
            </p:grpSpPr>
            <p:grpSp>
              <p:nvGrpSpPr>
                <p:cNvPr id="59" name="Group 32">
                  <a:extLst>
                    <a:ext uri="{FF2B5EF4-FFF2-40B4-BE49-F238E27FC236}">
                      <a16:creationId xmlns:a16="http://schemas.microsoft.com/office/drawing/2014/main" id="{1FB4E827-2B2F-A09C-4AA3-3A02C45EBC9C}"/>
                    </a:ext>
                  </a:extLst>
                </p:cNvPr>
                <p:cNvGrpSpPr>
                  <a:grpSpLocks/>
                </p:cNvGrpSpPr>
                <p:nvPr/>
              </p:nvGrpSpPr>
              <p:grpSpPr bwMode="auto">
                <a:xfrm>
                  <a:off x="3600" y="1309"/>
                  <a:ext cx="118" cy="713"/>
                  <a:chOff x="3600" y="1309"/>
                  <a:chExt cx="118" cy="713"/>
                </a:xfrm>
              </p:grpSpPr>
              <p:sp>
                <p:nvSpPr>
                  <p:cNvPr id="63" name="Freeform 33">
                    <a:extLst>
                      <a:ext uri="{FF2B5EF4-FFF2-40B4-BE49-F238E27FC236}">
                        <a16:creationId xmlns:a16="http://schemas.microsoft.com/office/drawing/2014/main" id="{86A299C6-8857-78EA-9488-E876D6F3B3A6}"/>
                      </a:ext>
                    </a:extLst>
                  </p:cNvPr>
                  <p:cNvSpPr>
                    <a:spLocks/>
                  </p:cNvSpPr>
                  <p:nvPr/>
                </p:nvSpPr>
                <p:spPr bwMode="auto">
                  <a:xfrm>
                    <a:off x="3600" y="1309"/>
                    <a:ext cx="34" cy="363"/>
                  </a:xfrm>
                  <a:custGeom>
                    <a:avLst/>
                    <a:gdLst>
                      <a:gd name="T0" fmla="*/ 0 w 34"/>
                      <a:gd name="T1" fmla="*/ 362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64" name="Freeform 34">
                    <a:extLst>
                      <a:ext uri="{FF2B5EF4-FFF2-40B4-BE49-F238E27FC236}">
                        <a16:creationId xmlns:a16="http://schemas.microsoft.com/office/drawing/2014/main" id="{FA49421D-579E-AE3C-9D60-8388F539F9F1}"/>
                      </a:ext>
                    </a:extLst>
                  </p:cNvPr>
                  <p:cNvSpPr>
                    <a:spLocks/>
                  </p:cNvSpPr>
                  <p:nvPr/>
                </p:nvSpPr>
                <p:spPr bwMode="auto">
                  <a:xfrm>
                    <a:off x="3634" y="131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grpSp>
            <p:grpSp>
              <p:nvGrpSpPr>
                <p:cNvPr id="60" name="Group 35">
                  <a:extLst>
                    <a:ext uri="{FF2B5EF4-FFF2-40B4-BE49-F238E27FC236}">
                      <a16:creationId xmlns:a16="http://schemas.microsoft.com/office/drawing/2014/main" id="{299377EC-A338-DD95-E1C4-C2C4FFAF7AA6}"/>
                    </a:ext>
                  </a:extLst>
                </p:cNvPr>
                <p:cNvGrpSpPr>
                  <a:grpSpLocks/>
                </p:cNvGrpSpPr>
                <p:nvPr/>
              </p:nvGrpSpPr>
              <p:grpSpPr bwMode="auto">
                <a:xfrm>
                  <a:off x="3718" y="1309"/>
                  <a:ext cx="119" cy="713"/>
                  <a:chOff x="3718" y="1309"/>
                  <a:chExt cx="119" cy="713"/>
                </a:xfrm>
              </p:grpSpPr>
              <p:sp>
                <p:nvSpPr>
                  <p:cNvPr id="61" name="Freeform 36">
                    <a:extLst>
                      <a:ext uri="{FF2B5EF4-FFF2-40B4-BE49-F238E27FC236}">
                        <a16:creationId xmlns:a16="http://schemas.microsoft.com/office/drawing/2014/main" id="{685635E9-B226-D5F0-A9FE-621F9BEB6DC3}"/>
                      </a:ext>
                    </a:extLst>
                  </p:cNvPr>
                  <p:cNvSpPr>
                    <a:spLocks/>
                  </p:cNvSpPr>
                  <p:nvPr/>
                </p:nvSpPr>
                <p:spPr bwMode="auto">
                  <a:xfrm>
                    <a:off x="3718" y="1309"/>
                    <a:ext cx="35" cy="363"/>
                  </a:xfrm>
                  <a:custGeom>
                    <a:avLst/>
                    <a:gdLst>
                      <a:gd name="T0" fmla="*/ 0 w 35"/>
                      <a:gd name="T1" fmla="*/ 362 h 363"/>
                      <a:gd name="T2" fmla="*/ 21 w 35"/>
                      <a:gd name="T3" fmla="*/ 54 h 363"/>
                      <a:gd name="T4" fmla="*/ 22 w 35"/>
                      <a:gd name="T5" fmla="*/ 38 h 363"/>
                      <a:gd name="T6" fmla="*/ 23 w 35"/>
                      <a:gd name="T7" fmla="*/ 25 h 363"/>
                      <a:gd name="T8" fmla="*/ 25 w 35"/>
                      <a:gd name="T9" fmla="*/ 15 h 363"/>
                      <a:gd name="T10" fmla="*/ 29 w 35"/>
                      <a:gd name="T11" fmla="*/ 6 h 363"/>
                      <a:gd name="T12" fmla="*/ 34 w 3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62" name="Freeform 37">
                    <a:extLst>
                      <a:ext uri="{FF2B5EF4-FFF2-40B4-BE49-F238E27FC236}">
                        <a16:creationId xmlns:a16="http://schemas.microsoft.com/office/drawing/2014/main" id="{7BFB38BB-990D-F24E-6735-8A6DAC67CDE2}"/>
                      </a:ext>
                    </a:extLst>
                  </p:cNvPr>
                  <p:cNvSpPr>
                    <a:spLocks/>
                  </p:cNvSpPr>
                  <p:nvPr/>
                </p:nvSpPr>
                <p:spPr bwMode="auto">
                  <a:xfrm>
                    <a:off x="3753" y="131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grpSp>
          </p:grpSp>
          <p:sp>
            <p:nvSpPr>
              <p:cNvPr id="38" name="Freeform 38">
                <a:extLst>
                  <a:ext uri="{FF2B5EF4-FFF2-40B4-BE49-F238E27FC236}">
                    <a16:creationId xmlns:a16="http://schemas.microsoft.com/office/drawing/2014/main" id="{35637C4D-E74C-2BAF-F075-F8A2ECD93645}"/>
                  </a:ext>
                </a:extLst>
              </p:cNvPr>
              <p:cNvSpPr>
                <a:spLocks/>
              </p:cNvSpPr>
              <p:nvPr/>
            </p:nvSpPr>
            <p:spPr bwMode="auto">
              <a:xfrm>
                <a:off x="2138" y="321"/>
                <a:ext cx="23" cy="133"/>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39" name="Freeform 39">
                <a:extLst>
                  <a:ext uri="{FF2B5EF4-FFF2-40B4-BE49-F238E27FC236}">
                    <a16:creationId xmlns:a16="http://schemas.microsoft.com/office/drawing/2014/main" id="{10324113-6AA0-20EB-01F0-455396E155FD}"/>
                  </a:ext>
                </a:extLst>
              </p:cNvPr>
              <p:cNvSpPr>
                <a:spLocks/>
              </p:cNvSpPr>
              <p:nvPr/>
            </p:nvSpPr>
            <p:spPr bwMode="auto">
              <a:xfrm>
                <a:off x="2161" y="322"/>
                <a:ext cx="62" cy="259"/>
              </a:xfrm>
              <a:custGeom>
                <a:avLst/>
                <a:gdLst>
                  <a:gd name="T0" fmla="*/ 0 w 87"/>
                  <a:gd name="T1" fmla="*/ 0 h 530"/>
                  <a:gd name="T2" fmla="*/ 7 w 87"/>
                  <a:gd name="T3" fmla="*/ 3 h 530"/>
                  <a:gd name="T4" fmla="*/ 12 w 87"/>
                  <a:gd name="T5" fmla="*/ 12 h 530"/>
                  <a:gd name="T6" fmla="*/ 14 w 87"/>
                  <a:gd name="T7" fmla="*/ 25 h 530"/>
                  <a:gd name="T8" fmla="*/ 15 w 87"/>
                  <a:gd name="T9" fmla="*/ 44 h 530"/>
                  <a:gd name="T10" fmla="*/ 43 w 87"/>
                  <a:gd name="T11" fmla="*/ 488 h 530"/>
                  <a:gd name="T12" fmla="*/ 45 w 87"/>
                  <a:gd name="T13" fmla="*/ 512 h 530"/>
                  <a:gd name="T14" fmla="*/ 47 w 87"/>
                  <a:gd name="T15" fmla="*/ 520 h 530"/>
                  <a:gd name="T16" fmla="*/ 53 w 87"/>
                  <a:gd name="T17" fmla="*/ 527 h 530"/>
                  <a:gd name="T18" fmla="*/ 57 w 87"/>
                  <a:gd name="T19" fmla="*/ 530 h 530"/>
                  <a:gd name="T20" fmla="*/ 63 w 87"/>
                  <a:gd name="T21" fmla="*/ 524 h 530"/>
                  <a:gd name="T22" fmla="*/ 67 w 87"/>
                  <a:gd name="T23" fmla="*/ 512 h 530"/>
                  <a:gd name="T24" fmla="*/ 87 w 87"/>
                  <a:gd name="T25" fmla="*/ 265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7"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7" y="265"/>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40" name="Freeform 40">
                <a:extLst>
                  <a:ext uri="{FF2B5EF4-FFF2-40B4-BE49-F238E27FC236}">
                    <a16:creationId xmlns:a16="http://schemas.microsoft.com/office/drawing/2014/main" id="{B305BF1E-B5BE-56E9-A258-4F80D6908FEA}"/>
                  </a:ext>
                </a:extLst>
              </p:cNvPr>
              <p:cNvSpPr>
                <a:spLocks/>
              </p:cNvSpPr>
              <p:nvPr/>
            </p:nvSpPr>
            <p:spPr bwMode="auto">
              <a:xfrm>
                <a:off x="2222" y="321"/>
                <a:ext cx="23" cy="133"/>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41" name="Freeform 41">
                <a:extLst>
                  <a:ext uri="{FF2B5EF4-FFF2-40B4-BE49-F238E27FC236}">
                    <a16:creationId xmlns:a16="http://schemas.microsoft.com/office/drawing/2014/main" id="{96D5CD83-D0B6-49FB-0FD6-1CC923508754}"/>
                  </a:ext>
                </a:extLst>
              </p:cNvPr>
              <p:cNvSpPr>
                <a:spLocks/>
              </p:cNvSpPr>
              <p:nvPr/>
            </p:nvSpPr>
            <p:spPr bwMode="auto">
              <a:xfrm>
                <a:off x="2245" y="322"/>
                <a:ext cx="61" cy="259"/>
              </a:xfrm>
              <a:custGeom>
                <a:avLst/>
                <a:gdLst>
                  <a:gd name="T0" fmla="*/ 0 w 86"/>
                  <a:gd name="T1" fmla="*/ 0 h 530"/>
                  <a:gd name="T2" fmla="*/ 7 w 86"/>
                  <a:gd name="T3" fmla="*/ 3 h 530"/>
                  <a:gd name="T4" fmla="*/ 12 w 86"/>
                  <a:gd name="T5" fmla="*/ 12 h 530"/>
                  <a:gd name="T6" fmla="*/ 14 w 86"/>
                  <a:gd name="T7" fmla="*/ 25 h 530"/>
                  <a:gd name="T8" fmla="*/ 15 w 86"/>
                  <a:gd name="T9" fmla="*/ 44 h 530"/>
                  <a:gd name="T10" fmla="*/ 43 w 86"/>
                  <a:gd name="T11" fmla="*/ 488 h 530"/>
                  <a:gd name="T12" fmla="*/ 45 w 86"/>
                  <a:gd name="T13" fmla="*/ 512 h 530"/>
                  <a:gd name="T14" fmla="*/ 47 w 86"/>
                  <a:gd name="T15" fmla="*/ 520 h 530"/>
                  <a:gd name="T16" fmla="*/ 53 w 86"/>
                  <a:gd name="T17" fmla="*/ 527 h 530"/>
                  <a:gd name="T18" fmla="*/ 57 w 86"/>
                  <a:gd name="T19" fmla="*/ 530 h 530"/>
                  <a:gd name="T20" fmla="*/ 63 w 86"/>
                  <a:gd name="T21" fmla="*/ 524 h 530"/>
                  <a:gd name="T22" fmla="*/ 67 w 86"/>
                  <a:gd name="T23" fmla="*/ 512 h 530"/>
                  <a:gd name="T24" fmla="*/ 86 w 86"/>
                  <a:gd name="T25" fmla="*/ 274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6" y="274"/>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grpSp>
            <p:nvGrpSpPr>
              <p:cNvPr id="42" name="Group 42">
                <a:extLst>
                  <a:ext uri="{FF2B5EF4-FFF2-40B4-BE49-F238E27FC236}">
                    <a16:creationId xmlns:a16="http://schemas.microsoft.com/office/drawing/2014/main" id="{3ADF1063-FA15-8DD6-2EEF-374C578926E6}"/>
                  </a:ext>
                </a:extLst>
              </p:cNvPr>
              <p:cNvGrpSpPr>
                <a:grpSpLocks/>
              </p:cNvGrpSpPr>
              <p:nvPr/>
            </p:nvGrpSpPr>
            <p:grpSpPr bwMode="auto">
              <a:xfrm>
                <a:off x="2306" y="319"/>
                <a:ext cx="83" cy="261"/>
                <a:chOff x="3117" y="1309"/>
                <a:chExt cx="117" cy="713"/>
              </a:xfrm>
            </p:grpSpPr>
            <p:sp>
              <p:nvSpPr>
                <p:cNvPr id="57" name="Freeform 43">
                  <a:extLst>
                    <a:ext uri="{FF2B5EF4-FFF2-40B4-BE49-F238E27FC236}">
                      <a16:creationId xmlns:a16="http://schemas.microsoft.com/office/drawing/2014/main" id="{55193B6C-58D3-842C-80FA-CDB070D92A16}"/>
                    </a:ext>
                  </a:extLst>
                </p:cNvPr>
                <p:cNvSpPr>
                  <a:spLocks/>
                </p:cNvSpPr>
                <p:nvPr/>
              </p:nvSpPr>
              <p:spPr bwMode="auto">
                <a:xfrm>
                  <a:off x="3117" y="1309"/>
                  <a:ext cx="33" cy="363"/>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58" name="Freeform 44">
                  <a:extLst>
                    <a:ext uri="{FF2B5EF4-FFF2-40B4-BE49-F238E27FC236}">
                      <a16:creationId xmlns:a16="http://schemas.microsoft.com/office/drawing/2014/main" id="{8A73811B-63A4-C5BA-52A0-6B625BA90A7B}"/>
                    </a:ext>
                  </a:extLst>
                </p:cNvPr>
                <p:cNvSpPr>
                  <a:spLocks/>
                </p:cNvSpPr>
                <p:nvPr/>
              </p:nvSpPr>
              <p:spPr bwMode="auto">
                <a:xfrm>
                  <a:off x="3150" y="131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grpSp>
          <p:sp>
            <p:nvSpPr>
              <p:cNvPr id="43" name="Freeform 45">
                <a:extLst>
                  <a:ext uri="{FF2B5EF4-FFF2-40B4-BE49-F238E27FC236}">
                    <a16:creationId xmlns:a16="http://schemas.microsoft.com/office/drawing/2014/main" id="{71A50533-CB26-D201-E3F8-FAE87334DBD9}"/>
                  </a:ext>
                </a:extLst>
              </p:cNvPr>
              <p:cNvSpPr>
                <a:spLocks/>
              </p:cNvSpPr>
              <p:nvPr/>
            </p:nvSpPr>
            <p:spPr bwMode="auto">
              <a:xfrm>
                <a:off x="2389" y="319"/>
                <a:ext cx="25" cy="133"/>
              </a:xfrm>
              <a:custGeom>
                <a:avLst/>
                <a:gdLst>
                  <a:gd name="T0" fmla="*/ 0 w 35"/>
                  <a:gd name="T1" fmla="*/ 362 h 363"/>
                  <a:gd name="T2" fmla="*/ 21 w 35"/>
                  <a:gd name="T3" fmla="*/ 54 h 363"/>
                  <a:gd name="T4" fmla="*/ 22 w 35"/>
                  <a:gd name="T5" fmla="*/ 38 h 363"/>
                  <a:gd name="T6" fmla="*/ 23 w 35"/>
                  <a:gd name="T7" fmla="*/ 25 h 363"/>
                  <a:gd name="T8" fmla="*/ 25 w 35"/>
                  <a:gd name="T9" fmla="*/ 15 h 363"/>
                  <a:gd name="T10" fmla="*/ 29 w 35"/>
                  <a:gd name="T11" fmla="*/ 6 h 363"/>
                  <a:gd name="T12" fmla="*/ 34 w 3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44" name="Freeform 46">
                <a:extLst>
                  <a:ext uri="{FF2B5EF4-FFF2-40B4-BE49-F238E27FC236}">
                    <a16:creationId xmlns:a16="http://schemas.microsoft.com/office/drawing/2014/main" id="{173C32DE-0626-2321-D19C-A1D1BCB10F29}"/>
                  </a:ext>
                </a:extLst>
              </p:cNvPr>
              <p:cNvSpPr>
                <a:spLocks/>
              </p:cNvSpPr>
              <p:nvPr/>
            </p:nvSpPr>
            <p:spPr bwMode="auto">
              <a:xfrm>
                <a:off x="2414" y="320"/>
                <a:ext cx="65" cy="259"/>
              </a:xfrm>
              <a:custGeom>
                <a:avLst/>
                <a:gdLst>
                  <a:gd name="T0" fmla="*/ 0 w 91"/>
                  <a:gd name="T1" fmla="*/ 0 h 530"/>
                  <a:gd name="T2" fmla="*/ 7 w 91"/>
                  <a:gd name="T3" fmla="*/ 3 h 530"/>
                  <a:gd name="T4" fmla="*/ 12 w 91"/>
                  <a:gd name="T5" fmla="*/ 12 h 530"/>
                  <a:gd name="T6" fmla="*/ 13 w 91"/>
                  <a:gd name="T7" fmla="*/ 25 h 530"/>
                  <a:gd name="T8" fmla="*/ 15 w 91"/>
                  <a:gd name="T9" fmla="*/ 44 h 530"/>
                  <a:gd name="T10" fmla="*/ 42 w 91"/>
                  <a:gd name="T11" fmla="*/ 488 h 530"/>
                  <a:gd name="T12" fmla="*/ 44 w 91"/>
                  <a:gd name="T13" fmla="*/ 512 h 530"/>
                  <a:gd name="T14" fmla="*/ 46 w 91"/>
                  <a:gd name="T15" fmla="*/ 520 h 530"/>
                  <a:gd name="T16" fmla="*/ 52 w 91"/>
                  <a:gd name="T17" fmla="*/ 527 h 530"/>
                  <a:gd name="T18" fmla="*/ 56 w 91"/>
                  <a:gd name="T19" fmla="*/ 530 h 530"/>
                  <a:gd name="T20" fmla="*/ 62 w 91"/>
                  <a:gd name="T21" fmla="*/ 524 h 530"/>
                  <a:gd name="T22" fmla="*/ 65 w 91"/>
                  <a:gd name="T23" fmla="*/ 512 h 530"/>
                  <a:gd name="T24" fmla="*/ 91 w 91"/>
                  <a:gd name="T25" fmla="*/ 281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1"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91" y="281"/>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grpSp>
            <p:nvGrpSpPr>
              <p:cNvPr id="45" name="Group 158">
                <a:extLst>
                  <a:ext uri="{FF2B5EF4-FFF2-40B4-BE49-F238E27FC236}">
                    <a16:creationId xmlns:a16="http://schemas.microsoft.com/office/drawing/2014/main" id="{830E2804-EE5D-6083-51E1-8D2877AE9342}"/>
                  </a:ext>
                </a:extLst>
              </p:cNvPr>
              <p:cNvGrpSpPr>
                <a:grpSpLocks/>
              </p:cNvGrpSpPr>
              <p:nvPr/>
            </p:nvGrpSpPr>
            <p:grpSpPr bwMode="auto">
              <a:xfrm>
                <a:off x="1114" y="321"/>
                <a:ext cx="338" cy="260"/>
                <a:chOff x="1439" y="1316"/>
                <a:chExt cx="476" cy="711"/>
              </a:xfrm>
            </p:grpSpPr>
            <p:grpSp>
              <p:nvGrpSpPr>
                <p:cNvPr id="46" name="Group 159">
                  <a:extLst>
                    <a:ext uri="{FF2B5EF4-FFF2-40B4-BE49-F238E27FC236}">
                      <a16:creationId xmlns:a16="http://schemas.microsoft.com/office/drawing/2014/main" id="{584F1250-018C-0B72-431E-8CEBA4C54AEF}"/>
                    </a:ext>
                  </a:extLst>
                </p:cNvPr>
                <p:cNvGrpSpPr>
                  <a:grpSpLocks/>
                </p:cNvGrpSpPr>
                <p:nvPr/>
              </p:nvGrpSpPr>
              <p:grpSpPr bwMode="auto">
                <a:xfrm>
                  <a:off x="1439" y="1316"/>
                  <a:ext cx="239" cy="711"/>
                  <a:chOff x="1439" y="1316"/>
                  <a:chExt cx="239" cy="711"/>
                </a:xfrm>
              </p:grpSpPr>
              <p:sp>
                <p:nvSpPr>
                  <p:cNvPr id="53" name="Freeform 160">
                    <a:extLst>
                      <a:ext uri="{FF2B5EF4-FFF2-40B4-BE49-F238E27FC236}">
                        <a16:creationId xmlns:a16="http://schemas.microsoft.com/office/drawing/2014/main" id="{AA67ADC3-7DFB-8176-CD25-9EE7F315A26E}"/>
                      </a:ext>
                    </a:extLst>
                  </p:cNvPr>
                  <p:cNvSpPr>
                    <a:spLocks/>
                  </p:cNvSpPr>
                  <p:nvPr/>
                </p:nvSpPr>
                <p:spPr bwMode="auto">
                  <a:xfrm>
                    <a:off x="1439" y="1317"/>
                    <a:ext cx="32" cy="363"/>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54" name="Freeform 161">
                    <a:extLst>
                      <a:ext uri="{FF2B5EF4-FFF2-40B4-BE49-F238E27FC236}">
                        <a16:creationId xmlns:a16="http://schemas.microsoft.com/office/drawing/2014/main" id="{927C0A28-0285-E0AE-210C-C1B0477F5722}"/>
                      </a:ext>
                    </a:extLst>
                  </p:cNvPr>
                  <p:cNvSpPr>
                    <a:spLocks/>
                  </p:cNvSpPr>
                  <p:nvPr/>
                </p:nvSpPr>
                <p:spPr bwMode="auto">
                  <a:xfrm>
                    <a:off x="1472" y="1316"/>
                    <a:ext cx="86" cy="711"/>
                  </a:xfrm>
                  <a:custGeom>
                    <a:avLst/>
                    <a:gdLst>
                      <a:gd name="T0" fmla="*/ 0 w 86"/>
                      <a:gd name="T1" fmla="*/ 0 h 711"/>
                      <a:gd name="T2" fmla="*/ 7 w 86"/>
                      <a:gd name="T3" fmla="*/ 4 h 711"/>
                      <a:gd name="T4" fmla="*/ 12 w 86"/>
                      <a:gd name="T5" fmla="*/ 16 h 711"/>
                      <a:gd name="T6" fmla="*/ 14 w 86"/>
                      <a:gd name="T7" fmla="*/ 33 h 711"/>
                      <a:gd name="T8" fmla="*/ 15 w 86"/>
                      <a:gd name="T9" fmla="*/ 59 h 711"/>
                      <a:gd name="T10" fmla="*/ 43 w 86"/>
                      <a:gd name="T11" fmla="*/ 653 h 711"/>
                      <a:gd name="T12" fmla="*/ 45 w 86"/>
                      <a:gd name="T13" fmla="*/ 686 h 711"/>
                      <a:gd name="T14" fmla="*/ 47 w 86"/>
                      <a:gd name="T15" fmla="*/ 696 h 711"/>
                      <a:gd name="T16" fmla="*/ 53 w 86"/>
                      <a:gd name="T17" fmla="*/ 706 h 711"/>
                      <a:gd name="T18" fmla="*/ 57 w 86"/>
                      <a:gd name="T19" fmla="*/ 710 h 711"/>
                      <a:gd name="T20" fmla="*/ 63 w 86"/>
                      <a:gd name="T21" fmla="*/ 702 h 711"/>
                      <a:gd name="T22" fmla="*/ 67 w 86"/>
                      <a:gd name="T23" fmla="*/ 686 h 711"/>
                      <a:gd name="T24" fmla="*/ 85 w 86"/>
                      <a:gd name="T25" fmla="*/ 381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711">
                        <a:moveTo>
                          <a:pt x="0" y="0"/>
                        </a:moveTo>
                        <a:lnTo>
                          <a:pt x="7" y="4"/>
                        </a:lnTo>
                        <a:lnTo>
                          <a:pt x="12" y="16"/>
                        </a:lnTo>
                        <a:lnTo>
                          <a:pt x="14" y="33"/>
                        </a:lnTo>
                        <a:lnTo>
                          <a:pt x="15" y="59"/>
                        </a:lnTo>
                        <a:lnTo>
                          <a:pt x="43" y="653"/>
                        </a:lnTo>
                        <a:lnTo>
                          <a:pt x="45" y="686"/>
                        </a:lnTo>
                        <a:lnTo>
                          <a:pt x="47" y="696"/>
                        </a:lnTo>
                        <a:lnTo>
                          <a:pt x="53" y="706"/>
                        </a:lnTo>
                        <a:lnTo>
                          <a:pt x="57" y="710"/>
                        </a:lnTo>
                        <a:lnTo>
                          <a:pt x="63" y="702"/>
                        </a:lnTo>
                        <a:lnTo>
                          <a:pt x="67" y="686"/>
                        </a:lnTo>
                        <a:lnTo>
                          <a:pt x="85" y="381"/>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55" name="Freeform 162">
                    <a:extLst>
                      <a:ext uri="{FF2B5EF4-FFF2-40B4-BE49-F238E27FC236}">
                        <a16:creationId xmlns:a16="http://schemas.microsoft.com/office/drawing/2014/main" id="{57D860D9-AB6D-686D-85BC-DCBE3393B169}"/>
                      </a:ext>
                    </a:extLst>
                  </p:cNvPr>
                  <p:cNvSpPr>
                    <a:spLocks/>
                  </p:cNvSpPr>
                  <p:nvPr/>
                </p:nvSpPr>
                <p:spPr bwMode="auto">
                  <a:xfrm>
                    <a:off x="1558" y="1323"/>
                    <a:ext cx="34" cy="363"/>
                  </a:xfrm>
                  <a:custGeom>
                    <a:avLst/>
                    <a:gdLst>
                      <a:gd name="T0" fmla="*/ 0 w 34"/>
                      <a:gd name="T1" fmla="*/ 362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56" name="Freeform 163">
                    <a:extLst>
                      <a:ext uri="{FF2B5EF4-FFF2-40B4-BE49-F238E27FC236}">
                        <a16:creationId xmlns:a16="http://schemas.microsoft.com/office/drawing/2014/main" id="{D0D3A71E-C0A4-C10F-31B9-A2B90D8641A8}"/>
                      </a:ext>
                    </a:extLst>
                  </p:cNvPr>
                  <p:cNvSpPr>
                    <a:spLocks/>
                  </p:cNvSpPr>
                  <p:nvPr/>
                </p:nvSpPr>
                <p:spPr bwMode="auto">
                  <a:xfrm>
                    <a:off x="1592" y="1318"/>
                    <a:ext cx="86" cy="709"/>
                  </a:xfrm>
                  <a:custGeom>
                    <a:avLst/>
                    <a:gdLst>
                      <a:gd name="T0" fmla="*/ 0 w 86"/>
                      <a:gd name="T1" fmla="*/ 0 h 709"/>
                      <a:gd name="T2" fmla="*/ 7 w 86"/>
                      <a:gd name="T3" fmla="*/ 4 h 709"/>
                      <a:gd name="T4" fmla="*/ 12 w 86"/>
                      <a:gd name="T5" fmla="*/ 16 h 709"/>
                      <a:gd name="T6" fmla="*/ 14 w 86"/>
                      <a:gd name="T7" fmla="*/ 33 h 709"/>
                      <a:gd name="T8" fmla="*/ 15 w 86"/>
                      <a:gd name="T9" fmla="*/ 59 h 709"/>
                      <a:gd name="T10" fmla="*/ 43 w 86"/>
                      <a:gd name="T11" fmla="*/ 651 h 709"/>
                      <a:gd name="T12" fmla="*/ 45 w 86"/>
                      <a:gd name="T13" fmla="*/ 684 h 709"/>
                      <a:gd name="T14" fmla="*/ 47 w 86"/>
                      <a:gd name="T15" fmla="*/ 694 h 709"/>
                      <a:gd name="T16" fmla="*/ 53 w 86"/>
                      <a:gd name="T17" fmla="*/ 704 h 709"/>
                      <a:gd name="T18" fmla="*/ 57 w 86"/>
                      <a:gd name="T19" fmla="*/ 708 h 709"/>
                      <a:gd name="T20" fmla="*/ 63 w 86"/>
                      <a:gd name="T21" fmla="*/ 700 h 709"/>
                      <a:gd name="T22" fmla="*/ 67 w 86"/>
                      <a:gd name="T23" fmla="*/ 684 h 709"/>
                      <a:gd name="T24" fmla="*/ 85 w 86"/>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709">
                        <a:moveTo>
                          <a:pt x="0" y="0"/>
                        </a:moveTo>
                        <a:lnTo>
                          <a:pt x="7" y="4"/>
                        </a:lnTo>
                        <a:lnTo>
                          <a:pt x="12" y="16"/>
                        </a:lnTo>
                        <a:lnTo>
                          <a:pt x="14" y="33"/>
                        </a:lnTo>
                        <a:lnTo>
                          <a:pt x="15" y="59"/>
                        </a:lnTo>
                        <a:lnTo>
                          <a:pt x="43" y="651"/>
                        </a:lnTo>
                        <a:lnTo>
                          <a:pt x="45" y="684"/>
                        </a:lnTo>
                        <a:lnTo>
                          <a:pt x="47" y="694"/>
                        </a:lnTo>
                        <a:lnTo>
                          <a:pt x="53" y="704"/>
                        </a:lnTo>
                        <a:lnTo>
                          <a:pt x="57" y="708"/>
                        </a:lnTo>
                        <a:lnTo>
                          <a:pt x="63" y="700"/>
                        </a:lnTo>
                        <a:lnTo>
                          <a:pt x="67" y="684"/>
                        </a:lnTo>
                        <a:lnTo>
                          <a:pt x="85" y="38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grpSp>
            <p:grpSp>
              <p:nvGrpSpPr>
                <p:cNvPr id="47" name="Group 164">
                  <a:extLst>
                    <a:ext uri="{FF2B5EF4-FFF2-40B4-BE49-F238E27FC236}">
                      <a16:creationId xmlns:a16="http://schemas.microsoft.com/office/drawing/2014/main" id="{C1A2DF2F-7B6D-2008-9B9D-F954F6507D4F}"/>
                    </a:ext>
                  </a:extLst>
                </p:cNvPr>
                <p:cNvGrpSpPr>
                  <a:grpSpLocks/>
                </p:cNvGrpSpPr>
                <p:nvPr/>
              </p:nvGrpSpPr>
              <p:grpSpPr bwMode="auto">
                <a:xfrm>
                  <a:off x="1676" y="1316"/>
                  <a:ext cx="239" cy="711"/>
                  <a:chOff x="1676" y="1316"/>
                  <a:chExt cx="239" cy="711"/>
                </a:xfrm>
              </p:grpSpPr>
              <p:sp>
                <p:nvSpPr>
                  <p:cNvPr id="49" name="Freeform 165">
                    <a:extLst>
                      <a:ext uri="{FF2B5EF4-FFF2-40B4-BE49-F238E27FC236}">
                        <a16:creationId xmlns:a16="http://schemas.microsoft.com/office/drawing/2014/main" id="{A285FB14-A3BA-925D-59DC-3825B217E4B2}"/>
                      </a:ext>
                    </a:extLst>
                  </p:cNvPr>
                  <p:cNvSpPr>
                    <a:spLocks/>
                  </p:cNvSpPr>
                  <p:nvPr/>
                </p:nvSpPr>
                <p:spPr bwMode="auto">
                  <a:xfrm>
                    <a:off x="1676" y="1317"/>
                    <a:ext cx="32" cy="363"/>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50" name="Freeform 166">
                    <a:extLst>
                      <a:ext uri="{FF2B5EF4-FFF2-40B4-BE49-F238E27FC236}">
                        <a16:creationId xmlns:a16="http://schemas.microsoft.com/office/drawing/2014/main" id="{B4DD3ADB-36A9-4D1D-0EF6-DDC3B4E07CD7}"/>
                      </a:ext>
                    </a:extLst>
                  </p:cNvPr>
                  <p:cNvSpPr>
                    <a:spLocks/>
                  </p:cNvSpPr>
                  <p:nvPr/>
                </p:nvSpPr>
                <p:spPr bwMode="auto">
                  <a:xfrm>
                    <a:off x="1709" y="1316"/>
                    <a:ext cx="86" cy="711"/>
                  </a:xfrm>
                  <a:custGeom>
                    <a:avLst/>
                    <a:gdLst>
                      <a:gd name="T0" fmla="*/ 0 w 86"/>
                      <a:gd name="T1" fmla="*/ 0 h 711"/>
                      <a:gd name="T2" fmla="*/ 7 w 86"/>
                      <a:gd name="T3" fmla="*/ 4 h 711"/>
                      <a:gd name="T4" fmla="*/ 12 w 86"/>
                      <a:gd name="T5" fmla="*/ 16 h 711"/>
                      <a:gd name="T6" fmla="*/ 14 w 86"/>
                      <a:gd name="T7" fmla="*/ 33 h 711"/>
                      <a:gd name="T8" fmla="*/ 15 w 86"/>
                      <a:gd name="T9" fmla="*/ 59 h 711"/>
                      <a:gd name="T10" fmla="*/ 43 w 86"/>
                      <a:gd name="T11" fmla="*/ 653 h 711"/>
                      <a:gd name="T12" fmla="*/ 45 w 86"/>
                      <a:gd name="T13" fmla="*/ 686 h 711"/>
                      <a:gd name="T14" fmla="*/ 47 w 86"/>
                      <a:gd name="T15" fmla="*/ 696 h 711"/>
                      <a:gd name="T16" fmla="*/ 53 w 86"/>
                      <a:gd name="T17" fmla="*/ 706 h 711"/>
                      <a:gd name="T18" fmla="*/ 57 w 86"/>
                      <a:gd name="T19" fmla="*/ 710 h 711"/>
                      <a:gd name="T20" fmla="*/ 63 w 86"/>
                      <a:gd name="T21" fmla="*/ 702 h 711"/>
                      <a:gd name="T22" fmla="*/ 67 w 86"/>
                      <a:gd name="T23" fmla="*/ 686 h 711"/>
                      <a:gd name="T24" fmla="*/ 85 w 86"/>
                      <a:gd name="T25" fmla="*/ 381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711">
                        <a:moveTo>
                          <a:pt x="0" y="0"/>
                        </a:moveTo>
                        <a:lnTo>
                          <a:pt x="7" y="4"/>
                        </a:lnTo>
                        <a:lnTo>
                          <a:pt x="12" y="16"/>
                        </a:lnTo>
                        <a:lnTo>
                          <a:pt x="14" y="33"/>
                        </a:lnTo>
                        <a:lnTo>
                          <a:pt x="15" y="59"/>
                        </a:lnTo>
                        <a:lnTo>
                          <a:pt x="43" y="653"/>
                        </a:lnTo>
                        <a:lnTo>
                          <a:pt x="45" y="686"/>
                        </a:lnTo>
                        <a:lnTo>
                          <a:pt x="47" y="696"/>
                        </a:lnTo>
                        <a:lnTo>
                          <a:pt x="53" y="706"/>
                        </a:lnTo>
                        <a:lnTo>
                          <a:pt x="57" y="710"/>
                        </a:lnTo>
                        <a:lnTo>
                          <a:pt x="63" y="702"/>
                        </a:lnTo>
                        <a:lnTo>
                          <a:pt x="67" y="686"/>
                        </a:lnTo>
                        <a:lnTo>
                          <a:pt x="85" y="381"/>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51" name="Freeform 167">
                    <a:extLst>
                      <a:ext uri="{FF2B5EF4-FFF2-40B4-BE49-F238E27FC236}">
                        <a16:creationId xmlns:a16="http://schemas.microsoft.com/office/drawing/2014/main" id="{2407593A-6584-21EB-7AF8-19B62B9D849F}"/>
                      </a:ext>
                    </a:extLst>
                  </p:cNvPr>
                  <p:cNvSpPr>
                    <a:spLocks/>
                  </p:cNvSpPr>
                  <p:nvPr/>
                </p:nvSpPr>
                <p:spPr bwMode="auto">
                  <a:xfrm>
                    <a:off x="1795" y="1323"/>
                    <a:ext cx="34" cy="363"/>
                  </a:xfrm>
                  <a:custGeom>
                    <a:avLst/>
                    <a:gdLst>
                      <a:gd name="T0" fmla="*/ 0 w 34"/>
                      <a:gd name="T1" fmla="*/ 362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52" name="Freeform 168">
                    <a:extLst>
                      <a:ext uri="{FF2B5EF4-FFF2-40B4-BE49-F238E27FC236}">
                        <a16:creationId xmlns:a16="http://schemas.microsoft.com/office/drawing/2014/main" id="{E498B077-61BA-E838-2EDC-9A3AC4A58080}"/>
                      </a:ext>
                    </a:extLst>
                  </p:cNvPr>
                  <p:cNvSpPr>
                    <a:spLocks/>
                  </p:cNvSpPr>
                  <p:nvPr/>
                </p:nvSpPr>
                <p:spPr bwMode="auto">
                  <a:xfrm>
                    <a:off x="1829" y="1318"/>
                    <a:ext cx="86" cy="709"/>
                  </a:xfrm>
                  <a:custGeom>
                    <a:avLst/>
                    <a:gdLst>
                      <a:gd name="T0" fmla="*/ 0 w 86"/>
                      <a:gd name="T1" fmla="*/ 0 h 709"/>
                      <a:gd name="T2" fmla="*/ 7 w 86"/>
                      <a:gd name="T3" fmla="*/ 4 h 709"/>
                      <a:gd name="T4" fmla="*/ 12 w 86"/>
                      <a:gd name="T5" fmla="*/ 16 h 709"/>
                      <a:gd name="T6" fmla="*/ 14 w 86"/>
                      <a:gd name="T7" fmla="*/ 33 h 709"/>
                      <a:gd name="T8" fmla="*/ 15 w 86"/>
                      <a:gd name="T9" fmla="*/ 59 h 709"/>
                      <a:gd name="T10" fmla="*/ 43 w 86"/>
                      <a:gd name="T11" fmla="*/ 651 h 709"/>
                      <a:gd name="T12" fmla="*/ 45 w 86"/>
                      <a:gd name="T13" fmla="*/ 684 h 709"/>
                      <a:gd name="T14" fmla="*/ 47 w 86"/>
                      <a:gd name="T15" fmla="*/ 694 h 709"/>
                      <a:gd name="T16" fmla="*/ 53 w 86"/>
                      <a:gd name="T17" fmla="*/ 704 h 709"/>
                      <a:gd name="T18" fmla="*/ 57 w 86"/>
                      <a:gd name="T19" fmla="*/ 708 h 709"/>
                      <a:gd name="T20" fmla="*/ 63 w 86"/>
                      <a:gd name="T21" fmla="*/ 700 h 709"/>
                      <a:gd name="T22" fmla="*/ 67 w 86"/>
                      <a:gd name="T23" fmla="*/ 684 h 709"/>
                      <a:gd name="T24" fmla="*/ 85 w 86"/>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709">
                        <a:moveTo>
                          <a:pt x="0" y="0"/>
                        </a:moveTo>
                        <a:lnTo>
                          <a:pt x="7" y="4"/>
                        </a:lnTo>
                        <a:lnTo>
                          <a:pt x="12" y="16"/>
                        </a:lnTo>
                        <a:lnTo>
                          <a:pt x="14" y="33"/>
                        </a:lnTo>
                        <a:lnTo>
                          <a:pt x="15" y="59"/>
                        </a:lnTo>
                        <a:lnTo>
                          <a:pt x="43" y="651"/>
                        </a:lnTo>
                        <a:lnTo>
                          <a:pt x="45" y="684"/>
                        </a:lnTo>
                        <a:lnTo>
                          <a:pt x="47" y="694"/>
                        </a:lnTo>
                        <a:lnTo>
                          <a:pt x="53" y="704"/>
                        </a:lnTo>
                        <a:lnTo>
                          <a:pt x="57" y="708"/>
                        </a:lnTo>
                        <a:lnTo>
                          <a:pt x="63" y="700"/>
                        </a:lnTo>
                        <a:lnTo>
                          <a:pt x="67" y="684"/>
                        </a:lnTo>
                        <a:lnTo>
                          <a:pt x="85" y="380"/>
                        </a:lnTo>
                      </a:path>
                    </a:pathLst>
                  </a:custGeom>
                  <a:noFill/>
                  <a:ln w="1905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grpSp>
            <p:sp>
              <p:nvSpPr>
                <p:cNvPr id="48" name="Line 169">
                  <a:extLst>
                    <a:ext uri="{FF2B5EF4-FFF2-40B4-BE49-F238E27FC236}">
                      <a16:creationId xmlns:a16="http://schemas.microsoft.com/office/drawing/2014/main" id="{0BE97E86-7398-79E4-DCC1-323FE15EE2D5}"/>
                    </a:ext>
                  </a:extLst>
                </p:cNvPr>
                <p:cNvSpPr>
                  <a:spLocks noChangeShapeType="1"/>
                </p:cNvSpPr>
                <p:nvPr/>
              </p:nvSpPr>
              <p:spPr bwMode="auto">
                <a:xfrm flipV="1">
                  <a:off x="1674" y="1661"/>
                  <a:ext cx="3" cy="5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grpSp>
        </p:grpSp>
      </p:grpSp>
      <p:sp>
        <p:nvSpPr>
          <p:cNvPr id="174" name="Rectangle 154">
            <a:extLst>
              <a:ext uri="{FF2B5EF4-FFF2-40B4-BE49-F238E27FC236}">
                <a16:creationId xmlns:a16="http://schemas.microsoft.com/office/drawing/2014/main" id="{90634233-1257-20C8-DC5B-EF121EAADDFA}"/>
              </a:ext>
            </a:extLst>
          </p:cNvPr>
          <p:cNvSpPr>
            <a:spLocks noChangeArrowheads="1"/>
          </p:cNvSpPr>
          <p:nvPr/>
        </p:nvSpPr>
        <p:spPr bwMode="auto">
          <a:xfrm>
            <a:off x="1533379" y="2744068"/>
            <a:ext cx="1003481"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r>
              <a:rPr kumimoji="1" lang="zh-CN" altLang="en-US" sz="1600" b="1" dirty="0">
                <a:latin typeface="微软雅黑" panose="020B0503020204020204" pitchFamily="34" charset="-122"/>
                <a:ea typeface="微软雅黑" panose="020B0503020204020204" pitchFamily="34" charset="-122"/>
              </a:rPr>
              <a:t>基带信号</a:t>
            </a:r>
          </a:p>
        </p:txBody>
      </p:sp>
      <p:sp>
        <p:nvSpPr>
          <p:cNvPr id="175" name="Rectangle 155">
            <a:extLst>
              <a:ext uri="{FF2B5EF4-FFF2-40B4-BE49-F238E27FC236}">
                <a16:creationId xmlns:a16="http://schemas.microsoft.com/office/drawing/2014/main" id="{3F8A1E7D-CDA5-02ED-7B50-4EA78EAFEBC1}"/>
              </a:ext>
            </a:extLst>
          </p:cNvPr>
          <p:cNvSpPr>
            <a:spLocks noChangeArrowheads="1"/>
          </p:cNvSpPr>
          <p:nvPr/>
        </p:nvSpPr>
        <p:spPr bwMode="auto">
          <a:xfrm>
            <a:off x="1943747" y="3236492"/>
            <a:ext cx="593113"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r>
              <a:rPr kumimoji="1" lang="zh-CN" altLang="en-US" sz="1600" b="1" dirty="0">
                <a:latin typeface="微软雅黑" panose="020B0503020204020204" pitchFamily="34" charset="-122"/>
                <a:ea typeface="微软雅黑" panose="020B0503020204020204" pitchFamily="34" charset="-122"/>
              </a:rPr>
              <a:t>调幅</a:t>
            </a:r>
          </a:p>
        </p:txBody>
      </p:sp>
      <p:sp>
        <p:nvSpPr>
          <p:cNvPr id="176" name="Rectangle 156">
            <a:extLst>
              <a:ext uri="{FF2B5EF4-FFF2-40B4-BE49-F238E27FC236}">
                <a16:creationId xmlns:a16="http://schemas.microsoft.com/office/drawing/2014/main" id="{F5FC7047-5C2B-FF67-2967-04AC1E1DA3CE}"/>
              </a:ext>
            </a:extLst>
          </p:cNvPr>
          <p:cNvSpPr>
            <a:spLocks noChangeArrowheads="1"/>
          </p:cNvSpPr>
          <p:nvPr/>
        </p:nvSpPr>
        <p:spPr bwMode="auto">
          <a:xfrm>
            <a:off x="1943747" y="3728916"/>
            <a:ext cx="593113"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r>
              <a:rPr kumimoji="1" lang="zh-CN" altLang="en-US" sz="1600" b="1">
                <a:latin typeface="微软雅黑" panose="020B0503020204020204" pitchFamily="34" charset="-122"/>
                <a:ea typeface="微软雅黑" panose="020B0503020204020204" pitchFamily="34" charset="-122"/>
              </a:rPr>
              <a:t>调频</a:t>
            </a:r>
          </a:p>
        </p:txBody>
      </p:sp>
      <p:sp>
        <p:nvSpPr>
          <p:cNvPr id="177" name="Rectangle 157">
            <a:extLst>
              <a:ext uri="{FF2B5EF4-FFF2-40B4-BE49-F238E27FC236}">
                <a16:creationId xmlns:a16="http://schemas.microsoft.com/office/drawing/2014/main" id="{4B17B4C4-5FFF-B351-B91A-065B348976B0}"/>
              </a:ext>
            </a:extLst>
          </p:cNvPr>
          <p:cNvSpPr>
            <a:spLocks noChangeArrowheads="1"/>
          </p:cNvSpPr>
          <p:nvPr/>
        </p:nvSpPr>
        <p:spPr bwMode="auto">
          <a:xfrm>
            <a:off x="1943747" y="4221341"/>
            <a:ext cx="593113"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r>
              <a:rPr kumimoji="1" lang="zh-CN" altLang="en-US" sz="1600" b="1" dirty="0">
                <a:latin typeface="微软雅黑" panose="020B0503020204020204" pitchFamily="34" charset="-122"/>
                <a:ea typeface="微软雅黑" panose="020B0503020204020204" pitchFamily="34" charset="-122"/>
              </a:rPr>
              <a:t>调相</a:t>
            </a:r>
          </a:p>
        </p:txBody>
      </p:sp>
    </p:spTree>
    <p:custDataLst>
      <p:tags r:id="rId1"/>
    </p:custDataLst>
    <p:extLst>
      <p:ext uri="{BB962C8B-B14F-4D97-AF65-F5344CB8AC3E}">
        <p14:creationId xmlns:p14="http://schemas.microsoft.com/office/powerpoint/2010/main" val="2188095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1000"/>
                                        <p:tgtEl>
                                          <p:spTgt spid="4">
                                            <p:txEl>
                                              <p:pRg st="1" end="1"/>
                                            </p:txEl>
                                          </p:spTgt>
                                        </p:tgtEl>
                                      </p:cBhvr>
                                    </p:animEffect>
                                    <p:anim calcmode="lin" valueType="num">
                                      <p:cBhvr>
                                        <p:cTn id="13"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1000"/>
                                        <p:tgtEl>
                                          <p:spTgt spid="4">
                                            <p:txEl>
                                              <p:pRg st="2" end="2"/>
                                            </p:txEl>
                                          </p:spTgt>
                                        </p:tgtEl>
                                      </p:cBhvr>
                                    </p:animEffect>
                                    <p:anim calcmode="lin" valueType="num">
                                      <p:cBhvr>
                                        <p:cTn id="18"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1000"/>
                                        <p:tgtEl>
                                          <p:spTgt spid="4">
                                            <p:txEl>
                                              <p:pRg st="3" end="3"/>
                                            </p:txEl>
                                          </p:spTgt>
                                        </p:tgtEl>
                                      </p:cBhvr>
                                    </p:animEffect>
                                    <p:anim calcmode="lin" valueType="num">
                                      <p:cBhvr>
                                        <p:cTn id="23"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4">
                                            <p:txEl>
                                              <p:pRg st="3" end="3"/>
                                            </p:txEl>
                                          </p:spTgt>
                                        </p:tgtEl>
                                        <p:attrNameLst>
                                          <p:attrName>ppt_y</p:attrName>
                                        </p:attrNameLst>
                                      </p:cBhvr>
                                      <p:tavLst>
                                        <p:tav tm="0">
                                          <p:val>
                                            <p:strVal val="#ppt_y+.1"/>
                                          </p:val>
                                        </p:tav>
                                        <p:tav tm="100000">
                                          <p:val>
                                            <p:strVal val="#ppt_y"/>
                                          </p:val>
                                        </p:tav>
                                      </p:tavLst>
                                    </p:anim>
                                  </p:childTnLst>
                                </p:cTn>
                              </p:par>
                              <p:par>
                                <p:cTn id="25" presetID="35" presetClass="emph" presetSubtype="0" repeatCount="3000" fill="hold" grpId="0" nodeType="withEffect">
                                  <p:stCondLst>
                                    <p:cond delay="0"/>
                                  </p:stCondLst>
                                  <p:childTnLst>
                                    <p:anim calcmode="discrete" valueType="str">
                                      <p:cBhvr>
                                        <p:cTn id="26" dur="500" fill="hold"/>
                                        <p:tgtEl>
                                          <p:spTgt spid="175"/>
                                        </p:tgtEl>
                                        <p:attrNameLst>
                                          <p:attrName>style.visibility</p:attrName>
                                        </p:attrNameLst>
                                      </p:cBhvr>
                                      <p:tavLst>
                                        <p:tav tm="0">
                                          <p:val>
                                            <p:strVal val="hidden"/>
                                          </p:val>
                                        </p:tav>
                                        <p:tav tm="50000">
                                          <p:val>
                                            <p:strVal val="visible"/>
                                          </p:val>
                                        </p:tav>
                                      </p:tavLst>
                                    </p:anim>
                                  </p:childTnLst>
                                </p:cTn>
                              </p:par>
                              <p:par>
                                <p:cTn id="27" presetID="35" presetClass="emph" presetSubtype="0" repeatCount="3000" fill="hold" grpId="0" nodeType="withEffect">
                                  <p:stCondLst>
                                    <p:cond delay="0"/>
                                  </p:stCondLst>
                                  <p:childTnLst>
                                    <p:anim calcmode="discrete" valueType="str">
                                      <p:cBhvr>
                                        <p:cTn id="28" dur="500" fill="hold"/>
                                        <p:tgtEl>
                                          <p:spTgt spid="176"/>
                                        </p:tgtEl>
                                        <p:attrNameLst>
                                          <p:attrName>style.visibility</p:attrName>
                                        </p:attrNameLst>
                                      </p:cBhvr>
                                      <p:tavLst>
                                        <p:tav tm="0">
                                          <p:val>
                                            <p:strVal val="hidden"/>
                                          </p:val>
                                        </p:tav>
                                        <p:tav tm="50000">
                                          <p:val>
                                            <p:strVal val="visible"/>
                                          </p:val>
                                        </p:tav>
                                      </p:tavLst>
                                    </p:anim>
                                  </p:childTnLst>
                                </p:cTn>
                              </p:par>
                              <p:par>
                                <p:cTn id="29" presetID="35" presetClass="emph" presetSubtype="0" repeatCount="3000" fill="hold" grpId="0" nodeType="withEffect">
                                  <p:stCondLst>
                                    <p:cond delay="0"/>
                                  </p:stCondLst>
                                  <p:childTnLst>
                                    <p:anim calcmode="discrete" valueType="str">
                                      <p:cBhvr>
                                        <p:cTn id="30" dur="500" fill="hold"/>
                                        <p:tgtEl>
                                          <p:spTgt spid="17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175" grpId="0"/>
      <p:bldP spid="176" grpId="0"/>
      <p:bldP spid="17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466343" y="900000"/>
            <a:ext cx="8129017" cy="3376990"/>
          </a:xfrm>
        </p:spPr>
        <p:txBody>
          <a:bodyPr/>
          <a:lstStyle/>
          <a:p>
            <a:r>
              <a:rPr lang="zh-CN" altLang="en-US" dirty="0"/>
              <a:t>一种多元制的振幅相位混合调制方法，以达到更高的信息传输速率。</a:t>
            </a:r>
          </a:p>
        </p:txBody>
      </p:sp>
      <p:sp>
        <p:nvSpPr>
          <p:cNvPr id="2" name="文本占位符 1"/>
          <p:cNvSpPr>
            <a:spLocks noGrp="1"/>
          </p:cNvSpPr>
          <p:nvPr>
            <p:ph type="body" sz="quarter" idx="11"/>
          </p:nvPr>
        </p:nvSpPr>
        <p:spPr>
          <a:xfrm>
            <a:off x="1332000" y="360000"/>
            <a:ext cx="6480000" cy="354012"/>
          </a:xfrm>
        </p:spPr>
        <p:txBody>
          <a:bodyPr>
            <a:normAutofit fontScale="85000" lnSpcReduction="10000"/>
          </a:bodyPr>
          <a:lstStyle/>
          <a:p>
            <a:r>
              <a:rPr lang="zh-CN" altLang="en-US" dirty="0"/>
              <a:t>正交振幅调制 </a:t>
            </a:r>
            <a:r>
              <a:rPr lang="en-US" altLang="zh-CN" dirty="0"/>
              <a:t>QAM (Quadrature Amplitude Modulation) </a:t>
            </a:r>
            <a:endParaRPr lang="zh-CN" altLang="en-US" dirty="0"/>
          </a:p>
        </p:txBody>
      </p:sp>
      <p:grpSp>
        <p:nvGrpSpPr>
          <p:cNvPr id="4" name="组合 3"/>
          <p:cNvGrpSpPr/>
          <p:nvPr/>
        </p:nvGrpSpPr>
        <p:grpSpPr>
          <a:xfrm>
            <a:off x="5943185" y="1585007"/>
            <a:ext cx="2522157" cy="2309216"/>
            <a:chOff x="6148560" y="1193129"/>
            <a:chExt cx="2522157" cy="2309216"/>
          </a:xfrm>
        </p:grpSpPr>
        <p:grpSp>
          <p:nvGrpSpPr>
            <p:cNvPr id="8" name="组合 7"/>
            <p:cNvGrpSpPr/>
            <p:nvPr/>
          </p:nvGrpSpPr>
          <p:grpSpPr>
            <a:xfrm>
              <a:off x="6148560" y="1193129"/>
              <a:ext cx="2522157" cy="2309216"/>
              <a:chOff x="584729" y="2640013"/>
              <a:chExt cx="2971800" cy="2584450"/>
            </a:xfrm>
          </p:grpSpPr>
          <p:sp>
            <p:nvSpPr>
              <p:cNvPr id="10" name="Line 4"/>
              <p:cNvSpPr>
                <a:spLocks noChangeShapeType="1"/>
              </p:cNvSpPr>
              <p:nvPr/>
            </p:nvSpPr>
            <p:spPr bwMode="auto">
              <a:xfrm>
                <a:off x="2077508" y="2640013"/>
                <a:ext cx="0" cy="2584450"/>
              </a:xfrm>
              <a:prstGeom prst="line">
                <a:avLst/>
              </a:prstGeom>
              <a:noFill/>
              <a:ln w="28575">
                <a:solidFill>
                  <a:srgbClr val="009900"/>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1" name="Oval 5"/>
              <p:cNvSpPr>
                <a:spLocks noChangeArrowheads="1"/>
              </p:cNvSpPr>
              <p:nvPr/>
            </p:nvSpPr>
            <p:spPr bwMode="auto">
              <a:xfrm>
                <a:off x="1172898" y="4230688"/>
                <a:ext cx="80831" cy="7461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2" name="Oval 6"/>
              <p:cNvSpPr>
                <a:spLocks noChangeArrowheads="1"/>
              </p:cNvSpPr>
              <p:nvPr/>
            </p:nvSpPr>
            <p:spPr bwMode="auto">
              <a:xfrm>
                <a:off x="1172898" y="3151188"/>
                <a:ext cx="80831" cy="7461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3" name="Oval 7"/>
              <p:cNvSpPr>
                <a:spLocks noChangeArrowheads="1"/>
              </p:cNvSpPr>
              <p:nvPr/>
            </p:nvSpPr>
            <p:spPr bwMode="auto">
              <a:xfrm>
                <a:off x="2344076" y="3151188"/>
                <a:ext cx="80830" cy="7461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4" name="Oval 8"/>
              <p:cNvSpPr>
                <a:spLocks noChangeArrowheads="1"/>
              </p:cNvSpPr>
              <p:nvPr/>
            </p:nvSpPr>
            <p:spPr bwMode="auto">
              <a:xfrm>
                <a:off x="1749029" y="3151188"/>
                <a:ext cx="80830" cy="7461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5" name="Oval 9"/>
              <p:cNvSpPr>
                <a:spLocks noChangeArrowheads="1"/>
              </p:cNvSpPr>
              <p:nvPr/>
            </p:nvSpPr>
            <p:spPr bwMode="auto">
              <a:xfrm>
                <a:off x="1172898" y="3697288"/>
                <a:ext cx="80831" cy="7461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6" name="Oval 10"/>
              <p:cNvSpPr>
                <a:spLocks noChangeArrowheads="1"/>
              </p:cNvSpPr>
              <p:nvPr/>
            </p:nvSpPr>
            <p:spPr bwMode="auto">
              <a:xfrm>
                <a:off x="2345796" y="3695701"/>
                <a:ext cx="80831" cy="74613"/>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7" name="Oval 11"/>
              <p:cNvSpPr>
                <a:spLocks noChangeArrowheads="1"/>
              </p:cNvSpPr>
              <p:nvPr/>
            </p:nvSpPr>
            <p:spPr bwMode="auto">
              <a:xfrm>
                <a:off x="1750748" y="3697288"/>
                <a:ext cx="80831" cy="7461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8" name="Oval 12"/>
              <p:cNvSpPr>
                <a:spLocks noChangeArrowheads="1"/>
              </p:cNvSpPr>
              <p:nvPr/>
            </p:nvSpPr>
            <p:spPr bwMode="auto">
              <a:xfrm>
                <a:off x="2918487" y="3151188"/>
                <a:ext cx="80830" cy="7461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sz="2800" b="1">
                  <a:solidFill>
                    <a:srgbClr val="C00000"/>
                  </a:solidFill>
                </a:endParaRPr>
              </a:p>
            </p:txBody>
          </p:sp>
          <p:sp>
            <p:nvSpPr>
              <p:cNvPr id="19" name="Oval 13"/>
              <p:cNvSpPr>
                <a:spLocks noChangeArrowheads="1"/>
              </p:cNvSpPr>
              <p:nvPr/>
            </p:nvSpPr>
            <p:spPr bwMode="auto">
              <a:xfrm>
                <a:off x="2345796" y="4229101"/>
                <a:ext cx="80831" cy="74613"/>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20" name="Oval 14"/>
              <p:cNvSpPr>
                <a:spLocks noChangeArrowheads="1"/>
              </p:cNvSpPr>
              <p:nvPr/>
            </p:nvSpPr>
            <p:spPr bwMode="auto">
              <a:xfrm>
                <a:off x="1750748" y="4230688"/>
                <a:ext cx="80831" cy="7461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21" name="Oval 15"/>
              <p:cNvSpPr>
                <a:spLocks noChangeArrowheads="1"/>
              </p:cNvSpPr>
              <p:nvPr/>
            </p:nvSpPr>
            <p:spPr bwMode="auto">
              <a:xfrm>
                <a:off x="2918487" y="3695701"/>
                <a:ext cx="80830" cy="74613"/>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22" name="Oval 16"/>
              <p:cNvSpPr>
                <a:spLocks noChangeArrowheads="1"/>
              </p:cNvSpPr>
              <p:nvPr/>
            </p:nvSpPr>
            <p:spPr bwMode="auto">
              <a:xfrm>
                <a:off x="2344076" y="4786313"/>
                <a:ext cx="80830" cy="7461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23" name="Oval 17"/>
              <p:cNvSpPr>
                <a:spLocks noChangeArrowheads="1"/>
              </p:cNvSpPr>
              <p:nvPr/>
            </p:nvSpPr>
            <p:spPr bwMode="auto">
              <a:xfrm>
                <a:off x="1172898" y="4786313"/>
                <a:ext cx="80831" cy="7461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24" name="Oval 18"/>
              <p:cNvSpPr>
                <a:spLocks noChangeArrowheads="1"/>
              </p:cNvSpPr>
              <p:nvPr/>
            </p:nvSpPr>
            <p:spPr bwMode="auto">
              <a:xfrm>
                <a:off x="2918487" y="4230688"/>
                <a:ext cx="80830" cy="7461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25" name="Oval 19"/>
              <p:cNvSpPr>
                <a:spLocks noChangeArrowheads="1"/>
              </p:cNvSpPr>
              <p:nvPr/>
            </p:nvSpPr>
            <p:spPr bwMode="auto">
              <a:xfrm>
                <a:off x="1749029" y="4786313"/>
                <a:ext cx="80830" cy="7461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26" name="Oval 20"/>
              <p:cNvSpPr>
                <a:spLocks noChangeArrowheads="1"/>
              </p:cNvSpPr>
              <p:nvPr/>
            </p:nvSpPr>
            <p:spPr bwMode="auto">
              <a:xfrm>
                <a:off x="2918487" y="4786313"/>
                <a:ext cx="80830" cy="7461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27" name="Line 21"/>
              <p:cNvSpPr>
                <a:spLocks noChangeShapeType="1"/>
              </p:cNvSpPr>
              <p:nvPr/>
            </p:nvSpPr>
            <p:spPr bwMode="auto">
              <a:xfrm>
                <a:off x="584729" y="4011613"/>
                <a:ext cx="2641600" cy="0"/>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28" name="Line 22"/>
              <p:cNvSpPr>
                <a:spLocks noChangeShapeType="1"/>
              </p:cNvSpPr>
              <p:nvPr/>
            </p:nvSpPr>
            <p:spPr bwMode="auto">
              <a:xfrm>
                <a:off x="584729" y="4011613"/>
                <a:ext cx="2971800" cy="0"/>
              </a:xfrm>
              <a:prstGeom prst="line">
                <a:avLst/>
              </a:prstGeom>
              <a:noFill/>
              <a:ln w="28575">
                <a:solidFill>
                  <a:srgbClr val="0099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29" name="Line 23"/>
              <p:cNvSpPr>
                <a:spLocks noChangeShapeType="1"/>
              </p:cNvSpPr>
              <p:nvPr/>
            </p:nvSpPr>
            <p:spPr bwMode="auto">
              <a:xfrm flipV="1">
                <a:off x="2077508" y="3197225"/>
                <a:ext cx="297525" cy="808038"/>
              </a:xfrm>
              <a:prstGeom prst="line">
                <a:avLst/>
              </a:prstGeom>
              <a:noFill/>
              <a:ln w="28575">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30" name="Freeform 24"/>
              <p:cNvSpPr>
                <a:spLocks/>
              </p:cNvSpPr>
              <p:nvPr/>
            </p:nvSpPr>
            <p:spPr bwMode="auto">
              <a:xfrm>
                <a:off x="2170378" y="3751263"/>
                <a:ext cx="189177" cy="260350"/>
              </a:xfrm>
              <a:custGeom>
                <a:avLst/>
                <a:gdLst>
                  <a:gd name="T0" fmla="*/ 0 w 110"/>
                  <a:gd name="T1" fmla="*/ 0 h 164"/>
                  <a:gd name="T2" fmla="*/ 44 w 110"/>
                  <a:gd name="T3" fmla="*/ 24 h 164"/>
                  <a:gd name="T4" fmla="*/ 86 w 110"/>
                  <a:gd name="T5" fmla="*/ 66 h 164"/>
                  <a:gd name="T6" fmla="*/ 104 w 110"/>
                  <a:gd name="T7" fmla="*/ 112 h 164"/>
                  <a:gd name="T8" fmla="*/ 110 w 110"/>
                  <a:gd name="T9" fmla="*/ 164 h 164"/>
                </a:gdLst>
                <a:ahLst/>
                <a:cxnLst>
                  <a:cxn ang="0">
                    <a:pos x="T0" y="T1"/>
                  </a:cxn>
                  <a:cxn ang="0">
                    <a:pos x="T2" y="T3"/>
                  </a:cxn>
                  <a:cxn ang="0">
                    <a:pos x="T4" y="T5"/>
                  </a:cxn>
                  <a:cxn ang="0">
                    <a:pos x="T6" y="T7"/>
                  </a:cxn>
                  <a:cxn ang="0">
                    <a:pos x="T8" y="T9"/>
                  </a:cxn>
                </a:cxnLst>
                <a:rect l="0" t="0" r="r" b="b"/>
                <a:pathLst>
                  <a:path w="110" h="164">
                    <a:moveTo>
                      <a:pt x="0" y="0"/>
                    </a:moveTo>
                    <a:cubicBezTo>
                      <a:pt x="7" y="4"/>
                      <a:pt x="30" y="13"/>
                      <a:pt x="44" y="24"/>
                    </a:cubicBezTo>
                    <a:cubicBezTo>
                      <a:pt x="58" y="35"/>
                      <a:pt x="76" y="51"/>
                      <a:pt x="86" y="66"/>
                    </a:cubicBezTo>
                    <a:cubicBezTo>
                      <a:pt x="96" y="81"/>
                      <a:pt x="100" y="96"/>
                      <a:pt x="104" y="112"/>
                    </a:cubicBezTo>
                    <a:cubicBezTo>
                      <a:pt x="108" y="128"/>
                      <a:pt x="109" y="153"/>
                      <a:pt x="110" y="164"/>
                    </a:cubicBezTo>
                  </a:path>
                </a:pathLst>
              </a:custGeom>
              <a:noFill/>
              <a:ln w="19050"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31" name="Text Box 25"/>
              <p:cNvSpPr txBox="1">
                <a:spLocks noChangeArrowheads="1"/>
              </p:cNvSpPr>
              <p:nvPr/>
            </p:nvSpPr>
            <p:spPr bwMode="auto">
              <a:xfrm>
                <a:off x="2001737" y="3288761"/>
                <a:ext cx="338470" cy="4133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b="1" dirty="0">
                    <a:solidFill>
                      <a:srgbClr val="CC00CC"/>
                    </a:solidFill>
                    <a:latin typeface="Times New Roman" pitchFamily="18" charset="0"/>
                  </a:rPr>
                  <a:t>r</a:t>
                </a:r>
              </a:p>
            </p:txBody>
          </p:sp>
        </p:grpSp>
        <p:sp>
          <p:nvSpPr>
            <p:cNvPr id="6" name="Text Box 26"/>
            <p:cNvSpPr txBox="1">
              <a:spLocks noChangeArrowheads="1"/>
            </p:cNvSpPr>
            <p:nvPr/>
          </p:nvSpPr>
          <p:spPr bwMode="auto">
            <a:xfrm>
              <a:off x="7611834" y="2074413"/>
              <a:ext cx="32412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b="1" dirty="0">
                  <a:solidFill>
                    <a:srgbClr val="CC00CC"/>
                  </a:solidFill>
                  <a:latin typeface="Times New Roman" pitchFamily="18" charset="0"/>
                  <a:sym typeface="Symbol" pitchFamily="18" charset="2"/>
                </a:rPr>
                <a:t></a:t>
              </a:r>
              <a:endParaRPr kumimoji="1" lang="en-US" altLang="zh-CN" b="1" dirty="0">
                <a:solidFill>
                  <a:srgbClr val="CC00CC"/>
                </a:solidFill>
                <a:latin typeface="Times New Roman" pitchFamily="18" charset="0"/>
              </a:endParaRPr>
            </a:p>
          </p:txBody>
        </p:sp>
        <p:sp>
          <p:nvSpPr>
            <p:cNvPr id="7" name="Text Box 27"/>
            <p:cNvSpPr txBox="1">
              <a:spLocks noChangeArrowheads="1"/>
            </p:cNvSpPr>
            <p:nvPr/>
          </p:nvSpPr>
          <p:spPr bwMode="auto">
            <a:xfrm>
              <a:off x="7452478" y="1304962"/>
              <a:ext cx="67486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b="1" dirty="0">
                  <a:solidFill>
                    <a:srgbClr val="CC00CC"/>
                  </a:solidFill>
                  <a:latin typeface="Times New Roman" pitchFamily="18" charset="0"/>
                  <a:sym typeface="Symbol" pitchFamily="18" charset="2"/>
                </a:rPr>
                <a:t>(r, )</a:t>
              </a:r>
              <a:endParaRPr kumimoji="1" lang="en-US" altLang="zh-CN" b="1" dirty="0">
                <a:solidFill>
                  <a:srgbClr val="CC00CC"/>
                </a:solidFill>
                <a:latin typeface="Times New Roman" pitchFamily="18" charset="0"/>
              </a:endParaRPr>
            </a:p>
          </p:txBody>
        </p:sp>
      </p:grpSp>
      <p:sp>
        <p:nvSpPr>
          <p:cNvPr id="32" name="内容占位符 2"/>
          <p:cNvSpPr txBox="1">
            <a:spLocks/>
          </p:cNvSpPr>
          <p:nvPr/>
        </p:nvSpPr>
        <p:spPr>
          <a:xfrm>
            <a:off x="466344" y="1415510"/>
            <a:ext cx="5476841" cy="3249896"/>
          </a:xfrm>
          <a:prstGeom prst="rect">
            <a:avLst/>
          </a:prstGeom>
        </p:spPr>
        <p:txBody>
          <a:bodyPr/>
          <a:lstStyle>
            <a:lvl1pPr marL="342900" indent="-342900" algn="l" rtl="0" fontAlgn="base">
              <a:lnSpc>
                <a:spcPts val="3000"/>
              </a:lnSpc>
              <a:spcBef>
                <a:spcPts val="0"/>
              </a:spcBef>
              <a:spcAft>
                <a:spcPct val="0"/>
              </a:spcAft>
              <a:buClr>
                <a:srgbClr val="0066CC"/>
              </a:buClr>
              <a:buFont typeface="Wingdings" panose="05000000000000000000" pitchFamily="2" charset="2"/>
              <a:buChar char="l"/>
              <a:defRPr lang="zh-CN" altLang="en-US" sz="2000" b="1" kern="1200" dirty="0" smtClean="0">
                <a:solidFill>
                  <a:schemeClr val="tx1"/>
                </a:solidFill>
                <a:latin typeface="微软雅黑" pitchFamily="34" charset="-122"/>
                <a:ea typeface="微软雅黑" pitchFamily="34" charset="-122"/>
                <a:cs typeface="+mn-cs"/>
              </a:defRPr>
            </a:lvl1pPr>
            <a:lvl2pPr marL="742950" indent="-285750" algn="l" rtl="0" fontAlgn="base">
              <a:lnSpc>
                <a:spcPts val="3000"/>
              </a:lnSpc>
              <a:spcBef>
                <a:spcPts val="0"/>
              </a:spcBef>
              <a:spcAft>
                <a:spcPct val="0"/>
              </a:spcAft>
              <a:buClr>
                <a:schemeClr val="accent6">
                  <a:lumMod val="50000"/>
                </a:schemeClr>
              </a:buClr>
              <a:buFont typeface="Wingdings" panose="05000000000000000000" pitchFamily="2" charset="2"/>
              <a:buChar char="u"/>
              <a:defRPr sz="1800" b="1"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fontAlgn="base">
              <a:lnSpc>
                <a:spcPts val="3000"/>
              </a:lnSpc>
              <a:spcBef>
                <a:spcPts val="0"/>
              </a:spcBef>
              <a:spcAft>
                <a:spcPct val="0"/>
              </a:spcAft>
              <a:buClr>
                <a:srgbClr val="006600"/>
              </a:buClr>
              <a:buFont typeface="Wingdings" panose="05000000000000000000" pitchFamily="2" charset="2"/>
              <a:buChar char="Ø"/>
              <a:defRPr sz="1600" b="1"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fontAlgn="base">
              <a:lnSpc>
                <a:spcPts val="3000"/>
              </a:lnSpc>
              <a:spcBef>
                <a:spcPts val="0"/>
              </a:spcBef>
              <a:spcAft>
                <a:spcPct val="0"/>
              </a:spcAft>
              <a:buFont typeface="Arial" charset="0"/>
              <a:buChar char="–"/>
              <a:defRPr sz="1400" b="1"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fontAlgn="base">
              <a:lnSpc>
                <a:spcPts val="3000"/>
              </a:lnSpc>
              <a:spcBef>
                <a:spcPts val="0"/>
              </a:spcBef>
              <a:spcAft>
                <a:spcPct val="0"/>
              </a:spcAft>
              <a:buFont typeface="Arial" charset="0"/>
              <a:buChar char="»"/>
              <a:defRPr sz="1400" b="1"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dirty="0"/>
              <a:t>例如：</a:t>
            </a:r>
            <a:r>
              <a:rPr lang="en-US" altLang="zh-CN" dirty="0"/>
              <a:t>16-QAM</a:t>
            </a:r>
            <a:endParaRPr lang="zh-CN" altLang="en-US" dirty="0"/>
          </a:p>
          <a:p>
            <a:pPr lvl="1"/>
            <a:r>
              <a:rPr lang="zh-CN" altLang="en-US" dirty="0"/>
              <a:t>可供选择的振幅</a:t>
            </a:r>
            <a:r>
              <a:rPr lang="en-US" altLang="zh-CN" dirty="0"/>
              <a:t>/</a:t>
            </a:r>
            <a:r>
              <a:rPr lang="zh-CN" altLang="en-US" dirty="0"/>
              <a:t>相位组合共有 </a:t>
            </a:r>
            <a:r>
              <a:rPr lang="en-US" altLang="zh-CN" dirty="0"/>
              <a:t>16 </a:t>
            </a:r>
            <a:r>
              <a:rPr lang="zh-CN" altLang="en-US" dirty="0"/>
              <a:t>种，对应星座图中的 </a:t>
            </a:r>
            <a:r>
              <a:rPr lang="en-US" altLang="zh-CN" dirty="0"/>
              <a:t>16 </a:t>
            </a:r>
            <a:r>
              <a:rPr lang="zh-CN" altLang="en-US" dirty="0"/>
              <a:t>个点，也就是说每个码元有</a:t>
            </a:r>
            <a:r>
              <a:rPr lang="en-US" altLang="zh-CN" dirty="0"/>
              <a:t> 16 </a:t>
            </a:r>
            <a:r>
              <a:rPr lang="zh-CN" altLang="en-US" dirty="0"/>
              <a:t>种状态，因此共有 </a:t>
            </a:r>
            <a:r>
              <a:rPr lang="en-US" altLang="zh-CN" dirty="0"/>
              <a:t>16 </a:t>
            </a:r>
            <a:r>
              <a:rPr lang="zh-CN" altLang="en-US" dirty="0"/>
              <a:t>种码元。</a:t>
            </a:r>
          </a:p>
          <a:p>
            <a:pPr lvl="1"/>
            <a:r>
              <a:rPr lang="zh-CN" altLang="en-US" dirty="0"/>
              <a:t>由于 </a:t>
            </a:r>
            <a:r>
              <a:rPr lang="en-US" altLang="zh-CN" dirty="0"/>
              <a:t>4 bit </a:t>
            </a:r>
            <a:r>
              <a:rPr lang="zh-CN" altLang="en-US" dirty="0"/>
              <a:t>编码共有 </a:t>
            </a:r>
            <a:r>
              <a:rPr lang="en-US" altLang="zh-CN" dirty="0"/>
              <a:t>16 </a:t>
            </a:r>
            <a:r>
              <a:rPr lang="zh-CN" altLang="en-US" dirty="0"/>
              <a:t>种不同的组合，因此这 </a:t>
            </a:r>
            <a:r>
              <a:rPr lang="en-US" altLang="zh-CN" dirty="0"/>
              <a:t>16 </a:t>
            </a:r>
            <a:r>
              <a:rPr lang="zh-CN" altLang="en-US" dirty="0"/>
              <a:t>个点中的每个点可对应于一种 </a:t>
            </a:r>
            <a:r>
              <a:rPr lang="en-US" altLang="zh-CN" dirty="0"/>
              <a:t>4 bit </a:t>
            </a:r>
            <a:r>
              <a:rPr lang="zh-CN" altLang="en-US" dirty="0"/>
              <a:t>的编码。数据传输率为二元调制的 </a:t>
            </a:r>
            <a:r>
              <a:rPr lang="en-US" altLang="zh-CN" dirty="0"/>
              <a:t>4 </a:t>
            </a:r>
            <a:r>
              <a:rPr lang="zh-CN" altLang="en-US" dirty="0"/>
              <a:t>倍。</a:t>
            </a:r>
            <a:endParaRPr lang="en-US" altLang="zh-CN" dirty="0"/>
          </a:p>
          <a:p>
            <a:r>
              <a:rPr lang="zh-CN" altLang="en-US" dirty="0"/>
              <a:t>调制阶数越高，码元携带的信息就越多。</a:t>
            </a:r>
          </a:p>
        </p:txBody>
      </p:sp>
      <p:sp>
        <p:nvSpPr>
          <p:cNvPr id="9" name="文本框 8">
            <a:extLst>
              <a:ext uri="{FF2B5EF4-FFF2-40B4-BE49-F238E27FC236}">
                <a16:creationId xmlns:a16="http://schemas.microsoft.com/office/drawing/2014/main" id="{636BA1BC-EA67-2503-D85C-808AE5FD2C0A}"/>
              </a:ext>
            </a:extLst>
          </p:cNvPr>
          <p:cNvSpPr txBox="1"/>
          <p:nvPr/>
        </p:nvSpPr>
        <p:spPr>
          <a:xfrm>
            <a:off x="6307090" y="3925216"/>
            <a:ext cx="1952452" cy="338554"/>
          </a:xfrm>
          <a:prstGeom prst="rect">
            <a:avLst/>
          </a:prstGeom>
          <a:noFill/>
        </p:spPr>
        <p:txBody>
          <a:bodyPr wrap="square">
            <a:spAutoFit/>
          </a:bodyPr>
          <a:lstStyle/>
          <a:p>
            <a:pPr algn="ctr"/>
            <a:r>
              <a:rPr lang="en-US" altLang="zh-CN" sz="1600" b="1" dirty="0">
                <a:latin typeface="微软雅黑" pitchFamily="34" charset="-122"/>
                <a:ea typeface="微软雅黑" pitchFamily="34" charset="-122"/>
              </a:rPr>
              <a:t>16-QAM</a:t>
            </a:r>
            <a:r>
              <a:rPr lang="zh-CN" altLang="en-US" sz="1600" b="1" dirty="0">
                <a:latin typeface="微软雅黑" pitchFamily="34" charset="-122"/>
                <a:ea typeface="微软雅黑" pitchFamily="34" charset="-122"/>
              </a:rPr>
              <a:t>星座图</a:t>
            </a:r>
          </a:p>
        </p:txBody>
      </p:sp>
    </p:spTree>
    <p:custDataLst>
      <p:tags r:id="rId1"/>
    </p:custDataLst>
    <p:extLst>
      <p:ext uri="{BB962C8B-B14F-4D97-AF65-F5344CB8AC3E}">
        <p14:creationId xmlns:p14="http://schemas.microsoft.com/office/powerpoint/2010/main" val="381679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5" presetClass="emph" presetSubtype="0" repeatCount="2000" fill="hold" nodeType="clickEffect">
                                  <p:stCondLst>
                                    <p:cond delay="0"/>
                                  </p:stCondLst>
                                  <p:childTnLst>
                                    <p:anim calcmode="discrete" valueType="str">
                                      <p:cBhvr>
                                        <p:cTn id="13" dur="10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32">
                                            <p:txEl>
                                              <p:pRg st="0" end="0"/>
                                            </p:txEl>
                                          </p:spTgt>
                                        </p:tgtEl>
                                        <p:attrNameLst>
                                          <p:attrName>style.visibility</p:attrName>
                                        </p:attrNameLst>
                                      </p:cBhvr>
                                      <p:to>
                                        <p:strVal val="visible"/>
                                      </p:to>
                                    </p:set>
                                    <p:animEffect transition="in" filter="fade">
                                      <p:cBhvr>
                                        <p:cTn id="18" dur="1000"/>
                                        <p:tgtEl>
                                          <p:spTgt spid="32">
                                            <p:txEl>
                                              <p:pRg st="0" end="0"/>
                                            </p:txEl>
                                          </p:spTgt>
                                        </p:tgtEl>
                                      </p:cBhvr>
                                    </p:animEffect>
                                    <p:anim calcmode="lin" valueType="num">
                                      <p:cBhvr>
                                        <p:cTn id="19" dur="1000" fill="hold"/>
                                        <p:tgtEl>
                                          <p:spTgt spid="32">
                                            <p:txEl>
                                              <p:pRg st="0" end="0"/>
                                            </p:txEl>
                                          </p:spTgt>
                                        </p:tgtEl>
                                        <p:attrNameLst>
                                          <p:attrName>ppt_x</p:attrName>
                                        </p:attrNameLst>
                                      </p:cBhvr>
                                      <p:tavLst>
                                        <p:tav tm="0">
                                          <p:val>
                                            <p:strVal val="#ppt_x"/>
                                          </p:val>
                                        </p:tav>
                                        <p:tav tm="100000">
                                          <p:val>
                                            <p:strVal val="#ppt_x"/>
                                          </p:val>
                                        </p:tav>
                                      </p:tavLst>
                                    </p:anim>
                                    <p:anim calcmode="lin" valueType="num">
                                      <p:cBhvr>
                                        <p:cTn id="20" dur="1000" fill="hold"/>
                                        <p:tgtEl>
                                          <p:spTgt spid="32">
                                            <p:txEl>
                                              <p:pRg st="0" end="0"/>
                                            </p:txEl>
                                          </p:spTgt>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32">
                                            <p:txEl>
                                              <p:pRg st="1" end="1"/>
                                            </p:txEl>
                                          </p:spTgt>
                                        </p:tgtEl>
                                        <p:attrNameLst>
                                          <p:attrName>style.visibility</p:attrName>
                                        </p:attrNameLst>
                                      </p:cBhvr>
                                      <p:to>
                                        <p:strVal val="visible"/>
                                      </p:to>
                                    </p:set>
                                    <p:animEffect transition="in" filter="fade">
                                      <p:cBhvr>
                                        <p:cTn id="23" dur="1000"/>
                                        <p:tgtEl>
                                          <p:spTgt spid="32">
                                            <p:txEl>
                                              <p:pRg st="1" end="1"/>
                                            </p:txEl>
                                          </p:spTgt>
                                        </p:tgtEl>
                                      </p:cBhvr>
                                    </p:animEffect>
                                    <p:anim calcmode="lin" valueType="num">
                                      <p:cBhvr>
                                        <p:cTn id="24" dur="1000" fill="hold"/>
                                        <p:tgtEl>
                                          <p:spTgt spid="32">
                                            <p:txEl>
                                              <p:pRg st="1" end="1"/>
                                            </p:txEl>
                                          </p:spTgt>
                                        </p:tgtEl>
                                        <p:attrNameLst>
                                          <p:attrName>ppt_x</p:attrName>
                                        </p:attrNameLst>
                                      </p:cBhvr>
                                      <p:tavLst>
                                        <p:tav tm="0">
                                          <p:val>
                                            <p:strVal val="#ppt_x"/>
                                          </p:val>
                                        </p:tav>
                                        <p:tav tm="100000">
                                          <p:val>
                                            <p:strVal val="#ppt_x"/>
                                          </p:val>
                                        </p:tav>
                                      </p:tavLst>
                                    </p:anim>
                                    <p:anim calcmode="lin" valueType="num">
                                      <p:cBhvr>
                                        <p:cTn id="25" dur="1000" fill="hold"/>
                                        <p:tgtEl>
                                          <p:spTgt spid="3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32">
                                            <p:txEl>
                                              <p:pRg st="2" end="2"/>
                                            </p:txEl>
                                          </p:spTgt>
                                        </p:tgtEl>
                                        <p:attrNameLst>
                                          <p:attrName>style.visibility</p:attrName>
                                        </p:attrNameLst>
                                      </p:cBhvr>
                                      <p:to>
                                        <p:strVal val="visible"/>
                                      </p:to>
                                    </p:set>
                                    <p:animEffect transition="in" filter="fade">
                                      <p:cBhvr>
                                        <p:cTn id="30" dur="1000"/>
                                        <p:tgtEl>
                                          <p:spTgt spid="32">
                                            <p:txEl>
                                              <p:pRg st="2" end="2"/>
                                            </p:txEl>
                                          </p:spTgt>
                                        </p:tgtEl>
                                      </p:cBhvr>
                                    </p:animEffect>
                                    <p:anim calcmode="lin" valueType="num">
                                      <p:cBhvr>
                                        <p:cTn id="31" dur="1000" fill="hold"/>
                                        <p:tgtEl>
                                          <p:spTgt spid="32">
                                            <p:txEl>
                                              <p:pRg st="2" end="2"/>
                                            </p:txEl>
                                          </p:spTgt>
                                        </p:tgtEl>
                                        <p:attrNameLst>
                                          <p:attrName>ppt_x</p:attrName>
                                        </p:attrNameLst>
                                      </p:cBhvr>
                                      <p:tavLst>
                                        <p:tav tm="0">
                                          <p:val>
                                            <p:strVal val="#ppt_x"/>
                                          </p:val>
                                        </p:tav>
                                        <p:tav tm="100000">
                                          <p:val>
                                            <p:strVal val="#ppt_x"/>
                                          </p:val>
                                        </p:tav>
                                      </p:tavLst>
                                    </p:anim>
                                    <p:anim calcmode="lin" valueType="num">
                                      <p:cBhvr>
                                        <p:cTn id="32" dur="1000" fill="hold"/>
                                        <p:tgtEl>
                                          <p:spTgt spid="3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grpId="0" nodeType="clickEffect">
                                  <p:stCondLst>
                                    <p:cond delay="0"/>
                                  </p:stCondLst>
                                  <p:childTnLst>
                                    <p:set>
                                      <p:cBhvr>
                                        <p:cTn id="36" dur="1" fill="hold">
                                          <p:stCondLst>
                                            <p:cond delay="0"/>
                                          </p:stCondLst>
                                        </p:cTn>
                                        <p:tgtEl>
                                          <p:spTgt spid="32">
                                            <p:txEl>
                                              <p:pRg st="3" end="3"/>
                                            </p:txEl>
                                          </p:spTgt>
                                        </p:tgtEl>
                                        <p:attrNameLst>
                                          <p:attrName>style.visibility</p:attrName>
                                        </p:attrNameLst>
                                      </p:cBhvr>
                                      <p:to>
                                        <p:strVal val="visible"/>
                                      </p:to>
                                    </p:set>
                                    <p:animEffect transition="in" filter="fade">
                                      <p:cBhvr>
                                        <p:cTn id="37" dur="1000"/>
                                        <p:tgtEl>
                                          <p:spTgt spid="32">
                                            <p:txEl>
                                              <p:pRg st="3" end="3"/>
                                            </p:txEl>
                                          </p:spTgt>
                                        </p:tgtEl>
                                      </p:cBhvr>
                                    </p:animEffect>
                                    <p:anim calcmode="lin" valueType="num">
                                      <p:cBhvr>
                                        <p:cTn id="38" dur="1000" fill="hold"/>
                                        <p:tgtEl>
                                          <p:spTgt spid="32">
                                            <p:txEl>
                                              <p:pRg st="3" end="3"/>
                                            </p:txEl>
                                          </p:spTgt>
                                        </p:tgtEl>
                                        <p:attrNameLst>
                                          <p:attrName>ppt_x</p:attrName>
                                        </p:attrNameLst>
                                      </p:cBhvr>
                                      <p:tavLst>
                                        <p:tav tm="0">
                                          <p:val>
                                            <p:strVal val="#ppt_x"/>
                                          </p:val>
                                        </p:tav>
                                        <p:tav tm="100000">
                                          <p:val>
                                            <p:strVal val="#ppt_x"/>
                                          </p:val>
                                        </p:tav>
                                      </p:tavLst>
                                    </p:anim>
                                    <p:anim calcmode="lin" valueType="num">
                                      <p:cBhvr>
                                        <p:cTn id="39" dur="1000" fill="hold"/>
                                        <p:tgtEl>
                                          <p:spTgt spid="3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2" grpId="0" uiExpand="1" build="p" bldLvl="2"/>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459C5-1029-FC16-EE6F-F2E224443309}"/>
            </a:ext>
          </a:extLst>
        </p:cNvPr>
        <p:cNvGrpSpPr/>
        <p:nvPr/>
      </p:nvGrpSpPr>
      <p:grpSpPr>
        <a:xfrm>
          <a:off x="0" y="0"/>
          <a:ext cx="0" cy="0"/>
          <a:chOff x="0" y="0"/>
          <a:chExt cx="0" cy="0"/>
        </a:xfrm>
      </p:grpSpPr>
      <p:sp>
        <p:nvSpPr>
          <p:cNvPr id="4" name="文本占位符 3">
            <a:extLst>
              <a:ext uri="{FF2B5EF4-FFF2-40B4-BE49-F238E27FC236}">
                <a16:creationId xmlns:a16="http://schemas.microsoft.com/office/drawing/2014/main" id="{55FAE41E-1871-C9A2-0A88-FE8EC04300DE}"/>
              </a:ext>
            </a:extLst>
          </p:cNvPr>
          <p:cNvSpPr>
            <a:spLocks noGrp="1"/>
          </p:cNvSpPr>
          <p:nvPr>
            <p:ph type="body" sz="quarter" idx="11"/>
          </p:nvPr>
        </p:nvSpPr>
        <p:spPr>
          <a:xfrm>
            <a:off x="1332000" y="360000"/>
            <a:ext cx="6480000" cy="354012"/>
          </a:xfrm>
        </p:spPr>
        <p:txBody>
          <a:bodyPr>
            <a:normAutofit fontScale="92500" lnSpcReduction="10000"/>
          </a:bodyPr>
          <a:lstStyle/>
          <a:p>
            <a:r>
              <a:rPr lang="en-US" altLang="zh-CN" dirty="0"/>
              <a:t>2.2.3  </a:t>
            </a:r>
            <a:r>
              <a:rPr lang="zh-CN" altLang="en-US" dirty="0"/>
              <a:t>信道的极限容量</a:t>
            </a:r>
          </a:p>
        </p:txBody>
      </p:sp>
      <p:sp>
        <p:nvSpPr>
          <p:cNvPr id="7" name="AutoShape 4">
            <a:extLst>
              <a:ext uri="{FF2B5EF4-FFF2-40B4-BE49-F238E27FC236}">
                <a16:creationId xmlns:a16="http://schemas.microsoft.com/office/drawing/2014/main" id="{2DF5287D-F6A2-F278-9227-C4198DB3C14C}"/>
              </a:ext>
            </a:extLst>
          </p:cNvPr>
          <p:cNvSpPr>
            <a:spLocks noChangeArrowheads="1"/>
          </p:cNvSpPr>
          <p:nvPr/>
        </p:nvSpPr>
        <p:spPr bwMode="auto">
          <a:xfrm rot="16200000">
            <a:off x="4403532" y="696389"/>
            <a:ext cx="252852" cy="2814034"/>
          </a:xfrm>
          <a:prstGeom prst="can">
            <a:avLst>
              <a:gd name="adj" fmla="val 66775"/>
            </a:avLst>
          </a:prstGeom>
          <a:gradFill rotWithShape="1">
            <a:gsLst>
              <a:gs pos="0">
                <a:srgbClr val="00B050"/>
              </a:gs>
              <a:gs pos="50000">
                <a:schemeClr val="bg1"/>
              </a:gs>
              <a:gs pos="100000">
                <a:srgbClr val="009900"/>
              </a:gs>
            </a:gsLst>
            <a:lin ang="0" scaled="1"/>
          </a:gra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endParaRPr>
          </a:p>
        </p:txBody>
      </p:sp>
      <p:sp>
        <p:nvSpPr>
          <p:cNvPr id="8" name="Freeform 5">
            <a:extLst>
              <a:ext uri="{FF2B5EF4-FFF2-40B4-BE49-F238E27FC236}">
                <a16:creationId xmlns:a16="http://schemas.microsoft.com/office/drawing/2014/main" id="{21574B62-D4D9-CD31-05F8-5C7BCAAE5536}"/>
              </a:ext>
            </a:extLst>
          </p:cNvPr>
          <p:cNvSpPr>
            <a:spLocks/>
          </p:cNvSpPr>
          <p:nvPr/>
        </p:nvSpPr>
        <p:spPr bwMode="auto">
          <a:xfrm>
            <a:off x="1909540" y="1597194"/>
            <a:ext cx="1067089" cy="421419"/>
          </a:xfrm>
          <a:custGeom>
            <a:avLst/>
            <a:gdLst>
              <a:gd name="T0" fmla="*/ 0 w 1056"/>
              <a:gd name="T1" fmla="*/ 480 h 480"/>
              <a:gd name="T2" fmla="*/ 144 w 1056"/>
              <a:gd name="T3" fmla="*/ 480 h 480"/>
              <a:gd name="T4" fmla="*/ 144 w 1056"/>
              <a:gd name="T5" fmla="*/ 0 h 480"/>
              <a:gd name="T6" fmla="*/ 384 w 1056"/>
              <a:gd name="T7" fmla="*/ 0 h 480"/>
              <a:gd name="T8" fmla="*/ 384 w 1056"/>
              <a:gd name="T9" fmla="*/ 480 h 480"/>
              <a:gd name="T10" fmla="*/ 624 w 1056"/>
              <a:gd name="T11" fmla="*/ 480 h 480"/>
              <a:gd name="T12" fmla="*/ 624 w 1056"/>
              <a:gd name="T13" fmla="*/ 0 h 480"/>
              <a:gd name="T14" fmla="*/ 864 w 1056"/>
              <a:gd name="T15" fmla="*/ 0 h 480"/>
              <a:gd name="T16" fmla="*/ 864 w 1056"/>
              <a:gd name="T17" fmla="*/ 480 h 480"/>
              <a:gd name="T18" fmla="*/ 1056 w 1056"/>
              <a:gd name="T19" fmla="*/ 48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38100"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endParaRPr>
          </a:p>
        </p:txBody>
      </p:sp>
      <p:sp>
        <p:nvSpPr>
          <p:cNvPr id="9" name="Line 6">
            <a:extLst>
              <a:ext uri="{FF2B5EF4-FFF2-40B4-BE49-F238E27FC236}">
                <a16:creationId xmlns:a16="http://schemas.microsoft.com/office/drawing/2014/main" id="{10479A80-8EBB-11F2-88FB-92E4C266D704}"/>
              </a:ext>
            </a:extLst>
          </p:cNvPr>
          <p:cNvSpPr>
            <a:spLocks noChangeShapeType="1"/>
          </p:cNvSpPr>
          <p:nvPr/>
        </p:nvSpPr>
        <p:spPr bwMode="auto">
          <a:xfrm>
            <a:off x="1909540" y="2102898"/>
            <a:ext cx="1358613" cy="0"/>
          </a:xfrm>
          <a:prstGeom prst="line">
            <a:avLst/>
          </a:prstGeom>
          <a:noFill/>
          <a:ln w="38100">
            <a:solidFill>
              <a:srgbClr val="0099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endParaRPr>
          </a:p>
        </p:txBody>
      </p:sp>
      <p:sp>
        <p:nvSpPr>
          <p:cNvPr id="10" name="Freeform 7">
            <a:extLst>
              <a:ext uri="{FF2B5EF4-FFF2-40B4-BE49-F238E27FC236}">
                <a16:creationId xmlns:a16="http://schemas.microsoft.com/office/drawing/2014/main" id="{5845797E-471D-91FA-8D65-35A28D63F615}"/>
              </a:ext>
            </a:extLst>
          </p:cNvPr>
          <p:cNvSpPr>
            <a:spLocks/>
          </p:cNvSpPr>
          <p:nvPr/>
        </p:nvSpPr>
        <p:spPr bwMode="auto">
          <a:xfrm>
            <a:off x="6130590" y="1597194"/>
            <a:ext cx="1068189" cy="421419"/>
          </a:xfrm>
          <a:custGeom>
            <a:avLst/>
            <a:gdLst>
              <a:gd name="T0" fmla="*/ 0 w 1056"/>
              <a:gd name="T1" fmla="*/ 480 h 480"/>
              <a:gd name="T2" fmla="*/ 144 w 1056"/>
              <a:gd name="T3" fmla="*/ 480 h 480"/>
              <a:gd name="T4" fmla="*/ 144 w 1056"/>
              <a:gd name="T5" fmla="*/ 0 h 480"/>
              <a:gd name="T6" fmla="*/ 384 w 1056"/>
              <a:gd name="T7" fmla="*/ 0 h 480"/>
              <a:gd name="T8" fmla="*/ 384 w 1056"/>
              <a:gd name="T9" fmla="*/ 480 h 480"/>
              <a:gd name="T10" fmla="*/ 624 w 1056"/>
              <a:gd name="T11" fmla="*/ 480 h 480"/>
              <a:gd name="T12" fmla="*/ 624 w 1056"/>
              <a:gd name="T13" fmla="*/ 0 h 480"/>
              <a:gd name="T14" fmla="*/ 864 w 1056"/>
              <a:gd name="T15" fmla="*/ 0 h 480"/>
              <a:gd name="T16" fmla="*/ 864 w 1056"/>
              <a:gd name="T17" fmla="*/ 480 h 480"/>
              <a:gd name="T18" fmla="*/ 1056 w 1056"/>
              <a:gd name="T19" fmla="*/ 48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28575" cap="flat" cmpd="sng">
            <a:solidFill>
              <a:srgbClr val="CC00CC"/>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endParaRPr>
          </a:p>
        </p:txBody>
      </p:sp>
      <p:sp>
        <p:nvSpPr>
          <p:cNvPr id="11" name="Line 8">
            <a:extLst>
              <a:ext uri="{FF2B5EF4-FFF2-40B4-BE49-F238E27FC236}">
                <a16:creationId xmlns:a16="http://schemas.microsoft.com/office/drawing/2014/main" id="{F3277C87-D102-DDD4-4218-DE9002AFE328}"/>
              </a:ext>
            </a:extLst>
          </p:cNvPr>
          <p:cNvSpPr>
            <a:spLocks noChangeShapeType="1"/>
          </p:cNvSpPr>
          <p:nvPr/>
        </p:nvSpPr>
        <p:spPr bwMode="auto">
          <a:xfrm>
            <a:off x="5936975" y="2102898"/>
            <a:ext cx="1497097" cy="0"/>
          </a:xfrm>
          <a:prstGeom prst="line">
            <a:avLst/>
          </a:prstGeom>
          <a:noFill/>
          <a:ln w="38100">
            <a:solidFill>
              <a:srgbClr val="0099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endParaRPr>
          </a:p>
        </p:txBody>
      </p:sp>
      <p:sp>
        <p:nvSpPr>
          <p:cNvPr id="12" name="Freeform 9">
            <a:extLst>
              <a:ext uri="{FF2B5EF4-FFF2-40B4-BE49-F238E27FC236}">
                <a16:creationId xmlns:a16="http://schemas.microsoft.com/office/drawing/2014/main" id="{E50F7DE5-BD37-81A6-A134-409BB975735F}"/>
              </a:ext>
            </a:extLst>
          </p:cNvPr>
          <p:cNvSpPr>
            <a:spLocks/>
          </p:cNvSpPr>
          <p:nvPr/>
        </p:nvSpPr>
        <p:spPr bwMode="auto">
          <a:xfrm>
            <a:off x="6140492" y="1620550"/>
            <a:ext cx="1036286" cy="405173"/>
          </a:xfrm>
          <a:custGeom>
            <a:avLst/>
            <a:gdLst>
              <a:gd name="T0" fmla="*/ 0 w 1026"/>
              <a:gd name="T1" fmla="*/ 447 h 461"/>
              <a:gd name="T2" fmla="*/ 57 w 1026"/>
              <a:gd name="T3" fmla="*/ 459 h 461"/>
              <a:gd name="T4" fmla="*/ 78 w 1026"/>
              <a:gd name="T5" fmla="*/ 456 h 461"/>
              <a:gd name="T6" fmla="*/ 105 w 1026"/>
              <a:gd name="T7" fmla="*/ 444 h 461"/>
              <a:gd name="T8" fmla="*/ 153 w 1026"/>
              <a:gd name="T9" fmla="*/ 444 h 461"/>
              <a:gd name="T10" fmla="*/ 177 w 1026"/>
              <a:gd name="T11" fmla="*/ 354 h 461"/>
              <a:gd name="T12" fmla="*/ 180 w 1026"/>
              <a:gd name="T13" fmla="*/ 258 h 461"/>
              <a:gd name="T14" fmla="*/ 183 w 1026"/>
              <a:gd name="T15" fmla="*/ 246 h 461"/>
              <a:gd name="T16" fmla="*/ 189 w 1026"/>
              <a:gd name="T17" fmla="*/ 207 h 461"/>
              <a:gd name="T18" fmla="*/ 198 w 1026"/>
              <a:gd name="T19" fmla="*/ 180 h 461"/>
              <a:gd name="T20" fmla="*/ 213 w 1026"/>
              <a:gd name="T21" fmla="*/ 96 h 461"/>
              <a:gd name="T22" fmla="*/ 228 w 1026"/>
              <a:gd name="T23" fmla="*/ 18 h 461"/>
              <a:gd name="T24" fmla="*/ 252 w 1026"/>
              <a:gd name="T25" fmla="*/ 3 h 461"/>
              <a:gd name="T26" fmla="*/ 261 w 1026"/>
              <a:gd name="T27" fmla="*/ 0 h 461"/>
              <a:gd name="T28" fmla="*/ 321 w 1026"/>
              <a:gd name="T29" fmla="*/ 27 h 461"/>
              <a:gd name="T30" fmla="*/ 363 w 1026"/>
              <a:gd name="T31" fmla="*/ 27 h 461"/>
              <a:gd name="T32" fmla="*/ 387 w 1026"/>
              <a:gd name="T33" fmla="*/ 81 h 461"/>
              <a:gd name="T34" fmla="*/ 399 w 1026"/>
              <a:gd name="T35" fmla="*/ 222 h 461"/>
              <a:gd name="T36" fmla="*/ 417 w 1026"/>
              <a:gd name="T37" fmla="*/ 366 h 461"/>
              <a:gd name="T38" fmla="*/ 450 w 1026"/>
              <a:gd name="T39" fmla="*/ 417 h 461"/>
              <a:gd name="T40" fmla="*/ 504 w 1026"/>
              <a:gd name="T41" fmla="*/ 444 h 461"/>
              <a:gd name="T42" fmla="*/ 540 w 1026"/>
              <a:gd name="T43" fmla="*/ 450 h 461"/>
              <a:gd name="T44" fmla="*/ 558 w 1026"/>
              <a:gd name="T45" fmla="*/ 444 h 461"/>
              <a:gd name="T46" fmla="*/ 615 w 1026"/>
              <a:gd name="T47" fmla="*/ 459 h 461"/>
              <a:gd name="T48" fmla="*/ 639 w 1026"/>
              <a:gd name="T49" fmla="*/ 450 h 461"/>
              <a:gd name="T50" fmla="*/ 642 w 1026"/>
              <a:gd name="T51" fmla="*/ 432 h 461"/>
              <a:gd name="T52" fmla="*/ 654 w 1026"/>
              <a:gd name="T53" fmla="*/ 405 h 461"/>
              <a:gd name="T54" fmla="*/ 672 w 1026"/>
              <a:gd name="T55" fmla="*/ 315 h 461"/>
              <a:gd name="T56" fmla="*/ 690 w 1026"/>
              <a:gd name="T57" fmla="*/ 171 h 461"/>
              <a:gd name="T58" fmla="*/ 711 w 1026"/>
              <a:gd name="T59" fmla="*/ 81 h 461"/>
              <a:gd name="T60" fmla="*/ 741 w 1026"/>
              <a:gd name="T61" fmla="*/ 24 h 461"/>
              <a:gd name="T62" fmla="*/ 804 w 1026"/>
              <a:gd name="T63" fmla="*/ 45 h 461"/>
              <a:gd name="T64" fmla="*/ 831 w 1026"/>
              <a:gd name="T65" fmla="*/ 66 h 461"/>
              <a:gd name="T66" fmla="*/ 867 w 1026"/>
              <a:gd name="T67" fmla="*/ 69 h 461"/>
              <a:gd name="T68" fmla="*/ 870 w 1026"/>
              <a:gd name="T69" fmla="*/ 84 h 461"/>
              <a:gd name="T70" fmla="*/ 879 w 1026"/>
              <a:gd name="T71" fmla="*/ 135 h 461"/>
              <a:gd name="T72" fmla="*/ 901 w 1026"/>
              <a:gd name="T73" fmla="*/ 267 h 461"/>
              <a:gd name="T74" fmla="*/ 924 w 1026"/>
              <a:gd name="T75" fmla="*/ 363 h 461"/>
              <a:gd name="T76" fmla="*/ 963 w 1026"/>
              <a:gd name="T77" fmla="*/ 432 h 461"/>
              <a:gd name="T78" fmla="*/ 1026 w 1026"/>
              <a:gd name="T79" fmla="*/ 453 h 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026" h="461">
                <a:moveTo>
                  <a:pt x="0" y="447"/>
                </a:moveTo>
                <a:cubicBezTo>
                  <a:pt x="9" y="449"/>
                  <a:pt x="44" y="457"/>
                  <a:pt x="57" y="459"/>
                </a:cubicBezTo>
                <a:cubicBezTo>
                  <a:pt x="64" y="461"/>
                  <a:pt x="71" y="457"/>
                  <a:pt x="78" y="456"/>
                </a:cubicBezTo>
                <a:cubicBezTo>
                  <a:pt x="88" y="453"/>
                  <a:pt x="95" y="447"/>
                  <a:pt x="105" y="444"/>
                </a:cubicBezTo>
                <a:cubicBezTo>
                  <a:pt x="121" y="445"/>
                  <a:pt x="142" y="455"/>
                  <a:pt x="153" y="444"/>
                </a:cubicBezTo>
                <a:cubicBezTo>
                  <a:pt x="163" y="434"/>
                  <a:pt x="174" y="371"/>
                  <a:pt x="177" y="354"/>
                </a:cubicBezTo>
                <a:cubicBezTo>
                  <a:pt x="178" y="322"/>
                  <a:pt x="178" y="290"/>
                  <a:pt x="180" y="258"/>
                </a:cubicBezTo>
                <a:cubicBezTo>
                  <a:pt x="180" y="254"/>
                  <a:pt x="182" y="250"/>
                  <a:pt x="183" y="246"/>
                </a:cubicBezTo>
                <a:cubicBezTo>
                  <a:pt x="187" y="221"/>
                  <a:pt x="184" y="225"/>
                  <a:pt x="189" y="207"/>
                </a:cubicBezTo>
                <a:cubicBezTo>
                  <a:pt x="192" y="198"/>
                  <a:pt x="198" y="180"/>
                  <a:pt x="198" y="180"/>
                </a:cubicBezTo>
                <a:cubicBezTo>
                  <a:pt x="200" y="148"/>
                  <a:pt x="206" y="126"/>
                  <a:pt x="213" y="96"/>
                </a:cubicBezTo>
                <a:cubicBezTo>
                  <a:pt x="215" y="75"/>
                  <a:pt x="214" y="38"/>
                  <a:pt x="228" y="18"/>
                </a:cubicBezTo>
                <a:cubicBezTo>
                  <a:pt x="238" y="4"/>
                  <a:pt x="231" y="10"/>
                  <a:pt x="252" y="3"/>
                </a:cubicBezTo>
                <a:cubicBezTo>
                  <a:pt x="255" y="2"/>
                  <a:pt x="261" y="0"/>
                  <a:pt x="261" y="0"/>
                </a:cubicBezTo>
                <a:cubicBezTo>
                  <a:pt x="284" y="11"/>
                  <a:pt x="295" y="23"/>
                  <a:pt x="321" y="27"/>
                </a:cubicBezTo>
                <a:cubicBezTo>
                  <a:pt x="335" y="26"/>
                  <a:pt x="355" y="16"/>
                  <a:pt x="363" y="27"/>
                </a:cubicBezTo>
                <a:cubicBezTo>
                  <a:pt x="374" y="42"/>
                  <a:pt x="376" y="65"/>
                  <a:pt x="387" y="81"/>
                </a:cubicBezTo>
                <a:cubicBezTo>
                  <a:pt x="389" y="141"/>
                  <a:pt x="399" y="159"/>
                  <a:pt x="399" y="222"/>
                </a:cubicBezTo>
                <a:cubicBezTo>
                  <a:pt x="401" y="267"/>
                  <a:pt x="413" y="321"/>
                  <a:pt x="417" y="366"/>
                </a:cubicBezTo>
                <a:cubicBezTo>
                  <a:pt x="425" y="397"/>
                  <a:pt x="436" y="404"/>
                  <a:pt x="450" y="417"/>
                </a:cubicBezTo>
                <a:cubicBezTo>
                  <a:pt x="462" y="435"/>
                  <a:pt x="483" y="440"/>
                  <a:pt x="504" y="444"/>
                </a:cubicBezTo>
                <a:cubicBezTo>
                  <a:pt x="518" y="453"/>
                  <a:pt x="522" y="454"/>
                  <a:pt x="540" y="450"/>
                </a:cubicBezTo>
                <a:cubicBezTo>
                  <a:pt x="546" y="448"/>
                  <a:pt x="558" y="444"/>
                  <a:pt x="558" y="444"/>
                </a:cubicBezTo>
                <a:cubicBezTo>
                  <a:pt x="570" y="445"/>
                  <a:pt x="602" y="458"/>
                  <a:pt x="615" y="459"/>
                </a:cubicBezTo>
                <a:cubicBezTo>
                  <a:pt x="622" y="454"/>
                  <a:pt x="633" y="456"/>
                  <a:pt x="639" y="450"/>
                </a:cubicBezTo>
                <a:cubicBezTo>
                  <a:pt x="643" y="445"/>
                  <a:pt x="641" y="438"/>
                  <a:pt x="642" y="432"/>
                </a:cubicBezTo>
                <a:cubicBezTo>
                  <a:pt x="644" y="422"/>
                  <a:pt x="651" y="415"/>
                  <a:pt x="654" y="405"/>
                </a:cubicBezTo>
                <a:cubicBezTo>
                  <a:pt x="658" y="327"/>
                  <a:pt x="656" y="363"/>
                  <a:pt x="672" y="315"/>
                </a:cubicBezTo>
                <a:cubicBezTo>
                  <a:pt x="677" y="266"/>
                  <a:pt x="678" y="219"/>
                  <a:pt x="690" y="171"/>
                </a:cubicBezTo>
                <a:cubicBezTo>
                  <a:pt x="693" y="134"/>
                  <a:pt x="700" y="113"/>
                  <a:pt x="711" y="81"/>
                </a:cubicBezTo>
                <a:cubicBezTo>
                  <a:pt x="714" y="53"/>
                  <a:pt x="712" y="34"/>
                  <a:pt x="741" y="24"/>
                </a:cubicBezTo>
                <a:cubicBezTo>
                  <a:pt x="783" y="28"/>
                  <a:pt x="771" y="37"/>
                  <a:pt x="804" y="45"/>
                </a:cubicBezTo>
                <a:cubicBezTo>
                  <a:pt x="815" y="52"/>
                  <a:pt x="843" y="54"/>
                  <a:pt x="831" y="66"/>
                </a:cubicBezTo>
                <a:cubicBezTo>
                  <a:pt x="842" y="64"/>
                  <a:pt x="856" y="62"/>
                  <a:pt x="867" y="69"/>
                </a:cubicBezTo>
                <a:cubicBezTo>
                  <a:pt x="871" y="72"/>
                  <a:pt x="868" y="79"/>
                  <a:pt x="870" y="84"/>
                </a:cubicBezTo>
                <a:cubicBezTo>
                  <a:pt x="873" y="91"/>
                  <a:pt x="875" y="129"/>
                  <a:pt x="879" y="135"/>
                </a:cubicBezTo>
                <a:cubicBezTo>
                  <a:pt x="884" y="165"/>
                  <a:pt x="893" y="229"/>
                  <a:pt x="901" y="267"/>
                </a:cubicBezTo>
                <a:cubicBezTo>
                  <a:pt x="909" y="305"/>
                  <a:pt x="914" y="335"/>
                  <a:pt x="924" y="363"/>
                </a:cubicBezTo>
                <a:cubicBezTo>
                  <a:pt x="934" y="391"/>
                  <a:pt x="946" y="417"/>
                  <a:pt x="963" y="432"/>
                </a:cubicBezTo>
                <a:cubicBezTo>
                  <a:pt x="980" y="447"/>
                  <a:pt x="1013" y="449"/>
                  <a:pt x="1026" y="453"/>
                </a:cubicBezTo>
              </a:path>
            </a:pathLst>
          </a:custGeom>
          <a:noFill/>
          <a:ln w="38100"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endParaRPr>
          </a:p>
        </p:txBody>
      </p:sp>
      <p:sp>
        <p:nvSpPr>
          <p:cNvPr id="13" name="Text Box 10">
            <a:extLst>
              <a:ext uri="{FF2B5EF4-FFF2-40B4-BE49-F238E27FC236}">
                <a16:creationId xmlns:a16="http://schemas.microsoft.com/office/drawing/2014/main" id="{2E0B3C7B-77C9-C942-80DF-78DC4DF90DC0}"/>
              </a:ext>
            </a:extLst>
          </p:cNvPr>
          <p:cNvSpPr txBox="1">
            <a:spLocks noChangeArrowheads="1"/>
          </p:cNvSpPr>
          <p:nvPr/>
        </p:nvSpPr>
        <p:spPr bwMode="auto">
          <a:xfrm>
            <a:off x="3219215" y="1516982"/>
            <a:ext cx="264687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实际的信道</a:t>
            </a:r>
          </a:p>
          <a:p>
            <a:pPr algn="ctr"/>
            <a:r>
              <a:rPr kumimoji="1" lang="zh-CN" altLang="en-US" sz="1200" b="1" dirty="0">
                <a:solidFill>
                  <a:srgbClr val="0000FF"/>
                </a:solidFill>
                <a:latin typeface="微软雅黑" pitchFamily="34" charset="-122"/>
                <a:ea typeface="微软雅黑" pitchFamily="34" charset="-122"/>
              </a:rPr>
              <a:t>（带宽受限、有噪声、干扰和失真）</a:t>
            </a:r>
          </a:p>
        </p:txBody>
      </p:sp>
      <p:sp>
        <p:nvSpPr>
          <p:cNvPr id="14" name="Text Box 11">
            <a:extLst>
              <a:ext uri="{FF2B5EF4-FFF2-40B4-BE49-F238E27FC236}">
                <a16:creationId xmlns:a16="http://schemas.microsoft.com/office/drawing/2014/main" id="{C3CC04D2-BBB4-3E48-0D75-522F459891BB}"/>
              </a:ext>
            </a:extLst>
          </p:cNvPr>
          <p:cNvSpPr txBox="1">
            <a:spLocks noChangeArrowheads="1"/>
          </p:cNvSpPr>
          <p:nvPr/>
        </p:nvSpPr>
        <p:spPr bwMode="auto">
          <a:xfrm>
            <a:off x="1943579" y="2117115"/>
            <a:ext cx="110799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0000CC"/>
                </a:solidFill>
                <a:latin typeface="微软雅黑" pitchFamily="34" charset="-122"/>
                <a:ea typeface="微软雅黑" pitchFamily="34" charset="-122"/>
              </a:rPr>
              <a:t>发送信号波形</a:t>
            </a:r>
          </a:p>
        </p:txBody>
      </p:sp>
      <p:sp>
        <p:nvSpPr>
          <p:cNvPr id="15" name="Text Box 12">
            <a:extLst>
              <a:ext uri="{FF2B5EF4-FFF2-40B4-BE49-F238E27FC236}">
                <a16:creationId xmlns:a16="http://schemas.microsoft.com/office/drawing/2014/main" id="{F3342123-2737-FA7E-5085-0DE7B8B345AE}"/>
              </a:ext>
            </a:extLst>
          </p:cNvPr>
          <p:cNvSpPr txBox="1">
            <a:spLocks noChangeArrowheads="1"/>
          </p:cNvSpPr>
          <p:nvPr/>
        </p:nvSpPr>
        <p:spPr bwMode="auto">
          <a:xfrm>
            <a:off x="6017897" y="2126255"/>
            <a:ext cx="133331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kumimoji="1" lang="zh-CN" altLang="en-US" sz="1200" b="1">
                <a:solidFill>
                  <a:srgbClr val="0000CC"/>
                </a:solidFill>
                <a:latin typeface="微软雅黑" pitchFamily="34" charset="-122"/>
                <a:ea typeface="微软雅黑" pitchFamily="34" charset="-122"/>
              </a:rPr>
              <a:t>接收信号波形</a:t>
            </a:r>
          </a:p>
        </p:txBody>
      </p:sp>
      <p:sp>
        <p:nvSpPr>
          <p:cNvPr id="16" name="矩形 15">
            <a:extLst>
              <a:ext uri="{FF2B5EF4-FFF2-40B4-BE49-F238E27FC236}">
                <a16:creationId xmlns:a16="http://schemas.microsoft.com/office/drawing/2014/main" id="{96E24798-A971-00D9-B446-A5683D754C62}"/>
              </a:ext>
            </a:extLst>
          </p:cNvPr>
          <p:cNvSpPr/>
          <p:nvPr/>
        </p:nvSpPr>
        <p:spPr>
          <a:xfrm>
            <a:off x="3501924" y="2401252"/>
            <a:ext cx="2392639" cy="348429"/>
          </a:xfrm>
          <a:prstGeom prst="rect">
            <a:avLst/>
          </a:prstGeom>
        </p:spPr>
        <p:txBody>
          <a:bodyPr wrap="square">
            <a:spAutoFit/>
          </a:bodyPr>
          <a:lstStyle/>
          <a:p>
            <a:pPr>
              <a:lnSpc>
                <a:spcPct val="110000"/>
              </a:lnSpc>
            </a:pPr>
            <a:r>
              <a:rPr lang="en-US" altLang="zh-CN" sz="1600" b="1" dirty="0"/>
              <a:t>(a)</a:t>
            </a:r>
            <a:r>
              <a:rPr lang="zh-CN" altLang="en-US" sz="1600" b="1" dirty="0">
                <a:latin typeface="微软雅黑" pitchFamily="34" charset="-122"/>
                <a:ea typeface="微软雅黑" pitchFamily="34" charset="-122"/>
              </a:rPr>
              <a:t> 有失真，但</a:t>
            </a:r>
            <a:r>
              <a:rPr lang="zh-CN" altLang="en-US" sz="1600" b="1" dirty="0">
                <a:solidFill>
                  <a:srgbClr val="CC00CC"/>
                </a:solidFill>
                <a:latin typeface="微软雅黑" pitchFamily="34" charset="-122"/>
                <a:ea typeface="微软雅黑" pitchFamily="34" charset="-122"/>
              </a:rPr>
              <a:t>可识别</a:t>
            </a:r>
          </a:p>
        </p:txBody>
      </p:sp>
      <p:sp>
        <p:nvSpPr>
          <p:cNvPr id="20" name="AutoShape 13">
            <a:extLst>
              <a:ext uri="{FF2B5EF4-FFF2-40B4-BE49-F238E27FC236}">
                <a16:creationId xmlns:a16="http://schemas.microsoft.com/office/drawing/2014/main" id="{6B70FE82-7F9E-9CCE-143E-CEE775CBB190}"/>
              </a:ext>
            </a:extLst>
          </p:cNvPr>
          <p:cNvSpPr>
            <a:spLocks noChangeArrowheads="1"/>
          </p:cNvSpPr>
          <p:nvPr/>
        </p:nvSpPr>
        <p:spPr bwMode="auto">
          <a:xfrm rot="16200000">
            <a:off x="4360612" y="2167353"/>
            <a:ext cx="253867" cy="2814034"/>
          </a:xfrm>
          <a:prstGeom prst="can">
            <a:avLst>
              <a:gd name="adj" fmla="val 66508"/>
            </a:avLst>
          </a:prstGeom>
          <a:gradFill rotWithShape="1">
            <a:gsLst>
              <a:gs pos="0">
                <a:srgbClr val="00B050"/>
              </a:gs>
              <a:gs pos="50000">
                <a:schemeClr val="bg1"/>
              </a:gs>
              <a:gs pos="100000">
                <a:srgbClr val="009900"/>
              </a:gs>
            </a:gsLst>
            <a:lin ang="0" scaled="1"/>
          </a:gra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endParaRPr>
          </a:p>
        </p:txBody>
      </p:sp>
      <p:sp>
        <p:nvSpPr>
          <p:cNvPr id="21" name="Freeform 14">
            <a:extLst>
              <a:ext uri="{FF2B5EF4-FFF2-40B4-BE49-F238E27FC236}">
                <a16:creationId xmlns:a16="http://schemas.microsoft.com/office/drawing/2014/main" id="{796A7878-5366-A3DC-81D7-6D27142C8635}"/>
              </a:ext>
            </a:extLst>
          </p:cNvPr>
          <p:cNvSpPr>
            <a:spLocks/>
          </p:cNvSpPr>
          <p:nvPr/>
        </p:nvSpPr>
        <p:spPr bwMode="auto">
          <a:xfrm>
            <a:off x="1867128" y="3068667"/>
            <a:ext cx="1067089" cy="421420"/>
          </a:xfrm>
          <a:custGeom>
            <a:avLst/>
            <a:gdLst>
              <a:gd name="T0" fmla="*/ 0 w 1056"/>
              <a:gd name="T1" fmla="*/ 480 h 480"/>
              <a:gd name="T2" fmla="*/ 144 w 1056"/>
              <a:gd name="T3" fmla="*/ 480 h 480"/>
              <a:gd name="T4" fmla="*/ 144 w 1056"/>
              <a:gd name="T5" fmla="*/ 0 h 480"/>
              <a:gd name="T6" fmla="*/ 384 w 1056"/>
              <a:gd name="T7" fmla="*/ 0 h 480"/>
              <a:gd name="T8" fmla="*/ 384 w 1056"/>
              <a:gd name="T9" fmla="*/ 480 h 480"/>
              <a:gd name="T10" fmla="*/ 624 w 1056"/>
              <a:gd name="T11" fmla="*/ 480 h 480"/>
              <a:gd name="T12" fmla="*/ 624 w 1056"/>
              <a:gd name="T13" fmla="*/ 0 h 480"/>
              <a:gd name="T14" fmla="*/ 864 w 1056"/>
              <a:gd name="T15" fmla="*/ 0 h 480"/>
              <a:gd name="T16" fmla="*/ 864 w 1056"/>
              <a:gd name="T17" fmla="*/ 480 h 480"/>
              <a:gd name="T18" fmla="*/ 1056 w 1056"/>
              <a:gd name="T19" fmla="*/ 48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38100"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endParaRPr>
          </a:p>
        </p:txBody>
      </p:sp>
      <p:sp>
        <p:nvSpPr>
          <p:cNvPr id="22" name="Line 15">
            <a:extLst>
              <a:ext uri="{FF2B5EF4-FFF2-40B4-BE49-F238E27FC236}">
                <a16:creationId xmlns:a16="http://schemas.microsoft.com/office/drawing/2014/main" id="{2F6C113A-D69D-576D-004D-69EB14CD3685}"/>
              </a:ext>
            </a:extLst>
          </p:cNvPr>
          <p:cNvSpPr>
            <a:spLocks noChangeShapeType="1"/>
          </p:cNvSpPr>
          <p:nvPr/>
        </p:nvSpPr>
        <p:spPr bwMode="auto">
          <a:xfrm>
            <a:off x="1867128" y="3574370"/>
            <a:ext cx="1358613" cy="0"/>
          </a:xfrm>
          <a:prstGeom prst="line">
            <a:avLst/>
          </a:prstGeom>
          <a:noFill/>
          <a:ln w="38100">
            <a:solidFill>
              <a:srgbClr val="0099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endParaRPr>
          </a:p>
        </p:txBody>
      </p:sp>
      <p:sp>
        <p:nvSpPr>
          <p:cNvPr id="23" name="Freeform 16">
            <a:extLst>
              <a:ext uri="{FF2B5EF4-FFF2-40B4-BE49-F238E27FC236}">
                <a16:creationId xmlns:a16="http://schemas.microsoft.com/office/drawing/2014/main" id="{AE13F2FE-2C0C-5C36-B016-35CDAF1C01FC}"/>
              </a:ext>
            </a:extLst>
          </p:cNvPr>
          <p:cNvSpPr>
            <a:spLocks/>
          </p:cNvSpPr>
          <p:nvPr/>
        </p:nvSpPr>
        <p:spPr bwMode="auto">
          <a:xfrm>
            <a:off x="6088179" y="3068667"/>
            <a:ext cx="1068189" cy="421420"/>
          </a:xfrm>
          <a:custGeom>
            <a:avLst/>
            <a:gdLst>
              <a:gd name="T0" fmla="*/ 0 w 1056"/>
              <a:gd name="T1" fmla="*/ 480 h 480"/>
              <a:gd name="T2" fmla="*/ 144 w 1056"/>
              <a:gd name="T3" fmla="*/ 480 h 480"/>
              <a:gd name="T4" fmla="*/ 144 w 1056"/>
              <a:gd name="T5" fmla="*/ 0 h 480"/>
              <a:gd name="T6" fmla="*/ 384 w 1056"/>
              <a:gd name="T7" fmla="*/ 0 h 480"/>
              <a:gd name="T8" fmla="*/ 384 w 1056"/>
              <a:gd name="T9" fmla="*/ 480 h 480"/>
              <a:gd name="T10" fmla="*/ 624 w 1056"/>
              <a:gd name="T11" fmla="*/ 480 h 480"/>
              <a:gd name="T12" fmla="*/ 624 w 1056"/>
              <a:gd name="T13" fmla="*/ 0 h 480"/>
              <a:gd name="T14" fmla="*/ 864 w 1056"/>
              <a:gd name="T15" fmla="*/ 0 h 480"/>
              <a:gd name="T16" fmla="*/ 864 w 1056"/>
              <a:gd name="T17" fmla="*/ 480 h 480"/>
              <a:gd name="T18" fmla="*/ 1056 w 1056"/>
              <a:gd name="T19" fmla="*/ 48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28575" cap="flat" cmpd="sng">
            <a:solidFill>
              <a:srgbClr val="CC00CC"/>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endParaRPr>
          </a:p>
        </p:txBody>
      </p:sp>
      <p:sp>
        <p:nvSpPr>
          <p:cNvPr id="24" name="Line 17">
            <a:extLst>
              <a:ext uri="{FF2B5EF4-FFF2-40B4-BE49-F238E27FC236}">
                <a16:creationId xmlns:a16="http://schemas.microsoft.com/office/drawing/2014/main" id="{402A55BE-4A7A-8BCF-D4AC-CC08BC9922B4}"/>
              </a:ext>
            </a:extLst>
          </p:cNvPr>
          <p:cNvSpPr>
            <a:spLocks noChangeShapeType="1"/>
          </p:cNvSpPr>
          <p:nvPr/>
        </p:nvSpPr>
        <p:spPr bwMode="auto">
          <a:xfrm>
            <a:off x="5894563" y="3574370"/>
            <a:ext cx="1539028" cy="0"/>
          </a:xfrm>
          <a:prstGeom prst="line">
            <a:avLst/>
          </a:prstGeom>
          <a:noFill/>
          <a:ln w="38100">
            <a:solidFill>
              <a:srgbClr val="0099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endParaRPr>
          </a:p>
        </p:txBody>
      </p:sp>
      <p:sp>
        <p:nvSpPr>
          <p:cNvPr id="25" name="Freeform 18">
            <a:extLst>
              <a:ext uri="{FF2B5EF4-FFF2-40B4-BE49-F238E27FC236}">
                <a16:creationId xmlns:a16="http://schemas.microsoft.com/office/drawing/2014/main" id="{D7C268A9-0129-E982-25B4-AC00B947E0A6}"/>
              </a:ext>
            </a:extLst>
          </p:cNvPr>
          <p:cNvSpPr>
            <a:spLocks/>
          </p:cNvSpPr>
          <p:nvPr/>
        </p:nvSpPr>
        <p:spPr bwMode="auto">
          <a:xfrm>
            <a:off x="6094780" y="3351983"/>
            <a:ext cx="1027485" cy="125918"/>
          </a:xfrm>
          <a:custGeom>
            <a:avLst/>
            <a:gdLst>
              <a:gd name="T0" fmla="*/ 0 w 1017"/>
              <a:gd name="T1" fmla="*/ 109 h 143"/>
              <a:gd name="T2" fmla="*/ 57 w 1017"/>
              <a:gd name="T3" fmla="*/ 130 h 143"/>
              <a:gd name="T4" fmla="*/ 84 w 1017"/>
              <a:gd name="T5" fmla="*/ 130 h 143"/>
              <a:gd name="T6" fmla="*/ 114 w 1017"/>
              <a:gd name="T7" fmla="*/ 91 h 143"/>
              <a:gd name="T8" fmla="*/ 162 w 1017"/>
              <a:gd name="T9" fmla="*/ 34 h 143"/>
              <a:gd name="T10" fmla="*/ 180 w 1017"/>
              <a:gd name="T11" fmla="*/ 58 h 143"/>
              <a:gd name="T12" fmla="*/ 189 w 1017"/>
              <a:gd name="T13" fmla="*/ 109 h 143"/>
              <a:gd name="T14" fmla="*/ 201 w 1017"/>
              <a:gd name="T15" fmla="*/ 76 h 143"/>
              <a:gd name="T16" fmla="*/ 219 w 1017"/>
              <a:gd name="T17" fmla="*/ 82 h 143"/>
              <a:gd name="T18" fmla="*/ 252 w 1017"/>
              <a:gd name="T19" fmla="*/ 79 h 143"/>
              <a:gd name="T20" fmla="*/ 327 w 1017"/>
              <a:gd name="T21" fmla="*/ 100 h 143"/>
              <a:gd name="T22" fmla="*/ 351 w 1017"/>
              <a:gd name="T23" fmla="*/ 121 h 143"/>
              <a:gd name="T24" fmla="*/ 408 w 1017"/>
              <a:gd name="T25" fmla="*/ 79 h 143"/>
              <a:gd name="T26" fmla="*/ 465 w 1017"/>
              <a:gd name="T27" fmla="*/ 103 h 143"/>
              <a:gd name="T28" fmla="*/ 507 w 1017"/>
              <a:gd name="T29" fmla="*/ 121 h 143"/>
              <a:gd name="T30" fmla="*/ 564 w 1017"/>
              <a:gd name="T31" fmla="*/ 121 h 143"/>
              <a:gd name="T32" fmla="*/ 615 w 1017"/>
              <a:gd name="T33" fmla="*/ 88 h 143"/>
              <a:gd name="T34" fmla="*/ 639 w 1017"/>
              <a:gd name="T35" fmla="*/ 70 h 143"/>
              <a:gd name="T36" fmla="*/ 657 w 1017"/>
              <a:gd name="T37" fmla="*/ 109 h 143"/>
              <a:gd name="T38" fmla="*/ 672 w 1017"/>
              <a:gd name="T39" fmla="*/ 49 h 143"/>
              <a:gd name="T40" fmla="*/ 699 w 1017"/>
              <a:gd name="T41" fmla="*/ 40 h 143"/>
              <a:gd name="T42" fmla="*/ 756 w 1017"/>
              <a:gd name="T43" fmla="*/ 64 h 143"/>
              <a:gd name="T44" fmla="*/ 801 w 1017"/>
              <a:gd name="T45" fmla="*/ 67 h 143"/>
              <a:gd name="T46" fmla="*/ 834 w 1017"/>
              <a:gd name="T47" fmla="*/ 97 h 143"/>
              <a:gd name="T48" fmla="*/ 873 w 1017"/>
              <a:gd name="T49" fmla="*/ 115 h 143"/>
              <a:gd name="T50" fmla="*/ 891 w 1017"/>
              <a:gd name="T51" fmla="*/ 85 h 143"/>
              <a:gd name="T52" fmla="*/ 912 w 1017"/>
              <a:gd name="T53" fmla="*/ 103 h 143"/>
              <a:gd name="T54" fmla="*/ 927 w 1017"/>
              <a:gd name="T55" fmla="*/ 67 h 143"/>
              <a:gd name="T56" fmla="*/ 972 w 1017"/>
              <a:gd name="T57" fmla="*/ 112 h 143"/>
              <a:gd name="T58" fmla="*/ 1017 w 1017"/>
              <a:gd name="T59" fmla="*/ 121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17" h="143">
                <a:moveTo>
                  <a:pt x="0" y="109"/>
                </a:moveTo>
                <a:cubicBezTo>
                  <a:pt x="9" y="111"/>
                  <a:pt x="44" y="128"/>
                  <a:pt x="57" y="130"/>
                </a:cubicBezTo>
                <a:cubicBezTo>
                  <a:pt x="64" y="132"/>
                  <a:pt x="77" y="131"/>
                  <a:pt x="84" y="130"/>
                </a:cubicBezTo>
                <a:cubicBezTo>
                  <a:pt x="94" y="127"/>
                  <a:pt x="104" y="94"/>
                  <a:pt x="114" y="91"/>
                </a:cubicBezTo>
                <a:cubicBezTo>
                  <a:pt x="130" y="92"/>
                  <a:pt x="151" y="45"/>
                  <a:pt x="162" y="34"/>
                </a:cubicBezTo>
                <a:cubicBezTo>
                  <a:pt x="172" y="24"/>
                  <a:pt x="177" y="75"/>
                  <a:pt x="180" y="58"/>
                </a:cubicBezTo>
                <a:cubicBezTo>
                  <a:pt x="181" y="26"/>
                  <a:pt x="187" y="141"/>
                  <a:pt x="189" y="109"/>
                </a:cubicBezTo>
                <a:cubicBezTo>
                  <a:pt x="189" y="105"/>
                  <a:pt x="200" y="80"/>
                  <a:pt x="201" y="76"/>
                </a:cubicBezTo>
                <a:cubicBezTo>
                  <a:pt x="205" y="51"/>
                  <a:pt x="214" y="100"/>
                  <a:pt x="219" y="82"/>
                </a:cubicBezTo>
                <a:cubicBezTo>
                  <a:pt x="222" y="73"/>
                  <a:pt x="252" y="79"/>
                  <a:pt x="252" y="79"/>
                </a:cubicBezTo>
                <a:cubicBezTo>
                  <a:pt x="254" y="47"/>
                  <a:pt x="320" y="130"/>
                  <a:pt x="327" y="100"/>
                </a:cubicBezTo>
                <a:cubicBezTo>
                  <a:pt x="355" y="75"/>
                  <a:pt x="322" y="123"/>
                  <a:pt x="351" y="121"/>
                </a:cubicBezTo>
                <a:cubicBezTo>
                  <a:pt x="364" y="92"/>
                  <a:pt x="396" y="88"/>
                  <a:pt x="408" y="79"/>
                </a:cubicBezTo>
                <a:cubicBezTo>
                  <a:pt x="425" y="79"/>
                  <a:pt x="448" y="96"/>
                  <a:pt x="465" y="103"/>
                </a:cubicBezTo>
                <a:cubicBezTo>
                  <a:pt x="477" y="121"/>
                  <a:pt x="486" y="117"/>
                  <a:pt x="507" y="121"/>
                </a:cubicBezTo>
                <a:cubicBezTo>
                  <a:pt x="523" y="128"/>
                  <a:pt x="546" y="114"/>
                  <a:pt x="564" y="121"/>
                </a:cubicBezTo>
                <a:cubicBezTo>
                  <a:pt x="576" y="122"/>
                  <a:pt x="602" y="87"/>
                  <a:pt x="615" y="88"/>
                </a:cubicBezTo>
                <a:cubicBezTo>
                  <a:pt x="628" y="90"/>
                  <a:pt x="632" y="67"/>
                  <a:pt x="639" y="70"/>
                </a:cubicBezTo>
                <a:cubicBezTo>
                  <a:pt x="641" y="60"/>
                  <a:pt x="654" y="119"/>
                  <a:pt x="657" y="109"/>
                </a:cubicBezTo>
                <a:cubicBezTo>
                  <a:pt x="661" y="31"/>
                  <a:pt x="656" y="97"/>
                  <a:pt x="672" y="49"/>
                </a:cubicBezTo>
                <a:cubicBezTo>
                  <a:pt x="677" y="0"/>
                  <a:pt x="687" y="88"/>
                  <a:pt x="699" y="40"/>
                </a:cubicBezTo>
                <a:cubicBezTo>
                  <a:pt x="712" y="40"/>
                  <a:pt x="737" y="85"/>
                  <a:pt x="756" y="64"/>
                </a:cubicBezTo>
                <a:cubicBezTo>
                  <a:pt x="798" y="68"/>
                  <a:pt x="768" y="59"/>
                  <a:pt x="801" y="67"/>
                </a:cubicBezTo>
                <a:cubicBezTo>
                  <a:pt x="820" y="26"/>
                  <a:pt x="822" y="143"/>
                  <a:pt x="834" y="97"/>
                </a:cubicBezTo>
                <a:cubicBezTo>
                  <a:pt x="838" y="100"/>
                  <a:pt x="871" y="110"/>
                  <a:pt x="873" y="115"/>
                </a:cubicBezTo>
                <a:cubicBezTo>
                  <a:pt x="876" y="122"/>
                  <a:pt x="887" y="79"/>
                  <a:pt x="891" y="85"/>
                </a:cubicBezTo>
                <a:cubicBezTo>
                  <a:pt x="896" y="115"/>
                  <a:pt x="906" y="106"/>
                  <a:pt x="912" y="103"/>
                </a:cubicBezTo>
                <a:cubicBezTo>
                  <a:pt x="918" y="100"/>
                  <a:pt x="917" y="65"/>
                  <a:pt x="927" y="67"/>
                </a:cubicBezTo>
                <a:cubicBezTo>
                  <a:pt x="937" y="69"/>
                  <a:pt x="957" y="103"/>
                  <a:pt x="972" y="112"/>
                </a:cubicBezTo>
                <a:cubicBezTo>
                  <a:pt x="987" y="121"/>
                  <a:pt x="1005" y="112"/>
                  <a:pt x="1017" y="121"/>
                </a:cubicBezTo>
              </a:path>
            </a:pathLst>
          </a:custGeom>
          <a:noFill/>
          <a:ln w="38100"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endParaRPr>
          </a:p>
        </p:txBody>
      </p:sp>
      <p:sp>
        <p:nvSpPr>
          <p:cNvPr id="26" name="Text Box 19">
            <a:extLst>
              <a:ext uri="{FF2B5EF4-FFF2-40B4-BE49-F238E27FC236}">
                <a16:creationId xmlns:a16="http://schemas.microsoft.com/office/drawing/2014/main" id="{398A5838-2736-7FA6-B125-AC09AE7ED7A0}"/>
              </a:ext>
            </a:extLst>
          </p:cNvPr>
          <p:cNvSpPr txBox="1">
            <a:spLocks noChangeArrowheads="1"/>
          </p:cNvSpPr>
          <p:nvPr/>
        </p:nvSpPr>
        <p:spPr bwMode="auto">
          <a:xfrm>
            <a:off x="1901231" y="3588587"/>
            <a:ext cx="1107792" cy="2772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a:solidFill>
                  <a:srgbClr val="0000CC"/>
                </a:solidFill>
                <a:latin typeface="微软雅黑" pitchFamily="34" charset="-122"/>
                <a:ea typeface="微软雅黑" pitchFamily="34" charset="-122"/>
              </a:rPr>
              <a:t>发送信号波形</a:t>
            </a:r>
          </a:p>
        </p:txBody>
      </p:sp>
      <p:sp>
        <p:nvSpPr>
          <p:cNvPr id="27" name="Text Box 22">
            <a:extLst>
              <a:ext uri="{FF2B5EF4-FFF2-40B4-BE49-F238E27FC236}">
                <a16:creationId xmlns:a16="http://schemas.microsoft.com/office/drawing/2014/main" id="{E323302C-840F-2160-738E-B85CF039A764}"/>
              </a:ext>
            </a:extLst>
          </p:cNvPr>
          <p:cNvSpPr txBox="1">
            <a:spLocks noChangeArrowheads="1"/>
          </p:cNvSpPr>
          <p:nvPr/>
        </p:nvSpPr>
        <p:spPr bwMode="auto">
          <a:xfrm>
            <a:off x="3191638" y="2980321"/>
            <a:ext cx="2646820" cy="462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实际的信道</a:t>
            </a:r>
          </a:p>
          <a:p>
            <a:pPr algn="ctr"/>
            <a:r>
              <a:rPr kumimoji="1" lang="zh-CN" altLang="en-US" sz="1200" b="1" dirty="0">
                <a:solidFill>
                  <a:srgbClr val="0000FF"/>
                </a:solidFill>
                <a:latin typeface="微软雅黑" pitchFamily="34" charset="-122"/>
                <a:ea typeface="微软雅黑" pitchFamily="34" charset="-122"/>
              </a:rPr>
              <a:t>（带宽受限、有噪声、干扰和失真）</a:t>
            </a:r>
          </a:p>
        </p:txBody>
      </p:sp>
      <p:sp>
        <p:nvSpPr>
          <p:cNvPr id="28" name="Text Box 23">
            <a:extLst>
              <a:ext uri="{FF2B5EF4-FFF2-40B4-BE49-F238E27FC236}">
                <a16:creationId xmlns:a16="http://schemas.microsoft.com/office/drawing/2014/main" id="{27C9C954-7619-C904-57A5-5938DCF6673A}"/>
              </a:ext>
            </a:extLst>
          </p:cNvPr>
          <p:cNvSpPr txBox="1">
            <a:spLocks noChangeArrowheads="1"/>
          </p:cNvSpPr>
          <p:nvPr/>
        </p:nvSpPr>
        <p:spPr bwMode="auto">
          <a:xfrm>
            <a:off x="6047476" y="3619051"/>
            <a:ext cx="1283807" cy="2772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kumimoji="1" lang="zh-CN" altLang="en-US" sz="1200" b="1" dirty="0">
                <a:solidFill>
                  <a:srgbClr val="0000CC"/>
                </a:solidFill>
                <a:latin typeface="微软雅黑" pitchFamily="34" charset="-122"/>
                <a:ea typeface="微软雅黑" pitchFamily="34" charset="-122"/>
              </a:rPr>
              <a:t>接收信号波形</a:t>
            </a:r>
          </a:p>
        </p:txBody>
      </p:sp>
      <p:sp>
        <p:nvSpPr>
          <p:cNvPr id="19" name="矩形 18">
            <a:extLst>
              <a:ext uri="{FF2B5EF4-FFF2-40B4-BE49-F238E27FC236}">
                <a16:creationId xmlns:a16="http://schemas.microsoft.com/office/drawing/2014/main" id="{CD8404C6-F49D-13CE-97C3-A56EDCF4FF13}"/>
              </a:ext>
            </a:extLst>
          </p:cNvPr>
          <p:cNvSpPr/>
          <p:nvPr/>
        </p:nvSpPr>
        <p:spPr>
          <a:xfrm>
            <a:off x="3501924" y="3863978"/>
            <a:ext cx="2193833" cy="338554"/>
          </a:xfrm>
          <a:prstGeom prst="rect">
            <a:avLst/>
          </a:prstGeom>
        </p:spPr>
        <p:txBody>
          <a:bodyPr wrap="square">
            <a:spAutoFit/>
          </a:bodyPr>
          <a:lstStyle/>
          <a:p>
            <a:r>
              <a:rPr lang="en-US" altLang="zh-CN" sz="1600" b="1" dirty="0"/>
              <a:t>(b) </a:t>
            </a:r>
            <a:r>
              <a:rPr lang="zh-CN" altLang="en-US" sz="1600" b="1" dirty="0">
                <a:latin typeface="微软雅黑" pitchFamily="34" charset="-122"/>
                <a:ea typeface="微软雅黑" pitchFamily="34" charset="-122"/>
              </a:rPr>
              <a:t>失真大，</a:t>
            </a:r>
            <a:r>
              <a:rPr lang="zh-CN" altLang="en-US" sz="1600" b="1" dirty="0">
                <a:solidFill>
                  <a:srgbClr val="CC00CC"/>
                </a:solidFill>
                <a:latin typeface="微软雅黑" pitchFamily="34" charset="-122"/>
                <a:ea typeface="微软雅黑" pitchFamily="34" charset="-122"/>
              </a:rPr>
              <a:t>无法识别 </a:t>
            </a:r>
          </a:p>
        </p:txBody>
      </p:sp>
    </p:spTree>
    <p:custDataLst>
      <p:tags r:id="rId1"/>
    </p:custDataLst>
    <p:extLst>
      <p:ext uri="{BB962C8B-B14F-4D97-AF65-F5344CB8AC3E}">
        <p14:creationId xmlns:p14="http://schemas.microsoft.com/office/powerpoint/2010/main" val="1858590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12"/>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35" presetClass="emph" presetSubtype="0" repeatCount="3000" fill="hold" grpId="0" nodeType="clickEffect">
                                  <p:stCondLst>
                                    <p:cond delay="0"/>
                                  </p:stCondLst>
                                  <p:childTnLst>
                                    <p:anim calcmode="discrete" valueType="str">
                                      <p:cBhvr>
                                        <p:cTn id="10" dur="1000" fill="hold"/>
                                        <p:tgtEl>
                                          <p:spTgt spid="2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2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466343" y="900000"/>
            <a:ext cx="8129017" cy="3376990"/>
          </a:xfrm>
        </p:spPr>
        <p:txBody>
          <a:bodyPr/>
          <a:lstStyle/>
          <a:p>
            <a:r>
              <a:rPr lang="zh-CN" altLang="en-US" dirty="0"/>
              <a:t>任何实际的信道都不是理想的，都不可能以任意高的速率进行传送。</a:t>
            </a:r>
          </a:p>
          <a:p>
            <a:r>
              <a:rPr lang="zh-CN" altLang="en-US" dirty="0"/>
              <a:t>码元传输的速率越高，或信号传输的距离越远，或噪声干扰越大，或传输媒体质量越差，在接收端的波形的失真就越严重。</a:t>
            </a:r>
          </a:p>
          <a:p>
            <a:r>
              <a:rPr lang="zh-CN" altLang="en-US" dirty="0"/>
              <a:t>限制码元在信道上的传输速率的两个因素：</a:t>
            </a:r>
            <a:endParaRPr lang="en-US" altLang="zh-CN" dirty="0"/>
          </a:p>
          <a:p>
            <a:pPr lvl="1"/>
            <a:r>
              <a:rPr lang="zh-CN" altLang="en-US" dirty="0"/>
              <a:t>信道能够通过的频率范围。</a:t>
            </a:r>
          </a:p>
          <a:p>
            <a:pPr lvl="1"/>
            <a:r>
              <a:rPr lang="zh-CN" altLang="en-US" dirty="0"/>
              <a:t>信噪比。</a:t>
            </a:r>
          </a:p>
        </p:txBody>
      </p:sp>
      <p:sp>
        <p:nvSpPr>
          <p:cNvPr id="2" name="文本占位符 1"/>
          <p:cNvSpPr>
            <a:spLocks noGrp="1"/>
          </p:cNvSpPr>
          <p:nvPr>
            <p:ph type="body" sz="quarter" idx="11"/>
          </p:nvPr>
        </p:nvSpPr>
        <p:spPr>
          <a:xfrm>
            <a:off x="1332000" y="360000"/>
            <a:ext cx="6480000" cy="354012"/>
          </a:xfrm>
        </p:spPr>
        <p:txBody>
          <a:bodyPr>
            <a:normAutofit fontScale="92500" lnSpcReduction="10000"/>
          </a:bodyPr>
          <a:lstStyle/>
          <a:p>
            <a:r>
              <a:rPr lang="en-US" altLang="zh-CN" dirty="0"/>
              <a:t>2.2.3  </a:t>
            </a:r>
            <a:r>
              <a:rPr lang="zh-CN" altLang="en-US" dirty="0"/>
              <a:t>信道的极限容量</a:t>
            </a:r>
          </a:p>
        </p:txBody>
      </p:sp>
    </p:spTree>
    <p:custDataLst>
      <p:tags r:id="rId1"/>
    </p:custDataLst>
    <p:extLst>
      <p:ext uri="{BB962C8B-B14F-4D97-AF65-F5344CB8AC3E}">
        <p14:creationId xmlns:p14="http://schemas.microsoft.com/office/powerpoint/2010/main" val="4185634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0"/>
          </p:nvPr>
        </p:nvSpPr>
        <p:spPr>
          <a:xfrm>
            <a:off x="466343" y="900000"/>
            <a:ext cx="8129017" cy="3376990"/>
          </a:xfrm>
        </p:spPr>
        <p:txBody>
          <a:bodyPr/>
          <a:lstStyle/>
          <a:p>
            <a:r>
              <a:rPr lang="zh-CN" altLang="en-US" dirty="0"/>
              <a:t>具体的信道所能通过的频率范围总是有限的。信号中的许多高频分量往往不能通过信道。</a:t>
            </a:r>
            <a:endParaRPr lang="en-US" altLang="zh-CN" dirty="0"/>
          </a:p>
          <a:p>
            <a:r>
              <a:rPr lang="zh-CN" altLang="en-US" dirty="0"/>
              <a:t>码间串扰：接收端收到的信号波形失去了码元之间的清晰界限。</a:t>
            </a:r>
            <a:endParaRPr lang="en-US" altLang="zh-CN" dirty="0"/>
          </a:p>
        </p:txBody>
      </p:sp>
      <p:sp>
        <p:nvSpPr>
          <p:cNvPr id="5" name="文本占位符 4"/>
          <p:cNvSpPr>
            <a:spLocks noGrp="1"/>
          </p:cNvSpPr>
          <p:nvPr>
            <p:ph type="body" sz="quarter" idx="11"/>
          </p:nvPr>
        </p:nvSpPr>
        <p:spPr>
          <a:xfrm>
            <a:off x="1332000" y="360000"/>
            <a:ext cx="6480000" cy="354012"/>
          </a:xfrm>
        </p:spPr>
        <p:txBody>
          <a:bodyPr>
            <a:normAutofit fontScale="92500" lnSpcReduction="10000"/>
          </a:bodyPr>
          <a:lstStyle/>
          <a:p>
            <a:r>
              <a:rPr lang="en-US" altLang="zh-CN" dirty="0"/>
              <a:t>(1) </a:t>
            </a:r>
            <a:r>
              <a:rPr lang="zh-CN" altLang="en-US" dirty="0"/>
              <a:t>奈氏准则</a:t>
            </a:r>
          </a:p>
        </p:txBody>
      </p:sp>
      <p:sp>
        <p:nvSpPr>
          <p:cNvPr id="7" name="对角圆角矩形 6"/>
          <p:cNvSpPr/>
          <p:nvPr/>
        </p:nvSpPr>
        <p:spPr>
          <a:xfrm>
            <a:off x="911332" y="2946676"/>
            <a:ext cx="7381839" cy="1215061"/>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8" name="矩形 7"/>
          <p:cNvSpPr/>
          <p:nvPr/>
        </p:nvSpPr>
        <p:spPr>
          <a:xfrm>
            <a:off x="1045022" y="3008167"/>
            <a:ext cx="7111687" cy="1092607"/>
          </a:xfrm>
          <a:prstGeom prst="rect">
            <a:avLst/>
          </a:prstGeom>
        </p:spPr>
        <p:txBody>
          <a:bodyPr wrap="square">
            <a:spAutoFit/>
          </a:bodyPr>
          <a:lstStyle/>
          <a:p>
            <a:pPr>
              <a:lnSpc>
                <a:spcPts val="2600"/>
              </a:lnSpc>
            </a:pPr>
            <a:r>
              <a:rPr lang="zh-CN" altLang="en-US" b="1" dirty="0">
                <a:solidFill>
                  <a:schemeClr val="bg1"/>
                </a:solidFill>
                <a:latin typeface="微软雅黑" pitchFamily="34" charset="-122"/>
                <a:ea typeface="微软雅黑" pitchFamily="34" charset="-122"/>
              </a:rPr>
              <a:t>在带宽为 </a:t>
            </a:r>
            <a:r>
              <a:rPr lang="en-US" altLang="zh-CN" b="1" dirty="0">
                <a:solidFill>
                  <a:schemeClr val="bg1"/>
                </a:solidFill>
                <a:latin typeface="微软雅黑" pitchFamily="34" charset="-122"/>
                <a:ea typeface="微软雅黑" pitchFamily="34" charset="-122"/>
              </a:rPr>
              <a:t>W (Hz) </a:t>
            </a:r>
            <a:r>
              <a:rPr lang="zh-CN" altLang="en-US" b="1" dirty="0">
                <a:solidFill>
                  <a:schemeClr val="bg1"/>
                </a:solidFill>
                <a:latin typeface="微软雅黑" pitchFamily="34" charset="-122"/>
                <a:ea typeface="微软雅黑" pitchFamily="34" charset="-122"/>
              </a:rPr>
              <a:t>的低通信道中，若不考虑噪声影响，则码元传输的最高速率是 </a:t>
            </a:r>
            <a:r>
              <a:rPr lang="en-US" altLang="zh-CN" b="1" dirty="0">
                <a:solidFill>
                  <a:schemeClr val="bg1"/>
                </a:solidFill>
                <a:latin typeface="微软雅黑" pitchFamily="34" charset="-122"/>
                <a:ea typeface="微软雅黑" pitchFamily="34" charset="-122"/>
              </a:rPr>
              <a:t>2W (</a:t>
            </a:r>
            <a:r>
              <a:rPr lang="zh-CN" altLang="en-US" b="1" dirty="0">
                <a:solidFill>
                  <a:schemeClr val="bg1"/>
                </a:solidFill>
                <a:latin typeface="微软雅黑" pitchFamily="34" charset="-122"/>
                <a:ea typeface="微软雅黑" pitchFamily="34" charset="-122"/>
              </a:rPr>
              <a:t>码元</a:t>
            </a:r>
            <a:r>
              <a:rPr lang="en-US" altLang="zh-CN" b="1" dirty="0">
                <a:solidFill>
                  <a:schemeClr val="bg1"/>
                </a:solidFill>
                <a:latin typeface="微软雅黑" pitchFamily="34" charset="-122"/>
                <a:ea typeface="微软雅黑" pitchFamily="34" charset="-122"/>
              </a:rPr>
              <a:t>/</a:t>
            </a:r>
            <a:r>
              <a:rPr lang="zh-CN" altLang="en-US" b="1" dirty="0">
                <a:solidFill>
                  <a:schemeClr val="bg1"/>
                </a:solidFill>
                <a:latin typeface="微软雅黑" pitchFamily="34" charset="-122"/>
                <a:ea typeface="微软雅黑" pitchFamily="34" charset="-122"/>
              </a:rPr>
              <a:t>秒</a:t>
            </a:r>
            <a:r>
              <a:rPr lang="en-US" altLang="zh-CN" b="1" dirty="0">
                <a:solidFill>
                  <a:schemeClr val="bg1"/>
                </a:solidFill>
                <a:latin typeface="微软雅黑" pitchFamily="34" charset="-122"/>
                <a:ea typeface="微软雅黑" pitchFamily="34" charset="-122"/>
              </a:rPr>
              <a:t>)</a:t>
            </a:r>
            <a:r>
              <a:rPr lang="zh-CN" altLang="en-US" b="1" dirty="0">
                <a:solidFill>
                  <a:schemeClr val="bg1"/>
                </a:solidFill>
                <a:latin typeface="微软雅黑" pitchFamily="34" charset="-122"/>
                <a:ea typeface="微软雅黑" pitchFamily="34" charset="-122"/>
              </a:rPr>
              <a:t>。传输速率超过此上限，就会出现严重的码间串扰的问题，使接收端对码元的判决（即识别）成为</a:t>
            </a:r>
            <a:r>
              <a:rPr lang="zh-CN" altLang="en-US" b="1" dirty="0">
                <a:solidFill>
                  <a:srgbClr val="FFFF00"/>
                </a:solidFill>
                <a:latin typeface="微软雅黑" pitchFamily="34" charset="-122"/>
                <a:ea typeface="微软雅黑" pitchFamily="34" charset="-122"/>
              </a:rPr>
              <a:t>不可能。</a:t>
            </a:r>
          </a:p>
        </p:txBody>
      </p:sp>
      <p:grpSp>
        <p:nvGrpSpPr>
          <p:cNvPr id="2" name="组合 1">
            <a:extLst>
              <a:ext uri="{FF2B5EF4-FFF2-40B4-BE49-F238E27FC236}">
                <a16:creationId xmlns:a16="http://schemas.microsoft.com/office/drawing/2014/main" id="{F0DEFDF9-7333-ED02-DC87-73A295ABE2A4}"/>
              </a:ext>
            </a:extLst>
          </p:cNvPr>
          <p:cNvGrpSpPr/>
          <p:nvPr/>
        </p:nvGrpSpPr>
        <p:grpSpPr>
          <a:xfrm>
            <a:off x="911332" y="2306569"/>
            <a:ext cx="7381839" cy="461665"/>
            <a:chOff x="911332" y="2306569"/>
            <a:chExt cx="7381839" cy="461665"/>
          </a:xfrm>
        </p:grpSpPr>
        <p:sp>
          <p:nvSpPr>
            <p:cNvPr id="6" name="矩形 5"/>
            <p:cNvSpPr/>
            <p:nvPr/>
          </p:nvSpPr>
          <p:spPr>
            <a:xfrm>
              <a:off x="2624632" y="2306569"/>
              <a:ext cx="5668539" cy="461665"/>
            </a:xfrm>
            <a:prstGeom prst="rect">
              <a:avLst/>
            </a:prstGeom>
            <a:solidFill>
              <a:srgbClr val="FFFF66"/>
            </a:solidFill>
          </p:spPr>
          <p:txBody>
            <a:bodyPr wrap="none">
              <a:spAutoFit/>
            </a:bodyPr>
            <a:lstStyle/>
            <a:p>
              <a:r>
                <a:rPr lang="zh-CN" altLang="en-US" sz="2400" b="1" dirty="0">
                  <a:solidFill>
                    <a:srgbClr val="0000FF"/>
                  </a:solidFill>
                  <a:latin typeface="微软雅黑" panose="020B0503020204020204" pitchFamily="34" charset="-122"/>
                  <a:ea typeface="微软雅黑" panose="020B0503020204020204" pitchFamily="34" charset="-122"/>
                </a:rPr>
                <a:t>码元传输的</a:t>
              </a:r>
              <a:r>
                <a:rPr lang="zh-CN" altLang="en-US" sz="2400" b="1" dirty="0">
                  <a:solidFill>
                    <a:srgbClr val="C00000"/>
                  </a:solidFill>
                  <a:latin typeface="微软雅黑" panose="020B0503020204020204" pitchFamily="34" charset="-122"/>
                  <a:ea typeface="微软雅黑" panose="020B0503020204020204" pitchFamily="34" charset="-122"/>
                </a:rPr>
                <a:t>最高</a:t>
              </a:r>
              <a:r>
                <a:rPr lang="zh-CN" altLang="en-US" sz="2400" b="1" dirty="0">
                  <a:solidFill>
                    <a:srgbClr val="0000FF"/>
                  </a:solidFill>
                  <a:latin typeface="微软雅黑" panose="020B0503020204020204" pitchFamily="34" charset="-122"/>
                  <a:ea typeface="微软雅黑" panose="020B0503020204020204" pitchFamily="34" charset="-122"/>
                </a:rPr>
                <a:t>速率 </a:t>
              </a:r>
              <a:r>
                <a:rPr lang="en-US" altLang="zh-CN" sz="2400" b="1" dirty="0">
                  <a:solidFill>
                    <a:srgbClr val="0000FF"/>
                  </a:solidFill>
                  <a:latin typeface="微软雅黑" panose="020B0503020204020204" pitchFamily="34" charset="-122"/>
                  <a:ea typeface="微软雅黑" panose="020B0503020204020204" pitchFamily="34" charset="-122"/>
                </a:rPr>
                <a:t>= </a:t>
              </a:r>
              <a:r>
                <a:rPr lang="en-US" altLang="zh-CN" sz="2400" b="1" i="1" dirty="0">
                  <a:solidFill>
                    <a:srgbClr val="0000FF"/>
                  </a:solidFill>
                  <a:latin typeface="微软雅黑" panose="020B0503020204020204" pitchFamily="34" charset="-122"/>
                  <a:ea typeface="微软雅黑" panose="020B0503020204020204" pitchFamily="34" charset="-122"/>
                </a:rPr>
                <a:t>2W </a:t>
              </a:r>
              <a:r>
                <a:rPr lang="zh-CN" altLang="en-US" sz="2400" b="1" dirty="0">
                  <a:solidFill>
                    <a:srgbClr val="0000FF"/>
                  </a:solidFill>
                  <a:latin typeface="微软雅黑" panose="020B0503020204020204" pitchFamily="34" charset="-122"/>
                  <a:ea typeface="微软雅黑" panose="020B0503020204020204" pitchFamily="34" charset="-122"/>
                </a:rPr>
                <a:t>（码元</a:t>
              </a:r>
              <a:r>
                <a:rPr lang="en-US" altLang="zh-CN" sz="2400" b="1" dirty="0">
                  <a:solidFill>
                    <a:srgbClr val="0000FF"/>
                  </a:solidFill>
                  <a:latin typeface="微软雅黑" panose="020B0503020204020204" pitchFamily="34" charset="-122"/>
                  <a:ea typeface="微软雅黑" panose="020B0503020204020204" pitchFamily="34" charset="-122"/>
                </a:rPr>
                <a:t>/</a:t>
              </a:r>
              <a:r>
                <a:rPr lang="zh-CN" altLang="en-US" sz="2400" b="1" dirty="0">
                  <a:solidFill>
                    <a:srgbClr val="0000FF"/>
                  </a:solidFill>
                  <a:latin typeface="微软雅黑" panose="020B0503020204020204" pitchFamily="34" charset="-122"/>
                  <a:ea typeface="微软雅黑" panose="020B0503020204020204" pitchFamily="34" charset="-122"/>
                </a:rPr>
                <a:t>秒）</a:t>
              </a:r>
              <a:endParaRPr lang="en-US" altLang="zh-CN" sz="2400" b="1" dirty="0">
                <a:solidFill>
                  <a:srgbClr val="0000FF"/>
                </a:solidFill>
                <a:latin typeface="微软雅黑" panose="020B0503020204020204" pitchFamily="34" charset="-122"/>
                <a:ea typeface="微软雅黑" panose="020B0503020204020204" pitchFamily="34" charset="-122"/>
              </a:endParaRPr>
            </a:p>
          </p:txBody>
        </p:sp>
        <p:sp>
          <p:nvSpPr>
            <p:cNvPr id="9" name="矩形 8"/>
            <p:cNvSpPr/>
            <p:nvPr/>
          </p:nvSpPr>
          <p:spPr>
            <a:xfrm>
              <a:off x="911332" y="2306569"/>
              <a:ext cx="1723549" cy="461665"/>
            </a:xfrm>
            <a:prstGeom prst="rect">
              <a:avLst/>
            </a:prstGeom>
            <a:solidFill>
              <a:srgbClr val="FFC000"/>
            </a:solidFill>
          </p:spPr>
          <p:txBody>
            <a:bodyPr wrap="none">
              <a:spAutoFit/>
            </a:bodyPr>
            <a:lstStyle/>
            <a:p>
              <a:r>
                <a:rPr lang="zh-CN" altLang="en-US" sz="2400" b="1" dirty="0">
                  <a:solidFill>
                    <a:srgbClr val="000066"/>
                  </a:solidFill>
                  <a:latin typeface="微软雅黑" panose="020B0503020204020204" pitchFamily="34" charset="-122"/>
                  <a:ea typeface="微软雅黑" panose="020B0503020204020204" pitchFamily="34" charset="-122"/>
                </a:rPr>
                <a:t>奈氏准则：</a:t>
              </a:r>
            </a:p>
          </p:txBody>
        </p:sp>
      </p:grpSp>
      <p:sp>
        <p:nvSpPr>
          <p:cNvPr id="10" name="文本框 9">
            <a:extLst>
              <a:ext uri="{FF2B5EF4-FFF2-40B4-BE49-F238E27FC236}">
                <a16:creationId xmlns:a16="http://schemas.microsoft.com/office/drawing/2014/main" id="{5E8F1691-A086-84AE-F358-F132E9CA678F}"/>
              </a:ext>
            </a:extLst>
          </p:cNvPr>
          <p:cNvSpPr txBox="1"/>
          <p:nvPr/>
        </p:nvSpPr>
        <p:spPr>
          <a:xfrm>
            <a:off x="1214284" y="4273714"/>
            <a:ext cx="6868683" cy="369332"/>
          </a:xfrm>
          <a:prstGeom prst="rect">
            <a:avLst/>
          </a:prstGeom>
          <a:noFill/>
        </p:spPr>
        <p:txBody>
          <a:bodyPr wrap="square">
            <a:spAutoFit/>
          </a:bodyPr>
          <a:lstStyle/>
          <a:p>
            <a:r>
              <a:rPr lang="zh-CN" altLang="en-US" b="1" dirty="0">
                <a:latin typeface="微软雅黑" pitchFamily="34" charset="-122"/>
                <a:ea typeface="微软雅黑" pitchFamily="34" charset="-122"/>
              </a:rPr>
              <a:t>例：信道带宽为</a:t>
            </a:r>
            <a:r>
              <a:rPr lang="en-US" altLang="zh-CN" b="1" dirty="0">
                <a:latin typeface="微软雅黑" pitchFamily="34" charset="-122"/>
                <a:ea typeface="微软雅黑" pitchFamily="34" charset="-122"/>
              </a:rPr>
              <a:t>4000 Hz</a:t>
            </a:r>
            <a:r>
              <a:rPr lang="zh-CN" altLang="en-US" b="1" dirty="0">
                <a:latin typeface="微软雅黑" pitchFamily="34" charset="-122"/>
                <a:ea typeface="微软雅黑" pitchFamily="34" charset="-122"/>
              </a:rPr>
              <a:t>，最高码元传输速率为每秒</a:t>
            </a:r>
            <a:r>
              <a:rPr lang="en-US" altLang="zh-CN" b="1" dirty="0">
                <a:latin typeface="微软雅黑" pitchFamily="34" charset="-122"/>
                <a:ea typeface="微软雅黑" pitchFamily="34" charset="-122"/>
              </a:rPr>
              <a:t>8000</a:t>
            </a:r>
            <a:r>
              <a:rPr lang="zh-CN" altLang="en-US" b="1" dirty="0">
                <a:latin typeface="微软雅黑" pitchFamily="34" charset="-122"/>
                <a:ea typeface="微软雅黑" pitchFamily="34" charset="-122"/>
              </a:rPr>
              <a:t>个码元。</a:t>
            </a:r>
          </a:p>
        </p:txBody>
      </p:sp>
    </p:spTree>
    <p:custDataLst>
      <p:tags r:id="rId1"/>
    </p:custDataLst>
    <p:extLst>
      <p:ext uri="{BB962C8B-B14F-4D97-AF65-F5344CB8AC3E}">
        <p14:creationId xmlns:p14="http://schemas.microsoft.com/office/powerpoint/2010/main" val="1007386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1000"/>
                                        <p:tgtEl>
                                          <p:spTgt spid="4">
                                            <p:txEl>
                                              <p:pRg st="1" end="1"/>
                                            </p:txEl>
                                          </p:spTgt>
                                        </p:tgtEl>
                                      </p:cBhvr>
                                    </p:animEffect>
                                    <p:anim calcmode="lin" valueType="num">
                                      <p:cBhvr>
                                        <p:cTn id="13"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500" fill="hold"/>
                                        <p:tgtEl>
                                          <p:spTgt spid="2"/>
                                        </p:tgtEl>
                                        <p:attrNameLst>
                                          <p:attrName>ppt_w</p:attrName>
                                        </p:attrNameLst>
                                      </p:cBhvr>
                                      <p:tavLst>
                                        <p:tav tm="0">
                                          <p:val>
                                            <p:fltVal val="0"/>
                                          </p:val>
                                        </p:tav>
                                        <p:tav tm="100000">
                                          <p:val>
                                            <p:strVal val="#ppt_w"/>
                                          </p:val>
                                        </p:tav>
                                      </p:tavLst>
                                    </p:anim>
                                    <p:anim calcmode="lin" valueType="num">
                                      <p:cBhvr>
                                        <p:cTn id="20" dur="500" fill="hold"/>
                                        <p:tgtEl>
                                          <p:spTgt spid="2"/>
                                        </p:tgtEl>
                                        <p:attrNameLst>
                                          <p:attrName>ppt_h</p:attrName>
                                        </p:attrNameLst>
                                      </p:cBhvr>
                                      <p:tavLst>
                                        <p:tav tm="0">
                                          <p:val>
                                            <p:fltVal val="0"/>
                                          </p:val>
                                        </p:tav>
                                        <p:tav tm="100000">
                                          <p:val>
                                            <p:strVal val="#ppt_h"/>
                                          </p:val>
                                        </p:tav>
                                      </p:tavLst>
                                    </p:anim>
                                    <p:animEffect transition="in" filter="fade">
                                      <p:cBhvr>
                                        <p:cTn id="21" dur="5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up)">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1000"/>
                                        <p:tgtEl>
                                          <p:spTgt spid="10"/>
                                        </p:tgtEl>
                                      </p:cBhvr>
                                    </p:animEffect>
                                    <p:anim calcmode="lin" valueType="num">
                                      <p:cBhvr>
                                        <p:cTn id="32" dur="1000" fill="hold"/>
                                        <p:tgtEl>
                                          <p:spTgt spid="10"/>
                                        </p:tgtEl>
                                        <p:attrNameLst>
                                          <p:attrName>ppt_x</p:attrName>
                                        </p:attrNameLst>
                                      </p:cBhvr>
                                      <p:tavLst>
                                        <p:tav tm="0">
                                          <p:val>
                                            <p:strVal val="#ppt_x"/>
                                          </p:val>
                                        </p:tav>
                                        <p:tav tm="100000">
                                          <p:val>
                                            <p:strVal val="#ppt_x"/>
                                          </p:val>
                                        </p:tav>
                                      </p:tavLst>
                                    </p:anim>
                                    <p:anim calcmode="lin" valueType="num">
                                      <p:cBhvr>
                                        <p:cTn id="3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7" grpId="0" animBg="1"/>
      <p:bldP spid="1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8F1CB-A3C5-7B72-6345-3747B2A4DA00}"/>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8114D04C-C0D0-10DB-EE3F-AE2B58EA46E5}"/>
              </a:ext>
            </a:extLst>
          </p:cNvPr>
          <p:cNvSpPr>
            <a:spLocks noGrp="1"/>
          </p:cNvSpPr>
          <p:nvPr>
            <p:ph sz="quarter" idx="10"/>
          </p:nvPr>
        </p:nvSpPr>
        <p:spPr>
          <a:xfrm>
            <a:off x="466343" y="900000"/>
            <a:ext cx="8129017" cy="3376990"/>
          </a:xfrm>
        </p:spPr>
        <p:txBody>
          <a:bodyPr/>
          <a:lstStyle/>
          <a:p>
            <a:r>
              <a:rPr lang="zh-CN" altLang="en-US" dirty="0"/>
              <a:t>高阶多元调制技术可使每个码元携带更多比特。</a:t>
            </a:r>
          </a:p>
        </p:txBody>
      </p:sp>
      <p:sp>
        <p:nvSpPr>
          <p:cNvPr id="2" name="文本占位符 1">
            <a:extLst>
              <a:ext uri="{FF2B5EF4-FFF2-40B4-BE49-F238E27FC236}">
                <a16:creationId xmlns:a16="http://schemas.microsoft.com/office/drawing/2014/main" id="{A315A97C-E455-FDE2-89C1-766BE494A5D3}"/>
              </a:ext>
            </a:extLst>
          </p:cNvPr>
          <p:cNvSpPr>
            <a:spLocks noGrp="1"/>
          </p:cNvSpPr>
          <p:nvPr>
            <p:ph type="body" sz="quarter" idx="11"/>
          </p:nvPr>
        </p:nvSpPr>
        <p:spPr>
          <a:xfrm>
            <a:off x="1332000" y="360000"/>
            <a:ext cx="6480000" cy="354012"/>
          </a:xfrm>
        </p:spPr>
        <p:txBody>
          <a:bodyPr>
            <a:normAutofit fontScale="92500" lnSpcReduction="10000"/>
          </a:bodyPr>
          <a:lstStyle/>
          <a:p>
            <a:r>
              <a:rPr lang="zh-CN" altLang="en-US" dirty="0"/>
              <a:t>使用多元调制提高信息传输速率</a:t>
            </a:r>
          </a:p>
        </p:txBody>
      </p:sp>
      <p:grpSp>
        <p:nvGrpSpPr>
          <p:cNvPr id="8" name="组合 7">
            <a:extLst>
              <a:ext uri="{FF2B5EF4-FFF2-40B4-BE49-F238E27FC236}">
                <a16:creationId xmlns:a16="http://schemas.microsoft.com/office/drawing/2014/main" id="{0B1B6359-D715-2306-3BFA-2201C5E82DA5}"/>
              </a:ext>
            </a:extLst>
          </p:cNvPr>
          <p:cNvGrpSpPr/>
          <p:nvPr/>
        </p:nvGrpSpPr>
        <p:grpSpPr>
          <a:xfrm>
            <a:off x="1379516" y="1585007"/>
            <a:ext cx="2522157" cy="2309216"/>
            <a:chOff x="584729" y="2640013"/>
            <a:chExt cx="2971800" cy="2584450"/>
          </a:xfrm>
        </p:grpSpPr>
        <p:sp>
          <p:nvSpPr>
            <p:cNvPr id="10" name="Line 4">
              <a:extLst>
                <a:ext uri="{FF2B5EF4-FFF2-40B4-BE49-F238E27FC236}">
                  <a16:creationId xmlns:a16="http://schemas.microsoft.com/office/drawing/2014/main" id="{CBED234D-6BC0-88E3-8FF0-53E7BF8A0948}"/>
                </a:ext>
              </a:extLst>
            </p:cNvPr>
            <p:cNvSpPr>
              <a:spLocks noChangeShapeType="1"/>
            </p:cNvSpPr>
            <p:nvPr/>
          </p:nvSpPr>
          <p:spPr bwMode="auto">
            <a:xfrm>
              <a:off x="2077508" y="2640013"/>
              <a:ext cx="0" cy="2584450"/>
            </a:xfrm>
            <a:prstGeom prst="line">
              <a:avLst/>
            </a:prstGeom>
            <a:noFill/>
            <a:ln w="28575">
              <a:solidFill>
                <a:srgbClr val="009900"/>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1" name="Oval 5">
              <a:extLst>
                <a:ext uri="{FF2B5EF4-FFF2-40B4-BE49-F238E27FC236}">
                  <a16:creationId xmlns:a16="http://schemas.microsoft.com/office/drawing/2014/main" id="{FEE6A158-239E-C829-82BD-17AAC0069617}"/>
                </a:ext>
              </a:extLst>
            </p:cNvPr>
            <p:cNvSpPr>
              <a:spLocks noChangeArrowheads="1"/>
            </p:cNvSpPr>
            <p:nvPr/>
          </p:nvSpPr>
          <p:spPr bwMode="auto">
            <a:xfrm>
              <a:off x="1172898" y="4230688"/>
              <a:ext cx="80831" cy="7461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2" name="Oval 6">
              <a:extLst>
                <a:ext uri="{FF2B5EF4-FFF2-40B4-BE49-F238E27FC236}">
                  <a16:creationId xmlns:a16="http://schemas.microsoft.com/office/drawing/2014/main" id="{2D8E67C0-365E-8E57-F1FC-E40E451EB8FF}"/>
                </a:ext>
              </a:extLst>
            </p:cNvPr>
            <p:cNvSpPr>
              <a:spLocks noChangeArrowheads="1"/>
            </p:cNvSpPr>
            <p:nvPr/>
          </p:nvSpPr>
          <p:spPr bwMode="auto">
            <a:xfrm>
              <a:off x="1172898" y="3151188"/>
              <a:ext cx="80831" cy="7461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3" name="Oval 7">
              <a:extLst>
                <a:ext uri="{FF2B5EF4-FFF2-40B4-BE49-F238E27FC236}">
                  <a16:creationId xmlns:a16="http://schemas.microsoft.com/office/drawing/2014/main" id="{A833D158-B1DD-D67F-0E8F-5117E2EF005C}"/>
                </a:ext>
              </a:extLst>
            </p:cNvPr>
            <p:cNvSpPr>
              <a:spLocks noChangeArrowheads="1"/>
            </p:cNvSpPr>
            <p:nvPr/>
          </p:nvSpPr>
          <p:spPr bwMode="auto">
            <a:xfrm>
              <a:off x="2344076" y="3151188"/>
              <a:ext cx="80830" cy="7461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4" name="Oval 8">
              <a:extLst>
                <a:ext uri="{FF2B5EF4-FFF2-40B4-BE49-F238E27FC236}">
                  <a16:creationId xmlns:a16="http://schemas.microsoft.com/office/drawing/2014/main" id="{FF2120F4-FDDA-BFDB-864E-96D47D371409}"/>
                </a:ext>
              </a:extLst>
            </p:cNvPr>
            <p:cNvSpPr>
              <a:spLocks noChangeArrowheads="1"/>
            </p:cNvSpPr>
            <p:nvPr/>
          </p:nvSpPr>
          <p:spPr bwMode="auto">
            <a:xfrm>
              <a:off x="1749029" y="3151188"/>
              <a:ext cx="80830" cy="7461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5" name="Oval 9">
              <a:extLst>
                <a:ext uri="{FF2B5EF4-FFF2-40B4-BE49-F238E27FC236}">
                  <a16:creationId xmlns:a16="http://schemas.microsoft.com/office/drawing/2014/main" id="{5BED098F-F21B-4AFC-DF90-8D35672F7847}"/>
                </a:ext>
              </a:extLst>
            </p:cNvPr>
            <p:cNvSpPr>
              <a:spLocks noChangeArrowheads="1"/>
            </p:cNvSpPr>
            <p:nvPr/>
          </p:nvSpPr>
          <p:spPr bwMode="auto">
            <a:xfrm>
              <a:off x="1172898" y="3697288"/>
              <a:ext cx="80831" cy="7461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6" name="Oval 10">
              <a:extLst>
                <a:ext uri="{FF2B5EF4-FFF2-40B4-BE49-F238E27FC236}">
                  <a16:creationId xmlns:a16="http://schemas.microsoft.com/office/drawing/2014/main" id="{A606FD71-DFB3-B86F-22A7-05FFB5EEF20C}"/>
                </a:ext>
              </a:extLst>
            </p:cNvPr>
            <p:cNvSpPr>
              <a:spLocks noChangeArrowheads="1"/>
            </p:cNvSpPr>
            <p:nvPr/>
          </p:nvSpPr>
          <p:spPr bwMode="auto">
            <a:xfrm>
              <a:off x="2345796" y="3695701"/>
              <a:ext cx="80831" cy="74613"/>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7" name="Oval 11">
              <a:extLst>
                <a:ext uri="{FF2B5EF4-FFF2-40B4-BE49-F238E27FC236}">
                  <a16:creationId xmlns:a16="http://schemas.microsoft.com/office/drawing/2014/main" id="{8A3E8A44-5C59-E926-FDD7-2731394B256A}"/>
                </a:ext>
              </a:extLst>
            </p:cNvPr>
            <p:cNvSpPr>
              <a:spLocks noChangeArrowheads="1"/>
            </p:cNvSpPr>
            <p:nvPr/>
          </p:nvSpPr>
          <p:spPr bwMode="auto">
            <a:xfrm>
              <a:off x="1750748" y="3697288"/>
              <a:ext cx="80831" cy="7461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8" name="Oval 12">
              <a:extLst>
                <a:ext uri="{FF2B5EF4-FFF2-40B4-BE49-F238E27FC236}">
                  <a16:creationId xmlns:a16="http://schemas.microsoft.com/office/drawing/2014/main" id="{44491A44-1419-A53D-CAFB-70FE70CAEFA2}"/>
                </a:ext>
              </a:extLst>
            </p:cNvPr>
            <p:cNvSpPr>
              <a:spLocks noChangeArrowheads="1"/>
            </p:cNvSpPr>
            <p:nvPr/>
          </p:nvSpPr>
          <p:spPr bwMode="auto">
            <a:xfrm>
              <a:off x="2918487" y="3151188"/>
              <a:ext cx="80830" cy="7461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sz="2800" b="1">
                <a:solidFill>
                  <a:srgbClr val="C00000"/>
                </a:solidFill>
              </a:endParaRPr>
            </a:p>
          </p:txBody>
        </p:sp>
        <p:sp>
          <p:nvSpPr>
            <p:cNvPr id="19" name="Oval 13">
              <a:extLst>
                <a:ext uri="{FF2B5EF4-FFF2-40B4-BE49-F238E27FC236}">
                  <a16:creationId xmlns:a16="http://schemas.microsoft.com/office/drawing/2014/main" id="{7F102D9E-9BC4-13D5-7B18-8A7ED0D732BE}"/>
                </a:ext>
              </a:extLst>
            </p:cNvPr>
            <p:cNvSpPr>
              <a:spLocks noChangeArrowheads="1"/>
            </p:cNvSpPr>
            <p:nvPr/>
          </p:nvSpPr>
          <p:spPr bwMode="auto">
            <a:xfrm>
              <a:off x="2345796" y="4229101"/>
              <a:ext cx="80831" cy="74613"/>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20" name="Oval 14">
              <a:extLst>
                <a:ext uri="{FF2B5EF4-FFF2-40B4-BE49-F238E27FC236}">
                  <a16:creationId xmlns:a16="http://schemas.microsoft.com/office/drawing/2014/main" id="{2F16A6AE-01A9-4814-E637-B8D90F0D0D53}"/>
                </a:ext>
              </a:extLst>
            </p:cNvPr>
            <p:cNvSpPr>
              <a:spLocks noChangeArrowheads="1"/>
            </p:cNvSpPr>
            <p:nvPr/>
          </p:nvSpPr>
          <p:spPr bwMode="auto">
            <a:xfrm>
              <a:off x="1750748" y="4230688"/>
              <a:ext cx="80831" cy="7461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21" name="Oval 15">
              <a:extLst>
                <a:ext uri="{FF2B5EF4-FFF2-40B4-BE49-F238E27FC236}">
                  <a16:creationId xmlns:a16="http://schemas.microsoft.com/office/drawing/2014/main" id="{EC4C92D4-C0B7-E6FA-8D7D-5726945EA077}"/>
                </a:ext>
              </a:extLst>
            </p:cNvPr>
            <p:cNvSpPr>
              <a:spLocks noChangeArrowheads="1"/>
            </p:cNvSpPr>
            <p:nvPr/>
          </p:nvSpPr>
          <p:spPr bwMode="auto">
            <a:xfrm>
              <a:off x="2918487" y="3695701"/>
              <a:ext cx="80830" cy="74613"/>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22" name="Oval 16">
              <a:extLst>
                <a:ext uri="{FF2B5EF4-FFF2-40B4-BE49-F238E27FC236}">
                  <a16:creationId xmlns:a16="http://schemas.microsoft.com/office/drawing/2014/main" id="{5BD837CB-FC05-EB17-4633-EF74866F1F0D}"/>
                </a:ext>
              </a:extLst>
            </p:cNvPr>
            <p:cNvSpPr>
              <a:spLocks noChangeArrowheads="1"/>
            </p:cNvSpPr>
            <p:nvPr/>
          </p:nvSpPr>
          <p:spPr bwMode="auto">
            <a:xfrm>
              <a:off x="2344076" y="4786313"/>
              <a:ext cx="80830" cy="7461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23" name="Oval 17">
              <a:extLst>
                <a:ext uri="{FF2B5EF4-FFF2-40B4-BE49-F238E27FC236}">
                  <a16:creationId xmlns:a16="http://schemas.microsoft.com/office/drawing/2014/main" id="{92D5ACED-9232-7F3E-EA08-D2AA5626710A}"/>
                </a:ext>
              </a:extLst>
            </p:cNvPr>
            <p:cNvSpPr>
              <a:spLocks noChangeArrowheads="1"/>
            </p:cNvSpPr>
            <p:nvPr/>
          </p:nvSpPr>
          <p:spPr bwMode="auto">
            <a:xfrm>
              <a:off x="1172898" y="4786313"/>
              <a:ext cx="80831" cy="7461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24" name="Oval 18">
              <a:extLst>
                <a:ext uri="{FF2B5EF4-FFF2-40B4-BE49-F238E27FC236}">
                  <a16:creationId xmlns:a16="http://schemas.microsoft.com/office/drawing/2014/main" id="{F427C3B4-00AB-1B24-4556-5D1ACEADC92B}"/>
                </a:ext>
              </a:extLst>
            </p:cNvPr>
            <p:cNvSpPr>
              <a:spLocks noChangeArrowheads="1"/>
            </p:cNvSpPr>
            <p:nvPr/>
          </p:nvSpPr>
          <p:spPr bwMode="auto">
            <a:xfrm>
              <a:off x="2918487" y="4230688"/>
              <a:ext cx="80830" cy="7461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25" name="Oval 19">
              <a:extLst>
                <a:ext uri="{FF2B5EF4-FFF2-40B4-BE49-F238E27FC236}">
                  <a16:creationId xmlns:a16="http://schemas.microsoft.com/office/drawing/2014/main" id="{F3A5BED3-AC02-95F0-1AB5-B5C93ACA17DA}"/>
                </a:ext>
              </a:extLst>
            </p:cNvPr>
            <p:cNvSpPr>
              <a:spLocks noChangeArrowheads="1"/>
            </p:cNvSpPr>
            <p:nvPr/>
          </p:nvSpPr>
          <p:spPr bwMode="auto">
            <a:xfrm>
              <a:off x="1749029" y="4786313"/>
              <a:ext cx="80830" cy="7461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26" name="Oval 20">
              <a:extLst>
                <a:ext uri="{FF2B5EF4-FFF2-40B4-BE49-F238E27FC236}">
                  <a16:creationId xmlns:a16="http://schemas.microsoft.com/office/drawing/2014/main" id="{7F417335-21BD-0B8A-CDB5-7B9F23CFC385}"/>
                </a:ext>
              </a:extLst>
            </p:cNvPr>
            <p:cNvSpPr>
              <a:spLocks noChangeArrowheads="1"/>
            </p:cNvSpPr>
            <p:nvPr/>
          </p:nvSpPr>
          <p:spPr bwMode="auto">
            <a:xfrm>
              <a:off x="2918487" y="4786313"/>
              <a:ext cx="80830" cy="7461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27" name="Line 21">
              <a:extLst>
                <a:ext uri="{FF2B5EF4-FFF2-40B4-BE49-F238E27FC236}">
                  <a16:creationId xmlns:a16="http://schemas.microsoft.com/office/drawing/2014/main" id="{0BC9B87F-5D28-0B8A-4069-8B29AF94368A}"/>
                </a:ext>
              </a:extLst>
            </p:cNvPr>
            <p:cNvSpPr>
              <a:spLocks noChangeShapeType="1"/>
            </p:cNvSpPr>
            <p:nvPr/>
          </p:nvSpPr>
          <p:spPr bwMode="auto">
            <a:xfrm>
              <a:off x="584729" y="4011613"/>
              <a:ext cx="2641600" cy="0"/>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28" name="Line 22">
              <a:extLst>
                <a:ext uri="{FF2B5EF4-FFF2-40B4-BE49-F238E27FC236}">
                  <a16:creationId xmlns:a16="http://schemas.microsoft.com/office/drawing/2014/main" id="{5CBBF619-D155-039E-93AB-DFA35C26EB09}"/>
                </a:ext>
              </a:extLst>
            </p:cNvPr>
            <p:cNvSpPr>
              <a:spLocks noChangeShapeType="1"/>
            </p:cNvSpPr>
            <p:nvPr/>
          </p:nvSpPr>
          <p:spPr bwMode="auto">
            <a:xfrm>
              <a:off x="584729" y="4011613"/>
              <a:ext cx="2971800" cy="0"/>
            </a:xfrm>
            <a:prstGeom prst="line">
              <a:avLst/>
            </a:prstGeom>
            <a:noFill/>
            <a:ln w="28575">
              <a:solidFill>
                <a:srgbClr val="0099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grpSp>
      <p:sp>
        <p:nvSpPr>
          <p:cNvPr id="9" name="文本框 8">
            <a:extLst>
              <a:ext uri="{FF2B5EF4-FFF2-40B4-BE49-F238E27FC236}">
                <a16:creationId xmlns:a16="http://schemas.microsoft.com/office/drawing/2014/main" id="{425E1C05-97EA-3607-EC20-E874F9A0355D}"/>
              </a:ext>
            </a:extLst>
          </p:cNvPr>
          <p:cNvSpPr txBox="1"/>
          <p:nvPr/>
        </p:nvSpPr>
        <p:spPr>
          <a:xfrm>
            <a:off x="1188801" y="3925216"/>
            <a:ext cx="2712872" cy="584775"/>
          </a:xfrm>
          <a:prstGeom prst="rect">
            <a:avLst/>
          </a:prstGeom>
          <a:noFill/>
        </p:spPr>
        <p:txBody>
          <a:bodyPr wrap="square">
            <a:spAutoFit/>
          </a:bodyPr>
          <a:lstStyle/>
          <a:p>
            <a:pPr algn="ctr"/>
            <a:r>
              <a:rPr lang="en-US" altLang="zh-CN" sz="1600" b="1" dirty="0">
                <a:latin typeface="微软雅黑" pitchFamily="34" charset="-122"/>
                <a:ea typeface="微软雅黑" pitchFamily="34" charset="-122"/>
              </a:rPr>
              <a:t>16-QAM</a:t>
            </a:r>
          </a:p>
          <a:p>
            <a:pPr algn="ctr"/>
            <a:r>
              <a:rPr lang="zh-CN" altLang="en-US" sz="1600" b="1" dirty="0">
                <a:latin typeface="微软雅黑" pitchFamily="34" charset="-122"/>
                <a:ea typeface="微软雅黑" pitchFamily="34" charset="-122"/>
              </a:rPr>
              <a:t>信息速率是码元速率的 </a:t>
            </a:r>
            <a:r>
              <a:rPr lang="en-US" altLang="zh-CN" sz="1600" b="1" dirty="0">
                <a:solidFill>
                  <a:srgbClr val="C00000"/>
                </a:solidFill>
                <a:latin typeface="微软雅黑" pitchFamily="34" charset="-122"/>
                <a:ea typeface="微软雅黑" pitchFamily="34" charset="-122"/>
              </a:rPr>
              <a:t>4</a:t>
            </a:r>
            <a:r>
              <a:rPr lang="en-US" altLang="zh-CN" sz="1600" b="1" dirty="0">
                <a:latin typeface="微软雅黑" pitchFamily="34" charset="-122"/>
                <a:ea typeface="微软雅黑" pitchFamily="34" charset="-122"/>
              </a:rPr>
              <a:t> </a:t>
            </a:r>
            <a:r>
              <a:rPr lang="zh-CN" altLang="en-US" sz="1600" b="1" dirty="0">
                <a:latin typeface="微软雅黑" pitchFamily="34" charset="-122"/>
                <a:ea typeface="微软雅黑" pitchFamily="34" charset="-122"/>
              </a:rPr>
              <a:t>倍</a:t>
            </a:r>
          </a:p>
        </p:txBody>
      </p:sp>
      <p:grpSp>
        <p:nvGrpSpPr>
          <p:cNvPr id="167" name="组合 166">
            <a:extLst>
              <a:ext uri="{FF2B5EF4-FFF2-40B4-BE49-F238E27FC236}">
                <a16:creationId xmlns:a16="http://schemas.microsoft.com/office/drawing/2014/main" id="{A558308B-B188-C8AD-C936-707AEB056B0E}"/>
              </a:ext>
            </a:extLst>
          </p:cNvPr>
          <p:cNvGrpSpPr/>
          <p:nvPr/>
        </p:nvGrpSpPr>
        <p:grpSpPr>
          <a:xfrm>
            <a:off x="4733817" y="1585007"/>
            <a:ext cx="2522157" cy="2309216"/>
            <a:chOff x="3632604" y="1585007"/>
            <a:chExt cx="2522157" cy="2309216"/>
          </a:xfrm>
        </p:grpSpPr>
        <p:sp>
          <p:nvSpPr>
            <p:cNvPr id="79" name="Line 4">
              <a:extLst>
                <a:ext uri="{FF2B5EF4-FFF2-40B4-BE49-F238E27FC236}">
                  <a16:creationId xmlns:a16="http://schemas.microsoft.com/office/drawing/2014/main" id="{67203F81-271A-F0A5-B522-ABF2699675AE}"/>
                </a:ext>
              </a:extLst>
            </p:cNvPr>
            <p:cNvSpPr>
              <a:spLocks noChangeShapeType="1"/>
            </p:cNvSpPr>
            <p:nvPr/>
          </p:nvSpPr>
          <p:spPr bwMode="auto">
            <a:xfrm>
              <a:off x="4899521" y="1585007"/>
              <a:ext cx="0" cy="2309216"/>
            </a:xfrm>
            <a:prstGeom prst="line">
              <a:avLst/>
            </a:prstGeom>
            <a:noFill/>
            <a:ln w="28575">
              <a:solidFill>
                <a:srgbClr val="009900"/>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96" name="Line 21">
              <a:extLst>
                <a:ext uri="{FF2B5EF4-FFF2-40B4-BE49-F238E27FC236}">
                  <a16:creationId xmlns:a16="http://schemas.microsoft.com/office/drawing/2014/main" id="{F6F18F8C-6F45-3E0A-54DB-312A9E2A229C}"/>
                </a:ext>
              </a:extLst>
            </p:cNvPr>
            <p:cNvSpPr>
              <a:spLocks noChangeShapeType="1"/>
            </p:cNvSpPr>
            <p:nvPr/>
          </p:nvSpPr>
          <p:spPr bwMode="auto">
            <a:xfrm>
              <a:off x="3632604" y="2810537"/>
              <a:ext cx="2241917" cy="0"/>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97" name="Line 22">
              <a:extLst>
                <a:ext uri="{FF2B5EF4-FFF2-40B4-BE49-F238E27FC236}">
                  <a16:creationId xmlns:a16="http://schemas.microsoft.com/office/drawing/2014/main" id="{8C7E848E-BB09-300A-594D-651E9C70BB4E}"/>
                </a:ext>
              </a:extLst>
            </p:cNvPr>
            <p:cNvSpPr>
              <a:spLocks noChangeShapeType="1"/>
            </p:cNvSpPr>
            <p:nvPr/>
          </p:nvSpPr>
          <p:spPr bwMode="auto">
            <a:xfrm>
              <a:off x="3632604" y="2810537"/>
              <a:ext cx="2522157" cy="0"/>
            </a:xfrm>
            <a:prstGeom prst="line">
              <a:avLst/>
            </a:prstGeom>
            <a:noFill/>
            <a:ln w="28575">
              <a:solidFill>
                <a:srgbClr val="0099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grpSp>
          <p:nvGrpSpPr>
            <p:cNvPr id="166" name="组合 165">
              <a:extLst>
                <a:ext uri="{FF2B5EF4-FFF2-40B4-BE49-F238E27FC236}">
                  <a16:creationId xmlns:a16="http://schemas.microsoft.com/office/drawing/2014/main" id="{F87E3AE2-C97C-1400-6E63-8936D658918E}"/>
                </a:ext>
              </a:extLst>
            </p:cNvPr>
            <p:cNvGrpSpPr/>
            <p:nvPr/>
          </p:nvGrpSpPr>
          <p:grpSpPr>
            <a:xfrm>
              <a:off x="3992025" y="1922424"/>
              <a:ext cx="1803313" cy="1776226"/>
              <a:chOff x="4131781" y="1793174"/>
              <a:chExt cx="1803313" cy="1776226"/>
            </a:xfrm>
          </p:grpSpPr>
          <p:grpSp>
            <p:nvGrpSpPr>
              <p:cNvPr id="114" name="组合 113">
                <a:extLst>
                  <a:ext uri="{FF2B5EF4-FFF2-40B4-BE49-F238E27FC236}">
                    <a16:creationId xmlns:a16="http://schemas.microsoft.com/office/drawing/2014/main" id="{85F1475D-C087-A57B-466A-23DD180B960A}"/>
                  </a:ext>
                </a:extLst>
              </p:cNvPr>
              <p:cNvGrpSpPr/>
              <p:nvPr/>
            </p:nvGrpSpPr>
            <p:grpSpPr>
              <a:xfrm>
                <a:off x="4131781" y="2041744"/>
                <a:ext cx="1550076" cy="1527656"/>
                <a:chOff x="4131781" y="2041744"/>
                <a:chExt cx="1550076" cy="1527656"/>
              </a:xfrm>
            </p:grpSpPr>
            <p:sp>
              <p:nvSpPr>
                <p:cNvPr id="80" name="Oval 5">
                  <a:extLst>
                    <a:ext uri="{FF2B5EF4-FFF2-40B4-BE49-F238E27FC236}">
                      <a16:creationId xmlns:a16="http://schemas.microsoft.com/office/drawing/2014/main" id="{8B19B1E1-1DDE-3B51-FC85-DB7778A7DA0D}"/>
                    </a:ext>
                  </a:extLst>
                </p:cNvPr>
                <p:cNvSpPr>
                  <a:spLocks noChangeArrowheads="1"/>
                </p:cNvSpPr>
                <p:nvPr/>
              </p:nvSpPr>
              <p:spPr bwMode="auto">
                <a:xfrm>
                  <a:off x="4131781" y="3006281"/>
                  <a:ext cx="68601" cy="6666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81" name="Oval 6">
                  <a:extLst>
                    <a:ext uri="{FF2B5EF4-FFF2-40B4-BE49-F238E27FC236}">
                      <a16:creationId xmlns:a16="http://schemas.microsoft.com/office/drawing/2014/main" id="{273290CC-58DC-8C0A-F2AF-665A224391AF}"/>
                    </a:ext>
                  </a:extLst>
                </p:cNvPr>
                <p:cNvSpPr>
                  <a:spLocks noChangeArrowheads="1"/>
                </p:cNvSpPr>
                <p:nvPr/>
              </p:nvSpPr>
              <p:spPr bwMode="auto">
                <a:xfrm>
                  <a:off x="4131781" y="2041744"/>
                  <a:ext cx="68601" cy="6666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82" name="Oval 7">
                  <a:extLst>
                    <a:ext uri="{FF2B5EF4-FFF2-40B4-BE49-F238E27FC236}">
                      <a16:creationId xmlns:a16="http://schemas.microsoft.com/office/drawing/2014/main" id="{1B47341B-420B-A4DC-7100-1F8605D8956F}"/>
                    </a:ext>
                  </a:extLst>
                </p:cNvPr>
                <p:cNvSpPr>
                  <a:spLocks noChangeArrowheads="1"/>
                </p:cNvSpPr>
                <p:nvPr/>
              </p:nvSpPr>
              <p:spPr bwMode="auto">
                <a:xfrm>
                  <a:off x="5125756" y="2041744"/>
                  <a:ext cx="68600" cy="6666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83" name="Oval 8">
                  <a:extLst>
                    <a:ext uri="{FF2B5EF4-FFF2-40B4-BE49-F238E27FC236}">
                      <a16:creationId xmlns:a16="http://schemas.microsoft.com/office/drawing/2014/main" id="{3E1E17E8-CCE8-4ECB-E3F8-59640717D116}"/>
                    </a:ext>
                  </a:extLst>
                </p:cNvPr>
                <p:cNvSpPr>
                  <a:spLocks noChangeArrowheads="1"/>
                </p:cNvSpPr>
                <p:nvPr/>
              </p:nvSpPr>
              <p:spPr bwMode="auto">
                <a:xfrm>
                  <a:off x="4620742" y="2041744"/>
                  <a:ext cx="68600" cy="6666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84" name="Oval 9">
                  <a:extLst>
                    <a:ext uri="{FF2B5EF4-FFF2-40B4-BE49-F238E27FC236}">
                      <a16:creationId xmlns:a16="http://schemas.microsoft.com/office/drawing/2014/main" id="{24617763-A181-86B3-295E-F20298CD7B7A}"/>
                    </a:ext>
                  </a:extLst>
                </p:cNvPr>
                <p:cNvSpPr>
                  <a:spLocks noChangeArrowheads="1"/>
                </p:cNvSpPr>
                <p:nvPr/>
              </p:nvSpPr>
              <p:spPr bwMode="auto">
                <a:xfrm>
                  <a:off x="4131781" y="2529686"/>
                  <a:ext cx="68601" cy="6666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85" name="Oval 10">
                  <a:extLst>
                    <a:ext uri="{FF2B5EF4-FFF2-40B4-BE49-F238E27FC236}">
                      <a16:creationId xmlns:a16="http://schemas.microsoft.com/office/drawing/2014/main" id="{5CFAD382-021E-7984-E648-6C00C931389E}"/>
                    </a:ext>
                  </a:extLst>
                </p:cNvPr>
                <p:cNvSpPr>
                  <a:spLocks noChangeArrowheads="1"/>
                </p:cNvSpPr>
                <p:nvPr/>
              </p:nvSpPr>
              <p:spPr bwMode="auto">
                <a:xfrm>
                  <a:off x="5127216" y="2528268"/>
                  <a:ext cx="68601" cy="66667"/>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86" name="Oval 11">
                  <a:extLst>
                    <a:ext uri="{FF2B5EF4-FFF2-40B4-BE49-F238E27FC236}">
                      <a16:creationId xmlns:a16="http://schemas.microsoft.com/office/drawing/2014/main" id="{5C9377EE-82FE-65BA-2629-54ABC4ECBA64}"/>
                    </a:ext>
                  </a:extLst>
                </p:cNvPr>
                <p:cNvSpPr>
                  <a:spLocks noChangeArrowheads="1"/>
                </p:cNvSpPr>
                <p:nvPr/>
              </p:nvSpPr>
              <p:spPr bwMode="auto">
                <a:xfrm>
                  <a:off x="4622201" y="2529686"/>
                  <a:ext cx="68601" cy="6666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87" name="Oval 12">
                  <a:extLst>
                    <a:ext uri="{FF2B5EF4-FFF2-40B4-BE49-F238E27FC236}">
                      <a16:creationId xmlns:a16="http://schemas.microsoft.com/office/drawing/2014/main" id="{F6272ECF-2AE4-6942-5F45-E74C9F3DDD44}"/>
                    </a:ext>
                  </a:extLst>
                </p:cNvPr>
                <p:cNvSpPr>
                  <a:spLocks noChangeArrowheads="1"/>
                </p:cNvSpPr>
                <p:nvPr/>
              </p:nvSpPr>
              <p:spPr bwMode="auto">
                <a:xfrm>
                  <a:off x="5613257" y="2041744"/>
                  <a:ext cx="68600" cy="6666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sz="2800" b="1">
                    <a:solidFill>
                      <a:srgbClr val="C00000"/>
                    </a:solidFill>
                  </a:endParaRPr>
                </a:p>
              </p:txBody>
            </p:sp>
            <p:sp>
              <p:nvSpPr>
                <p:cNvPr id="88" name="Oval 13">
                  <a:extLst>
                    <a:ext uri="{FF2B5EF4-FFF2-40B4-BE49-F238E27FC236}">
                      <a16:creationId xmlns:a16="http://schemas.microsoft.com/office/drawing/2014/main" id="{E482EA24-0FF1-8794-7985-AB30BACB272E}"/>
                    </a:ext>
                  </a:extLst>
                </p:cNvPr>
                <p:cNvSpPr>
                  <a:spLocks noChangeArrowheads="1"/>
                </p:cNvSpPr>
                <p:nvPr/>
              </p:nvSpPr>
              <p:spPr bwMode="auto">
                <a:xfrm>
                  <a:off x="5127216" y="3004863"/>
                  <a:ext cx="68601" cy="66667"/>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89" name="Oval 14">
                  <a:extLst>
                    <a:ext uri="{FF2B5EF4-FFF2-40B4-BE49-F238E27FC236}">
                      <a16:creationId xmlns:a16="http://schemas.microsoft.com/office/drawing/2014/main" id="{385C9928-D34D-6382-4AD9-FE33C2BAF502}"/>
                    </a:ext>
                  </a:extLst>
                </p:cNvPr>
                <p:cNvSpPr>
                  <a:spLocks noChangeArrowheads="1"/>
                </p:cNvSpPr>
                <p:nvPr/>
              </p:nvSpPr>
              <p:spPr bwMode="auto">
                <a:xfrm>
                  <a:off x="4622201" y="3006281"/>
                  <a:ext cx="68601" cy="6666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90" name="Oval 15">
                  <a:extLst>
                    <a:ext uri="{FF2B5EF4-FFF2-40B4-BE49-F238E27FC236}">
                      <a16:creationId xmlns:a16="http://schemas.microsoft.com/office/drawing/2014/main" id="{F4742590-75BA-761D-3D7C-B7C7CAD153E0}"/>
                    </a:ext>
                  </a:extLst>
                </p:cNvPr>
                <p:cNvSpPr>
                  <a:spLocks noChangeArrowheads="1"/>
                </p:cNvSpPr>
                <p:nvPr/>
              </p:nvSpPr>
              <p:spPr bwMode="auto">
                <a:xfrm>
                  <a:off x="5613257" y="2528268"/>
                  <a:ext cx="68600" cy="66667"/>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91" name="Oval 16">
                  <a:extLst>
                    <a:ext uri="{FF2B5EF4-FFF2-40B4-BE49-F238E27FC236}">
                      <a16:creationId xmlns:a16="http://schemas.microsoft.com/office/drawing/2014/main" id="{C6D2D628-E1CB-9260-3464-2A5C269D35EC}"/>
                    </a:ext>
                  </a:extLst>
                </p:cNvPr>
                <p:cNvSpPr>
                  <a:spLocks noChangeArrowheads="1"/>
                </p:cNvSpPr>
                <p:nvPr/>
              </p:nvSpPr>
              <p:spPr bwMode="auto">
                <a:xfrm>
                  <a:off x="5125756" y="3502734"/>
                  <a:ext cx="68600" cy="6666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92" name="Oval 17">
                  <a:extLst>
                    <a:ext uri="{FF2B5EF4-FFF2-40B4-BE49-F238E27FC236}">
                      <a16:creationId xmlns:a16="http://schemas.microsoft.com/office/drawing/2014/main" id="{CE9A614C-378C-A511-58ED-33B5A0E29C08}"/>
                    </a:ext>
                  </a:extLst>
                </p:cNvPr>
                <p:cNvSpPr>
                  <a:spLocks noChangeArrowheads="1"/>
                </p:cNvSpPr>
                <p:nvPr/>
              </p:nvSpPr>
              <p:spPr bwMode="auto">
                <a:xfrm>
                  <a:off x="4131781" y="3502734"/>
                  <a:ext cx="68601" cy="6666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93" name="Oval 18">
                  <a:extLst>
                    <a:ext uri="{FF2B5EF4-FFF2-40B4-BE49-F238E27FC236}">
                      <a16:creationId xmlns:a16="http://schemas.microsoft.com/office/drawing/2014/main" id="{648F5CC8-9BEE-EEDB-46DD-FFDBB97E0DCD}"/>
                    </a:ext>
                  </a:extLst>
                </p:cNvPr>
                <p:cNvSpPr>
                  <a:spLocks noChangeArrowheads="1"/>
                </p:cNvSpPr>
                <p:nvPr/>
              </p:nvSpPr>
              <p:spPr bwMode="auto">
                <a:xfrm>
                  <a:off x="5613257" y="3006281"/>
                  <a:ext cx="68600" cy="6666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94" name="Oval 19">
                  <a:extLst>
                    <a:ext uri="{FF2B5EF4-FFF2-40B4-BE49-F238E27FC236}">
                      <a16:creationId xmlns:a16="http://schemas.microsoft.com/office/drawing/2014/main" id="{A388B965-48DD-F2E3-E36A-E26FC57CF4B3}"/>
                    </a:ext>
                  </a:extLst>
                </p:cNvPr>
                <p:cNvSpPr>
                  <a:spLocks noChangeArrowheads="1"/>
                </p:cNvSpPr>
                <p:nvPr/>
              </p:nvSpPr>
              <p:spPr bwMode="auto">
                <a:xfrm>
                  <a:off x="4620742" y="3502734"/>
                  <a:ext cx="68600" cy="6666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95" name="Oval 20">
                  <a:extLst>
                    <a:ext uri="{FF2B5EF4-FFF2-40B4-BE49-F238E27FC236}">
                      <a16:creationId xmlns:a16="http://schemas.microsoft.com/office/drawing/2014/main" id="{C8506E91-9978-44EF-3843-84CC5204413A}"/>
                    </a:ext>
                  </a:extLst>
                </p:cNvPr>
                <p:cNvSpPr>
                  <a:spLocks noChangeArrowheads="1"/>
                </p:cNvSpPr>
                <p:nvPr/>
              </p:nvSpPr>
              <p:spPr bwMode="auto">
                <a:xfrm>
                  <a:off x="5613257" y="3502734"/>
                  <a:ext cx="68600" cy="6666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grpSp>
          <p:grpSp>
            <p:nvGrpSpPr>
              <p:cNvPr id="115" name="组合 114">
                <a:extLst>
                  <a:ext uri="{FF2B5EF4-FFF2-40B4-BE49-F238E27FC236}">
                    <a16:creationId xmlns:a16="http://schemas.microsoft.com/office/drawing/2014/main" id="{3C56B6CB-1884-9653-DD54-93DD0D5D887A}"/>
                  </a:ext>
                </a:extLst>
              </p:cNvPr>
              <p:cNvGrpSpPr/>
              <p:nvPr/>
            </p:nvGrpSpPr>
            <p:grpSpPr>
              <a:xfrm>
                <a:off x="4385018" y="2041744"/>
                <a:ext cx="1550076" cy="1527656"/>
                <a:chOff x="4131781" y="2041744"/>
                <a:chExt cx="1550076" cy="1527656"/>
              </a:xfrm>
            </p:grpSpPr>
            <p:sp>
              <p:nvSpPr>
                <p:cNvPr id="116" name="Oval 5">
                  <a:extLst>
                    <a:ext uri="{FF2B5EF4-FFF2-40B4-BE49-F238E27FC236}">
                      <a16:creationId xmlns:a16="http://schemas.microsoft.com/office/drawing/2014/main" id="{3D6E7955-C5D2-6515-57E4-7ED026384C5C}"/>
                    </a:ext>
                  </a:extLst>
                </p:cNvPr>
                <p:cNvSpPr>
                  <a:spLocks noChangeArrowheads="1"/>
                </p:cNvSpPr>
                <p:nvPr/>
              </p:nvSpPr>
              <p:spPr bwMode="auto">
                <a:xfrm>
                  <a:off x="4131781" y="3006281"/>
                  <a:ext cx="68601" cy="6666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17" name="Oval 6">
                  <a:extLst>
                    <a:ext uri="{FF2B5EF4-FFF2-40B4-BE49-F238E27FC236}">
                      <a16:creationId xmlns:a16="http://schemas.microsoft.com/office/drawing/2014/main" id="{A9A8E0F2-91A8-5FC8-A7FB-7C033B9BDD8A}"/>
                    </a:ext>
                  </a:extLst>
                </p:cNvPr>
                <p:cNvSpPr>
                  <a:spLocks noChangeArrowheads="1"/>
                </p:cNvSpPr>
                <p:nvPr/>
              </p:nvSpPr>
              <p:spPr bwMode="auto">
                <a:xfrm>
                  <a:off x="4131781" y="2041744"/>
                  <a:ext cx="68601" cy="6666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18" name="Oval 7">
                  <a:extLst>
                    <a:ext uri="{FF2B5EF4-FFF2-40B4-BE49-F238E27FC236}">
                      <a16:creationId xmlns:a16="http://schemas.microsoft.com/office/drawing/2014/main" id="{73F59813-342A-A13D-1F22-D570A9922933}"/>
                    </a:ext>
                  </a:extLst>
                </p:cNvPr>
                <p:cNvSpPr>
                  <a:spLocks noChangeArrowheads="1"/>
                </p:cNvSpPr>
                <p:nvPr/>
              </p:nvSpPr>
              <p:spPr bwMode="auto">
                <a:xfrm>
                  <a:off x="5125756" y="2041744"/>
                  <a:ext cx="68600" cy="6666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19" name="Oval 8">
                  <a:extLst>
                    <a:ext uri="{FF2B5EF4-FFF2-40B4-BE49-F238E27FC236}">
                      <a16:creationId xmlns:a16="http://schemas.microsoft.com/office/drawing/2014/main" id="{04E55D78-F6F1-15B6-23D2-38FA5E9B945A}"/>
                    </a:ext>
                  </a:extLst>
                </p:cNvPr>
                <p:cNvSpPr>
                  <a:spLocks noChangeArrowheads="1"/>
                </p:cNvSpPr>
                <p:nvPr/>
              </p:nvSpPr>
              <p:spPr bwMode="auto">
                <a:xfrm>
                  <a:off x="4620742" y="2041744"/>
                  <a:ext cx="68600" cy="6666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20" name="Oval 9">
                  <a:extLst>
                    <a:ext uri="{FF2B5EF4-FFF2-40B4-BE49-F238E27FC236}">
                      <a16:creationId xmlns:a16="http://schemas.microsoft.com/office/drawing/2014/main" id="{D0F90EA1-AE05-2842-28BD-1AC5AFEAAD6C}"/>
                    </a:ext>
                  </a:extLst>
                </p:cNvPr>
                <p:cNvSpPr>
                  <a:spLocks noChangeArrowheads="1"/>
                </p:cNvSpPr>
                <p:nvPr/>
              </p:nvSpPr>
              <p:spPr bwMode="auto">
                <a:xfrm>
                  <a:off x="4131781" y="2529686"/>
                  <a:ext cx="68601" cy="6666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21" name="Oval 10">
                  <a:extLst>
                    <a:ext uri="{FF2B5EF4-FFF2-40B4-BE49-F238E27FC236}">
                      <a16:creationId xmlns:a16="http://schemas.microsoft.com/office/drawing/2014/main" id="{E8914BC2-8BD5-C644-D302-07894F3CE65B}"/>
                    </a:ext>
                  </a:extLst>
                </p:cNvPr>
                <p:cNvSpPr>
                  <a:spLocks noChangeArrowheads="1"/>
                </p:cNvSpPr>
                <p:nvPr/>
              </p:nvSpPr>
              <p:spPr bwMode="auto">
                <a:xfrm>
                  <a:off x="5127216" y="2528268"/>
                  <a:ext cx="68601" cy="66667"/>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22" name="Oval 11">
                  <a:extLst>
                    <a:ext uri="{FF2B5EF4-FFF2-40B4-BE49-F238E27FC236}">
                      <a16:creationId xmlns:a16="http://schemas.microsoft.com/office/drawing/2014/main" id="{EF830B08-4631-74E4-DF56-05B6E87BC9C1}"/>
                    </a:ext>
                  </a:extLst>
                </p:cNvPr>
                <p:cNvSpPr>
                  <a:spLocks noChangeArrowheads="1"/>
                </p:cNvSpPr>
                <p:nvPr/>
              </p:nvSpPr>
              <p:spPr bwMode="auto">
                <a:xfrm>
                  <a:off x="4622201" y="2529686"/>
                  <a:ext cx="68601" cy="6666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23" name="Oval 12">
                  <a:extLst>
                    <a:ext uri="{FF2B5EF4-FFF2-40B4-BE49-F238E27FC236}">
                      <a16:creationId xmlns:a16="http://schemas.microsoft.com/office/drawing/2014/main" id="{679BC70F-C083-1732-027B-146463BF2E21}"/>
                    </a:ext>
                  </a:extLst>
                </p:cNvPr>
                <p:cNvSpPr>
                  <a:spLocks noChangeArrowheads="1"/>
                </p:cNvSpPr>
                <p:nvPr/>
              </p:nvSpPr>
              <p:spPr bwMode="auto">
                <a:xfrm>
                  <a:off x="5613257" y="2041744"/>
                  <a:ext cx="68600" cy="6666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sz="2800" b="1">
                    <a:solidFill>
                      <a:srgbClr val="C00000"/>
                    </a:solidFill>
                  </a:endParaRPr>
                </a:p>
              </p:txBody>
            </p:sp>
            <p:sp>
              <p:nvSpPr>
                <p:cNvPr id="124" name="Oval 13">
                  <a:extLst>
                    <a:ext uri="{FF2B5EF4-FFF2-40B4-BE49-F238E27FC236}">
                      <a16:creationId xmlns:a16="http://schemas.microsoft.com/office/drawing/2014/main" id="{2E0E7E95-1DB0-7FE5-031A-EF9306745068}"/>
                    </a:ext>
                  </a:extLst>
                </p:cNvPr>
                <p:cNvSpPr>
                  <a:spLocks noChangeArrowheads="1"/>
                </p:cNvSpPr>
                <p:nvPr/>
              </p:nvSpPr>
              <p:spPr bwMode="auto">
                <a:xfrm>
                  <a:off x="5127216" y="3004863"/>
                  <a:ext cx="68601" cy="66667"/>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25" name="Oval 14">
                  <a:extLst>
                    <a:ext uri="{FF2B5EF4-FFF2-40B4-BE49-F238E27FC236}">
                      <a16:creationId xmlns:a16="http://schemas.microsoft.com/office/drawing/2014/main" id="{AA5FAA59-F5CB-8281-1B88-1A12E766A562}"/>
                    </a:ext>
                  </a:extLst>
                </p:cNvPr>
                <p:cNvSpPr>
                  <a:spLocks noChangeArrowheads="1"/>
                </p:cNvSpPr>
                <p:nvPr/>
              </p:nvSpPr>
              <p:spPr bwMode="auto">
                <a:xfrm>
                  <a:off x="4622201" y="3006281"/>
                  <a:ext cx="68601" cy="6666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26" name="Oval 15">
                  <a:extLst>
                    <a:ext uri="{FF2B5EF4-FFF2-40B4-BE49-F238E27FC236}">
                      <a16:creationId xmlns:a16="http://schemas.microsoft.com/office/drawing/2014/main" id="{299C56CC-FD8F-5EE5-8041-67BF2C31E873}"/>
                    </a:ext>
                  </a:extLst>
                </p:cNvPr>
                <p:cNvSpPr>
                  <a:spLocks noChangeArrowheads="1"/>
                </p:cNvSpPr>
                <p:nvPr/>
              </p:nvSpPr>
              <p:spPr bwMode="auto">
                <a:xfrm>
                  <a:off x="5613257" y="2528268"/>
                  <a:ext cx="68600" cy="66667"/>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27" name="Oval 16">
                  <a:extLst>
                    <a:ext uri="{FF2B5EF4-FFF2-40B4-BE49-F238E27FC236}">
                      <a16:creationId xmlns:a16="http://schemas.microsoft.com/office/drawing/2014/main" id="{14B1B0B1-26D1-A1F0-F75D-D0EC59280EC6}"/>
                    </a:ext>
                  </a:extLst>
                </p:cNvPr>
                <p:cNvSpPr>
                  <a:spLocks noChangeArrowheads="1"/>
                </p:cNvSpPr>
                <p:nvPr/>
              </p:nvSpPr>
              <p:spPr bwMode="auto">
                <a:xfrm>
                  <a:off x="5125756" y="3502734"/>
                  <a:ext cx="68600" cy="6666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28" name="Oval 17">
                  <a:extLst>
                    <a:ext uri="{FF2B5EF4-FFF2-40B4-BE49-F238E27FC236}">
                      <a16:creationId xmlns:a16="http://schemas.microsoft.com/office/drawing/2014/main" id="{2A69B246-43C1-E830-C735-4CFAE66FE868}"/>
                    </a:ext>
                  </a:extLst>
                </p:cNvPr>
                <p:cNvSpPr>
                  <a:spLocks noChangeArrowheads="1"/>
                </p:cNvSpPr>
                <p:nvPr/>
              </p:nvSpPr>
              <p:spPr bwMode="auto">
                <a:xfrm>
                  <a:off x="4131781" y="3502734"/>
                  <a:ext cx="68601" cy="6666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29" name="Oval 18">
                  <a:extLst>
                    <a:ext uri="{FF2B5EF4-FFF2-40B4-BE49-F238E27FC236}">
                      <a16:creationId xmlns:a16="http://schemas.microsoft.com/office/drawing/2014/main" id="{B9164E00-F70F-7396-9F61-35A33340F6CD}"/>
                    </a:ext>
                  </a:extLst>
                </p:cNvPr>
                <p:cNvSpPr>
                  <a:spLocks noChangeArrowheads="1"/>
                </p:cNvSpPr>
                <p:nvPr/>
              </p:nvSpPr>
              <p:spPr bwMode="auto">
                <a:xfrm>
                  <a:off x="5613257" y="3006281"/>
                  <a:ext cx="68600" cy="6666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30" name="Oval 19">
                  <a:extLst>
                    <a:ext uri="{FF2B5EF4-FFF2-40B4-BE49-F238E27FC236}">
                      <a16:creationId xmlns:a16="http://schemas.microsoft.com/office/drawing/2014/main" id="{7071828E-A8F0-346B-AC32-060BC8037640}"/>
                    </a:ext>
                  </a:extLst>
                </p:cNvPr>
                <p:cNvSpPr>
                  <a:spLocks noChangeArrowheads="1"/>
                </p:cNvSpPr>
                <p:nvPr/>
              </p:nvSpPr>
              <p:spPr bwMode="auto">
                <a:xfrm>
                  <a:off x="4620742" y="3502734"/>
                  <a:ext cx="68600" cy="6666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31" name="Oval 20">
                  <a:extLst>
                    <a:ext uri="{FF2B5EF4-FFF2-40B4-BE49-F238E27FC236}">
                      <a16:creationId xmlns:a16="http://schemas.microsoft.com/office/drawing/2014/main" id="{93A8ED80-F2C0-CAE8-53C7-977A693554AE}"/>
                    </a:ext>
                  </a:extLst>
                </p:cNvPr>
                <p:cNvSpPr>
                  <a:spLocks noChangeArrowheads="1"/>
                </p:cNvSpPr>
                <p:nvPr/>
              </p:nvSpPr>
              <p:spPr bwMode="auto">
                <a:xfrm>
                  <a:off x="5613257" y="3502734"/>
                  <a:ext cx="68600" cy="6666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grpSp>
          <p:grpSp>
            <p:nvGrpSpPr>
              <p:cNvPr id="132" name="组合 131">
                <a:extLst>
                  <a:ext uri="{FF2B5EF4-FFF2-40B4-BE49-F238E27FC236}">
                    <a16:creationId xmlns:a16="http://schemas.microsoft.com/office/drawing/2014/main" id="{6F07C497-9AA1-D949-7DC4-CE0F60022330}"/>
                  </a:ext>
                </a:extLst>
              </p:cNvPr>
              <p:cNvGrpSpPr/>
              <p:nvPr/>
            </p:nvGrpSpPr>
            <p:grpSpPr>
              <a:xfrm>
                <a:off x="4131781" y="1793174"/>
                <a:ext cx="1550076" cy="1527656"/>
                <a:chOff x="4131781" y="2041744"/>
                <a:chExt cx="1550076" cy="1527656"/>
              </a:xfrm>
            </p:grpSpPr>
            <p:sp>
              <p:nvSpPr>
                <p:cNvPr id="133" name="Oval 5">
                  <a:extLst>
                    <a:ext uri="{FF2B5EF4-FFF2-40B4-BE49-F238E27FC236}">
                      <a16:creationId xmlns:a16="http://schemas.microsoft.com/office/drawing/2014/main" id="{01AA74F5-B6EC-1B6D-3A07-6BA04ECA1618}"/>
                    </a:ext>
                  </a:extLst>
                </p:cNvPr>
                <p:cNvSpPr>
                  <a:spLocks noChangeArrowheads="1"/>
                </p:cNvSpPr>
                <p:nvPr/>
              </p:nvSpPr>
              <p:spPr bwMode="auto">
                <a:xfrm>
                  <a:off x="4131781" y="3006281"/>
                  <a:ext cx="68601" cy="6666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34" name="Oval 6">
                  <a:extLst>
                    <a:ext uri="{FF2B5EF4-FFF2-40B4-BE49-F238E27FC236}">
                      <a16:creationId xmlns:a16="http://schemas.microsoft.com/office/drawing/2014/main" id="{455E2C15-0D56-059B-7BBE-148C22794E20}"/>
                    </a:ext>
                  </a:extLst>
                </p:cNvPr>
                <p:cNvSpPr>
                  <a:spLocks noChangeArrowheads="1"/>
                </p:cNvSpPr>
                <p:nvPr/>
              </p:nvSpPr>
              <p:spPr bwMode="auto">
                <a:xfrm>
                  <a:off x="4131781" y="2041744"/>
                  <a:ext cx="68601" cy="6666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35" name="Oval 7">
                  <a:extLst>
                    <a:ext uri="{FF2B5EF4-FFF2-40B4-BE49-F238E27FC236}">
                      <a16:creationId xmlns:a16="http://schemas.microsoft.com/office/drawing/2014/main" id="{0A76BFC3-B6ED-2C64-267E-6C1448134C14}"/>
                    </a:ext>
                  </a:extLst>
                </p:cNvPr>
                <p:cNvSpPr>
                  <a:spLocks noChangeArrowheads="1"/>
                </p:cNvSpPr>
                <p:nvPr/>
              </p:nvSpPr>
              <p:spPr bwMode="auto">
                <a:xfrm>
                  <a:off x="5125756" y="2041744"/>
                  <a:ext cx="68600" cy="6666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36" name="Oval 8">
                  <a:extLst>
                    <a:ext uri="{FF2B5EF4-FFF2-40B4-BE49-F238E27FC236}">
                      <a16:creationId xmlns:a16="http://schemas.microsoft.com/office/drawing/2014/main" id="{1943E7BB-11D5-4686-60AF-BAF11352A1FA}"/>
                    </a:ext>
                  </a:extLst>
                </p:cNvPr>
                <p:cNvSpPr>
                  <a:spLocks noChangeArrowheads="1"/>
                </p:cNvSpPr>
                <p:nvPr/>
              </p:nvSpPr>
              <p:spPr bwMode="auto">
                <a:xfrm>
                  <a:off x="4620742" y="2041744"/>
                  <a:ext cx="68600" cy="6666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37" name="Oval 9">
                  <a:extLst>
                    <a:ext uri="{FF2B5EF4-FFF2-40B4-BE49-F238E27FC236}">
                      <a16:creationId xmlns:a16="http://schemas.microsoft.com/office/drawing/2014/main" id="{D2E3133B-0B1D-876A-EE48-336B6835FEAD}"/>
                    </a:ext>
                  </a:extLst>
                </p:cNvPr>
                <p:cNvSpPr>
                  <a:spLocks noChangeArrowheads="1"/>
                </p:cNvSpPr>
                <p:nvPr/>
              </p:nvSpPr>
              <p:spPr bwMode="auto">
                <a:xfrm>
                  <a:off x="4131781" y="2529686"/>
                  <a:ext cx="68601" cy="6666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38" name="Oval 10">
                  <a:extLst>
                    <a:ext uri="{FF2B5EF4-FFF2-40B4-BE49-F238E27FC236}">
                      <a16:creationId xmlns:a16="http://schemas.microsoft.com/office/drawing/2014/main" id="{9AAB630D-88B8-0BBE-73E2-D36081C3FB4F}"/>
                    </a:ext>
                  </a:extLst>
                </p:cNvPr>
                <p:cNvSpPr>
                  <a:spLocks noChangeArrowheads="1"/>
                </p:cNvSpPr>
                <p:nvPr/>
              </p:nvSpPr>
              <p:spPr bwMode="auto">
                <a:xfrm>
                  <a:off x="5127216" y="2528268"/>
                  <a:ext cx="68601" cy="66667"/>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39" name="Oval 11">
                  <a:extLst>
                    <a:ext uri="{FF2B5EF4-FFF2-40B4-BE49-F238E27FC236}">
                      <a16:creationId xmlns:a16="http://schemas.microsoft.com/office/drawing/2014/main" id="{9F0CCE9F-B15C-2A14-C05C-8315A865F875}"/>
                    </a:ext>
                  </a:extLst>
                </p:cNvPr>
                <p:cNvSpPr>
                  <a:spLocks noChangeArrowheads="1"/>
                </p:cNvSpPr>
                <p:nvPr/>
              </p:nvSpPr>
              <p:spPr bwMode="auto">
                <a:xfrm>
                  <a:off x="4622201" y="2529686"/>
                  <a:ext cx="68601" cy="6666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40" name="Oval 12">
                  <a:extLst>
                    <a:ext uri="{FF2B5EF4-FFF2-40B4-BE49-F238E27FC236}">
                      <a16:creationId xmlns:a16="http://schemas.microsoft.com/office/drawing/2014/main" id="{8A52EA1A-273A-8E13-E846-1C9F57B9F952}"/>
                    </a:ext>
                  </a:extLst>
                </p:cNvPr>
                <p:cNvSpPr>
                  <a:spLocks noChangeArrowheads="1"/>
                </p:cNvSpPr>
                <p:nvPr/>
              </p:nvSpPr>
              <p:spPr bwMode="auto">
                <a:xfrm>
                  <a:off x="5613257" y="2041744"/>
                  <a:ext cx="68600" cy="6666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sz="2800" b="1">
                    <a:solidFill>
                      <a:srgbClr val="C00000"/>
                    </a:solidFill>
                  </a:endParaRPr>
                </a:p>
              </p:txBody>
            </p:sp>
            <p:sp>
              <p:nvSpPr>
                <p:cNvPr id="141" name="Oval 13">
                  <a:extLst>
                    <a:ext uri="{FF2B5EF4-FFF2-40B4-BE49-F238E27FC236}">
                      <a16:creationId xmlns:a16="http://schemas.microsoft.com/office/drawing/2014/main" id="{D6CE63FF-ACD9-3539-FBF6-3EF9129A3A48}"/>
                    </a:ext>
                  </a:extLst>
                </p:cNvPr>
                <p:cNvSpPr>
                  <a:spLocks noChangeArrowheads="1"/>
                </p:cNvSpPr>
                <p:nvPr/>
              </p:nvSpPr>
              <p:spPr bwMode="auto">
                <a:xfrm>
                  <a:off x="5127216" y="3004863"/>
                  <a:ext cx="68601" cy="66667"/>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42" name="Oval 14">
                  <a:extLst>
                    <a:ext uri="{FF2B5EF4-FFF2-40B4-BE49-F238E27FC236}">
                      <a16:creationId xmlns:a16="http://schemas.microsoft.com/office/drawing/2014/main" id="{C988EB65-EE92-4BE7-3C57-66BBE5294EB7}"/>
                    </a:ext>
                  </a:extLst>
                </p:cNvPr>
                <p:cNvSpPr>
                  <a:spLocks noChangeArrowheads="1"/>
                </p:cNvSpPr>
                <p:nvPr/>
              </p:nvSpPr>
              <p:spPr bwMode="auto">
                <a:xfrm>
                  <a:off x="4622201" y="3006281"/>
                  <a:ext cx="68601" cy="6666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43" name="Oval 15">
                  <a:extLst>
                    <a:ext uri="{FF2B5EF4-FFF2-40B4-BE49-F238E27FC236}">
                      <a16:creationId xmlns:a16="http://schemas.microsoft.com/office/drawing/2014/main" id="{28ACDB3D-7D4B-D41C-224C-20DF70ECED49}"/>
                    </a:ext>
                  </a:extLst>
                </p:cNvPr>
                <p:cNvSpPr>
                  <a:spLocks noChangeArrowheads="1"/>
                </p:cNvSpPr>
                <p:nvPr/>
              </p:nvSpPr>
              <p:spPr bwMode="auto">
                <a:xfrm>
                  <a:off x="5613257" y="2528268"/>
                  <a:ext cx="68600" cy="66667"/>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44" name="Oval 16">
                  <a:extLst>
                    <a:ext uri="{FF2B5EF4-FFF2-40B4-BE49-F238E27FC236}">
                      <a16:creationId xmlns:a16="http://schemas.microsoft.com/office/drawing/2014/main" id="{5B599DC6-4D27-D236-86BD-56B3A5F4E139}"/>
                    </a:ext>
                  </a:extLst>
                </p:cNvPr>
                <p:cNvSpPr>
                  <a:spLocks noChangeArrowheads="1"/>
                </p:cNvSpPr>
                <p:nvPr/>
              </p:nvSpPr>
              <p:spPr bwMode="auto">
                <a:xfrm>
                  <a:off x="5125756" y="3502734"/>
                  <a:ext cx="68600" cy="6666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45" name="Oval 17">
                  <a:extLst>
                    <a:ext uri="{FF2B5EF4-FFF2-40B4-BE49-F238E27FC236}">
                      <a16:creationId xmlns:a16="http://schemas.microsoft.com/office/drawing/2014/main" id="{EFC40168-8424-2BD4-AFC1-C82C97C0BF31}"/>
                    </a:ext>
                  </a:extLst>
                </p:cNvPr>
                <p:cNvSpPr>
                  <a:spLocks noChangeArrowheads="1"/>
                </p:cNvSpPr>
                <p:nvPr/>
              </p:nvSpPr>
              <p:spPr bwMode="auto">
                <a:xfrm>
                  <a:off x="4131781" y="3502734"/>
                  <a:ext cx="68601" cy="6666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46" name="Oval 18">
                  <a:extLst>
                    <a:ext uri="{FF2B5EF4-FFF2-40B4-BE49-F238E27FC236}">
                      <a16:creationId xmlns:a16="http://schemas.microsoft.com/office/drawing/2014/main" id="{3CA737D3-9AF8-3A7F-2156-24D6CB049BE1}"/>
                    </a:ext>
                  </a:extLst>
                </p:cNvPr>
                <p:cNvSpPr>
                  <a:spLocks noChangeArrowheads="1"/>
                </p:cNvSpPr>
                <p:nvPr/>
              </p:nvSpPr>
              <p:spPr bwMode="auto">
                <a:xfrm>
                  <a:off x="5613257" y="3006281"/>
                  <a:ext cx="68600" cy="6666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47" name="Oval 19">
                  <a:extLst>
                    <a:ext uri="{FF2B5EF4-FFF2-40B4-BE49-F238E27FC236}">
                      <a16:creationId xmlns:a16="http://schemas.microsoft.com/office/drawing/2014/main" id="{ACC14386-10E5-0F20-17DB-ED58A000AE82}"/>
                    </a:ext>
                  </a:extLst>
                </p:cNvPr>
                <p:cNvSpPr>
                  <a:spLocks noChangeArrowheads="1"/>
                </p:cNvSpPr>
                <p:nvPr/>
              </p:nvSpPr>
              <p:spPr bwMode="auto">
                <a:xfrm>
                  <a:off x="4620742" y="3502734"/>
                  <a:ext cx="68600" cy="6666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48" name="Oval 20">
                  <a:extLst>
                    <a:ext uri="{FF2B5EF4-FFF2-40B4-BE49-F238E27FC236}">
                      <a16:creationId xmlns:a16="http://schemas.microsoft.com/office/drawing/2014/main" id="{C497B756-86D3-3134-3970-89F87D6A160D}"/>
                    </a:ext>
                  </a:extLst>
                </p:cNvPr>
                <p:cNvSpPr>
                  <a:spLocks noChangeArrowheads="1"/>
                </p:cNvSpPr>
                <p:nvPr/>
              </p:nvSpPr>
              <p:spPr bwMode="auto">
                <a:xfrm>
                  <a:off x="5613257" y="3502734"/>
                  <a:ext cx="68600" cy="6666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grpSp>
          <p:grpSp>
            <p:nvGrpSpPr>
              <p:cNvPr id="149" name="组合 148">
                <a:extLst>
                  <a:ext uri="{FF2B5EF4-FFF2-40B4-BE49-F238E27FC236}">
                    <a16:creationId xmlns:a16="http://schemas.microsoft.com/office/drawing/2014/main" id="{B5A502A1-647D-B961-2A78-7BCBD507F007}"/>
                  </a:ext>
                </a:extLst>
              </p:cNvPr>
              <p:cNvGrpSpPr/>
              <p:nvPr/>
            </p:nvGrpSpPr>
            <p:grpSpPr>
              <a:xfrm>
                <a:off x="4385018" y="1793174"/>
                <a:ext cx="1550076" cy="1527656"/>
                <a:chOff x="4131781" y="2041744"/>
                <a:chExt cx="1550076" cy="1527656"/>
              </a:xfrm>
            </p:grpSpPr>
            <p:sp>
              <p:nvSpPr>
                <p:cNvPr id="150" name="Oval 5">
                  <a:extLst>
                    <a:ext uri="{FF2B5EF4-FFF2-40B4-BE49-F238E27FC236}">
                      <a16:creationId xmlns:a16="http://schemas.microsoft.com/office/drawing/2014/main" id="{D3B1E5CB-ECDF-445B-CCC3-EEE5ABF9E0C8}"/>
                    </a:ext>
                  </a:extLst>
                </p:cNvPr>
                <p:cNvSpPr>
                  <a:spLocks noChangeArrowheads="1"/>
                </p:cNvSpPr>
                <p:nvPr/>
              </p:nvSpPr>
              <p:spPr bwMode="auto">
                <a:xfrm>
                  <a:off x="4131781" y="3006281"/>
                  <a:ext cx="68601" cy="6666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51" name="Oval 6">
                  <a:extLst>
                    <a:ext uri="{FF2B5EF4-FFF2-40B4-BE49-F238E27FC236}">
                      <a16:creationId xmlns:a16="http://schemas.microsoft.com/office/drawing/2014/main" id="{A506B12D-989A-2599-0778-1D1C4C2DA70A}"/>
                    </a:ext>
                  </a:extLst>
                </p:cNvPr>
                <p:cNvSpPr>
                  <a:spLocks noChangeArrowheads="1"/>
                </p:cNvSpPr>
                <p:nvPr/>
              </p:nvSpPr>
              <p:spPr bwMode="auto">
                <a:xfrm>
                  <a:off x="4131781" y="2041744"/>
                  <a:ext cx="68601" cy="6666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52" name="Oval 7">
                  <a:extLst>
                    <a:ext uri="{FF2B5EF4-FFF2-40B4-BE49-F238E27FC236}">
                      <a16:creationId xmlns:a16="http://schemas.microsoft.com/office/drawing/2014/main" id="{37F0B04E-236C-896A-D939-D5AF7DA762E7}"/>
                    </a:ext>
                  </a:extLst>
                </p:cNvPr>
                <p:cNvSpPr>
                  <a:spLocks noChangeArrowheads="1"/>
                </p:cNvSpPr>
                <p:nvPr/>
              </p:nvSpPr>
              <p:spPr bwMode="auto">
                <a:xfrm>
                  <a:off x="5125756" y="2041744"/>
                  <a:ext cx="68600" cy="6666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53" name="Oval 8">
                  <a:extLst>
                    <a:ext uri="{FF2B5EF4-FFF2-40B4-BE49-F238E27FC236}">
                      <a16:creationId xmlns:a16="http://schemas.microsoft.com/office/drawing/2014/main" id="{5EF2FF5E-8036-A18D-8FBD-6763F774B734}"/>
                    </a:ext>
                  </a:extLst>
                </p:cNvPr>
                <p:cNvSpPr>
                  <a:spLocks noChangeArrowheads="1"/>
                </p:cNvSpPr>
                <p:nvPr/>
              </p:nvSpPr>
              <p:spPr bwMode="auto">
                <a:xfrm>
                  <a:off x="4620742" y="2041744"/>
                  <a:ext cx="68600" cy="6666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54" name="Oval 9">
                  <a:extLst>
                    <a:ext uri="{FF2B5EF4-FFF2-40B4-BE49-F238E27FC236}">
                      <a16:creationId xmlns:a16="http://schemas.microsoft.com/office/drawing/2014/main" id="{D6D59DA3-5361-C2AE-EEA8-98F84A101319}"/>
                    </a:ext>
                  </a:extLst>
                </p:cNvPr>
                <p:cNvSpPr>
                  <a:spLocks noChangeArrowheads="1"/>
                </p:cNvSpPr>
                <p:nvPr/>
              </p:nvSpPr>
              <p:spPr bwMode="auto">
                <a:xfrm>
                  <a:off x="4131781" y="2529686"/>
                  <a:ext cx="68601" cy="6666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55" name="Oval 10">
                  <a:extLst>
                    <a:ext uri="{FF2B5EF4-FFF2-40B4-BE49-F238E27FC236}">
                      <a16:creationId xmlns:a16="http://schemas.microsoft.com/office/drawing/2014/main" id="{E544DFBE-7F55-149B-6FB8-52A7E17204C2}"/>
                    </a:ext>
                  </a:extLst>
                </p:cNvPr>
                <p:cNvSpPr>
                  <a:spLocks noChangeArrowheads="1"/>
                </p:cNvSpPr>
                <p:nvPr/>
              </p:nvSpPr>
              <p:spPr bwMode="auto">
                <a:xfrm>
                  <a:off x="5127216" y="2528268"/>
                  <a:ext cx="68601" cy="66667"/>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56" name="Oval 11">
                  <a:extLst>
                    <a:ext uri="{FF2B5EF4-FFF2-40B4-BE49-F238E27FC236}">
                      <a16:creationId xmlns:a16="http://schemas.microsoft.com/office/drawing/2014/main" id="{6171E9F9-3473-43A4-4AB3-A381A0334D13}"/>
                    </a:ext>
                  </a:extLst>
                </p:cNvPr>
                <p:cNvSpPr>
                  <a:spLocks noChangeArrowheads="1"/>
                </p:cNvSpPr>
                <p:nvPr/>
              </p:nvSpPr>
              <p:spPr bwMode="auto">
                <a:xfrm>
                  <a:off x="4622201" y="2529686"/>
                  <a:ext cx="68601" cy="6666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57" name="Oval 12">
                  <a:extLst>
                    <a:ext uri="{FF2B5EF4-FFF2-40B4-BE49-F238E27FC236}">
                      <a16:creationId xmlns:a16="http://schemas.microsoft.com/office/drawing/2014/main" id="{C5C3A754-491D-83C6-D6CC-1356F51D52CE}"/>
                    </a:ext>
                  </a:extLst>
                </p:cNvPr>
                <p:cNvSpPr>
                  <a:spLocks noChangeArrowheads="1"/>
                </p:cNvSpPr>
                <p:nvPr/>
              </p:nvSpPr>
              <p:spPr bwMode="auto">
                <a:xfrm>
                  <a:off x="5613257" y="2041744"/>
                  <a:ext cx="68600" cy="6666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sz="2800" b="1">
                    <a:solidFill>
                      <a:srgbClr val="C00000"/>
                    </a:solidFill>
                  </a:endParaRPr>
                </a:p>
              </p:txBody>
            </p:sp>
            <p:sp>
              <p:nvSpPr>
                <p:cNvPr id="158" name="Oval 13">
                  <a:extLst>
                    <a:ext uri="{FF2B5EF4-FFF2-40B4-BE49-F238E27FC236}">
                      <a16:creationId xmlns:a16="http://schemas.microsoft.com/office/drawing/2014/main" id="{9CD742CB-60EF-C401-833C-E34DD84BC8DD}"/>
                    </a:ext>
                  </a:extLst>
                </p:cNvPr>
                <p:cNvSpPr>
                  <a:spLocks noChangeArrowheads="1"/>
                </p:cNvSpPr>
                <p:nvPr/>
              </p:nvSpPr>
              <p:spPr bwMode="auto">
                <a:xfrm>
                  <a:off x="5127216" y="3004863"/>
                  <a:ext cx="68601" cy="66667"/>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59" name="Oval 14">
                  <a:extLst>
                    <a:ext uri="{FF2B5EF4-FFF2-40B4-BE49-F238E27FC236}">
                      <a16:creationId xmlns:a16="http://schemas.microsoft.com/office/drawing/2014/main" id="{FC9BCFC3-A0BB-B03C-CCC1-E47379AA0C5B}"/>
                    </a:ext>
                  </a:extLst>
                </p:cNvPr>
                <p:cNvSpPr>
                  <a:spLocks noChangeArrowheads="1"/>
                </p:cNvSpPr>
                <p:nvPr/>
              </p:nvSpPr>
              <p:spPr bwMode="auto">
                <a:xfrm>
                  <a:off x="4622201" y="3006281"/>
                  <a:ext cx="68601" cy="6666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60" name="Oval 15">
                  <a:extLst>
                    <a:ext uri="{FF2B5EF4-FFF2-40B4-BE49-F238E27FC236}">
                      <a16:creationId xmlns:a16="http://schemas.microsoft.com/office/drawing/2014/main" id="{BD364AAD-6BE8-F154-93AD-1D3E637C08CE}"/>
                    </a:ext>
                  </a:extLst>
                </p:cNvPr>
                <p:cNvSpPr>
                  <a:spLocks noChangeArrowheads="1"/>
                </p:cNvSpPr>
                <p:nvPr/>
              </p:nvSpPr>
              <p:spPr bwMode="auto">
                <a:xfrm>
                  <a:off x="5613257" y="2528268"/>
                  <a:ext cx="68600" cy="66667"/>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61" name="Oval 16">
                  <a:extLst>
                    <a:ext uri="{FF2B5EF4-FFF2-40B4-BE49-F238E27FC236}">
                      <a16:creationId xmlns:a16="http://schemas.microsoft.com/office/drawing/2014/main" id="{F7CF36B5-9180-2C59-1B29-D7B2D477B48C}"/>
                    </a:ext>
                  </a:extLst>
                </p:cNvPr>
                <p:cNvSpPr>
                  <a:spLocks noChangeArrowheads="1"/>
                </p:cNvSpPr>
                <p:nvPr/>
              </p:nvSpPr>
              <p:spPr bwMode="auto">
                <a:xfrm>
                  <a:off x="5125756" y="3502734"/>
                  <a:ext cx="68600" cy="6666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62" name="Oval 17">
                  <a:extLst>
                    <a:ext uri="{FF2B5EF4-FFF2-40B4-BE49-F238E27FC236}">
                      <a16:creationId xmlns:a16="http://schemas.microsoft.com/office/drawing/2014/main" id="{89CB13F2-C445-A327-D6A5-63ECC67DB74E}"/>
                    </a:ext>
                  </a:extLst>
                </p:cNvPr>
                <p:cNvSpPr>
                  <a:spLocks noChangeArrowheads="1"/>
                </p:cNvSpPr>
                <p:nvPr/>
              </p:nvSpPr>
              <p:spPr bwMode="auto">
                <a:xfrm>
                  <a:off x="4131781" y="3502734"/>
                  <a:ext cx="68601" cy="6666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63" name="Oval 18">
                  <a:extLst>
                    <a:ext uri="{FF2B5EF4-FFF2-40B4-BE49-F238E27FC236}">
                      <a16:creationId xmlns:a16="http://schemas.microsoft.com/office/drawing/2014/main" id="{E0694841-64C6-A876-D96B-C8D41FE037D7}"/>
                    </a:ext>
                  </a:extLst>
                </p:cNvPr>
                <p:cNvSpPr>
                  <a:spLocks noChangeArrowheads="1"/>
                </p:cNvSpPr>
                <p:nvPr/>
              </p:nvSpPr>
              <p:spPr bwMode="auto">
                <a:xfrm>
                  <a:off x="5613257" y="3006281"/>
                  <a:ext cx="68600" cy="6666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64" name="Oval 19">
                  <a:extLst>
                    <a:ext uri="{FF2B5EF4-FFF2-40B4-BE49-F238E27FC236}">
                      <a16:creationId xmlns:a16="http://schemas.microsoft.com/office/drawing/2014/main" id="{8D5A7A3F-BF8F-BEF1-4F82-B5C5FFD2F0CE}"/>
                    </a:ext>
                  </a:extLst>
                </p:cNvPr>
                <p:cNvSpPr>
                  <a:spLocks noChangeArrowheads="1"/>
                </p:cNvSpPr>
                <p:nvPr/>
              </p:nvSpPr>
              <p:spPr bwMode="auto">
                <a:xfrm>
                  <a:off x="4620742" y="3502734"/>
                  <a:ext cx="68600" cy="6666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65" name="Oval 20">
                  <a:extLst>
                    <a:ext uri="{FF2B5EF4-FFF2-40B4-BE49-F238E27FC236}">
                      <a16:creationId xmlns:a16="http://schemas.microsoft.com/office/drawing/2014/main" id="{AD0C055F-388F-4AAC-B9F4-544073758B4A}"/>
                    </a:ext>
                  </a:extLst>
                </p:cNvPr>
                <p:cNvSpPr>
                  <a:spLocks noChangeArrowheads="1"/>
                </p:cNvSpPr>
                <p:nvPr/>
              </p:nvSpPr>
              <p:spPr bwMode="auto">
                <a:xfrm>
                  <a:off x="5613257" y="3502734"/>
                  <a:ext cx="68600" cy="66666"/>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grpSp>
        </p:grpSp>
      </p:grpSp>
      <p:sp>
        <p:nvSpPr>
          <p:cNvPr id="168" name="文本框 167">
            <a:extLst>
              <a:ext uri="{FF2B5EF4-FFF2-40B4-BE49-F238E27FC236}">
                <a16:creationId xmlns:a16="http://schemas.microsoft.com/office/drawing/2014/main" id="{5BD12DF5-FF74-3BE7-7F84-F8F49B32302B}"/>
              </a:ext>
            </a:extLst>
          </p:cNvPr>
          <p:cNvSpPr txBox="1"/>
          <p:nvPr/>
        </p:nvSpPr>
        <p:spPr>
          <a:xfrm>
            <a:off x="4380273" y="3925216"/>
            <a:ext cx="3421624" cy="584775"/>
          </a:xfrm>
          <a:prstGeom prst="rect">
            <a:avLst/>
          </a:prstGeom>
          <a:noFill/>
        </p:spPr>
        <p:txBody>
          <a:bodyPr wrap="square">
            <a:spAutoFit/>
          </a:bodyPr>
          <a:lstStyle/>
          <a:p>
            <a:pPr algn="ctr"/>
            <a:r>
              <a:rPr lang="en-US" altLang="zh-CN" sz="1600" b="1" dirty="0">
                <a:latin typeface="微软雅黑" pitchFamily="34" charset="-122"/>
                <a:ea typeface="微软雅黑" pitchFamily="34" charset="-122"/>
              </a:rPr>
              <a:t>64-QAM</a:t>
            </a:r>
          </a:p>
          <a:p>
            <a:pPr algn="ctr"/>
            <a:r>
              <a:rPr lang="zh-CN" altLang="en-US" sz="1600" b="1" dirty="0">
                <a:latin typeface="微软雅黑" pitchFamily="34" charset="-122"/>
                <a:ea typeface="微软雅黑" pitchFamily="34" charset="-122"/>
              </a:rPr>
              <a:t>信息速率是码元速率的 </a:t>
            </a:r>
            <a:r>
              <a:rPr lang="en-US" altLang="zh-CN" sz="1600" b="1" dirty="0">
                <a:solidFill>
                  <a:srgbClr val="C00000"/>
                </a:solidFill>
                <a:latin typeface="微软雅黑" pitchFamily="34" charset="-122"/>
                <a:ea typeface="微软雅黑" pitchFamily="34" charset="-122"/>
              </a:rPr>
              <a:t>6</a:t>
            </a:r>
            <a:r>
              <a:rPr lang="en-US" altLang="zh-CN" sz="1600" b="1" dirty="0">
                <a:latin typeface="微软雅黑" pitchFamily="34" charset="-122"/>
                <a:ea typeface="微软雅黑" pitchFamily="34" charset="-122"/>
              </a:rPr>
              <a:t> </a:t>
            </a:r>
            <a:r>
              <a:rPr lang="zh-CN" altLang="en-US" sz="1600" b="1" dirty="0">
                <a:latin typeface="微软雅黑" pitchFamily="34" charset="-122"/>
                <a:ea typeface="微软雅黑" pitchFamily="34" charset="-122"/>
              </a:rPr>
              <a:t>倍</a:t>
            </a:r>
          </a:p>
        </p:txBody>
      </p:sp>
      <p:sp>
        <p:nvSpPr>
          <p:cNvPr id="170" name="文本框 169">
            <a:extLst>
              <a:ext uri="{FF2B5EF4-FFF2-40B4-BE49-F238E27FC236}">
                <a16:creationId xmlns:a16="http://schemas.microsoft.com/office/drawing/2014/main" id="{739B23CE-8A94-924A-0579-60003DB3045B}"/>
              </a:ext>
            </a:extLst>
          </p:cNvPr>
          <p:cNvSpPr txBox="1"/>
          <p:nvPr/>
        </p:nvSpPr>
        <p:spPr>
          <a:xfrm>
            <a:off x="2401954" y="1517990"/>
            <a:ext cx="4192836" cy="646331"/>
          </a:xfrm>
          <a:prstGeom prst="rect">
            <a:avLst/>
          </a:prstGeom>
          <a:solidFill>
            <a:srgbClr val="C00000"/>
          </a:solidFill>
          <a:effectLst>
            <a:outerShdw blurRad="50800" dist="38100" dir="2700000" algn="tl" rotWithShape="0">
              <a:prstClr val="black">
                <a:alpha val="40000"/>
              </a:prstClr>
            </a:outerShdw>
          </a:effectLst>
        </p:spPr>
        <p:txBody>
          <a:bodyPr wrap="square" rtlCol="0">
            <a:spAutoFit/>
          </a:bodyPr>
          <a:lstStyle/>
          <a:p>
            <a:r>
              <a:rPr lang="zh-CN" altLang="en-US" b="1" dirty="0">
                <a:solidFill>
                  <a:schemeClr val="bg1"/>
                </a:solidFill>
                <a:latin typeface="微软雅黑" panose="020B0503020204020204" pitchFamily="34" charset="-122"/>
                <a:ea typeface="微软雅黑" panose="020B0503020204020204" pitchFamily="34" charset="-122"/>
              </a:rPr>
              <a:t>那是不是不断提高多元制调制方法的阶数就能无限制地提高信息的传输速率呢？</a:t>
            </a:r>
          </a:p>
        </p:txBody>
      </p:sp>
      <p:sp>
        <p:nvSpPr>
          <p:cNvPr id="171" name="对话气泡: 矩形 170">
            <a:extLst>
              <a:ext uri="{FF2B5EF4-FFF2-40B4-BE49-F238E27FC236}">
                <a16:creationId xmlns:a16="http://schemas.microsoft.com/office/drawing/2014/main" id="{5D081EA6-7F7B-BBA6-9850-EC3F7776CBBD}"/>
              </a:ext>
            </a:extLst>
          </p:cNvPr>
          <p:cNvSpPr/>
          <p:nvPr/>
        </p:nvSpPr>
        <p:spPr>
          <a:xfrm>
            <a:off x="6738692" y="1080521"/>
            <a:ext cx="1799578" cy="646331"/>
          </a:xfrm>
          <a:prstGeom prst="wedgeRectCallout">
            <a:avLst>
              <a:gd name="adj1" fmla="val -54360"/>
              <a:gd name="adj2" fmla="val 84407"/>
            </a:avLst>
          </a:prstGeom>
          <a:solidFill>
            <a:srgbClr val="C00000"/>
          </a:solidFill>
          <a:effectLst>
            <a:outerShdw blurRad="50800" dist="38100" dir="2700000" algn="tl" rotWithShape="0">
              <a:prstClr val="black">
                <a:alpha val="40000"/>
              </a:prstClr>
            </a:outerShdw>
          </a:effectLst>
        </p:spPr>
        <p:txBody>
          <a:bodyPr wrap="square" rtlCol="0">
            <a:spAutoFit/>
          </a:bodyPr>
          <a:lstStyle/>
          <a:p>
            <a:r>
              <a:rPr lang="zh-CN" altLang="en-US" b="1" dirty="0">
                <a:solidFill>
                  <a:schemeClr val="bg1"/>
                </a:solidFill>
                <a:latin typeface="微软雅黑" panose="020B0503020204020204" pitchFamily="34" charset="-122"/>
                <a:ea typeface="微软雅黑" panose="020B0503020204020204" pitchFamily="34" charset="-122"/>
              </a:rPr>
              <a:t>符号点数越多就更容易被干扰！</a:t>
            </a:r>
          </a:p>
        </p:txBody>
      </p:sp>
    </p:spTree>
    <p:custDataLst>
      <p:tags r:id="rId1"/>
    </p:custDataLst>
    <p:extLst>
      <p:ext uri="{BB962C8B-B14F-4D97-AF65-F5344CB8AC3E}">
        <p14:creationId xmlns:p14="http://schemas.microsoft.com/office/powerpoint/2010/main" val="2128121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5" presetClass="emph" presetSubtype="0" repeatCount="2000" fill="hold" nodeType="clickEffect">
                                  <p:stCondLst>
                                    <p:cond delay="0"/>
                                  </p:stCondLst>
                                  <p:childTnLst>
                                    <p:anim calcmode="discrete" valueType="str">
                                      <p:cBhvr>
                                        <p:cTn id="13" dur="1000" fill="hold"/>
                                        <p:tgtEl>
                                          <p:spTgt spid="8"/>
                                        </p:tgtEl>
                                        <p:attrNameLst>
                                          <p:attrName>style.visibility</p:attrName>
                                        </p:attrNameLst>
                                      </p:cBhvr>
                                      <p:tavLst>
                                        <p:tav tm="0">
                                          <p:val>
                                            <p:strVal val="hidden"/>
                                          </p:val>
                                        </p:tav>
                                        <p:tav tm="50000">
                                          <p:val>
                                            <p:strVal val="visible"/>
                                          </p:val>
                                        </p:tav>
                                      </p:tavLst>
                                    </p:anim>
                                  </p:childTnLst>
                                </p:cTn>
                              </p:par>
                            </p:childTnLst>
                          </p:cTn>
                        </p:par>
                      </p:childTnLst>
                    </p:cTn>
                  </p:par>
                  <p:par>
                    <p:cTn id="14" fill="hold">
                      <p:stCondLst>
                        <p:cond delay="indefinite"/>
                      </p:stCondLst>
                      <p:childTnLst>
                        <p:par>
                          <p:cTn id="15" fill="hold">
                            <p:stCondLst>
                              <p:cond delay="0"/>
                            </p:stCondLst>
                            <p:childTnLst>
                              <p:par>
                                <p:cTn id="16" presetID="35" presetClass="emph" presetSubtype="0" repeatCount="2000" fill="hold" nodeType="clickEffect">
                                  <p:stCondLst>
                                    <p:cond delay="0"/>
                                  </p:stCondLst>
                                  <p:childTnLst>
                                    <p:anim calcmode="discrete" valueType="str">
                                      <p:cBhvr>
                                        <p:cTn id="17" dur="1000" fill="hold"/>
                                        <p:tgtEl>
                                          <p:spTgt spid="167"/>
                                        </p:tgtEl>
                                        <p:attrNameLst>
                                          <p:attrName>style.visibility</p:attrName>
                                        </p:attrNameLst>
                                      </p:cBhvr>
                                      <p:tavLst>
                                        <p:tav tm="0">
                                          <p:val>
                                            <p:strVal val="hidden"/>
                                          </p:val>
                                        </p:tav>
                                        <p:tav tm="50000">
                                          <p:val>
                                            <p:strVal val="visible"/>
                                          </p:val>
                                        </p:tav>
                                      </p:tavLst>
                                    </p:anim>
                                  </p:childTnLst>
                                </p:cTn>
                              </p:par>
                            </p:childTnLst>
                          </p:cTn>
                        </p:par>
                      </p:childTnLst>
                    </p:cTn>
                  </p:par>
                  <p:par>
                    <p:cTn id="18" fill="hold">
                      <p:stCondLst>
                        <p:cond delay="indefinite"/>
                      </p:stCondLst>
                      <p:childTnLst>
                        <p:par>
                          <p:cTn id="19" fill="hold">
                            <p:stCondLst>
                              <p:cond delay="0"/>
                            </p:stCondLst>
                            <p:childTnLst>
                              <p:par>
                                <p:cTn id="20" presetID="26" presetClass="entr" presetSubtype="0" fill="hold" grpId="0" nodeType="clickEffect">
                                  <p:stCondLst>
                                    <p:cond delay="0"/>
                                  </p:stCondLst>
                                  <p:childTnLst>
                                    <p:set>
                                      <p:cBhvr>
                                        <p:cTn id="21" dur="1" fill="hold">
                                          <p:stCondLst>
                                            <p:cond delay="0"/>
                                          </p:stCondLst>
                                        </p:cTn>
                                        <p:tgtEl>
                                          <p:spTgt spid="170"/>
                                        </p:tgtEl>
                                        <p:attrNameLst>
                                          <p:attrName>style.visibility</p:attrName>
                                        </p:attrNameLst>
                                      </p:cBhvr>
                                      <p:to>
                                        <p:strVal val="visible"/>
                                      </p:to>
                                    </p:set>
                                    <p:animEffect transition="in" filter="wipe(down)">
                                      <p:cBhvr>
                                        <p:cTn id="22" dur="580">
                                          <p:stCondLst>
                                            <p:cond delay="0"/>
                                          </p:stCondLst>
                                        </p:cTn>
                                        <p:tgtEl>
                                          <p:spTgt spid="170"/>
                                        </p:tgtEl>
                                      </p:cBhvr>
                                    </p:animEffect>
                                    <p:anim calcmode="lin" valueType="num">
                                      <p:cBhvr>
                                        <p:cTn id="23" dur="1822" tmFilter="0,0; 0.14,0.36; 0.43,0.73; 0.71,0.91; 1.0,1.0">
                                          <p:stCondLst>
                                            <p:cond delay="0"/>
                                          </p:stCondLst>
                                        </p:cTn>
                                        <p:tgtEl>
                                          <p:spTgt spid="170"/>
                                        </p:tgtEl>
                                        <p:attrNameLst>
                                          <p:attrName>ppt_x</p:attrName>
                                        </p:attrNameLst>
                                      </p:cBhvr>
                                      <p:tavLst>
                                        <p:tav tm="0">
                                          <p:val>
                                            <p:strVal val="#ppt_x-0.25"/>
                                          </p:val>
                                        </p:tav>
                                        <p:tav tm="100000">
                                          <p:val>
                                            <p:strVal val="#ppt_x"/>
                                          </p:val>
                                        </p:tav>
                                      </p:tavLst>
                                    </p:anim>
                                    <p:anim calcmode="lin" valueType="num">
                                      <p:cBhvr>
                                        <p:cTn id="24" dur="664" tmFilter="0.0,0.0; 0.25,0.07; 0.50,0.2; 0.75,0.467; 1.0,1.0">
                                          <p:stCondLst>
                                            <p:cond delay="0"/>
                                          </p:stCondLst>
                                        </p:cTn>
                                        <p:tgtEl>
                                          <p:spTgt spid="170"/>
                                        </p:tgtEl>
                                        <p:attrNameLst>
                                          <p:attrName>ppt_y</p:attrName>
                                        </p:attrNameLst>
                                      </p:cBhvr>
                                      <p:tavLst>
                                        <p:tav tm="0" fmla="#ppt_y-sin(pi*$)/3">
                                          <p:val>
                                            <p:fltVal val="0.5"/>
                                          </p:val>
                                        </p:tav>
                                        <p:tav tm="100000">
                                          <p:val>
                                            <p:fltVal val="1"/>
                                          </p:val>
                                        </p:tav>
                                      </p:tavLst>
                                    </p:anim>
                                    <p:anim calcmode="lin" valueType="num">
                                      <p:cBhvr>
                                        <p:cTn id="25" dur="664" tmFilter="0, 0; 0.125,0.2665; 0.25,0.4; 0.375,0.465; 0.5,0.5;  0.625,0.535; 0.75,0.6; 0.875,0.7335; 1,1">
                                          <p:stCondLst>
                                            <p:cond delay="664"/>
                                          </p:stCondLst>
                                        </p:cTn>
                                        <p:tgtEl>
                                          <p:spTgt spid="170"/>
                                        </p:tgtEl>
                                        <p:attrNameLst>
                                          <p:attrName>ppt_y</p:attrName>
                                        </p:attrNameLst>
                                      </p:cBhvr>
                                      <p:tavLst>
                                        <p:tav tm="0" fmla="#ppt_y-sin(pi*$)/9">
                                          <p:val>
                                            <p:fltVal val="0"/>
                                          </p:val>
                                        </p:tav>
                                        <p:tav tm="100000">
                                          <p:val>
                                            <p:fltVal val="1"/>
                                          </p:val>
                                        </p:tav>
                                      </p:tavLst>
                                    </p:anim>
                                    <p:anim calcmode="lin" valueType="num">
                                      <p:cBhvr>
                                        <p:cTn id="26" dur="332" tmFilter="0, 0; 0.125,0.2665; 0.25,0.4; 0.375,0.465; 0.5,0.5;  0.625,0.535; 0.75,0.6; 0.875,0.7335; 1,1">
                                          <p:stCondLst>
                                            <p:cond delay="1324"/>
                                          </p:stCondLst>
                                        </p:cTn>
                                        <p:tgtEl>
                                          <p:spTgt spid="170"/>
                                        </p:tgtEl>
                                        <p:attrNameLst>
                                          <p:attrName>ppt_y</p:attrName>
                                        </p:attrNameLst>
                                      </p:cBhvr>
                                      <p:tavLst>
                                        <p:tav tm="0" fmla="#ppt_y-sin(pi*$)/27">
                                          <p:val>
                                            <p:fltVal val="0"/>
                                          </p:val>
                                        </p:tav>
                                        <p:tav tm="100000">
                                          <p:val>
                                            <p:fltVal val="1"/>
                                          </p:val>
                                        </p:tav>
                                      </p:tavLst>
                                    </p:anim>
                                    <p:anim calcmode="lin" valueType="num">
                                      <p:cBhvr>
                                        <p:cTn id="27" dur="164" tmFilter="0, 0; 0.125,0.2665; 0.25,0.4; 0.375,0.465; 0.5,0.5;  0.625,0.535; 0.75,0.6; 0.875,0.7335; 1,1">
                                          <p:stCondLst>
                                            <p:cond delay="1656"/>
                                          </p:stCondLst>
                                        </p:cTn>
                                        <p:tgtEl>
                                          <p:spTgt spid="170"/>
                                        </p:tgtEl>
                                        <p:attrNameLst>
                                          <p:attrName>ppt_y</p:attrName>
                                        </p:attrNameLst>
                                      </p:cBhvr>
                                      <p:tavLst>
                                        <p:tav tm="0" fmla="#ppt_y-sin(pi*$)/81">
                                          <p:val>
                                            <p:fltVal val="0"/>
                                          </p:val>
                                        </p:tav>
                                        <p:tav tm="100000">
                                          <p:val>
                                            <p:fltVal val="1"/>
                                          </p:val>
                                        </p:tav>
                                      </p:tavLst>
                                    </p:anim>
                                    <p:animScale>
                                      <p:cBhvr>
                                        <p:cTn id="28" dur="26">
                                          <p:stCondLst>
                                            <p:cond delay="650"/>
                                          </p:stCondLst>
                                        </p:cTn>
                                        <p:tgtEl>
                                          <p:spTgt spid="170"/>
                                        </p:tgtEl>
                                      </p:cBhvr>
                                      <p:to x="100000" y="60000"/>
                                    </p:animScale>
                                    <p:animScale>
                                      <p:cBhvr>
                                        <p:cTn id="29" dur="166" decel="50000">
                                          <p:stCondLst>
                                            <p:cond delay="676"/>
                                          </p:stCondLst>
                                        </p:cTn>
                                        <p:tgtEl>
                                          <p:spTgt spid="170"/>
                                        </p:tgtEl>
                                      </p:cBhvr>
                                      <p:to x="100000" y="100000"/>
                                    </p:animScale>
                                    <p:animScale>
                                      <p:cBhvr>
                                        <p:cTn id="30" dur="26">
                                          <p:stCondLst>
                                            <p:cond delay="1312"/>
                                          </p:stCondLst>
                                        </p:cTn>
                                        <p:tgtEl>
                                          <p:spTgt spid="170"/>
                                        </p:tgtEl>
                                      </p:cBhvr>
                                      <p:to x="100000" y="80000"/>
                                    </p:animScale>
                                    <p:animScale>
                                      <p:cBhvr>
                                        <p:cTn id="31" dur="166" decel="50000">
                                          <p:stCondLst>
                                            <p:cond delay="1338"/>
                                          </p:stCondLst>
                                        </p:cTn>
                                        <p:tgtEl>
                                          <p:spTgt spid="170"/>
                                        </p:tgtEl>
                                      </p:cBhvr>
                                      <p:to x="100000" y="100000"/>
                                    </p:animScale>
                                    <p:animScale>
                                      <p:cBhvr>
                                        <p:cTn id="32" dur="26">
                                          <p:stCondLst>
                                            <p:cond delay="1642"/>
                                          </p:stCondLst>
                                        </p:cTn>
                                        <p:tgtEl>
                                          <p:spTgt spid="170"/>
                                        </p:tgtEl>
                                      </p:cBhvr>
                                      <p:to x="100000" y="90000"/>
                                    </p:animScale>
                                    <p:animScale>
                                      <p:cBhvr>
                                        <p:cTn id="33" dur="166" decel="50000">
                                          <p:stCondLst>
                                            <p:cond delay="1668"/>
                                          </p:stCondLst>
                                        </p:cTn>
                                        <p:tgtEl>
                                          <p:spTgt spid="170"/>
                                        </p:tgtEl>
                                      </p:cBhvr>
                                      <p:to x="100000" y="100000"/>
                                    </p:animScale>
                                    <p:animScale>
                                      <p:cBhvr>
                                        <p:cTn id="34" dur="26">
                                          <p:stCondLst>
                                            <p:cond delay="1808"/>
                                          </p:stCondLst>
                                        </p:cTn>
                                        <p:tgtEl>
                                          <p:spTgt spid="170"/>
                                        </p:tgtEl>
                                      </p:cBhvr>
                                      <p:to x="100000" y="95000"/>
                                    </p:animScale>
                                    <p:animScale>
                                      <p:cBhvr>
                                        <p:cTn id="35" dur="166" decel="50000">
                                          <p:stCondLst>
                                            <p:cond delay="1834"/>
                                          </p:stCondLst>
                                        </p:cTn>
                                        <p:tgtEl>
                                          <p:spTgt spid="170"/>
                                        </p:tgtEl>
                                      </p:cBhvr>
                                      <p:to x="100000" y="100000"/>
                                    </p:animScale>
                                  </p:childTnLst>
                                  <p:subTnLst>
                                    <p:set>
                                      <p:cBhvr override="childStyle">
                                        <p:cTn dur="1" fill="hold" display="0" masterRel="nextClick" afterEffect="1"/>
                                        <p:tgtEl>
                                          <p:spTgt spid="170"/>
                                        </p:tgtEl>
                                        <p:attrNameLst>
                                          <p:attrName>style.visibility</p:attrName>
                                        </p:attrNameLst>
                                      </p:cBhvr>
                                      <p:to>
                                        <p:strVal val="hidden"/>
                                      </p:to>
                                    </p:set>
                                  </p:subTnLst>
                                </p:cTn>
                              </p:par>
                            </p:childTnLst>
                          </p:cTn>
                        </p:par>
                      </p:childTnLst>
                    </p:cTn>
                  </p:par>
                  <p:par>
                    <p:cTn id="36" fill="hold">
                      <p:stCondLst>
                        <p:cond delay="indefinite"/>
                      </p:stCondLst>
                      <p:childTnLst>
                        <p:par>
                          <p:cTn id="37" fill="hold">
                            <p:stCondLst>
                              <p:cond delay="0"/>
                            </p:stCondLst>
                            <p:childTnLst>
                              <p:par>
                                <p:cTn id="38" presetID="53" presetClass="entr" presetSubtype="16" fill="hold" grpId="0" nodeType="clickEffect">
                                  <p:stCondLst>
                                    <p:cond delay="0"/>
                                  </p:stCondLst>
                                  <p:childTnLst>
                                    <p:set>
                                      <p:cBhvr>
                                        <p:cTn id="39" dur="1" fill="hold">
                                          <p:stCondLst>
                                            <p:cond delay="0"/>
                                          </p:stCondLst>
                                        </p:cTn>
                                        <p:tgtEl>
                                          <p:spTgt spid="171"/>
                                        </p:tgtEl>
                                        <p:attrNameLst>
                                          <p:attrName>style.visibility</p:attrName>
                                        </p:attrNameLst>
                                      </p:cBhvr>
                                      <p:to>
                                        <p:strVal val="visible"/>
                                      </p:to>
                                    </p:set>
                                    <p:anim calcmode="lin" valueType="num">
                                      <p:cBhvr>
                                        <p:cTn id="40" dur="500" fill="hold"/>
                                        <p:tgtEl>
                                          <p:spTgt spid="171"/>
                                        </p:tgtEl>
                                        <p:attrNameLst>
                                          <p:attrName>ppt_w</p:attrName>
                                        </p:attrNameLst>
                                      </p:cBhvr>
                                      <p:tavLst>
                                        <p:tav tm="0">
                                          <p:val>
                                            <p:fltVal val="0"/>
                                          </p:val>
                                        </p:tav>
                                        <p:tav tm="100000">
                                          <p:val>
                                            <p:strVal val="#ppt_w"/>
                                          </p:val>
                                        </p:tav>
                                      </p:tavLst>
                                    </p:anim>
                                    <p:anim calcmode="lin" valueType="num">
                                      <p:cBhvr>
                                        <p:cTn id="41" dur="500" fill="hold"/>
                                        <p:tgtEl>
                                          <p:spTgt spid="171"/>
                                        </p:tgtEl>
                                        <p:attrNameLst>
                                          <p:attrName>ppt_h</p:attrName>
                                        </p:attrNameLst>
                                      </p:cBhvr>
                                      <p:tavLst>
                                        <p:tav tm="0">
                                          <p:val>
                                            <p:fltVal val="0"/>
                                          </p:val>
                                        </p:tav>
                                        <p:tav tm="100000">
                                          <p:val>
                                            <p:strVal val="#ppt_h"/>
                                          </p:val>
                                        </p:tav>
                                      </p:tavLst>
                                    </p:anim>
                                    <p:animEffect transition="in" filter="fade">
                                      <p:cBhvr>
                                        <p:cTn id="42" dur="500"/>
                                        <p:tgtEl>
                                          <p:spTgt spid="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70" grpId="0" animBg="1"/>
      <p:bldP spid="17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a:xfrm>
            <a:off x="466343" y="900000"/>
            <a:ext cx="8129017" cy="3376990"/>
          </a:xfrm>
        </p:spPr>
        <p:txBody>
          <a:bodyPr/>
          <a:lstStyle/>
          <a:p>
            <a:r>
              <a:rPr lang="zh-CN" altLang="en-US" dirty="0"/>
              <a:t>信道的极限信息传输速率 </a:t>
            </a:r>
            <a:r>
              <a:rPr lang="en-US" altLang="zh-CN" dirty="0"/>
              <a:t>C  </a:t>
            </a:r>
            <a:r>
              <a:rPr lang="zh-CN" altLang="en-US" dirty="0"/>
              <a:t>可表达为：</a:t>
            </a:r>
            <a:endParaRPr lang="en-US" altLang="zh-CN" dirty="0"/>
          </a:p>
          <a:p>
            <a:endParaRPr lang="zh-CN" altLang="en-US" dirty="0"/>
          </a:p>
        </p:txBody>
      </p:sp>
      <p:sp>
        <p:nvSpPr>
          <p:cNvPr id="3" name="文本占位符 2"/>
          <p:cNvSpPr>
            <a:spLocks noGrp="1"/>
          </p:cNvSpPr>
          <p:nvPr>
            <p:ph type="body" sz="quarter" idx="11"/>
          </p:nvPr>
        </p:nvSpPr>
        <p:spPr>
          <a:xfrm>
            <a:off x="1332000" y="360000"/>
            <a:ext cx="6480000" cy="354012"/>
          </a:xfrm>
        </p:spPr>
        <p:txBody>
          <a:bodyPr>
            <a:normAutofit fontScale="92500" lnSpcReduction="10000"/>
          </a:bodyPr>
          <a:lstStyle/>
          <a:p>
            <a:r>
              <a:rPr lang="en-US" altLang="zh-CN" dirty="0"/>
              <a:t>(2) </a:t>
            </a:r>
            <a:r>
              <a:rPr lang="zh-CN" altLang="en-US" dirty="0"/>
              <a:t>香农公式</a:t>
            </a:r>
          </a:p>
        </p:txBody>
      </p:sp>
      <p:sp>
        <p:nvSpPr>
          <p:cNvPr id="4" name="矩形 3"/>
          <p:cNvSpPr/>
          <p:nvPr/>
        </p:nvSpPr>
        <p:spPr>
          <a:xfrm>
            <a:off x="973288" y="1578479"/>
            <a:ext cx="4413388" cy="461665"/>
          </a:xfrm>
          <a:prstGeom prst="rect">
            <a:avLst/>
          </a:prstGeom>
          <a:solidFill>
            <a:srgbClr val="FFFF66"/>
          </a:solidFill>
        </p:spPr>
        <p:txBody>
          <a:bodyPr wrap="none">
            <a:spAutoFit/>
          </a:bodyPr>
          <a:lstStyle/>
          <a:p>
            <a:r>
              <a:rPr lang="en-US" altLang="zh-CN" sz="2400" b="1" dirty="0">
                <a:solidFill>
                  <a:srgbClr val="0000FF"/>
                </a:solidFill>
                <a:latin typeface="微软雅黑" panose="020B0503020204020204" pitchFamily="34" charset="-122"/>
                <a:ea typeface="微软雅黑" panose="020B0503020204020204" pitchFamily="34" charset="-122"/>
              </a:rPr>
              <a:t>C = W log</a:t>
            </a:r>
            <a:r>
              <a:rPr lang="en-US" altLang="zh-CN" sz="2400" b="1" baseline="-25000" dirty="0">
                <a:solidFill>
                  <a:srgbClr val="0000FF"/>
                </a:solidFill>
                <a:latin typeface="微软雅黑" panose="020B0503020204020204" pitchFamily="34" charset="-122"/>
                <a:ea typeface="微软雅黑" panose="020B0503020204020204" pitchFamily="34" charset="-122"/>
              </a:rPr>
              <a:t>2</a:t>
            </a:r>
            <a:r>
              <a:rPr lang="en-US" altLang="zh-CN" sz="2400" b="1" dirty="0">
                <a:solidFill>
                  <a:srgbClr val="0000FF"/>
                </a:solidFill>
                <a:latin typeface="微软雅黑" panose="020B0503020204020204" pitchFamily="34" charset="-122"/>
                <a:ea typeface="微软雅黑" panose="020B0503020204020204" pitchFamily="34" charset="-122"/>
              </a:rPr>
              <a:t>(1+S/N)  (bit/s) </a:t>
            </a:r>
          </a:p>
        </p:txBody>
      </p:sp>
      <p:sp>
        <p:nvSpPr>
          <p:cNvPr id="5" name="矩形 4"/>
          <p:cNvSpPr/>
          <p:nvPr/>
        </p:nvSpPr>
        <p:spPr>
          <a:xfrm>
            <a:off x="5472000" y="1534934"/>
            <a:ext cx="3630304" cy="1323439"/>
          </a:xfrm>
          <a:prstGeom prst="rect">
            <a:avLst/>
          </a:prstGeom>
        </p:spPr>
        <p:txBody>
          <a:bodyPr wrap="square">
            <a:spAutoFit/>
          </a:bodyPr>
          <a:lstStyle/>
          <a:p>
            <a:pPr>
              <a:lnSpc>
                <a:spcPts val="2400"/>
              </a:lnSpc>
            </a:pPr>
            <a:r>
              <a:rPr lang="zh-CN" altLang="en-US" sz="1600" b="1" dirty="0">
                <a:latin typeface="微软雅黑" panose="020B0503020204020204" pitchFamily="34" charset="-122"/>
                <a:ea typeface="微软雅黑" panose="020B0503020204020204" pitchFamily="34" charset="-122"/>
              </a:rPr>
              <a:t>其中：</a:t>
            </a:r>
            <a:endParaRPr lang="en-US" altLang="zh-CN" sz="1600" b="1" dirty="0">
              <a:latin typeface="微软雅黑" panose="020B0503020204020204" pitchFamily="34" charset="-122"/>
              <a:ea typeface="微软雅黑" panose="020B0503020204020204" pitchFamily="34" charset="-122"/>
            </a:endParaRPr>
          </a:p>
          <a:p>
            <a:pPr>
              <a:lnSpc>
                <a:spcPts val="2400"/>
              </a:lnSpc>
            </a:pPr>
            <a:r>
              <a:rPr lang="en-US" altLang="zh-CN" sz="1600" b="1" dirty="0">
                <a:latin typeface="微软雅黑" panose="020B0503020204020204" pitchFamily="34" charset="-122"/>
                <a:ea typeface="微软雅黑" panose="020B0503020204020204" pitchFamily="34" charset="-122"/>
              </a:rPr>
              <a:t>W </a:t>
            </a:r>
            <a:r>
              <a:rPr lang="zh-CN" altLang="en-US" sz="1600" b="1" dirty="0">
                <a:latin typeface="微软雅黑" panose="020B0503020204020204" pitchFamily="34" charset="-122"/>
                <a:ea typeface="微软雅黑" panose="020B0503020204020204" pitchFamily="34" charset="-122"/>
              </a:rPr>
              <a:t>信道的带宽 </a:t>
            </a:r>
            <a:r>
              <a:rPr lang="en-US" altLang="zh-CN" sz="1600" b="1" dirty="0">
                <a:latin typeface="微软雅黑" panose="020B0503020204020204" pitchFamily="34" charset="-122"/>
                <a:ea typeface="微软雅黑" panose="020B0503020204020204" pitchFamily="34" charset="-122"/>
              </a:rPr>
              <a:t>(Hz)</a:t>
            </a:r>
            <a:r>
              <a:rPr lang="zh-CN" altLang="en-US" sz="1600" b="1" dirty="0">
                <a:latin typeface="微软雅黑" panose="020B0503020204020204" pitchFamily="34" charset="-122"/>
                <a:ea typeface="微软雅黑" panose="020B0503020204020204" pitchFamily="34" charset="-122"/>
              </a:rPr>
              <a:t>；</a:t>
            </a:r>
          </a:p>
          <a:p>
            <a:pPr>
              <a:lnSpc>
                <a:spcPts val="2400"/>
              </a:lnSpc>
            </a:pPr>
            <a:r>
              <a:rPr lang="en-US" altLang="zh-CN" sz="1600" b="1" dirty="0">
                <a:latin typeface="微软雅黑" panose="020B0503020204020204" pitchFamily="34" charset="-122"/>
                <a:ea typeface="微软雅黑" panose="020B0503020204020204" pitchFamily="34" charset="-122"/>
              </a:rPr>
              <a:t>S  </a:t>
            </a:r>
            <a:r>
              <a:rPr lang="zh-CN" altLang="en-US" sz="1600" b="1" dirty="0">
                <a:latin typeface="微软雅黑" panose="020B0503020204020204" pitchFamily="34" charset="-122"/>
                <a:ea typeface="微软雅黑" panose="020B0503020204020204" pitchFamily="34" charset="-122"/>
              </a:rPr>
              <a:t>为信道内所传信号的平均功率；</a:t>
            </a:r>
            <a:endParaRPr lang="en-US" altLang="zh-CN" sz="1600" b="1" dirty="0">
              <a:latin typeface="微软雅黑" panose="020B0503020204020204" pitchFamily="34" charset="-122"/>
              <a:ea typeface="微软雅黑" panose="020B0503020204020204" pitchFamily="34" charset="-122"/>
            </a:endParaRPr>
          </a:p>
          <a:p>
            <a:pPr>
              <a:lnSpc>
                <a:spcPts val="2400"/>
              </a:lnSpc>
            </a:pPr>
            <a:r>
              <a:rPr lang="en-US" altLang="zh-CN" sz="1600" b="1" dirty="0">
                <a:latin typeface="微软雅黑" panose="020B0503020204020204" pitchFamily="34" charset="-122"/>
                <a:ea typeface="微软雅黑" panose="020B0503020204020204" pitchFamily="34" charset="-122"/>
              </a:rPr>
              <a:t>N </a:t>
            </a:r>
            <a:r>
              <a:rPr lang="zh-CN" altLang="en-US" sz="1600" b="1" dirty="0">
                <a:latin typeface="微软雅黑" panose="020B0503020204020204" pitchFamily="34" charset="-122"/>
                <a:ea typeface="微软雅黑" panose="020B0503020204020204" pitchFamily="34" charset="-122"/>
              </a:rPr>
              <a:t>为信道内部的高斯噪声功率。 </a:t>
            </a:r>
          </a:p>
        </p:txBody>
      </p:sp>
      <p:sp>
        <p:nvSpPr>
          <p:cNvPr id="6" name="对角圆角矩形 5"/>
          <p:cNvSpPr/>
          <p:nvPr/>
        </p:nvSpPr>
        <p:spPr>
          <a:xfrm>
            <a:off x="798126" y="2931650"/>
            <a:ext cx="7570809" cy="1215061"/>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7" name="矩形 6"/>
          <p:cNvSpPr/>
          <p:nvPr/>
        </p:nvSpPr>
        <p:spPr>
          <a:xfrm>
            <a:off x="931817" y="2993141"/>
            <a:ext cx="7254238" cy="1092607"/>
          </a:xfrm>
          <a:prstGeom prst="rect">
            <a:avLst/>
          </a:prstGeom>
        </p:spPr>
        <p:txBody>
          <a:bodyPr wrap="square">
            <a:spAutoFit/>
          </a:bodyPr>
          <a:lstStyle/>
          <a:p>
            <a:pPr marL="285750" indent="-285750">
              <a:lnSpc>
                <a:spcPts val="2600"/>
              </a:lnSpc>
              <a:buFont typeface="Wingdings" panose="05000000000000000000" pitchFamily="2" charset="2"/>
              <a:buChar char="l"/>
            </a:pPr>
            <a:r>
              <a:rPr lang="zh-CN" altLang="en-US" b="1" dirty="0">
                <a:solidFill>
                  <a:schemeClr val="bg1"/>
                </a:solidFill>
                <a:latin typeface="微软雅黑" pitchFamily="34" charset="-122"/>
                <a:ea typeface="微软雅黑" pitchFamily="34" charset="-122"/>
              </a:rPr>
              <a:t>信道的带宽或信道中的信噪比越大，则信息的极限传输速率就越高。 </a:t>
            </a:r>
          </a:p>
          <a:p>
            <a:pPr marL="285750" indent="-285750">
              <a:lnSpc>
                <a:spcPts val="2600"/>
              </a:lnSpc>
              <a:buFont typeface="Wingdings" panose="05000000000000000000" pitchFamily="2" charset="2"/>
              <a:buChar char="l"/>
            </a:pPr>
            <a:r>
              <a:rPr lang="zh-CN" altLang="en-US" b="1" dirty="0">
                <a:solidFill>
                  <a:schemeClr val="bg1"/>
                </a:solidFill>
                <a:latin typeface="微软雅黑" pitchFamily="34" charset="-122"/>
                <a:ea typeface="微软雅黑" pitchFamily="34" charset="-122"/>
              </a:rPr>
              <a:t>只要信息传输速率低于信道的极限信息传输速率，就一定可以找到某种办法来实现无差错的传输。</a:t>
            </a:r>
          </a:p>
        </p:txBody>
      </p:sp>
    </p:spTree>
    <p:custDataLst>
      <p:tags r:id="rId1"/>
    </p:custDataLst>
    <p:extLst>
      <p:ext uri="{BB962C8B-B14F-4D97-AF65-F5344CB8AC3E}">
        <p14:creationId xmlns:p14="http://schemas.microsoft.com/office/powerpoint/2010/main" val="2380377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5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fade">
                                      <p:cBhvr>
                                        <p:cTn id="11" dur="1000"/>
                                        <p:tgtEl>
                                          <p:spTgt spid="5">
                                            <p:txEl>
                                              <p:pRg st="0" end="0"/>
                                            </p:txEl>
                                          </p:spTgt>
                                        </p:tgtEl>
                                      </p:cBhvr>
                                    </p:animEffect>
                                    <p:anim calcmode="lin" valueType="num">
                                      <p:cBhvr>
                                        <p:cTn id="12"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3" dur="1000" fill="hold"/>
                                        <p:tgtEl>
                                          <p:spTgt spid="5">
                                            <p:txEl>
                                              <p:pRg st="0" end="0"/>
                                            </p:txEl>
                                          </p:spTgt>
                                        </p:tgtEl>
                                        <p:attrNameLst>
                                          <p:attrName>ppt_y</p:attrName>
                                        </p:attrNameLst>
                                      </p:cBhvr>
                                      <p:tavLst>
                                        <p:tav tm="0">
                                          <p:val>
                                            <p:strVal val="#ppt_y+.1"/>
                                          </p:val>
                                        </p:tav>
                                        <p:tav tm="100000">
                                          <p:val>
                                            <p:strVal val="#ppt_y"/>
                                          </p:val>
                                        </p:tav>
                                      </p:tavLst>
                                    </p:anim>
                                  </p:childTnLst>
                                </p:cTn>
                              </p:par>
                              <p:par>
                                <p:cTn id="14" presetID="42" presetClass="entr" presetSubtype="0" fill="hold" grpId="0" nodeType="withEffect">
                                  <p:stCondLst>
                                    <p:cond delay="0"/>
                                  </p:stCondLst>
                                  <p:childTnLst>
                                    <p:set>
                                      <p:cBhvr>
                                        <p:cTn id="15" dur="1" fill="hold">
                                          <p:stCondLst>
                                            <p:cond delay="0"/>
                                          </p:stCondLst>
                                        </p:cTn>
                                        <p:tgtEl>
                                          <p:spTgt spid="5">
                                            <p:txEl>
                                              <p:pRg st="1" end="1"/>
                                            </p:txEl>
                                          </p:spTgt>
                                        </p:tgtEl>
                                        <p:attrNameLst>
                                          <p:attrName>style.visibility</p:attrName>
                                        </p:attrNameLst>
                                      </p:cBhvr>
                                      <p:to>
                                        <p:strVal val="visible"/>
                                      </p:to>
                                    </p:set>
                                    <p:animEffect transition="in" filter="fade">
                                      <p:cBhvr>
                                        <p:cTn id="16" dur="1000"/>
                                        <p:tgtEl>
                                          <p:spTgt spid="5">
                                            <p:txEl>
                                              <p:pRg st="1" end="1"/>
                                            </p:txEl>
                                          </p:spTgt>
                                        </p:tgtEl>
                                      </p:cBhvr>
                                    </p:animEffect>
                                    <p:anim calcmode="lin" valueType="num">
                                      <p:cBhvr>
                                        <p:cTn id="17"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8"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animEffect transition="in" filter="fade">
                                      <p:cBhvr>
                                        <p:cTn id="23" dur="1000"/>
                                        <p:tgtEl>
                                          <p:spTgt spid="5">
                                            <p:txEl>
                                              <p:pRg st="2" end="2"/>
                                            </p:txEl>
                                          </p:spTgt>
                                        </p:tgtEl>
                                      </p:cBhvr>
                                    </p:animEffect>
                                    <p:anim calcmode="lin" valueType="num">
                                      <p:cBhvr>
                                        <p:cTn id="24"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25"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5">
                                            <p:txEl>
                                              <p:pRg st="3" end="3"/>
                                            </p:txEl>
                                          </p:spTgt>
                                        </p:tgtEl>
                                        <p:attrNameLst>
                                          <p:attrName>style.visibility</p:attrName>
                                        </p:attrNameLst>
                                      </p:cBhvr>
                                      <p:to>
                                        <p:strVal val="visible"/>
                                      </p:to>
                                    </p:set>
                                    <p:animEffect transition="in" filter="fade">
                                      <p:cBhvr>
                                        <p:cTn id="30" dur="1000"/>
                                        <p:tgtEl>
                                          <p:spTgt spid="5">
                                            <p:txEl>
                                              <p:pRg st="3" end="3"/>
                                            </p:txEl>
                                          </p:spTgt>
                                        </p:tgtEl>
                                      </p:cBhvr>
                                    </p:animEffect>
                                    <p:anim calcmode="lin" valueType="num">
                                      <p:cBhvr>
                                        <p:cTn id="31"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32"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childTnLst>
                                </p:cTn>
                              </p:par>
                              <p:par>
                                <p:cTn id="37" presetID="42" presetClass="entr" presetSubtype="0" fill="hold" grpId="0" nodeType="withEffect">
                                  <p:stCondLst>
                                    <p:cond delay="0"/>
                                  </p:stCondLst>
                                  <p:childTnLst>
                                    <p:set>
                                      <p:cBhvr>
                                        <p:cTn id="38" dur="1" fill="hold">
                                          <p:stCondLst>
                                            <p:cond delay="0"/>
                                          </p:stCondLst>
                                        </p:cTn>
                                        <p:tgtEl>
                                          <p:spTgt spid="7">
                                            <p:txEl>
                                              <p:pRg st="0" end="0"/>
                                            </p:txEl>
                                          </p:spTgt>
                                        </p:tgtEl>
                                        <p:attrNameLst>
                                          <p:attrName>style.visibility</p:attrName>
                                        </p:attrNameLst>
                                      </p:cBhvr>
                                      <p:to>
                                        <p:strVal val="visible"/>
                                      </p:to>
                                    </p:set>
                                    <p:animEffect transition="in" filter="fade">
                                      <p:cBhvr>
                                        <p:cTn id="39" dur="1000"/>
                                        <p:tgtEl>
                                          <p:spTgt spid="7">
                                            <p:txEl>
                                              <p:pRg st="0" end="0"/>
                                            </p:txEl>
                                          </p:spTgt>
                                        </p:tgtEl>
                                      </p:cBhvr>
                                    </p:animEffect>
                                    <p:anim calcmode="lin" valueType="num">
                                      <p:cBhvr>
                                        <p:cTn id="40"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41"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7">
                                            <p:txEl>
                                              <p:pRg st="1" end="1"/>
                                            </p:txEl>
                                          </p:spTgt>
                                        </p:tgtEl>
                                        <p:attrNameLst>
                                          <p:attrName>style.visibility</p:attrName>
                                        </p:attrNameLst>
                                      </p:cBhvr>
                                      <p:to>
                                        <p:strVal val="visible"/>
                                      </p:to>
                                    </p:set>
                                    <p:animEffect transition="in" filter="fade">
                                      <p:cBhvr>
                                        <p:cTn id="46" dur="1000"/>
                                        <p:tgtEl>
                                          <p:spTgt spid="7">
                                            <p:txEl>
                                              <p:pRg st="1" end="1"/>
                                            </p:txEl>
                                          </p:spTgt>
                                        </p:tgtEl>
                                      </p:cBhvr>
                                    </p:animEffect>
                                    <p:anim calcmode="lin" valueType="num">
                                      <p:cBhvr>
                                        <p:cTn id="47"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48"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uiExpand="1" build="p"/>
      <p:bldP spid="6" grpId="0" animBg="1"/>
      <p:bldP spid="7"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a:xfrm>
            <a:off x="466343" y="900000"/>
            <a:ext cx="8129017" cy="3376990"/>
          </a:xfrm>
        </p:spPr>
        <p:txBody>
          <a:bodyPr/>
          <a:lstStyle/>
          <a:p>
            <a:r>
              <a:rPr lang="zh-CN" altLang="en-US" dirty="0"/>
              <a:t>信噪比就是信号的平均功率和噪声的平均功率之比。常记为 </a:t>
            </a:r>
            <a:r>
              <a:rPr lang="en-US" altLang="zh-CN" dirty="0"/>
              <a:t>S/N</a:t>
            </a:r>
            <a:r>
              <a:rPr lang="zh-CN" altLang="en-US" dirty="0"/>
              <a:t>，并用分贝 </a:t>
            </a:r>
            <a:r>
              <a:rPr lang="en-US" altLang="zh-CN" dirty="0"/>
              <a:t>(dB) </a:t>
            </a:r>
            <a:r>
              <a:rPr lang="zh-CN" altLang="en-US" dirty="0"/>
              <a:t>作为度量单位。即：</a:t>
            </a:r>
            <a:endParaRPr lang="en-US" altLang="zh-CN" dirty="0"/>
          </a:p>
          <a:p>
            <a:endParaRPr lang="zh-CN" altLang="en-US" dirty="0"/>
          </a:p>
          <a:p>
            <a:endParaRPr lang="en-US" altLang="zh-CN" dirty="0"/>
          </a:p>
          <a:p>
            <a:r>
              <a:rPr lang="zh-CN" altLang="en-US" dirty="0"/>
              <a:t>例如：当 </a:t>
            </a:r>
            <a:r>
              <a:rPr lang="en-US" altLang="zh-CN" dirty="0"/>
              <a:t>S/N =10 </a:t>
            </a:r>
            <a:r>
              <a:rPr lang="zh-CN" altLang="en-US" dirty="0"/>
              <a:t>时，信噪比为</a:t>
            </a:r>
            <a:r>
              <a:rPr lang="en-US" altLang="zh-CN" dirty="0"/>
              <a:t>10dB</a:t>
            </a:r>
            <a:r>
              <a:rPr lang="zh-CN" altLang="en-US" dirty="0"/>
              <a:t>，而当 </a:t>
            </a:r>
            <a:r>
              <a:rPr lang="en-US" altLang="zh-CN" dirty="0"/>
              <a:t>S/N =1000 </a:t>
            </a:r>
            <a:r>
              <a:rPr lang="zh-CN" altLang="en-US" dirty="0"/>
              <a:t>时，信噪比为</a:t>
            </a:r>
            <a:r>
              <a:rPr lang="en-US" altLang="zh-CN" dirty="0"/>
              <a:t>30dB</a:t>
            </a:r>
            <a:r>
              <a:rPr lang="zh-CN" altLang="en-US" dirty="0"/>
              <a:t>。 </a:t>
            </a:r>
          </a:p>
          <a:p>
            <a:endParaRPr lang="zh-CN" altLang="en-US" dirty="0"/>
          </a:p>
        </p:txBody>
      </p:sp>
      <p:sp>
        <p:nvSpPr>
          <p:cNvPr id="3" name="文本占位符 2"/>
          <p:cNvSpPr>
            <a:spLocks noGrp="1"/>
          </p:cNvSpPr>
          <p:nvPr>
            <p:ph type="body" sz="quarter" idx="11"/>
          </p:nvPr>
        </p:nvSpPr>
        <p:spPr>
          <a:xfrm>
            <a:off x="1332000" y="360000"/>
            <a:ext cx="6480000" cy="354012"/>
          </a:xfrm>
        </p:spPr>
        <p:txBody>
          <a:bodyPr>
            <a:normAutofit fontScale="92500" lnSpcReduction="10000"/>
          </a:bodyPr>
          <a:lstStyle/>
          <a:p>
            <a:r>
              <a:rPr lang="zh-CN" altLang="en-US" dirty="0"/>
              <a:t>信噪比</a:t>
            </a:r>
          </a:p>
        </p:txBody>
      </p:sp>
      <p:sp>
        <p:nvSpPr>
          <p:cNvPr id="4" name="矩形 3"/>
          <p:cNvSpPr/>
          <p:nvPr/>
        </p:nvSpPr>
        <p:spPr>
          <a:xfrm>
            <a:off x="1567543" y="2172040"/>
            <a:ext cx="5625737" cy="461665"/>
          </a:xfrm>
          <a:prstGeom prst="rect">
            <a:avLst/>
          </a:prstGeom>
          <a:solidFill>
            <a:srgbClr val="FFFF66"/>
          </a:solidFill>
        </p:spPr>
        <p:txBody>
          <a:bodyPr wrap="square">
            <a:spAutoFit/>
          </a:bodyPr>
          <a:lstStyle/>
          <a:p>
            <a:pPr algn="ctr"/>
            <a:r>
              <a:rPr lang="zh-CN" altLang="pt-BR" sz="2400" b="1" dirty="0">
                <a:solidFill>
                  <a:srgbClr val="0000FF"/>
                </a:solidFill>
                <a:latin typeface="微软雅黑" panose="020B0503020204020204" pitchFamily="34" charset="-122"/>
                <a:ea typeface="微软雅黑" panose="020B0503020204020204" pitchFamily="34" charset="-122"/>
              </a:rPr>
              <a:t>信噪比</a:t>
            </a:r>
            <a:r>
              <a:rPr lang="pt-BR" altLang="zh-CN" sz="2400" b="1" dirty="0">
                <a:solidFill>
                  <a:srgbClr val="0000FF"/>
                </a:solidFill>
                <a:latin typeface="微软雅黑" panose="020B0503020204020204" pitchFamily="34" charset="-122"/>
                <a:ea typeface="微软雅黑" panose="020B0503020204020204" pitchFamily="34" charset="-122"/>
              </a:rPr>
              <a:t>(dB) = 10 log</a:t>
            </a:r>
            <a:r>
              <a:rPr lang="pt-BR" altLang="zh-CN" sz="2400" b="1" baseline="-25000" dirty="0">
                <a:solidFill>
                  <a:srgbClr val="0000FF"/>
                </a:solidFill>
                <a:latin typeface="微软雅黑" panose="020B0503020204020204" pitchFamily="34" charset="-122"/>
                <a:ea typeface="微软雅黑" panose="020B0503020204020204" pitchFamily="34" charset="-122"/>
              </a:rPr>
              <a:t>10</a:t>
            </a:r>
            <a:r>
              <a:rPr lang="pt-BR" altLang="zh-CN" sz="2400" b="1" dirty="0">
                <a:solidFill>
                  <a:srgbClr val="0000FF"/>
                </a:solidFill>
                <a:latin typeface="微软雅黑" panose="020B0503020204020204" pitchFamily="34" charset="-122"/>
                <a:ea typeface="微软雅黑" panose="020B0503020204020204" pitchFamily="34" charset="-122"/>
              </a:rPr>
              <a:t>(S/N ) (dB) </a:t>
            </a:r>
            <a:endParaRPr lang="zh-CN" altLang="en-US" sz="2400" b="1" dirty="0">
              <a:solidFill>
                <a:srgbClr val="0000FF"/>
              </a:solidFill>
              <a:latin typeface="微软雅黑" panose="020B0503020204020204" pitchFamily="34" charset="-122"/>
              <a:ea typeface="微软雅黑" panose="020B0503020204020204" pitchFamily="34" charset="-122"/>
            </a:endParaRPr>
          </a:p>
        </p:txBody>
      </p:sp>
    </p:spTree>
    <p:custDataLst>
      <p:tags r:id="rId1"/>
    </p:custDataLst>
    <p:extLst>
      <p:ext uri="{BB962C8B-B14F-4D97-AF65-F5344CB8AC3E}">
        <p14:creationId xmlns:p14="http://schemas.microsoft.com/office/powerpoint/2010/main" val="3146609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fade">
                                      <p:cBhvr>
                                        <p:cTn id="12" dur="1000"/>
                                        <p:tgtEl>
                                          <p:spTgt spid="2">
                                            <p:txEl>
                                              <p:pRg st="3" end="3"/>
                                            </p:txEl>
                                          </p:spTgt>
                                        </p:tgtEl>
                                      </p:cBhvr>
                                    </p:animEffect>
                                    <p:anim calcmode="lin" valueType="num">
                                      <p:cBhvr>
                                        <p:cTn id="13"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2">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a:xfrm>
            <a:off x="466343" y="900000"/>
            <a:ext cx="8129017" cy="3376990"/>
          </a:xfrm>
        </p:spPr>
        <p:txBody>
          <a:bodyPr/>
          <a:lstStyle/>
          <a:p>
            <a:r>
              <a:rPr lang="zh-CN" altLang="en-US" dirty="0"/>
              <a:t>奈氏准则：激励工程人员不断探索更加先进的编码技术，使每一个码元携带更多比特的信息量。</a:t>
            </a:r>
            <a:endParaRPr lang="en-US" altLang="zh-CN" dirty="0"/>
          </a:p>
          <a:p>
            <a:r>
              <a:rPr lang="zh-CN" altLang="en-US" dirty="0"/>
              <a:t>香农公式：告诫工程人员，在实际有噪声的信道上，不论采用多么复杂的编码技术，都不可能突破信息传输速率的绝对极限。需要尽可能降低信道上的噪声。</a:t>
            </a:r>
          </a:p>
        </p:txBody>
      </p:sp>
      <p:sp>
        <p:nvSpPr>
          <p:cNvPr id="3" name="文本占位符 2"/>
          <p:cNvSpPr>
            <a:spLocks noGrp="1"/>
          </p:cNvSpPr>
          <p:nvPr>
            <p:ph type="body" sz="quarter" idx="11"/>
          </p:nvPr>
        </p:nvSpPr>
        <p:spPr>
          <a:xfrm>
            <a:off x="1332000" y="360000"/>
            <a:ext cx="6480000" cy="354012"/>
          </a:xfrm>
        </p:spPr>
        <p:txBody>
          <a:bodyPr>
            <a:normAutofit fontScale="92500" lnSpcReduction="10000"/>
          </a:bodyPr>
          <a:lstStyle/>
          <a:p>
            <a:r>
              <a:rPr lang="zh-CN" altLang="en-US" dirty="0"/>
              <a:t>注意：奈氏准则和香农公式的意义不同</a:t>
            </a:r>
          </a:p>
        </p:txBody>
      </p:sp>
      <p:pic>
        <p:nvPicPr>
          <p:cNvPr id="5" name="图片 4">
            <a:extLst>
              <a:ext uri="{FF2B5EF4-FFF2-40B4-BE49-F238E27FC236}">
                <a16:creationId xmlns:a16="http://schemas.microsoft.com/office/drawing/2014/main" id="{3220C330-3086-31A5-5222-78EA6D09A85A}"/>
              </a:ext>
            </a:extLst>
          </p:cNvPr>
          <p:cNvPicPr>
            <a:picLocks noChangeAspect="1"/>
          </p:cNvPicPr>
          <p:nvPr/>
        </p:nvPicPr>
        <p:blipFill>
          <a:blip r:embed="rId4"/>
          <a:stretch>
            <a:fillRect/>
          </a:stretch>
        </p:blipFill>
        <p:spPr>
          <a:xfrm>
            <a:off x="4931306" y="1283110"/>
            <a:ext cx="3957823" cy="2966884"/>
          </a:xfrm>
          <a:prstGeom prst="rect">
            <a:avLst/>
          </a:prstGeom>
        </p:spPr>
      </p:pic>
    </p:spTree>
    <p:custDataLst>
      <p:tags r:id="rId1"/>
    </p:custDataLst>
    <p:extLst>
      <p:ext uri="{BB962C8B-B14F-4D97-AF65-F5344CB8AC3E}">
        <p14:creationId xmlns:p14="http://schemas.microsoft.com/office/powerpoint/2010/main" val="3093257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Rectangle 9"/>
          <p:cNvSpPr>
            <a:spLocks noChangeArrowheads="1"/>
          </p:cNvSpPr>
          <p:nvPr/>
        </p:nvSpPr>
        <p:spPr bwMode="auto">
          <a:xfrm>
            <a:off x="2629135" y="1424797"/>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02" name="Rectangle 10"/>
          <p:cNvSpPr>
            <a:spLocks noChangeArrowheads="1"/>
          </p:cNvSpPr>
          <p:nvPr/>
        </p:nvSpPr>
        <p:spPr bwMode="auto">
          <a:xfrm>
            <a:off x="2629135" y="2031222"/>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05" name="Line 16"/>
          <p:cNvSpPr>
            <a:spLocks noChangeShapeType="1"/>
          </p:cNvSpPr>
          <p:nvPr/>
        </p:nvSpPr>
        <p:spPr bwMode="auto">
          <a:xfrm>
            <a:off x="3637198" y="1353359"/>
            <a:ext cx="0" cy="180022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 name="Rectangle 8"/>
          <p:cNvSpPr>
            <a:spLocks noChangeArrowheads="1"/>
          </p:cNvSpPr>
          <p:nvPr/>
        </p:nvSpPr>
        <p:spPr bwMode="auto">
          <a:xfrm>
            <a:off x="2700573" y="1170797"/>
            <a:ext cx="5598696"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200000"/>
              </a:lnSpc>
            </a:pPr>
            <a:r>
              <a:rPr lang="en-US" altLang="zh-CN" sz="2000" b="1" dirty="0">
                <a:solidFill>
                  <a:schemeClr val="bg1"/>
                </a:solidFill>
                <a:latin typeface="微软雅黑" pitchFamily="34" charset="-122"/>
                <a:ea typeface="微软雅黑" pitchFamily="34" charset="-122"/>
              </a:rPr>
              <a:t>2.3.1                                       </a:t>
            </a:r>
            <a:r>
              <a:rPr lang="zh-CN" altLang="en-US" sz="2000" b="1" dirty="0">
                <a:solidFill>
                  <a:schemeClr val="bg1"/>
                </a:solidFill>
                <a:latin typeface="微软雅黑" pitchFamily="34" charset="-122"/>
                <a:ea typeface="微软雅黑" pitchFamily="34" charset="-122"/>
              </a:rPr>
              <a:t>导引型传输媒体</a:t>
            </a:r>
          </a:p>
          <a:p>
            <a:pPr eaLnBrk="0" hangingPunct="0">
              <a:lnSpc>
                <a:spcPct val="200000"/>
              </a:lnSpc>
            </a:pPr>
            <a:r>
              <a:rPr lang="en-US" altLang="zh-CN" sz="2000" b="1" dirty="0">
                <a:solidFill>
                  <a:schemeClr val="bg1"/>
                </a:solidFill>
                <a:latin typeface="微软雅黑" pitchFamily="34" charset="-122"/>
                <a:ea typeface="微软雅黑" pitchFamily="34" charset="-122"/>
              </a:rPr>
              <a:t>2.3.2                                    </a:t>
            </a:r>
            <a:r>
              <a:rPr lang="zh-CN" altLang="en-US" sz="2000" b="1" dirty="0">
                <a:solidFill>
                  <a:schemeClr val="bg1"/>
                </a:solidFill>
                <a:latin typeface="微软雅黑" pitchFamily="34" charset="-122"/>
                <a:ea typeface="微软雅黑" pitchFamily="34" charset="-122"/>
              </a:rPr>
              <a:t>非导引型传输媒体</a:t>
            </a:r>
          </a:p>
        </p:txBody>
      </p:sp>
      <p:sp>
        <p:nvSpPr>
          <p:cNvPr id="107" name="Rectangle 27"/>
          <p:cNvSpPr>
            <a:spLocks noChangeArrowheads="1"/>
          </p:cNvSpPr>
          <p:nvPr/>
        </p:nvSpPr>
        <p:spPr bwMode="auto">
          <a:xfrm>
            <a:off x="639730" y="1424797"/>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108" name="Rectangle 29"/>
          <p:cNvSpPr>
            <a:spLocks noChangeArrowheads="1"/>
          </p:cNvSpPr>
          <p:nvPr/>
        </p:nvSpPr>
        <p:spPr bwMode="auto">
          <a:xfrm>
            <a:off x="648619" y="1519729"/>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2.3</a:t>
            </a:r>
          </a:p>
          <a:p>
            <a:pPr eaLnBrk="0" hangingPunct="0"/>
            <a:r>
              <a:rPr lang="zh-CN" altLang="en-US" sz="2000" b="1" dirty="0">
                <a:solidFill>
                  <a:schemeClr val="bg1"/>
                </a:solidFill>
                <a:latin typeface="微软雅黑" pitchFamily="34" charset="-122"/>
                <a:ea typeface="微软雅黑" pitchFamily="34" charset="-122"/>
              </a:rPr>
              <a:t>物理层使用的传输媒体</a:t>
            </a:r>
            <a:endParaRPr lang="zh-CN" altLang="fr-FR"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6835817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466343" y="900000"/>
            <a:ext cx="8129017" cy="3376990"/>
          </a:xfrm>
        </p:spPr>
        <p:txBody>
          <a:bodyPr/>
          <a:lstStyle/>
          <a:p>
            <a:r>
              <a:rPr lang="zh-CN" altLang="en-US" dirty="0"/>
              <a:t>传输媒体是数据传输系统中在发送器和接收器之间的物理通路。</a:t>
            </a:r>
          </a:p>
          <a:p>
            <a:r>
              <a:rPr lang="zh-CN" altLang="en-US" dirty="0"/>
              <a:t>两大类：</a:t>
            </a:r>
          </a:p>
          <a:p>
            <a:pPr lvl="1"/>
            <a:r>
              <a:rPr lang="zh-CN" altLang="en-US" dirty="0"/>
              <a:t>导引型传输媒体：电磁波被导引沿着固体媒体（铜线或光纤）传播。</a:t>
            </a:r>
          </a:p>
          <a:p>
            <a:pPr lvl="1"/>
            <a:r>
              <a:rPr lang="zh-CN" altLang="en-US" dirty="0"/>
              <a:t>非导引型传输媒体：指自由空间。非导引型传输媒体中电磁波的传输常称为无线传输。</a:t>
            </a:r>
          </a:p>
          <a:p>
            <a:endParaRPr lang="zh-CN" altLang="en-US" dirty="0"/>
          </a:p>
        </p:txBody>
      </p:sp>
      <p:sp>
        <p:nvSpPr>
          <p:cNvPr id="2" name="文本占位符 1"/>
          <p:cNvSpPr>
            <a:spLocks noGrp="1"/>
          </p:cNvSpPr>
          <p:nvPr>
            <p:ph type="body" sz="quarter" idx="11"/>
          </p:nvPr>
        </p:nvSpPr>
        <p:spPr>
          <a:xfrm>
            <a:off x="1332000" y="360000"/>
            <a:ext cx="6480000" cy="354012"/>
          </a:xfrm>
        </p:spPr>
        <p:txBody>
          <a:bodyPr>
            <a:normAutofit fontScale="92500" lnSpcReduction="10000"/>
          </a:bodyPr>
          <a:lstStyle/>
          <a:p>
            <a:r>
              <a:rPr lang="en-US" altLang="zh-CN" dirty="0"/>
              <a:t>2.3  </a:t>
            </a:r>
            <a:r>
              <a:rPr lang="zh-CN" altLang="en-US" dirty="0"/>
              <a:t>物理层使用的传输媒体</a:t>
            </a:r>
          </a:p>
        </p:txBody>
      </p:sp>
    </p:spTree>
    <p:extLst>
      <p:ext uri="{BB962C8B-B14F-4D97-AF65-F5344CB8AC3E}">
        <p14:creationId xmlns:p14="http://schemas.microsoft.com/office/powerpoint/2010/main" val="11858472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内容占位符 65">
            <a:extLst>
              <a:ext uri="{FF2B5EF4-FFF2-40B4-BE49-F238E27FC236}">
                <a16:creationId xmlns:a16="http://schemas.microsoft.com/office/drawing/2014/main" id="{26589DCB-5753-46E6-E11E-7AE1942C1DA7}"/>
              </a:ext>
            </a:extLst>
          </p:cNvPr>
          <p:cNvSpPr>
            <a:spLocks noGrp="1"/>
          </p:cNvSpPr>
          <p:nvPr>
            <p:ph sz="quarter" idx="10"/>
          </p:nvPr>
        </p:nvSpPr>
        <p:spPr>
          <a:xfrm>
            <a:off x="466343" y="900000"/>
            <a:ext cx="8129017" cy="3376990"/>
          </a:xfrm>
        </p:spPr>
        <p:txBody>
          <a:bodyPr/>
          <a:lstStyle/>
          <a:p>
            <a:r>
              <a:rPr lang="zh-CN" altLang="en-US" dirty="0"/>
              <a:t>电信领域使用的电磁波的频谱：</a:t>
            </a:r>
          </a:p>
          <a:p>
            <a:endParaRPr lang="zh-CN" altLang="en-US" dirty="0"/>
          </a:p>
        </p:txBody>
      </p:sp>
      <p:sp>
        <p:nvSpPr>
          <p:cNvPr id="2" name="文本占位符 1"/>
          <p:cNvSpPr>
            <a:spLocks noGrp="1"/>
          </p:cNvSpPr>
          <p:nvPr>
            <p:ph type="body" sz="quarter" idx="11"/>
          </p:nvPr>
        </p:nvSpPr>
        <p:spPr>
          <a:xfrm>
            <a:off x="1332000" y="360000"/>
            <a:ext cx="6480000" cy="354012"/>
          </a:xfrm>
        </p:spPr>
        <p:txBody>
          <a:bodyPr>
            <a:normAutofit fontScale="92500" lnSpcReduction="10000"/>
          </a:bodyPr>
          <a:lstStyle/>
          <a:p>
            <a:r>
              <a:rPr lang="en-US" altLang="zh-CN" dirty="0"/>
              <a:t>2.3  </a:t>
            </a:r>
            <a:r>
              <a:rPr lang="zh-CN" altLang="en-US" dirty="0"/>
              <a:t>物理层使用的传输媒体</a:t>
            </a:r>
          </a:p>
        </p:txBody>
      </p:sp>
      <p:grpSp>
        <p:nvGrpSpPr>
          <p:cNvPr id="3" name="组合 2"/>
          <p:cNvGrpSpPr/>
          <p:nvPr/>
        </p:nvGrpSpPr>
        <p:grpSpPr>
          <a:xfrm>
            <a:off x="708590" y="1493557"/>
            <a:ext cx="7441419" cy="2975697"/>
            <a:chOff x="708590" y="1493557"/>
            <a:chExt cx="7441419" cy="2975697"/>
          </a:xfrm>
        </p:grpSpPr>
        <p:sp>
          <p:nvSpPr>
            <p:cNvPr id="5" name="矩形 4"/>
            <p:cNvSpPr/>
            <p:nvPr/>
          </p:nvSpPr>
          <p:spPr>
            <a:xfrm>
              <a:off x="1470699" y="2763196"/>
              <a:ext cx="2096586" cy="1414739"/>
            </a:xfrm>
            <a:prstGeom prst="rect">
              <a:avLst/>
            </a:prstGeom>
            <a:solidFill>
              <a:srgbClr val="99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3538069" y="2763197"/>
              <a:ext cx="1558987" cy="1414738"/>
            </a:xfrm>
            <a:prstGeom prst="rect">
              <a:avLst/>
            </a:prstGeom>
            <a:solidFill>
              <a:srgbClr val="B1D8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5099220" y="2756523"/>
              <a:ext cx="1546580" cy="143955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7164288" y="2741893"/>
              <a:ext cx="526774" cy="1446406"/>
            </a:xfrm>
            <a:prstGeom prst="rect">
              <a:avLst/>
            </a:prstGeom>
            <a:solidFill>
              <a:srgbClr val="FF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5580112" y="1773018"/>
              <a:ext cx="1666036" cy="304295"/>
            </a:xfrm>
            <a:prstGeom prst="rect">
              <a:avLst/>
            </a:prstGeom>
            <a:solidFill>
              <a:srgbClr val="00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5292081" y="1773018"/>
              <a:ext cx="334414" cy="304295"/>
            </a:xfrm>
            <a:prstGeom prst="rect">
              <a:avLst/>
            </a:prstGeom>
            <a:solidFill>
              <a:srgbClr val="FF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4283968" y="1773018"/>
              <a:ext cx="921671" cy="304295"/>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3424821" y="1773018"/>
              <a:ext cx="921671" cy="304295"/>
            </a:xfrm>
            <a:prstGeom prst="rect">
              <a:avLst/>
            </a:prstGeom>
            <a:solidFill>
              <a:srgbClr val="B1D8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2524992" y="1770964"/>
              <a:ext cx="896585" cy="304295"/>
            </a:xfrm>
            <a:prstGeom prst="rect">
              <a:avLst/>
            </a:prstGeom>
            <a:solidFill>
              <a:srgbClr val="99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Line 6"/>
            <p:cNvSpPr>
              <a:spLocks noChangeShapeType="1"/>
            </p:cNvSpPr>
            <p:nvPr/>
          </p:nvSpPr>
          <p:spPr bwMode="auto">
            <a:xfrm>
              <a:off x="5615267" y="2079146"/>
              <a:ext cx="2077198" cy="684050"/>
            </a:xfrm>
            <a:prstGeom prst="line">
              <a:avLst/>
            </a:prstGeom>
            <a:noFill/>
            <a:ln w="2857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7" name="Rectangle 7"/>
            <p:cNvSpPr>
              <a:spLocks noChangeArrowheads="1"/>
            </p:cNvSpPr>
            <p:nvPr/>
          </p:nvSpPr>
          <p:spPr bwMode="auto">
            <a:xfrm>
              <a:off x="7108604" y="2507973"/>
              <a:ext cx="320001" cy="19433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8" name="Line 8"/>
            <p:cNvSpPr>
              <a:spLocks noChangeShapeType="1"/>
            </p:cNvSpPr>
            <p:nvPr/>
          </p:nvSpPr>
          <p:spPr bwMode="auto">
            <a:xfrm flipV="1">
              <a:off x="1470698" y="2079146"/>
              <a:ext cx="1035792" cy="684050"/>
            </a:xfrm>
            <a:prstGeom prst="line">
              <a:avLst/>
            </a:prstGeom>
            <a:noFill/>
            <a:ln w="2857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9" name="Rectangle 9"/>
            <p:cNvSpPr>
              <a:spLocks noChangeArrowheads="1"/>
            </p:cNvSpPr>
            <p:nvPr/>
          </p:nvSpPr>
          <p:spPr bwMode="auto">
            <a:xfrm>
              <a:off x="1382275" y="2507972"/>
              <a:ext cx="286317" cy="17878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20" name="Line 10"/>
            <p:cNvSpPr>
              <a:spLocks noChangeShapeType="1"/>
            </p:cNvSpPr>
            <p:nvPr/>
          </p:nvSpPr>
          <p:spPr bwMode="auto">
            <a:xfrm>
              <a:off x="2505084" y="2747649"/>
              <a:ext cx="0" cy="143028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21" name="Line 12"/>
            <p:cNvSpPr>
              <a:spLocks noChangeShapeType="1"/>
            </p:cNvSpPr>
            <p:nvPr/>
          </p:nvSpPr>
          <p:spPr bwMode="auto">
            <a:xfrm>
              <a:off x="1992803" y="2750240"/>
              <a:ext cx="0" cy="143028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22" name="Line 15"/>
            <p:cNvSpPr>
              <a:spLocks noChangeShapeType="1"/>
            </p:cNvSpPr>
            <p:nvPr/>
          </p:nvSpPr>
          <p:spPr bwMode="auto">
            <a:xfrm>
              <a:off x="3025788" y="2752831"/>
              <a:ext cx="0" cy="143028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24" name="Line 19"/>
            <p:cNvSpPr>
              <a:spLocks noChangeShapeType="1"/>
            </p:cNvSpPr>
            <p:nvPr/>
          </p:nvSpPr>
          <p:spPr bwMode="auto">
            <a:xfrm>
              <a:off x="4579474" y="2752831"/>
              <a:ext cx="0" cy="143028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25" name="Line 21"/>
            <p:cNvSpPr>
              <a:spLocks noChangeShapeType="1"/>
            </p:cNvSpPr>
            <p:nvPr/>
          </p:nvSpPr>
          <p:spPr bwMode="auto">
            <a:xfrm>
              <a:off x="1463679" y="1768213"/>
              <a:ext cx="666948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26" name="Line 22"/>
            <p:cNvSpPr>
              <a:spLocks noChangeShapeType="1"/>
            </p:cNvSpPr>
            <p:nvPr/>
          </p:nvSpPr>
          <p:spPr bwMode="auto">
            <a:xfrm>
              <a:off x="1480520" y="2079146"/>
              <a:ext cx="666948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27" name="Line 23"/>
            <p:cNvSpPr>
              <a:spLocks noChangeShapeType="1"/>
            </p:cNvSpPr>
            <p:nvPr/>
          </p:nvSpPr>
          <p:spPr bwMode="auto">
            <a:xfrm>
              <a:off x="1460871" y="1768213"/>
              <a:ext cx="0" cy="4974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28" name="Line 24"/>
            <p:cNvSpPr>
              <a:spLocks noChangeShapeType="1"/>
            </p:cNvSpPr>
            <p:nvPr/>
          </p:nvSpPr>
          <p:spPr bwMode="auto">
            <a:xfrm>
              <a:off x="3414560" y="1772099"/>
              <a:ext cx="0" cy="3070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29" name="Line 25"/>
            <p:cNvSpPr>
              <a:spLocks noChangeShapeType="1"/>
            </p:cNvSpPr>
            <p:nvPr/>
          </p:nvSpPr>
          <p:spPr bwMode="auto">
            <a:xfrm>
              <a:off x="2513506" y="1781170"/>
              <a:ext cx="0" cy="31352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30" name="Line 26"/>
            <p:cNvSpPr>
              <a:spLocks noChangeShapeType="1"/>
            </p:cNvSpPr>
            <p:nvPr/>
          </p:nvSpPr>
          <p:spPr bwMode="auto">
            <a:xfrm>
              <a:off x="5292459" y="1768213"/>
              <a:ext cx="0" cy="3109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31" name="Line 27"/>
            <p:cNvSpPr>
              <a:spLocks noChangeShapeType="1"/>
            </p:cNvSpPr>
            <p:nvPr/>
          </p:nvSpPr>
          <p:spPr bwMode="auto">
            <a:xfrm>
              <a:off x="7246148" y="1775987"/>
              <a:ext cx="0" cy="299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32" name="Line 28"/>
            <p:cNvSpPr>
              <a:spLocks noChangeShapeType="1"/>
            </p:cNvSpPr>
            <p:nvPr/>
          </p:nvSpPr>
          <p:spPr bwMode="auto">
            <a:xfrm flipV="1">
              <a:off x="1466486" y="2752831"/>
              <a:ext cx="6232997" cy="388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33" name="Text Box 29"/>
            <p:cNvSpPr txBox="1">
              <a:spLocks noChangeArrowheads="1"/>
            </p:cNvSpPr>
            <p:nvPr/>
          </p:nvSpPr>
          <p:spPr bwMode="auto">
            <a:xfrm>
              <a:off x="2670699" y="1783760"/>
              <a:ext cx="640446" cy="274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200" b="1" dirty="0">
                  <a:solidFill>
                    <a:srgbClr val="0000FF"/>
                  </a:solidFill>
                  <a:latin typeface="微软雅黑" pitchFamily="34" charset="-122"/>
                  <a:ea typeface="微软雅黑" pitchFamily="34" charset="-122"/>
                </a:rPr>
                <a:t>无线电</a:t>
              </a:r>
            </a:p>
          </p:txBody>
        </p:sp>
        <p:sp>
          <p:nvSpPr>
            <p:cNvPr id="34" name="Text Box 30"/>
            <p:cNvSpPr txBox="1">
              <a:spLocks noChangeArrowheads="1"/>
            </p:cNvSpPr>
            <p:nvPr/>
          </p:nvSpPr>
          <p:spPr bwMode="auto">
            <a:xfrm>
              <a:off x="3636820" y="1783760"/>
              <a:ext cx="487959" cy="274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200" b="1" dirty="0">
                  <a:solidFill>
                    <a:srgbClr val="0000FF"/>
                  </a:solidFill>
                  <a:latin typeface="微软雅黑" pitchFamily="34" charset="-122"/>
                  <a:ea typeface="微软雅黑" pitchFamily="34" charset="-122"/>
                </a:rPr>
                <a:t>微波</a:t>
              </a:r>
            </a:p>
          </p:txBody>
        </p:sp>
        <p:sp>
          <p:nvSpPr>
            <p:cNvPr id="35" name="Line 31"/>
            <p:cNvSpPr>
              <a:spLocks noChangeShapeType="1"/>
            </p:cNvSpPr>
            <p:nvPr/>
          </p:nvSpPr>
          <p:spPr bwMode="auto">
            <a:xfrm>
              <a:off x="4346492" y="1768213"/>
              <a:ext cx="0" cy="3109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36" name="Line 32"/>
            <p:cNvSpPr>
              <a:spLocks noChangeShapeType="1"/>
            </p:cNvSpPr>
            <p:nvPr/>
          </p:nvSpPr>
          <p:spPr bwMode="auto">
            <a:xfrm>
              <a:off x="5205442" y="1768213"/>
              <a:ext cx="0" cy="31093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37" name="Text Box 33"/>
            <p:cNvSpPr txBox="1">
              <a:spLocks noChangeArrowheads="1"/>
            </p:cNvSpPr>
            <p:nvPr/>
          </p:nvSpPr>
          <p:spPr bwMode="auto">
            <a:xfrm>
              <a:off x="4458773" y="1783760"/>
              <a:ext cx="640446" cy="274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200" b="1">
                  <a:solidFill>
                    <a:srgbClr val="0000FF"/>
                  </a:solidFill>
                  <a:latin typeface="微软雅黑" pitchFamily="34" charset="-122"/>
                  <a:ea typeface="微软雅黑" pitchFamily="34" charset="-122"/>
                </a:rPr>
                <a:t>红外线</a:t>
              </a:r>
            </a:p>
          </p:txBody>
        </p:sp>
        <p:sp>
          <p:nvSpPr>
            <p:cNvPr id="38" name="Text Box 34"/>
            <p:cNvSpPr txBox="1">
              <a:spLocks noChangeArrowheads="1"/>
            </p:cNvSpPr>
            <p:nvPr/>
          </p:nvSpPr>
          <p:spPr bwMode="auto">
            <a:xfrm>
              <a:off x="4694563" y="2181573"/>
              <a:ext cx="640446" cy="274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200" b="1">
                  <a:solidFill>
                    <a:srgbClr val="0000FF"/>
                  </a:solidFill>
                  <a:latin typeface="微软雅黑" pitchFamily="34" charset="-122"/>
                  <a:ea typeface="微软雅黑" pitchFamily="34" charset="-122"/>
                </a:rPr>
                <a:t>可见光</a:t>
              </a:r>
            </a:p>
          </p:txBody>
        </p:sp>
        <p:sp>
          <p:nvSpPr>
            <p:cNvPr id="39" name="Text Box 35"/>
            <p:cNvSpPr txBox="1">
              <a:spLocks noChangeArrowheads="1"/>
            </p:cNvSpPr>
            <p:nvPr/>
          </p:nvSpPr>
          <p:spPr bwMode="auto">
            <a:xfrm>
              <a:off x="5314153" y="2181573"/>
              <a:ext cx="640446" cy="274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200" b="1" dirty="0">
                  <a:solidFill>
                    <a:srgbClr val="0000FF"/>
                  </a:solidFill>
                  <a:latin typeface="微软雅黑" pitchFamily="34" charset="-122"/>
                  <a:ea typeface="微软雅黑" pitchFamily="34" charset="-122"/>
                </a:rPr>
                <a:t>紫外线</a:t>
              </a:r>
            </a:p>
          </p:txBody>
        </p:sp>
        <p:sp>
          <p:nvSpPr>
            <p:cNvPr id="40" name="Line 36"/>
            <p:cNvSpPr>
              <a:spLocks noChangeShapeType="1"/>
            </p:cNvSpPr>
            <p:nvPr/>
          </p:nvSpPr>
          <p:spPr bwMode="auto">
            <a:xfrm>
              <a:off x="5626495" y="1768213"/>
              <a:ext cx="0" cy="31481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41" name="Text Box 37"/>
            <p:cNvSpPr txBox="1">
              <a:spLocks noChangeArrowheads="1"/>
            </p:cNvSpPr>
            <p:nvPr/>
          </p:nvSpPr>
          <p:spPr bwMode="auto">
            <a:xfrm>
              <a:off x="6030706" y="1783760"/>
              <a:ext cx="594382" cy="274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200" b="1">
                  <a:solidFill>
                    <a:srgbClr val="0000FF"/>
                  </a:solidFill>
                  <a:latin typeface="微软雅黑" pitchFamily="34" charset="-122"/>
                  <a:ea typeface="微软雅黑" pitchFamily="34" charset="-122"/>
                </a:rPr>
                <a:t>X</a:t>
              </a:r>
              <a:r>
                <a:rPr kumimoji="1" lang="zh-CN" altLang="en-US" sz="1200" b="1">
                  <a:solidFill>
                    <a:srgbClr val="0000FF"/>
                  </a:solidFill>
                  <a:latin typeface="微软雅黑" pitchFamily="34" charset="-122"/>
                  <a:ea typeface="微软雅黑" pitchFamily="34" charset="-122"/>
                </a:rPr>
                <a:t>射线</a:t>
              </a:r>
            </a:p>
          </p:txBody>
        </p:sp>
        <p:sp>
          <p:nvSpPr>
            <p:cNvPr id="42" name="Text Box 38"/>
            <p:cNvSpPr txBox="1">
              <a:spLocks noChangeArrowheads="1"/>
            </p:cNvSpPr>
            <p:nvPr/>
          </p:nvSpPr>
          <p:spPr bwMode="auto">
            <a:xfrm>
              <a:off x="7378079" y="1757849"/>
              <a:ext cx="246521" cy="274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200" b="1">
                  <a:solidFill>
                    <a:srgbClr val="0000FF"/>
                  </a:solidFill>
                  <a:latin typeface="微软雅黑" pitchFamily="34" charset="-122"/>
                  <a:ea typeface="微软雅黑" pitchFamily="34" charset="-122"/>
                  <a:sym typeface="Symbol" pitchFamily="18" charset="2"/>
                </a:rPr>
                <a:t></a:t>
              </a:r>
            </a:p>
          </p:txBody>
        </p:sp>
        <p:sp>
          <p:nvSpPr>
            <p:cNvPr id="43" name="Text Box 39"/>
            <p:cNvSpPr txBox="1">
              <a:spLocks noChangeArrowheads="1"/>
            </p:cNvSpPr>
            <p:nvPr/>
          </p:nvSpPr>
          <p:spPr bwMode="auto">
            <a:xfrm>
              <a:off x="7510008" y="1783760"/>
              <a:ext cx="487959" cy="274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200" b="1">
                  <a:solidFill>
                    <a:srgbClr val="0000FF"/>
                  </a:solidFill>
                  <a:latin typeface="微软雅黑" pitchFamily="34" charset="-122"/>
                  <a:ea typeface="微软雅黑" pitchFamily="34" charset="-122"/>
                </a:rPr>
                <a:t>射线</a:t>
              </a:r>
            </a:p>
          </p:txBody>
        </p:sp>
        <p:sp>
          <p:nvSpPr>
            <p:cNvPr id="44" name="Line 41"/>
            <p:cNvSpPr>
              <a:spLocks noChangeShapeType="1"/>
            </p:cNvSpPr>
            <p:nvPr/>
          </p:nvSpPr>
          <p:spPr bwMode="auto">
            <a:xfrm>
              <a:off x="1466485" y="3011941"/>
              <a:ext cx="1195792" cy="0"/>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46" name="Line 45"/>
            <p:cNvSpPr>
              <a:spLocks noChangeShapeType="1"/>
            </p:cNvSpPr>
            <p:nvPr/>
          </p:nvSpPr>
          <p:spPr bwMode="auto">
            <a:xfrm>
              <a:off x="3874912" y="3036556"/>
              <a:ext cx="1010529" cy="0"/>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47" name="Line 47"/>
            <p:cNvSpPr>
              <a:spLocks noChangeShapeType="1"/>
            </p:cNvSpPr>
            <p:nvPr/>
          </p:nvSpPr>
          <p:spPr bwMode="auto">
            <a:xfrm>
              <a:off x="4200528" y="3385059"/>
              <a:ext cx="830880" cy="0"/>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48" name="Line 51"/>
            <p:cNvSpPr>
              <a:spLocks noChangeShapeType="1"/>
            </p:cNvSpPr>
            <p:nvPr/>
          </p:nvSpPr>
          <p:spPr bwMode="auto">
            <a:xfrm>
              <a:off x="3369648" y="3820364"/>
              <a:ext cx="381755" cy="0"/>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49" name="Text Box 52"/>
            <p:cNvSpPr txBox="1">
              <a:spLocks noChangeArrowheads="1"/>
            </p:cNvSpPr>
            <p:nvPr/>
          </p:nvSpPr>
          <p:spPr bwMode="auto">
            <a:xfrm>
              <a:off x="6659479" y="2776151"/>
              <a:ext cx="487959" cy="274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200" b="1">
                  <a:solidFill>
                    <a:srgbClr val="0000FF"/>
                  </a:solidFill>
                  <a:latin typeface="微软雅黑" pitchFamily="34" charset="-122"/>
                  <a:ea typeface="微软雅黑" pitchFamily="34" charset="-122"/>
                </a:rPr>
                <a:t>光纤</a:t>
              </a:r>
            </a:p>
          </p:txBody>
        </p:sp>
        <p:sp>
          <p:nvSpPr>
            <p:cNvPr id="50" name="Line 53"/>
            <p:cNvSpPr>
              <a:spLocks noChangeShapeType="1"/>
            </p:cNvSpPr>
            <p:nvPr/>
          </p:nvSpPr>
          <p:spPr bwMode="auto">
            <a:xfrm>
              <a:off x="6637024" y="3046920"/>
              <a:ext cx="527721" cy="0"/>
            </a:xfrm>
            <a:prstGeom prst="line">
              <a:avLst/>
            </a:prstGeom>
            <a:noFill/>
            <a:ln w="952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51" name="Line 55"/>
            <p:cNvSpPr>
              <a:spLocks noChangeShapeType="1"/>
            </p:cNvSpPr>
            <p:nvPr/>
          </p:nvSpPr>
          <p:spPr bwMode="auto">
            <a:xfrm flipV="1">
              <a:off x="5099220" y="1892586"/>
              <a:ext cx="156748" cy="310932"/>
            </a:xfrm>
            <a:prstGeom prst="line">
              <a:avLst/>
            </a:prstGeom>
            <a:noFill/>
            <a:ln w="952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52" name="Line 56"/>
            <p:cNvSpPr>
              <a:spLocks noChangeShapeType="1"/>
            </p:cNvSpPr>
            <p:nvPr/>
          </p:nvSpPr>
          <p:spPr bwMode="auto">
            <a:xfrm flipH="1" flipV="1">
              <a:off x="5469301" y="1892586"/>
              <a:ext cx="72982" cy="310931"/>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53" name="Line 57"/>
            <p:cNvSpPr>
              <a:spLocks noChangeShapeType="1"/>
            </p:cNvSpPr>
            <p:nvPr/>
          </p:nvSpPr>
          <p:spPr bwMode="auto">
            <a:xfrm>
              <a:off x="1584381" y="3882550"/>
              <a:ext cx="606317" cy="0"/>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54" name="Line 58"/>
            <p:cNvSpPr>
              <a:spLocks noChangeShapeType="1"/>
            </p:cNvSpPr>
            <p:nvPr/>
          </p:nvSpPr>
          <p:spPr bwMode="auto">
            <a:xfrm>
              <a:off x="2325435" y="3882550"/>
              <a:ext cx="404211" cy="0"/>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55" name="Line 59"/>
            <p:cNvSpPr>
              <a:spLocks noChangeShapeType="1"/>
            </p:cNvSpPr>
            <p:nvPr/>
          </p:nvSpPr>
          <p:spPr bwMode="auto">
            <a:xfrm>
              <a:off x="3403333" y="4131296"/>
              <a:ext cx="662458" cy="0"/>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56" name="Line 60"/>
            <p:cNvSpPr>
              <a:spLocks noChangeShapeType="1"/>
            </p:cNvSpPr>
            <p:nvPr/>
          </p:nvSpPr>
          <p:spPr bwMode="auto">
            <a:xfrm>
              <a:off x="1462276" y="4187004"/>
              <a:ext cx="624141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57" name="Line 61"/>
            <p:cNvSpPr>
              <a:spLocks noChangeShapeType="1"/>
            </p:cNvSpPr>
            <p:nvPr/>
          </p:nvSpPr>
          <p:spPr bwMode="auto">
            <a:xfrm>
              <a:off x="1472100" y="2756717"/>
              <a:ext cx="0" cy="143028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58" name="Line 62"/>
            <p:cNvSpPr>
              <a:spLocks noChangeShapeType="1"/>
            </p:cNvSpPr>
            <p:nvPr/>
          </p:nvSpPr>
          <p:spPr bwMode="auto">
            <a:xfrm>
              <a:off x="4062983" y="2751535"/>
              <a:ext cx="0" cy="143028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59" name="Line 63"/>
            <p:cNvSpPr>
              <a:spLocks noChangeShapeType="1"/>
            </p:cNvSpPr>
            <p:nvPr/>
          </p:nvSpPr>
          <p:spPr bwMode="auto">
            <a:xfrm>
              <a:off x="5095968" y="2758013"/>
              <a:ext cx="0" cy="143028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60" name="Line 64"/>
            <p:cNvSpPr>
              <a:spLocks noChangeShapeType="1"/>
            </p:cNvSpPr>
            <p:nvPr/>
          </p:nvSpPr>
          <p:spPr bwMode="auto">
            <a:xfrm>
              <a:off x="5612460" y="2755422"/>
              <a:ext cx="0" cy="143028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61" name="Line 65"/>
            <p:cNvSpPr>
              <a:spLocks noChangeShapeType="1"/>
            </p:cNvSpPr>
            <p:nvPr/>
          </p:nvSpPr>
          <p:spPr bwMode="auto">
            <a:xfrm>
              <a:off x="6133163" y="2756717"/>
              <a:ext cx="0" cy="143028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62" name="Line 66"/>
            <p:cNvSpPr>
              <a:spLocks noChangeShapeType="1"/>
            </p:cNvSpPr>
            <p:nvPr/>
          </p:nvSpPr>
          <p:spPr bwMode="auto">
            <a:xfrm>
              <a:off x="6653867" y="2765787"/>
              <a:ext cx="0" cy="143028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63" name="Line 67"/>
            <p:cNvSpPr>
              <a:spLocks noChangeShapeType="1"/>
            </p:cNvSpPr>
            <p:nvPr/>
          </p:nvSpPr>
          <p:spPr bwMode="auto">
            <a:xfrm>
              <a:off x="7170359" y="2759308"/>
              <a:ext cx="0" cy="143028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64" name="Line 68"/>
            <p:cNvSpPr>
              <a:spLocks noChangeShapeType="1"/>
            </p:cNvSpPr>
            <p:nvPr/>
          </p:nvSpPr>
          <p:spPr bwMode="auto">
            <a:xfrm>
              <a:off x="7691062" y="2756717"/>
              <a:ext cx="0" cy="143028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grpSp>
          <p:nvGrpSpPr>
            <p:cNvPr id="65" name="Group 69"/>
            <p:cNvGrpSpPr>
              <a:grpSpLocks/>
            </p:cNvGrpSpPr>
            <p:nvPr/>
          </p:nvGrpSpPr>
          <p:grpSpPr bwMode="auto">
            <a:xfrm>
              <a:off x="708590" y="1519470"/>
              <a:ext cx="673686" cy="275952"/>
              <a:chOff x="6" y="352"/>
              <a:chExt cx="480" cy="213"/>
            </a:xfrm>
          </p:grpSpPr>
          <p:sp>
            <p:nvSpPr>
              <p:cNvPr id="93" name="Text Box 70"/>
              <p:cNvSpPr txBox="1">
                <a:spLocks noChangeArrowheads="1"/>
              </p:cNvSpPr>
              <p:nvPr/>
            </p:nvSpPr>
            <p:spPr bwMode="auto">
              <a:xfrm>
                <a:off x="127" y="353"/>
                <a:ext cx="35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200" b="1" dirty="0">
                    <a:solidFill>
                      <a:srgbClr val="0000FF"/>
                    </a:solidFill>
                    <a:latin typeface="微软雅黑" pitchFamily="34" charset="-122"/>
                    <a:ea typeface="微软雅黑" pitchFamily="34" charset="-122"/>
                  </a:rPr>
                  <a:t>(Hz)</a:t>
                </a:r>
              </a:p>
            </p:txBody>
          </p:sp>
          <p:sp>
            <p:nvSpPr>
              <p:cNvPr id="94" name="Text Box 71"/>
              <p:cNvSpPr txBox="1">
                <a:spLocks noChangeArrowheads="1"/>
              </p:cNvSpPr>
              <p:nvPr/>
            </p:nvSpPr>
            <p:spPr bwMode="auto">
              <a:xfrm>
                <a:off x="6" y="352"/>
                <a:ext cx="175"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200" b="1">
                    <a:solidFill>
                      <a:srgbClr val="0000FF"/>
                    </a:solidFill>
                    <a:latin typeface="微软雅黑" pitchFamily="34" charset="-122"/>
                    <a:ea typeface="微软雅黑" pitchFamily="34" charset="-122"/>
                  </a:rPr>
                  <a:t>f</a:t>
                </a:r>
              </a:p>
            </p:txBody>
          </p:sp>
        </p:grpSp>
        <p:sp>
          <p:nvSpPr>
            <p:cNvPr id="91" name="Text Box 73"/>
            <p:cNvSpPr txBox="1">
              <a:spLocks noChangeArrowheads="1"/>
            </p:cNvSpPr>
            <p:nvPr/>
          </p:nvSpPr>
          <p:spPr bwMode="auto">
            <a:xfrm>
              <a:off x="723381" y="2478176"/>
              <a:ext cx="6639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200" b="1" dirty="0">
                  <a:solidFill>
                    <a:srgbClr val="0000FF"/>
                  </a:solidFill>
                  <a:latin typeface="微软雅黑" pitchFamily="34" charset="-122"/>
                  <a:ea typeface="微软雅黑" pitchFamily="34" charset="-122"/>
                </a:rPr>
                <a:t>f  (Hz)</a:t>
              </a:r>
            </a:p>
          </p:txBody>
        </p:sp>
        <p:sp>
          <p:nvSpPr>
            <p:cNvPr id="67" name="Line 75"/>
            <p:cNvSpPr>
              <a:spLocks noChangeShapeType="1"/>
            </p:cNvSpPr>
            <p:nvPr/>
          </p:nvSpPr>
          <p:spPr bwMode="auto">
            <a:xfrm>
              <a:off x="1651749" y="4187004"/>
              <a:ext cx="0" cy="621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68" name="Line 76"/>
            <p:cNvSpPr>
              <a:spLocks noChangeShapeType="1"/>
            </p:cNvSpPr>
            <p:nvPr/>
          </p:nvSpPr>
          <p:spPr bwMode="auto">
            <a:xfrm>
              <a:off x="2157014" y="4194777"/>
              <a:ext cx="0" cy="621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69" name="Line 77"/>
            <p:cNvSpPr>
              <a:spLocks noChangeShapeType="1"/>
            </p:cNvSpPr>
            <p:nvPr/>
          </p:nvSpPr>
          <p:spPr bwMode="auto">
            <a:xfrm>
              <a:off x="2666489" y="4198665"/>
              <a:ext cx="0" cy="621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70" name="Line 78"/>
            <p:cNvSpPr>
              <a:spLocks noChangeShapeType="1"/>
            </p:cNvSpPr>
            <p:nvPr/>
          </p:nvSpPr>
          <p:spPr bwMode="auto">
            <a:xfrm>
              <a:off x="3192805" y="4194777"/>
              <a:ext cx="0" cy="621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71" name="Line 79"/>
            <p:cNvSpPr>
              <a:spLocks noChangeShapeType="1"/>
            </p:cNvSpPr>
            <p:nvPr/>
          </p:nvSpPr>
          <p:spPr bwMode="auto">
            <a:xfrm>
              <a:off x="3693859" y="4194777"/>
              <a:ext cx="0" cy="621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72" name="Line 80"/>
            <p:cNvSpPr>
              <a:spLocks noChangeShapeType="1"/>
            </p:cNvSpPr>
            <p:nvPr/>
          </p:nvSpPr>
          <p:spPr bwMode="auto">
            <a:xfrm>
              <a:off x="4220176" y="4194777"/>
              <a:ext cx="0" cy="621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73" name="Line 81"/>
            <p:cNvSpPr>
              <a:spLocks noChangeShapeType="1"/>
            </p:cNvSpPr>
            <p:nvPr/>
          </p:nvSpPr>
          <p:spPr bwMode="auto">
            <a:xfrm>
              <a:off x="4742282" y="4194777"/>
              <a:ext cx="0" cy="621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74" name="Line 82"/>
            <p:cNvSpPr>
              <a:spLocks noChangeShapeType="1"/>
            </p:cNvSpPr>
            <p:nvPr/>
          </p:nvSpPr>
          <p:spPr bwMode="auto">
            <a:xfrm>
              <a:off x="5251758" y="4194777"/>
              <a:ext cx="0" cy="621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75" name="Line 83"/>
            <p:cNvSpPr>
              <a:spLocks noChangeShapeType="1"/>
            </p:cNvSpPr>
            <p:nvPr/>
          </p:nvSpPr>
          <p:spPr bwMode="auto">
            <a:xfrm>
              <a:off x="5782285" y="4198665"/>
              <a:ext cx="0" cy="621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76" name="Line 84"/>
            <p:cNvSpPr>
              <a:spLocks noChangeShapeType="1"/>
            </p:cNvSpPr>
            <p:nvPr/>
          </p:nvSpPr>
          <p:spPr bwMode="auto">
            <a:xfrm>
              <a:off x="6300181" y="4190891"/>
              <a:ext cx="0" cy="621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77" name="Line 85"/>
            <p:cNvSpPr>
              <a:spLocks noChangeShapeType="1"/>
            </p:cNvSpPr>
            <p:nvPr/>
          </p:nvSpPr>
          <p:spPr bwMode="auto">
            <a:xfrm>
              <a:off x="6826498" y="4198665"/>
              <a:ext cx="0" cy="621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78" name="Line 86"/>
            <p:cNvSpPr>
              <a:spLocks noChangeShapeType="1"/>
            </p:cNvSpPr>
            <p:nvPr/>
          </p:nvSpPr>
          <p:spPr bwMode="auto">
            <a:xfrm>
              <a:off x="7348605" y="4190891"/>
              <a:ext cx="0" cy="621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79" name="Text Box 87"/>
            <p:cNvSpPr txBox="1">
              <a:spLocks noChangeArrowheads="1"/>
            </p:cNvSpPr>
            <p:nvPr/>
          </p:nvSpPr>
          <p:spPr bwMode="auto">
            <a:xfrm>
              <a:off x="1709294" y="4194777"/>
              <a:ext cx="352945" cy="274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200" b="1">
                  <a:latin typeface="微软雅黑" pitchFamily="34" charset="-122"/>
                  <a:ea typeface="微软雅黑" pitchFamily="34" charset="-122"/>
                </a:rPr>
                <a:t>LF</a:t>
              </a:r>
            </a:p>
          </p:txBody>
        </p:sp>
        <p:sp>
          <p:nvSpPr>
            <p:cNvPr id="80" name="Text Box 88"/>
            <p:cNvSpPr txBox="1">
              <a:spLocks noChangeArrowheads="1"/>
            </p:cNvSpPr>
            <p:nvPr/>
          </p:nvSpPr>
          <p:spPr bwMode="auto">
            <a:xfrm>
              <a:off x="2227190" y="4194777"/>
              <a:ext cx="426011" cy="274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200" b="1" dirty="0">
                  <a:latin typeface="微软雅黑" pitchFamily="34" charset="-122"/>
                  <a:ea typeface="微软雅黑" pitchFamily="34" charset="-122"/>
                </a:rPr>
                <a:t>MF</a:t>
              </a:r>
            </a:p>
          </p:txBody>
        </p:sp>
        <p:sp>
          <p:nvSpPr>
            <p:cNvPr id="81" name="Text Box 89"/>
            <p:cNvSpPr txBox="1">
              <a:spLocks noChangeArrowheads="1"/>
            </p:cNvSpPr>
            <p:nvPr/>
          </p:nvSpPr>
          <p:spPr bwMode="auto">
            <a:xfrm>
              <a:off x="2745087" y="4194777"/>
              <a:ext cx="394243" cy="274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200" b="1">
                  <a:latin typeface="微软雅黑" pitchFamily="34" charset="-122"/>
                  <a:ea typeface="微软雅黑" pitchFamily="34" charset="-122"/>
                </a:rPr>
                <a:t>HF</a:t>
              </a:r>
            </a:p>
          </p:txBody>
        </p:sp>
        <p:sp>
          <p:nvSpPr>
            <p:cNvPr id="82" name="Text Box 90"/>
            <p:cNvSpPr txBox="1">
              <a:spLocks noChangeArrowheads="1"/>
            </p:cNvSpPr>
            <p:nvPr/>
          </p:nvSpPr>
          <p:spPr bwMode="auto">
            <a:xfrm>
              <a:off x="3204034" y="4194777"/>
              <a:ext cx="503843" cy="274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200" b="1">
                  <a:latin typeface="微软雅黑" pitchFamily="34" charset="-122"/>
                  <a:ea typeface="微软雅黑" pitchFamily="34" charset="-122"/>
                </a:rPr>
                <a:t>VHF</a:t>
              </a:r>
            </a:p>
          </p:txBody>
        </p:sp>
        <p:sp>
          <p:nvSpPr>
            <p:cNvPr id="83" name="Text Box 91"/>
            <p:cNvSpPr txBox="1">
              <a:spLocks noChangeArrowheads="1"/>
            </p:cNvSpPr>
            <p:nvPr/>
          </p:nvSpPr>
          <p:spPr bwMode="auto">
            <a:xfrm>
              <a:off x="3709298" y="4194777"/>
              <a:ext cx="513373" cy="274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200" b="1">
                  <a:latin typeface="微软雅黑" pitchFamily="34" charset="-122"/>
                  <a:ea typeface="微软雅黑" pitchFamily="34" charset="-122"/>
                </a:rPr>
                <a:t>UHF</a:t>
              </a:r>
            </a:p>
          </p:txBody>
        </p:sp>
        <p:sp>
          <p:nvSpPr>
            <p:cNvPr id="84" name="Text Box 92"/>
            <p:cNvSpPr txBox="1">
              <a:spLocks noChangeArrowheads="1"/>
            </p:cNvSpPr>
            <p:nvPr/>
          </p:nvSpPr>
          <p:spPr bwMode="auto">
            <a:xfrm>
              <a:off x="4210354" y="4194777"/>
              <a:ext cx="486370" cy="274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200" b="1">
                  <a:latin typeface="微软雅黑" pitchFamily="34" charset="-122"/>
                  <a:ea typeface="微软雅黑" pitchFamily="34" charset="-122"/>
                </a:rPr>
                <a:t>SHF</a:t>
              </a:r>
            </a:p>
          </p:txBody>
        </p:sp>
        <p:sp>
          <p:nvSpPr>
            <p:cNvPr id="85" name="Text Box 93"/>
            <p:cNvSpPr txBox="1">
              <a:spLocks noChangeArrowheads="1"/>
            </p:cNvSpPr>
            <p:nvPr/>
          </p:nvSpPr>
          <p:spPr bwMode="auto">
            <a:xfrm>
              <a:off x="4740879" y="4194777"/>
              <a:ext cx="481604" cy="274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200" b="1" dirty="0">
                  <a:latin typeface="微软雅黑" pitchFamily="34" charset="-122"/>
                  <a:ea typeface="微软雅黑" pitchFamily="34" charset="-122"/>
                </a:rPr>
                <a:t>EHF</a:t>
              </a:r>
            </a:p>
          </p:txBody>
        </p:sp>
        <p:sp>
          <p:nvSpPr>
            <p:cNvPr id="86" name="Text Box 94"/>
            <p:cNvSpPr txBox="1">
              <a:spLocks noChangeArrowheads="1"/>
            </p:cNvSpPr>
            <p:nvPr/>
          </p:nvSpPr>
          <p:spPr bwMode="auto">
            <a:xfrm>
              <a:off x="5254565" y="4194777"/>
              <a:ext cx="489547" cy="274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200" b="1">
                  <a:latin typeface="微软雅黑" pitchFamily="34" charset="-122"/>
                  <a:ea typeface="微软雅黑" pitchFamily="34" charset="-122"/>
                </a:rPr>
                <a:t>THF</a:t>
              </a:r>
            </a:p>
          </p:txBody>
        </p:sp>
        <p:sp>
          <p:nvSpPr>
            <p:cNvPr id="87" name="Text Box 95"/>
            <p:cNvSpPr txBox="1">
              <a:spLocks noChangeArrowheads="1"/>
            </p:cNvSpPr>
            <p:nvPr/>
          </p:nvSpPr>
          <p:spPr bwMode="auto">
            <a:xfrm>
              <a:off x="889046" y="4185290"/>
              <a:ext cx="487959" cy="274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200" b="1" dirty="0">
                  <a:solidFill>
                    <a:srgbClr val="0000FF"/>
                  </a:solidFill>
                  <a:latin typeface="微软雅黑" pitchFamily="34" charset="-122"/>
                  <a:ea typeface="微软雅黑" pitchFamily="34" charset="-122"/>
                </a:rPr>
                <a:t>波段</a:t>
              </a:r>
            </a:p>
          </p:txBody>
        </p:sp>
        <p:sp>
          <p:nvSpPr>
            <p:cNvPr id="88" name="Text Box 96"/>
            <p:cNvSpPr txBox="1">
              <a:spLocks noChangeArrowheads="1"/>
            </p:cNvSpPr>
            <p:nvPr/>
          </p:nvSpPr>
          <p:spPr bwMode="auto">
            <a:xfrm>
              <a:off x="1286836" y="2491130"/>
              <a:ext cx="6755809" cy="274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4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5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6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7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8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9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10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11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12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13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14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15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16</a:t>
              </a:r>
              <a:endParaRPr kumimoji="1" lang="en-US" altLang="zh-CN" sz="1200" b="1" dirty="0">
                <a:latin typeface="微软雅黑" pitchFamily="34" charset="-122"/>
                <a:ea typeface="微软雅黑" pitchFamily="34" charset="-122"/>
              </a:endParaRPr>
            </a:p>
          </p:txBody>
        </p:sp>
        <p:sp>
          <p:nvSpPr>
            <p:cNvPr id="89" name="Text Box 97"/>
            <p:cNvSpPr txBox="1">
              <a:spLocks noChangeArrowheads="1"/>
            </p:cNvSpPr>
            <p:nvPr/>
          </p:nvSpPr>
          <p:spPr bwMode="auto">
            <a:xfrm>
              <a:off x="1314906" y="1493557"/>
              <a:ext cx="6817758" cy="274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0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2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4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6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8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10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12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14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16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18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20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22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24</a:t>
              </a:r>
              <a:endParaRPr kumimoji="1" lang="en-US" altLang="zh-CN" sz="1200" b="1" dirty="0">
                <a:latin typeface="微软雅黑" pitchFamily="34" charset="-122"/>
                <a:ea typeface="微软雅黑" pitchFamily="34" charset="-122"/>
              </a:endParaRPr>
            </a:p>
          </p:txBody>
        </p:sp>
        <p:sp>
          <p:nvSpPr>
            <p:cNvPr id="90" name="Line 98"/>
            <p:cNvSpPr>
              <a:spLocks noChangeShapeType="1"/>
            </p:cNvSpPr>
            <p:nvPr/>
          </p:nvSpPr>
          <p:spPr bwMode="auto">
            <a:xfrm flipV="1">
              <a:off x="3897369" y="3817774"/>
              <a:ext cx="315791" cy="2591"/>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22" name="Text Box 29"/>
            <p:cNvSpPr txBox="1">
              <a:spLocks noChangeArrowheads="1"/>
            </p:cNvSpPr>
            <p:nvPr/>
          </p:nvSpPr>
          <p:spPr bwMode="auto">
            <a:xfrm>
              <a:off x="1730140" y="1783760"/>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200" b="1" dirty="0">
                  <a:latin typeface="微软雅黑" pitchFamily="34" charset="-122"/>
                  <a:ea typeface="微软雅黑" pitchFamily="34" charset="-122"/>
                </a:rPr>
                <a:t>低频</a:t>
              </a:r>
            </a:p>
          </p:txBody>
        </p:sp>
        <p:sp>
          <p:nvSpPr>
            <p:cNvPr id="96" name="Rectangle 20"/>
            <p:cNvSpPr>
              <a:spLocks noChangeArrowheads="1"/>
            </p:cNvSpPr>
            <p:nvPr/>
          </p:nvSpPr>
          <p:spPr bwMode="auto">
            <a:xfrm>
              <a:off x="4178552" y="3123651"/>
              <a:ext cx="808737" cy="186558"/>
            </a:xfrm>
            <a:prstGeom prst="rect">
              <a:avLst/>
            </a:prstGeom>
            <a:solidFill>
              <a:srgbClr val="B1D8F9"/>
            </a:solidFill>
            <a:ln>
              <a:noFill/>
            </a:ln>
            <a:effec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97" name="Text Box 46"/>
            <p:cNvSpPr txBox="1">
              <a:spLocks noChangeArrowheads="1"/>
            </p:cNvSpPr>
            <p:nvPr/>
          </p:nvSpPr>
          <p:spPr bwMode="auto">
            <a:xfrm>
              <a:off x="4186454" y="3107328"/>
              <a:ext cx="792932" cy="274477"/>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200" b="1" dirty="0">
                  <a:solidFill>
                    <a:srgbClr val="0000FF"/>
                  </a:solidFill>
                  <a:latin typeface="微软雅黑" pitchFamily="34" charset="-122"/>
                  <a:ea typeface="微软雅黑" pitchFamily="34" charset="-122"/>
                </a:rPr>
                <a:t>地面微波</a:t>
              </a:r>
            </a:p>
          </p:txBody>
        </p:sp>
        <p:sp>
          <p:nvSpPr>
            <p:cNvPr id="99" name="Rectangle 20"/>
            <p:cNvSpPr>
              <a:spLocks noChangeArrowheads="1"/>
            </p:cNvSpPr>
            <p:nvPr/>
          </p:nvSpPr>
          <p:spPr bwMode="auto">
            <a:xfrm>
              <a:off x="2620213" y="3082487"/>
              <a:ext cx="808737" cy="186558"/>
            </a:xfrm>
            <a:prstGeom prst="rect">
              <a:avLst/>
            </a:prstGeom>
            <a:solidFill>
              <a:srgbClr val="99FFCC"/>
            </a:solidFill>
            <a:ln>
              <a:noFill/>
            </a:ln>
            <a:effec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00" name="Text Box 46"/>
            <p:cNvSpPr txBox="1">
              <a:spLocks noChangeArrowheads="1"/>
            </p:cNvSpPr>
            <p:nvPr/>
          </p:nvSpPr>
          <p:spPr bwMode="auto">
            <a:xfrm>
              <a:off x="2662752" y="3031515"/>
              <a:ext cx="792932" cy="274477"/>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同轴电缆</a:t>
              </a:r>
            </a:p>
          </p:txBody>
        </p:sp>
        <p:sp>
          <p:nvSpPr>
            <p:cNvPr id="102" name="Rectangle 20"/>
            <p:cNvSpPr>
              <a:spLocks noChangeArrowheads="1"/>
            </p:cNvSpPr>
            <p:nvPr/>
          </p:nvSpPr>
          <p:spPr bwMode="auto">
            <a:xfrm>
              <a:off x="1651749" y="2805207"/>
              <a:ext cx="654233" cy="186558"/>
            </a:xfrm>
            <a:prstGeom prst="rect">
              <a:avLst/>
            </a:prstGeom>
            <a:solidFill>
              <a:srgbClr val="99FFCC"/>
            </a:solidFill>
            <a:ln>
              <a:noFill/>
            </a:ln>
            <a:effec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03" name="Text Box 46"/>
            <p:cNvSpPr txBox="1">
              <a:spLocks noChangeArrowheads="1"/>
            </p:cNvSpPr>
            <p:nvPr/>
          </p:nvSpPr>
          <p:spPr bwMode="auto">
            <a:xfrm>
              <a:off x="1702319" y="2771461"/>
              <a:ext cx="646331" cy="276999"/>
            </a:xfrm>
            <a:prstGeom prst="rect">
              <a:avLst/>
            </a:prstGeom>
            <a:noFill/>
            <a:ln>
              <a:noFill/>
            </a:ln>
            <a:effec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双绞线</a:t>
              </a:r>
            </a:p>
          </p:txBody>
        </p:sp>
        <p:sp>
          <p:nvSpPr>
            <p:cNvPr id="105" name="Rectangle 13"/>
            <p:cNvSpPr>
              <a:spLocks noChangeArrowheads="1"/>
            </p:cNvSpPr>
            <p:nvPr/>
          </p:nvSpPr>
          <p:spPr bwMode="auto">
            <a:xfrm>
              <a:off x="1636738" y="3392250"/>
              <a:ext cx="538949" cy="40234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06" name="Text Box 50"/>
            <p:cNvSpPr txBox="1">
              <a:spLocks noChangeArrowheads="1"/>
            </p:cNvSpPr>
            <p:nvPr/>
          </p:nvSpPr>
          <p:spPr bwMode="auto">
            <a:xfrm>
              <a:off x="1585989" y="3382992"/>
              <a:ext cx="640446" cy="420864"/>
            </a:xfrm>
            <a:prstGeom prst="rect">
              <a:avLst/>
            </a:prstGeom>
            <a:solidFill>
              <a:srgbClr val="99FFCC"/>
            </a:solidFill>
            <a:ln>
              <a:noFill/>
            </a:ln>
            <a:effectLst/>
          </p:spPr>
          <p:txBody>
            <a:bodyPr wrap="none">
              <a:spAutoFit/>
            </a:bodyPr>
            <a:lstStyle/>
            <a:p>
              <a:pPr algn="l">
                <a:lnSpc>
                  <a:spcPct val="90000"/>
                </a:lnSpc>
              </a:pPr>
              <a:r>
                <a:rPr kumimoji="1" lang="en-US" altLang="zh-CN" sz="1200" b="1" dirty="0">
                  <a:solidFill>
                    <a:srgbClr val="0000FF"/>
                  </a:solidFill>
                  <a:latin typeface="微软雅黑" pitchFamily="34" charset="-122"/>
                  <a:ea typeface="微软雅黑" pitchFamily="34" charset="-122"/>
                </a:rPr>
                <a:t>  </a:t>
              </a:r>
              <a:r>
                <a:rPr kumimoji="1" lang="zh-CN" altLang="en-US" sz="1200" b="1" dirty="0">
                  <a:solidFill>
                    <a:srgbClr val="0000FF"/>
                  </a:solidFill>
                  <a:latin typeface="微软雅黑" pitchFamily="34" charset="-122"/>
                  <a:ea typeface="微软雅黑" pitchFamily="34" charset="-122"/>
                </a:rPr>
                <a:t>海事</a:t>
              </a:r>
            </a:p>
            <a:p>
              <a:pPr algn="l">
                <a:lnSpc>
                  <a:spcPct val="90000"/>
                </a:lnSpc>
              </a:pPr>
              <a:r>
                <a:rPr kumimoji="1" lang="zh-CN" altLang="en-US" sz="1200" b="1" dirty="0">
                  <a:solidFill>
                    <a:srgbClr val="0000FF"/>
                  </a:solidFill>
                  <a:latin typeface="微软雅黑" pitchFamily="34" charset="-122"/>
                  <a:ea typeface="微软雅黑" pitchFamily="34" charset="-122"/>
                </a:rPr>
                <a:t>无线电</a:t>
              </a:r>
            </a:p>
          </p:txBody>
        </p:sp>
        <p:sp>
          <p:nvSpPr>
            <p:cNvPr id="108" name="Rectangle 13"/>
            <p:cNvSpPr>
              <a:spLocks noChangeArrowheads="1"/>
            </p:cNvSpPr>
            <p:nvPr/>
          </p:nvSpPr>
          <p:spPr bwMode="auto">
            <a:xfrm>
              <a:off x="2246485" y="3392250"/>
              <a:ext cx="538949" cy="40234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09" name="Text Box 50"/>
            <p:cNvSpPr txBox="1">
              <a:spLocks noChangeArrowheads="1"/>
            </p:cNvSpPr>
            <p:nvPr/>
          </p:nvSpPr>
          <p:spPr bwMode="auto">
            <a:xfrm>
              <a:off x="2195736" y="3382992"/>
              <a:ext cx="646331" cy="424732"/>
            </a:xfrm>
            <a:prstGeom prst="rect">
              <a:avLst/>
            </a:prstGeom>
            <a:solidFill>
              <a:srgbClr val="99FFCC"/>
            </a:solidFill>
            <a:ln>
              <a:noFill/>
            </a:ln>
            <a:effectLst/>
          </p:spPr>
          <p:txBody>
            <a:bodyPr wrap="none">
              <a:spAutoFit/>
            </a:bodyPr>
            <a:lstStyle/>
            <a:p>
              <a:pPr algn="ctr">
                <a:lnSpc>
                  <a:spcPct val="90000"/>
                </a:lnSpc>
              </a:pPr>
              <a:r>
                <a:rPr kumimoji="1" lang="zh-CN" altLang="en-US" sz="1200" b="1" dirty="0">
                  <a:solidFill>
                    <a:srgbClr val="0000FF"/>
                  </a:solidFill>
                  <a:latin typeface="微软雅黑" pitchFamily="34" charset="-122"/>
                  <a:ea typeface="微软雅黑" pitchFamily="34" charset="-122"/>
                </a:rPr>
                <a:t>调幅</a:t>
              </a:r>
              <a:endParaRPr kumimoji="1" lang="en-US" altLang="zh-CN" sz="1200" b="1" dirty="0">
                <a:solidFill>
                  <a:srgbClr val="0000FF"/>
                </a:solidFill>
                <a:latin typeface="微软雅黑" pitchFamily="34" charset="-122"/>
                <a:ea typeface="微软雅黑" pitchFamily="34" charset="-122"/>
              </a:endParaRPr>
            </a:p>
            <a:p>
              <a:pPr algn="ctr">
                <a:lnSpc>
                  <a:spcPct val="90000"/>
                </a:lnSpc>
              </a:pPr>
              <a:r>
                <a:rPr kumimoji="1" lang="zh-CN" altLang="en-US" sz="1200" b="1" dirty="0">
                  <a:solidFill>
                    <a:srgbClr val="0000FF"/>
                  </a:solidFill>
                  <a:latin typeface="微软雅黑" pitchFamily="34" charset="-122"/>
                  <a:ea typeface="微软雅黑" pitchFamily="34" charset="-122"/>
                </a:rPr>
                <a:t>无线电</a:t>
              </a:r>
            </a:p>
          </p:txBody>
        </p:sp>
        <p:sp>
          <p:nvSpPr>
            <p:cNvPr id="114" name="Rectangle 13"/>
            <p:cNvSpPr>
              <a:spLocks noChangeArrowheads="1"/>
            </p:cNvSpPr>
            <p:nvPr/>
          </p:nvSpPr>
          <p:spPr bwMode="auto">
            <a:xfrm>
              <a:off x="3799407" y="3354150"/>
              <a:ext cx="538949" cy="40234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15" name="Text Box 50"/>
            <p:cNvSpPr txBox="1">
              <a:spLocks noChangeArrowheads="1"/>
            </p:cNvSpPr>
            <p:nvPr/>
          </p:nvSpPr>
          <p:spPr bwMode="auto">
            <a:xfrm>
              <a:off x="3748658" y="3344892"/>
              <a:ext cx="646331" cy="424732"/>
            </a:xfrm>
            <a:prstGeom prst="rect">
              <a:avLst/>
            </a:prstGeom>
            <a:solidFill>
              <a:srgbClr val="B1D8F9"/>
            </a:solidFill>
            <a:ln>
              <a:noFill/>
            </a:ln>
            <a:effectLst/>
          </p:spPr>
          <p:txBody>
            <a:bodyPr wrap="none">
              <a:spAutoFit/>
            </a:bodyPr>
            <a:lstStyle/>
            <a:p>
              <a:pPr algn="ctr">
                <a:lnSpc>
                  <a:spcPct val="90000"/>
                </a:lnSpc>
              </a:pPr>
              <a:r>
                <a:rPr kumimoji="1" lang="zh-CN" altLang="en-US" sz="1200" b="1" dirty="0">
                  <a:solidFill>
                    <a:srgbClr val="0000FF"/>
                  </a:solidFill>
                  <a:latin typeface="微软雅黑" pitchFamily="34" charset="-122"/>
                  <a:ea typeface="微软雅黑" pitchFamily="34" charset="-122"/>
                </a:rPr>
                <a:t>移动</a:t>
              </a:r>
            </a:p>
            <a:p>
              <a:pPr algn="ctr">
                <a:lnSpc>
                  <a:spcPct val="90000"/>
                </a:lnSpc>
              </a:pPr>
              <a:r>
                <a:rPr kumimoji="1" lang="zh-CN" altLang="en-US" sz="1200" b="1" dirty="0">
                  <a:solidFill>
                    <a:srgbClr val="0000FF"/>
                  </a:solidFill>
                  <a:latin typeface="微软雅黑" pitchFamily="34" charset="-122"/>
                  <a:ea typeface="微软雅黑" pitchFamily="34" charset="-122"/>
                </a:rPr>
                <a:t>无线电</a:t>
              </a:r>
            </a:p>
          </p:txBody>
        </p:sp>
        <p:sp>
          <p:nvSpPr>
            <p:cNvPr id="117" name="矩形 116"/>
            <p:cNvSpPr/>
            <p:nvPr/>
          </p:nvSpPr>
          <p:spPr>
            <a:xfrm>
              <a:off x="4133850" y="2805207"/>
              <a:ext cx="381000" cy="206734"/>
            </a:xfrm>
            <a:prstGeom prst="rect">
              <a:avLst/>
            </a:prstGeom>
            <a:solidFill>
              <a:srgbClr val="B1D8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Text Box 44"/>
            <p:cNvSpPr txBox="1">
              <a:spLocks noChangeArrowheads="1"/>
            </p:cNvSpPr>
            <p:nvPr/>
          </p:nvSpPr>
          <p:spPr bwMode="auto">
            <a:xfrm>
              <a:off x="4089718" y="2797053"/>
              <a:ext cx="487959" cy="274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200" b="1" dirty="0">
                  <a:solidFill>
                    <a:srgbClr val="0000FF"/>
                  </a:solidFill>
                  <a:latin typeface="微软雅黑" pitchFamily="34" charset="-122"/>
                  <a:ea typeface="微软雅黑" pitchFamily="34" charset="-122"/>
                </a:rPr>
                <a:t>卫星</a:t>
              </a:r>
            </a:p>
          </p:txBody>
        </p:sp>
        <p:sp>
          <p:nvSpPr>
            <p:cNvPr id="120" name="矩形 119"/>
            <p:cNvSpPr/>
            <p:nvPr/>
          </p:nvSpPr>
          <p:spPr>
            <a:xfrm>
              <a:off x="3608392" y="3868717"/>
              <a:ext cx="381000" cy="206734"/>
            </a:xfrm>
            <a:prstGeom prst="rect">
              <a:avLst/>
            </a:prstGeom>
            <a:solidFill>
              <a:srgbClr val="B1D8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Text Box 44"/>
            <p:cNvSpPr txBox="1">
              <a:spLocks noChangeArrowheads="1"/>
            </p:cNvSpPr>
            <p:nvPr/>
          </p:nvSpPr>
          <p:spPr bwMode="auto">
            <a:xfrm>
              <a:off x="3555551" y="3877021"/>
              <a:ext cx="487959" cy="274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电视</a:t>
              </a:r>
            </a:p>
          </p:txBody>
        </p:sp>
        <p:sp>
          <p:nvSpPr>
            <p:cNvPr id="23" name="Line 17"/>
            <p:cNvSpPr>
              <a:spLocks noChangeShapeType="1"/>
            </p:cNvSpPr>
            <p:nvPr/>
          </p:nvSpPr>
          <p:spPr bwMode="auto">
            <a:xfrm>
              <a:off x="3542281" y="2758013"/>
              <a:ext cx="0" cy="59613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12" name="Text Box 50"/>
            <p:cNvSpPr txBox="1">
              <a:spLocks noChangeArrowheads="1"/>
            </p:cNvSpPr>
            <p:nvPr/>
          </p:nvSpPr>
          <p:spPr bwMode="auto">
            <a:xfrm>
              <a:off x="3137206" y="3344892"/>
              <a:ext cx="646331" cy="424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kumimoji="1" lang="en-US" altLang="zh-CN" sz="1200" b="1" dirty="0">
                  <a:solidFill>
                    <a:srgbClr val="0000FF"/>
                  </a:solidFill>
                  <a:latin typeface="微软雅黑" pitchFamily="34" charset="-122"/>
                  <a:ea typeface="微软雅黑" pitchFamily="34" charset="-122"/>
                </a:rPr>
                <a:t> </a:t>
              </a:r>
              <a:r>
                <a:rPr kumimoji="1" lang="zh-CN" altLang="en-US" sz="1200" b="1" dirty="0">
                  <a:solidFill>
                    <a:srgbClr val="0000FF"/>
                  </a:solidFill>
                  <a:latin typeface="微软雅黑" pitchFamily="34" charset="-122"/>
                  <a:ea typeface="微软雅黑" pitchFamily="34" charset="-122"/>
                </a:rPr>
                <a:t>调频</a:t>
              </a:r>
            </a:p>
            <a:p>
              <a:pPr algn="ctr">
                <a:lnSpc>
                  <a:spcPct val="90000"/>
                </a:lnSpc>
              </a:pPr>
              <a:r>
                <a:rPr kumimoji="1" lang="zh-CN" altLang="en-US" sz="1200" b="1" dirty="0">
                  <a:solidFill>
                    <a:srgbClr val="0000FF"/>
                  </a:solidFill>
                  <a:latin typeface="微软雅黑" pitchFamily="34" charset="-122"/>
                  <a:ea typeface="微软雅黑" pitchFamily="34" charset="-122"/>
                </a:rPr>
                <a:t>无线电</a:t>
              </a:r>
            </a:p>
          </p:txBody>
        </p:sp>
        <p:sp>
          <p:nvSpPr>
            <p:cNvPr id="116" name="Line 17"/>
            <p:cNvSpPr>
              <a:spLocks noChangeShapeType="1"/>
            </p:cNvSpPr>
            <p:nvPr/>
          </p:nvSpPr>
          <p:spPr bwMode="auto">
            <a:xfrm>
              <a:off x="3542281" y="3756499"/>
              <a:ext cx="0" cy="42879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45" name="Line 43"/>
            <p:cNvSpPr>
              <a:spLocks noChangeShapeType="1"/>
            </p:cNvSpPr>
            <p:nvPr/>
          </p:nvSpPr>
          <p:spPr bwMode="auto">
            <a:xfrm>
              <a:off x="1988592" y="3316395"/>
              <a:ext cx="2021057" cy="0"/>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grpSp>
    </p:spTree>
    <p:extLst>
      <p:ext uri="{BB962C8B-B14F-4D97-AF65-F5344CB8AC3E}">
        <p14:creationId xmlns:p14="http://schemas.microsoft.com/office/powerpoint/2010/main" val="29531880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sz="quarter" idx="10"/>
          </p:nvPr>
        </p:nvSpPr>
        <p:spPr>
          <a:xfrm>
            <a:off x="466343" y="900000"/>
            <a:ext cx="8129017" cy="3376990"/>
          </a:xfrm>
        </p:spPr>
        <p:txBody>
          <a:bodyPr/>
          <a:lstStyle/>
          <a:p>
            <a:r>
              <a:rPr lang="zh-CN" altLang="en-US" dirty="0"/>
              <a:t>最古老但又最常用的传输媒体。</a:t>
            </a:r>
            <a:endParaRPr lang="en-US" altLang="zh-CN" dirty="0"/>
          </a:p>
          <a:p>
            <a:r>
              <a:rPr lang="zh-CN" altLang="en-US" dirty="0"/>
              <a:t>把两根互相绝缘的铜导线并排放在一起，然后用规则的方法绞合 </a:t>
            </a:r>
            <a:r>
              <a:rPr lang="en-US" altLang="zh-CN" dirty="0"/>
              <a:t>(twist) </a:t>
            </a:r>
            <a:r>
              <a:rPr lang="zh-CN" altLang="en-US" dirty="0"/>
              <a:t>起来就构成了双绞线。</a:t>
            </a:r>
            <a:endParaRPr lang="en-US" altLang="zh-CN" dirty="0"/>
          </a:p>
          <a:p>
            <a:r>
              <a:rPr lang="zh-CN" altLang="zh-CN" dirty="0"/>
              <a:t>绞合度越高</a:t>
            </a:r>
            <a:r>
              <a:rPr lang="zh-CN" altLang="en-US" dirty="0"/>
              <a:t>，可用的</a:t>
            </a:r>
            <a:r>
              <a:rPr lang="zh-CN" altLang="zh-CN" dirty="0"/>
              <a:t>数据</a:t>
            </a:r>
            <a:r>
              <a:rPr lang="zh-CN" altLang="en-US" dirty="0"/>
              <a:t>传输</a:t>
            </a:r>
            <a:r>
              <a:rPr lang="zh-CN" altLang="zh-CN" dirty="0"/>
              <a:t>率</a:t>
            </a:r>
            <a:r>
              <a:rPr lang="zh-CN" altLang="en-US" dirty="0"/>
              <a:t>越高</a:t>
            </a:r>
            <a:r>
              <a:rPr lang="zh-CN" altLang="zh-CN" dirty="0"/>
              <a:t>。</a:t>
            </a:r>
            <a:endParaRPr lang="zh-CN" altLang="en-US" dirty="0"/>
          </a:p>
          <a:p>
            <a:r>
              <a:rPr lang="en-US" altLang="zh-CN" dirty="0"/>
              <a:t>2 </a:t>
            </a:r>
            <a:r>
              <a:rPr lang="zh-CN" altLang="en-US" dirty="0"/>
              <a:t>大类：</a:t>
            </a:r>
            <a:endParaRPr lang="en-US" altLang="zh-CN" dirty="0"/>
          </a:p>
          <a:p>
            <a:pPr lvl="1"/>
            <a:r>
              <a:rPr lang="zh-CN" altLang="en-US" dirty="0"/>
              <a:t>无屏蔽双绞线 </a:t>
            </a:r>
            <a:r>
              <a:rPr lang="en-US" altLang="zh-CN" dirty="0"/>
              <a:t>UTP</a:t>
            </a:r>
            <a:r>
              <a:rPr lang="zh-CN" altLang="en-US" dirty="0"/>
              <a:t>。</a:t>
            </a:r>
          </a:p>
          <a:p>
            <a:pPr lvl="1"/>
            <a:r>
              <a:rPr lang="zh-CN" altLang="en-US" dirty="0"/>
              <a:t>屏蔽双绞线 </a:t>
            </a:r>
            <a:r>
              <a:rPr lang="en-US" altLang="zh-CN" dirty="0"/>
              <a:t>STP</a:t>
            </a:r>
            <a:r>
              <a:rPr lang="zh-CN" altLang="en-US" dirty="0"/>
              <a:t>。</a:t>
            </a:r>
            <a:endParaRPr lang="en-US" altLang="zh-CN" dirty="0"/>
          </a:p>
          <a:p>
            <a:pPr lvl="1"/>
            <a:endParaRPr lang="zh-CN" altLang="en-US" dirty="0"/>
          </a:p>
        </p:txBody>
      </p:sp>
      <p:sp>
        <p:nvSpPr>
          <p:cNvPr id="4" name="文本占位符 3"/>
          <p:cNvSpPr>
            <a:spLocks noGrp="1"/>
          </p:cNvSpPr>
          <p:nvPr>
            <p:ph type="body" sz="quarter" idx="11"/>
          </p:nvPr>
        </p:nvSpPr>
        <p:spPr>
          <a:xfrm>
            <a:off x="1332000" y="360000"/>
            <a:ext cx="6480000" cy="354012"/>
          </a:xfrm>
        </p:spPr>
        <p:txBody>
          <a:bodyPr>
            <a:normAutofit fontScale="92500" lnSpcReduction="10000"/>
          </a:bodyPr>
          <a:lstStyle/>
          <a:p>
            <a:r>
              <a:rPr lang="en-US" altLang="zh-CN" dirty="0"/>
              <a:t>2.3.1  </a:t>
            </a:r>
            <a:r>
              <a:rPr lang="zh-CN" altLang="en-US" dirty="0"/>
              <a:t>导引型传输媒体</a:t>
            </a:r>
          </a:p>
        </p:txBody>
      </p:sp>
      <p:sp>
        <p:nvSpPr>
          <p:cNvPr id="6" name="AutoShape 5"/>
          <p:cNvSpPr>
            <a:spLocks noChangeArrowheads="1"/>
          </p:cNvSpPr>
          <p:nvPr/>
        </p:nvSpPr>
        <p:spPr bwMode="auto">
          <a:xfrm>
            <a:off x="466344" y="1229662"/>
            <a:ext cx="812901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7" name="Rectangle 6"/>
          <p:cNvSpPr>
            <a:spLocks noChangeArrowheads="1"/>
          </p:cNvSpPr>
          <p:nvPr/>
        </p:nvSpPr>
        <p:spPr bwMode="auto">
          <a:xfrm>
            <a:off x="3858990" y="1196451"/>
            <a:ext cx="126348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 </a:t>
            </a:r>
            <a:r>
              <a:rPr lang="zh-CN" altLang="en-US" sz="2000" b="1" dirty="0">
                <a:solidFill>
                  <a:schemeClr val="bg1"/>
                </a:solidFill>
                <a:latin typeface="微软雅黑" pitchFamily="34" charset="-122"/>
                <a:ea typeface="微软雅黑" pitchFamily="34" charset="-122"/>
              </a:rPr>
              <a:t>双绞线</a:t>
            </a:r>
          </a:p>
        </p:txBody>
      </p:sp>
      <p:grpSp>
        <p:nvGrpSpPr>
          <p:cNvPr id="8" name="组合 7"/>
          <p:cNvGrpSpPr/>
          <p:nvPr/>
        </p:nvGrpSpPr>
        <p:grpSpPr>
          <a:xfrm>
            <a:off x="5215114" y="2659365"/>
            <a:ext cx="3310578" cy="1390121"/>
            <a:chOff x="2533235" y="4175362"/>
            <a:chExt cx="4052229" cy="1421285"/>
          </a:xfrm>
        </p:grpSpPr>
        <p:pic>
          <p:nvPicPr>
            <p:cNvPr id="9" name="Picture 19" descr="3UTP"/>
            <p:cNvPicPr>
              <a:picLocks noChangeAspect="1" noChangeArrowheads="1"/>
            </p:cNvPicPr>
            <p:nvPr/>
          </p:nvPicPr>
          <p:blipFill>
            <a:blip r:embed="rId2" cstate="print">
              <a:extLst>
                <a:ext uri="{28A0092B-C50C-407E-A947-70E740481C1C}">
                  <a14:useLocalDpi xmlns:a14="http://schemas.microsoft.com/office/drawing/2010/main" val="0"/>
                </a:ext>
              </a:extLst>
            </a:blip>
            <a:srcRect l="2864" t="5208" r="50562"/>
            <a:stretch>
              <a:fillRect/>
            </a:stretch>
          </p:blipFill>
          <p:spPr bwMode="auto">
            <a:xfrm>
              <a:off x="3446330" y="4175362"/>
              <a:ext cx="2581275" cy="433387"/>
            </a:xfrm>
            <a:prstGeom prst="rect">
              <a:avLst/>
            </a:prstGeom>
            <a:noFill/>
            <a:ln w="19050">
              <a:solidFill>
                <a:srgbClr val="00B050"/>
              </a:solidFill>
              <a:miter lim="800000"/>
              <a:headEnd/>
              <a:tailEnd/>
            </a:ln>
            <a:extLst>
              <a:ext uri="{909E8E84-426E-40DD-AFC4-6F175D3DCCD1}">
                <a14:hiddenFill xmlns:a14="http://schemas.microsoft.com/office/drawing/2010/main">
                  <a:solidFill>
                    <a:srgbClr val="FFFFFF"/>
                  </a:solidFill>
                </a14:hiddenFill>
              </a:ext>
            </a:extLst>
          </p:spPr>
        </p:pic>
        <p:pic>
          <p:nvPicPr>
            <p:cNvPr id="10" name="Picture 20" descr="3UTP"/>
            <p:cNvPicPr>
              <a:picLocks noChangeAspect="1" noChangeArrowheads="1"/>
            </p:cNvPicPr>
            <p:nvPr/>
          </p:nvPicPr>
          <p:blipFill>
            <a:blip r:embed="rId2" cstate="print">
              <a:extLst>
                <a:ext uri="{28A0092B-C50C-407E-A947-70E740481C1C}">
                  <a14:useLocalDpi xmlns:a14="http://schemas.microsoft.com/office/drawing/2010/main" val="0"/>
                </a:ext>
              </a:extLst>
            </a:blip>
            <a:srcRect l="50095" r="3209"/>
            <a:stretch>
              <a:fillRect/>
            </a:stretch>
          </p:blipFill>
          <p:spPr bwMode="auto">
            <a:xfrm>
              <a:off x="3438392" y="4771387"/>
              <a:ext cx="2587625" cy="457200"/>
            </a:xfrm>
            <a:prstGeom prst="rect">
              <a:avLst/>
            </a:prstGeom>
            <a:noFill/>
            <a:ln w="19050">
              <a:solidFill>
                <a:srgbClr val="00B050"/>
              </a:solidFill>
              <a:miter lim="800000"/>
              <a:headEnd/>
              <a:tailEnd/>
            </a:ln>
            <a:extLst>
              <a:ext uri="{909E8E84-426E-40DD-AFC4-6F175D3DCCD1}">
                <a14:hiddenFill xmlns:a14="http://schemas.microsoft.com/office/drawing/2010/main">
                  <a:solidFill>
                    <a:srgbClr val="FFFFFF"/>
                  </a:solidFill>
                </a14:hiddenFill>
              </a:ext>
            </a:extLst>
          </p:spPr>
        </p:pic>
        <p:sp>
          <p:nvSpPr>
            <p:cNvPr id="11" name="Text Box 22"/>
            <p:cNvSpPr txBox="1">
              <a:spLocks noChangeArrowheads="1"/>
            </p:cNvSpPr>
            <p:nvPr/>
          </p:nvSpPr>
          <p:spPr bwMode="auto">
            <a:xfrm>
              <a:off x="2533235" y="4207455"/>
              <a:ext cx="928414" cy="365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sz="1400" b="1" dirty="0">
                  <a:solidFill>
                    <a:srgbClr val="C00000"/>
                  </a:solidFill>
                  <a:latin typeface="微软雅黑" pitchFamily="34" charset="-122"/>
                  <a:ea typeface="微软雅黑" pitchFamily="34" charset="-122"/>
                </a:rPr>
                <a:t>3 </a:t>
              </a:r>
              <a:r>
                <a:rPr lang="zh-CN" altLang="en-US" sz="1400" b="1" dirty="0">
                  <a:solidFill>
                    <a:srgbClr val="C00000"/>
                  </a:solidFill>
                  <a:latin typeface="微软雅黑" pitchFamily="34" charset="-122"/>
                  <a:ea typeface="微软雅黑" pitchFamily="34" charset="-122"/>
                </a:rPr>
                <a:t>类线</a:t>
              </a:r>
            </a:p>
          </p:txBody>
        </p:sp>
        <p:sp>
          <p:nvSpPr>
            <p:cNvPr id="12" name="Text Box 23"/>
            <p:cNvSpPr txBox="1">
              <a:spLocks noChangeArrowheads="1"/>
            </p:cNvSpPr>
            <p:nvPr/>
          </p:nvSpPr>
          <p:spPr bwMode="auto">
            <a:xfrm>
              <a:off x="2560327" y="4824142"/>
              <a:ext cx="928414" cy="365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sz="1400" b="1" dirty="0">
                  <a:solidFill>
                    <a:srgbClr val="C00000"/>
                  </a:solidFill>
                  <a:latin typeface="微软雅黑" pitchFamily="34" charset="-122"/>
                  <a:ea typeface="微软雅黑" pitchFamily="34" charset="-122"/>
                </a:rPr>
                <a:t>5 </a:t>
              </a:r>
              <a:r>
                <a:rPr lang="zh-CN" altLang="en-US" sz="1400" b="1" dirty="0">
                  <a:solidFill>
                    <a:srgbClr val="C00000"/>
                  </a:solidFill>
                  <a:latin typeface="微软雅黑" pitchFamily="34" charset="-122"/>
                  <a:ea typeface="微软雅黑" pitchFamily="34" charset="-122"/>
                </a:rPr>
                <a:t>类线</a:t>
              </a:r>
            </a:p>
          </p:txBody>
        </p:sp>
        <p:sp>
          <p:nvSpPr>
            <p:cNvPr id="13" name="Text Box 24"/>
            <p:cNvSpPr txBox="1">
              <a:spLocks noChangeArrowheads="1"/>
            </p:cNvSpPr>
            <p:nvPr/>
          </p:nvSpPr>
          <p:spPr bwMode="auto">
            <a:xfrm>
              <a:off x="2877923" y="5231644"/>
              <a:ext cx="3707541" cy="365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r>
                <a:rPr lang="zh-CN" altLang="zh-CN" sz="1400" b="1" dirty="0">
                  <a:latin typeface="微软雅黑" pitchFamily="34" charset="-122"/>
                  <a:ea typeface="微软雅黑" pitchFamily="34" charset="-122"/>
                </a:rPr>
                <a:t>不同的绞合度的双绞线</a:t>
              </a:r>
              <a:endParaRPr lang="en-US" altLang="zh-CN" sz="1400" b="1" dirty="0">
                <a:latin typeface="微软雅黑" pitchFamily="34" charset="-122"/>
                <a:ea typeface="微软雅黑" pitchFamily="34" charset="-122"/>
              </a:endParaRPr>
            </a:p>
          </p:txBody>
        </p:sp>
      </p:grpSp>
    </p:spTree>
    <p:extLst>
      <p:ext uri="{BB962C8B-B14F-4D97-AF65-F5344CB8AC3E}">
        <p14:creationId xmlns:p14="http://schemas.microsoft.com/office/powerpoint/2010/main" val="7062404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0"/>
          </p:nvPr>
        </p:nvSpPr>
        <p:spPr>
          <a:xfrm>
            <a:off x="466343" y="900000"/>
            <a:ext cx="8129017" cy="3376990"/>
          </a:xfrm>
        </p:spPr>
        <p:txBody>
          <a:bodyPr/>
          <a:lstStyle/>
          <a:p>
            <a:r>
              <a:rPr lang="zh-CN" altLang="en-US" dirty="0"/>
              <a:t>无屏蔽双绞线 </a:t>
            </a:r>
            <a:r>
              <a:rPr lang="en-US" altLang="zh-CN" dirty="0"/>
              <a:t>UTP (Unshielded Twisted Pair) </a:t>
            </a:r>
            <a:r>
              <a:rPr lang="zh-CN" altLang="en-US" dirty="0"/>
              <a:t>：</a:t>
            </a:r>
            <a:endParaRPr lang="en-US" altLang="zh-CN" dirty="0"/>
          </a:p>
          <a:p>
            <a:pPr lvl="1"/>
            <a:r>
              <a:rPr lang="zh-CN" altLang="en-US" dirty="0"/>
              <a:t>无屏蔽层。</a:t>
            </a:r>
            <a:endParaRPr lang="en-US" altLang="zh-CN" dirty="0"/>
          </a:p>
          <a:p>
            <a:pPr lvl="1"/>
            <a:r>
              <a:rPr lang="zh-CN" altLang="en-US" dirty="0"/>
              <a:t>价格较便宜。</a:t>
            </a:r>
            <a:endParaRPr lang="en-US" altLang="zh-CN" dirty="0"/>
          </a:p>
          <a:p>
            <a:endParaRPr lang="en-US" altLang="zh-CN" dirty="0"/>
          </a:p>
          <a:p>
            <a:endParaRPr lang="en-US" altLang="zh-CN" dirty="0"/>
          </a:p>
          <a:p>
            <a:r>
              <a:rPr lang="zh-CN" altLang="en-US" dirty="0"/>
              <a:t>屏蔽双绞线 </a:t>
            </a:r>
            <a:r>
              <a:rPr lang="en-US" altLang="zh-CN" dirty="0"/>
              <a:t>STP (Shielded Twisted Pair)</a:t>
            </a:r>
            <a:r>
              <a:rPr lang="zh-CN" altLang="en-US" dirty="0"/>
              <a:t>：</a:t>
            </a:r>
            <a:endParaRPr lang="en-US" altLang="zh-CN" dirty="0"/>
          </a:p>
          <a:p>
            <a:pPr lvl="1"/>
            <a:r>
              <a:rPr lang="zh-CN" altLang="en-US" dirty="0"/>
              <a:t>带屏蔽层。</a:t>
            </a:r>
            <a:endParaRPr lang="en-US" altLang="zh-CN" dirty="0"/>
          </a:p>
          <a:p>
            <a:pPr lvl="1"/>
            <a:r>
              <a:rPr lang="zh-CN" altLang="en-US" dirty="0"/>
              <a:t>都必须有接地线。</a:t>
            </a:r>
          </a:p>
        </p:txBody>
      </p:sp>
      <p:sp>
        <p:nvSpPr>
          <p:cNvPr id="5" name="文本占位符 4"/>
          <p:cNvSpPr>
            <a:spLocks noGrp="1"/>
          </p:cNvSpPr>
          <p:nvPr>
            <p:ph type="body" sz="quarter" idx="11"/>
          </p:nvPr>
        </p:nvSpPr>
        <p:spPr>
          <a:xfrm>
            <a:off x="1332000" y="360000"/>
            <a:ext cx="6480000" cy="354012"/>
          </a:xfrm>
        </p:spPr>
        <p:txBody>
          <a:bodyPr>
            <a:normAutofit fontScale="92500" lnSpcReduction="10000"/>
          </a:bodyPr>
          <a:lstStyle/>
          <a:p>
            <a:r>
              <a:rPr lang="en-US" altLang="zh-CN" dirty="0"/>
              <a:t>1. </a:t>
            </a:r>
            <a:r>
              <a:rPr lang="zh-CN" altLang="en-US" dirty="0"/>
              <a:t>双绞线</a:t>
            </a:r>
          </a:p>
        </p:txBody>
      </p:sp>
      <p:grpSp>
        <p:nvGrpSpPr>
          <p:cNvPr id="19" name="组合 18"/>
          <p:cNvGrpSpPr/>
          <p:nvPr/>
        </p:nvGrpSpPr>
        <p:grpSpPr>
          <a:xfrm>
            <a:off x="3808165" y="1404311"/>
            <a:ext cx="2199152" cy="1137360"/>
            <a:chOff x="6084727" y="1481545"/>
            <a:chExt cx="2199152" cy="1223138"/>
          </a:xfrm>
        </p:grpSpPr>
        <p:pic>
          <p:nvPicPr>
            <p:cNvPr id="7" name="图片 19" descr="UTP.jpg"/>
            <p:cNvPicPr>
              <a:picLocks noChangeAspect="1"/>
            </p:cNvPicPr>
            <p:nvPr/>
          </p:nvPicPr>
          <p:blipFill>
            <a:blip r:embed="rId2" cstate="print"/>
            <a:srcRect l="18561" t="31329" r="43436" b="33200"/>
            <a:stretch>
              <a:fillRect/>
            </a:stretch>
          </p:blipFill>
          <p:spPr bwMode="auto">
            <a:xfrm>
              <a:off x="6638866" y="1619738"/>
              <a:ext cx="1645013" cy="862507"/>
            </a:xfrm>
            <a:prstGeom prst="rect">
              <a:avLst/>
            </a:prstGeom>
            <a:noFill/>
            <a:ln w="9525">
              <a:noFill/>
              <a:miter lim="800000"/>
              <a:headEnd/>
              <a:tailEnd/>
            </a:ln>
          </p:spPr>
        </p:pic>
        <p:sp>
          <p:nvSpPr>
            <p:cNvPr id="8" name="Text Box 13"/>
            <p:cNvSpPr txBox="1">
              <a:spLocks noChangeArrowheads="1"/>
            </p:cNvSpPr>
            <p:nvPr/>
          </p:nvSpPr>
          <p:spPr bwMode="auto">
            <a:xfrm>
              <a:off x="6140808" y="1481545"/>
              <a:ext cx="1441420" cy="330989"/>
            </a:xfrm>
            <a:prstGeom prst="rect">
              <a:avLst/>
            </a:prstGeom>
            <a:noFill/>
            <a:ln w="9525">
              <a:noFill/>
              <a:miter lim="800000"/>
              <a:headEnd/>
              <a:tailEnd/>
            </a:ln>
          </p:spPr>
          <p:txBody>
            <a:bodyPr wrap="none">
              <a:spAutoFit/>
            </a:bodyPr>
            <a:lstStyle/>
            <a:p>
              <a:r>
                <a:rPr lang="zh-CN" altLang="en-US" sz="1400" b="1" dirty="0">
                  <a:solidFill>
                    <a:srgbClr val="0000FF"/>
                  </a:solidFill>
                  <a:latin typeface="微软雅黑" panose="020B0503020204020204" pitchFamily="34" charset="-122"/>
                  <a:ea typeface="微软雅黑" panose="020B0503020204020204" pitchFamily="34" charset="-122"/>
                </a:rPr>
                <a:t>带绝缘层的铜线</a:t>
              </a:r>
            </a:p>
          </p:txBody>
        </p:sp>
        <p:cxnSp>
          <p:nvCxnSpPr>
            <p:cNvPr id="9" name="直接连接符 21"/>
            <p:cNvCxnSpPr>
              <a:cxnSpLocks noChangeShapeType="1"/>
              <a:stCxn id="6" idx="0"/>
            </p:cNvCxnSpPr>
            <p:nvPr/>
          </p:nvCxnSpPr>
          <p:spPr bwMode="auto">
            <a:xfrm flipV="1">
              <a:off x="6611777" y="2196648"/>
              <a:ext cx="205611" cy="200216"/>
            </a:xfrm>
            <a:prstGeom prst="line">
              <a:avLst/>
            </a:prstGeom>
            <a:noFill/>
            <a:ln w="19050" algn="ctr">
              <a:solidFill>
                <a:schemeClr val="tx1"/>
              </a:solidFill>
              <a:round/>
              <a:headEnd type="none"/>
              <a:tailEnd type="triangle" w="sm" len="lg"/>
            </a:ln>
          </p:spPr>
        </p:cxnSp>
        <p:cxnSp>
          <p:nvCxnSpPr>
            <p:cNvPr id="10" name="直接连接符 22"/>
            <p:cNvCxnSpPr>
              <a:cxnSpLocks noChangeShapeType="1"/>
            </p:cNvCxnSpPr>
            <p:nvPr/>
          </p:nvCxnSpPr>
          <p:spPr bwMode="auto">
            <a:xfrm>
              <a:off x="7067556" y="1787676"/>
              <a:ext cx="227062" cy="185576"/>
            </a:xfrm>
            <a:prstGeom prst="line">
              <a:avLst/>
            </a:prstGeom>
            <a:noFill/>
            <a:ln w="19050" algn="ctr">
              <a:solidFill>
                <a:schemeClr val="tx1"/>
              </a:solidFill>
              <a:round/>
              <a:headEnd type="none" w="sm" len="lg"/>
              <a:tailEnd type="triangle" w="sm" len="lg"/>
            </a:ln>
          </p:spPr>
        </p:cxnSp>
        <p:sp>
          <p:nvSpPr>
            <p:cNvPr id="6" name="Text Box 9"/>
            <p:cNvSpPr txBox="1">
              <a:spLocks noChangeArrowheads="1"/>
            </p:cNvSpPr>
            <p:nvPr/>
          </p:nvSpPr>
          <p:spPr bwMode="auto">
            <a:xfrm>
              <a:off x="6084727" y="2396864"/>
              <a:ext cx="1054100" cy="307819"/>
            </a:xfrm>
            <a:prstGeom prst="rect">
              <a:avLst/>
            </a:prstGeom>
            <a:noFill/>
            <a:ln w="9525">
              <a:noFill/>
              <a:miter lim="800000"/>
              <a:headEnd/>
              <a:tailEnd/>
            </a:ln>
          </p:spPr>
          <p:txBody>
            <a:bodyPr>
              <a:spAutoFit/>
            </a:bodyPr>
            <a:lstStyle/>
            <a:p>
              <a:pPr algn="ctr">
                <a:lnSpc>
                  <a:spcPct val="90000"/>
                </a:lnSpc>
              </a:pPr>
              <a:r>
                <a:rPr lang="en-US" altLang="zh-CN" sz="1400" b="1" dirty="0">
                  <a:solidFill>
                    <a:srgbClr val="0000FF"/>
                  </a:solidFill>
                  <a:latin typeface="微软雅黑" panose="020B0503020204020204" pitchFamily="34" charset="-122"/>
                  <a:ea typeface="微软雅黑" panose="020B0503020204020204" pitchFamily="34" charset="-122"/>
                </a:rPr>
                <a:t>PVC</a:t>
              </a:r>
              <a:r>
                <a:rPr lang="zh-CN" altLang="en-US" sz="1400" b="1" dirty="0">
                  <a:solidFill>
                    <a:srgbClr val="0000FF"/>
                  </a:solidFill>
                  <a:latin typeface="微软雅黑" panose="020B0503020204020204" pitchFamily="34" charset="-122"/>
                  <a:ea typeface="微软雅黑" panose="020B0503020204020204" pitchFamily="34" charset="-122"/>
                </a:rPr>
                <a:t> 套层</a:t>
              </a:r>
            </a:p>
          </p:txBody>
        </p:sp>
      </p:grpSp>
      <p:grpSp>
        <p:nvGrpSpPr>
          <p:cNvPr id="34" name="组合 33"/>
          <p:cNvGrpSpPr/>
          <p:nvPr/>
        </p:nvGrpSpPr>
        <p:grpSpPr>
          <a:xfrm>
            <a:off x="3348949" y="3260592"/>
            <a:ext cx="3267482" cy="1490350"/>
            <a:chOff x="4497712" y="3150184"/>
            <a:chExt cx="3267482" cy="1490350"/>
          </a:xfrm>
        </p:grpSpPr>
        <p:pic>
          <p:nvPicPr>
            <p:cNvPr id="25" name="图片 35" descr="STP.jpg"/>
            <p:cNvPicPr>
              <a:picLocks noChangeAspect="1"/>
            </p:cNvPicPr>
            <p:nvPr/>
          </p:nvPicPr>
          <p:blipFill>
            <a:blip r:embed="rId3" cstate="print"/>
            <a:srcRect/>
            <a:stretch>
              <a:fillRect/>
            </a:stretch>
          </p:blipFill>
          <p:spPr bwMode="auto">
            <a:xfrm>
              <a:off x="5144809" y="3299631"/>
              <a:ext cx="2087562" cy="1084263"/>
            </a:xfrm>
            <a:prstGeom prst="rect">
              <a:avLst/>
            </a:prstGeom>
            <a:noFill/>
            <a:ln w="9525">
              <a:noFill/>
              <a:miter lim="800000"/>
              <a:headEnd/>
              <a:tailEnd/>
            </a:ln>
          </p:spPr>
        </p:pic>
        <p:sp>
          <p:nvSpPr>
            <p:cNvPr id="26" name="Text Box 11"/>
            <p:cNvSpPr txBox="1">
              <a:spLocks noChangeArrowheads="1"/>
            </p:cNvSpPr>
            <p:nvPr/>
          </p:nvSpPr>
          <p:spPr bwMode="auto">
            <a:xfrm>
              <a:off x="5515330" y="4279073"/>
              <a:ext cx="1082348" cy="307777"/>
            </a:xfrm>
            <a:prstGeom prst="rect">
              <a:avLst/>
            </a:prstGeom>
            <a:noFill/>
            <a:ln w="9525">
              <a:noFill/>
              <a:miter lim="800000"/>
              <a:headEnd/>
              <a:tailEnd/>
            </a:ln>
          </p:spPr>
          <p:txBody>
            <a:bodyPr wrap="none">
              <a:spAutoFit/>
            </a:bodyPr>
            <a:lstStyle/>
            <a:p>
              <a:r>
                <a:rPr lang="zh-CN" altLang="en-US" sz="1400" b="1" dirty="0">
                  <a:latin typeface="微软雅黑" panose="020B0503020204020204" pitchFamily="34" charset="-122"/>
                  <a:ea typeface="微软雅黑" panose="020B0503020204020204" pitchFamily="34" charset="-122"/>
                </a:rPr>
                <a:t>铝箔屏蔽层</a:t>
              </a:r>
            </a:p>
          </p:txBody>
        </p:sp>
        <p:sp>
          <p:nvSpPr>
            <p:cNvPr id="27" name="Text Box 14"/>
            <p:cNvSpPr txBox="1">
              <a:spLocks noChangeArrowheads="1"/>
            </p:cNvSpPr>
            <p:nvPr/>
          </p:nvSpPr>
          <p:spPr bwMode="auto">
            <a:xfrm>
              <a:off x="7041919" y="4332757"/>
              <a:ext cx="723275" cy="307777"/>
            </a:xfrm>
            <a:prstGeom prst="rect">
              <a:avLst/>
            </a:prstGeom>
            <a:noFill/>
            <a:ln w="9525">
              <a:noFill/>
              <a:miter lim="800000"/>
              <a:headEnd/>
              <a:tailEnd/>
            </a:ln>
          </p:spPr>
          <p:txBody>
            <a:bodyPr wrap="none">
              <a:spAutoFit/>
            </a:bodyPr>
            <a:lstStyle/>
            <a:p>
              <a:r>
                <a:rPr lang="zh-CN" altLang="en-US" sz="1400" b="1" dirty="0">
                  <a:latin typeface="微软雅黑" panose="020B0503020204020204" pitchFamily="34" charset="-122"/>
                  <a:ea typeface="微软雅黑" panose="020B0503020204020204" pitchFamily="34" charset="-122"/>
                </a:rPr>
                <a:t>接地线</a:t>
              </a:r>
            </a:p>
          </p:txBody>
        </p:sp>
        <p:sp>
          <p:nvSpPr>
            <p:cNvPr id="28" name="Text Box 9"/>
            <p:cNvSpPr txBox="1">
              <a:spLocks noChangeArrowheads="1"/>
            </p:cNvSpPr>
            <p:nvPr/>
          </p:nvSpPr>
          <p:spPr bwMode="auto">
            <a:xfrm>
              <a:off x="4497712" y="4296346"/>
              <a:ext cx="1054100" cy="286232"/>
            </a:xfrm>
            <a:prstGeom prst="rect">
              <a:avLst/>
            </a:prstGeom>
            <a:noFill/>
            <a:ln w="9525">
              <a:noFill/>
              <a:miter lim="800000"/>
              <a:headEnd/>
              <a:tailEnd/>
            </a:ln>
          </p:spPr>
          <p:txBody>
            <a:bodyPr>
              <a:spAutoFit/>
            </a:bodyPr>
            <a:lstStyle/>
            <a:p>
              <a:pPr algn="ctr">
                <a:lnSpc>
                  <a:spcPct val="90000"/>
                </a:lnSpc>
              </a:pPr>
              <a:r>
                <a:rPr lang="en-US" altLang="zh-CN" sz="1400" b="1" dirty="0">
                  <a:latin typeface="微软雅黑" panose="020B0503020204020204" pitchFamily="34" charset="-122"/>
                  <a:ea typeface="微软雅黑" panose="020B0503020204020204" pitchFamily="34" charset="-122"/>
                </a:rPr>
                <a:t>PVC</a:t>
              </a:r>
              <a:r>
                <a:rPr lang="zh-CN" altLang="en-US" sz="1400" b="1" dirty="0">
                  <a:latin typeface="微软雅黑" panose="020B0503020204020204" pitchFamily="34" charset="-122"/>
                  <a:ea typeface="微软雅黑" panose="020B0503020204020204" pitchFamily="34" charset="-122"/>
                </a:rPr>
                <a:t> 套层</a:t>
              </a:r>
            </a:p>
          </p:txBody>
        </p:sp>
        <p:sp>
          <p:nvSpPr>
            <p:cNvPr id="29" name="Text Box 13"/>
            <p:cNvSpPr txBox="1">
              <a:spLocks noChangeArrowheads="1"/>
            </p:cNvSpPr>
            <p:nvPr/>
          </p:nvSpPr>
          <p:spPr bwMode="auto">
            <a:xfrm>
              <a:off x="5068609" y="3150184"/>
              <a:ext cx="1441420" cy="307777"/>
            </a:xfrm>
            <a:prstGeom prst="rect">
              <a:avLst/>
            </a:prstGeom>
            <a:noFill/>
            <a:ln w="9525">
              <a:noFill/>
              <a:miter lim="800000"/>
              <a:headEnd/>
              <a:tailEnd/>
            </a:ln>
          </p:spPr>
          <p:txBody>
            <a:bodyPr wrap="none">
              <a:spAutoFit/>
            </a:bodyPr>
            <a:lstStyle/>
            <a:p>
              <a:r>
                <a:rPr lang="zh-CN" altLang="en-US" sz="1400" b="1" dirty="0">
                  <a:latin typeface="微软雅黑" panose="020B0503020204020204" pitchFamily="34" charset="-122"/>
                  <a:ea typeface="微软雅黑" panose="020B0503020204020204" pitchFamily="34" charset="-122"/>
                </a:rPr>
                <a:t>带绝缘层的铜线</a:t>
              </a:r>
            </a:p>
          </p:txBody>
        </p:sp>
        <p:cxnSp>
          <p:nvCxnSpPr>
            <p:cNvPr id="30" name="直接连接符 30"/>
            <p:cNvCxnSpPr>
              <a:cxnSpLocks noChangeShapeType="1"/>
            </p:cNvCxnSpPr>
            <p:nvPr/>
          </p:nvCxnSpPr>
          <p:spPr bwMode="auto">
            <a:xfrm>
              <a:off x="5969926" y="3442595"/>
              <a:ext cx="223134" cy="150011"/>
            </a:xfrm>
            <a:prstGeom prst="line">
              <a:avLst/>
            </a:prstGeom>
            <a:noFill/>
            <a:ln w="19050" algn="ctr">
              <a:solidFill>
                <a:schemeClr val="tx1"/>
              </a:solidFill>
              <a:round/>
              <a:headEnd/>
              <a:tailEnd type="triangle" w="sm" len="lg"/>
            </a:ln>
          </p:spPr>
        </p:cxnSp>
        <p:cxnSp>
          <p:nvCxnSpPr>
            <p:cNvPr id="31" name="直接连接符 32"/>
            <p:cNvCxnSpPr>
              <a:cxnSpLocks noChangeShapeType="1"/>
            </p:cNvCxnSpPr>
            <p:nvPr/>
          </p:nvCxnSpPr>
          <p:spPr bwMode="auto">
            <a:xfrm flipV="1">
              <a:off x="5144809" y="4090976"/>
              <a:ext cx="143966" cy="231642"/>
            </a:xfrm>
            <a:prstGeom prst="line">
              <a:avLst/>
            </a:prstGeom>
            <a:noFill/>
            <a:ln w="19050" algn="ctr">
              <a:solidFill>
                <a:schemeClr val="tx1"/>
              </a:solidFill>
              <a:round/>
              <a:headEnd type="none"/>
              <a:tailEnd type="triangle" w="sm" len="lg"/>
            </a:ln>
          </p:spPr>
        </p:cxnSp>
        <p:cxnSp>
          <p:nvCxnSpPr>
            <p:cNvPr id="32" name="直接连接符 38"/>
            <p:cNvCxnSpPr>
              <a:cxnSpLocks noChangeShapeType="1"/>
            </p:cNvCxnSpPr>
            <p:nvPr/>
          </p:nvCxnSpPr>
          <p:spPr bwMode="auto">
            <a:xfrm>
              <a:off x="5843778" y="4057338"/>
              <a:ext cx="126148" cy="265280"/>
            </a:xfrm>
            <a:prstGeom prst="line">
              <a:avLst/>
            </a:prstGeom>
            <a:noFill/>
            <a:ln w="19050" algn="ctr">
              <a:solidFill>
                <a:schemeClr val="tx1"/>
              </a:solidFill>
              <a:round/>
              <a:headEnd type="triangle" w="sm" len="lg"/>
              <a:tailEnd type="none"/>
            </a:ln>
          </p:spPr>
        </p:cxnSp>
        <p:cxnSp>
          <p:nvCxnSpPr>
            <p:cNvPr id="33" name="直接连接符 38"/>
            <p:cNvCxnSpPr>
              <a:cxnSpLocks noChangeShapeType="1"/>
            </p:cNvCxnSpPr>
            <p:nvPr/>
          </p:nvCxnSpPr>
          <p:spPr bwMode="auto">
            <a:xfrm>
              <a:off x="6728935" y="4379007"/>
              <a:ext cx="364094" cy="129092"/>
            </a:xfrm>
            <a:prstGeom prst="line">
              <a:avLst/>
            </a:prstGeom>
            <a:noFill/>
            <a:ln w="19050" algn="ctr">
              <a:solidFill>
                <a:schemeClr val="tx1"/>
              </a:solidFill>
              <a:round/>
              <a:headEnd type="triangle" w="sm" len="lg"/>
              <a:tailEnd type="none"/>
            </a:ln>
          </p:spPr>
        </p:cxnSp>
      </p:grpSp>
    </p:spTree>
    <p:extLst>
      <p:ext uri="{BB962C8B-B14F-4D97-AF65-F5344CB8AC3E}">
        <p14:creationId xmlns:p14="http://schemas.microsoft.com/office/powerpoint/2010/main" val="4787059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0"/>
          </p:nvPr>
        </p:nvSpPr>
        <p:spPr>
          <a:xfrm>
            <a:off x="466343" y="900000"/>
            <a:ext cx="8129017" cy="3376990"/>
          </a:xfrm>
        </p:spPr>
        <p:txBody>
          <a:bodyPr/>
          <a:lstStyle/>
          <a:p>
            <a:r>
              <a:rPr lang="en-US" altLang="zh-CN" dirty="0"/>
              <a:t>x/UTP</a:t>
            </a:r>
            <a:r>
              <a:rPr lang="zh-CN" altLang="en-US" dirty="0"/>
              <a:t>：对整条双绞线电缆进行屏蔽。</a:t>
            </a:r>
            <a:endParaRPr lang="en-US" altLang="zh-CN" dirty="0"/>
          </a:p>
          <a:p>
            <a:pPr lvl="1"/>
            <a:r>
              <a:rPr lang="en-US" altLang="zh-CN" dirty="0"/>
              <a:t>F/UTP (F=Foiled)</a:t>
            </a:r>
            <a:r>
              <a:rPr lang="zh-CN" altLang="en-US" dirty="0"/>
              <a:t>：表明采用铝箔屏蔽层。</a:t>
            </a:r>
            <a:endParaRPr lang="en-US" altLang="zh-CN" dirty="0"/>
          </a:p>
          <a:p>
            <a:pPr lvl="1"/>
            <a:r>
              <a:rPr lang="en-US" altLang="zh-CN" dirty="0"/>
              <a:t>S/UTP (S=braid Screen)</a:t>
            </a:r>
            <a:r>
              <a:rPr lang="zh-CN" altLang="en-US" dirty="0"/>
              <a:t>：表明采用金属编织层进行屏蔽。</a:t>
            </a:r>
            <a:endParaRPr lang="en-US" altLang="zh-CN" dirty="0"/>
          </a:p>
          <a:p>
            <a:pPr lvl="1"/>
            <a:r>
              <a:rPr lang="en-US" altLang="zh-CN" dirty="0"/>
              <a:t>SF/UTP</a:t>
            </a:r>
            <a:r>
              <a:rPr lang="zh-CN" altLang="en-US" dirty="0"/>
              <a:t>：表明在铝箔屏蔽层外面再加上金属编织层的屏蔽。</a:t>
            </a:r>
            <a:endParaRPr lang="en-US" altLang="zh-CN" dirty="0"/>
          </a:p>
          <a:p>
            <a:pPr lvl="1"/>
            <a:r>
              <a:rPr lang="en-US" altLang="zh-CN" dirty="0"/>
              <a:t>FTP </a:t>
            </a:r>
            <a:r>
              <a:rPr lang="zh-CN" altLang="en-US" dirty="0"/>
              <a:t>或 </a:t>
            </a:r>
            <a:r>
              <a:rPr lang="en-US" altLang="zh-CN" dirty="0"/>
              <a:t>U/FTP</a:t>
            </a:r>
            <a:r>
              <a:rPr lang="zh-CN" altLang="en-US" dirty="0"/>
              <a:t>：把电缆中的每一对双绞线都加上铝箔屏蔽层。</a:t>
            </a:r>
            <a:r>
              <a:rPr lang="en-US" altLang="zh-CN" dirty="0"/>
              <a:t>U</a:t>
            </a:r>
            <a:r>
              <a:rPr lang="zh-CN" altLang="en-US" dirty="0"/>
              <a:t>表明对整条电缆不另增加屏蔽层</a:t>
            </a:r>
            <a:endParaRPr lang="en-US" altLang="zh-CN" dirty="0"/>
          </a:p>
          <a:p>
            <a:pPr lvl="1"/>
            <a:r>
              <a:rPr lang="en-US" altLang="zh-CN" dirty="0"/>
              <a:t>F/FTP</a:t>
            </a:r>
            <a:r>
              <a:rPr lang="zh-CN" altLang="en-US" dirty="0"/>
              <a:t>：在 </a:t>
            </a:r>
            <a:r>
              <a:rPr lang="en-US" altLang="zh-CN" dirty="0"/>
              <a:t>FTP </a:t>
            </a:r>
            <a:r>
              <a:rPr lang="zh-CN" altLang="en-US" dirty="0"/>
              <a:t>基础上对整条电缆再加上铝箔屏蔽层。</a:t>
            </a:r>
            <a:endParaRPr lang="en-US" altLang="zh-CN" dirty="0"/>
          </a:p>
          <a:p>
            <a:pPr lvl="1"/>
            <a:r>
              <a:rPr lang="en-US" altLang="zh-CN" dirty="0"/>
              <a:t>S/FTP</a:t>
            </a:r>
            <a:r>
              <a:rPr lang="zh-CN" altLang="en-US" dirty="0"/>
              <a:t>：在 </a:t>
            </a:r>
            <a:r>
              <a:rPr lang="en-US" altLang="zh-CN" dirty="0"/>
              <a:t>FTP </a:t>
            </a:r>
            <a:r>
              <a:rPr lang="zh-CN" altLang="en-US" dirty="0"/>
              <a:t>基础上对整条电缆再加上金属编织层的屏蔽。</a:t>
            </a:r>
            <a:endParaRPr lang="en-US" altLang="zh-CN" dirty="0"/>
          </a:p>
        </p:txBody>
      </p:sp>
      <p:sp>
        <p:nvSpPr>
          <p:cNvPr id="5" name="文本占位符 4"/>
          <p:cNvSpPr>
            <a:spLocks noGrp="1"/>
          </p:cNvSpPr>
          <p:nvPr>
            <p:ph type="body" sz="quarter" idx="11"/>
          </p:nvPr>
        </p:nvSpPr>
        <p:spPr>
          <a:xfrm>
            <a:off x="1332000" y="360000"/>
            <a:ext cx="6480000" cy="354012"/>
          </a:xfrm>
        </p:spPr>
        <p:txBody>
          <a:bodyPr>
            <a:normAutofit fontScale="92500" lnSpcReduction="10000"/>
          </a:bodyPr>
          <a:lstStyle/>
          <a:p>
            <a:r>
              <a:rPr lang="zh-CN" altLang="en-US" dirty="0"/>
              <a:t>屏蔽双绞线 </a:t>
            </a:r>
            <a:r>
              <a:rPr lang="en-US" altLang="zh-CN" dirty="0"/>
              <a:t>STP</a:t>
            </a:r>
            <a:endParaRPr lang="zh-CN" altLang="en-US" dirty="0"/>
          </a:p>
        </p:txBody>
      </p:sp>
    </p:spTree>
    <p:extLst>
      <p:ext uri="{BB962C8B-B14F-4D97-AF65-F5344CB8AC3E}">
        <p14:creationId xmlns:p14="http://schemas.microsoft.com/office/powerpoint/2010/main" val="24006664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1"/>
          </p:nvPr>
        </p:nvSpPr>
        <p:spPr>
          <a:xfrm>
            <a:off x="1332000" y="360000"/>
            <a:ext cx="6480000" cy="354012"/>
          </a:xfrm>
        </p:spPr>
        <p:txBody>
          <a:bodyPr>
            <a:normAutofit fontScale="92500" lnSpcReduction="10000"/>
          </a:bodyPr>
          <a:lstStyle/>
          <a:p>
            <a:r>
              <a:rPr lang="zh-CN" altLang="en-US" dirty="0"/>
              <a:t>屏蔽双绞线 </a:t>
            </a:r>
            <a:r>
              <a:rPr lang="en-US" altLang="zh-CN" dirty="0"/>
              <a:t>STP</a:t>
            </a:r>
            <a:endParaRPr lang="zh-CN" altLang="en-US" dirty="0"/>
          </a:p>
        </p:txBody>
      </p:sp>
      <p:pic>
        <p:nvPicPr>
          <p:cNvPr id="7" name="图片 6" descr="三种UTP.jpg"/>
          <p:cNvPicPr>
            <a:picLocks noChangeAspect="1"/>
          </p:cNvPicPr>
          <p:nvPr/>
        </p:nvPicPr>
        <p:blipFill>
          <a:blip r:embed="rId2" cstate="print"/>
          <a:srcRect l="10626" t="29524" r="11249" b="26338"/>
          <a:stretch>
            <a:fillRect/>
          </a:stretch>
        </p:blipFill>
        <p:spPr>
          <a:xfrm>
            <a:off x="3605876" y="1496499"/>
            <a:ext cx="4824536" cy="1533201"/>
          </a:xfrm>
          <a:prstGeom prst="rect">
            <a:avLst/>
          </a:prstGeom>
        </p:spPr>
      </p:pic>
      <p:sp>
        <p:nvSpPr>
          <p:cNvPr id="8" name="TextBox 47"/>
          <p:cNvSpPr txBox="1"/>
          <p:nvPr/>
        </p:nvSpPr>
        <p:spPr>
          <a:xfrm>
            <a:off x="4005943" y="1163896"/>
            <a:ext cx="4424469" cy="338554"/>
          </a:xfrm>
          <a:prstGeom prst="rect">
            <a:avLst/>
          </a:prstGeom>
          <a:noFill/>
        </p:spPr>
        <p:txBody>
          <a:bodyPr wrap="square" rtlCol="0">
            <a:spAutoFit/>
          </a:bodyPr>
          <a:lstStyle/>
          <a:p>
            <a:r>
              <a:rPr lang="en-US" altLang="zh-CN" sz="1600" b="1" dirty="0">
                <a:latin typeface="微软雅黑" panose="020B0503020204020204" pitchFamily="34" charset="-122"/>
                <a:ea typeface="微软雅黑" panose="020B0503020204020204" pitchFamily="34" charset="-122"/>
                <a:cs typeface="Times New Roman" pitchFamily="18" charset="0"/>
              </a:rPr>
              <a:t>F/UTP                U/FTP                  F/FTP  </a:t>
            </a:r>
            <a:endParaRPr lang="zh-CN" altLang="en-US" sz="1600" b="1" dirty="0">
              <a:latin typeface="微软雅黑" panose="020B0503020204020204" pitchFamily="34" charset="-122"/>
              <a:ea typeface="微软雅黑" panose="020B0503020204020204" pitchFamily="34" charset="-122"/>
              <a:cs typeface="Times New Roman" pitchFamily="18" charset="0"/>
            </a:endParaRPr>
          </a:p>
        </p:txBody>
      </p:sp>
      <p:sp>
        <p:nvSpPr>
          <p:cNvPr id="9" name="TextBox 53"/>
          <p:cNvSpPr txBox="1"/>
          <p:nvPr/>
        </p:nvSpPr>
        <p:spPr>
          <a:xfrm>
            <a:off x="6480491" y="2984866"/>
            <a:ext cx="723275" cy="307777"/>
          </a:xfrm>
          <a:prstGeom prst="rect">
            <a:avLst/>
          </a:prstGeom>
          <a:noFill/>
        </p:spPr>
        <p:txBody>
          <a:bodyPr wrap="none" rtlCol="0">
            <a:spAutoFit/>
          </a:bodyPr>
          <a:lstStyle/>
          <a:p>
            <a:r>
              <a:rPr lang="zh-CN" altLang="en-US" sz="1400" b="1" dirty="0">
                <a:solidFill>
                  <a:srgbClr val="0000FF"/>
                </a:solidFill>
                <a:latin typeface="微软雅黑" panose="020B0503020204020204" pitchFamily="34" charset="-122"/>
                <a:ea typeface="微软雅黑" panose="020B0503020204020204" pitchFamily="34" charset="-122"/>
              </a:rPr>
              <a:t>屏蔽层</a:t>
            </a:r>
          </a:p>
        </p:txBody>
      </p:sp>
      <p:sp>
        <p:nvSpPr>
          <p:cNvPr id="10" name="矩形 9"/>
          <p:cNvSpPr/>
          <p:nvPr/>
        </p:nvSpPr>
        <p:spPr bwMode="auto">
          <a:xfrm>
            <a:off x="6624507" y="2767961"/>
            <a:ext cx="478160" cy="254893"/>
          </a:xfrm>
          <a:prstGeom prst="rect">
            <a:avLst/>
          </a:prstGeom>
          <a:solidFill>
            <a:srgbClr val="FFFF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11" name="矩形 10"/>
          <p:cNvSpPr/>
          <p:nvPr/>
        </p:nvSpPr>
        <p:spPr bwMode="auto">
          <a:xfrm>
            <a:off x="5093661" y="2781306"/>
            <a:ext cx="478160" cy="254893"/>
          </a:xfrm>
          <a:prstGeom prst="rect">
            <a:avLst/>
          </a:prstGeom>
          <a:solidFill>
            <a:srgbClr val="FFFF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12" name="TextBox 58"/>
          <p:cNvSpPr txBox="1"/>
          <p:nvPr/>
        </p:nvSpPr>
        <p:spPr>
          <a:xfrm>
            <a:off x="4987626" y="2737710"/>
            <a:ext cx="543739" cy="307777"/>
          </a:xfrm>
          <a:prstGeom prst="rect">
            <a:avLst/>
          </a:prstGeom>
          <a:noFill/>
        </p:spPr>
        <p:txBody>
          <a:bodyPr wrap="none" rtlCol="0">
            <a:spAutoFit/>
          </a:bodyPr>
          <a:lstStyle/>
          <a:p>
            <a:r>
              <a:rPr lang="zh-CN" altLang="en-US" sz="1400" b="1" dirty="0">
                <a:solidFill>
                  <a:srgbClr val="0000FF"/>
                </a:solidFill>
                <a:latin typeface="微软雅黑" panose="020B0503020204020204" pitchFamily="34" charset="-122"/>
                <a:ea typeface="微软雅黑" panose="020B0503020204020204" pitchFamily="34" charset="-122"/>
              </a:rPr>
              <a:t>铝箔</a:t>
            </a:r>
          </a:p>
        </p:txBody>
      </p:sp>
      <p:sp>
        <p:nvSpPr>
          <p:cNvPr id="13" name="TextBox 55"/>
          <p:cNvSpPr txBox="1"/>
          <p:nvPr/>
        </p:nvSpPr>
        <p:spPr>
          <a:xfrm>
            <a:off x="6562024" y="2765791"/>
            <a:ext cx="543739" cy="307777"/>
          </a:xfrm>
          <a:prstGeom prst="rect">
            <a:avLst/>
          </a:prstGeom>
          <a:noFill/>
        </p:spPr>
        <p:txBody>
          <a:bodyPr wrap="none" rtlCol="0">
            <a:spAutoFit/>
          </a:bodyPr>
          <a:lstStyle/>
          <a:p>
            <a:r>
              <a:rPr lang="zh-CN" altLang="en-US" sz="1400" b="1" dirty="0">
                <a:solidFill>
                  <a:srgbClr val="0000FF"/>
                </a:solidFill>
                <a:latin typeface="微软雅黑" panose="020B0503020204020204" pitchFamily="34" charset="-122"/>
                <a:ea typeface="微软雅黑" panose="020B0503020204020204" pitchFamily="34" charset="-122"/>
              </a:rPr>
              <a:t>铝箔</a:t>
            </a:r>
          </a:p>
        </p:txBody>
      </p:sp>
      <p:sp>
        <p:nvSpPr>
          <p:cNvPr id="14" name="TextBox 59"/>
          <p:cNvSpPr txBox="1"/>
          <p:nvPr/>
        </p:nvSpPr>
        <p:spPr>
          <a:xfrm>
            <a:off x="4901901" y="2957926"/>
            <a:ext cx="776175" cy="307777"/>
          </a:xfrm>
          <a:prstGeom prst="rect">
            <a:avLst/>
          </a:prstGeom>
          <a:noFill/>
        </p:spPr>
        <p:txBody>
          <a:bodyPr wrap="none" rtlCol="0">
            <a:spAutoFit/>
          </a:bodyPr>
          <a:lstStyle/>
          <a:p>
            <a:r>
              <a:rPr lang="zh-CN" altLang="en-US" sz="1400" b="1" dirty="0">
                <a:solidFill>
                  <a:srgbClr val="0000FF"/>
                </a:solidFill>
                <a:latin typeface="微软雅黑" panose="020B0503020204020204" pitchFamily="34" charset="-122"/>
                <a:ea typeface="微软雅黑" panose="020B0503020204020204" pitchFamily="34" charset="-122"/>
              </a:rPr>
              <a:t>屏蔽层 </a:t>
            </a:r>
          </a:p>
        </p:txBody>
      </p:sp>
      <p:grpSp>
        <p:nvGrpSpPr>
          <p:cNvPr id="15" name="组合 14"/>
          <p:cNvGrpSpPr/>
          <p:nvPr/>
        </p:nvGrpSpPr>
        <p:grpSpPr>
          <a:xfrm>
            <a:off x="404204" y="1558763"/>
            <a:ext cx="3241355" cy="1490350"/>
            <a:chOff x="4497712" y="3150184"/>
            <a:chExt cx="3241355" cy="1490350"/>
          </a:xfrm>
        </p:grpSpPr>
        <p:pic>
          <p:nvPicPr>
            <p:cNvPr id="16" name="图片 35" descr="STP.jpg"/>
            <p:cNvPicPr>
              <a:picLocks noChangeAspect="1"/>
            </p:cNvPicPr>
            <p:nvPr/>
          </p:nvPicPr>
          <p:blipFill>
            <a:blip r:embed="rId3" cstate="print"/>
            <a:srcRect/>
            <a:stretch>
              <a:fillRect/>
            </a:stretch>
          </p:blipFill>
          <p:spPr bwMode="auto">
            <a:xfrm>
              <a:off x="5144809" y="3299631"/>
              <a:ext cx="2087562" cy="1084263"/>
            </a:xfrm>
            <a:prstGeom prst="rect">
              <a:avLst/>
            </a:prstGeom>
            <a:noFill/>
            <a:ln w="9525">
              <a:noFill/>
              <a:miter lim="800000"/>
              <a:headEnd/>
              <a:tailEnd/>
            </a:ln>
          </p:spPr>
        </p:pic>
        <p:sp>
          <p:nvSpPr>
            <p:cNvPr id="17" name="Text Box 11"/>
            <p:cNvSpPr txBox="1">
              <a:spLocks noChangeArrowheads="1"/>
            </p:cNvSpPr>
            <p:nvPr/>
          </p:nvSpPr>
          <p:spPr bwMode="auto">
            <a:xfrm>
              <a:off x="5515330" y="4279073"/>
              <a:ext cx="1082348" cy="307777"/>
            </a:xfrm>
            <a:prstGeom prst="rect">
              <a:avLst/>
            </a:prstGeom>
            <a:noFill/>
            <a:ln w="9525">
              <a:noFill/>
              <a:miter lim="800000"/>
              <a:headEnd/>
              <a:tailEnd/>
            </a:ln>
          </p:spPr>
          <p:txBody>
            <a:bodyPr wrap="none">
              <a:spAutoFit/>
            </a:bodyPr>
            <a:lstStyle/>
            <a:p>
              <a:r>
                <a:rPr lang="zh-CN" altLang="en-US" sz="1400" b="1" dirty="0">
                  <a:solidFill>
                    <a:srgbClr val="0000FF"/>
                  </a:solidFill>
                  <a:latin typeface="微软雅黑" panose="020B0503020204020204" pitchFamily="34" charset="-122"/>
                  <a:ea typeface="微软雅黑" panose="020B0503020204020204" pitchFamily="34" charset="-122"/>
                </a:rPr>
                <a:t>铝箔屏蔽层</a:t>
              </a:r>
            </a:p>
          </p:txBody>
        </p:sp>
        <p:sp>
          <p:nvSpPr>
            <p:cNvPr id="18" name="Text Box 14"/>
            <p:cNvSpPr txBox="1">
              <a:spLocks noChangeArrowheads="1"/>
            </p:cNvSpPr>
            <p:nvPr/>
          </p:nvSpPr>
          <p:spPr bwMode="auto">
            <a:xfrm>
              <a:off x="7015792" y="4332757"/>
              <a:ext cx="723275" cy="307777"/>
            </a:xfrm>
            <a:prstGeom prst="rect">
              <a:avLst/>
            </a:prstGeom>
            <a:noFill/>
            <a:ln w="9525">
              <a:noFill/>
              <a:miter lim="800000"/>
              <a:headEnd/>
              <a:tailEnd/>
            </a:ln>
          </p:spPr>
          <p:txBody>
            <a:bodyPr wrap="none">
              <a:spAutoFit/>
            </a:bodyPr>
            <a:lstStyle/>
            <a:p>
              <a:r>
                <a:rPr lang="zh-CN" altLang="en-US" sz="1400" b="1" dirty="0">
                  <a:solidFill>
                    <a:srgbClr val="0000FF"/>
                  </a:solidFill>
                  <a:latin typeface="微软雅黑" panose="020B0503020204020204" pitchFamily="34" charset="-122"/>
                  <a:ea typeface="微软雅黑" panose="020B0503020204020204" pitchFamily="34" charset="-122"/>
                </a:rPr>
                <a:t>接地线</a:t>
              </a:r>
            </a:p>
          </p:txBody>
        </p:sp>
        <p:sp>
          <p:nvSpPr>
            <p:cNvPr id="19" name="Text Box 9"/>
            <p:cNvSpPr txBox="1">
              <a:spLocks noChangeArrowheads="1"/>
            </p:cNvSpPr>
            <p:nvPr/>
          </p:nvSpPr>
          <p:spPr bwMode="auto">
            <a:xfrm>
              <a:off x="4497712" y="4296346"/>
              <a:ext cx="1054100" cy="286232"/>
            </a:xfrm>
            <a:prstGeom prst="rect">
              <a:avLst/>
            </a:prstGeom>
            <a:noFill/>
            <a:ln w="9525">
              <a:noFill/>
              <a:miter lim="800000"/>
              <a:headEnd/>
              <a:tailEnd/>
            </a:ln>
          </p:spPr>
          <p:txBody>
            <a:bodyPr>
              <a:spAutoFit/>
            </a:bodyPr>
            <a:lstStyle/>
            <a:p>
              <a:pPr algn="ctr">
                <a:lnSpc>
                  <a:spcPct val="90000"/>
                </a:lnSpc>
              </a:pPr>
              <a:r>
                <a:rPr lang="en-US" altLang="zh-CN" sz="1400" b="1" dirty="0">
                  <a:solidFill>
                    <a:srgbClr val="0000FF"/>
                  </a:solidFill>
                  <a:latin typeface="微软雅黑" panose="020B0503020204020204" pitchFamily="34" charset="-122"/>
                  <a:ea typeface="微软雅黑" panose="020B0503020204020204" pitchFamily="34" charset="-122"/>
                </a:rPr>
                <a:t>PVC</a:t>
              </a:r>
              <a:r>
                <a:rPr lang="zh-CN" altLang="en-US" sz="1400" b="1" dirty="0">
                  <a:solidFill>
                    <a:srgbClr val="0000FF"/>
                  </a:solidFill>
                  <a:latin typeface="微软雅黑" panose="020B0503020204020204" pitchFamily="34" charset="-122"/>
                  <a:ea typeface="微软雅黑" panose="020B0503020204020204" pitchFamily="34" charset="-122"/>
                </a:rPr>
                <a:t> 套层</a:t>
              </a:r>
            </a:p>
          </p:txBody>
        </p:sp>
        <p:sp>
          <p:nvSpPr>
            <p:cNvPr id="20" name="Text Box 13"/>
            <p:cNvSpPr txBox="1">
              <a:spLocks noChangeArrowheads="1"/>
            </p:cNvSpPr>
            <p:nvPr/>
          </p:nvSpPr>
          <p:spPr bwMode="auto">
            <a:xfrm>
              <a:off x="5068609" y="3150184"/>
              <a:ext cx="1441420" cy="307777"/>
            </a:xfrm>
            <a:prstGeom prst="rect">
              <a:avLst/>
            </a:prstGeom>
            <a:noFill/>
            <a:ln w="9525">
              <a:noFill/>
              <a:miter lim="800000"/>
              <a:headEnd/>
              <a:tailEnd/>
            </a:ln>
          </p:spPr>
          <p:txBody>
            <a:bodyPr wrap="none">
              <a:spAutoFit/>
            </a:bodyPr>
            <a:lstStyle/>
            <a:p>
              <a:r>
                <a:rPr lang="zh-CN" altLang="en-US" sz="1400" b="1" dirty="0">
                  <a:solidFill>
                    <a:srgbClr val="0000FF"/>
                  </a:solidFill>
                  <a:latin typeface="微软雅黑" panose="020B0503020204020204" pitchFamily="34" charset="-122"/>
                  <a:ea typeface="微软雅黑" panose="020B0503020204020204" pitchFamily="34" charset="-122"/>
                </a:rPr>
                <a:t>带绝缘层的铜线</a:t>
              </a:r>
            </a:p>
          </p:txBody>
        </p:sp>
        <p:cxnSp>
          <p:nvCxnSpPr>
            <p:cNvPr id="21" name="直接连接符 30"/>
            <p:cNvCxnSpPr>
              <a:cxnSpLocks noChangeShapeType="1"/>
            </p:cNvCxnSpPr>
            <p:nvPr/>
          </p:nvCxnSpPr>
          <p:spPr bwMode="auto">
            <a:xfrm>
              <a:off x="5969926" y="3442595"/>
              <a:ext cx="223134" cy="150011"/>
            </a:xfrm>
            <a:prstGeom prst="line">
              <a:avLst/>
            </a:prstGeom>
            <a:noFill/>
            <a:ln w="19050" algn="ctr">
              <a:solidFill>
                <a:schemeClr val="tx1"/>
              </a:solidFill>
              <a:round/>
              <a:headEnd/>
              <a:tailEnd type="triangle" w="sm" len="lg"/>
            </a:ln>
          </p:spPr>
        </p:cxnSp>
        <p:cxnSp>
          <p:nvCxnSpPr>
            <p:cNvPr id="22" name="直接连接符 32"/>
            <p:cNvCxnSpPr>
              <a:cxnSpLocks noChangeShapeType="1"/>
            </p:cNvCxnSpPr>
            <p:nvPr/>
          </p:nvCxnSpPr>
          <p:spPr bwMode="auto">
            <a:xfrm flipV="1">
              <a:off x="5144809" y="4090976"/>
              <a:ext cx="143966" cy="231642"/>
            </a:xfrm>
            <a:prstGeom prst="line">
              <a:avLst/>
            </a:prstGeom>
            <a:noFill/>
            <a:ln w="19050" algn="ctr">
              <a:solidFill>
                <a:schemeClr val="tx1"/>
              </a:solidFill>
              <a:round/>
              <a:headEnd type="none"/>
              <a:tailEnd type="triangle" w="sm" len="lg"/>
            </a:ln>
          </p:spPr>
        </p:cxnSp>
        <p:cxnSp>
          <p:nvCxnSpPr>
            <p:cNvPr id="23" name="直接连接符 38"/>
            <p:cNvCxnSpPr>
              <a:cxnSpLocks noChangeShapeType="1"/>
            </p:cNvCxnSpPr>
            <p:nvPr/>
          </p:nvCxnSpPr>
          <p:spPr bwMode="auto">
            <a:xfrm>
              <a:off x="5843778" y="4057338"/>
              <a:ext cx="126148" cy="265280"/>
            </a:xfrm>
            <a:prstGeom prst="line">
              <a:avLst/>
            </a:prstGeom>
            <a:noFill/>
            <a:ln w="19050" algn="ctr">
              <a:solidFill>
                <a:schemeClr val="tx1"/>
              </a:solidFill>
              <a:round/>
              <a:headEnd type="triangle" w="sm" len="lg"/>
              <a:tailEnd type="none"/>
            </a:ln>
          </p:spPr>
        </p:cxnSp>
        <p:cxnSp>
          <p:nvCxnSpPr>
            <p:cNvPr id="24" name="直接连接符 38"/>
            <p:cNvCxnSpPr>
              <a:cxnSpLocks noChangeShapeType="1"/>
            </p:cNvCxnSpPr>
            <p:nvPr/>
          </p:nvCxnSpPr>
          <p:spPr bwMode="auto">
            <a:xfrm>
              <a:off x="6728935" y="4379007"/>
              <a:ext cx="364094" cy="129092"/>
            </a:xfrm>
            <a:prstGeom prst="line">
              <a:avLst/>
            </a:prstGeom>
            <a:noFill/>
            <a:ln w="19050" algn="ctr">
              <a:solidFill>
                <a:schemeClr val="tx1"/>
              </a:solidFill>
              <a:round/>
              <a:headEnd type="triangle" w="sm" len="lg"/>
              <a:tailEnd type="none"/>
            </a:ln>
          </p:spPr>
        </p:cxnSp>
      </p:grpSp>
      <p:sp>
        <p:nvSpPr>
          <p:cNvPr id="25" name="TextBox 47"/>
          <p:cNvSpPr txBox="1"/>
          <p:nvPr/>
        </p:nvSpPr>
        <p:spPr>
          <a:xfrm>
            <a:off x="1290770" y="1167146"/>
            <a:ext cx="842837" cy="338554"/>
          </a:xfrm>
          <a:prstGeom prst="rect">
            <a:avLst/>
          </a:prstGeom>
          <a:noFill/>
        </p:spPr>
        <p:txBody>
          <a:bodyPr wrap="square" rtlCol="0">
            <a:spAutoFit/>
          </a:bodyPr>
          <a:lstStyle/>
          <a:p>
            <a:r>
              <a:rPr lang="en-US" altLang="zh-CN" sz="1600" b="1" dirty="0">
                <a:latin typeface="微软雅黑" panose="020B0503020204020204" pitchFamily="34" charset="-122"/>
                <a:ea typeface="微软雅黑" panose="020B0503020204020204" pitchFamily="34" charset="-122"/>
                <a:cs typeface="Times New Roman" pitchFamily="18" charset="0"/>
              </a:rPr>
              <a:t>F/UTP</a:t>
            </a:r>
            <a:endParaRPr lang="zh-CN" altLang="en-US" sz="1600" b="1" dirty="0">
              <a:latin typeface="微软雅黑" panose="020B0503020204020204" pitchFamily="34" charset="-122"/>
              <a:ea typeface="微软雅黑" panose="020B0503020204020204" pitchFamily="34" charset="-122"/>
              <a:cs typeface="Times New Roman" pitchFamily="18" charset="0"/>
            </a:endParaRPr>
          </a:p>
        </p:txBody>
      </p:sp>
      <p:sp>
        <p:nvSpPr>
          <p:cNvPr id="3" name="矩形 2"/>
          <p:cNvSpPr/>
          <p:nvPr/>
        </p:nvSpPr>
        <p:spPr>
          <a:xfrm>
            <a:off x="783770" y="3537401"/>
            <a:ext cx="7646641" cy="369332"/>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ctr"/>
            <a:r>
              <a:rPr lang="zh-CN" altLang="en-US" dirty="0"/>
              <a:t>在抗干扰能力</a:t>
            </a:r>
            <a:r>
              <a:rPr lang="zh-CN" altLang="en-US"/>
              <a:t>上，</a:t>
            </a:r>
            <a:r>
              <a:rPr lang="en-US" altLang="zh-CN" dirty="0"/>
              <a:t>U/FTP </a:t>
            </a:r>
            <a:r>
              <a:rPr lang="zh-CN" altLang="en-US"/>
              <a:t>比 </a:t>
            </a:r>
            <a:r>
              <a:rPr lang="en-US" altLang="zh-CN" dirty="0"/>
              <a:t>F/UTP </a:t>
            </a:r>
            <a:r>
              <a:rPr lang="zh-CN" altLang="en-US" dirty="0"/>
              <a:t>好，</a:t>
            </a:r>
            <a:r>
              <a:rPr lang="zh-CN" altLang="en-US"/>
              <a:t>而 </a:t>
            </a:r>
            <a:r>
              <a:rPr lang="en-US" altLang="zh-CN" dirty="0"/>
              <a:t>F/FTP </a:t>
            </a:r>
            <a:r>
              <a:rPr lang="zh-CN" altLang="en-US" dirty="0"/>
              <a:t>则是最好的。</a:t>
            </a:r>
          </a:p>
        </p:txBody>
      </p:sp>
    </p:spTree>
    <p:extLst>
      <p:ext uri="{BB962C8B-B14F-4D97-AF65-F5344CB8AC3E}">
        <p14:creationId xmlns:p14="http://schemas.microsoft.com/office/powerpoint/2010/main" val="12318296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a:xfrm>
            <a:off x="1332000" y="360000"/>
            <a:ext cx="6480000" cy="354012"/>
          </a:xfrm>
        </p:spPr>
        <p:txBody>
          <a:bodyPr>
            <a:normAutofit fontScale="92500" lnSpcReduction="10000"/>
          </a:bodyPr>
          <a:lstStyle/>
          <a:p>
            <a:r>
              <a:rPr lang="zh-CN" altLang="en-US" dirty="0"/>
              <a:t>双绞线标准 </a:t>
            </a:r>
            <a:r>
              <a:rPr lang="en-US" altLang="zh-CN" dirty="0"/>
              <a:t>EIA/TIA-568</a:t>
            </a:r>
            <a:endParaRPr lang="zh-CN" altLang="en-US" dirty="0"/>
          </a:p>
        </p:txBody>
      </p:sp>
      <p:graphicFrame>
        <p:nvGraphicFramePr>
          <p:cNvPr id="3" name="表格 2"/>
          <p:cNvGraphicFramePr>
            <a:graphicFrameLocks noGrp="1"/>
          </p:cNvGraphicFramePr>
          <p:nvPr>
            <p:extLst>
              <p:ext uri="{D42A27DB-BD31-4B8C-83A1-F6EECF244321}">
                <p14:modId xmlns:p14="http://schemas.microsoft.com/office/powerpoint/2010/main" val="1956440374"/>
              </p:ext>
            </p:extLst>
          </p:nvPr>
        </p:nvGraphicFramePr>
        <p:xfrm>
          <a:off x="513807" y="1370370"/>
          <a:ext cx="8046720" cy="2968905"/>
        </p:xfrm>
        <a:graphic>
          <a:graphicData uri="http://schemas.openxmlformats.org/drawingml/2006/table">
            <a:tbl>
              <a:tblPr firstRow="1" firstCol="1" bandRow="1">
                <a:tableStyleId>{5C22544A-7EE6-4342-B048-85BDC9FD1C3A}</a:tableStyleId>
              </a:tblPr>
              <a:tblGrid>
                <a:gridCol w="940524">
                  <a:extLst>
                    <a:ext uri="{9D8B030D-6E8A-4147-A177-3AD203B41FA5}">
                      <a16:colId xmlns:a16="http://schemas.microsoft.com/office/drawing/2014/main" val="1889052077"/>
                    </a:ext>
                  </a:extLst>
                </a:gridCol>
                <a:gridCol w="940526">
                  <a:extLst>
                    <a:ext uri="{9D8B030D-6E8A-4147-A177-3AD203B41FA5}">
                      <a16:colId xmlns:a16="http://schemas.microsoft.com/office/drawing/2014/main" val="909568552"/>
                    </a:ext>
                  </a:extLst>
                </a:gridCol>
                <a:gridCol w="2786743">
                  <a:extLst>
                    <a:ext uri="{9D8B030D-6E8A-4147-A177-3AD203B41FA5}">
                      <a16:colId xmlns:a16="http://schemas.microsoft.com/office/drawing/2014/main" val="2693267567"/>
                    </a:ext>
                  </a:extLst>
                </a:gridCol>
                <a:gridCol w="3378927">
                  <a:extLst>
                    <a:ext uri="{9D8B030D-6E8A-4147-A177-3AD203B41FA5}">
                      <a16:colId xmlns:a16="http://schemas.microsoft.com/office/drawing/2014/main" val="2377595142"/>
                    </a:ext>
                  </a:extLst>
                </a:gridCol>
              </a:tblGrid>
              <a:tr h="353926">
                <a:tc>
                  <a:txBody>
                    <a:bodyPr/>
                    <a:lstStyle/>
                    <a:p>
                      <a:pPr algn="ctr">
                        <a:lnSpc>
                          <a:spcPct val="100000"/>
                        </a:lnSpc>
                        <a:spcAft>
                          <a:spcPts val="0"/>
                        </a:spcAft>
                      </a:pPr>
                      <a:r>
                        <a:rPr lang="zh-CN" sz="1200" b="1" dirty="0">
                          <a:effectLst/>
                          <a:latin typeface="微软雅黑" panose="020B0503020204020204" pitchFamily="34" charset="-122"/>
                          <a:ea typeface="微软雅黑" panose="020B0503020204020204" pitchFamily="34" charset="-122"/>
                        </a:rPr>
                        <a:t>绞合线类别</a:t>
                      </a:r>
                    </a:p>
                  </a:txBody>
                  <a:tcPr marL="68580" marR="68580" marT="0" marB="0" anchor="ctr"/>
                </a:tc>
                <a:tc>
                  <a:txBody>
                    <a:bodyPr/>
                    <a:lstStyle/>
                    <a:p>
                      <a:pPr algn="ctr">
                        <a:lnSpc>
                          <a:spcPct val="100000"/>
                        </a:lnSpc>
                        <a:spcAft>
                          <a:spcPts val="0"/>
                        </a:spcAft>
                      </a:pPr>
                      <a:r>
                        <a:rPr lang="zh-CN" sz="1200" b="1" dirty="0">
                          <a:effectLst/>
                          <a:latin typeface="微软雅黑" panose="020B0503020204020204" pitchFamily="34" charset="-122"/>
                          <a:ea typeface="微软雅黑" panose="020B0503020204020204" pitchFamily="34" charset="-122"/>
                        </a:rPr>
                        <a:t>带 宽</a:t>
                      </a:r>
                    </a:p>
                  </a:txBody>
                  <a:tcPr marL="68580" marR="68580" marT="0" marB="0" anchor="ctr"/>
                </a:tc>
                <a:tc>
                  <a:txBody>
                    <a:bodyPr/>
                    <a:lstStyle/>
                    <a:p>
                      <a:pPr algn="ctr">
                        <a:lnSpc>
                          <a:spcPct val="100000"/>
                        </a:lnSpc>
                        <a:spcAft>
                          <a:spcPts val="0"/>
                        </a:spcAft>
                      </a:pPr>
                      <a:r>
                        <a:rPr lang="zh-CN" sz="1200" b="1" dirty="0">
                          <a:effectLst/>
                          <a:latin typeface="微软雅黑" panose="020B0503020204020204" pitchFamily="34" charset="-122"/>
                          <a:ea typeface="微软雅黑" panose="020B0503020204020204" pitchFamily="34" charset="-122"/>
                        </a:rPr>
                        <a:t>线 缆 特 点</a:t>
                      </a:r>
                    </a:p>
                  </a:txBody>
                  <a:tcPr marL="68580" marR="68580" marT="0" marB="0" anchor="ctr"/>
                </a:tc>
                <a:tc>
                  <a:txBody>
                    <a:bodyPr/>
                    <a:lstStyle/>
                    <a:p>
                      <a:pPr algn="ctr">
                        <a:lnSpc>
                          <a:spcPct val="100000"/>
                        </a:lnSpc>
                        <a:spcAft>
                          <a:spcPts val="0"/>
                        </a:spcAft>
                      </a:pPr>
                      <a:r>
                        <a:rPr lang="zh-CN" sz="1200" b="1" dirty="0">
                          <a:effectLst/>
                          <a:latin typeface="微软雅黑" panose="020B0503020204020204" pitchFamily="34" charset="-122"/>
                          <a:ea typeface="微软雅黑" panose="020B0503020204020204" pitchFamily="34" charset="-122"/>
                        </a:rPr>
                        <a:t>典 型 应 用</a:t>
                      </a:r>
                    </a:p>
                  </a:txBody>
                  <a:tcPr marL="68580" marR="68580" marT="0" marB="0" anchor="ctr"/>
                </a:tc>
                <a:extLst>
                  <a:ext uri="{0D108BD9-81ED-4DB2-BD59-A6C34878D82A}">
                    <a16:rowId xmlns:a16="http://schemas.microsoft.com/office/drawing/2014/main" val="2754333217"/>
                  </a:ext>
                </a:extLst>
              </a:tr>
              <a:tr h="367439">
                <a:tc>
                  <a:txBody>
                    <a:bodyPr/>
                    <a:lstStyle/>
                    <a:p>
                      <a:pPr algn="ctr">
                        <a:lnSpc>
                          <a:spcPct val="100000"/>
                        </a:lnSpc>
                        <a:spcAft>
                          <a:spcPts val="0"/>
                        </a:spcAft>
                      </a:pPr>
                      <a:r>
                        <a:rPr lang="en-US" sz="1200" b="1">
                          <a:effectLst/>
                          <a:latin typeface="微软雅黑" panose="020B0503020204020204" pitchFamily="34" charset="-122"/>
                          <a:ea typeface="微软雅黑" panose="020B0503020204020204" pitchFamily="34" charset="-122"/>
                        </a:rPr>
                        <a:t>3</a:t>
                      </a:r>
                      <a:endParaRPr lang="zh-CN" sz="1200" b="1">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lnSpc>
                          <a:spcPct val="100000"/>
                        </a:lnSpc>
                        <a:spcAft>
                          <a:spcPts val="0"/>
                        </a:spcAft>
                      </a:pPr>
                      <a:r>
                        <a:rPr lang="en-US" sz="1200" b="1">
                          <a:effectLst/>
                          <a:latin typeface="微软雅黑" panose="020B0503020204020204" pitchFamily="34" charset="-122"/>
                          <a:ea typeface="微软雅黑" panose="020B0503020204020204" pitchFamily="34" charset="-122"/>
                        </a:rPr>
                        <a:t>16 MHz</a:t>
                      </a:r>
                      <a:endParaRPr lang="zh-CN" sz="1200" b="1">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l">
                        <a:lnSpc>
                          <a:spcPct val="100000"/>
                        </a:lnSpc>
                        <a:spcAft>
                          <a:spcPts val="0"/>
                        </a:spcAft>
                      </a:pPr>
                      <a:r>
                        <a:rPr lang="en-US" sz="1200" b="1" dirty="0">
                          <a:effectLst/>
                          <a:latin typeface="微软雅黑" panose="020B0503020204020204" pitchFamily="34" charset="-122"/>
                          <a:ea typeface="微软雅黑" panose="020B0503020204020204" pitchFamily="34" charset="-122"/>
                        </a:rPr>
                        <a:t>2 </a:t>
                      </a:r>
                      <a:r>
                        <a:rPr lang="zh-CN" sz="1200" b="1" dirty="0">
                          <a:effectLst/>
                          <a:latin typeface="微软雅黑" panose="020B0503020204020204" pitchFamily="34" charset="-122"/>
                          <a:ea typeface="微软雅黑" panose="020B0503020204020204" pitchFamily="34" charset="-122"/>
                        </a:rPr>
                        <a:t>对</a:t>
                      </a:r>
                      <a:r>
                        <a:rPr lang="en-US" altLang="zh-CN" sz="1200" b="1" dirty="0">
                          <a:effectLst/>
                          <a:latin typeface="微软雅黑" panose="020B0503020204020204" pitchFamily="34" charset="-122"/>
                          <a:ea typeface="微软雅黑" panose="020B0503020204020204" pitchFamily="34" charset="-122"/>
                        </a:rPr>
                        <a:t> </a:t>
                      </a:r>
                      <a:r>
                        <a:rPr lang="en-US" sz="1200" b="1" dirty="0">
                          <a:effectLst/>
                          <a:latin typeface="微软雅黑" panose="020B0503020204020204" pitchFamily="34" charset="-122"/>
                          <a:ea typeface="微软雅黑" panose="020B0503020204020204" pitchFamily="34" charset="-122"/>
                        </a:rPr>
                        <a:t>4 </a:t>
                      </a:r>
                      <a:r>
                        <a:rPr lang="zh-CN" sz="1200" b="1" dirty="0">
                          <a:effectLst/>
                          <a:latin typeface="微软雅黑" panose="020B0503020204020204" pitchFamily="34" charset="-122"/>
                          <a:ea typeface="微软雅黑" panose="020B0503020204020204" pitchFamily="34" charset="-122"/>
                        </a:rPr>
                        <a:t>芯双绞线</a:t>
                      </a:r>
                    </a:p>
                  </a:txBody>
                  <a:tcPr marL="68580" marR="68580" marT="0" marB="0" anchor="ctr"/>
                </a:tc>
                <a:tc>
                  <a:txBody>
                    <a:bodyPr/>
                    <a:lstStyle/>
                    <a:p>
                      <a:pPr algn="l">
                        <a:lnSpc>
                          <a:spcPct val="100000"/>
                        </a:lnSpc>
                        <a:spcAft>
                          <a:spcPts val="0"/>
                        </a:spcAft>
                      </a:pPr>
                      <a:r>
                        <a:rPr lang="zh-CN" sz="1200" b="1">
                          <a:effectLst/>
                          <a:latin typeface="微软雅黑" panose="020B0503020204020204" pitchFamily="34" charset="-122"/>
                          <a:ea typeface="微软雅黑" panose="020B0503020204020204" pitchFamily="34" charset="-122"/>
                        </a:rPr>
                        <a:t>模拟电话；传统以太网（</a:t>
                      </a:r>
                      <a:r>
                        <a:rPr lang="en-US" sz="1200" b="1">
                          <a:effectLst/>
                          <a:latin typeface="微软雅黑" panose="020B0503020204020204" pitchFamily="34" charset="-122"/>
                          <a:ea typeface="微软雅黑" panose="020B0503020204020204" pitchFamily="34" charset="-122"/>
                        </a:rPr>
                        <a:t>10 Mbit/s</a:t>
                      </a:r>
                      <a:r>
                        <a:rPr lang="zh-CN" sz="1200" b="1">
                          <a:effectLst/>
                          <a:latin typeface="微软雅黑" panose="020B0503020204020204" pitchFamily="34" charset="-122"/>
                          <a:ea typeface="微软雅黑" panose="020B0503020204020204" pitchFamily="34" charset="-122"/>
                        </a:rPr>
                        <a:t>）</a:t>
                      </a:r>
                    </a:p>
                  </a:txBody>
                  <a:tcPr marL="68580" marR="68580" marT="0" marB="0" anchor="ctr"/>
                </a:tc>
                <a:extLst>
                  <a:ext uri="{0D108BD9-81ED-4DB2-BD59-A6C34878D82A}">
                    <a16:rowId xmlns:a16="http://schemas.microsoft.com/office/drawing/2014/main" val="2979593176"/>
                  </a:ext>
                </a:extLst>
              </a:tr>
              <a:tr h="374590">
                <a:tc>
                  <a:txBody>
                    <a:bodyPr/>
                    <a:lstStyle/>
                    <a:p>
                      <a:pPr algn="ctr">
                        <a:lnSpc>
                          <a:spcPct val="100000"/>
                        </a:lnSpc>
                        <a:spcAft>
                          <a:spcPts val="0"/>
                        </a:spcAft>
                      </a:pPr>
                      <a:r>
                        <a:rPr lang="en-US" sz="1200" b="1">
                          <a:effectLst/>
                          <a:latin typeface="微软雅黑" panose="020B0503020204020204" pitchFamily="34" charset="-122"/>
                          <a:ea typeface="微软雅黑" panose="020B0503020204020204" pitchFamily="34" charset="-122"/>
                        </a:rPr>
                        <a:t>5</a:t>
                      </a:r>
                      <a:endParaRPr lang="zh-CN" sz="1200" b="1">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lnSpc>
                          <a:spcPct val="100000"/>
                        </a:lnSpc>
                        <a:spcAft>
                          <a:spcPts val="0"/>
                        </a:spcAft>
                      </a:pPr>
                      <a:r>
                        <a:rPr lang="en-US" sz="1200" b="1">
                          <a:effectLst/>
                          <a:latin typeface="微软雅黑" panose="020B0503020204020204" pitchFamily="34" charset="-122"/>
                          <a:ea typeface="微软雅黑" panose="020B0503020204020204" pitchFamily="34" charset="-122"/>
                        </a:rPr>
                        <a:t>100 MHz</a:t>
                      </a:r>
                      <a:endParaRPr lang="zh-CN" sz="1200" b="1">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l">
                        <a:lnSpc>
                          <a:spcPct val="100000"/>
                        </a:lnSpc>
                        <a:spcAft>
                          <a:spcPts val="0"/>
                        </a:spcAft>
                      </a:pPr>
                      <a:r>
                        <a:rPr lang="zh-CN" sz="1200" b="1" dirty="0">
                          <a:effectLst/>
                          <a:latin typeface="微软雅黑" panose="020B0503020204020204" pitchFamily="34" charset="-122"/>
                          <a:ea typeface="微软雅黑" panose="020B0503020204020204" pitchFamily="34" charset="-122"/>
                        </a:rPr>
                        <a:t>与</a:t>
                      </a:r>
                      <a:r>
                        <a:rPr lang="en-US" altLang="zh-CN" sz="1200" b="1" dirty="0">
                          <a:effectLst/>
                          <a:latin typeface="微软雅黑" panose="020B0503020204020204" pitchFamily="34" charset="-122"/>
                          <a:ea typeface="微软雅黑" panose="020B0503020204020204" pitchFamily="34" charset="-122"/>
                        </a:rPr>
                        <a:t> </a:t>
                      </a:r>
                      <a:r>
                        <a:rPr lang="en-US" sz="1200" b="1" dirty="0">
                          <a:effectLst/>
                          <a:latin typeface="微软雅黑" panose="020B0503020204020204" pitchFamily="34" charset="-122"/>
                          <a:ea typeface="微软雅黑" panose="020B0503020204020204" pitchFamily="34" charset="-122"/>
                        </a:rPr>
                        <a:t>3 </a:t>
                      </a:r>
                      <a:r>
                        <a:rPr lang="zh-CN" sz="1200" b="1" dirty="0">
                          <a:effectLst/>
                          <a:latin typeface="微软雅黑" panose="020B0503020204020204" pitchFamily="34" charset="-122"/>
                          <a:ea typeface="微软雅黑" panose="020B0503020204020204" pitchFamily="34" charset="-122"/>
                        </a:rPr>
                        <a:t>类相比增加了绞合度</a:t>
                      </a:r>
                    </a:p>
                  </a:txBody>
                  <a:tcPr marL="68580" marR="68580" marT="0" marB="0" anchor="ctr"/>
                </a:tc>
                <a:tc>
                  <a:txBody>
                    <a:bodyPr/>
                    <a:lstStyle/>
                    <a:p>
                      <a:pPr algn="l">
                        <a:lnSpc>
                          <a:spcPct val="100000"/>
                        </a:lnSpc>
                        <a:spcAft>
                          <a:spcPts val="0"/>
                        </a:spcAft>
                      </a:pPr>
                      <a:r>
                        <a:rPr lang="zh-CN" sz="1200" b="1" dirty="0">
                          <a:effectLst/>
                          <a:latin typeface="微软雅黑" panose="020B0503020204020204" pitchFamily="34" charset="-122"/>
                          <a:ea typeface="微软雅黑" panose="020B0503020204020204" pitchFamily="34" charset="-122"/>
                        </a:rPr>
                        <a:t>传输速率</a:t>
                      </a:r>
                      <a:r>
                        <a:rPr lang="en-US" altLang="zh-CN" sz="1200" b="1" dirty="0">
                          <a:effectLst/>
                          <a:latin typeface="微软雅黑" panose="020B0503020204020204" pitchFamily="34" charset="-122"/>
                          <a:ea typeface="微软雅黑" panose="020B0503020204020204" pitchFamily="34" charset="-122"/>
                        </a:rPr>
                        <a:t> </a:t>
                      </a:r>
                      <a:r>
                        <a:rPr lang="en-US" sz="1200" b="1" dirty="0">
                          <a:effectLst/>
                          <a:latin typeface="微软雅黑" panose="020B0503020204020204" pitchFamily="34" charset="-122"/>
                          <a:ea typeface="微软雅黑" panose="020B0503020204020204" pitchFamily="34" charset="-122"/>
                        </a:rPr>
                        <a:t>100 Mbit/s </a:t>
                      </a:r>
                      <a:r>
                        <a:rPr lang="zh-CN" sz="1200" b="1" dirty="0">
                          <a:effectLst/>
                          <a:latin typeface="微软雅黑" panose="020B0503020204020204" pitchFamily="34" charset="-122"/>
                          <a:ea typeface="微软雅黑" panose="020B0503020204020204" pitchFamily="34" charset="-122"/>
                        </a:rPr>
                        <a:t>（距离</a:t>
                      </a:r>
                      <a:r>
                        <a:rPr lang="en-US" altLang="zh-CN" sz="1200" b="1" dirty="0">
                          <a:effectLst/>
                          <a:latin typeface="微软雅黑" panose="020B0503020204020204" pitchFamily="34" charset="-122"/>
                          <a:ea typeface="微软雅黑" panose="020B0503020204020204" pitchFamily="34" charset="-122"/>
                        </a:rPr>
                        <a:t> </a:t>
                      </a:r>
                      <a:r>
                        <a:rPr lang="en-US" sz="1200" b="1" dirty="0">
                          <a:effectLst/>
                          <a:latin typeface="微软雅黑" panose="020B0503020204020204" pitchFamily="34" charset="-122"/>
                          <a:ea typeface="微软雅黑" panose="020B0503020204020204" pitchFamily="34" charset="-122"/>
                        </a:rPr>
                        <a:t>100 m</a:t>
                      </a:r>
                      <a:r>
                        <a:rPr lang="zh-CN" sz="1200" b="1" dirty="0">
                          <a:effectLst/>
                          <a:latin typeface="微软雅黑" panose="020B0503020204020204" pitchFamily="34" charset="-122"/>
                          <a:ea typeface="微软雅黑" panose="020B0503020204020204" pitchFamily="34" charset="-122"/>
                        </a:rPr>
                        <a:t>）</a:t>
                      </a:r>
                    </a:p>
                  </a:txBody>
                  <a:tcPr marL="68580" marR="68580" marT="0" marB="0" anchor="ctr"/>
                </a:tc>
                <a:extLst>
                  <a:ext uri="{0D108BD9-81ED-4DB2-BD59-A6C34878D82A}">
                    <a16:rowId xmlns:a16="http://schemas.microsoft.com/office/drawing/2014/main" val="1553527379"/>
                  </a:ext>
                </a:extLst>
              </a:tr>
              <a:tr h="374590">
                <a:tc>
                  <a:txBody>
                    <a:bodyPr/>
                    <a:lstStyle/>
                    <a:p>
                      <a:pPr algn="ctr">
                        <a:lnSpc>
                          <a:spcPct val="100000"/>
                        </a:lnSpc>
                        <a:spcAft>
                          <a:spcPts val="0"/>
                        </a:spcAft>
                      </a:pPr>
                      <a:r>
                        <a:rPr lang="en-US" sz="1200" b="1">
                          <a:effectLst/>
                          <a:latin typeface="微软雅黑" panose="020B0503020204020204" pitchFamily="34" charset="-122"/>
                          <a:ea typeface="微软雅黑" panose="020B0503020204020204" pitchFamily="34" charset="-122"/>
                        </a:rPr>
                        <a:t>5E(</a:t>
                      </a:r>
                      <a:r>
                        <a:rPr lang="zh-CN" sz="1200" b="1">
                          <a:effectLst/>
                          <a:latin typeface="微软雅黑" panose="020B0503020204020204" pitchFamily="34" charset="-122"/>
                          <a:ea typeface="微软雅黑" panose="020B0503020204020204" pitchFamily="34" charset="-122"/>
                        </a:rPr>
                        <a:t>超</a:t>
                      </a:r>
                      <a:r>
                        <a:rPr lang="en-US" sz="1200" b="1">
                          <a:effectLst/>
                          <a:latin typeface="微软雅黑" panose="020B0503020204020204" pitchFamily="34" charset="-122"/>
                          <a:ea typeface="微软雅黑" panose="020B0503020204020204" pitchFamily="34" charset="-122"/>
                        </a:rPr>
                        <a:t>5</a:t>
                      </a:r>
                      <a:r>
                        <a:rPr lang="zh-CN" sz="1200" b="1">
                          <a:effectLst/>
                          <a:latin typeface="微软雅黑" panose="020B0503020204020204" pitchFamily="34" charset="-122"/>
                          <a:ea typeface="微软雅黑" panose="020B0503020204020204" pitchFamily="34" charset="-122"/>
                        </a:rPr>
                        <a:t>类</a:t>
                      </a:r>
                      <a:r>
                        <a:rPr lang="en-US" sz="1200" b="1">
                          <a:effectLst/>
                          <a:latin typeface="微软雅黑" panose="020B0503020204020204" pitchFamily="34" charset="-122"/>
                          <a:ea typeface="微软雅黑" panose="020B0503020204020204" pitchFamily="34" charset="-122"/>
                        </a:rPr>
                        <a:t>)</a:t>
                      </a:r>
                      <a:endParaRPr lang="zh-CN" sz="1200" b="1">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lnSpc>
                          <a:spcPct val="100000"/>
                        </a:lnSpc>
                        <a:spcAft>
                          <a:spcPts val="0"/>
                        </a:spcAft>
                      </a:pPr>
                      <a:r>
                        <a:rPr lang="en-US" sz="1200" b="1" dirty="0">
                          <a:effectLst/>
                          <a:latin typeface="微软雅黑" panose="020B0503020204020204" pitchFamily="34" charset="-122"/>
                          <a:ea typeface="微软雅黑" panose="020B0503020204020204" pitchFamily="34" charset="-122"/>
                        </a:rPr>
                        <a:t>125 MHz</a:t>
                      </a:r>
                      <a:endParaRPr lang="zh-CN" sz="1200" b="1"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l">
                        <a:lnSpc>
                          <a:spcPct val="100000"/>
                        </a:lnSpc>
                        <a:spcAft>
                          <a:spcPts val="0"/>
                        </a:spcAft>
                      </a:pPr>
                      <a:r>
                        <a:rPr lang="zh-CN" sz="1200" b="1" dirty="0">
                          <a:effectLst/>
                          <a:latin typeface="微软雅黑" panose="020B0503020204020204" pitchFamily="34" charset="-122"/>
                          <a:ea typeface="微软雅黑" panose="020B0503020204020204" pitchFamily="34" charset="-122"/>
                        </a:rPr>
                        <a:t>与</a:t>
                      </a:r>
                      <a:r>
                        <a:rPr lang="en-US" altLang="zh-CN" sz="1200" b="1" dirty="0">
                          <a:effectLst/>
                          <a:latin typeface="微软雅黑" panose="020B0503020204020204" pitchFamily="34" charset="-122"/>
                          <a:ea typeface="微软雅黑" panose="020B0503020204020204" pitchFamily="34" charset="-122"/>
                        </a:rPr>
                        <a:t> </a:t>
                      </a:r>
                      <a:r>
                        <a:rPr lang="en-US" sz="1200" b="1" dirty="0">
                          <a:effectLst/>
                          <a:latin typeface="微软雅黑" panose="020B0503020204020204" pitchFamily="34" charset="-122"/>
                          <a:ea typeface="微软雅黑" panose="020B0503020204020204" pitchFamily="34" charset="-122"/>
                        </a:rPr>
                        <a:t>5 </a:t>
                      </a:r>
                      <a:r>
                        <a:rPr lang="zh-CN" sz="1200" b="1" dirty="0">
                          <a:effectLst/>
                          <a:latin typeface="微软雅黑" panose="020B0503020204020204" pitchFamily="34" charset="-122"/>
                          <a:ea typeface="微软雅黑" panose="020B0503020204020204" pitchFamily="34" charset="-122"/>
                        </a:rPr>
                        <a:t>类相比衰减更小</a:t>
                      </a:r>
                    </a:p>
                  </a:txBody>
                  <a:tcPr marL="68580" marR="68580" marT="0" marB="0" anchor="ctr"/>
                </a:tc>
                <a:tc>
                  <a:txBody>
                    <a:bodyPr/>
                    <a:lstStyle/>
                    <a:p>
                      <a:pPr algn="l">
                        <a:lnSpc>
                          <a:spcPct val="100000"/>
                        </a:lnSpc>
                        <a:spcAft>
                          <a:spcPts val="0"/>
                        </a:spcAft>
                      </a:pPr>
                      <a:r>
                        <a:rPr lang="zh-CN" sz="1200" b="1" dirty="0">
                          <a:effectLst/>
                          <a:latin typeface="微软雅黑" panose="020B0503020204020204" pitchFamily="34" charset="-122"/>
                          <a:ea typeface="微软雅黑" panose="020B0503020204020204" pitchFamily="34" charset="-122"/>
                        </a:rPr>
                        <a:t>传输速率</a:t>
                      </a:r>
                      <a:r>
                        <a:rPr lang="en-US" altLang="zh-CN" sz="1200" b="1" dirty="0">
                          <a:effectLst/>
                          <a:latin typeface="微软雅黑" panose="020B0503020204020204" pitchFamily="34" charset="-122"/>
                          <a:ea typeface="微软雅黑" panose="020B0503020204020204" pitchFamily="34" charset="-122"/>
                        </a:rPr>
                        <a:t> </a:t>
                      </a:r>
                      <a:r>
                        <a:rPr lang="en-US" sz="1200" b="1" dirty="0">
                          <a:effectLst/>
                          <a:latin typeface="微软雅黑" panose="020B0503020204020204" pitchFamily="34" charset="-122"/>
                          <a:ea typeface="微软雅黑" panose="020B0503020204020204" pitchFamily="34" charset="-122"/>
                        </a:rPr>
                        <a:t>1 </a:t>
                      </a:r>
                      <a:r>
                        <a:rPr lang="en-US" sz="1200" b="1" dirty="0" err="1">
                          <a:effectLst/>
                          <a:latin typeface="微软雅黑" panose="020B0503020204020204" pitchFamily="34" charset="-122"/>
                          <a:ea typeface="微软雅黑" panose="020B0503020204020204" pitchFamily="34" charset="-122"/>
                        </a:rPr>
                        <a:t>Gbit</a:t>
                      </a:r>
                      <a:r>
                        <a:rPr lang="en-US" sz="1200" b="1" dirty="0">
                          <a:effectLst/>
                          <a:latin typeface="微软雅黑" panose="020B0503020204020204" pitchFamily="34" charset="-122"/>
                          <a:ea typeface="微软雅黑" panose="020B0503020204020204" pitchFamily="34" charset="-122"/>
                        </a:rPr>
                        <a:t>/s </a:t>
                      </a:r>
                      <a:r>
                        <a:rPr lang="zh-CN" sz="1200" b="1" dirty="0">
                          <a:effectLst/>
                          <a:latin typeface="微软雅黑" panose="020B0503020204020204" pitchFamily="34" charset="-122"/>
                          <a:ea typeface="微软雅黑" panose="020B0503020204020204" pitchFamily="34" charset="-122"/>
                        </a:rPr>
                        <a:t>（距离</a:t>
                      </a:r>
                      <a:r>
                        <a:rPr lang="en-US" altLang="zh-CN" sz="1200" b="1" dirty="0">
                          <a:effectLst/>
                          <a:latin typeface="微软雅黑" panose="020B0503020204020204" pitchFamily="34" charset="-122"/>
                          <a:ea typeface="微软雅黑" panose="020B0503020204020204" pitchFamily="34" charset="-122"/>
                        </a:rPr>
                        <a:t> </a:t>
                      </a:r>
                      <a:r>
                        <a:rPr lang="en-US" sz="1200" b="1" dirty="0">
                          <a:effectLst/>
                          <a:latin typeface="微软雅黑" panose="020B0503020204020204" pitchFamily="34" charset="-122"/>
                          <a:ea typeface="微软雅黑" panose="020B0503020204020204" pitchFamily="34" charset="-122"/>
                        </a:rPr>
                        <a:t>100 m</a:t>
                      </a:r>
                      <a:r>
                        <a:rPr lang="zh-CN" sz="1200" b="1" dirty="0">
                          <a:effectLst/>
                          <a:latin typeface="微软雅黑" panose="020B0503020204020204" pitchFamily="34" charset="-122"/>
                          <a:ea typeface="微软雅黑" panose="020B0503020204020204" pitchFamily="34" charset="-122"/>
                        </a:rPr>
                        <a:t>）</a:t>
                      </a:r>
                    </a:p>
                  </a:txBody>
                  <a:tcPr marL="68580" marR="68580" marT="0" marB="0" anchor="ctr"/>
                </a:tc>
                <a:extLst>
                  <a:ext uri="{0D108BD9-81ED-4DB2-BD59-A6C34878D82A}">
                    <a16:rowId xmlns:a16="http://schemas.microsoft.com/office/drawing/2014/main" val="1236569076"/>
                  </a:ext>
                </a:extLst>
              </a:tr>
              <a:tr h="374590">
                <a:tc>
                  <a:txBody>
                    <a:bodyPr/>
                    <a:lstStyle/>
                    <a:p>
                      <a:pPr algn="ctr">
                        <a:lnSpc>
                          <a:spcPct val="100000"/>
                        </a:lnSpc>
                        <a:spcAft>
                          <a:spcPts val="0"/>
                        </a:spcAft>
                      </a:pPr>
                      <a:r>
                        <a:rPr lang="en-US" sz="1200" b="1">
                          <a:effectLst/>
                          <a:latin typeface="微软雅黑" panose="020B0503020204020204" pitchFamily="34" charset="-122"/>
                          <a:ea typeface="微软雅黑" panose="020B0503020204020204" pitchFamily="34" charset="-122"/>
                        </a:rPr>
                        <a:t>6</a:t>
                      </a:r>
                      <a:endParaRPr lang="zh-CN" sz="1200" b="1">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lnSpc>
                          <a:spcPct val="100000"/>
                        </a:lnSpc>
                        <a:spcAft>
                          <a:spcPts val="0"/>
                        </a:spcAft>
                      </a:pPr>
                      <a:r>
                        <a:rPr lang="en-US" sz="1200" b="1">
                          <a:effectLst/>
                          <a:latin typeface="微软雅黑" panose="020B0503020204020204" pitchFamily="34" charset="-122"/>
                          <a:ea typeface="微软雅黑" panose="020B0503020204020204" pitchFamily="34" charset="-122"/>
                        </a:rPr>
                        <a:t>250 MHz</a:t>
                      </a:r>
                      <a:endParaRPr lang="zh-CN" sz="1200" b="1">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l">
                        <a:lnSpc>
                          <a:spcPct val="100000"/>
                        </a:lnSpc>
                        <a:spcAft>
                          <a:spcPts val="0"/>
                        </a:spcAft>
                      </a:pPr>
                      <a:r>
                        <a:rPr lang="zh-CN" sz="1200" b="1" dirty="0">
                          <a:effectLst/>
                          <a:latin typeface="微软雅黑" panose="020B0503020204020204" pitchFamily="34" charset="-122"/>
                          <a:ea typeface="微软雅黑" panose="020B0503020204020204" pitchFamily="34" charset="-122"/>
                        </a:rPr>
                        <a:t>改善了串扰等性能，可使用屏蔽双绞线</a:t>
                      </a:r>
                    </a:p>
                  </a:txBody>
                  <a:tcPr marL="68580" marR="68580" marT="0" marB="0" anchor="ctr"/>
                </a:tc>
                <a:tc>
                  <a:txBody>
                    <a:bodyPr/>
                    <a:lstStyle/>
                    <a:p>
                      <a:pPr algn="l">
                        <a:lnSpc>
                          <a:spcPct val="100000"/>
                        </a:lnSpc>
                        <a:spcAft>
                          <a:spcPts val="0"/>
                        </a:spcAft>
                      </a:pPr>
                      <a:r>
                        <a:rPr lang="zh-CN" sz="1200" b="1" dirty="0">
                          <a:effectLst/>
                          <a:latin typeface="微软雅黑" panose="020B0503020204020204" pitchFamily="34" charset="-122"/>
                          <a:ea typeface="微软雅黑" panose="020B0503020204020204" pitchFamily="34" charset="-122"/>
                        </a:rPr>
                        <a:t>传输速率</a:t>
                      </a:r>
                      <a:r>
                        <a:rPr lang="en-US" altLang="zh-CN" sz="1200" b="1" dirty="0">
                          <a:effectLst/>
                          <a:latin typeface="微软雅黑" panose="020B0503020204020204" pitchFamily="34" charset="-122"/>
                          <a:ea typeface="微软雅黑" panose="020B0503020204020204" pitchFamily="34" charset="-122"/>
                        </a:rPr>
                        <a:t> </a:t>
                      </a:r>
                      <a:r>
                        <a:rPr lang="en-US" sz="1200" b="1" dirty="0">
                          <a:effectLst/>
                          <a:latin typeface="微软雅黑" panose="020B0503020204020204" pitchFamily="34" charset="-122"/>
                          <a:ea typeface="微软雅黑" panose="020B0503020204020204" pitchFamily="34" charset="-122"/>
                        </a:rPr>
                        <a:t>10 </a:t>
                      </a:r>
                      <a:r>
                        <a:rPr lang="en-US" sz="1200" b="1" dirty="0" err="1">
                          <a:effectLst/>
                          <a:latin typeface="微软雅黑" panose="020B0503020204020204" pitchFamily="34" charset="-122"/>
                          <a:ea typeface="微软雅黑" panose="020B0503020204020204" pitchFamily="34" charset="-122"/>
                        </a:rPr>
                        <a:t>Gbit</a:t>
                      </a:r>
                      <a:r>
                        <a:rPr lang="en-US" sz="1200" b="1" dirty="0">
                          <a:effectLst/>
                          <a:latin typeface="微软雅黑" panose="020B0503020204020204" pitchFamily="34" charset="-122"/>
                          <a:ea typeface="微软雅黑" panose="020B0503020204020204" pitchFamily="34" charset="-122"/>
                        </a:rPr>
                        <a:t>/s</a:t>
                      </a:r>
                      <a:r>
                        <a:rPr lang="zh-CN" sz="1200" b="1" dirty="0">
                          <a:effectLst/>
                          <a:latin typeface="微软雅黑" panose="020B0503020204020204" pitchFamily="34" charset="-122"/>
                          <a:ea typeface="微软雅黑" panose="020B0503020204020204" pitchFamily="34" charset="-122"/>
                        </a:rPr>
                        <a:t>（距离</a:t>
                      </a:r>
                      <a:r>
                        <a:rPr lang="en-US" altLang="zh-CN" sz="1200" b="1" dirty="0">
                          <a:effectLst/>
                          <a:latin typeface="微软雅黑" panose="020B0503020204020204" pitchFamily="34" charset="-122"/>
                          <a:ea typeface="微软雅黑" panose="020B0503020204020204" pitchFamily="34" charset="-122"/>
                        </a:rPr>
                        <a:t> </a:t>
                      </a:r>
                      <a:r>
                        <a:rPr lang="en-US" sz="1200" b="1" dirty="0">
                          <a:effectLst/>
                          <a:latin typeface="微软雅黑" panose="020B0503020204020204" pitchFamily="34" charset="-122"/>
                          <a:ea typeface="微软雅黑" panose="020B0503020204020204" pitchFamily="34" charset="-122"/>
                        </a:rPr>
                        <a:t>35 ~ 55 m</a:t>
                      </a:r>
                      <a:r>
                        <a:rPr lang="zh-CN" sz="1200" b="1" dirty="0">
                          <a:effectLst/>
                          <a:latin typeface="微软雅黑" panose="020B0503020204020204" pitchFamily="34" charset="-122"/>
                          <a:ea typeface="微软雅黑" panose="020B0503020204020204" pitchFamily="34" charset="-122"/>
                        </a:rPr>
                        <a:t>）</a:t>
                      </a:r>
                    </a:p>
                  </a:txBody>
                  <a:tcPr marL="68580" marR="68580" marT="0" marB="0" anchor="ctr"/>
                </a:tc>
                <a:extLst>
                  <a:ext uri="{0D108BD9-81ED-4DB2-BD59-A6C34878D82A}">
                    <a16:rowId xmlns:a16="http://schemas.microsoft.com/office/drawing/2014/main" val="1612678843"/>
                  </a:ext>
                </a:extLst>
              </a:tr>
              <a:tr h="374590">
                <a:tc>
                  <a:txBody>
                    <a:bodyPr/>
                    <a:lstStyle/>
                    <a:p>
                      <a:pPr algn="ctr">
                        <a:lnSpc>
                          <a:spcPct val="100000"/>
                        </a:lnSpc>
                        <a:spcAft>
                          <a:spcPts val="0"/>
                        </a:spcAft>
                      </a:pPr>
                      <a:r>
                        <a:rPr lang="en-US" sz="1200" b="1">
                          <a:effectLst/>
                          <a:latin typeface="微软雅黑" panose="020B0503020204020204" pitchFamily="34" charset="-122"/>
                          <a:ea typeface="微软雅黑" panose="020B0503020204020204" pitchFamily="34" charset="-122"/>
                        </a:rPr>
                        <a:t>6A</a:t>
                      </a:r>
                      <a:endParaRPr lang="zh-CN" sz="1200" b="1">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lnSpc>
                          <a:spcPct val="100000"/>
                        </a:lnSpc>
                        <a:spcAft>
                          <a:spcPts val="0"/>
                        </a:spcAft>
                      </a:pPr>
                      <a:r>
                        <a:rPr lang="en-US" sz="1200" b="1">
                          <a:effectLst/>
                          <a:latin typeface="微软雅黑" panose="020B0503020204020204" pitchFamily="34" charset="-122"/>
                          <a:ea typeface="微软雅黑" panose="020B0503020204020204" pitchFamily="34" charset="-122"/>
                        </a:rPr>
                        <a:t>500 MHz</a:t>
                      </a:r>
                      <a:endParaRPr lang="zh-CN" sz="1200" b="1">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l">
                        <a:lnSpc>
                          <a:spcPct val="100000"/>
                        </a:lnSpc>
                        <a:spcAft>
                          <a:spcPts val="0"/>
                        </a:spcAft>
                      </a:pPr>
                      <a:r>
                        <a:rPr lang="zh-CN" sz="1200" b="1" dirty="0">
                          <a:effectLst/>
                          <a:latin typeface="微软雅黑" panose="020B0503020204020204" pitchFamily="34" charset="-122"/>
                          <a:ea typeface="微软雅黑" panose="020B0503020204020204" pitchFamily="34" charset="-122"/>
                        </a:rPr>
                        <a:t>改善了串扰等性能，可使用屏蔽双绞线</a:t>
                      </a:r>
                    </a:p>
                  </a:txBody>
                  <a:tcPr marL="68580" marR="68580" marT="0" marB="0" anchor="ctr"/>
                </a:tc>
                <a:tc>
                  <a:txBody>
                    <a:bodyPr/>
                    <a:lstStyle/>
                    <a:p>
                      <a:pPr algn="l">
                        <a:lnSpc>
                          <a:spcPct val="100000"/>
                        </a:lnSpc>
                        <a:spcAft>
                          <a:spcPts val="0"/>
                        </a:spcAft>
                      </a:pPr>
                      <a:r>
                        <a:rPr lang="zh-CN" sz="1200" b="1" dirty="0">
                          <a:effectLst/>
                          <a:latin typeface="微软雅黑" panose="020B0503020204020204" pitchFamily="34" charset="-122"/>
                          <a:ea typeface="微软雅黑" panose="020B0503020204020204" pitchFamily="34" charset="-122"/>
                        </a:rPr>
                        <a:t>传输速率</a:t>
                      </a:r>
                      <a:r>
                        <a:rPr lang="en-US" altLang="zh-CN" sz="1200" b="1" dirty="0">
                          <a:effectLst/>
                          <a:latin typeface="微软雅黑" panose="020B0503020204020204" pitchFamily="34" charset="-122"/>
                          <a:ea typeface="微软雅黑" panose="020B0503020204020204" pitchFamily="34" charset="-122"/>
                        </a:rPr>
                        <a:t> </a:t>
                      </a:r>
                      <a:r>
                        <a:rPr lang="en-US" sz="1200" b="1" dirty="0">
                          <a:effectLst/>
                          <a:latin typeface="微软雅黑" panose="020B0503020204020204" pitchFamily="34" charset="-122"/>
                          <a:ea typeface="微软雅黑" panose="020B0503020204020204" pitchFamily="34" charset="-122"/>
                        </a:rPr>
                        <a:t>10 </a:t>
                      </a:r>
                      <a:r>
                        <a:rPr lang="en-US" sz="1200" b="1" dirty="0" err="1">
                          <a:effectLst/>
                          <a:latin typeface="微软雅黑" panose="020B0503020204020204" pitchFamily="34" charset="-122"/>
                          <a:ea typeface="微软雅黑" panose="020B0503020204020204" pitchFamily="34" charset="-122"/>
                        </a:rPr>
                        <a:t>Gbit</a:t>
                      </a:r>
                      <a:r>
                        <a:rPr lang="en-US" sz="1200" b="1" dirty="0">
                          <a:effectLst/>
                          <a:latin typeface="微软雅黑" panose="020B0503020204020204" pitchFamily="34" charset="-122"/>
                          <a:ea typeface="微软雅黑" panose="020B0503020204020204" pitchFamily="34" charset="-122"/>
                        </a:rPr>
                        <a:t>/s</a:t>
                      </a:r>
                      <a:r>
                        <a:rPr lang="zh-CN" sz="1200" b="1" dirty="0">
                          <a:effectLst/>
                          <a:latin typeface="微软雅黑" panose="020B0503020204020204" pitchFamily="34" charset="-122"/>
                          <a:ea typeface="微软雅黑" panose="020B0503020204020204" pitchFamily="34" charset="-122"/>
                        </a:rPr>
                        <a:t>（距离</a:t>
                      </a:r>
                      <a:r>
                        <a:rPr lang="en-US" sz="1200" b="1" dirty="0">
                          <a:effectLst/>
                          <a:latin typeface="微软雅黑" panose="020B0503020204020204" pitchFamily="34" charset="-122"/>
                          <a:ea typeface="微软雅黑" panose="020B0503020204020204" pitchFamily="34" charset="-122"/>
                        </a:rPr>
                        <a:t>100 m</a:t>
                      </a:r>
                      <a:r>
                        <a:rPr lang="zh-CN" sz="1200" b="1" dirty="0">
                          <a:effectLst/>
                          <a:latin typeface="微软雅黑" panose="020B0503020204020204" pitchFamily="34" charset="-122"/>
                          <a:ea typeface="微软雅黑" panose="020B0503020204020204" pitchFamily="34" charset="-122"/>
                        </a:rPr>
                        <a:t>）</a:t>
                      </a:r>
                    </a:p>
                  </a:txBody>
                  <a:tcPr marL="68580" marR="68580" marT="0" marB="0" anchor="ctr"/>
                </a:tc>
                <a:extLst>
                  <a:ext uri="{0D108BD9-81ED-4DB2-BD59-A6C34878D82A}">
                    <a16:rowId xmlns:a16="http://schemas.microsoft.com/office/drawing/2014/main" val="1951751904"/>
                  </a:ext>
                </a:extLst>
              </a:tr>
              <a:tr h="374590">
                <a:tc>
                  <a:txBody>
                    <a:bodyPr/>
                    <a:lstStyle/>
                    <a:p>
                      <a:pPr algn="ctr">
                        <a:lnSpc>
                          <a:spcPct val="100000"/>
                        </a:lnSpc>
                        <a:spcAft>
                          <a:spcPts val="0"/>
                        </a:spcAft>
                      </a:pPr>
                      <a:r>
                        <a:rPr lang="en-US" sz="1200" b="1">
                          <a:effectLst/>
                          <a:latin typeface="微软雅黑" panose="020B0503020204020204" pitchFamily="34" charset="-122"/>
                          <a:ea typeface="微软雅黑" panose="020B0503020204020204" pitchFamily="34" charset="-122"/>
                        </a:rPr>
                        <a:t>7</a:t>
                      </a:r>
                      <a:endParaRPr lang="zh-CN" sz="1200" b="1">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lnSpc>
                          <a:spcPct val="100000"/>
                        </a:lnSpc>
                        <a:spcAft>
                          <a:spcPts val="0"/>
                        </a:spcAft>
                      </a:pPr>
                      <a:r>
                        <a:rPr lang="en-US" sz="1200" b="1">
                          <a:effectLst/>
                          <a:latin typeface="微软雅黑" panose="020B0503020204020204" pitchFamily="34" charset="-122"/>
                          <a:ea typeface="微软雅黑" panose="020B0503020204020204" pitchFamily="34" charset="-122"/>
                        </a:rPr>
                        <a:t>600 MHz</a:t>
                      </a:r>
                      <a:endParaRPr lang="zh-CN" sz="1200" b="1">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l">
                        <a:lnSpc>
                          <a:spcPct val="100000"/>
                        </a:lnSpc>
                        <a:spcAft>
                          <a:spcPts val="0"/>
                        </a:spcAft>
                      </a:pPr>
                      <a:r>
                        <a:rPr lang="zh-CN" sz="1200" b="1" dirty="0">
                          <a:effectLst/>
                          <a:latin typeface="微软雅黑" panose="020B0503020204020204" pitchFamily="34" charset="-122"/>
                          <a:ea typeface="微软雅黑" panose="020B0503020204020204" pitchFamily="34" charset="-122"/>
                        </a:rPr>
                        <a:t>必须使用屏蔽双绞线</a:t>
                      </a:r>
                    </a:p>
                  </a:txBody>
                  <a:tcPr marL="68580" marR="68580" marT="0" marB="0" anchor="ctr"/>
                </a:tc>
                <a:tc>
                  <a:txBody>
                    <a:bodyPr/>
                    <a:lstStyle/>
                    <a:p>
                      <a:pPr algn="l">
                        <a:lnSpc>
                          <a:spcPct val="100000"/>
                        </a:lnSpc>
                        <a:spcAft>
                          <a:spcPts val="0"/>
                        </a:spcAft>
                      </a:pPr>
                      <a:r>
                        <a:rPr lang="zh-CN" sz="1200" b="1" dirty="0">
                          <a:effectLst/>
                          <a:latin typeface="微软雅黑" panose="020B0503020204020204" pitchFamily="34" charset="-122"/>
                          <a:ea typeface="微软雅黑" panose="020B0503020204020204" pitchFamily="34" charset="-122"/>
                        </a:rPr>
                        <a:t>传输速率超过</a:t>
                      </a:r>
                      <a:r>
                        <a:rPr lang="en-US" altLang="zh-CN" sz="1200" b="1" dirty="0">
                          <a:effectLst/>
                          <a:latin typeface="微软雅黑" panose="020B0503020204020204" pitchFamily="34" charset="-122"/>
                          <a:ea typeface="微软雅黑" panose="020B0503020204020204" pitchFamily="34" charset="-122"/>
                        </a:rPr>
                        <a:t> </a:t>
                      </a:r>
                      <a:r>
                        <a:rPr lang="en-US" sz="1200" b="1" dirty="0">
                          <a:effectLst/>
                          <a:latin typeface="微软雅黑" panose="020B0503020204020204" pitchFamily="34" charset="-122"/>
                          <a:ea typeface="微软雅黑" panose="020B0503020204020204" pitchFamily="34" charset="-122"/>
                        </a:rPr>
                        <a:t>10 </a:t>
                      </a:r>
                      <a:r>
                        <a:rPr lang="en-US" sz="1200" b="1" dirty="0" err="1">
                          <a:effectLst/>
                          <a:latin typeface="微软雅黑" panose="020B0503020204020204" pitchFamily="34" charset="-122"/>
                          <a:ea typeface="微软雅黑" panose="020B0503020204020204" pitchFamily="34" charset="-122"/>
                        </a:rPr>
                        <a:t>Gbit</a:t>
                      </a:r>
                      <a:r>
                        <a:rPr lang="en-US" sz="1200" b="1" dirty="0">
                          <a:effectLst/>
                          <a:latin typeface="微软雅黑" panose="020B0503020204020204" pitchFamily="34" charset="-122"/>
                          <a:ea typeface="微软雅黑" panose="020B0503020204020204" pitchFamily="34" charset="-122"/>
                        </a:rPr>
                        <a:t>/s</a:t>
                      </a:r>
                      <a:r>
                        <a:rPr lang="zh-CN" sz="1200" b="1" dirty="0">
                          <a:effectLst/>
                          <a:latin typeface="微软雅黑" panose="020B0503020204020204" pitchFamily="34" charset="-122"/>
                          <a:ea typeface="微软雅黑" panose="020B0503020204020204" pitchFamily="34" charset="-122"/>
                        </a:rPr>
                        <a:t>，距离</a:t>
                      </a:r>
                      <a:r>
                        <a:rPr lang="en-US" altLang="zh-CN" sz="1200" b="1" dirty="0">
                          <a:effectLst/>
                          <a:latin typeface="微软雅黑" panose="020B0503020204020204" pitchFamily="34" charset="-122"/>
                          <a:ea typeface="微软雅黑" panose="020B0503020204020204" pitchFamily="34" charset="-122"/>
                        </a:rPr>
                        <a:t> </a:t>
                      </a:r>
                      <a:r>
                        <a:rPr lang="en-US" sz="1200" b="1" dirty="0">
                          <a:effectLst/>
                          <a:latin typeface="微软雅黑" panose="020B0503020204020204" pitchFamily="34" charset="-122"/>
                          <a:ea typeface="微软雅黑" panose="020B0503020204020204" pitchFamily="34" charset="-122"/>
                        </a:rPr>
                        <a:t>100 m</a:t>
                      </a:r>
                      <a:endParaRPr lang="zh-CN" sz="1200" b="1" dirty="0">
                        <a:effectLst/>
                        <a:latin typeface="微软雅黑" panose="020B0503020204020204" pitchFamily="34" charset="-122"/>
                        <a:ea typeface="微软雅黑" panose="020B0503020204020204" pitchFamily="34" charset="-122"/>
                      </a:endParaRPr>
                    </a:p>
                  </a:txBody>
                  <a:tcPr marL="68580" marR="68580" marT="0" marB="0" anchor="ctr"/>
                </a:tc>
                <a:extLst>
                  <a:ext uri="{0D108BD9-81ED-4DB2-BD59-A6C34878D82A}">
                    <a16:rowId xmlns:a16="http://schemas.microsoft.com/office/drawing/2014/main" val="1261163200"/>
                  </a:ext>
                </a:extLst>
              </a:tr>
              <a:tr h="374590">
                <a:tc>
                  <a:txBody>
                    <a:bodyPr/>
                    <a:lstStyle/>
                    <a:p>
                      <a:pPr algn="ctr">
                        <a:lnSpc>
                          <a:spcPct val="100000"/>
                        </a:lnSpc>
                        <a:spcAft>
                          <a:spcPts val="0"/>
                        </a:spcAft>
                      </a:pPr>
                      <a:r>
                        <a:rPr lang="en-US" sz="1200" b="1">
                          <a:effectLst/>
                          <a:latin typeface="微软雅黑" panose="020B0503020204020204" pitchFamily="34" charset="-122"/>
                          <a:ea typeface="微软雅黑" panose="020B0503020204020204" pitchFamily="34" charset="-122"/>
                        </a:rPr>
                        <a:t>8</a:t>
                      </a:r>
                      <a:endParaRPr lang="zh-CN" sz="1200" b="1">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lnSpc>
                          <a:spcPct val="100000"/>
                        </a:lnSpc>
                        <a:spcAft>
                          <a:spcPts val="0"/>
                        </a:spcAft>
                      </a:pPr>
                      <a:r>
                        <a:rPr lang="en-US" sz="1200" b="1">
                          <a:effectLst/>
                          <a:latin typeface="微软雅黑" panose="020B0503020204020204" pitchFamily="34" charset="-122"/>
                          <a:ea typeface="微软雅黑" panose="020B0503020204020204" pitchFamily="34" charset="-122"/>
                        </a:rPr>
                        <a:t>2000 MHz</a:t>
                      </a:r>
                      <a:endParaRPr lang="zh-CN" sz="1200" b="1">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l">
                        <a:lnSpc>
                          <a:spcPct val="100000"/>
                        </a:lnSpc>
                        <a:spcAft>
                          <a:spcPts val="0"/>
                        </a:spcAft>
                      </a:pPr>
                      <a:r>
                        <a:rPr lang="zh-CN" sz="1200" b="1" dirty="0">
                          <a:effectLst/>
                          <a:latin typeface="微软雅黑" panose="020B0503020204020204" pitchFamily="34" charset="-122"/>
                          <a:ea typeface="微软雅黑" panose="020B0503020204020204" pitchFamily="34" charset="-122"/>
                        </a:rPr>
                        <a:t>必须使用屏蔽双绞线</a:t>
                      </a:r>
                    </a:p>
                  </a:txBody>
                  <a:tcPr marL="68580" marR="68580" marT="0" marB="0" anchor="ctr"/>
                </a:tc>
                <a:tc>
                  <a:txBody>
                    <a:bodyPr/>
                    <a:lstStyle/>
                    <a:p>
                      <a:pPr algn="l">
                        <a:lnSpc>
                          <a:spcPct val="100000"/>
                        </a:lnSpc>
                        <a:spcAft>
                          <a:spcPts val="0"/>
                        </a:spcAft>
                      </a:pPr>
                      <a:r>
                        <a:rPr lang="zh-CN" sz="1200" b="1" dirty="0">
                          <a:effectLst/>
                          <a:latin typeface="微软雅黑" panose="020B0503020204020204" pitchFamily="34" charset="-122"/>
                          <a:ea typeface="微软雅黑" panose="020B0503020204020204" pitchFamily="34" charset="-122"/>
                        </a:rPr>
                        <a:t>传输速率</a:t>
                      </a:r>
                      <a:r>
                        <a:rPr lang="en-US" altLang="zh-CN" sz="1200" b="1" dirty="0">
                          <a:effectLst/>
                          <a:latin typeface="微软雅黑" panose="020B0503020204020204" pitchFamily="34" charset="-122"/>
                          <a:ea typeface="微软雅黑" panose="020B0503020204020204" pitchFamily="34" charset="-122"/>
                        </a:rPr>
                        <a:t> </a:t>
                      </a:r>
                      <a:r>
                        <a:rPr lang="en-US" sz="1200" b="1" dirty="0">
                          <a:effectLst/>
                          <a:latin typeface="微软雅黑" panose="020B0503020204020204" pitchFamily="34" charset="-122"/>
                          <a:ea typeface="微软雅黑" panose="020B0503020204020204" pitchFamily="34" charset="-122"/>
                        </a:rPr>
                        <a:t>25 </a:t>
                      </a:r>
                      <a:r>
                        <a:rPr lang="en-US" sz="1200" b="1" dirty="0" err="1">
                          <a:effectLst/>
                          <a:latin typeface="微软雅黑" panose="020B0503020204020204" pitchFamily="34" charset="-122"/>
                          <a:ea typeface="微软雅黑" panose="020B0503020204020204" pitchFamily="34" charset="-122"/>
                        </a:rPr>
                        <a:t>Gbit</a:t>
                      </a:r>
                      <a:r>
                        <a:rPr lang="en-US" sz="1200" b="1" dirty="0">
                          <a:effectLst/>
                          <a:latin typeface="微软雅黑" panose="020B0503020204020204" pitchFamily="34" charset="-122"/>
                          <a:ea typeface="微软雅黑" panose="020B0503020204020204" pitchFamily="34" charset="-122"/>
                        </a:rPr>
                        <a:t>/s </a:t>
                      </a:r>
                      <a:r>
                        <a:rPr lang="zh-CN" sz="1200" b="1" dirty="0">
                          <a:effectLst/>
                          <a:latin typeface="微软雅黑" panose="020B0503020204020204" pitchFamily="34" charset="-122"/>
                          <a:ea typeface="微软雅黑" panose="020B0503020204020204" pitchFamily="34" charset="-122"/>
                        </a:rPr>
                        <a:t>或</a:t>
                      </a:r>
                      <a:r>
                        <a:rPr lang="en-US" altLang="zh-CN" sz="1200" b="1" dirty="0">
                          <a:effectLst/>
                          <a:latin typeface="微软雅黑" panose="020B0503020204020204" pitchFamily="34" charset="-122"/>
                          <a:ea typeface="微软雅黑" panose="020B0503020204020204" pitchFamily="34" charset="-122"/>
                        </a:rPr>
                        <a:t> </a:t>
                      </a:r>
                      <a:r>
                        <a:rPr lang="en-US" sz="1200" b="1" dirty="0">
                          <a:effectLst/>
                          <a:latin typeface="微软雅黑" panose="020B0503020204020204" pitchFamily="34" charset="-122"/>
                          <a:ea typeface="微软雅黑" panose="020B0503020204020204" pitchFamily="34" charset="-122"/>
                        </a:rPr>
                        <a:t>40 </a:t>
                      </a:r>
                      <a:r>
                        <a:rPr lang="en-US" sz="1200" b="1" dirty="0" err="1">
                          <a:effectLst/>
                          <a:latin typeface="微软雅黑" panose="020B0503020204020204" pitchFamily="34" charset="-122"/>
                          <a:ea typeface="微软雅黑" panose="020B0503020204020204" pitchFamily="34" charset="-122"/>
                        </a:rPr>
                        <a:t>Gbit</a:t>
                      </a:r>
                      <a:r>
                        <a:rPr lang="en-US" sz="1200" b="1" dirty="0">
                          <a:effectLst/>
                          <a:latin typeface="微软雅黑" panose="020B0503020204020204" pitchFamily="34" charset="-122"/>
                          <a:ea typeface="微软雅黑" panose="020B0503020204020204" pitchFamily="34" charset="-122"/>
                        </a:rPr>
                        <a:t>/s</a:t>
                      </a:r>
                      <a:r>
                        <a:rPr lang="zh-CN" sz="1200" b="1" dirty="0">
                          <a:effectLst/>
                          <a:latin typeface="微软雅黑" panose="020B0503020204020204" pitchFamily="34" charset="-122"/>
                          <a:ea typeface="微软雅黑" panose="020B0503020204020204" pitchFamily="34" charset="-122"/>
                        </a:rPr>
                        <a:t>，距离</a:t>
                      </a:r>
                      <a:r>
                        <a:rPr lang="en-US" altLang="zh-CN" sz="1200" b="1" dirty="0">
                          <a:effectLst/>
                          <a:latin typeface="微软雅黑" panose="020B0503020204020204" pitchFamily="34" charset="-122"/>
                          <a:ea typeface="微软雅黑" panose="020B0503020204020204" pitchFamily="34" charset="-122"/>
                        </a:rPr>
                        <a:t> </a:t>
                      </a:r>
                      <a:r>
                        <a:rPr lang="en-US" sz="1200" b="1" dirty="0">
                          <a:effectLst/>
                          <a:latin typeface="微软雅黑" panose="020B0503020204020204" pitchFamily="34" charset="-122"/>
                          <a:ea typeface="微软雅黑" panose="020B0503020204020204" pitchFamily="34" charset="-122"/>
                        </a:rPr>
                        <a:t>30 m</a:t>
                      </a:r>
                      <a:endParaRPr lang="zh-CN" sz="1200" b="1" dirty="0">
                        <a:effectLst/>
                        <a:latin typeface="微软雅黑" panose="020B0503020204020204" pitchFamily="34" charset="-122"/>
                        <a:ea typeface="微软雅黑" panose="020B0503020204020204" pitchFamily="34" charset="-122"/>
                      </a:endParaRPr>
                    </a:p>
                  </a:txBody>
                  <a:tcPr marL="68580" marR="68580" marT="0" marB="0" anchor="ctr"/>
                </a:tc>
                <a:extLst>
                  <a:ext uri="{0D108BD9-81ED-4DB2-BD59-A6C34878D82A}">
                    <a16:rowId xmlns:a16="http://schemas.microsoft.com/office/drawing/2014/main" val="1434317316"/>
                  </a:ext>
                </a:extLst>
              </a:tr>
            </a:tbl>
          </a:graphicData>
        </a:graphic>
      </p:graphicFrame>
      <p:sp>
        <p:nvSpPr>
          <p:cNvPr id="4" name="矩形 3"/>
          <p:cNvSpPr/>
          <p:nvPr/>
        </p:nvSpPr>
        <p:spPr>
          <a:xfrm>
            <a:off x="2703317" y="1051949"/>
            <a:ext cx="3877986" cy="369332"/>
          </a:xfrm>
          <a:prstGeom prst="rect">
            <a:avLst/>
          </a:prstGeom>
        </p:spPr>
        <p:txBody>
          <a:bodyPr wrap="none">
            <a:spAutoFit/>
          </a:bodyPr>
          <a:lstStyle/>
          <a:p>
            <a:pPr algn="ctr"/>
            <a:r>
              <a:rPr lang="zh-CN" altLang="zh-CN" b="1" dirty="0">
                <a:latin typeface="微软雅黑" pitchFamily="34" charset="-122"/>
                <a:ea typeface="微软雅黑" pitchFamily="34" charset="-122"/>
              </a:rPr>
              <a:t>常用绞合线的类别、带宽和典型应用</a:t>
            </a:r>
            <a:endParaRPr lang="zh-CN" altLang="en-US" b="1" dirty="0">
              <a:latin typeface="微软雅黑" pitchFamily="34" charset="-122"/>
              <a:ea typeface="微软雅黑" pitchFamily="34" charset="-122"/>
            </a:endParaRPr>
          </a:p>
        </p:txBody>
      </p:sp>
    </p:spTree>
    <p:extLst>
      <p:ext uri="{BB962C8B-B14F-4D97-AF65-F5344CB8AC3E}">
        <p14:creationId xmlns:p14="http://schemas.microsoft.com/office/powerpoint/2010/main" val="5867546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a:xfrm>
            <a:off x="1332000" y="360000"/>
            <a:ext cx="6480000" cy="354012"/>
          </a:xfrm>
        </p:spPr>
        <p:txBody>
          <a:bodyPr>
            <a:normAutofit fontScale="92500" lnSpcReduction="10000"/>
          </a:bodyPr>
          <a:lstStyle/>
          <a:p>
            <a:r>
              <a:rPr lang="zh-CN" altLang="en-US" dirty="0"/>
              <a:t>双绞线标准 </a:t>
            </a:r>
            <a:r>
              <a:rPr lang="en-US" altLang="zh-CN" dirty="0"/>
              <a:t>EIA/TIA-568</a:t>
            </a:r>
            <a:endParaRPr lang="zh-CN" altLang="en-US" dirty="0"/>
          </a:p>
        </p:txBody>
      </p:sp>
      <p:graphicFrame>
        <p:nvGraphicFramePr>
          <p:cNvPr id="3" name="表格 2"/>
          <p:cNvGraphicFramePr>
            <a:graphicFrameLocks noGrp="1"/>
          </p:cNvGraphicFramePr>
          <p:nvPr>
            <p:extLst>
              <p:ext uri="{D42A27DB-BD31-4B8C-83A1-F6EECF244321}">
                <p14:modId xmlns:p14="http://schemas.microsoft.com/office/powerpoint/2010/main" val="2073474996"/>
              </p:ext>
            </p:extLst>
          </p:nvPr>
        </p:nvGraphicFramePr>
        <p:xfrm>
          <a:off x="513807" y="1370370"/>
          <a:ext cx="8046720" cy="2968905"/>
        </p:xfrm>
        <a:graphic>
          <a:graphicData uri="http://schemas.openxmlformats.org/drawingml/2006/table">
            <a:tbl>
              <a:tblPr firstRow="1" firstCol="1" bandRow="1">
                <a:tableStyleId>{5C22544A-7EE6-4342-B048-85BDC9FD1C3A}</a:tableStyleId>
              </a:tblPr>
              <a:tblGrid>
                <a:gridCol w="940524">
                  <a:extLst>
                    <a:ext uri="{9D8B030D-6E8A-4147-A177-3AD203B41FA5}">
                      <a16:colId xmlns:a16="http://schemas.microsoft.com/office/drawing/2014/main" val="1889052077"/>
                    </a:ext>
                  </a:extLst>
                </a:gridCol>
                <a:gridCol w="940526">
                  <a:extLst>
                    <a:ext uri="{9D8B030D-6E8A-4147-A177-3AD203B41FA5}">
                      <a16:colId xmlns:a16="http://schemas.microsoft.com/office/drawing/2014/main" val="909568552"/>
                    </a:ext>
                  </a:extLst>
                </a:gridCol>
                <a:gridCol w="2786743">
                  <a:extLst>
                    <a:ext uri="{9D8B030D-6E8A-4147-A177-3AD203B41FA5}">
                      <a16:colId xmlns:a16="http://schemas.microsoft.com/office/drawing/2014/main" val="2693267567"/>
                    </a:ext>
                  </a:extLst>
                </a:gridCol>
                <a:gridCol w="3378927">
                  <a:extLst>
                    <a:ext uri="{9D8B030D-6E8A-4147-A177-3AD203B41FA5}">
                      <a16:colId xmlns:a16="http://schemas.microsoft.com/office/drawing/2014/main" val="2377595142"/>
                    </a:ext>
                  </a:extLst>
                </a:gridCol>
              </a:tblGrid>
              <a:tr h="353926">
                <a:tc>
                  <a:txBody>
                    <a:bodyPr/>
                    <a:lstStyle/>
                    <a:p>
                      <a:pPr algn="ctr">
                        <a:lnSpc>
                          <a:spcPct val="100000"/>
                        </a:lnSpc>
                        <a:spcAft>
                          <a:spcPts val="0"/>
                        </a:spcAft>
                      </a:pPr>
                      <a:r>
                        <a:rPr lang="zh-CN" altLang="en-US" sz="1200" dirty="0"/>
                        <a:t>绞合线类别</a:t>
                      </a:r>
                    </a:p>
                  </a:txBody>
                  <a:tcPr marL="68580" marR="68580" marT="0" marB="0" anchor="ctr"/>
                </a:tc>
                <a:tc>
                  <a:txBody>
                    <a:bodyPr/>
                    <a:lstStyle/>
                    <a:p>
                      <a:pPr algn="ctr">
                        <a:lnSpc>
                          <a:spcPct val="100000"/>
                        </a:lnSpc>
                        <a:spcAft>
                          <a:spcPts val="0"/>
                        </a:spcAft>
                      </a:pPr>
                      <a:r>
                        <a:rPr lang="zh-CN" altLang="en-US" sz="1200" dirty="0"/>
                        <a:t>带 宽</a:t>
                      </a:r>
                    </a:p>
                  </a:txBody>
                  <a:tcPr marL="68580" marR="68580" marT="0" marB="0" anchor="ctr"/>
                </a:tc>
                <a:tc>
                  <a:txBody>
                    <a:bodyPr/>
                    <a:lstStyle/>
                    <a:p>
                      <a:pPr algn="ctr">
                        <a:lnSpc>
                          <a:spcPct val="100000"/>
                        </a:lnSpc>
                        <a:spcAft>
                          <a:spcPts val="0"/>
                        </a:spcAft>
                      </a:pPr>
                      <a:r>
                        <a:rPr lang="zh-CN" altLang="en-US" sz="1200" dirty="0"/>
                        <a:t>线 缆 特 点</a:t>
                      </a:r>
                    </a:p>
                  </a:txBody>
                  <a:tcPr marL="68580" marR="68580" marT="0" marB="0" anchor="ctr"/>
                </a:tc>
                <a:tc>
                  <a:txBody>
                    <a:bodyPr/>
                    <a:lstStyle/>
                    <a:p>
                      <a:pPr algn="ctr">
                        <a:lnSpc>
                          <a:spcPct val="100000"/>
                        </a:lnSpc>
                        <a:spcAft>
                          <a:spcPts val="0"/>
                        </a:spcAft>
                      </a:pPr>
                      <a:r>
                        <a:rPr lang="zh-CN" altLang="en-US" sz="1200" dirty="0"/>
                        <a:t>典 型 应 用</a:t>
                      </a:r>
                    </a:p>
                  </a:txBody>
                  <a:tcPr marL="68580" marR="68580" marT="0" marB="0" anchor="ctr"/>
                </a:tc>
                <a:extLst>
                  <a:ext uri="{0D108BD9-81ED-4DB2-BD59-A6C34878D82A}">
                    <a16:rowId xmlns:a16="http://schemas.microsoft.com/office/drawing/2014/main" val="2754333217"/>
                  </a:ext>
                </a:extLst>
              </a:tr>
              <a:tr h="367439">
                <a:tc>
                  <a:txBody>
                    <a:bodyPr/>
                    <a:lstStyle/>
                    <a:p>
                      <a:pPr algn="ctr">
                        <a:lnSpc>
                          <a:spcPct val="100000"/>
                        </a:lnSpc>
                        <a:spcAft>
                          <a:spcPts val="0"/>
                        </a:spcAft>
                      </a:pPr>
                      <a:r>
                        <a:rPr lang="en-US" sz="1200"/>
                        <a:t>3</a:t>
                      </a:r>
                      <a:endParaRPr lang="zh-CN" altLang="en-US" sz="1200"/>
                    </a:p>
                  </a:txBody>
                  <a:tcPr marL="68580" marR="68580" marT="0" marB="0" anchor="ctr"/>
                </a:tc>
                <a:tc>
                  <a:txBody>
                    <a:bodyPr/>
                    <a:lstStyle/>
                    <a:p>
                      <a:pPr algn="ctr">
                        <a:lnSpc>
                          <a:spcPct val="100000"/>
                        </a:lnSpc>
                        <a:spcAft>
                          <a:spcPts val="0"/>
                        </a:spcAft>
                      </a:pPr>
                      <a:r>
                        <a:rPr lang="en-US" sz="1200"/>
                        <a:t>16 MHz</a:t>
                      </a:r>
                      <a:endParaRPr lang="zh-CN" altLang="en-US" sz="1200"/>
                    </a:p>
                  </a:txBody>
                  <a:tcPr marL="68580" marR="68580" marT="0" marB="0" anchor="ctr"/>
                </a:tc>
                <a:tc>
                  <a:txBody>
                    <a:bodyPr/>
                    <a:lstStyle/>
                    <a:p>
                      <a:pPr algn="l">
                        <a:lnSpc>
                          <a:spcPct val="100000"/>
                        </a:lnSpc>
                        <a:spcAft>
                          <a:spcPts val="0"/>
                        </a:spcAft>
                      </a:pPr>
                      <a:r>
                        <a:rPr lang="en-US" sz="1200" dirty="0"/>
                        <a:t>2 </a:t>
                      </a:r>
                      <a:r>
                        <a:rPr lang="zh-CN" altLang="en-US" sz="1200" dirty="0"/>
                        <a:t>对</a:t>
                      </a:r>
                      <a:r>
                        <a:rPr lang="en-US" altLang="zh-CN" sz="1200" dirty="0"/>
                        <a:t> </a:t>
                      </a:r>
                      <a:r>
                        <a:rPr lang="en-US" sz="1200" dirty="0"/>
                        <a:t>4 </a:t>
                      </a:r>
                      <a:r>
                        <a:rPr lang="zh-CN" altLang="en-US" sz="1200" dirty="0"/>
                        <a:t>芯双绞线</a:t>
                      </a:r>
                    </a:p>
                  </a:txBody>
                  <a:tcPr marL="68580" marR="68580" marT="0" marB="0" anchor="ctr"/>
                </a:tc>
                <a:tc>
                  <a:txBody>
                    <a:bodyPr/>
                    <a:lstStyle/>
                    <a:p>
                      <a:pPr algn="l">
                        <a:lnSpc>
                          <a:spcPct val="100000"/>
                        </a:lnSpc>
                        <a:spcAft>
                          <a:spcPts val="0"/>
                        </a:spcAft>
                      </a:pPr>
                      <a:r>
                        <a:rPr lang="zh-CN" altLang="en-US" sz="1200"/>
                        <a:t>模拟电话；传统以太网（</a:t>
                      </a:r>
                      <a:r>
                        <a:rPr lang="en-US" sz="1200"/>
                        <a:t>10 Mbit/s</a:t>
                      </a:r>
                      <a:r>
                        <a:rPr lang="zh-CN" altLang="en-US" sz="1200"/>
                        <a:t>）</a:t>
                      </a:r>
                    </a:p>
                  </a:txBody>
                  <a:tcPr marL="68580" marR="68580" marT="0" marB="0" anchor="ctr"/>
                </a:tc>
                <a:extLst>
                  <a:ext uri="{0D108BD9-81ED-4DB2-BD59-A6C34878D82A}">
                    <a16:rowId xmlns:a16="http://schemas.microsoft.com/office/drawing/2014/main" val="2979593176"/>
                  </a:ext>
                </a:extLst>
              </a:tr>
              <a:tr h="374590">
                <a:tc>
                  <a:txBody>
                    <a:bodyPr/>
                    <a:lstStyle/>
                    <a:p>
                      <a:pPr algn="ctr">
                        <a:lnSpc>
                          <a:spcPct val="100000"/>
                        </a:lnSpc>
                        <a:spcAft>
                          <a:spcPts val="0"/>
                        </a:spcAft>
                      </a:pPr>
                      <a:r>
                        <a:rPr lang="en-US" sz="1200"/>
                        <a:t>5</a:t>
                      </a:r>
                      <a:endParaRPr lang="zh-CN" altLang="en-US" sz="1200"/>
                    </a:p>
                  </a:txBody>
                  <a:tcPr marL="68580" marR="68580" marT="0" marB="0" anchor="ctr"/>
                </a:tc>
                <a:tc>
                  <a:txBody>
                    <a:bodyPr/>
                    <a:lstStyle/>
                    <a:p>
                      <a:pPr algn="ctr">
                        <a:lnSpc>
                          <a:spcPct val="100000"/>
                        </a:lnSpc>
                        <a:spcAft>
                          <a:spcPts val="0"/>
                        </a:spcAft>
                      </a:pPr>
                      <a:r>
                        <a:rPr lang="en-US" sz="1200"/>
                        <a:t>100 MHz</a:t>
                      </a:r>
                      <a:endParaRPr lang="zh-CN" altLang="en-US" sz="1200"/>
                    </a:p>
                  </a:txBody>
                  <a:tcPr marL="68580" marR="68580" marT="0" marB="0" anchor="ctr"/>
                </a:tc>
                <a:tc>
                  <a:txBody>
                    <a:bodyPr/>
                    <a:lstStyle/>
                    <a:p>
                      <a:pPr algn="l">
                        <a:lnSpc>
                          <a:spcPct val="100000"/>
                        </a:lnSpc>
                        <a:spcAft>
                          <a:spcPts val="0"/>
                        </a:spcAft>
                      </a:pPr>
                      <a:r>
                        <a:rPr lang="zh-CN" altLang="en-US" sz="1200" dirty="0"/>
                        <a:t>与</a:t>
                      </a:r>
                      <a:r>
                        <a:rPr lang="en-US" altLang="zh-CN" sz="1200" dirty="0"/>
                        <a:t> </a:t>
                      </a:r>
                      <a:r>
                        <a:rPr lang="en-US" sz="1200" dirty="0"/>
                        <a:t>3 </a:t>
                      </a:r>
                      <a:r>
                        <a:rPr lang="zh-CN" altLang="en-US" sz="1200" dirty="0"/>
                        <a:t>类相比增加了绞合度</a:t>
                      </a:r>
                    </a:p>
                  </a:txBody>
                  <a:tcPr marL="68580" marR="68580" marT="0" marB="0" anchor="ctr"/>
                </a:tc>
                <a:tc>
                  <a:txBody>
                    <a:bodyPr/>
                    <a:lstStyle/>
                    <a:p>
                      <a:pPr algn="l">
                        <a:lnSpc>
                          <a:spcPct val="100000"/>
                        </a:lnSpc>
                        <a:spcAft>
                          <a:spcPts val="0"/>
                        </a:spcAft>
                      </a:pPr>
                      <a:r>
                        <a:rPr lang="zh-CN" altLang="en-US" sz="1200" dirty="0"/>
                        <a:t>传输速率</a:t>
                      </a:r>
                      <a:r>
                        <a:rPr lang="en-US" altLang="zh-CN" sz="1200" dirty="0"/>
                        <a:t> </a:t>
                      </a:r>
                      <a:r>
                        <a:rPr lang="en-US" sz="1200" dirty="0"/>
                        <a:t>100 Mbit/s </a:t>
                      </a:r>
                      <a:r>
                        <a:rPr lang="zh-CN" altLang="en-US" sz="1200" dirty="0"/>
                        <a:t>（距离</a:t>
                      </a:r>
                      <a:r>
                        <a:rPr lang="en-US" altLang="zh-CN" sz="1200" dirty="0"/>
                        <a:t> </a:t>
                      </a:r>
                      <a:r>
                        <a:rPr lang="en-US" sz="1200" dirty="0"/>
                        <a:t>100 m</a:t>
                      </a:r>
                      <a:r>
                        <a:rPr lang="zh-CN" altLang="en-US" sz="1200" dirty="0"/>
                        <a:t>）</a:t>
                      </a:r>
                    </a:p>
                  </a:txBody>
                  <a:tcPr marL="68580" marR="68580" marT="0" marB="0" anchor="ctr"/>
                </a:tc>
                <a:extLst>
                  <a:ext uri="{0D108BD9-81ED-4DB2-BD59-A6C34878D82A}">
                    <a16:rowId xmlns:a16="http://schemas.microsoft.com/office/drawing/2014/main" val="1553527379"/>
                  </a:ext>
                </a:extLst>
              </a:tr>
              <a:tr h="374590">
                <a:tc>
                  <a:txBody>
                    <a:bodyPr/>
                    <a:lstStyle/>
                    <a:p>
                      <a:pPr algn="ctr">
                        <a:lnSpc>
                          <a:spcPct val="100000"/>
                        </a:lnSpc>
                        <a:spcAft>
                          <a:spcPts val="0"/>
                        </a:spcAft>
                      </a:pPr>
                      <a:r>
                        <a:rPr lang="en-US" sz="1200"/>
                        <a:t>5E(</a:t>
                      </a:r>
                      <a:r>
                        <a:rPr lang="zh-CN" altLang="en-US" sz="1200"/>
                        <a:t>超</a:t>
                      </a:r>
                      <a:r>
                        <a:rPr lang="en-US" sz="1200"/>
                        <a:t>5</a:t>
                      </a:r>
                      <a:r>
                        <a:rPr lang="zh-CN" altLang="en-US" sz="1200"/>
                        <a:t>类</a:t>
                      </a:r>
                      <a:r>
                        <a:rPr lang="en-US" sz="1200"/>
                        <a:t>)</a:t>
                      </a:r>
                      <a:endParaRPr lang="zh-CN" altLang="en-US" sz="1200"/>
                    </a:p>
                  </a:txBody>
                  <a:tcPr marL="68580" marR="68580" marT="0" marB="0" anchor="ctr"/>
                </a:tc>
                <a:tc>
                  <a:txBody>
                    <a:bodyPr/>
                    <a:lstStyle/>
                    <a:p>
                      <a:pPr algn="ctr">
                        <a:lnSpc>
                          <a:spcPct val="100000"/>
                        </a:lnSpc>
                        <a:spcAft>
                          <a:spcPts val="0"/>
                        </a:spcAft>
                      </a:pPr>
                      <a:r>
                        <a:rPr lang="en-US" sz="1200" dirty="0"/>
                        <a:t>125 MHz</a:t>
                      </a:r>
                      <a:endParaRPr lang="zh-CN" altLang="en-US" sz="1200" dirty="0"/>
                    </a:p>
                  </a:txBody>
                  <a:tcPr marL="68580" marR="68580" marT="0" marB="0" anchor="ctr"/>
                </a:tc>
                <a:tc>
                  <a:txBody>
                    <a:bodyPr/>
                    <a:lstStyle/>
                    <a:p>
                      <a:pPr algn="l">
                        <a:lnSpc>
                          <a:spcPct val="100000"/>
                        </a:lnSpc>
                        <a:spcAft>
                          <a:spcPts val="0"/>
                        </a:spcAft>
                      </a:pPr>
                      <a:r>
                        <a:rPr lang="zh-CN" altLang="en-US" sz="1200" dirty="0"/>
                        <a:t>与</a:t>
                      </a:r>
                      <a:r>
                        <a:rPr lang="en-US" altLang="zh-CN" sz="1200" dirty="0"/>
                        <a:t> </a:t>
                      </a:r>
                      <a:r>
                        <a:rPr lang="en-US" sz="1200" dirty="0"/>
                        <a:t>5 </a:t>
                      </a:r>
                      <a:r>
                        <a:rPr lang="zh-CN" altLang="en-US" sz="1200" dirty="0"/>
                        <a:t>类相比衰减更小</a:t>
                      </a:r>
                    </a:p>
                  </a:txBody>
                  <a:tcPr marL="68580" marR="68580" marT="0" marB="0" anchor="ctr"/>
                </a:tc>
                <a:tc>
                  <a:txBody>
                    <a:bodyPr/>
                    <a:lstStyle/>
                    <a:p>
                      <a:pPr algn="l">
                        <a:lnSpc>
                          <a:spcPct val="100000"/>
                        </a:lnSpc>
                        <a:spcAft>
                          <a:spcPts val="0"/>
                        </a:spcAft>
                      </a:pPr>
                      <a:r>
                        <a:rPr lang="zh-CN" altLang="en-US" sz="1200" dirty="0"/>
                        <a:t>传输速率</a:t>
                      </a:r>
                      <a:r>
                        <a:rPr lang="en-US" altLang="zh-CN" sz="1200" dirty="0"/>
                        <a:t> </a:t>
                      </a:r>
                      <a:r>
                        <a:rPr lang="en-US" sz="1200" dirty="0"/>
                        <a:t>1 </a:t>
                      </a:r>
                      <a:r>
                        <a:rPr lang="en-US" sz="1200" dirty="0" err="1"/>
                        <a:t>Gbit</a:t>
                      </a:r>
                      <a:r>
                        <a:rPr lang="en-US" sz="1200" dirty="0"/>
                        <a:t>/s </a:t>
                      </a:r>
                      <a:r>
                        <a:rPr lang="zh-CN" altLang="en-US" sz="1200" dirty="0"/>
                        <a:t>（距离</a:t>
                      </a:r>
                      <a:r>
                        <a:rPr lang="en-US" altLang="zh-CN" sz="1200" dirty="0"/>
                        <a:t> </a:t>
                      </a:r>
                      <a:r>
                        <a:rPr lang="en-US" sz="1200" dirty="0"/>
                        <a:t>100 m</a:t>
                      </a:r>
                      <a:r>
                        <a:rPr lang="zh-CN" altLang="en-US" sz="1200" dirty="0"/>
                        <a:t>）</a:t>
                      </a:r>
                    </a:p>
                  </a:txBody>
                  <a:tcPr marL="68580" marR="68580" marT="0" marB="0" anchor="ctr"/>
                </a:tc>
                <a:extLst>
                  <a:ext uri="{0D108BD9-81ED-4DB2-BD59-A6C34878D82A}">
                    <a16:rowId xmlns:a16="http://schemas.microsoft.com/office/drawing/2014/main" val="1236569076"/>
                  </a:ext>
                </a:extLst>
              </a:tr>
              <a:tr h="374590">
                <a:tc>
                  <a:txBody>
                    <a:bodyPr/>
                    <a:lstStyle/>
                    <a:p>
                      <a:pPr algn="ctr">
                        <a:lnSpc>
                          <a:spcPct val="100000"/>
                        </a:lnSpc>
                        <a:spcAft>
                          <a:spcPts val="0"/>
                        </a:spcAft>
                      </a:pPr>
                      <a:r>
                        <a:rPr lang="en-US" sz="1200"/>
                        <a:t>6</a:t>
                      </a:r>
                      <a:endParaRPr lang="zh-CN" altLang="en-US" sz="1200"/>
                    </a:p>
                  </a:txBody>
                  <a:tcPr marL="68580" marR="68580" marT="0" marB="0" anchor="ctr"/>
                </a:tc>
                <a:tc>
                  <a:txBody>
                    <a:bodyPr/>
                    <a:lstStyle/>
                    <a:p>
                      <a:pPr algn="ctr">
                        <a:lnSpc>
                          <a:spcPct val="100000"/>
                        </a:lnSpc>
                        <a:spcAft>
                          <a:spcPts val="0"/>
                        </a:spcAft>
                      </a:pPr>
                      <a:r>
                        <a:rPr lang="en-US" sz="1200"/>
                        <a:t>250 MHz</a:t>
                      </a:r>
                      <a:endParaRPr lang="zh-CN" altLang="en-US" sz="1200"/>
                    </a:p>
                  </a:txBody>
                  <a:tcPr marL="68580" marR="68580" marT="0" marB="0" anchor="ctr"/>
                </a:tc>
                <a:tc>
                  <a:txBody>
                    <a:bodyPr/>
                    <a:lstStyle/>
                    <a:p>
                      <a:pPr algn="l">
                        <a:lnSpc>
                          <a:spcPct val="100000"/>
                        </a:lnSpc>
                        <a:spcAft>
                          <a:spcPts val="0"/>
                        </a:spcAft>
                      </a:pPr>
                      <a:r>
                        <a:rPr lang="zh-CN" altLang="en-US" sz="1200" dirty="0"/>
                        <a:t>改善了串扰等性能，可使用屏蔽双绞线</a:t>
                      </a:r>
                    </a:p>
                  </a:txBody>
                  <a:tcPr marL="68580" marR="68580" marT="0" marB="0" anchor="ctr"/>
                </a:tc>
                <a:tc>
                  <a:txBody>
                    <a:bodyPr/>
                    <a:lstStyle/>
                    <a:p>
                      <a:pPr algn="l">
                        <a:lnSpc>
                          <a:spcPct val="100000"/>
                        </a:lnSpc>
                        <a:spcAft>
                          <a:spcPts val="0"/>
                        </a:spcAft>
                      </a:pPr>
                      <a:r>
                        <a:rPr lang="zh-CN" altLang="en-US" sz="1200" dirty="0"/>
                        <a:t>传输速率</a:t>
                      </a:r>
                      <a:r>
                        <a:rPr lang="en-US" altLang="zh-CN" sz="1200" dirty="0"/>
                        <a:t> </a:t>
                      </a:r>
                      <a:r>
                        <a:rPr lang="en-US" sz="1200" dirty="0"/>
                        <a:t>10 </a:t>
                      </a:r>
                      <a:r>
                        <a:rPr lang="en-US" sz="1200" dirty="0" err="1"/>
                        <a:t>Gbit</a:t>
                      </a:r>
                      <a:r>
                        <a:rPr lang="en-US" sz="1200" dirty="0"/>
                        <a:t>/s</a:t>
                      </a:r>
                      <a:r>
                        <a:rPr lang="zh-CN" altLang="en-US" sz="1200" dirty="0"/>
                        <a:t>（距离</a:t>
                      </a:r>
                      <a:r>
                        <a:rPr lang="en-US" altLang="zh-CN" sz="1200" dirty="0"/>
                        <a:t> </a:t>
                      </a:r>
                      <a:r>
                        <a:rPr lang="en-US" sz="1200" dirty="0"/>
                        <a:t>35 ~ 55 m</a:t>
                      </a:r>
                      <a:r>
                        <a:rPr lang="zh-CN" altLang="en-US" sz="1200" dirty="0"/>
                        <a:t>）</a:t>
                      </a:r>
                    </a:p>
                  </a:txBody>
                  <a:tcPr marL="68580" marR="68580" marT="0" marB="0" anchor="ctr"/>
                </a:tc>
                <a:extLst>
                  <a:ext uri="{0D108BD9-81ED-4DB2-BD59-A6C34878D82A}">
                    <a16:rowId xmlns:a16="http://schemas.microsoft.com/office/drawing/2014/main" val="1612678843"/>
                  </a:ext>
                </a:extLst>
              </a:tr>
              <a:tr h="374590">
                <a:tc>
                  <a:txBody>
                    <a:bodyPr/>
                    <a:lstStyle/>
                    <a:p>
                      <a:pPr algn="ctr">
                        <a:lnSpc>
                          <a:spcPct val="100000"/>
                        </a:lnSpc>
                        <a:spcAft>
                          <a:spcPts val="0"/>
                        </a:spcAft>
                      </a:pPr>
                      <a:r>
                        <a:rPr lang="en-US" sz="1200"/>
                        <a:t>6A</a:t>
                      </a:r>
                      <a:endParaRPr lang="zh-CN" altLang="en-US" sz="1200"/>
                    </a:p>
                  </a:txBody>
                  <a:tcPr marL="68580" marR="68580" marT="0" marB="0" anchor="ctr"/>
                </a:tc>
                <a:tc>
                  <a:txBody>
                    <a:bodyPr/>
                    <a:lstStyle/>
                    <a:p>
                      <a:pPr algn="ctr">
                        <a:lnSpc>
                          <a:spcPct val="100000"/>
                        </a:lnSpc>
                        <a:spcAft>
                          <a:spcPts val="0"/>
                        </a:spcAft>
                      </a:pPr>
                      <a:r>
                        <a:rPr lang="en-US" sz="1200"/>
                        <a:t>500 MHz</a:t>
                      </a:r>
                      <a:endParaRPr lang="zh-CN" altLang="en-US" sz="1200"/>
                    </a:p>
                  </a:txBody>
                  <a:tcPr marL="68580" marR="68580" marT="0" marB="0" anchor="ctr"/>
                </a:tc>
                <a:tc>
                  <a:txBody>
                    <a:bodyPr/>
                    <a:lstStyle/>
                    <a:p>
                      <a:pPr algn="l">
                        <a:lnSpc>
                          <a:spcPct val="100000"/>
                        </a:lnSpc>
                        <a:spcAft>
                          <a:spcPts val="0"/>
                        </a:spcAft>
                      </a:pPr>
                      <a:r>
                        <a:rPr lang="zh-CN" altLang="en-US" sz="1200" dirty="0"/>
                        <a:t>改善了串扰等性能，可使用屏蔽双绞线</a:t>
                      </a:r>
                    </a:p>
                  </a:txBody>
                  <a:tcPr marL="68580" marR="68580" marT="0" marB="0" anchor="ctr"/>
                </a:tc>
                <a:tc>
                  <a:txBody>
                    <a:bodyPr/>
                    <a:lstStyle/>
                    <a:p>
                      <a:pPr algn="l">
                        <a:lnSpc>
                          <a:spcPct val="100000"/>
                        </a:lnSpc>
                        <a:spcAft>
                          <a:spcPts val="0"/>
                        </a:spcAft>
                      </a:pPr>
                      <a:r>
                        <a:rPr lang="zh-CN" altLang="en-US" sz="1200" dirty="0"/>
                        <a:t>传输速率</a:t>
                      </a:r>
                      <a:r>
                        <a:rPr lang="en-US" altLang="zh-CN" sz="1200" dirty="0"/>
                        <a:t> </a:t>
                      </a:r>
                      <a:r>
                        <a:rPr lang="en-US" sz="1200" dirty="0"/>
                        <a:t>10 </a:t>
                      </a:r>
                      <a:r>
                        <a:rPr lang="en-US" sz="1200" dirty="0" err="1"/>
                        <a:t>Gbit</a:t>
                      </a:r>
                      <a:r>
                        <a:rPr lang="en-US" sz="1200" dirty="0"/>
                        <a:t>/s</a:t>
                      </a:r>
                      <a:r>
                        <a:rPr lang="zh-CN" altLang="en-US" sz="1200" dirty="0"/>
                        <a:t>（距离</a:t>
                      </a:r>
                      <a:r>
                        <a:rPr lang="en-US" sz="1200" dirty="0"/>
                        <a:t>100 m</a:t>
                      </a:r>
                      <a:r>
                        <a:rPr lang="zh-CN" altLang="en-US" sz="1200" dirty="0"/>
                        <a:t>）</a:t>
                      </a:r>
                    </a:p>
                  </a:txBody>
                  <a:tcPr marL="68580" marR="68580" marT="0" marB="0" anchor="ctr"/>
                </a:tc>
                <a:extLst>
                  <a:ext uri="{0D108BD9-81ED-4DB2-BD59-A6C34878D82A}">
                    <a16:rowId xmlns:a16="http://schemas.microsoft.com/office/drawing/2014/main" val="1951751904"/>
                  </a:ext>
                </a:extLst>
              </a:tr>
              <a:tr h="374590">
                <a:tc>
                  <a:txBody>
                    <a:bodyPr/>
                    <a:lstStyle/>
                    <a:p>
                      <a:pPr algn="ctr">
                        <a:lnSpc>
                          <a:spcPct val="100000"/>
                        </a:lnSpc>
                        <a:spcAft>
                          <a:spcPts val="0"/>
                        </a:spcAft>
                      </a:pPr>
                      <a:r>
                        <a:rPr lang="en-US" sz="1200"/>
                        <a:t>7</a:t>
                      </a:r>
                      <a:endParaRPr lang="zh-CN" altLang="en-US" sz="1200"/>
                    </a:p>
                  </a:txBody>
                  <a:tcPr marL="68580" marR="68580" marT="0" marB="0" anchor="ctr"/>
                </a:tc>
                <a:tc>
                  <a:txBody>
                    <a:bodyPr/>
                    <a:lstStyle/>
                    <a:p>
                      <a:pPr algn="ctr">
                        <a:lnSpc>
                          <a:spcPct val="100000"/>
                        </a:lnSpc>
                        <a:spcAft>
                          <a:spcPts val="0"/>
                        </a:spcAft>
                      </a:pPr>
                      <a:r>
                        <a:rPr lang="en-US" sz="1200"/>
                        <a:t>600 MHz</a:t>
                      </a:r>
                      <a:endParaRPr lang="zh-CN" altLang="en-US" sz="1200"/>
                    </a:p>
                  </a:txBody>
                  <a:tcPr marL="68580" marR="68580" marT="0" marB="0" anchor="ctr"/>
                </a:tc>
                <a:tc>
                  <a:txBody>
                    <a:bodyPr/>
                    <a:lstStyle/>
                    <a:p>
                      <a:pPr algn="l">
                        <a:lnSpc>
                          <a:spcPct val="100000"/>
                        </a:lnSpc>
                        <a:spcAft>
                          <a:spcPts val="0"/>
                        </a:spcAft>
                      </a:pPr>
                      <a:r>
                        <a:rPr lang="zh-CN" altLang="en-US" sz="1200" dirty="0"/>
                        <a:t>必须使用屏蔽双绞线</a:t>
                      </a:r>
                    </a:p>
                  </a:txBody>
                  <a:tcPr marL="68580" marR="68580" marT="0" marB="0" anchor="ctr"/>
                </a:tc>
                <a:tc>
                  <a:txBody>
                    <a:bodyPr/>
                    <a:lstStyle/>
                    <a:p>
                      <a:pPr algn="l">
                        <a:lnSpc>
                          <a:spcPct val="100000"/>
                        </a:lnSpc>
                        <a:spcAft>
                          <a:spcPts val="0"/>
                        </a:spcAft>
                      </a:pPr>
                      <a:r>
                        <a:rPr lang="zh-CN" altLang="en-US" sz="1200" dirty="0"/>
                        <a:t>传输速率超过</a:t>
                      </a:r>
                      <a:r>
                        <a:rPr lang="en-US" altLang="zh-CN" sz="1200" dirty="0"/>
                        <a:t> </a:t>
                      </a:r>
                      <a:r>
                        <a:rPr lang="en-US" sz="1200" dirty="0"/>
                        <a:t>10 </a:t>
                      </a:r>
                      <a:r>
                        <a:rPr lang="en-US" sz="1200" dirty="0" err="1"/>
                        <a:t>Gbit</a:t>
                      </a:r>
                      <a:r>
                        <a:rPr lang="en-US" sz="1200" dirty="0"/>
                        <a:t>/s</a:t>
                      </a:r>
                      <a:r>
                        <a:rPr lang="zh-CN" altLang="en-US" sz="1200" dirty="0"/>
                        <a:t>，距离</a:t>
                      </a:r>
                      <a:r>
                        <a:rPr lang="en-US" altLang="zh-CN" sz="1200" dirty="0"/>
                        <a:t> </a:t>
                      </a:r>
                      <a:r>
                        <a:rPr lang="en-US" sz="1200" dirty="0"/>
                        <a:t>100 m</a:t>
                      </a:r>
                      <a:endParaRPr lang="zh-CN" altLang="en-US" sz="1200" dirty="0"/>
                    </a:p>
                  </a:txBody>
                  <a:tcPr marL="68580" marR="68580" marT="0" marB="0" anchor="ctr"/>
                </a:tc>
                <a:extLst>
                  <a:ext uri="{0D108BD9-81ED-4DB2-BD59-A6C34878D82A}">
                    <a16:rowId xmlns:a16="http://schemas.microsoft.com/office/drawing/2014/main" val="1261163200"/>
                  </a:ext>
                </a:extLst>
              </a:tr>
              <a:tr h="374590">
                <a:tc>
                  <a:txBody>
                    <a:bodyPr/>
                    <a:lstStyle/>
                    <a:p>
                      <a:pPr algn="ctr">
                        <a:lnSpc>
                          <a:spcPct val="100000"/>
                        </a:lnSpc>
                        <a:spcAft>
                          <a:spcPts val="0"/>
                        </a:spcAft>
                      </a:pPr>
                      <a:r>
                        <a:rPr lang="en-US" sz="1200"/>
                        <a:t>8</a:t>
                      </a:r>
                      <a:endParaRPr lang="zh-CN" altLang="en-US" sz="1200"/>
                    </a:p>
                  </a:txBody>
                  <a:tcPr marL="68580" marR="68580" marT="0" marB="0" anchor="ctr"/>
                </a:tc>
                <a:tc>
                  <a:txBody>
                    <a:bodyPr/>
                    <a:lstStyle/>
                    <a:p>
                      <a:pPr algn="ctr">
                        <a:lnSpc>
                          <a:spcPct val="100000"/>
                        </a:lnSpc>
                        <a:spcAft>
                          <a:spcPts val="0"/>
                        </a:spcAft>
                      </a:pPr>
                      <a:r>
                        <a:rPr lang="en-US" sz="1200"/>
                        <a:t>2000 MHz</a:t>
                      </a:r>
                      <a:endParaRPr lang="zh-CN" altLang="en-US" sz="1200"/>
                    </a:p>
                  </a:txBody>
                  <a:tcPr marL="68580" marR="68580" marT="0" marB="0" anchor="ctr"/>
                </a:tc>
                <a:tc>
                  <a:txBody>
                    <a:bodyPr/>
                    <a:lstStyle/>
                    <a:p>
                      <a:pPr algn="l">
                        <a:lnSpc>
                          <a:spcPct val="100000"/>
                        </a:lnSpc>
                        <a:spcAft>
                          <a:spcPts val="0"/>
                        </a:spcAft>
                      </a:pPr>
                      <a:r>
                        <a:rPr lang="zh-CN" altLang="en-US" sz="1200" dirty="0"/>
                        <a:t>必须使用屏蔽双绞线</a:t>
                      </a:r>
                    </a:p>
                  </a:txBody>
                  <a:tcPr marL="68580" marR="68580" marT="0" marB="0" anchor="ctr"/>
                </a:tc>
                <a:tc>
                  <a:txBody>
                    <a:bodyPr/>
                    <a:lstStyle/>
                    <a:p>
                      <a:pPr algn="l">
                        <a:lnSpc>
                          <a:spcPct val="100000"/>
                        </a:lnSpc>
                        <a:spcAft>
                          <a:spcPts val="0"/>
                        </a:spcAft>
                      </a:pPr>
                      <a:r>
                        <a:rPr lang="zh-CN" altLang="en-US" sz="1200" dirty="0"/>
                        <a:t>传输速率</a:t>
                      </a:r>
                      <a:r>
                        <a:rPr lang="en-US" altLang="zh-CN" sz="1200" dirty="0"/>
                        <a:t> </a:t>
                      </a:r>
                      <a:r>
                        <a:rPr lang="en-US" sz="1200" dirty="0"/>
                        <a:t>25 </a:t>
                      </a:r>
                      <a:r>
                        <a:rPr lang="en-US" sz="1200" dirty="0" err="1"/>
                        <a:t>Gbit</a:t>
                      </a:r>
                      <a:r>
                        <a:rPr lang="en-US" sz="1200" dirty="0"/>
                        <a:t>/s </a:t>
                      </a:r>
                      <a:r>
                        <a:rPr lang="zh-CN" altLang="en-US" sz="1200" dirty="0"/>
                        <a:t>或</a:t>
                      </a:r>
                      <a:r>
                        <a:rPr lang="en-US" altLang="zh-CN" sz="1200" dirty="0"/>
                        <a:t> </a:t>
                      </a:r>
                      <a:r>
                        <a:rPr lang="en-US" sz="1200" dirty="0"/>
                        <a:t>40 </a:t>
                      </a:r>
                      <a:r>
                        <a:rPr lang="en-US" sz="1200" dirty="0" err="1"/>
                        <a:t>Gbit</a:t>
                      </a:r>
                      <a:r>
                        <a:rPr lang="en-US" sz="1200" dirty="0"/>
                        <a:t>/s</a:t>
                      </a:r>
                      <a:r>
                        <a:rPr lang="zh-CN" altLang="en-US" sz="1200" dirty="0"/>
                        <a:t>，距离</a:t>
                      </a:r>
                      <a:r>
                        <a:rPr lang="en-US" altLang="zh-CN" sz="1200" dirty="0"/>
                        <a:t> </a:t>
                      </a:r>
                      <a:r>
                        <a:rPr lang="en-US" sz="1200" dirty="0"/>
                        <a:t>30 m</a:t>
                      </a:r>
                      <a:endParaRPr lang="zh-CN" altLang="en-US" sz="1200" dirty="0"/>
                    </a:p>
                  </a:txBody>
                  <a:tcPr marL="68580" marR="68580" marT="0" marB="0" anchor="ctr"/>
                </a:tc>
                <a:extLst>
                  <a:ext uri="{0D108BD9-81ED-4DB2-BD59-A6C34878D82A}">
                    <a16:rowId xmlns:a16="http://schemas.microsoft.com/office/drawing/2014/main" val="1434317316"/>
                  </a:ext>
                </a:extLst>
              </a:tr>
            </a:tbl>
          </a:graphicData>
        </a:graphic>
      </p:graphicFrame>
      <p:sp>
        <p:nvSpPr>
          <p:cNvPr id="4" name="矩形 3"/>
          <p:cNvSpPr/>
          <p:nvPr/>
        </p:nvSpPr>
        <p:spPr>
          <a:xfrm>
            <a:off x="2908502" y="1051949"/>
            <a:ext cx="3467616" cy="338554"/>
          </a:xfrm>
          <a:prstGeom prst="rect">
            <a:avLst/>
          </a:prstGeom>
        </p:spPr>
        <p:txBody>
          <a:bodyPr wrap="none">
            <a:spAutoFit/>
          </a:bodyPr>
          <a:lstStyle/>
          <a:p>
            <a:pPr algn="ctr"/>
            <a:r>
              <a:rPr lang="zh-CN" altLang="zh-CN" sz="1600" dirty="0"/>
              <a:t>常用绞合线的类别、带宽和典型应用</a:t>
            </a:r>
            <a:endParaRPr lang="zh-CN" altLang="en-US" sz="1600" dirty="0"/>
          </a:p>
        </p:txBody>
      </p:sp>
      <p:sp>
        <p:nvSpPr>
          <p:cNvPr id="5" name="矩形 4"/>
          <p:cNvSpPr/>
          <p:nvPr/>
        </p:nvSpPr>
        <p:spPr>
          <a:xfrm>
            <a:off x="1581247" y="2165445"/>
            <a:ext cx="6414130" cy="820546"/>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marL="285750" indent="-285750">
              <a:lnSpc>
                <a:spcPts val="3000"/>
              </a:lnSpc>
              <a:buFont typeface="Wingdings" panose="05000000000000000000" pitchFamily="2" charset="2"/>
              <a:buChar char="l"/>
            </a:pPr>
            <a:r>
              <a:rPr lang="zh-CN" altLang="en-US" dirty="0"/>
              <a:t>无论是哪种类别的双绞线，衰减都随频率的升高而增大。</a:t>
            </a:r>
          </a:p>
          <a:p>
            <a:pPr marL="285750" indent="-285750">
              <a:lnSpc>
                <a:spcPts val="3000"/>
              </a:lnSpc>
              <a:buFont typeface="Wingdings" panose="05000000000000000000" pitchFamily="2" charset="2"/>
              <a:buChar char="l"/>
            </a:pPr>
            <a:r>
              <a:rPr lang="zh-CN" altLang="en-US" dirty="0"/>
              <a:t>双绞线的最高速率还与数字信号的编码方法有很大的关系。</a:t>
            </a:r>
          </a:p>
        </p:txBody>
      </p:sp>
    </p:spTree>
    <p:extLst>
      <p:ext uri="{BB962C8B-B14F-4D97-AF65-F5344CB8AC3E}">
        <p14:creationId xmlns:p14="http://schemas.microsoft.com/office/powerpoint/2010/main" val="23591120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466343" y="899999"/>
            <a:ext cx="8129017" cy="3600000"/>
          </a:xfrm>
        </p:spPr>
        <p:txBody>
          <a:bodyPr/>
          <a:lstStyle/>
          <a:p>
            <a:r>
              <a:rPr lang="zh-CN" altLang="en-US" dirty="0"/>
              <a:t>由内导体铜质芯线（单股实心线或多股绞合线）、绝缘层、网状编织的外导体屏蔽层（也可以是单股的）以及保护塑料外层所组成。</a:t>
            </a:r>
            <a:endParaRPr lang="en-US" altLang="zh-CN" dirty="0"/>
          </a:p>
          <a:p>
            <a:endParaRPr lang="en-US" altLang="zh-CN" dirty="0"/>
          </a:p>
          <a:p>
            <a:endParaRPr lang="en-US" altLang="zh-CN" dirty="0"/>
          </a:p>
          <a:p>
            <a:endParaRPr lang="en-US" altLang="zh-CN" dirty="0"/>
          </a:p>
          <a:p>
            <a:endParaRPr lang="en-US" altLang="zh-CN" dirty="0"/>
          </a:p>
          <a:p>
            <a:r>
              <a:rPr lang="zh-CN" altLang="en-US" dirty="0"/>
              <a:t>具有很好的抗干扰特性，被广泛用于传输较高速率的数据。</a:t>
            </a:r>
          </a:p>
        </p:txBody>
      </p:sp>
      <p:sp>
        <p:nvSpPr>
          <p:cNvPr id="2" name="文本占位符 1"/>
          <p:cNvSpPr>
            <a:spLocks noGrp="1"/>
          </p:cNvSpPr>
          <p:nvPr>
            <p:ph type="body" sz="quarter" idx="11"/>
          </p:nvPr>
        </p:nvSpPr>
        <p:spPr>
          <a:xfrm>
            <a:off x="1332000" y="360000"/>
            <a:ext cx="6480000" cy="354012"/>
          </a:xfrm>
        </p:spPr>
        <p:txBody>
          <a:bodyPr>
            <a:normAutofit fontScale="92500" lnSpcReduction="10000"/>
          </a:bodyPr>
          <a:lstStyle/>
          <a:p>
            <a:r>
              <a:rPr lang="en-US" altLang="zh-CN" dirty="0"/>
              <a:t>2. </a:t>
            </a:r>
            <a:r>
              <a:rPr lang="zh-CN" altLang="en-US" dirty="0"/>
              <a:t>同轴电缆</a:t>
            </a:r>
          </a:p>
        </p:txBody>
      </p:sp>
      <p:grpSp>
        <p:nvGrpSpPr>
          <p:cNvPr id="12" name="组合 11"/>
          <p:cNvGrpSpPr/>
          <p:nvPr/>
        </p:nvGrpSpPr>
        <p:grpSpPr>
          <a:xfrm>
            <a:off x="2404018" y="1935298"/>
            <a:ext cx="4553426" cy="1077868"/>
            <a:chOff x="2421436" y="2074635"/>
            <a:chExt cx="4553426" cy="1077868"/>
          </a:xfrm>
        </p:grpSpPr>
        <p:pic>
          <p:nvPicPr>
            <p:cNvPr id="5" name="Picture 3" descr="D:\1xxr\1paper\Cable\222.gif"/>
            <p:cNvPicPr>
              <a:picLocks noChangeAspect="1" noChangeArrowheads="1"/>
            </p:cNvPicPr>
            <p:nvPr/>
          </p:nvPicPr>
          <p:blipFill>
            <a:blip r:embed="rId2">
              <a:extLst>
                <a:ext uri="{28A0092B-C50C-407E-A947-70E740481C1C}">
                  <a14:useLocalDpi xmlns:a14="http://schemas.microsoft.com/office/drawing/2010/main" val="0"/>
                </a:ext>
              </a:extLst>
            </a:blip>
            <a:srcRect t="37741" r="21053" b="25261"/>
            <a:stretch>
              <a:fillRect/>
            </a:stretch>
          </p:blipFill>
          <p:spPr bwMode="auto">
            <a:xfrm>
              <a:off x="2421436" y="2397517"/>
              <a:ext cx="3768353" cy="754986"/>
            </a:xfrm>
            <a:prstGeom prst="rect">
              <a:avLst/>
            </a:prstGeom>
            <a:noFill/>
            <a:ln w="19050">
              <a:solidFill>
                <a:srgbClr val="00B050"/>
              </a:solidFill>
            </a:ln>
            <a:extLst>
              <a:ext uri="{909E8E84-426E-40DD-AFC4-6F175D3DCCD1}">
                <a14:hiddenFill xmlns:a14="http://schemas.microsoft.com/office/drawing/2010/main">
                  <a:solidFill>
                    <a:srgbClr val="FFFFFF"/>
                  </a:solidFill>
                </a14:hiddenFill>
              </a:ext>
            </a:extLst>
          </p:spPr>
        </p:pic>
        <p:sp>
          <p:nvSpPr>
            <p:cNvPr id="6" name="Text Box 4"/>
            <p:cNvSpPr txBox="1">
              <a:spLocks noChangeArrowheads="1"/>
            </p:cNvSpPr>
            <p:nvPr/>
          </p:nvSpPr>
          <p:spPr bwMode="auto">
            <a:xfrm>
              <a:off x="6213050" y="2627074"/>
              <a:ext cx="761812"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1400" b="1" dirty="0">
                  <a:solidFill>
                    <a:srgbClr val="0000FF"/>
                  </a:solidFill>
                  <a:latin typeface="微软雅黑" pitchFamily="34" charset="-122"/>
                  <a:ea typeface="微软雅黑" pitchFamily="34" charset="-122"/>
                </a:rPr>
                <a:t>内导体</a:t>
              </a:r>
            </a:p>
          </p:txBody>
        </p:sp>
        <p:sp>
          <p:nvSpPr>
            <p:cNvPr id="7" name="Text Box 5"/>
            <p:cNvSpPr txBox="1">
              <a:spLocks noChangeArrowheads="1"/>
            </p:cNvSpPr>
            <p:nvPr/>
          </p:nvSpPr>
          <p:spPr bwMode="auto">
            <a:xfrm>
              <a:off x="4231467" y="2093421"/>
              <a:ext cx="1584686" cy="307777"/>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1400" b="1" dirty="0">
                  <a:solidFill>
                    <a:srgbClr val="0000FF"/>
                  </a:solidFill>
                  <a:latin typeface="微软雅黑" pitchFamily="34" charset="-122"/>
                  <a:ea typeface="微软雅黑" pitchFamily="34" charset="-122"/>
                </a:rPr>
                <a:t>外导体屏蔽层</a:t>
              </a:r>
            </a:p>
          </p:txBody>
        </p:sp>
        <p:sp>
          <p:nvSpPr>
            <p:cNvPr id="8" name="Text Box 6"/>
            <p:cNvSpPr txBox="1">
              <a:spLocks noChangeArrowheads="1"/>
            </p:cNvSpPr>
            <p:nvPr/>
          </p:nvSpPr>
          <p:spPr bwMode="auto">
            <a:xfrm>
              <a:off x="5883029" y="2074635"/>
              <a:ext cx="882480" cy="307777"/>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1400" b="1" dirty="0">
                  <a:solidFill>
                    <a:srgbClr val="0000FF"/>
                  </a:solidFill>
                  <a:latin typeface="微软雅黑" pitchFamily="34" charset="-122"/>
                  <a:ea typeface="微软雅黑" pitchFamily="34" charset="-122"/>
                </a:rPr>
                <a:t>绝缘层</a:t>
              </a:r>
            </a:p>
          </p:txBody>
        </p:sp>
        <p:sp>
          <p:nvSpPr>
            <p:cNvPr id="9" name="Text Box 7"/>
            <p:cNvSpPr txBox="1">
              <a:spLocks noChangeArrowheads="1"/>
            </p:cNvSpPr>
            <p:nvPr/>
          </p:nvSpPr>
          <p:spPr bwMode="auto">
            <a:xfrm>
              <a:off x="2715113" y="2100558"/>
              <a:ext cx="1516354" cy="307777"/>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1400" b="1" dirty="0">
                  <a:solidFill>
                    <a:srgbClr val="0000FF"/>
                  </a:solidFill>
                  <a:latin typeface="微软雅黑" pitchFamily="34" charset="-122"/>
                  <a:ea typeface="微软雅黑" pitchFamily="34" charset="-122"/>
                </a:rPr>
                <a:t>绝缘保护套层</a:t>
              </a:r>
            </a:p>
          </p:txBody>
        </p:sp>
        <p:sp>
          <p:nvSpPr>
            <p:cNvPr id="10" name="Rectangle 9"/>
            <p:cNvSpPr>
              <a:spLocks noChangeArrowheads="1"/>
            </p:cNvSpPr>
            <p:nvPr/>
          </p:nvSpPr>
          <p:spPr bwMode="auto">
            <a:xfrm>
              <a:off x="5875759" y="2868559"/>
              <a:ext cx="314030" cy="217913"/>
            </a:xfrm>
            <a:prstGeom prst="rect">
              <a:avLst/>
            </a:prstGeom>
            <a:solidFill>
              <a:schemeClr val="bg1"/>
            </a:solidFill>
            <a:ln>
              <a:noFill/>
            </a:ln>
            <a:effectLst/>
          </p:spPr>
          <p:txBody>
            <a:bodyPr wrap="none" anchor="ctr"/>
            <a:lstStyle/>
            <a:p>
              <a:endParaRPr lang="zh-CN" altLang="en-US" sz="2400" b="1">
                <a:solidFill>
                  <a:srgbClr val="000099"/>
                </a:solidFill>
                <a:latin typeface="+mn-lt"/>
                <a:ea typeface="黑体" pitchFamily="2" charset="-122"/>
              </a:endParaRPr>
            </a:p>
          </p:txBody>
        </p:sp>
      </p:grpSp>
    </p:spTree>
    <p:extLst>
      <p:ext uri="{BB962C8B-B14F-4D97-AF65-F5344CB8AC3E}">
        <p14:creationId xmlns:p14="http://schemas.microsoft.com/office/powerpoint/2010/main" val="11376852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466343" y="900000"/>
            <a:ext cx="8129017" cy="3376990"/>
          </a:xfrm>
        </p:spPr>
        <p:txBody>
          <a:bodyPr/>
          <a:lstStyle/>
          <a:p>
            <a:r>
              <a:rPr lang="zh-CN" altLang="en-US" dirty="0"/>
              <a:t>光纤是光纤通信的传输媒体。通过传递光脉冲来进行通信。</a:t>
            </a:r>
            <a:endParaRPr lang="en-US" altLang="zh-CN" dirty="0"/>
          </a:p>
          <a:p>
            <a:r>
              <a:rPr lang="zh-CN" altLang="en-US" dirty="0"/>
              <a:t>其</a:t>
            </a:r>
            <a:r>
              <a:rPr lang="zh-CN" altLang="zh-CN" dirty="0"/>
              <a:t>传输带宽远远大于目前其他各种传输媒体的带宽。</a:t>
            </a:r>
            <a:endParaRPr lang="en-US" altLang="zh-CN" dirty="0"/>
          </a:p>
        </p:txBody>
      </p:sp>
      <p:sp>
        <p:nvSpPr>
          <p:cNvPr id="2" name="文本占位符 1"/>
          <p:cNvSpPr>
            <a:spLocks noGrp="1"/>
          </p:cNvSpPr>
          <p:nvPr>
            <p:ph type="body" sz="quarter" idx="11"/>
          </p:nvPr>
        </p:nvSpPr>
        <p:spPr>
          <a:xfrm>
            <a:off x="1332000" y="360000"/>
            <a:ext cx="6480000" cy="354012"/>
          </a:xfrm>
        </p:spPr>
        <p:txBody>
          <a:bodyPr>
            <a:normAutofit fontScale="92500" lnSpcReduction="10000"/>
          </a:bodyPr>
          <a:lstStyle/>
          <a:p>
            <a:r>
              <a:rPr lang="en-US" altLang="zh-CN" dirty="0"/>
              <a:t>3. </a:t>
            </a:r>
            <a:r>
              <a:rPr lang="zh-CN" altLang="en-US" dirty="0"/>
              <a:t>光缆</a:t>
            </a:r>
          </a:p>
        </p:txBody>
      </p:sp>
      <p:sp>
        <p:nvSpPr>
          <p:cNvPr id="13" name="内容占位符 2"/>
          <p:cNvSpPr txBox="1">
            <a:spLocks/>
          </p:cNvSpPr>
          <p:nvPr/>
        </p:nvSpPr>
        <p:spPr>
          <a:xfrm>
            <a:off x="466344" y="1864029"/>
            <a:ext cx="4662889" cy="2423754"/>
          </a:xfrm>
          <a:prstGeom prst="rect">
            <a:avLst/>
          </a:prstGeom>
        </p:spPr>
        <p:txBody>
          <a:bodyPr/>
          <a:lstStyle>
            <a:lvl1pPr marL="342900" indent="-342900" algn="l" rtl="0" fontAlgn="base">
              <a:lnSpc>
                <a:spcPts val="3000"/>
              </a:lnSpc>
              <a:spcBef>
                <a:spcPts val="0"/>
              </a:spcBef>
              <a:spcAft>
                <a:spcPct val="0"/>
              </a:spcAft>
              <a:buClr>
                <a:srgbClr val="0066CC"/>
              </a:buClr>
              <a:buFont typeface="Wingdings" panose="05000000000000000000" pitchFamily="2" charset="2"/>
              <a:buChar char="l"/>
              <a:defRPr lang="zh-CN" altLang="en-US" sz="2000" b="1" kern="1200" dirty="0" smtClean="0">
                <a:solidFill>
                  <a:schemeClr val="tx1"/>
                </a:solidFill>
                <a:latin typeface="微软雅黑" pitchFamily="34" charset="-122"/>
                <a:ea typeface="微软雅黑" pitchFamily="34" charset="-122"/>
                <a:cs typeface="+mn-cs"/>
              </a:defRPr>
            </a:lvl1pPr>
            <a:lvl2pPr marL="742950" indent="-285750" algn="l" rtl="0" fontAlgn="base">
              <a:lnSpc>
                <a:spcPts val="3000"/>
              </a:lnSpc>
              <a:spcBef>
                <a:spcPts val="0"/>
              </a:spcBef>
              <a:spcAft>
                <a:spcPct val="0"/>
              </a:spcAft>
              <a:buClr>
                <a:schemeClr val="accent6">
                  <a:lumMod val="50000"/>
                </a:schemeClr>
              </a:buClr>
              <a:buFont typeface="Wingdings" panose="05000000000000000000" pitchFamily="2" charset="2"/>
              <a:buChar char="u"/>
              <a:defRPr sz="1800" b="1"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fontAlgn="base">
              <a:lnSpc>
                <a:spcPts val="3000"/>
              </a:lnSpc>
              <a:spcBef>
                <a:spcPts val="0"/>
              </a:spcBef>
              <a:spcAft>
                <a:spcPct val="0"/>
              </a:spcAft>
              <a:buClr>
                <a:srgbClr val="006600"/>
              </a:buClr>
              <a:buFont typeface="Wingdings" panose="05000000000000000000" pitchFamily="2" charset="2"/>
              <a:buChar char="Ø"/>
              <a:defRPr sz="1600" b="1"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fontAlgn="base">
              <a:lnSpc>
                <a:spcPts val="3000"/>
              </a:lnSpc>
              <a:spcBef>
                <a:spcPts val="0"/>
              </a:spcBef>
              <a:spcAft>
                <a:spcPct val="0"/>
              </a:spcAft>
              <a:buFont typeface="Arial" charset="0"/>
              <a:buChar char="–"/>
              <a:defRPr sz="1400" b="1"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fontAlgn="base">
              <a:lnSpc>
                <a:spcPts val="3000"/>
              </a:lnSpc>
              <a:spcBef>
                <a:spcPts val="0"/>
              </a:spcBef>
              <a:spcAft>
                <a:spcPct val="0"/>
              </a:spcAft>
              <a:buFont typeface="Arial" charset="0"/>
              <a:buChar char="»"/>
              <a:defRPr sz="1400" b="1"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dirty="0">
                <a:solidFill>
                  <a:srgbClr val="C00000"/>
                </a:solidFill>
              </a:rPr>
              <a:t>发送端：</a:t>
            </a:r>
            <a:r>
              <a:rPr lang="zh-CN" altLang="en-US" dirty="0"/>
              <a:t>要有</a:t>
            </a:r>
            <a:r>
              <a:rPr lang="zh-CN" altLang="en-US" dirty="0">
                <a:solidFill>
                  <a:srgbClr val="0000FF"/>
                </a:solidFill>
              </a:rPr>
              <a:t>光源，</a:t>
            </a:r>
            <a:r>
              <a:rPr lang="zh-CN" altLang="en-US" dirty="0"/>
              <a:t>在电脉冲的作用下能产生出光脉冲。</a:t>
            </a:r>
          </a:p>
          <a:p>
            <a:pPr lvl="1"/>
            <a:r>
              <a:rPr lang="zh-CN" altLang="en-US" dirty="0"/>
              <a:t>光源：发光二极管，半导体激光器等。</a:t>
            </a:r>
          </a:p>
          <a:p>
            <a:r>
              <a:rPr lang="zh-CN" altLang="en-US" dirty="0">
                <a:solidFill>
                  <a:srgbClr val="C00000"/>
                </a:solidFill>
              </a:rPr>
              <a:t>接收端：</a:t>
            </a:r>
            <a:r>
              <a:rPr lang="zh-CN" altLang="en-US" dirty="0"/>
              <a:t>要有</a:t>
            </a:r>
            <a:r>
              <a:rPr lang="zh-CN" altLang="en-US" dirty="0">
                <a:solidFill>
                  <a:srgbClr val="0000FF"/>
                </a:solidFill>
              </a:rPr>
              <a:t>光检测器，</a:t>
            </a:r>
            <a:r>
              <a:rPr lang="zh-CN" altLang="en-US" dirty="0"/>
              <a:t>利用光电二极管做成，在检测到光脉冲时还原出电脉冲。</a:t>
            </a:r>
          </a:p>
        </p:txBody>
      </p:sp>
      <p:grpSp>
        <p:nvGrpSpPr>
          <p:cNvPr id="4" name="组合 3"/>
          <p:cNvGrpSpPr/>
          <p:nvPr/>
        </p:nvGrpSpPr>
        <p:grpSpPr>
          <a:xfrm>
            <a:off x="5479781" y="2374100"/>
            <a:ext cx="2921787" cy="1860366"/>
            <a:chOff x="5401403" y="2321848"/>
            <a:chExt cx="2921787" cy="1860366"/>
          </a:xfrm>
        </p:grpSpPr>
        <p:grpSp>
          <p:nvGrpSpPr>
            <p:cNvPr id="14" name="组合 13"/>
            <p:cNvGrpSpPr/>
            <p:nvPr/>
          </p:nvGrpSpPr>
          <p:grpSpPr>
            <a:xfrm>
              <a:off x="5401403" y="2321848"/>
              <a:ext cx="2921787" cy="1577787"/>
              <a:chOff x="4437102" y="2182216"/>
              <a:chExt cx="2921787" cy="1577787"/>
            </a:xfrm>
          </p:grpSpPr>
          <p:grpSp>
            <p:nvGrpSpPr>
              <p:cNvPr id="15" name="Group 105"/>
              <p:cNvGrpSpPr>
                <a:grpSpLocks/>
              </p:cNvGrpSpPr>
              <p:nvPr/>
            </p:nvGrpSpPr>
            <p:grpSpPr bwMode="auto">
              <a:xfrm>
                <a:off x="5201085" y="2190370"/>
                <a:ext cx="617224" cy="447587"/>
                <a:chOff x="1210" y="2931"/>
                <a:chExt cx="583" cy="458"/>
              </a:xfrm>
              <a:solidFill>
                <a:srgbClr val="0070C0"/>
              </a:solidFill>
            </p:grpSpPr>
            <p:sp>
              <p:nvSpPr>
                <p:cNvPr id="33" name="AutoShape 12"/>
                <p:cNvSpPr>
                  <a:spLocks noChangeArrowheads="1"/>
                </p:cNvSpPr>
                <p:nvPr/>
              </p:nvSpPr>
              <p:spPr bwMode="auto">
                <a:xfrm>
                  <a:off x="1256" y="2931"/>
                  <a:ext cx="537" cy="458"/>
                </a:xfrm>
                <a:prstGeom prst="cube">
                  <a:avLst>
                    <a:gd name="adj" fmla="val 13069"/>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CC"/>
                    </a:solidFill>
                    <a:latin typeface="微软雅黑" pitchFamily="34" charset="-122"/>
                    <a:ea typeface="微软雅黑" pitchFamily="34" charset="-122"/>
                  </a:endParaRPr>
                </a:p>
              </p:txBody>
            </p:sp>
            <p:sp>
              <p:nvSpPr>
                <p:cNvPr id="34" name="Rectangle 24"/>
                <p:cNvSpPr>
                  <a:spLocks noChangeArrowheads="1"/>
                </p:cNvSpPr>
                <p:nvPr/>
              </p:nvSpPr>
              <p:spPr bwMode="auto">
                <a:xfrm>
                  <a:off x="1210" y="3068"/>
                  <a:ext cx="581" cy="265"/>
                </a:xfrm>
                <a:prstGeom prst="rect">
                  <a:avLst/>
                </a:prstGeom>
                <a:noFill/>
                <a:ln w="127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100" b="1" dirty="0">
                      <a:solidFill>
                        <a:schemeClr val="bg1"/>
                      </a:solidFill>
                      <a:latin typeface="微软雅黑" pitchFamily="34" charset="-122"/>
                      <a:ea typeface="微软雅黑" pitchFamily="34" charset="-122"/>
                    </a:rPr>
                    <a:t>发送器</a:t>
                  </a:r>
                </a:p>
              </p:txBody>
            </p:sp>
          </p:grpSp>
          <p:grpSp>
            <p:nvGrpSpPr>
              <p:cNvPr id="16" name="Group 109"/>
              <p:cNvGrpSpPr>
                <a:grpSpLocks/>
              </p:cNvGrpSpPr>
              <p:nvPr/>
            </p:nvGrpSpPr>
            <p:grpSpPr bwMode="auto">
              <a:xfrm>
                <a:off x="5927477" y="3191724"/>
                <a:ext cx="615107" cy="447587"/>
                <a:chOff x="3760" y="2931"/>
                <a:chExt cx="581" cy="458"/>
              </a:xfrm>
              <a:solidFill>
                <a:srgbClr val="008000"/>
              </a:solidFill>
            </p:grpSpPr>
            <p:sp>
              <p:nvSpPr>
                <p:cNvPr id="31" name="AutoShape 14"/>
                <p:cNvSpPr>
                  <a:spLocks noChangeArrowheads="1"/>
                </p:cNvSpPr>
                <p:nvPr/>
              </p:nvSpPr>
              <p:spPr bwMode="auto">
                <a:xfrm>
                  <a:off x="3805" y="2931"/>
                  <a:ext cx="535" cy="458"/>
                </a:xfrm>
                <a:prstGeom prst="cube">
                  <a:avLst>
                    <a:gd name="adj" fmla="val 13069"/>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CC"/>
                    </a:solidFill>
                    <a:latin typeface="微软雅黑" pitchFamily="34" charset="-122"/>
                    <a:ea typeface="微软雅黑" pitchFamily="34" charset="-122"/>
                  </a:endParaRPr>
                </a:p>
              </p:txBody>
            </p:sp>
            <p:sp>
              <p:nvSpPr>
                <p:cNvPr id="32" name="Rectangle 25"/>
                <p:cNvSpPr>
                  <a:spLocks noChangeArrowheads="1"/>
                </p:cNvSpPr>
                <p:nvPr/>
              </p:nvSpPr>
              <p:spPr bwMode="auto">
                <a:xfrm>
                  <a:off x="3760" y="3059"/>
                  <a:ext cx="581" cy="265"/>
                </a:xfrm>
                <a:prstGeom prst="rect">
                  <a:avLst/>
                </a:prstGeom>
                <a:noFill/>
                <a:ln w="127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100" b="1" dirty="0">
                      <a:solidFill>
                        <a:schemeClr val="bg1"/>
                      </a:solidFill>
                      <a:latin typeface="微软雅黑" pitchFamily="34" charset="-122"/>
                      <a:ea typeface="微软雅黑" pitchFamily="34" charset="-122"/>
                    </a:rPr>
                    <a:t>接收器</a:t>
                  </a:r>
                </a:p>
              </p:txBody>
            </p:sp>
          </p:grpSp>
          <p:sp>
            <p:nvSpPr>
              <p:cNvPr id="17" name="Freeform 52"/>
              <p:cNvSpPr>
                <a:spLocks/>
              </p:cNvSpPr>
              <p:nvPr/>
            </p:nvSpPr>
            <p:spPr bwMode="auto">
              <a:xfrm>
                <a:off x="4437102" y="2182216"/>
                <a:ext cx="696159" cy="161226"/>
              </a:xfrm>
              <a:custGeom>
                <a:avLst/>
                <a:gdLst>
                  <a:gd name="T0" fmla="*/ 0 w 672"/>
                  <a:gd name="T1" fmla="*/ 288 h 288"/>
                  <a:gd name="T2" fmla="*/ 96 w 672"/>
                  <a:gd name="T3" fmla="*/ 288 h 288"/>
                  <a:gd name="T4" fmla="*/ 96 w 672"/>
                  <a:gd name="T5" fmla="*/ 0 h 288"/>
                  <a:gd name="T6" fmla="*/ 192 w 672"/>
                  <a:gd name="T7" fmla="*/ 0 h 288"/>
                  <a:gd name="T8" fmla="*/ 192 w 672"/>
                  <a:gd name="T9" fmla="*/ 288 h 288"/>
                  <a:gd name="T10" fmla="*/ 288 w 672"/>
                  <a:gd name="T11" fmla="*/ 288 h 288"/>
                  <a:gd name="T12" fmla="*/ 288 w 672"/>
                  <a:gd name="T13" fmla="*/ 0 h 288"/>
                  <a:gd name="T14" fmla="*/ 384 w 672"/>
                  <a:gd name="T15" fmla="*/ 0 h 288"/>
                  <a:gd name="T16" fmla="*/ 384 w 672"/>
                  <a:gd name="T17" fmla="*/ 288 h 288"/>
                  <a:gd name="T18" fmla="*/ 480 w 672"/>
                  <a:gd name="T19" fmla="*/ 288 h 288"/>
                  <a:gd name="T20" fmla="*/ 480 w 672"/>
                  <a:gd name="T21" fmla="*/ 0 h 288"/>
                  <a:gd name="T22" fmla="*/ 576 w 672"/>
                  <a:gd name="T23" fmla="*/ 0 h 288"/>
                  <a:gd name="T24" fmla="*/ 576 w 672"/>
                  <a:gd name="T25" fmla="*/ 288 h 288"/>
                  <a:gd name="T26" fmla="*/ 672 w 672"/>
                  <a:gd name="T2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72" h="288">
                    <a:moveTo>
                      <a:pt x="0" y="288"/>
                    </a:moveTo>
                    <a:lnTo>
                      <a:pt x="96" y="288"/>
                    </a:lnTo>
                    <a:lnTo>
                      <a:pt x="96" y="0"/>
                    </a:lnTo>
                    <a:lnTo>
                      <a:pt x="192" y="0"/>
                    </a:lnTo>
                    <a:lnTo>
                      <a:pt x="192" y="288"/>
                    </a:lnTo>
                    <a:lnTo>
                      <a:pt x="288" y="288"/>
                    </a:lnTo>
                    <a:lnTo>
                      <a:pt x="288" y="0"/>
                    </a:lnTo>
                    <a:lnTo>
                      <a:pt x="384" y="0"/>
                    </a:lnTo>
                    <a:lnTo>
                      <a:pt x="384" y="288"/>
                    </a:lnTo>
                    <a:lnTo>
                      <a:pt x="480" y="288"/>
                    </a:lnTo>
                    <a:lnTo>
                      <a:pt x="480" y="0"/>
                    </a:lnTo>
                    <a:lnTo>
                      <a:pt x="576" y="0"/>
                    </a:lnTo>
                    <a:lnTo>
                      <a:pt x="576" y="288"/>
                    </a:lnTo>
                    <a:lnTo>
                      <a:pt x="672" y="288"/>
                    </a:lnTo>
                  </a:path>
                </a:pathLst>
              </a:custGeom>
              <a:noFill/>
              <a:ln w="19050"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CC"/>
                  </a:solidFill>
                  <a:latin typeface="微软雅黑" pitchFamily="34" charset="-122"/>
                  <a:ea typeface="微软雅黑" pitchFamily="34" charset="-122"/>
                </a:endParaRPr>
              </a:p>
            </p:txBody>
          </p:sp>
          <p:sp>
            <p:nvSpPr>
              <p:cNvPr id="18" name="Line 18"/>
              <p:cNvSpPr>
                <a:spLocks noChangeShapeType="1"/>
              </p:cNvSpPr>
              <p:nvPr/>
            </p:nvSpPr>
            <p:spPr bwMode="auto">
              <a:xfrm>
                <a:off x="4437102" y="2424506"/>
                <a:ext cx="812683" cy="0"/>
              </a:xfrm>
              <a:prstGeom prst="line">
                <a:avLst/>
              </a:prstGeom>
              <a:noFill/>
              <a:ln w="38100">
                <a:solidFill>
                  <a:srgbClr val="0070C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000" b="1">
                  <a:latin typeface="微软雅黑" pitchFamily="34" charset="-122"/>
                  <a:ea typeface="微软雅黑" pitchFamily="34" charset="-122"/>
                </a:endParaRPr>
              </a:p>
            </p:txBody>
          </p:sp>
          <p:grpSp>
            <p:nvGrpSpPr>
              <p:cNvPr id="19" name="Group 105"/>
              <p:cNvGrpSpPr>
                <a:grpSpLocks/>
              </p:cNvGrpSpPr>
              <p:nvPr/>
            </p:nvGrpSpPr>
            <p:grpSpPr bwMode="auto">
              <a:xfrm>
                <a:off x="6308084" y="2190370"/>
                <a:ext cx="852568" cy="447587"/>
                <a:chOff x="1210" y="2931"/>
                <a:chExt cx="583" cy="458"/>
              </a:xfrm>
              <a:solidFill>
                <a:srgbClr val="0070C0"/>
              </a:solidFill>
            </p:grpSpPr>
            <p:sp>
              <p:nvSpPr>
                <p:cNvPr id="29" name="AutoShape 12"/>
                <p:cNvSpPr>
                  <a:spLocks noChangeArrowheads="1"/>
                </p:cNvSpPr>
                <p:nvPr/>
              </p:nvSpPr>
              <p:spPr bwMode="auto">
                <a:xfrm>
                  <a:off x="1256" y="2931"/>
                  <a:ext cx="537" cy="458"/>
                </a:xfrm>
                <a:prstGeom prst="cube">
                  <a:avLst>
                    <a:gd name="adj" fmla="val 13069"/>
                  </a:avLst>
                </a:prstGeom>
                <a:solidFill>
                  <a:srgbClr val="FFC0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30" name="Rectangle 24"/>
                <p:cNvSpPr>
                  <a:spLocks noChangeArrowheads="1"/>
                </p:cNvSpPr>
                <p:nvPr/>
              </p:nvSpPr>
              <p:spPr bwMode="auto">
                <a:xfrm>
                  <a:off x="1210" y="3068"/>
                  <a:ext cx="581" cy="265"/>
                </a:xfrm>
                <a:prstGeom prst="rect">
                  <a:avLst/>
                </a:prstGeom>
                <a:noFill/>
                <a:ln w="127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100" b="1" dirty="0">
                      <a:latin typeface="微软雅黑" pitchFamily="34" charset="-122"/>
                      <a:ea typeface="微软雅黑" pitchFamily="34" charset="-122"/>
                    </a:rPr>
                    <a:t>光源</a:t>
                  </a:r>
                </a:p>
              </p:txBody>
            </p:sp>
          </p:grpSp>
          <p:sp>
            <p:nvSpPr>
              <p:cNvPr id="20" name="Line 18"/>
              <p:cNvSpPr>
                <a:spLocks noChangeShapeType="1"/>
              </p:cNvSpPr>
              <p:nvPr/>
            </p:nvSpPr>
            <p:spPr bwMode="auto">
              <a:xfrm>
                <a:off x="5833610" y="2424506"/>
                <a:ext cx="540592" cy="0"/>
              </a:xfrm>
              <a:prstGeom prst="line">
                <a:avLst/>
              </a:prstGeom>
              <a:noFill/>
              <a:ln w="38100">
                <a:solidFill>
                  <a:srgbClr val="0070C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000" b="1">
                  <a:latin typeface="微软雅黑" pitchFamily="34" charset="-122"/>
                  <a:ea typeface="微软雅黑" pitchFamily="34" charset="-122"/>
                </a:endParaRPr>
              </a:p>
            </p:txBody>
          </p:sp>
          <p:grpSp>
            <p:nvGrpSpPr>
              <p:cNvPr id="21" name="Group 105"/>
              <p:cNvGrpSpPr>
                <a:grpSpLocks/>
              </p:cNvGrpSpPr>
              <p:nvPr/>
            </p:nvGrpSpPr>
            <p:grpSpPr bwMode="auto">
              <a:xfrm>
                <a:off x="4565878" y="3198076"/>
                <a:ext cx="857819" cy="561927"/>
                <a:chOff x="1210" y="2931"/>
                <a:chExt cx="583" cy="575"/>
              </a:xfrm>
              <a:solidFill>
                <a:srgbClr val="0070C0"/>
              </a:solidFill>
            </p:grpSpPr>
            <p:sp>
              <p:nvSpPr>
                <p:cNvPr id="27" name="AutoShape 12"/>
                <p:cNvSpPr>
                  <a:spLocks noChangeArrowheads="1"/>
                </p:cNvSpPr>
                <p:nvPr/>
              </p:nvSpPr>
              <p:spPr bwMode="auto">
                <a:xfrm>
                  <a:off x="1256" y="2931"/>
                  <a:ext cx="537" cy="458"/>
                </a:xfrm>
                <a:prstGeom prst="cube">
                  <a:avLst>
                    <a:gd name="adj" fmla="val 13069"/>
                  </a:avLst>
                </a:prstGeom>
                <a:solidFill>
                  <a:srgbClr val="FFC0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8" name="Rectangle 24"/>
                <p:cNvSpPr>
                  <a:spLocks noChangeArrowheads="1"/>
                </p:cNvSpPr>
                <p:nvPr/>
              </p:nvSpPr>
              <p:spPr bwMode="auto">
                <a:xfrm>
                  <a:off x="1210" y="3068"/>
                  <a:ext cx="581" cy="438"/>
                </a:xfrm>
                <a:prstGeom prst="rect">
                  <a:avLst/>
                </a:prstGeom>
                <a:noFill/>
                <a:ln w="127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100" b="1" dirty="0">
                      <a:latin typeface="微软雅黑" pitchFamily="34" charset="-122"/>
                      <a:ea typeface="微软雅黑" pitchFamily="34" charset="-122"/>
                    </a:rPr>
                    <a:t>光检测器</a:t>
                  </a:r>
                </a:p>
              </p:txBody>
            </p:sp>
          </p:grpSp>
          <p:sp>
            <p:nvSpPr>
              <p:cNvPr id="22" name="Line 18"/>
              <p:cNvSpPr>
                <a:spLocks noChangeShapeType="1"/>
              </p:cNvSpPr>
              <p:nvPr/>
            </p:nvSpPr>
            <p:spPr bwMode="auto">
              <a:xfrm>
                <a:off x="5445584" y="3421869"/>
                <a:ext cx="540592" cy="0"/>
              </a:xfrm>
              <a:prstGeom prst="line">
                <a:avLst/>
              </a:prstGeom>
              <a:noFill/>
              <a:ln w="38100">
                <a:solidFill>
                  <a:srgbClr val="0070C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000" b="1">
                  <a:latin typeface="微软雅黑" pitchFamily="34" charset="-122"/>
                  <a:ea typeface="微软雅黑" pitchFamily="34" charset="-122"/>
                </a:endParaRPr>
              </a:p>
            </p:txBody>
          </p:sp>
          <p:sp>
            <p:nvSpPr>
              <p:cNvPr id="23" name="Freeform 52"/>
              <p:cNvSpPr>
                <a:spLocks/>
              </p:cNvSpPr>
              <p:nvPr/>
            </p:nvSpPr>
            <p:spPr bwMode="auto">
              <a:xfrm>
                <a:off x="6589751" y="3179579"/>
                <a:ext cx="696159" cy="161226"/>
              </a:xfrm>
              <a:custGeom>
                <a:avLst/>
                <a:gdLst>
                  <a:gd name="T0" fmla="*/ 0 w 672"/>
                  <a:gd name="T1" fmla="*/ 288 h 288"/>
                  <a:gd name="T2" fmla="*/ 96 w 672"/>
                  <a:gd name="T3" fmla="*/ 288 h 288"/>
                  <a:gd name="T4" fmla="*/ 96 w 672"/>
                  <a:gd name="T5" fmla="*/ 0 h 288"/>
                  <a:gd name="T6" fmla="*/ 192 w 672"/>
                  <a:gd name="T7" fmla="*/ 0 h 288"/>
                  <a:gd name="T8" fmla="*/ 192 w 672"/>
                  <a:gd name="T9" fmla="*/ 288 h 288"/>
                  <a:gd name="T10" fmla="*/ 288 w 672"/>
                  <a:gd name="T11" fmla="*/ 288 h 288"/>
                  <a:gd name="T12" fmla="*/ 288 w 672"/>
                  <a:gd name="T13" fmla="*/ 0 h 288"/>
                  <a:gd name="T14" fmla="*/ 384 w 672"/>
                  <a:gd name="T15" fmla="*/ 0 h 288"/>
                  <a:gd name="T16" fmla="*/ 384 w 672"/>
                  <a:gd name="T17" fmla="*/ 288 h 288"/>
                  <a:gd name="T18" fmla="*/ 480 w 672"/>
                  <a:gd name="T19" fmla="*/ 288 h 288"/>
                  <a:gd name="T20" fmla="*/ 480 w 672"/>
                  <a:gd name="T21" fmla="*/ 0 h 288"/>
                  <a:gd name="T22" fmla="*/ 576 w 672"/>
                  <a:gd name="T23" fmla="*/ 0 h 288"/>
                  <a:gd name="T24" fmla="*/ 576 w 672"/>
                  <a:gd name="T25" fmla="*/ 288 h 288"/>
                  <a:gd name="T26" fmla="*/ 672 w 672"/>
                  <a:gd name="T2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72" h="288">
                    <a:moveTo>
                      <a:pt x="0" y="288"/>
                    </a:moveTo>
                    <a:lnTo>
                      <a:pt x="96" y="288"/>
                    </a:lnTo>
                    <a:lnTo>
                      <a:pt x="96" y="0"/>
                    </a:lnTo>
                    <a:lnTo>
                      <a:pt x="192" y="0"/>
                    </a:lnTo>
                    <a:lnTo>
                      <a:pt x="192" y="288"/>
                    </a:lnTo>
                    <a:lnTo>
                      <a:pt x="288" y="288"/>
                    </a:lnTo>
                    <a:lnTo>
                      <a:pt x="288" y="0"/>
                    </a:lnTo>
                    <a:lnTo>
                      <a:pt x="384" y="0"/>
                    </a:lnTo>
                    <a:lnTo>
                      <a:pt x="384" y="288"/>
                    </a:lnTo>
                    <a:lnTo>
                      <a:pt x="480" y="288"/>
                    </a:lnTo>
                    <a:lnTo>
                      <a:pt x="480" y="0"/>
                    </a:lnTo>
                    <a:lnTo>
                      <a:pt x="576" y="0"/>
                    </a:lnTo>
                    <a:lnTo>
                      <a:pt x="576" y="288"/>
                    </a:lnTo>
                    <a:lnTo>
                      <a:pt x="672" y="288"/>
                    </a:lnTo>
                  </a:path>
                </a:pathLst>
              </a:custGeom>
              <a:noFill/>
              <a:ln w="19050"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CC"/>
                  </a:solidFill>
                  <a:latin typeface="微软雅黑" pitchFamily="34" charset="-122"/>
                  <a:ea typeface="微软雅黑" pitchFamily="34" charset="-122"/>
                </a:endParaRPr>
              </a:p>
            </p:txBody>
          </p:sp>
          <p:sp>
            <p:nvSpPr>
              <p:cNvPr id="24" name="Line 18"/>
              <p:cNvSpPr>
                <a:spLocks noChangeShapeType="1"/>
              </p:cNvSpPr>
              <p:nvPr/>
            </p:nvSpPr>
            <p:spPr bwMode="auto">
              <a:xfrm>
                <a:off x="6546206" y="3421869"/>
                <a:ext cx="812683" cy="0"/>
              </a:xfrm>
              <a:prstGeom prst="line">
                <a:avLst/>
              </a:prstGeom>
              <a:noFill/>
              <a:ln w="38100">
                <a:solidFill>
                  <a:srgbClr val="0070C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000" b="1">
                  <a:latin typeface="微软雅黑" pitchFamily="34" charset="-122"/>
                  <a:ea typeface="微软雅黑" pitchFamily="34" charset="-122"/>
                </a:endParaRPr>
              </a:p>
            </p:txBody>
          </p:sp>
          <p:cxnSp>
            <p:nvCxnSpPr>
              <p:cNvPr id="25" name="肘形连接符 24"/>
              <p:cNvCxnSpPr>
                <a:stCxn id="30" idx="3"/>
                <a:endCxn id="27" idx="2"/>
              </p:cNvCxnSpPr>
              <p:nvPr/>
            </p:nvCxnSpPr>
            <p:spPr>
              <a:xfrm flipH="1">
                <a:off x="4633562" y="2453743"/>
                <a:ext cx="2524165" cy="997374"/>
              </a:xfrm>
              <a:prstGeom prst="bentConnector5">
                <a:avLst>
                  <a:gd name="adj1" fmla="val -9056"/>
                  <a:gd name="adj2" fmla="val 51664"/>
                  <a:gd name="adj3" fmla="val 109056"/>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6" name="矩形 25"/>
              <p:cNvSpPr/>
              <p:nvPr/>
            </p:nvSpPr>
            <p:spPr>
              <a:xfrm>
                <a:off x="5689753" y="2693320"/>
                <a:ext cx="543739" cy="307777"/>
              </a:xfrm>
              <a:prstGeom prst="rect">
                <a:avLst/>
              </a:prstGeom>
            </p:spPr>
            <p:txBody>
              <a:bodyPr wrap="none">
                <a:spAutoFit/>
              </a:bodyPr>
              <a:lstStyle/>
              <a:p>
                <a:r>
                  <a:rPr lang="zh-CN" altLang="en-US" sz="1400" b="1" dirty="0">
                    <a:solidFill>
                      <a:srgbClr val="C00000"/>
                    </a:solidFill>
                    <a:latin typeface="微软雅黑" panose="020B0503020204020204" pitchFamily="34" charset="-122"/>
                    <a:ea typeface="微软雅黑" panose="020B0503020204020204" pitchFamily="34" charset="-122"/>
                  </a:rPr>
                  <a:t>光缆</a:t>
                </a:r>
              </a:p>
            </p:txBody>
          </p:sp>
        </p:grpSp>
        <p:sp>
          <p:nvSpPr>
            <p:cNvPr id="35" name="Text Box 24"/>
            <p:cNvSpPr txBox="1">
              <a:spLocks noChangeArrowheads="1"/>
            </p:cNvSpPr>
            <p:nvPr/>
          </p:nvSpPr>
          <p:spPr bwMode="auto">
            <a:xfrm>
              <a:off x="5479617" y="3874437"/>
              <a:ext cx="282432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r>
                <a:rPr lang="zh-CN" altLang="en-US" sz="1400" b="1" dirty="0">
                  <a:latin typeface="微软雅黑" pitchFamily="34" charset="-122"/>
                  <a:ea typeface="微软雅黑" pitchFamily="34" charset="-122"/>
                </a:rPr>
                <a:t>基本的光纤通信系统</a:t>
              </a:r>
              <a:endParaRPr lang="en-US" altLang="zh-CN" sz="1400" b="1" dirty="0">
                <a:latin typeface="微软雅黑" pitchFamily="34" charset="-122"/>
                <a:ea typeface="微软雅黑" pitchFamily="34" charset="-122"/>
              </a:endParaRPr>
            </a:p>
          </p:txBody>
        </p:sp>
      </p:grpSp>
      <p:pic>
        <p:nvPicPr>
          <p:cNvPr id="11268" name="Picture 4" descr="Fiber Optic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70190" y="1283119"/>
            <a:ext cx="1246362" cy="8766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29838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1"/>
          </p:nvPr>
        </p:nvSpPr>
        <p:spPr>
          <a:xfrm>
            <a:off x="1332000" y="360000"/>
            <a:ext cx="6480000" cy="354012"/>
          </a:xfrm>
        </p:spPr>
        <p:txBody>
          <a:bodyPr>
            <a:normAutofit fontScale="92500" lnSpcReduction="10000"/>
          </a:bodyPr>
          <a:lstStyle/>
          <a:p>
            <a:r>
              <a:rPr lang="zh-CN" altLang="en-US" dirty="0"/>
              <a:t>光波在纤芯中的传播</a:t>
            </a:r>
          </a:p>
        </p:txBody>
      </p:sp>
      <p:sp>
        <p:nvSpPr>
          <p:cNvPr id="4" name="圆角矩形 3"/>
          <p:cNvSpPr/>
          <p:nvPr/>
        </p:nvSpPr>
        <p:spPr>
          <a:xfrm>
            <a:off x="556963" y="1079861"/>
            <a:ext cx="8048776" cy="2020388"/>
          </a:xfrm>
          <a:prstGeom prst="roundRect">
            <a:avLst/>
          </a:prstGeom>
          <a:solidFill>
            <a:schemeClr val="bg1"/>
          </a:solidFill>
          <a:ln>
            <a:solidFill>
              <a:srgbClr val="00B05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1706825" y="1159693"/>
            <a:ext cx="6827284" cy="1802278"/>
            <a:chOff x="-387650" y="1506188"/>
            <a:chExt cx="10707451" cy="2826571"/>
          </a:xfrm>
        </p:grpSpPr>
        <p:sp>
          <p:nvSpPr>
            <p:cNvPr id="6" name="Arc 84"/>
            <p:cNvSpPr>
              <a:spLocks/>
            </p:cNvSpPr>
            <p:nvPr/>
          </p:nvSpPr>
          <p:spPr bwMode="auto">
            <a:xfrm rot="9720000">
              <a:off x="3682984" y="3278659"/>
              <a:ext cx="104908" cy="7937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cap="rnd">
              <a:solidFill>
                <a:srgbClr val="0000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grpSp>
          <p:nvGrpSpPr>
            <p:cNvPr id="7" name="Group 85"/>
            <p:cNvGrpSpPr>
              <a:grpSpLocks/>
            </p:cNvGrpSpPr>
            <p:nvPr/>
          </p:nvGrpSpPr>
          <p:grpSpPr bwMode="auto">
            <a:xfrm>
              <a:off x="3167047" y="2459508"/>
              <a:ext cx="3190214" cy="488950"/>
              <a:chOff x="292" y="1032"/>
              <a:chExt cx="1732" cy="216"/>
            </a:xfrm>
          </p:grpSpPr>
          <p:grpSp>
            <p:nvGrpSpPr>
              <p:cNvPr id="44" name="Group 86"/>
              <p:cNvGrpSpPr>
                <a:grpSpLocks/>
              </p:cNvGrpSpPr>
              <p:nvPr/>
            </p:nvGrpSpPr>
            <p:grpSpPr bwMode="auto">
              <a:xfrm>
                <a:off x="292" y="1032"/>
                <a:ext cx="1732" cy="216"/>
                <a:chOff x="292" y="1032"/>
                <a:chExt cx="1732" cy="216"/>
              </a:xfrm>
            </p:grpSpPr>
            <p:sp>
              <p:nvSpPr>
                <p:cNvPr id="46" name="Line 87"/>
                <p:cNvSpPr>
                  <a:spLocks noChangeShapeType="1"/>
                </p:cNvSpPr>
                <p:nvPr/>
              </p:nvSpPr>
              <p:spPr bwMode="auto">
                <a:xfrm>
                  <a:off x="292" y="1032"/>
                  <a:ext cx="1732" cy="0"/>
                </a:xfrm>
                <a:prstGeom prst="line">
                  <a:avLst/>
                </a:prstGeom>
                <a:no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47" name="Line 88"/>
                <p:cNvSpPr>
                  <a:spLocks noChangeShapeType="1"/>
                </p:cNvSpPr>
                <p:nvPr/>
              </p:nvSpPr>
              <p:spPr bwMode="auto">
                <a:xfrm>
                  <a:off x="292" y="1248"/>
                  <a:ext cx="1732" cy="0"/>
                </a:xfrm>
                <a:prstGeom prst="line">
                  <a:avLst/>
                </a:prstGeom>
                <a:no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grpSp>
          <p:sp>
            <p:nvSpPr>
              <p:cNvPr id="45" name="Rectangle 89"/>
              <p:cNvSpPr>
                <a:spLocks noChangeArrowheads="1"/>
              </p:cNvSpPr>
              <p:nvPr/>
            </p:nvSpPr>
            <p:spPr bwMode="auto">
              <a:xfrm>
                <a:off x="296" y="1041"/>
                <a:ext cx="1716" cy="198"/>
              </a:xfrm>
              <a:prstGeom prst="rect">
                <a:avLst/>
              </a:prstGeom>
              <a:solidFill>
                <a:srgbClr val="66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grpSp>
        <p:grpSp>
          <p:nvGrpSpPr>
            <p:cNvPr id="8" name="Group 90"/>
            <p:cNvGrpSpPr>
              <a:grpSpLocks/>
            </p:cNvGrpSpPr>
            <p:nvPr/>
          </p:nvGrpSpPr>
          <p:grpSpPr bwMode="auto">
            <a:xfrm>
              <a:off x="3153289" y="3881908"/>
              <a:ext cx="3167856" cy="436562"/>
              <a:chOff x="284" y="1656"/>
              <a:chExt cx="1720" cy="192"/>
            </a:xfrm>
          </p:grpSpPr>
          <p:grpSp>
            <p:nvGrpSpPr>
              <p:cNvPr id="40" name="Group 91"/>
              <p:cNvGrpSpPr>
                <a:grpSpLocks/>
              </p:cNvGrpSpPr>
              <p:nvPr/>
            </p:nvGrpSpPr>
            <p:grpSpPr bwMode="auto">
              <a:xfrm>
                <a:off x="284" y="1656"/>
                <a:ext cx="1720" cy="192"/>
                <a:chOff x="284" y="1656"/>
                <a:chExt cx="1720" cy="192"/>
              </a:xfrm>
            </p:grpSpPr>
            <p:sp>
              <p:nvSpPr>
                <p:cNvPr id="42" name="Line 92"/>
                <p:cNvSpPr>
                  <a:spLocks noChangeShapeType="1"/>
                </p:cNvSpPr>
                <p:nvPr/>
              </p:nvSpPr>
              <p:spPr bwMode="auto">
                <a:xfrm>
                  <a:off x="284" y="1656"/>
                  <a:ext cx="1720" cy="0"/>
                </a:xfrm>
                <a:prstGeom prst="line">
                  <a:avLst/>
                </a:prstGeom>
                <a:no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43" name="Line 93"/>
                <p:cNvSpPr>
                  <a:spLocks noChangeShapeType="1"/>
                </p:cNvSpPr>
                <p:nvPr/>
              </p:nvSpPr>
              <p:spPr bwMode="auto">
                <a:xfrm>
                  <a:off x="284" y="1848"/>
                  <a:ext cx="1720" cy="0"/>
                </a:xfrm>
                <a:prstGeom prst="line">
                  <a:avLst/>
                </a:prstGeom>
                <a:no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grpSp>
          <p:sp>
            <p:nvSpPr>
              <p:cNvPr id="41" name="Rectangle 94"/>
              <p:cNvSpPr>
                <a:spLocks noChangeArrowheads="1"/>
              </p:cNvSpPr>
              <p:nvPr/>
            </p:nvSpPr>
            <p:spPr bwMode="auto">
              <a:xfrm>
                <a:off x="288" y="1664"/>
                <a:ext cx="1704" cy="176"/>
              </a:xfrm>
              <a:prstGeom prst="rect">
                <a:avLst/>
              </a:prstGeom>
              <a:solidFill>
                <a:srgbClr val="66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grpSp>
        <p:sp>
          <p:nvSpPr>
            <p:cNvPr id="9" name="Line 95"/>
            <p:cNvSpPr>
              <a:spLocks noChangeShapeType="1"/>
            </p:cNvSpPr>
            <p:nvPr/>
          </p:nvSpPr>
          <p:spPr bwMode="auto">
            <a:xfrm>
              <a:off x="3808529" y="1930870"/>
              <a:ext cx="0" cy="1931988"/>
            </a:xfrm>
            <a:prstGeom prst="line">
              <a:avLst/>
            </a:prstGeom>
            <a:noFill/>
            <a:ln w="28575">
              <a:solidFill>
                <a:srgbClr val="008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10" name="Line 97"/>
            <p:cNvSpPr>
              <a:spLocks noChangeShapeType="1"/>
            </p:cNvSpPr>
            <p:nvPr/>
          </p:nvSpPr>
          <p:spPr bwMode="auto">
            <a:xfrm flipV="1">
              <a:off x="3492087" y="2951633"/>
              <a:ext cx="316442" cy="749300"/>
            </a:xfrm>
            <a:prstGeom prst="line">
              <a:avLst/>
            </a:prstGeom>
            <a:noFill/>
            <a:ln w="38100">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11" name="Arc 98"/>
            <p:cNvSpPr>
              <a:spLocks/>
            </p:cNvSpPr>
            <p:nvPr/>
          </p:nvSpPr>
          <p:spPr bwMode="auto">
            <a:xfrm>
              <a:off x="3811970" y="2700809"/>
              <a:ext cx="154781" cy="12382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cap="rnd">
              <a:solidFill>
                <a:srgbClr val="0000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12" name="Line 99"/>
            <p:cNvSpPr>
              <a:spLocks noChangeShapeType="1"/>
            </p:cNvSpPr>
            <p:nvPr/>
          </p:nvSpPr>
          <p:spPr bwMode="auto">
            <a:xfrm>
              <a:off x="5237676" y="1949920"/>
              <a:ext cx="0" cy="1931988"/>
            </a:xfrm>
            <a:prstGeom prst="line">
              <a:avLst/>
            </a:prstGeom>
            <a:noFill/>
            <a:ln w="28575">
              <a:solidFill>
                <a:srgbClr val="008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13" name="Line 100"/>
            <p:cNvSpPr>
              <a:spLocks noChangeShapeType="1"/>
            </p:cNvSpPr>
            <p:nvPr/>
          </p:nvSpPr>
          <p:spPr bwMode="auto">
            <a:xfrm flipV="1">
              <a:off x="4405297" y="2951634"/>
              <a:ext cx="844418" cy="346075"/>
            </a:xfrm>
            <a:prstGeom prst="line">
              <a:avLst/>
            </a:prstGeom>
            <a:noFill/>
            <a:ln w="38100">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14" name="Line 101"/>
            <p:cNvSpPr>
              <a:spLocks noChangeShapeType="1"/>
            </p:cNvSpPr>
            <p:nvPr/>
          </p:nvSpPr>
          <p:spPr bwMode="auto">
            <a:xfrm>
              <a:off x="5244555" y="2951633"/>
              <a:ext cx="966523" cy="355600"/>
            </a:xfrm>
            <a:prstGeom prst="line">
              <a:avLst/>
            </a:prstGeom>
            <a:noFill/>
            <a:ln w="38100">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15" name="Arc 102"/>
            <p:cNvSpPr>
              <a:spLocks/>
            </p:cNvSpPr>
            <p:nvPr/>
          </p:nvSpPr>
          <p:spPr bwMode="auto">
            <a:xfrm rot="9840000">
              <a:off x="4936713" y="3054821"/>
              <a:ext cx="256248" cy="32861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cap="rnd">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16" name="Freeform 103"/>
            <p:cNvSpPr>
              <a:spLocks/>
            </p:cNvSpPr>
            <p:nvPr/>
          </p:nvSpPr>
          <p:spPr bwMode="auto">
            <a:xfrm>
              <a:off x="3027745" y="2500783"/>
              <a:ext cx="166819" cy="1820862"/>
            </a:xfrm>
            <a:custGeom>
              <a:avLst/>
              <a:gdLst>
                <a:gd name="T0" fmla="*/ 78 w 91"/>
                <a:gd name="T1" fmla="*/ 0 h 799"/>
                <a:gd name="T2" fmla="*/ 78 w 91"/>
                <a:gd name="T3" fmla="*/ 18 h 799"/>
                <a:gd name="T4" fmla="*/ 78 w 91"/>
                <a:gd name="T5" fmla="*/ 36 h 799"/>
                <a:gd name="T6" fmla="*/ 60 w 91"/>
                <a:gd name="T7" fmla="*/ 54 h 799"/>
                <a:gd name="T8" fmla="*/ 60 w 91"/>
                <a:gd name="T9" fmla="*/ 72 h 799"/>
                <a:gd name="T10" fmla="*/ 54 w 91"/>
                <a:gd name="T11" fmla="*/ 90 h 799"/>
                <a:gd name="T12" fmla="*/ 54 w 91"/>
                <a:gd name="T13" fmla="*/ 108 h 799"/>
                <a:gd name="T14" fmla="*/ 72 w 91"/>
                <a:gd name="T15" fmla="*/ 126 h 799"/>
                <a:gd name="T16" fmla="*/ 90 w 91"/>
                <a:gd name="T17" fmla="*/ 144 h 799"/>
                <a:gd name="T18" fmla="*/ 90 w 91"/>
                <a:gd name="T19" fmla="*/ 162 h 799"/>
                <a:gd name="T20" fmla="*/ 90 w 91"/>
                <a:gd name="T21" fmla="*/ 180 h 799"/>
                <a:gd name="T22" fmla="*/ 90 w 91"/>
                <a:gd name="T23" fmla="*/ 198 h 799"/>
                <a:gd name="T24" fmla="*/ 84 w 91"/>
                <a:gd name="T25" fmla="*/ 198 h 799"/>
                <a:gd name="T26" fmla="*/ 66 w 91"/>
                <a:gd name="T27" fmla="*/ 210 h 799"/>
                <a:gd name="T28" fmla="*/ 48 w 91"/>
                <a:gd name="T29" fmla="*/ 228 h 799"/>
                <a:gd name="T30" fmla="*/ 36 w 91"/>
                <a:gd name="T31" fmla="*/ 246 h 799"/>
                <a:gd name="T32" fmla="*/ 18 w 91"/>
                <a:gd name="T33" fmla="*/ 258 h 799"/>
                <a:gd name="T34" fmla="*/ 12 w 91"/>
                <a:gd name="T35" fmla="*/ 276 h 799"/>
                <a:gd name="T36" fmla="*/ 12 w 91"/>
                <a:gd name="T37" fmla="*/ 294 h 799"/>
                <a:gd name="T38" fmla="*/ 12 w 91"/>
                <a:gd name="T39" fmla="*/ 312 h 799"/>
                <a:gd name="T40" fmla="*/ 12 w 91"/>
                <a:gd name="T41" fmla="*/ 330 h 799"/>
                <a:gd name="T42" fmla="*/ 0 w 91"/>
                <a:gd name="T43" fmla="*/ 348 h 799"/>
                <a:gd name="T44" fmla="*/ 0 w 91"/>
                <a:gd name="T45" fmla="*/ 366 h 799"/>
                <a:gd name="T46" fmla="*/ 0 w 91"/>
                <a:gd name="T47" fmla="*/ 384 h 799"/>
                <a:gd name="T48" fmla="*/ 0 w 91"/>
                <a:gd name="T49" fmla="*/ 402 h 799"/>
                <a:gd name="T50" fmla="*/ 0 w 91"/>
                <a:gd name="T51" fmla="*/ 420 h 799"/>
                <a:gd name="T52" fmla="*/ 0 w 91"/>
                <a:gd name="T53" fmla="*/ 438 h 799"/>
                <a:gd name="T54" fmla="*/ 18 w 91"/>
                <a:gd name="T55" fmla="*/ 450 h 799"/>
                <a:gd name="T56" fmla="*/ 36 w 91"/>
                <a:gd name="T57" fmla="*/ 462 h 799"/>
                <a:gd name="T58" fmla="*/ 54 w 91"/>
                <a:gd name="T59" fmla="*/ 474 h 799"/>
                <a:gd name="T60" fmla="*/ 60 w 91"/>
                <a:gd name="T61" fmla="*/ 492 h 799"/>
                <a:gd name="T62" fmla="*/ 78 w 91"/>
                <a:gd name="T63" fmla="*/ 510 h 799"/>
                <a:gd name="T64" fmla="*/ 84 w 91"/>
                <a:gd name="T65" fmla="*/ 528 h 799"/>
                <a:gd name="T66" fmla="*/ 90 w 91"/>
                <a:gd name="T67" fmla="*/ 546 h 799"/>
                <a:gd name="T68" fmla="*/ 90 w 91"/>
                <a:gd name="T69" fmla="*/ 564 h 799"/>
                <a:gd name="T70" fmla="*/ 90 w 91"/>
                <a:gd name="T71" fmla="*/ 582 h 799"/>
                <a:gd name="T72" fmla="*/ 90 w 91"/>
                <a:gd name="T73" fmla="*/ 600 h 799"/>
                <a:gd name="T74" fmla="*/ 72 w 91"/>
                <a:gd name="T75" fmla="*/ 600 h 799"/>
                <a:gd name="T76" fmla="*/ 66 w 91"/>
                <a:gd name="T77" fmla="*/ 618 h 799"/>
                <a:gd name="T78" fmla="*/ 60 w 91"/>
                <a:gd name="T79" fmla="*/ 636 h 799"/>
                <a:gd name="T80" fmla="*/ 54 w 91"/>
                <a:gd name="T81" fmla="*/ 654 h 799"/>
                <a:gd name="T82" fmla="*/ 48 w 91"/>
                <a:gd name="T83" fmla="*/ 672 h 799"/>
                <a:gd name="T84" fmla="*/ 48 w 91"/>
                <a:gd name="T85" fmla="*/ 690 h 799"/>
                <a:gd name="T86" fmla="*/ 48 w 91"/>
                <a:gd name="T87" fmla="*/ 708 h 799"/>
                <a:gd name="T88" fmla="*/ 48 w 91"/>
                <a:gd name="T89" fmla="*/ 726 h 799"/>
                <a:gd name="T90" fmla="*/ 48 w 91"/>
                <a:gd name="T91" fmla="*/ 744 h 799"/>
                <a:gd name="T92" fmla="*/ 54 w 91"/>
                <a:gd name="T93" fmla="*/ 762 h 799"/>
                <a:gd name="T94" fmla="*/ 60 w 91"/>
                <a:gd name="T95" fmla="*/ 780 h 799"/>
                <a:gd name="T96" fmla="*/ 72 w 91"/>
                <a:gd name="T97" fmla="*/ 798 h 799"/>
                <a:gd name="T98" fmla="*/ 72 w 91"/>
                <a:gd name="T99" fmla="*/ 792 h 799"/>
                <a:gd name="T100" fmla="*/ 72 w 91"/>
                <a:gd name="T101" fmla="*/ 786 h 7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1" h="799">
                  <a:moveTo>
                    <a:pt x="78" y="0"/>
                  </a:moveTo>
                  <a:lnTo>
                    <a:pt x="78" y="18"/>
                  </a:lnTo>
                  <a:lnTo>
                    <a:pt x="78" y="36"/>
                  </a:lnTo>
                  <a:lnTo>
                    <a:pt x="60" y="54"/>
                  </a:lnTo>
                  <a:lnTo>
                    <a:pt x="60" y="72"/>
                  </a:lnTo>
                  <a:lnTo>
                    <a:pt x="54" y="90"/>
                  </a:lnTo>
                  <a:lnTo>
                    <a:pt x="54" y="108"/>
                  </a:lnTo>
                  <a:lnTo>
                    <a:pt x="72" y="126"/>
                  </a:lnTo>
                  <a:lnTo>
                    <a:pt x="90" y="144"/>
                  </a:lnTo>
                  <a:lnTo>
                    <a:pt x="90" y="162"/>
                  </a:lnTo>
                  <a:lnTo>
                    <a:pt x="90" y="180"/>
                  </a:lnTo>
                  <a:lnTo>
                    <a:pt x="90" y="198"/>
                  </a:lnTo>
                  <a:lnTo>
                    <a:pt x="84" y="198"/>
                  </a:lnTo>
                  <a:lnTo>
                    <a:pt x="66" y="210"/>
                  </a:lnTo>
                  <a:lnTo>
                    <a:pt x="48" y="228"/>
                  </a:lnTo>
                  <a:lnTo>
                    <a:pt x="36" y="246"/>
                  </a:lnTo>
                  <a:lnTo>
                    <a:pt x="18" y="258"/>
                  </a:lnTo>
                  <a:lnTo>
                    <a:pt x="12" y="276"/>
                  </a:lnTo>
                  <a:lnTo>
                    <a:pt x="12" y="294"/>
                  </a:lnTo>
                  <a:lnTo>
                    <a:pt x="12" y="312"/>
                  </a:lnTo>
                  <a:lnTo>
                    <a:pt x="12" y="330"/>
                  </a:lnTo>
                  <a:lnTo>
                    <a:pt x="0" y="348"/>
                  </a:lnTo>
                  <a:lnTo>
                    <a:pt x="0" y="366"/>
                  </a:lnTo>
                  <a:lnTo>
                    <a:pt x="0" y="384"/>
                  </a:lnTo>
                  <a:lnTo>
                    <a:pt x="0" y="402"/>
                  </a:lnTo>
                  <a:lnTo>
                    <a:pt x="0" y="420"/>
                  </a:lnTo>
                  <a:lnTo>
                    <a:pt x="0" y="438"/>
                  </a:lnTo>
                  <a:lnTo>
                    <a:pt x="18" y="450"/>
                  </a:lnTo>
                  <a:lnTo>
                    <a:pt x="36" y="462"/>
                  </a:lnTo>
                  <a:lnTo>
                    <a:pt x="54" y="474"/>
                  </a:lnTo>
                  <a:lnTo>
                    <a:pt x="60" y="492"/>
                  </a:lnTo>
                  <a:lnTo>
                    <a:pt x="78" y="510"/>
                  </a:lnTo>
                  <a:lnTo>
                    <a:pt x="84" y="528"/>
                  </a:lnTo>
                  <a:lnTo>
                    <a:pt x="90" y="546"/>
                  </a:lnTo>
                  <a:lnTo>
                    <a:pt x="90" y="564"/>
                  </a:lnTo>
                  <a:lnTo>
                    <a:pt x="90" y="582"/>
                  </a:lnTo>
                  <a:lnTo>
                    <a:pt x="90" y="600"/>
                  </a:lnTo>
                  <a:lnTo>
                    <a:pt x="72" y="600"/>
                  </a:lnTo>
                  <a:lnTo>
                    <a:pt x="66" y="618"/>
                  </a:lnTo>
                  <a:lnTo>
                    <a:pt x="60" y="636"/>
                  </a:lnTo>
                  <a:lnTo>
                    <a:pt x="54" y="654"/>
                  </a:lnTo>
                  <a:lnTo>
                    <a:pt x="48" y="672"/>
                  </a:lnTo>
                  <a:lnTo>
                    <a:pt x="48" y="690"/>
                  </a:lnTo>
                  <a:lnTo>
                    <a:pt x="48" y="708"/>
                  </a:lnTo>
                  <a:lnTo>
                    <a:pt x="48" y="726"/>
                  </a:lnTo>
                  <a:lnTo>
                    <a:pt x="48" y="744"/>
                  </a:lnTo>
                  <a:lnTo>
                    <a:pt x="54" y="762"/>
                  </a:lnTo>
                  <a:lnTo>
                    <a:pt x="60" y="780"/>
                  </a:lnTo>
                  <a:lnTo>
                    <a:pt x="72" y="798"/>
                  </a:lnTo>
                  <a:lnTo>
                    <a:pt x="72" y="792"/>
                  </a:lnTo>
                  <a:lnTo>
                    <a:pt x="72" y="786"/>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17" name="Rectangle 104"/>
            <p:cNvSpPr>
              <a:spLocks noChangeArrowheads="1"/>
            </p:cNvSpPr>
            <p:nvPr/>
          </p:nvSpPr>
          <p:spPr bwMode="auto">
            <a:xfrm>
              <a:off x="4685413" y="1506188"/>
              <a:ext cx="1131320" cy="478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kumimoji="1" lang="zh-CN" altLang="en-US" sz="1400" b="1" dirty="0">
                  <a:solidFill>
                    <a:srgbClr val="CC00CC"/>
                  </a:solidFill>
                  <a:latin typeface="微软雅黑" pitchFamily="34" charset="-122"/>
                  <a:ea typeface="微软雅黑" pitchFamily="34" charset="-122"/>
                </a:rPr>
                <a:t>折射角</a:t>
              </a:r>
            </a:p>
          </p:txBody>
        </p:sp>
        <p:sp>
          <p:nvSpPr>
            <p:cNvPr id="18" name="Rectangle 105"/>
            <p:cNvSpPr>
              <a:spLocks noChangeArrowheads="1"/>
            </p:cNvSpPr>
            <p:nvPr/>
          </p:nvSpPr>
          <p:spPr bwMode="auto">
            <a:xfrm>
              <a:off x="3869973" y="3431396"/>
              <a:ext cx="1188377" cy="478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400" b="1" dirty="0">
                  <a:solidFill>
                    <a:srgbClr val="CC00CC"/>
                  </a:solidFill>
                  <a:latin typeface="微软雅黑" pitchFamily="34" charset="-122"/>
                  <a:ea typeface="微软雅黑" pitchFamily="34" charset="-122"/>
                </a:rPr>
                <a:t>入射角</a:t>
              </a:r>
            </a:p>
          </p:txBody>
        </p:sp>
        <p:sp>
          <p:nvSpPr>
            <p:cNvPr id="19" name="Line 106"/>
            <p:cNvSpPr>
              <a:spLocks noChangeShapeType="1"/>
            </p:cNvSpPr>
            <p:nvPr/>
          </p:nvSpPr>
          <p:spPr bwMode="auto">
            <a:xfrm>
              <a:off x="5333984" y="2003896"/>
              <a:ext cx="128985" cy="720725"/>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20" name="Line 107"/>
            <p:cNvSpPr>
              <a:spLocks noChangeShapeType="1"/>
            </p:cNvSpPr>
            <p:nvPr/>
          </p:nvSpPr>
          <p:spPr bwMode="auto">
            <a:xfrm flipV="1">
              <a:off x="3896238" y="1959445"/>
              <a:ext cx="1135063" cy="768350"/>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21" name="Line 108"/>
            <p:cNvSpPr>
              <a:spLocks noChangeShapeType="1"/>
            </p:cNvSpPr>
            <p:nvPr/>
          </p:nvSpPr>
          <p:spPr bwMode="auto">
            <a:xfrm>
              <a:off x="3728864" y="3356992"/>
              <a:ext cx="323321" cy="255588"/>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22" name="Line 109"/>
            <p:cNvSpPr>
              <a:spLocks noChangeShapeType="1"/>
            </p:cNvSpPr>
            <p:nvPr/>
          </p:nvSpPr>
          <p:spPr bwMode="auto">
            <a:xfrm flipV="1">
              <a:off x="4827505" y="3297708"/>
              <a:ext cx="215834" cy="267595"/>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23" name="Line 110"/>
            <p:cNvSpPr>
              <a:spLocks noChangeShapeType="1"/>
            </p:cNvSpPr>
            <p:nvPr/>
          </p:nvSpPr>
          <p:spPr bwMode="auto">
            <a:xfrm flipV="1">
              <a:off x="6259231" y="3025868"/>
              <a:ext cx="658679" cy="363914"/>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24" name="Line 111"/>
            <p:cNvSpPr>
              <a:spLocks noChangeShapeType="1"/>
            </p:cNvSpPr>
            <p:nvPr/>
          </p:nvSpPr>
          <p:spPr bwMode="auto">
            <a:xfrm flipH="1">
              <a:off x="6104450" y="2192605"/>
              <a:ext cx="813461" cy="516035"/>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25" name="Freeform 112"/>
            <p:cNvSpPr>
              <a:spLocks/>
            </p:cNvSpPr>
            <p:nvPr/>
          </p:nvSpPr>
          <p:spPr bwMode="auto">
            <a:xfrm>
              <a:off x="6343503" y="2473796"/>
              <a:ext cx="24077" cy="493713"/>
            </a:xfrm>
            <a:custGeom>
              <a:avLst/>
              <a:gdLst>
                <a:gd name="T0" fmla="*/ 0 w 13"/>
                <a:gd name="T1" fmla="*/ 0 h 217"/>
                <a:gd name="T2" fmla="*/ 6 w 13"/>
                <a:gd name="T3" fmla="*/ 18 h 217"/>
                <a:gd name="T4" fmla="*/ 6 w 13"/>
                <a:gd name="T5" fmla="*/ 36 h 217"/>
                <a:gd name="T6" fmla="*/ 6 w 13"/>
                <a:gd name="T7" fmla="*/ 54 h 217"/>
                <a:gd name="T8" fmla="*/ 6 w 13"/>
                <a:gd name="T9" fmla="*/ 72 h 217"/>
                <a:gd name="T10" fmla="*/ 6 w 13"/>
                <a:gd name="T11" fmla="*/ 90 h 217"/>
                <a:gd name="T12" fmla="*/ 0 w 13"/>
                <a:gd name="T13" fmla="*/ 108 h 217"/>
                <a:gd name="T14" fmla="*/ 0 w 13"/>
                <a:gd name="T15" fmla="*/ 126 h 217"/>
                <a:gd name="T16" fmla="*/ 0 w 13"/>
                <a:gd name="T17" fmla="*/ 144 h 217"/>
                <a:gd name="T18" fmla="*/ 0 w 13"/>
                <a:gd name="T19" fmla="*/ 162 h 217"/>
                <a:gd name="T20" fmla="*/ 0 w 13"/>
                <a:gd name="T21" fmla="*/ 180 h 217"/>
                <a:gd name="T22" fmla="*/ 6 w 13"/>
                <a:gd name="T23" fmla="*/ 198 h 217"/>
                <a:gd name="T24" fmla="*/ 12 w 13"/>
                <a:gd name="T25" fmla="*/ 216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 h="217">
                  <a:moveTo>
                    <a:pt x="0" y="0"/>
                  </a:moveTo>
                  <a:lnTo>
                    <a:pt x="6" y="18"/>
                  </a:lnTo>
                  <a:lnTo>
                    <a:pt x="6" y="36"/>
                  </a:lnTo>
                  <a:lnTo>
                    <a:pt x="6" y="54"/>
                  </a:lnTo>
                  <a:lnTo>
                    <a:pt x="6" y="72"/>
                  </a:lnTo>
                  <a:lnTo>
                    <a:pt x="6" y="90"/>
                  </a:lnTo>
                  <a:lnTo>
                    <a:pt x="0" y="108"/>
                  </a:lnTo>
                  <a:lnTo>
                    <a:pt x="0" y="126"/>
                  </a:lnTo>
                  <a:lnTo>
                    <a:pt x="0" y="144"/>
                  </a:lnTo>
                  <a:lnTo>
                    <a:pt x="0" y="162"/>
                  </a:lnTo>
                  <a:lnTo>
                    <a:pt x="0" y="180"/>
                  </a:lnTo>
                  <a:lnTo>
                    <a:pt x="6" y="198"/>
                  </a:lnTo>
                  <a:lnTo>
                    <a:pt x="12" y="216"/>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26" name="Freeform 113"/>
            <p:cNvSpPr>
              <a:spLocks/>
            </p:cNvSpPr>
            <p:nvPr/>
          </p:nvSpPr>
          <p:spPr bwMode="auto">
            <a:xfrm>
              <a:off x="6310826" y="2951633"/>
              <a:ext cx="89429" cy="919162"/>
            </a:xfrm>
            <a:custGeom>
              <a:avLst/>
              <a:gdLst>
                <a:gd name="T0" fmla="*/ 18 w 49"/>
                <a:gd name="T1" fmla="*/ 0 h 403"/>
                <a:gd name="T2" fmla="*/ 12 w 49"/>
                <a:gd name="T3" fmla="*/ 18 h 403"/>
                <a:gd name="T4" fmla="*/ 12 w 49"/>
                <a:gd name="T5" fmla="*/ 36 h 403"/>
                <a:gd name="T6" fmla="*/ 12 w 49"/>
                <a:gd name="T7" fmla="*/ 54 h 403"/>
                <a:gd name="T8" fmla="*/ 12 w 49"/>
                <a:gd name="T9" fmla="*/ 72 h 403"/>
                <a:gd name="T10" fmla="*/ 24 w 49"/>
                <a:gd name="T11" fmla="*/ 90 h 403"/>
                <a:gd name="T12" fmla="*/ 24 w 49"/>
                <a:gd name="T13" fmla="*/ 108 h 403"/>
                <a:gd name="T14" fmla="*/ 30 w 49"/>
                <a:gd name="T15" fmla="*/ 126 h 403"/>
                <a:gd name="T16" fmla="*/ 36 w 49"/>
                <a:gd name="T17" fmla="*/ 144 h 403"/>
                <a:gd name="T18" fmla="*/ 36 w 49"/>
                <a:gd name="T19" fmla="*/ 162 h 403"/>
                <a:gd name="T20" fmla="*/ 48 w 49"/>
                <a:gd name="T21" fmla="*/ 180 h 403"/>
                <a:gd name="T22" fmla="*/ 48 w 49"/>
                <a:gd name="T23" fmla="*/ 198 h 403"/>
                <a:gd name="T24" fmla="*/ 48 w 49"/>
                <a:gd name="T25" fmla="*/ 216 h 403"/>
                <a:gd name="T26" fmla="*/ 48 w 49"/>
                <a:gd name="T27" fmla="*/ 234 h 403"/>
                <a:gd name="T28" fmla="*/ 48 w 49"/>
                <a:gd name="T29" fmla="*/ 252 h 403"/>
                <a:gd name="T30" fmla="*/ 48 w 49"/>
                <a:gd name="T31" fmla="*/ 270 h 403"/>
                <a:gd name="T32" fmla="*/ 42 w 49"/>
                <a:gd name="T33" fmla="*/ 288 h 403"/>
                <a:gd name="T34" fmla="*/ 36 w 49"/>
                <a:gd name="T35" fmla="*/ 306 h 403"/>
                <a:gd name="T36" fmla="*/ 30 w 49"/>
                <a:gd name="T37" fmla="*/ 324 h 403"/>
                <a:gd name="T38" fmla="*/ 18 w 49"/>
                <a:gd name="T39" fmla="*/ 342 h 403"/>
                <a:gd name="T40" fmla="*/ 12 w 49"/>
                <a:gd name="T41" fmla="*/ 366 h 403"/>
                <a:gd name="T42" fmla="*/ 12 w 49"/>
                <a:gd name="T43" fmla="*/ 384 h 403"/>
                <a:gd name="T44" fmla="*/ 0 w 49"/>
                <a:gd name="T45" fmla="*/ 402 h 403"/>
                <a:gd name="T46" fmla="*/ 0 w 49"/>
                <a:gd name="T47" fmla="*/ 402 h 4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9" h="403">
                  <a:moveTo>
                    <a:pt x="18" y="0"/>
                  </a:moveTo>
                  <a:lnTo>
                    <a:pt x="12" y="18"/>
                  </a:lnTo>
                  <a:lnTo>
                    <a:pt x="12" y="36"/>
                  </a:lnTo>
                  <a:lnTo>
                    <a:pt x="12" y="54"/>
                  </a:lnTo>
                  <a:lnTo>
                    <a:pt x="12" y="72"/>
                  </a:lnTo>
                  <a:lnTo>
                    <a:pt x="24" y="90"/>
                  </a:lnTo>
                  <a:lnTo>
                    <a:pt x="24" y="108"/>
                  </a:lnTo>
                  <a:lnTo>
                    <a:pt x="30" y="126"/>
                  </a:lnTo>
                  <a:lnTo>
                    <a:pt x="36" y="144"/>
                  </a:lnTo>
                  <a:lnTo>
                    <a:pt x="36" y="162"/>
                  </a:lnTo>
                  <a:lnTo>
                    <a:pt x="48" y="180"/>
                  </a:lnTo>
                  <a:lnTo>
                    <a:pt x="48" y="198"/>
                  </a:lnTo>
                  <a:lnTo>
                    <a:pt x="48" y="216"/>
                  </a:lnTo>
                  <a:lnTo>
                    <a:pt x="48" y="234"/>
                  </a:lnTo>
                  <a:lnTo>
                    <a:pt x="48" y="252"/>
                  </a:lnTo>
                  <a:lnTo>
                    <a:pt x="48" y="270"/>
                  </a:lnTo>
                  <a:lnTo>
                    <a:pt x="42" y="288"/>
                  </a:lnTo>
                  <a:lnTo>
                    <a:pt x="36" y="306"/>
                  </a:lnTo>
                  <a:lnTo>
                    <a:pt x="30" y="324"/>
                  </a:lnTo>
                  <a:lnTo>
                    <a:pt x="18" y="342"/>
                  </a:lnTo>
                  <a:lnTo>
                    <a:pt x="12" y="366"/>
                  </a:lnTo>
                  <a:lnTo>
                    <a:pt x="12" y="384"/>
                  </a:lnTo>
                  <a:lnTo>
                    <a:pt x="0" y="402"/>
                  </a:lnTo>
                  <a:lnTo>
                    <a:pt x="0" y="402"/>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27" name="Freeform 114"/>
            <p:cNvSpPr>
              <a:spLocks/>
            </p:cNvSpPr>
            <p:nvPr/>
          </p:nvSpPr>
          <p:spPr bwMode="auto">
            <a:xfrm>
              <a:off x="6288469" y="3867621"/>
              <a:ext cx="24077" cy="454025"/>
            </a:xfrm>
            <a:custGeom>
              <a:avLst/>
              <a:gdLst>
                <a:gd name="T0" fmla="*/ 12 w 13"/>
                <a:gd name="T1" fmla="*/ 0 h 199"/>
                <a:gd name="T2" fmla="*/ 12 w 13"/>
                <a:gd name="T3" fmla="*/ 18 h 199"/>
                <a:gd name="T4" fmla="*/ 12 w 13"/>
                <a:gd name="T5" fmla="*/ 36 h 199"/>
                <a:gd name="T6" fmla="*/ 12 w 13"/>
                <a:gd name="T7" fmla="*/ 54 h 199"/>
                <a:gd name="T8" fmla="*/ 12 w 13"/>
                <a:gd name="T9" fmla="*/ 72 h 199"/>
                <a:gd name="T10" fmla="*/ 12 w 13"/>
                <a:gd name="T11" fmla="*/ 90 h 199"/>
                <a:gd name="T12" fmla="*/ 12 w 13"/>
                <a:gd name="T13" fmla="*/ 108 h 199"/>
                <a:gd name="T14" fmla="*/ 12 w 13"/>
                <a:gd name="T15" fmla="*/ 126 h 199"/>
                <a:gd name="T16" fmla="*/ 12 w 13"/>
                <a:gd name="T17" fmla="*/ 144 h 199"/>
                <a:gd name="T18" fmla="*/ 12 w 13"/>
                <a:gd name="T19" fmla="*/ 162 h 199"/>
                <a:gd name="T20" fmla="*/ 6 w 13"/>
                <a:gd name="T21" fmla="*/ 180 h 199"/>
                <a:gd name="T22" fmla="*/ 0 w 13"/>
                <a:gd name="T23" fmla="*/ 198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 h="199">
                  <a:moveTo>
                    <a:pt x="12" y="0"/>
                  </a:moveTo>
                  <a:lnTo>
                    <a:pt x="12" y="18"/>
                  </a:lnTo>
                  <a:lnTo>
                    <a:pt x="12" y="36"/>
                  </a:lnTo>
                  <a:lnTo>
                    <a:pt x="12" y="54"/>
                  </a:lnTo>
                  <a:lnTo>
                    <a:pt x="12" y="72"/>
                  </a:lnTo>
                  <a:lnTo>
                    <a:pt x="12" y="90"/>
                  </a:lnTo>
                  <a:lnTo>
                    <a:pt x="12" y="108"/>
                  </a:lnTo>
                  <a:lnTo>
                    <a:pt x="12" y="126"/>
                  </a:lnTo>
                  <a:lnTo>
                    <a:pt x="12" y="144"/>
                  </a:lnTo>
                  <a:lnTo>
                    <a:pt x="12" y="162"/>
                  </a:lnTo>
                  <a:lnTo>
                    <a:pt x="6" y="180"/>
                  </a:lnTo>
                  <a:lnTo>
                    <a:pt x="0" y="198"/>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28" name="Arc 115"/>
            <p:cNvSpPr>
              <a:spLocks/>
            </p:cNvSpPr>
            <p:nvPr/>
          </p:nvSpPr>
          <p:spPr bwMode="auto">
            <a:xfrm rot="540000">
              <a:off x="5230797" y="2689696"/>
              <a:ext cx="383514" cy="34607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cap="rnd">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29" name="Text Box 116"/>
            <p:cNvSpPr txBox="1">
              <a:spLocks noChangeArrowheads="1"/>
            </p:cNvSpPr>
            <p:nvPr/>
          </p:nvSpPr>
          <p:spPr bwMode="auto">
            <a:xfrm>
              <a:off x="6766959" y="1873506"/>
              <a:ext cx="3552842" cy="4826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400" b="1" dirty="0">
                  <a:solidFill>
                    <a:srgbClr val="0000FF"/>
                  </a:solidFill>
                  <a:latin typeface="微软雅黑" pitchFamily="34" charset="-122"/>
                  <a:ea typeface="微软雅黑" pitchFamily="34" charset="-122"/>
                </a:rPr>
                <a:t>  </a:t>
              </a:r>
              <a:r>
                <a:rPr kumimoji="1" lang="zh-CN" altLang="en-US" sz="1400" b="1" dirty="0">
                  <a:solidFill>
                    <a:srgbClr val="0000FF"/>
                  </a:solidFill>
                  <a:latin typeface="微软雅黑" pitchFamily="34" charset="-122"/>
                  <a:ea typeface="微软雅黑" pitchFamily="34" charset="-122"/>
                </a:rPr>
                <a:t>包层（低折射率的媒体）</a:t>
              </a:r>
            </a:p>
          </p:txBody>
        </p:sp>
        <p:sp>
          <p:nvSpPr>
            <p:cNvPr id="30" name="Line 117"/>
            <p:cNvSpPr>
              <a:spLocks noChangeShapeType="1"/>
            </p:cNvSpPr>
            <p:nvPr/>
          </p:nvSpPr>
          <p:spPr bwMode="auto">
            <a:xfrm flipH="1">
              <a:off x="6082090" y="3820992"/>
              <a:ext cx="835821" cy="348308"/>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31" name="Text Box 118"/>
            <p:cNvSpPr txBox="1">
              <a:spLocks noChangeArrowheads="1"/>
            </p:cNvSpPr>
            <p:nvPr/>
          </p:nvSpPr>
          <p:spPr bwMode="auto">
            <a:xfrm>
              <a:off x="6762632" y="3565304"/>
              <a:ext cx="3552844" cy="4826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400" b="1" dirty="0">
                  <a:solidFill>
                    <a:srgbClr val="0000FF"/>
                  </a:solidFill>
                  <a:latin typeface="微软雅黑" pitchFamily="34" charset="-122"/>
                  <a:ea typeface="微软雅黑" pitchFamily="34" charset="-122"/>
                </a:rPr>
                <a:t>  </a:t>
              </a:r>
              <a:r>
                <a:rPr kumimoji="1" lang="zh-CN" altLang="en-US" sz="1400" b="1" dirty="0">
                  <a:solidFill>
                    <a:srgbClr val="0000FF"/>
                  </a:solidFill>
                  <a:latin typeface="微软雅黑" pitchFamily="34" charset="-122"/>
                  <a:ea typeface="微软雅黑" pitchFamily="34" charset="-122"/>
                </a:rPr>
                <a:t>包层（低折射率的媒体）</a:t>
              </a:r>
            </a:p>
          </p:txBody>
        </p:sp>
        <p:sp>
          <p:nvSpPr>
            <p:cNvPr id="32" name="Text Box 119"/>
            <p:cNvSpPr txBox="1">
              <a:spLocks noChangeArrowheads="1"/>
            </p:cNvSpPr>
            <p:nvPr/>
          </p:nvSpPr>
          <p:spPr bwMode="auto">
            <a:xfrm>
              <a:off x="6762632" y="2748698"/>
              <a:ext cx="3475453" cy="4826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en-US" altLang="zh-CN" sz="1400" b="1" dirty="0">
                  <a:solidFill>
                    <a:srgbClr val="0000FF"/>
                  </a:solidFill>
                  <a:latin typeface="微软雅黑" pitchFamily="34" charset="-122"/>
                  <a:ea typeface="微软雅黑" pitchFamily="34" charset="-122"/>
                </a:rPr>
                <a:t>   </a:t>
              </a:r>
              <a:r>
                <a:rPr kumimoji="1" lang="zh-CN" altLang="en-US" sz="1400" b="1" dirty="0">
                  <a:solidFill>
                    <a:srgbClr val="0000FF"/>
                  </a:solidFill>
                  <a:latin typeface="微软雅黑" pitchFamily="34" charset="-122"/>
                  <a:ea typeface="微软雅黑" pitchFamily="34" charset="-122"/>
                </a:rPr>
                <a:t>纤芯（高折射率的媒体）            </a:t>
              </a:r>
            </a:p>
          </p:txBody>
        </p:sp>
        <p:sp>
          <p:nvSpPr>
            <p:cNvPr id="33" name="AutoShape 120"/>
            <p:cNvSpPr>
              <a:spLocks noChangeArrowheads="1"/>
            </p:cNvSpPr>
            <p:nvPr/>
          </p:nvSpPr>
          <p:spPr bwMode="auto">
            <a:xfrm rot="5400000">
              <a:off x="541256" y="2682089"/>
              <a:ext cx="1885950" cy="1415389"/>
            </a:xfrm>
            <a:prstGeom prst="can">
              <a:avLst>
                <a:gd name="adj" fmla="val 29815"/>
              </a:avLst>
            </a:prstGeom>
            <a:gradFill rotWithShape="1">
              <a:gsLst>
                <a:gs pos="0">
                  <a:srgbClr val="66FFFF">
                    <a:gamma/>
                    <a:shade val="46275"/>
                    <a:invGamma/>
                  </a:srgbClr>
                </a:gs>
                <a:gs pos="50000">
                  <a:srgbClr val="66FFFF"/>
                </a:gs>
                <a:gs pos="100000">
                  <a:srgbClr val="66FFFF">
                    <a:gamma/>
                    <a:shade val="46275"/>
                    <a:invGamma/>
                  </a:srgbClr>
                </a:gs>
              </a:gsLst>
              <a:lin ang="0" scaled="1"/>
            </a:gradFill>
            <a:ln w="19050">
              <a:solidFill>
                <a:srgbClr val="3333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34" name="AutoShape 121"/>
            <p:cNvSpPr>
              <a:spLocks noChangeArrowheads="1"/>
            </p:cNvSpPr>
            <p:nvPr/>
          </p:nvSpPr>
          <p:spPr bwMode="auto">
            <a:xfrm rot="5400000">
              <a:off x="1828784" y="3062493"/>
              <a:ext cx="901700" cy="708554"/>
            </a:xfrm>
            <a:prstGeom prst="can">
              <a:avLst>
                <a:gd name="adj" fmla="val 27343"/>
              </a:avLst>
            </a:prstGeom>
            <a:solidFill>
              <a:srgbClr val="FFFFFF"/>
            </a:solidFill>
            <a:ln w="19050">
              <a:solidFill>
                <a:srgbClr val="3333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35" name="Text Box 122"/>
            <p:cNvSpPr txBox="1">
              <a:spLocks noChangeArrowheads="1"/>
            </p:cNvSpPr>
            <p:nvPr/>
          </p:nvSpPr>
          <p:spPr bwMode="auto">
            <a:xfrm>
              <a:off x="-387650" y="2465081"/>
              <a:ext cx="852764" cy="4826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400" b="1" dirty="0">
                  <a:solidFill>
                    <a:srgbClr val="0000FF"/>
                  </a:solidFill>
                  <a:latin typeface="微软雅黑" pitchFamily="34" charset="-122"/>
                  <a:ea typeface="微软雅黑" pitchFamily="34" charset="-122"/>
                </a:rPr>
                <a:t>包层</a:t>
              </a:r>
            </a:p>
          </p:txBody>
        </p:sp>
        <p:sp>
          <p:nvSpPr>
            <p:cNvPr id="36" name="Line 123"/>
            <p:cNvSpPr>
              <a:spLocks noChangeShapeType="1"/>
            </p:cNvSpPr>
            <p:nvPr/>
          </p:nvSpPr>
          <p:spPr bwMode="auto">
            <a:xfrm>
              <a:off x="362941" y="2720651"/>
              <a:ext cx="1209859" cy="11907"/>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37" name="Text Box 124"/>
            <p:cNvSpPr txBox="1">
              <a:spLocks noChangeArrowheads="1"/>
            </p:cNvSpPr>
            <p:nvPr/>
          </p:nvSpPr>
          <p:spPr bwMode="auto">
            <a:xfrm>
              <a:off x="2048516" y="1857846"/>
              <a:ext cx="1002640" cy="4826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kumimoji="1" lang="zh-CN" altLang="en-US" sz="1400" b="1" dirty="0">
                  <a:solidFill>
                    <a:srgbClr val="0000FF"/>
                  </a:solidFill>
                  <a:latin typeface="微软雅黑" pitchFamily="34" charset="-122"/>
                  <a:ea typeface="微软雅黑" pitchFamily="34" charset="-122"/>
                </a:rPr>
                <a:t>纤芯</a:t>
              </a:r>
            </a:p>
          </p:txBody>
        </p:sp>
        <p:sp>
          <p:nvSpPr>
            <p:cNvPr id="38" name="Line 125"/>
            <p:cNvSpPr>
              <a:spLocks noChangeShapeType="1"/>
            </p:cNvSpPr>
            <p:nvPr/>
          </p:nvSpPr>
          <p:spPr bwMode="auto">
            <a:xfrm flipH="1">
              <a:off x="2186765" y="2295996"/>
              <a:ext cx="270008" cy="874713"/>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39" name="Line 96"/>
            <p:cNvSpPr>
              <a:spLocks noChangeShapeType="1"/>
            </p:cNvSpPr>
            <p:nvPr/>
          </p:nvSpPr>
          <p:spPr bwMode="auto">
            <a:xfrm flipV="1">
              <a:off x="3815409" y="2596034"/>
              <a:ext cx="428228" cy="365125"/>
            </a:xfrm>
            <a:prstGeom prst="line">
              <a:avLst/>
            </a:prstGeom>
            <a:noFill/>
            <a:ln w="38100">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grpSp>
      <p:sp>
        <p:nvSpPr>
          <p:cNvPr id="48" name="对角圆角矩形 47"/>
          <p:cNvSpPr/>
          <p:nvPr/>
        </p:nvSpPr>
        <p:spPr>
          <a:xfrm>
            <a:off x="556963" y="3152502"/>
            <a:ext cx="8048776" cy="1245324"/>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p:cNvSpPr/>
          <p:nvPr/>
        </p:nvSpPr>
        <p:spPr>
          <a:xfrm>
            <a:off x="731519" y="3241826"/>
            <a:ext cx="7799831" cy="1015663"/>
          </a:xfrm>
          <a:prstGeom prst="rect">
            <a:avLst/>
          </a:prstGeom>
        </p:spPr>
        <p:txBody>
          <a:bodyPr wrap="square">
            <a:spAutoFit/>
          </a:bodyPr>
          <a:lstStyle/>
          <a:p>
            <a:pPr>
              <a:lnSpc>
                <a:spcPts val="2400"/>
              </a:lnSpc>
            </a:pPr>
            <a:r>
              <a:rPr lang="zh-CN" altLang="en-US" b="1" dirty="0">
                <a:solidFill>
                  <a:schemeClr val="bg1"/>
                </a:solidFill>
                <a:latin typeface="微软雅黑" pitchFamily="34" charset="-122"/>
                <a:ea typeface="微软雅黑" pitchFamily="34" charset="-122"/>
              </a:rPr>
              <a:t>光纤通常由非常透明的石英玻璃拉成细丝，主要由</a:t>
            </a:r>
            <a:r>
              <a:rPr lang="zh-CN" altLang="en-US" b="1" dirty="0">
                <a:solidFill>
                  <a:srgbClr val="FFFF00"/>
                </a:solidFill>
                <a:latin typeface="微软雅黑" pitchFamily="34" charset="-122"/>
                <a:ea typeface="微软雅黑" pitchFamily="34" charset="-122"/>
              </a:rPr>
              <a:t>纤芯</a:t>
            </a:r>
            <a:r>
              <a:rPr lang="zh-CN" altLang="en-US" b="1" dirty="0">
                <a:solidFill>
                  <a:schemeClr val="bg1"/>
                </a:solidFill>
                <a:latin typeface="微软雅黑" pitchFamily="34" charset="-122"/>
                <a:ea typeface="微软雅黑" pitchFamily="34" charset="-122"/>
              </a:rPr>
              <a:t>和</a:t>
            </a:r>
            <a:r>
              <a:rPr lang="zh-CN" altLang="en-US" b="1" dirty="0">
                <a:solidFill>
                  <a:srgbClr val="FFFF00"/>
                </a:solidFill>
                <a:latin typeface="微软雅黑" pitchFamily="34" charset="-122"/>
                <a:ea typeface="微软雅黑" pitchFamily="34" charset="-122"/>
              </a:rPr>
              <a:t>包层</a:t>
            </a:r>
            <a:r>
              <a:rPr lang="zh-CN" altLang="en-US" b="1" dirty="0">
                <a:solidFill>
                  <a:schemeClr val="bg1"/>
                </a:solidFill>
                <a:latin typeface="微软雅黑" pitchFamily="34" charset="-122"/>
                <a:ea typeface="微软雅黑" pitchFamily="34" charset="-122"/>
              </a:rPr>
              <a:t>构成双层通信圆柱体。当光线从高折射率的媒体射向低折射率的媒体时，其折射角将大于入射角。如果入射角足够大，就会出现</a:t>
            </a:r>
            <a:r>
              <a:rPr lang="zh-CN" altLang="en-US" b="1" dirty="0">
                <a:solidFill>
                  <a:srgbClr val="FFFF00"/>
                </a:solidFill>
                <a:latin typeface="微软雅黑" pitchFamily="34" charset="-122"/>
                <a:ea typeface="微软雅黑" pitchFamily="34" charset="-122"/>
              </a:rPr>
              <a:t>全反射，</a:t>
            </a:r>
            <a:r>
              <a:rPr lang="zh-CN" altLang="en-US" b="1" dirty="0">
                <a:solidFill>
                  <a:schemeClr val="bg1"/>
                </a:solidFill>
                <a:latin typeface="微软雅黑" pitchFamily="34" charset="-122"/>
                <a:ea typeface="微软雅黑" pitchFamily="34" charset="-122"/>
              </a:rPr>
              <a:t>光也就沿着光纤传输下去。</a:t>
            </a:r>
          </a:p>
        </p:txBody>
      </p:sp>
      <p:sp>
        <p:nvSpPr>
          <p:cNvPr id="50" name="矩形 49"/>
          <p:cNvSpPr/>
          <p:nvPr/>
        </p:nvSpPr>
        <p:spPr>
          <a:xfrm>
            <a:off x="659940" y="1193478"/>
            <a:ext cx="2292647" cy="369332"/>
          </a:xfrm>
          <a:prstGeom prst="rect">
            <a:avLst/>
          </a:prstGeom>
        </p:spPr>
        <p:txBody>
          <a:bodyPr wrap="square">
            <a:spAutoFit/>
          </a:bodyPr>
          <a:lstStyle/>
          <a:p>
            <a:pPr algn="ctr"/>
            <a:r>
              <a:rPr lang="zh-CN" altLang="zh-CN" b="1" dirty="0">
                <a:latin typeface="微软雅黑" pitchFamily="34" charset="-122"/>
                <a:ea typeface="微软雅黑" pitchFamily="34" charset="-122"/>
              </a:rPr>
              <a:t>光线在光纤中的折射</a:t>
            </a:r>
            <a:endParaRPr lang="zh-CN" altLang="en-US" b="1" dirty="0">
              <a:latin typeface="微软雅黑" pitchFamily="34" charset="-122"/>
              <a:ea typeface="微软雅黑" pitchFamily="34" charset="-122"/>
            </a:endParaRPr>
          </a:p>
        </p:txBody>
      </p:sp>
    </p:spTree>
    <p:extLst>
      <p:ext uri="{BB962C8B-B14F-4D97-AF65-F5344CB8AC3E}">
        <p14:creationId xmlns:p14="http://schemas.microsoft.com/office/powerpoint/2010/main" val="23813682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1"/>
          </p:nvPr>
        </p:nvSpPr>
        <p:spPr>
          <a:xfrm>
            <a:off x="1332000" y="360000"/>
            <a:ext cx="6480000" cy="354012"/>
          </a:xfrm>
        </p:spPr>
        <p:txBody>
          <a:bodyPr>
            <a:normAutofit fontScale="92500" lnSpcReduction="10000"/>
          </a:bodyPr>
          <a:lstStyle/>
          <a:p>
            <a:r>
              <a:rPr lang="zh-CN" altLang="en-US" dirty="0"/>
              <a:t>光波在纤芯中的传播</a:t>
            </a:r>
          </a:p>
        </p:txBody>
      </p:sp>
      <p:sp>
        <p:nvSpPr>
          <p:cNvPr id="51" name="圆角矩形 50"/>
          <p:cNvSpPr/>
          <p:nvPr/>
        </p:nvSpPr>
        <p:spPr>
          <a:xfrm>
            <a:off x="556963" y="1098584"/>
            <a:ext cx="8048776" cy="1984247"/>
          </a:xfrm>
          <a:prstGeom prst="roundRect">
            <a:avLst/>
          </a:prstGeom>
          <a:solidFill>
            <a:schemeClr val="bg1"/>
          </a:solidFill>
          <a:ln>
            <a:solidFill>
              <a:srgbClr val="00B0F0"/>
            </a:solid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6082332" y="1324111"/>
            <a:ext cx="2292647" cy="369332"/>
          </a:xfrm>
          <a:prstGeom prst="rect">
            <a:avLst/>
          </a:prstGeom>
        </p:spPr>
        <p:txBody>
          <a:bodyPr wrap="square">
            <a:spAutoFit/>
          </a:bodyPr>
          <a:lstStyle/>
          <a:p>
            <a:pPr algn="ctr"/>
            <a:r>
              <a:rPr lang="zh-CN" altLang="en-US" b="1" dirty="0">
                <a:latin typeface="微软雅黑" pitchFamily="34" charset="-122"/>
                <a:ea typeface="微软雅黑" pitchFamily="34" charset="-122"/>
              </a:rPr>
              <a:t>光波在纤芯中的传播</a:t>
            </a:r>
          </a:p>
        </p:txBody>
      </p:sp>
      <p:grpSp>
        <p:nvGrpSpPr>
          <p:cNvPr id="55" name="组合 54"/>
          <p:cNvGrpSpPr/>
          <p:nvPr/>
        </p:nvGrpSpPr>
        <p:grpSpPr>
          <a:xfrm>
            <a:off x="1081518" y="1301854"/>
            <a:ext cx="7086690" cy="1522349"/>
            <a:chOff x="1299015" y="2482915"/>
            <a:chExt cx="7086690" cy="1522349"/>
          </a:xfrm>
        </p:grpSpPr>
        <p:sp>
          <p:nvSpPr>
            <p:cNvPr id="56" name="Rectangle 3"/>
            <p:cNvSpPr>
              <a:spLocks noChangeArrowheads="1"/>
            </p:cNvSpPr>
            <p:nvPr/>
          </p:nvSpPr>
          <p:spPr bwMode="auto">
            <a:xfrm>
              <a:off x="2884091" y="3170239"/>
              <a:ext cx="5298678" cy="244475"/>
            </a:xfrm>
            <a:prstGeom prst="rect">
              <a:avLst/>
            </a:prstGeom>
            <a:solidFill>
              <a:srgbClr val="00FFCC"/>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57" name="Rectangle 4"/>
            <p:cNvSpPr>
              <a:spLocks noChangeArrowheads="1"/>
            </p:cNvSpPr>
            <p:nvPr/>
          </p:nvSpPr>
          <p:spPr bwMode="auto">
            <a:xfrm>
              <a:off x="2884091" y="3414713"/>
              <a:ext cx="5298678" cy="344487"/>
            </a:xfrm>
            <a:prstGeom prst="rect">
              <a:avLst/>
            </a:prstGeom>
            <a:solidFill>
              <a:srgbClr val="FF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58" name="Rectangle 5"/>
            <p:cNvSpPr>
              <a:spLocks noChangeArrowheads="1"/>
            </p:cNvSpPr>
            <p:nvPr/>
          </p:nvSpPr>
          <p:spPr bwMode="auto">
            <a:xfrm>
              <a:off x="2884091" y="3759201"/>
              <a:ext cx="5298678" cy="246063"/>
            </a:xfrm>
            <a:prstGeom prst="rect">
              <a:avLst/>
            </a:prstGeom>
            <a:solidFill>
              <a:srgbClr val="00FFCC"/>
            </a:solidFill>
            <a:ln w="127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59" name="AutoShape 6"/>
            <p:cNvSpPr>
              <a:spLocks noChangeArrowheads="1"/>
            </p:cNvSpPr>
            <p:nvPr/>
          </p:nvSpPr>
          <p:spPr bwMode="auto">
            <a:xfrm rot="5400000">
              <a:off x="1524133" y="3116528"/>
              <a:ext cx="835025" cy="942446"/>
            </a:xfrm>
            <a:prstGeom prst="can">
              <a:avLst>
                <a:gd name="adj" fmla="val 26046"/>
              </a:avLst>
            </a:prstGeom>
            <a:gradFill rotWithShape="1">
              <a:gsLst>
                <a:gs pos="0">
                  <a:schemeClr val="accent5">
                    <a:lumMod val="50000"/>
                  </a:schemeClr>
                </a:gs>
                <a:gs pos="50000">
                  <a:srgbClr val="00FFCC"/>
                </a:gs>
                <a:gs pos="100000">
                  <a:schemeClr val="accent5">
                    <a:lumMod val="50000"/>
                  </a:schemeClr>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60" name="AutoShape 7"/>
            <p:cNvSpPr>
              <a:spLocks noChangeArrowheads="1"/>
            </p:cNvSpPr>
            <p:nvPr/>
          </p:nvSpPr>
          <p:spPr bwMode="auto">
            <a:xfrm rot="5400000">
              <a:off x="2299098" y="3351345"/>
              <a:ext cx="344487" cy="471223"/>
            </a:xfrm>
            <a:prstGeom prst="can">
              <a:avLst>
                <a:gd name="adj" fmla="val 20711"/>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nvGrpSpPr>
            <p:cNvPr id="61" name="Group 8"/>
            <p:cNvGrpSpPr>
              <a:grpSpLocks/>
            </p:cNvGrpSpPr>
            <p:nvPr/>
          </p:nvGrpSpPr>
          <p:grpSpPr bwMode="auto">
            <a:xfrm>
              <a:off x="2884091" y="3170239"/>
              <a:ext cx="5298678" cy="835025"/>
              <a:chOff x="912" y="912"/>
              <a:chExt cx="4608" cy="816"/>
            </a:xfrm>
          </p:grpSpPr>
          <p:sp>
            <p:nvSpPr>
              <p:cNvPr id="68" name="Line 9"/>
              <p:cNvSpPr>
                <a:spLocks noChangeShapeType="1"/>
              </p:cNvSpPr>
              <p:nvPr/>
            </p:nvSpPr>
            <p:spPr bwMode="auto">
              <a:xfrm>
                <a:off x="912" y="912"/>
                <a:ext cx="46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99"/>
                  </a:solidFill>
                </a:endParaRPr>
              </a:p>
            </p:txBody>
          </p:sp>
          <p:sp>
            <p:nvSpPr>
              <p:cNvPr id="69" name="Line 10"/>
              <p:cNvSpPr>
                <a:spLocks noChangeShapeType="1"/>
              </p:cNvSpPr>
              <p:nvPr/>
            </p:nvSpPr>
            <p:spPr bwMode="auto">
              <a:xfrm>
                <a:off x="912" y="1152"/>
                <a:ext cx="46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99"/>
                  </a:solidFill>
                </a:endParaRPr>
              </a:p>
            </p:txBody>
          </p:sp>
          <p:sp>
            <p:nvSpPr>
              <p:cNvPr id="70" name="Line 11"/>
              <p:cNvSpPr>
                <a:spLocks noChangeShapeType="1"/>
              </p:cNvSpPr>
              <p:nvPr/>
            </p:nvSpPr>
            <p:spPr bwMode="auto">
              <a:xfrm>
                <a:off x="912" y="1488"/>
                <a:ext cx="46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99"/>
                  </a:solidFill>
                </a:endParaRPr>
              </a:p>
            </p:txBody>
          </p:sp>
          <p:sp>
            <p:nvSpPr>
              <p:cNvPr id="71" name="Line 12"/>
              <p:cNvSpPr>
                <a:spLocks noChangeShapeType="1"/>
              </p:cNvSpPr>
              <p:nvPr/>
            </p:nvSpPr>
            <p:spPr bwMode="auto">
              <a:xfrm>
                <a:off x="912" y="1728"/>
                <a:ext cx="4608" cy="0"/>
              </a:xfrm>
              <a:prstGeom prst="line">
                <a:avLst/>
              </a:prstGeom>
              <a:noFill/>
              <a:ln w="1270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99"/>
                  </a:solidFill>
                </a:endParaRPr>
              </a:p>
            </p:txBody>
          </p:sp>
        </p:grpSp>
        <p:sp>
          <p:nvSpPr>
            <p:cNvPr id="62" name="Line 13"/>
            <p:cNvSpPr>
              <a:spLocks noChangeShapeType="1"/>
            </p:cNvSpPr>
            <p:nvPr/>
          </p:nvSpPr>
          <p:spPr bwMode="auto">
            <a:xfrm>
              <a:off x="2777465" y="3584576"/>
              <a:ext cx="5608240" cy="3175"/>
            </a:xfrm>
            <a:prstGeom prst="line">
              <a:avLst/>
            </a:prstGeom>
            <a:noFill/>
            <a:ln w="19050">
              <a:solidFill>
                <a:srgbClr val="333399"/>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99"/>
                </a:solidFill>
              </a:endParaRPr>
            </a:p>
          </p:txBody>
        </p:sp>
        <p:sp>
          <p:nvSpPr>
            <p:cNvPr id="63" name="Text Box 14"/>
            <p:cNvSpPr txBox="1">
              <a:spLocks noChangeArrowheads="1"/>
            </p:cNvSpPr>
            <p:nvPr/>
          </p:nvSpPr>
          <p:spPr bwMode="auto">
            <a:xfrm>
              <a:off x="2217733" y="2482915"/>
              <a:ext cx="90281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0000FF"/>
                  </a:solidFill>
                  <a:latin typeface="微软雅黑" pitchFamily="34" charset="-122"/>
                  <a:ea typeface="微软雅黑" pitchFamily="34" charset="-122"/>
                </a:rPr>
                <a:t>高折射率</a:t>
              </a:r>
            </a:p>
            <a:p>
              <a:pPr algn="ctr"/>
              <a:r>
                <a:rPr kumimoji="1" lang="en-US" altLang="zh-CN" sz="1400" b="1" dirty="0">
                  <a:solidFill>
                    <a:srgbClr val="0000FF"/>
                  </a:solidFill>
                  <a:latin typeface="微软雅黑" pitchFamily="34" charset="-122"/>
                  <a:ea typeface="微软雅黑" pitchFamily="34" charset="-122"/>
                </a:rPr>
                <a:t>(</a:t>
              </a:r>
              <a:r>
                <a:rPr kumimoji="1" lang="zh-CN" altLang="en-US" sz="1400" b="1" dirty="0">
                  <a:solidFill>
                    <a:srgbClr val="0000FF"/>
                  </a:solidFill>
                  <a:latin typeface="微软雅黑" pitchFamily="34" charset="-122"/>
                  <a:ea typeface="微软雅黑" pitchFamily="34" charset="-122"/>
                </a:rPr>
                <a:t>纤芯</a:t>
              </a:r>
              <a:r>
                <a:rPr kumimoji="1" lang="en-US" altLang="zh-CN" sz="1400" b="1" dirty="0">
                  <a:solidFill>
                    <a:srgbClr val="0000FF"/>
                  </a:solidFill>
                  <a:latin typeface="微软雅黑" pitchFamily="34" charset="-122"/>
                  <a:ea typeface="微软雅黑" pitchFamily="34" charset="-122"/>
                </a:rPr>
                <a:t>)</a:t>
              </a:r>
            </a:p>
          </p:txBody>
        </p:sp>
        <p:sp>
          <p:nvSpPr>
            <p:cNvPr id="64" name="Text Box 15"/>
            <p:cNvSpPr txBox="1">
              <a:spLocks noChangeArrowheads="1"/>
            </p:cNvSpPr>
            <p:nvPr/>
          </p:nvSpPr>
          <p:spPr bwMode="auto">
            <a:xfrm>
              <a:off x="1299015" y="2482915"/>
              <a:ext cx="90281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0000FF"/>
                  </a:solidFill>
                  <a:latin typeface="微软雅黑" pitchFamily="34" charset="-122"/>
                  <a:ea typeface="微软雅黑" pitchFamily="34" charset="-122"/>
                </a:rPr>
                <a:t>低折射率</a:t>
              </a:r>
            </a:p>
            <a:p>
              <a:pPr algn="ctr"/>
              <a:r>
                <a:rPr kumimoji="1" lang="en-US" altLang="zh-CN" sz="1400" b="1" dirty="0">
                  <a:solidFill>
                    <a:srgbClr val="0000FF"/>
                  </a:solidFill>
                  <a:latin typeface="微软雅黑" pitchFamily="34" charset="-122"/>
                  <a:ea typeface="微软雅黑" pitchFamily="34" charset="-122"/>
                </a:rPr>
                <a:t>(</a:t>
              </a:r>
              <a:r>
                <a:rPr kumimoji="1" lang="zh-CN" altLang="en-US" sz="1400" b="1" dirty="0">
                  <a:solidFill>
                    <a:srgbClr val="0000FF"/>
                  </a:solidFill>
                  <a:latin typeface="微软雅黑" pitchFamily="34" charset="-122"/>
                  <a:ea typeface="微软雅黑" pitchFamily="34" charset="-122"/>
                </a:rPr>
                <a:t>包层</a:t>
              </a:r>
              <a:r>
                <a:rPr kumimoji="1" lang="en-US" altLang="zh-CN" sz="1400" b="1" dirty="0">
                  <a:solidFill>
                    <a:srgbClr val="0000FF"/>
                  </a:solidFill>
                  <a:latin typeface="微软雅黑" pitchFamily="34" charset="-122"/>
                  <a:ea typeface="微软雅黑" pitchFamily="34" charset="-122"/>
                </a:rPr>
                <a:t>)</a:t>
              </a:r>
            </a:p>
          </p:txBody>
        </p:sp>
        <p:sp>
          <p:nvSpPr>
            <p:cNvPr id="65" name="Line 16"/>
            <p:cNvSpPr>
              <a:spLocks noChangeShapeType="1"/>
            </p:cNvSpPr>
            <p:nvPr/>
          </p:nvSpPr>
          <p:spPr bwMode="auto">
            <a:xfrm flipH="1">
              <a:off x="2529814" y="3006135"/>
              <a:ext cx="139324" cy="408578"/>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99"/>
                </a:solidFill>
              </a:endParaRPr>
            </a:p>
          </p:txBody>
        </p:sp>
        <p:sp>
          <p:nvSpPr>
            <p:cNvPr id="66" name="Line 17"/>
            <p:cNvSpPr>
              <a:spLocks noChangeShapeType="1"/>
            </p:cNvSpPr>
            <p:nvPr/>
          </p:nvSpPr>
          <p:spPr bwMode="auto">
            <a:xfrm>
              <a:off x="1730971" y="3006134"/>
              <a:ext cx="0" cy="164103"/>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99"/>
                </a:solidFill>
              </a:endParaRPr>
            </a:p>
          </p:txBody>
        </p:sp>
      </p:grpSp>
      <p:sp>
        <p:nvSpPr>
          <p:cNvPr id="72" name="Freeform 19"/>
          <p:cNvSpPr>
            <a:spLocks/>
          </p:cNvSpPr>
          <p:nvPr/>
        </p:nvSpPr>
        <p:spPr bwMode="auto">
          <a:xfrm>
            <a:off x="2695830" y="2234774"/>
            <a:ext cx="5276321" cy="343365"/>
          </a:xfrm>
          <a:custGeom>
            <a:avLst/>
            <a:gdLst>
              <a:gd name="T0" fmla="*/ 0 w 4302"/>
              <a:gd name="T1" fmla="*/ 108 h 336"/>
              <a:gd name="T2" fmla="*/ 384 w 4302"/>
              <a:gd name="T3" fmla="*/ 0 h 336"/>
              <a:gd name="T4" fmla="*/ 1560 w 4302"/>
              <a:gd name="T5" fmla="*/ 336 h 336"/>
              <a:gd name="T6" fmla="*/ 2742 w 4302"/>
              <a:gd name="T7" fmla="*/ 0 h 336"/>
              <a:gd name="T8" fmla="*/ 3918 w 4302"/>
              <a:gd name="T9" fmla="*/ 330 h 336"/>
              <a:gd name="T10" fmla="*/ 4302 w 4302"/>
              <a:gd name="T11" fmla="*/ 204 h 336"/>
            </a:gdLst>
            <a:ahLst/>
            <a:cxnLst>
              <a:cxn ang="0">
                <a:pos x="T0" y="T1"/>
              </a:cxn>
              <a:cxn ang="0">
                <a:pos x="T2" y="T3"/>
              </a:cxn>
              <a:cxn ang="0">
                <a:pos x="T4" y="T5"/>
              </a:cxn>
              <a:cxn ang="0">
                <a:pos x="T6" y="T7"/>
              </a:cxn>
              <a:cxn ang="0">
                <a:pos x="T8" y="T9"/>
              </a:cxn>
              <a:cxn ang="0">
                <a:pos x="T10" y="T11"/>
              </a:cxn>
            </a:cxnLst>
            <a:rect l="0" t="0" r="r" b="b"/>
            <a:pathLst>
              <a:path w="4302" h="336">
                <a:moveTo>
                  <a:pt x="0" y="108"/>
                </a:moveTo>
                <a:lnTo>
                  <a:pt x="384" y="0"/>
                </a:lnTo>
                <a:lnTo>
                  <a:pt x="1560" y="336"/>
                </a:lnTo>
                <a:lnTo>
                  <a:pt x="2742" y="0"/>
                </a:lnTo>
                <a:lnTo>
                  <a:pt x="3918" y="330"/>
                </a:lnTo>
                <a:lnTo>
                  <a:pt x="4302" y="204"/>
                </a:lnTo>
              </a:path>
            </a:pathLst>
          </a:custGeom>
          <a:noFill/>
          <a:ln w="57150" cmpd="sng">
            <a:solidFill>
              <a:srgbClr val="0000FF"/>
            </a:solidFill>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73" name="Text Box 18"/>
          <p:cNvSpPr txBox="1">
            <a:spLocks noChangeArrowheads="1"/>
          </p:cNvSpPr>
          <p:nvPr/>
        </p:nvSpPr>
        <p:spPr bwMode="auto">
          <a:xfrm>
            <a:off x="2018233" y="3153078"/>
            <a:ext cx="487895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b="1" dirty="0">
                <a:latin typeface="微软雅黑" pitchFamily="34" charset="-122"/>
                <a:ea typeface="微软雅黑" pitchFamily="34" charset="-122"/>
              </a:rPr>
              <a:t>光线在纤芯中传输的方式是不断地</a:t>
            </a:r>
            <a:r>
              <a:rPr kumimoji="1" lang="zh-CN" altLang="en-US" b="1" dirty="0">
                <a:solidFill>
                  <a:srgbClr val="C00000"/>
                </a:solidFill>
                <a:latin typeface="微软雅黑" pitchFamily="34" charset="-122"/>
                <a:ea typeface="微软雅黑" pitchFamily="34" charset="-122"/>
              </a:rPr>
              <a:t>全反射</a:t>
            </a:r>
          </a:p>
        </p:txBody>
      </p:sp>
    </p:spTree>
    <p:extLst>
      <p:ext uri="{BB962C8B-B14F-4D97-AF65-F5344CB8AC3E}">
        <p14:creationId xmlns:p14="http://schemas.microsoft.com/office/powerpoint/2010/main" val="1065621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72"/>
                                        </p:tgtEl>
                                        <p:attrNameLst>
                                          <p:attrName>style.visibility</p:attrName>
                                        </p:attrNameLst>
                                      </p:cBhvr>
                                      <p:to>
                                        <p:strVal val="visible"/>
                                      </p:to>
                                    </p:set>
                                    <p:animEffect transition="in" filter="wipe(left)">
                                      <p:cBhvr>
                                        <p:cTn id="7" dur="20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466343" y="900000"/>
            <a:ext cx="8129017" cy="3376990"/>
          </a:xfrm>
        </p:spPr>
        <p:txBody>
          <a:bodyPr>
            <a:normAutofit fontScale="92500"/>
          </a:bodyPr>
          <a:lstStyle/>
          <a:p>
            <a:r>
              <a:rPr lang="zh-CN" altLang="en-US" dirty="0"/>
              <a:t>多模光纤 </a:t>
            </a:r>
          </a:p>
          <a:p>
            <a:pPr lvl="1"/>
            <a:r>
              <a:rPr lang="zh-CN" altLang="en-US" dirty="0"/>
              <a:t>可以存在多条不同角度入射的光线在一条光纤中传输。</a:t>
            </a:r>
            <a:endParaRPr lang="en-US" altLang="zh-CN" dirty="0"/>
          </a:p>
          <a:p>
            <a:pPr lvl="1"/>
            <a:r>
              <a:rPr lang="zh-CN" altLang="en-US" dirty="0"/>
              <a:t>光脉冲在多模光纤中传输时会逐渐展宽，造成失真，只适合于近距离传输。</a:t>
            </a:r>
          </a:p>
          <a:p>
            <a:r>
              <a:rPr lang="zh-CN" altLang="en-US" dirty="0"/>
              <a:t>单模光纤</a:t>
            </a:r>
          </a:p>
          <a:p>
            <a:pPr lvl="1"/>
            <a:r>
              <a:rPr lang="zh-CN" altLang="en-US" dirty="0"/>
              <a:t>其直径减小到只有一个光的波长（几个微米），可使光线一直向前传播，而不会产生多次反射。</a:t>
            </a:r>
            <a:endParaRPr lang="en-US" altLang="zh-CN" dirty="0"/>
          </a:p>
          <a:p>
            <a:pPr lvl="1"/>
            <a:r>
              <a:rPr lang="zh-CN" altLang="en-US" dirty="0"/>
              <a:t>制造成本较高，但衰耗较小。</a:t>
            </a:r>
            <a:endParaRPr lang="en-US" altLang="zh-CN" dirty="0"/>
          </a:p>
          <a:p>
            <a:pPr lvl="1"/>
            <a:r>
              <a:rPr lang="zh-CN" altLang="en-US" dirty="0"/>
              <a:t>光源要使用昂贵的半导体激光器，不能使用较便宜的发光二极管。</a:t>
            </a:r>
            <a:endParaRPr lang="en-US" altLang="zh-CN" dirty="0"/>
          </a:p>
          <a:p>
            <a:endParaRPr lang="zh-CN" altLang="en-US" dirty="0"/>
          </a:p>
        </p:txBody>
      </p:sp>
      <p:sp>
        <p:nvSpPr>
          <p:cNvPr id="2" name="文本占位符 1"/>
          <p:cNvSpPr>
            <a:spLocks noGrp="1"/>
          </p:cNvSpPr>
          <p:nvPr>
            <p:ph type="body" sz="quarter" idx="11"/>
          </p:nvPr>
        </p:nvSpPr>
        <p:spPr>
          <a:xfrm>
            <a:off x="1332000" y="360000"/>
            <a:ext cx="6480000" cy="354012"/>
          </a:xfrm>
        </p:spPr>
        <p:txBody>
          <a:bodyPr>
            <a:normAutofit fontScale="92500" lnSpcReduction="10000"/>
          </a:bodyPr>
          <a:lstStyle/>
          <a:p>
            <a:r>
              <a:rPr lang="zh-CN" altLang="en-US" dirty="0"/>
              <a:t>多模光纤与单模光纤</a:t>
            </a:r>
          </a:p>
        </p:txBody>
      </p:sp>
    </p:spTree>
    <p:extLst>
      <p:ext uri="{BB962C8B-B14F-4D97-AF65-F5344CB8AC3E}">
        <p14:creationId xmlns:p14="http://schemas.microsoft.com/office/powerpoint/2010/main" val="37885617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1"/>
          </p:nvPr>
        </p:nvSpPr>
        <p:spPr>
          <a:xfrm>
            <a:off x="1332000" y="360000"/>
            <a:ext cx="6480000" cy="354012"/>
          </a:xfrm>
        </p:spPr>
        <p:txBody>
          <a:bodyPr>
            <a:normAutofit fontScale="92500" lnSpcReduction="10000"/>
          </a:bodyPr>
          <a:lstStyle/>
          <a:p>
            <a:r>
              <a:rPr lang="zh-CN" altLang="en-US" dirty="0"/>
              <a:t>多模光纤与单模光纤</a:t>
            </a:r>
          </a:p>
        </p:txBody>
      </p:sp>
      <p:sp>
        <p:nvSpPr>
          <p:cNvPr id="24" name="Text Box 44"/>
          <p:cNvSpPr txBox="1">
            <a:spLocks noChangeArrowheads="1"/>
          </p:cNvSpPr>
          <p:nvPr/>
        </p:nvSpPr>
        <p:spPr bwMode="auto">
          <a:xfrm>
            <a:off x="1476116" y="1247000"/>
            <a:ext cx="902861" cy="3079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400" b="1" dirty="0">
                <a:solidFill>
                  <a:srgbClr val="0000CC"/>
                </a:solidFill>
                <a:latin typeface="微软雅黑" pitchFamily="34" charset="-122"/>
                <a:ea typeface="微软雅黑" pitchFamily="34" charset="-122"/>
              </a:rPr>
              <a:t>输入脉冲</a:t>
            </a:r>
          </a:p>
        </p:txBody>
      </p:sp>
      <p:sp>
        <p:nvSpPr>
          <p:cNvPr id="20" name="Text Box 49"/>
          <p:cNvSpPr txBox="1">
            <a:spLocks noChangeArrowheads="1"/>
          </p:cNvSpPr>
          <p:nvPr/>
        </p:nvSpPr>
        <p:spPr bwMode="auto">
          <a:xfrm>
            <a:off x="6853467" y="1247000"/>
            <a:ext cx="902861" cy="3079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400" b="1" dirty="0">
                <a:solidFill>
                  <a:srgbClr val="0000CC"/>
                </a:solidFill>
                <a:latin typeface="微软雅黑" pitchFamily="34" charset="-122"/>
                <a:ea typeface="微软雅黑" pitchFamily="34" charset="-122"/>
              </a:rPr>
              <a:t>输出脉冲</a:t>
            </a:r>
          </a:p>
        </p:txBody>
      </p:sp>
      <p:grpSp>
        <p:nvGrpSpPr>
          <p:cNvPr id="59" name="组合 58">
            <a:extLst>
              <a:ext uri="{FF2B5EF4-FFF2-40B4-BE49-F238E27FC236}">
                <a16:creationId xmlns:a16="http://schemas.microsoft.com/office/drawing/2014/main" id="{B4E19567-3DA4-42E8-384F-E502DF9F607B}"/>
              </a:ext>
            </a:extLst>
          </p:cNvPr>
          <p:cNvGrpSpPr>
            <a:grpSpLocks noChangeAspect="1"/>
          </p:cNvGrpSpPr>
          <p:nvPr/>
        </p:nvGrpSpPr>
        <p:grpSpPr>
          <a:xfrm>
            <a:off x="1650447" y="1565786"/>
            <a:ext cx="5822862" cy="810561"/>
            <a:chOff x="1650447" y="1565786"/>
            <a:chExt cx="5822862" cy="810561"/>
          </a:xfrm>
        </p:grpSpPr>
        <p:sp>
          <p:nvSpPr>
            <p:cNvPr id="5" name="Rectangle 31"/>
            <p:cNvSpPr>
              <a:spLocks noChangeArrowheads="1"/>
            </p:cNvSpPr>
            <p:nvPr/>
          </p:nvSpPr>
          <p:spPr bwMode="auto">
            <a:xfrm>
              <a:off x="2277820" y="1673073"/>
              <a:ext cx="4648822" cy="560242"/>
            </a:xfrm>
            <a:prstGeom prst="rect">
              <a:avLst/>
            </a:prstGeom>
            <a:solidFill>
              <a:schemeClr val="bg1"/>
            </a:solidFill>
            <a:ln>
              <a:noFill/>
            </a:ln>
            <a:effec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6" name="Rectangle 31"/>
            <p:cNvSpPr>
              <a:spLocks noChangeArrowheads="1"/>
            </p:cNvSpPr>
            <p:nvPr/>
          </p:nvSpPr>
          <p:spPr bwMode="auto">
            <a:xfrm>
              <a:off x="2264907" y="1566779"/>
              <a:ext cx="4648822" cy="238400"/>
            </a:xfrm>
            <a:prstGeom prst="rect">
              <a:avLst/>
            </a:prstGeom>
            <a:solidFill>
              <a:srgbClr val="99FFCC"/>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7" name="Rectangle 32"/>
            <p:cNvSpPr>
              <a:spLocks noChangeArrowheads="1"/>
            </p:cNvSpPr>
            <p:nvPr/>
          </p:nvSpPr>
          <p:spPr bwMode="auto">
            <a:xfrm>
              <a:off x="2275668" y="2137946"/>
              <a:ext cx="4648822" cy="238400"/>
            </a:xfrm>
            <a:prstGeom prst="rect">
              <a:avLst/>
            </a:prstGeom>
            <a:solidFill>
              <a:srgbClr val="99FFCC"/>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9" name="Line 34"/>
            <p:cNvSpPr>
              <a:spLocks noChangeShapeType="1"/>
            </p:cNvSpPr>
            <p:nvPr/>
          </p:nvSpPr>
          <p:spPr bwMode="auto">
            <a:xfrm>
              <a:off x="2275668" y="1565786"/>
              <a:ext cx="464882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CC"/>
                </a:solidFill>
                <a:latin typeface="微软雅黑" pitchFamily="34" charset="-122"/>
                <a:ea typeface="微软雅黑" pitchFamily="34" charset="-122"/>
              </a:endParaRPr>
            </a:p>
          </p:txBody>
        </p:sp>
        <p:sp>
          <p:nvSpPr>
            <p:cNvPr id="10" name="Line 35"/>
            <p:cNvSpPr>
              <a:spLocks noChangeShapeType="1"/>
            </p:cNvSpPr>
            <p:nvPr/>
          </p:nvSpPr>
          <p:spPr bwMode="auto">
            <a:xfrm>
              <a:off x="2275668" y="1804186"/>
              <a:ext cx="464882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CC"/>
                </a:solidFill>
                <a:latin typeface="微软雅黑" pitchFamily="34" charset="-122"/>
                <a:ea typeface="微软雅黑" pitchFamily="34" charset="-122"/>
              </a:endParaRPr>
            </a:p>
          </p:txBody>
        </p:sp>
        <p:sp>
          <p:nvSpPr>
            <p:cNvPr id="11" name="Line 36"/>
            <p:cNvSpPr>
              <a:spLocks noChangeShapeType="1"/>
            </p:cNvSpPr>
            <p:nvPr/>
          </p:nvSpPr>
          <p:spPr bwMode="auto">
            <a:xfrm>
              <a:off x="2275668" y="2137947"/>
              <a:ext cx="464882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CC"/>
                </a:solidFill>
                <a:latin typeface="微软雅黑" pitchFamily="34" charset="-122"/>
                <a:ea typeface="微软雅黑" pitchFamily="34" charset="-122"/>
              </a:endParaRPr>
            </a:p>
          </p:txBody>
        </p:sp>
        <p:sp>
          <p:nvSpPr>
            <p:cNvPr id="12" name="Line 37"/>
            <p:cNvSpPr>
              <a:spLocks noChangeShapeType="1"/>
            </p:cNvSpPr>
            <p:nvPr/>
          </p:nvSpPr>
          <p:spPr bwMode="auto">
            <a:xfrm>
              <a:off x="2275668" y="2376347"/>
              <a:ext cx="464882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CC"/>
                </a:solidFill>
                <a:latin typeface="微软雅黑" pitchFamily="34" charset="-122"/>
                <a:ea typeface="微软雅黑" pitchFamily="34" charset="-122"/>
              </a:endParaRPr>
            </a:p>
          </p:txBody>
        </p:sp>
        <p:sp>
          <p:nvSpPr>
            <p:cNvPr id="21" name="Rectangle 41"/>
            <p:cNvSpPr>
              <a:spLocks noChangeArrowheads="1"/>
            </p:cNvSpPr>
            <p:nvPr/>
          </p:nvSpPr>
          <p:spPr bwMode="auto">
            <a:xfrm>
              <a:off x="1650447" y="1708832"/>
              <a:ext cx="516535" cy="524483"/>
            </a:xfrm>
            <a:prstGeom prst="rect">
              <a:avLst/>
            </a:prstGeom>
            <a:solidFill>
              <a:srgbClr val="FFFFFF"/>
            </a:solidFill>
            <a:ln w="6350">
              <a:solidFill>
                <a:schemeClr val="tx1">
                  <a:lumMod val="50000"/>
                  <a:lumOff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22" name="Line 42"/>
            <p:cNvSpPr>
              <a:spLocks noChangeShapeType="1"/>
            </p:cNvSpPr>
            <p:nvPr/>
          </p:nvSpPr>
          <p:spPr bwMode="auto">
            <a:xfrm>
              <a:off x="1908714" y="1708832"/>
              <a:ext cx="0" cy="524483"/>
            </a:xfrm>
            <a:prstGeom prst="line">
              <a:avLst/>
            </a:prstGeom>
            <a:noFill/>
            <a:ln w="6350">
              <a:solidFill>
                <a:schemeClr val="tx1">
                  <a:lumMod val="50000"/>
                  <a:lumOff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CC"/>
                </a:solidFill>
                <a:latin typeface="微软雅黑" pitchFamily="34" charset="-122"/>
                <a:ea typeface="微软雅黑" pitchFamily="34" charset="-122"/>
              </a:endParaRPr>
            </a:p>
          </p:txBody>
        </p:sp>
        <p:sp>
          <p:nvSpPr>
            <p:cNvPr id="23" name="Freeform 43"/>
            <p:cNvSpPr>
              <a:spLocks/>
            </p:cNvSpPr>
            <p:nvPr/>
          </p:nvSpPr>
          <p:spPr bwMode="auto">
            <a:xfrm>
              <a:off x="1650447" y="1710819"/>
              <a:ext cx="516535" cy="522496"/>
            </a:xfrm>
            <a:custGeom>
              <a:avLst/>
              <a:gdLst>
                <a:gd name="T0" fmla="*/ 0 w 672"/>
                <a:gd name="T1" fmla="*/ 670 h 670"/>
                <a:gd name="T2" fmla="*/ 126 w 672"/>
                <a:gd name="T3" fmla="*/ 637 h 670"/>
                <a:gd name="T4" fmla="*/ 192 w 672"/>
                <a:gd name="T5" fmla="*/ 526 h 670"/>
                <a:gd name="T6" fmla="*/ 240 w 672"/>
                <a:gd name="T7" fmla="*/ 334 h 670"/>
                <a:gd name="T8" fmla="*/ 279 w 672"/>
                <a:gd name="T9" fmla="*/ 139 h 670"/>
                <a:gd name="T10" fmla="*/ 303 w 672"/>
                <a:gd name="T11" fmla="*/ 40 h 670"/>
                <a:gd name="T12" fmla="*/ 339 w 672"/>
                <a:gd name="T13" fmla="*/ 1 h 670"/>
                <a:gd name="T14" fmla="*/ 369 w 672"/>
                <a:gd name="T15" fmla="*/ 34 h 670"/>
                <a:gd name="T16" fmla="*/ 396 w 672"/>
                <a:gd name="T17" fmla="*/ 136 h 670"/>
                <a:gd name="T18" fmla="*/ 432 w 672"/>
                <a:gd name="T19" fmla="*/ 337 h 670"/>
                <a:gd name="T20" fmla="*/ 456 w 672"/>
                <a:gd name="T21" fmla="*/ 457 h 670"/>
                <a:gd name="T22" fmla="*/ 504 w 672"/>
                <a:gd name="T23" fmla="*/ 595 h 670"/>
                <a:gd name="T24" fmla="*/ 573 w 672"/>
                <a:gd name="T25" fmla="*/ 643 h 670"/>
                <a:gd name="T26" fmla="*/ 612 w 672"/>
                <a:gd name="T27" fmla="*/ 655 h 670"/>
                <a:gd name="T28" fmla="*/ 672 w 672"/>
                <a:gd name="T29" fmla="*/ 670 h 6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72" h="670">
                  <a:moveTo>
                    <a:pt x="0" y="670"/>
                  </a:moveTo>
                  <a:cubicBezTo>
                    <a:pt x="21" y="664"/>
                    <a:pt x="94" y="661"/>
                    <a:pt x="126" y="637"/>
                  </a:cubicBezTo>
                  <a:cubicBezTo>
                    <a:pt x="158" y="613"/>
                    <a:pt x="173" y="576"/>
                    <a:pt x="192" y="526"/>
                  </a:cubicBezTo>
                  <a:cubicBezTo>
                    <a:pt x="211" y="476"/>
                    <a:pt x="226" y="398"/>
                    <a:pt x="240" y="334"/>
                  </a:cubicBezTo>
                  <a:cubicBezTo>
                    <a:pt x="254" y="270"/>
                    <a:pt x="269" y="188"/>
                    <a:pt x="279" y="139"/>
                  </a:cubicBezTo>
                  <a:cubicBezTo>
                    <a:pt x="289" y="90"/>
                    <a:pt x="293" y="63"/>
                    <a:pt x="303" y="40"/>
                  </a:cubicBezTo>
                  <a:cubicBezTo>
                    <a:pt x="313" y="17"/>
                    <a:pt x="328" y="2"/>
                    <a:pt x="339" y="1"/>
                  </a:cubicBezTo>
                  <a:cubicBezTo>
                    <a:pt x="350" y="0"/>
                    <a:pt x="360" y="12"/>
                    <a:pt x="369" y="34"/>
                  </a:cubicBezTo>
                  <a:cubicBezTo>
                    <a:pt x="378" y="56"/>
                    <a:pt x="386" y="86"/>
                    <a:pt x="396" y="136"/>
                  </a:cubicBezTo>
                  <a:cubicBezTo>
                    <a:pt x="406" y="186"/>
                    <a:pt x="422" y="284"/>
                    <a:pt x="432" y="337"/>
                  </a:cubicBezTo>
                  <a:cubicBezTo>
                    <a:pt x="442" y="390"/>
                    <a:pt x="444" y="414"/>
                    <a:pt x="456" y="457"/>
                  </a:cubicBezTo>
                  <a:cubicBezTo>
                    <a:pt x="468" y="500"/>
                    <a:pt x="485" y="564"/>
                    <a:pt x="504" y="595"/>
                  </a:cubicBezTo>
                  <a:cubicBezTo>
                    <a:pt x="523" y="626"/>
                    <a:pt x="555" y="633"/>
                    <a:pt x="573" y="643"/>
                  </a:cubicBezTo>
                  <a:cubicBezTo>
                    <a:pt x="591" y="653"/>
                    <a:pt x="596" y="651"/>
                    <a:pt x="612" y="655"/>
                  </a:cubicBezTo>
                  <a:cubicBezTo>
                    <a:pt x="628" y="659"/>
                    <a:pt x="660" y="667"/>
                    <a:pt x="672" y="670"/>
                  </a:cubicBezTo>
                </a:path>
              </a:pathLst>
            </a:custGeom>
            <a:noFill/>
            <a:ln w="1270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CC"/>
                </a:solidFill>
                <a:latin typeface="微软雅黑" pitchFamily="34" charset="-122"/>
                <a:ea typeface="微软雅黑" pitchFamily="34" charset="-122"/>
              </a:endParaRPr>
            </a:p>
          </p:txBody>
        </p:sp>
        <p:sp>
          <p:nvSpPr>
            <p:cNvPr id="17" name="Rectangle 46"/>
            <p:cNvSpPr>
              <a:spLocks noChangeArrowheads="1"/>
            </p:cNvSpPr>
            <p:nvPr/>
          </p:nvSpPr>
          <p:spPr bwMode="auto">
            <a:xfrm>
              <a:off x="6958926" y="1708832"/>
              <a:ext cx="512231" cy="524483"/>
            </a:xfrm>
            <a:prstGeom prst="rect">
              <a:avLst/>
            </a:prstGeom>
            <a:solidFill>
              <a:srgbClr val="FFFFFF"/>
            </a:solidFill>
            <a:ln w="6350">
              <a:solidFill>
                <a:schemeClr val="tx1">
                  <a:lumMod val="50000"/>
                  <a:lumOff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18" name="Line 47"/>
            <p:cNvSpPr>
              <a:spLocks noChangeShapeType="1"/>
            </p:cNvSpPr>
            <p:nvPr/>
          </p:nvSpPr>
          <p:spPr bwMode="auto">
            <a:xfrm>
              <a:off x="7215042" y="1708832"/>
              <a:ext cx="0" cy="524483"/>
            </a:xfrm>
            <a:prstGeom prst="line">
              <a:avLst/>
            </a:prstGeom>
            <a:noFill/>
            <a:ln w="6350">
              <a:solidFill>
                <a:schemeClr val="tx1">
                  <a:lumMod val="50000"/>
                  <a:lumOff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CC"/>
                </a:solidFill>
                <a:latin typeface="微软雅黑" pitchFamily="34" charset="-122"/>
                <a:ea typeface="微软雅黑" pitchFamily="34" charset="-122"/>
              </a:endParaRPr>
            </a:p>
          </p:txBody>
        </p:sp>
        <p:sp>
          <p:nvSpPr>
            <p:cNvPr id="19" name="Freeform 48"/>
            <p:cNvSpPr>
              <a:spLocks/>
            </p:cNvSpPr>
            <p:nvPr/>
          </p:nvSpPr>
          <p:spPr bwMode="auto">
            <a:xfrm>
              <a:off x="6956774" y="1855846"/>
              <a:ext cx="516535" cy="220521"/>
            </a:xfrm>
            <a:custGeom>
              <a:avLst/>
              <a:gdLst>
                <a:gd name="T0" fmla="*/ 0 w 678"/>
                <a:gd name="T1" fmla="*/ 280 h 283"/>
                <a:gd name="T2" fmla="*/ 87 w 678"/>
                <a:gd name="T3" fmla="*/ 244 h 283"/>
                <a:gd name="T4" fmla="*/ 150 w 678"/>
                <a:gd name="T5" fmla="*/ 193 h 283"/>
                <a:gd name="T6" fmla="*/ 201 w 678"/>
                <a:gd name="T7" fmla="*/ 130 h 283"/>
                <a:gd name="T8" fmla="*/ 258 w 678"/>
                <a:gd name="T9" fmla="*/ 43 h 283"/>
                <a:gd name="T10" fmla="*/ 339 w 678"/>
                <a:gd name="T11" fmla="*/ 1 h 283"/>
                <a:gd name="T12" fmla="*/ 426 w 678"/>
                <a:gd name="T13" fmla="*/ 37 h 283"/>
                <a:gd name="T14" fmla="*/ 492 w 678"/>
                <a:gd name="T15" fmla="*/ 139 h 283"/>
                <a:gd name="T16" fmla="*/ 528 w 678"/>
                <a:gd name="T17" fmla="*/ 190 h 283"/>
                <a:gd name="T18" fmla="*/ 591 w 678"/>
                <a:gd name="T19" fmla="*/ 238 h 283"/>
                <a:gd name="T20" fmla="*/ 678 w 678"/>
                <a:gd name="T21" fmla="*/ 283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78" h="283">
                  <a:moveTo>
                    <a:pt x="0" y="280"/>
                  </a:moveTo>
                  <a:cubicBezTo>
                    <a:pt x="14" y="274"/>
                    <a:pt x="62" y="258"/>
                    <a:pt x="87" y="244"/>
                  </a:cubicBezTo>
                  <a:cubicBezTo>
                    <a:pt x="112" y="230"/>
                    <a:pt x="131" y="212"/>
                    <a:pt x="150" y="193"/>
                  </a:cubicBezTo>
                  <a:cubicBezTo>
                    <a:pt x="169" y="174"/>
                    <a:pt x="183" y="155"/>
                    <a:pt x="201" y="130"/>
                  </a:cubicBezTo>
                  <a:cubicBezTo>
                    <a:pt x="219" y="105"/>
                    <a:pt x="235" y="64"/>
                    <a:pt x="258" y="43"/>
                  </a:cubicBezTo>
                  <a:cubicBezTo>
                    <a:pt x="281" y="22"/>
                    <a:pt x="311" y="2"/>
                    <a:pt x="339" y="1"/>
                  </a:cubicBezTo>
                  <a:cubicBezTo>
                    <a:pt x="367" y="0"/>
                    <a:pt x="401" y="14"/>
                    <a:pt x="426" y="37"/>
                  </a:cubicBezTo>
                  <a:cubicBezTo>
                    <a:pt x="451" y="60"/>
                    <a:pt x="475" y="113"/>
                    <a:pt x="492" y="139"/>
                  </a:cubicBezTo>
                  <a:cubicBezTo>
                    <a:pt x="509" y="165"/>
                    <a:pt x="512" y="174"/>
                    <a:pt x="528" y="190"/>
                  </a:cubicBezTo>
                  <a:cubicBezTo>
                    <a:pt x="544" y="206"/>
                    <a:pt x="566" y="222"/>
                    <a:pt x="591" y="238"/>
                  </a:cubicBezTo>
                  <a:cubicBezTo>
                    <a:pt x="616" y="254"/>
                    <a:pt x="660" y="274"/>
                    <a:pt x="678" y="283"/>
                  </a:cubicBezTo>
                </a:path>
              </a:pathLst>
            </a:custGeom>
            <a:noFill/>
            <a:ln w="1270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CC"/>
                </a:solidFill>
                <a:latin typeface="微软雅黑" pitchFamily="34" charset="-122"/>
                <a:ea typeface="微软雅黑" pitchFamily="34" charset="-122"/>
              </a:endParaRPr>
            </a:p>
          </p:txBody>
        </p:sp>
        <p:sp>
          <p:nvSpPr>
            <p:cNvPr id="26" name="Freeform 30"/>
            <p:cNvSpPr>
              <a:spLocks/>
            </p:cNvSpPr>
            <p:nvPr/>
          </p:nvSpPr>
          <p:spPr bwMode="auto">
            <a:xfrm>
              <a:off x="2338083" y="1799219"/>
              <a:ext cx="4584256" cy="333760"/>
            </a:xfrm>
            <a:custGeom>
              <a:avLst/>
              <a:gdLst>
                <a:gd name="T0" fmla="*/ 0 w 4260"/>
                <a:gd name="T1" fmla="*/ 150 h 336"/>
                <a:gd name="T2" fmla="*/ 666 w 4260"/>
                <a:gd name="T3" fmla="*/ 0 h 336"/>
                <a:gd name="T4" fmla="*/ 2310 w 4260"/>
                <a:gd name="T5" fmla="*/ 336 h 336"/>
                <a:gd name="T6" fmla="*/ 3936 w 4260"/>
                <a:gd name="T7" fmla="*/ 0 h 336"/>
                <a:gd name="T8" fmla="*/ 4260 w 4260"/>
                <a:gd name="T9" fmla="*/ 72 h 336"/>
              </a:gdLst>
              <a:ahLst/>
              <a:cxnLst>
                <a:cxn ang="0">
                  <a:pos x="T0" y="T1"/>
                </a:cxn>
                <a:cxn ang="0">
                  <a:pos x="T2" y="T3"/>
                </a:cxn>
                <a:cxn ang="0">
                  <a:pos x="T4" y="T5"/>
                </a:cxn>
                <a:cxn ang="0">
                  <a:pos x="T6" y="T7"/>
                </a:cxn>
                <a:cxn ang="0">
                  <a:pos x="T8" y="T9"/>
                </a:cxn>
              </a:cxnLst>
              <a:rect l="0" t="0" r="r" b="b"/>
              <a:pathLst>
                <a:path w="4260" h="336">
                  <a:moveTo>
                    <a:pt x="0" y="150"/>
                  </a:moveTo>
                  <a:lnTo>
                    <a:pt x="666" y="0"/>
                  </a:lnTo>
                  <a:lnTo>
                    <a:pt x="2310" y="336"/>
                  </a:lnTo>
                  <a:lnTo>
                    <a:pt x="3936" y="0"/>
                  </a:lnTo>
                  <a:lnTo>
                    <a:pt x="4260" y="72"/>
                  </a:lnTo>
                </a:path>
              </a:pathLst>
            </a:custGeom>
            <a:noFill/>
            <a:ln w="12700" cmpd="sng">
              <a:solidFill>
                <a:srgbClr val="FF0000"/>
              </a:solidFill>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7" name="Freeform 51"/>
            <p:cNvSpPr>
              <a:spLocks/>
            </p:cNvSpPr>
            <p:nvPr/>
          </p:nvSpPr>
          <p:spPr bwMode="auto">
            <a:xfrm>
              <a:off x="2264907" y="1799220"/>
              <a:ext cx="4644518" cy="327800"/>
            </a:xfrm>
            <a:custGeom>
              <a:avLst/>
              <a:gdLst>
                <a:gd name="T0" fmla="*/ 0 w 4316"/>
                <a:gd name="T1" fmla="*/ 128 h 330"/>
                <a:gd name="T2" fmla="*/ 434 w 4316"/>
                <a:gd name="T3" fmla="*/ 0 h 330"/>
                <a:gd name="T4" fmla="*/ 1586 w 4316"/>
                <a:gd name="T5" fmla="*/ 330 h 330"/>
                <a:gd name="T6" fmla="*/ 2738 w 4316"/>
                <a:gd name="T7" fmla="*/ 0 h 330"/>
                <a:gd name="T8" fmla="*/ 3944 w 4316"/>
                <a:gd name="T9" fmla="*/ 330 h 330"/>
                <a:gd name="T10" fmla="*/ 4316 w 4316"/>
                <a:gd name="T11" fmla="*/ 204 h 330"/>
              </a:gdLst>
              <a:ahLst/>
              <a:cxnLst>
                <a:cxn ang="0">
                  <a:pos x="T0" y="T1"/>
                </a:cxn>
                <a:cxn ang="0">
                  <a:pos x="T2" y="T3"/>
                </a:cxn>
                <a:cxn ang="0">
                  <a:pos x="T4" y="T5"/>
                </a:cxn>
                <a:cxn ang="0">
                  <a:pos x="T6" y="T7"/>
                </a:cxn>
                <a:cxn ang="0">
                  <a:pos x="T8" y="T9"/>
                </a:cxn>
                <a:cxn ang="0">
                  <a:pos x="T10" y="T11"/>
                </a:cxn>
              </a:cxnLst>
              <a:rect l="0" t="0" r="r" b="b"/>
              <a:pathLst>
                <a:path w="4316" h="330">
                  <a:moveTo>
                    <a:pt x="0" y="128"/>
                  </a:moveTo>
                  <a:lnTo>
                    <a:pt x="434" y="0"/>
                  </a:lnTo>
                  <a:lnTo>
                    <a:pt x="1586" y="330"/>
                  </a:lnTo>
                  <a:lnTo>
                    <a:pt x="2738" y="0"/>
                  </a:lnTo>
                  <a:lnTo>
                    <a:pt x="3944" y="330"/>
                  </a:lnTo>
                  <a:lnTo>
                    <a:pt x="4316" y="204"/>
                  </a:lnTo>
                </a:path>
              </a:pathLst>
            </a:custGeom>
            <a:noFill/>
            <a:ln w="12700" cmpd="sng">
              <a:solidFill>
                <a:srgbClr val="FF0000"/>
              </a:solidFill>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CC"/>
                </a:solidFill>
                <a:latin typeface="微软雅黑" pitchFamily="34" charset="-122"/>
                <a:ea typeface="微软雅黑" pitchFamily="34" charset="-122"/>
              </a:endParaRPr>
            </a:p>
          </p:txBody>
        </p:sp>
      </p:grpSp>
      <p:sp>
        <p:nvSpPr>
          <p:cNvPr id="28" name="Text Box 52"/>
          <p:cNvSpPr txBox="1">
            <a:spLocks noChangeArrowheads="1"/>
          </p:cNvSpPr>
          <p:nvPr/>
        </p:nvSpPr>
        <p:spPr bwMode="auto">
          <a:xfrm>
            <a:off x="4113645" y="1247000"/>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400" b="1" dirty="0">
                <a:solidFill>
                  <a:srgbClr val="0000CC"/>
                </a:solidFill>
                <a:latin typeface="微软雅黑" pitchFamily="34" charset="-122"/>
                <a:ea typeface="微软雅黑" pitchFamily="34" charset="-122"/>
              </a:rPr>
              <a:t>多模光纤</a:t>
            </a:r>
          </a:p>
        </p:txBody>
      </p:sp>
      <p:sp>
        <p:nvSpPr>
          <p:cNvPr id="45" name="Text Box 20"/>
          <p:cNvSpPr txBox="1">
            <a:spLocks noChangeArrowheads="1"/>
          </p:cNvSpPr>
          <p:nvPr/>
        </p:nvSpPr>
        <p:spPr bwMode="auto">
          <a:xfrm>
            <a:off x="1476115" y="2645551"/>
            <a:ext cx="902861" cy="3079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400" b="1" dirty="0">
                <a:solidFill>
                  <a:srgbClr val="0000CC"/>
                </a:solidFill>
                <a:latin typeface="微软雅黑" pitchFamily="34" charset="-122"/>
                <a:ea typeface="微软雅黑" pitchFamily="34" charset="-122"/>
              </a:rPr>
              <a:t>输入脉冲</a:t>
            </a:r>
          </a:p>
        </p:txBody>
      </p:sp>
      <p:sp>
        <p:nvSpPr>
          <p:cNvPr id="38" name="Text Box 22"/>
          <p:cNvSpPr txBox="1">
            <a:spLocks noChangeArrowheads="1"/>
          </p:cNvSpPr>
          <p:nvPr/>
        </p:nvSpPr>
        <p:spPr bwMode="auto">
          <a:xfrm>
            <a:off x="6853467" y="2645551"/>
            <a:ext cx="902861" cy="3079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400" b="1" dirty="0">
                <a:solidFill>
                  <a:srgbClr val="0000CC"/>
                </a:solidFill>
                <a:latin typeface="微软雅黑" pitchFamily="34" charset="-122"/>
                <a:ea typeface="微软雅黑" pitchFamily="34" charset="-122"/>
              </a:rPr>
              <a:t>输出脉冲</a:t>
            </a:r>
          </a:p>
        </p:txBody>
      </p:sp>
      <p:sp>
        <p:nvSpPr>
          <p:cNvPr id="35" name="Text Box 28"/>
          <p:cNvSpPr txBox="1">
            <a:spLocks noChangeArrowheads="1"/>
          </p:cNvSpPr>
          <p:nvPr/>
        </p:nvSpPr>
        <p:spPr bwMode="auto">
          <a:xfrm>
            <a:off x="4108295" y="2645551"/>
            <a:ext cx="902861" cy="3079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400" b="1" dirty="0">
                <a:solidFill>
                  <a:srgbClr val="0000CC"/>
                </a:solidFill>
                <a:latin typeface="微软雅黑" pitchFamily="34" charset="-122"/>
                <a:ea typeface="微软雅黑" pitchFamily="34" charset="-122"/>
              </a:rPr>
              <a:t>单模光纤</a:t>
            </a:r>
          </a:p>
        </p:txBody>
      </p:sp>
      <p:grpSp>
        <p:nvGrpSpPr>
          <p:cNvPr id="29" name="组合 28">
            <a:extLst>
              <a:ext uri="{FF2B5EF4-FFF2-40B4-BE49-F238E27FC236}">
                <a16:creationId xmlns:a16="http://schemas.microsoft.com/office/drawing/2014/main" id="{51042DAA-AF47-1424-C95D-A0F8C87D9703}"/>
              </a:ext>
            </a:extLst>
          </p:cNvPr>
          <p:cNvGrpSpPr>
            <a:grpSpLocks noChangeAspect="1"/>
          </p:cNvGrpSpPr>
          <p:nvPr/>
        </p:nvGrpSpPr>
        <p:grpSpPr>
          <a:xfrm>
            <a:off x="1630000" y="3015073"/>
            <a:ext cx="5886354" cy="552296"/>
            <a:chOff x="1630000" y="3015073"/>
            <a:chExt cx="5886354" cy="552296"/>
          </a:xfrm>
        </p:grpSpPr>
        <p:sp>
          <p:nvSpPr>
            <p:cNvPr id="50" name="Rectangle 4"/>
            <p:cNvSpPr>
              <a:spLocks noChangeArrowheads="1"/>
            </p:cNvSpPr>
            <p:nvPr/>
          </p:nvSpPr>
          <p:spPr bwMode="auto">
            <a:xfrm>
              <a:off x="2286430" y="3138247"/>
              <a:ext cx="4648821" cy="333762"/>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52" name="Rectangle 6"/>
            <p:cNvSpPr>
              <a:spLocks noChangeArrowheads="1"/>
            </p:cNvSpPr>
            <p:nvPr/>
          </p:nvSpPr>
          <p:spPr bwMode="auto">
            <a:xfrm>
              <a:off x="2286430" y="3042886"/>
              <a:ext cx="4648821" cy="188734"/>
            </a:xfrm>
            <a:prstGeom prst="rect">
              <a:avLst/>
            </a:prstGeom>
            <a:solidFill>
              <a:srgbClr val="99FFCC"/>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53" name="Rectangle 7"/>
            <p:cNvSpPr>
              <a:spLocks noChangeArrowheads="1"/>
            </p:cNvSpPr>
            <p:nvPr/>
          </p:nvSpPr>
          <p:spPr bwMode="auto">
            <a:xfrm>
              <a:off x="2286430" y="3378635"/>
              <a:ext cx="4648821" cy="188734"/>
            </a:xfrm>
            <a:prstGeom prst="rect">
              <a:avLst/>
            </a:prstGeom>
            <a:solidFill>
              <a:srgbClr val="99FFCC"/>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54" name="Line 8"/>
            <p:cNvSpPr>
              <a:spLocks noChangeShapeType="1"/>
            </p:cNvSpPr>
            <p:nvPr/>
          </p:nvSpPr>
          <p:spPr bwMode="auto">
            <a:xfrm>
              <a:off x="2286430" y="3042886"/>
              <a:ext cx="4648821" cy="0"/>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CC"/>
                </a:solidFill>
                <a:latin typeface="微软雅黑" pitchFamily="34" charset="-122"/>
                <a:ea typeface="微软雅黑" pitchFamily="34" charset="-122"/>
              </a:endParaRPr>
            </a:p>
          </p:txBody>
        </p:sp>
        <p:sp>
          <p:nvSpPr>
            <p:cNvPr id="55" name="Line 9"/>
            <p:cNvSpPr>
              <a:spLocks noChangeShapeType="1"/>
            </p:cNvSpPr>
            <p:nvPr/>
          </p:nvSpPr>
          <p:spPr bwMode="auto">
            <a:xfrm>
              <a:off x="2286430" y="3231620"/>
              <a:ext cx="4648821" cy="0"/>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CC"/>
                </a:solidFill>
                <a:latin typeface="微软雅黑" pitchFamily="34" charset="-122"/>
                <a:ea typeface="微软雅黑" pitchFamily="34" charset="-122"/>
              </a:endParaRPr>
            </a:p>
          </p:txBody>
        </p:sp>
        <p:sp>
          <p:nvSpPr>
            <p:cNvPr id="56" name="Line 10"/>
            <p:cNvSpPr>
              <a:spLocks noChangeShapeType="1"/>
            </p:cNvSpPr>
            <p:nvPr/>
          </p:nvSpPr>
          <p:spPr bwMode="auto">
            <a:xfrm>
              <a:off x="2286430" y="3378635"/>
              <a:ext cx="4648821" cy="0"/>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CC"/>
                </a:solidFill>
                <a:latin typeface="微软雅黑" pitchFamily="34" charset="-122"/>
                <a:ea typeface="微软雅黑" pitchFamily="34" charset="-122"/>
              </a:endParaRPr>
            </a:p>
          </p:txBody>
        </p:sp>
        <p:sp>
          <p:nvSpPr>
            <p:cNvPr id="57" name="Line 11"/>
            <p:cNvSpPr>
              <a:spLocks noChangeShapeType="1"/>
            </p:cNvSpPr>
            <p:nvPr/>
          </p:nvSpPr>
          <p:spPr bwMode="auto">
            <a:xfrm>
              <a:off x="2286430" y="3567369"/>
              <a:ext cx="4648821" cy="0"/>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CC"/>
                </a:solidFill>
                <a:latin typeface="微软雅黑" pitchFamily="34" charset="-122"/>
                <a:ea typeface="微软雅黑" pitchFamily="34" charset="-122"/>
              </a:endParaRPr>
            </a:p>
          </p:txBody>
        </p:sp>
        <p:sp>
          <p:nvSpPr>
            <p:cNvPr id="48" name="Rectangle 17"/>
            <p:cNvSpPr>
              <a:spLocks noChangeArrowheads="1"/>
            </p:cNvSpPr>
            <p:nvPr/>
          </p:nvSpPr>
          <p:spPr bwMode="auto">
            <a:xfrm>
              <a:off x="1630000" y="3015073"/>
              <a:ext cx="516535" cy="524483"/>
            </a:xfrm>
            <a:prstGeom prst="rect">
              <a:avLst/>
            </a:prstGeom>
            <a:solidFill>
              <a:srgbClr val="FFFFFF"/>
            </a:solidFill>
            <a:ln w="6350">
              <a:solidFill>
                <a:schemeClr val="tx1">
                  <a:lumMod val="50000"/>
                  <a:lumOff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49" name="Line 18"/>
            <p:cNvSpPr>
              <a:spLocks noChangeShapeType="1"/>
            </p:cNvSpPr>
            <p:nvPr/>
          </p:nvSpPr>
          <p:spPr bwMode="auto">
            <a:xfrm>
              <a:off x="1888268" y="3015073"/>
              <a:ext cx="0" cy="524483"/>
            </a:xfrm>
            <a:prstGeom prst="line">
              <a:avLst/>
            </a:prstGeom>
            <a:noFill/>
            <a:ln w="6350">
              <a:solidFill>
                <a:schemeClr val="tx1">
                  <a:lumMod val="50000"/>
                  <a:lumOff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CC"/>
                </a:solidFill>
                <a:latin typeface="微软雅黑" pitchFamily="34" charset="-122"/>
                <a:ea typeface="微软雅黑" pitchFamily="34" charset="-122"/>
              </a:endParaRPr>
            </a:p>
          </p:txBody>
        </p:sp>
        <p:sp>
          <p:nvSpPr>
            <p:cNvPr id="47" name="Freeform 19"/>
            <p:cNvSpPr>
              <a:spLocks/>
            </p:cNvSpPr>
            <p:nvPr/>
          </p:nvSpPr>
          <p:spPr bwMode="auto">
            <a:xfrm>
              <a:off x="1630000" y="3017060"/>
              <a:ext cx="516535" cy="522496"/>
            </a:xfrm>
            <a:custGeom>
              <a:avLst/>
              <a:gdLst>
                <a:gd name="T0" fmla="*/ 0 w 672"/>
                <a:gd name="T1" fmla="*/ 670 h 670"/>
                <a:gd name="T2" fmla="*/ 126 w 672"/>
                <a:gd name="T3" fmla="*/ 637 h 670"/>
                <a:gd name="T4" fmla="*/ 192 w 672"/>
                <a:gd name="T5" fmla="*/ 526 h 670"/>
                <a:gd name="T6" fmla="*/ 240 w 672"/>
                <a:gd name="T7" fmla="*/ 334 h 670"/>
                <a:gd name="T8" fmla="*/ 279 w 672"/>
                <a:gd name="T9" fmla="*/ 139 h 670"/>
                <a:gd name="T10" fmla="*/ 303 w 672"/>
                <a:gd name="T11" fmla="*/ 40 h 670"/>
                <a:gd name="T12" fmla="*/ 339 w 672"/>
                <a:gd name="T13" fmla="*/ 1 h 670"/>
                <a:gd name="T14" fmla="*/ 369 w 672"/>
                <a:gd name="T15" fmla="*/ 34 h 670"/>
                <a:gd name="T16" fmla="*/ 396 w 672"/>
                <a:gd name="T17" fmla="*/ 136 h 670"/>
                <a:gd name="T18" fmla="*/ 432 w 672"/>
                <a:gd name="T19" fmla="*/ 337 h 670"/>
                <a:gd name="T20" fmla="*/ 456 w 672"/>
                <a:gd name="T21" fmla="*/ 457 h 670"/>
                <a:gd name="T22" fmla="*/ 504 w 672"/>
                <a:gd name="T23" fmla="*/ 595 h 670"/>
                <a:gd name="T24" fmla="*/ 573 w 672"/>
                <a:gd name="T25" fmla="*/ 643 h 670"/>
                <a:gd name="T26" fmla="*/ 612 w 672"/>
                <a:gd name="T27" fmla="*/ 655 h 670"/>
                <a:gd name="T28" fmla="*/ 672 w 672"/>
                <a:gd name="T29" fmla="*/ 670 h 6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72" h="670">
                  <a:moveTo>
                    <a:pt x="0" y="670"/>
                  </a:moveTo>
                  <a:cubicBezTo>
                    <a:pt x="21" y="664"/>
                    <a:pt x="94" y="661"/>
                    <a:pt x="126" y="637"/>
                  </a:cubicBezTo>
                  <a:cubicBezTo>
                    <a:pt x="158" y="613"/>
                    <a:pt x="173" y="576"/>
                    <a:pt x="192" y="526"/>
                  </a:cubicBezTo>
                  <a:cubicBezTo>
                    <a:pt x="211" y="476"/>
                    <a:pt x="226" y="398"/>
                    <a:pt x="240" y="334"/>
                  </a:cubicBezTo>
                  <a:cubicBezTo>
                    <a:pt x="254" y="270"/>
                    <a:pt x="269" y="188"/>
                    <a:pt x="279" y="139"/>
                  </a:cubicBezTo>
                  <a:cubicBezTo>
                    <a:pt x="289" y="90"/>
                    <a:pt x="293" y="63"/>
                    <a:pt x="303" y="40"/>
                  </a:cubicBezTo>
                  <a:cubicBezTo>
                    <a:pt x="313" y="17"/>
                    <a:pt x="328" y="2"/>
                    <a:pt x="339" y="1"/>
                  </a:cubicBezTo>
                  <a:cubicBezTo>
                    <a:pt x="350" y="0"/>
                    <a:pt x="360" y="12"/>
                    <a:pt x="369" y="34"/>
                  </a:cubicBezTo>
                  <a:cubicBezTo>
                    <a:pt x="378" y="56"/>
                    <a:pt x="386" y="86"/>
                    <a:pt x="396" y="136"/>
                  </a:cubicBezTo>
                  <a:cubicBezTo>
                    <a:pt x="406" y="186"/>
                    <a:pt x="422" y="284"/>
                    <a:pt x="432" y="337"/>
                  </a:cubicBezTo>
                  <a:cubicBezTo>
                    <a:pt x="442" y="390"/>
                    <a:pt x="444" y="414"/>
                    <a:pt x="456" y="457"/>
                  </a:cubicBezTo>
                  <a:cubicBezTo>
                    <a:pt x="468" y="500"/>
                    <a:pt x="485" y="564"/>
                    <a:pt x="504" y="595"/>
                  </a:cubicBezTo>
                  <a:cubicBezTo>
                    <a:pt x="523" y="626"/>
                    <a:pt x="555" y="633"/>
                    <a:pt x="573" y="643"/>
                  </a:cubicBezTo>
                  <a:cubicBezTo>
                    <a:pt x="591" y="653"/>
                    <a:pt x="596" y="651"/>
                    <a:pt x="612" y="655"/>
                  </a:cubicBezTo>
                  <a:cubicBezTo>
                    <a:pt x="628" y="659"/>
                    <a:pt x="660" y="667"/>
                    <a:pt x="672" y="670"/>
                  </a:cubicBezTo>
                </a:path>
              </a:pathLst>
            </a:custGeom>
            <a:noFill/>
            <a:ln w="1270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CC"/>
                </a:solidFill>
                <a:latin typeface="微软雅黑" pitchFamily="34" charset="-122"/>
                <a:ea typeface="微软雅黑" pitchFamily="34" charset="-122"/>
              </a:endParaRPr>
            </a:p>
          </p:txBody>
        </p:sp>
        <p:sp>
          <p:nvSpPr>
            <p:cNvPr id="42" name="Rectangle 25"/>
            <p:cNvSpPr>
              <a:spLocks noChangeArrowheads="1"/>
            </p:cNvSpPr>
            <p:nvPr/>
          </p:nvSpPr>
          <p:spPr bwMode="auto">
            <a:xfrm>
              <a:off x="6999819" y="3015073"/>
              <a:ext cx="516535" cy="524483"/>
            </a:xfrm>
            <a:prstGeom prst="rect">
              <a:avLst/>
            </a:prstGeom>
            <a:solidFill>
              <a:srgbClr val="FFFFFF"/>
            </a:solidFill>
            <a:ln w="6350">
              <a:solidFill>
                <a:schemeClr val="tx1">
                  <a:lumMod val="50000"/>
                  <a:lumOff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43" name="Line 26"/>
            <p:cNvSpPr>
              <a:spLocks noChangeShapeType="1"/>
            </p:cNvSpPr>
            <p:nvPr/>
          </p:nvSpPr>
          <p:spPr bwMode="auto">
            <a:xfrm>
              <a:off x="7258087" y="3015073"/>
              <a:ext cx="0" cy="524483"/>
            </a:xfrm>
            <a:prstGeom prst="line">
              <a:avLst/>
            </a:prstGeom>
            <a:noFill/>
            <a:ln w="6350">
              <a:solidFill>
                <a:schemeClr val="tx1">
                  <a:lumMod val="50000"/>
                  <a:lumOff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CC"/>
                </a:solidFill>
                <a:latin typeface="微软雅黑" pitchFamily="34" charset="-122"/>
                <a:ea typeface="微软雅黑" pitchFamily="34" charset="-122"/>
              </a:endParaRPr>
            </a:p>
          </p:txBody>
        </p:sp>
        <p:sp>
          <p:nvSpPr>
            <p:cNvPr id="41" name="Freeform 27"/>
            <p:cNvSpPr>
              <a:spLocks/>
            </p:cNvSpPr>
            <p:nvPr/>
          </p:nvSpPr>
          <p:spPr bwMode="auto">
            <a:xfrm>
              <a:off x="6999819" y="3017060"/>
              <a:ext cx="516535" cy="522496"/>
            </a:xfrm>
            <a:custGeom>
              <a:avLst/>
              <a:gdLst>
                <a:gd name="T0" fmla="*/ 0 w 672"/>
                <a:gd name="T1" fmla="*/ 670 h 670"/>
                <a:gd name="T2" fmla="*/ 126 w 672"/>
                <a:gd name="T3" fmla="*/ 637 h 670"/>
                <a:gd name="T4" fmla="*/ 192 w 672"/>
                <a:gd name="T5" fmla="*/ 526 h 670"/>
                <a:gd name="T6" fmla="*/ 240 w 672"/>
                <a:gd name="T7" fmla="*/ 334 h 670"/>
                <a:gd name="T8" fmla="*/ 279 w 672"/>
                <a:gd name="T9" fmla="*/ 139 h 670"/>
                <a:gd name="T10" fmla="*/ 303 w 672"/>
                <a:gd name="T11" fmla="*/ 40 h 670"/>
                <a:gd name="T12" fmla="*/ 339 w 672"/>
                <a:gd name="T13" fmla="*/ 1 h 670"/>
                <a:gd name="T14" fmla="*/ 369 w 672"/>
                <a:gd name="T15" fmla="*/ 34 h 670"/>
                <a:gd name="T16" fmla="*/ 396 w 672"/>
                <a:gd name="T17" fmla="*/ 136 h 670"/>
                <a:gd name="T18" fmla="*/ 432 w 672"/>
                <a:gd name="T19" fmla="*/ 337 h 670"/>
                <a:gd name="T20" fmla="*/ 456 w 672"/>
                <a:gd name="T21" fmla="*/ 457 h 670"/>
                <a:gd name="T22" fmla="*/ 504 w 672"/>
                <a:gd name="T23" fmla="*/ 595 h 670"/>
                <a:gd name="T24" fmla="*/ 573 w 672"/>
                <a:gd name="T25" fmla="*/ 643 h 670"/>
                <a:gd name="T26" fmla="*/ 612 w 672"/>
                <a:gd name="T27" fmla="*/ 655 h 670"/>
                <a:gd name="T28" fmla="*/ 672 w 672"/>
                <a:gd name="T29" fmla="*/ 670 h 6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72" h="670">
                  <a:moveTo>
                    <a:pt x="0" y="670"/>
                  </a:moveTo>
                  <a:cubicBezTo>
                    <a:pt x="21" y="664"/>
                    <a:pt x="94" y="661"/>
                    <a:pt x="126" y="637"/>
                  </a:cubicBezTo>
                  <a:cubicBezTo>
                    <a:pt x="158" y="613"/>
                    <a:pt x="173" y="576"/>
                    <a:pt x="192" y="526"/>
                  </a:cubicBezTo>
                  <a:cubicBezTo>
                    <a:pt x="211" y="476"/>
                    <a:pt x="226" y="398"/>
                    <a:pt x="240" y="334"/>
                  </a:cubicBezTo>
                  <a:cubicBezTo>
                    <a:pt x="254" y="270"/>
                    <a:pt x="269" y="188"/>
                    <a:pt x="279" y="139"/>
                  </a:cubicBezTo>
                  <a:cubicBezTo>
                    <a:pt x="289" y="90"/>
                    <a:pt x="293" y="63"/>
                    <a:pt x="303" y="40"/>
                  </a:cubicBezTo>
                  <a:cubicBezTo>
                    <a:pt x="313" y="17"/>
                    <a:pt x="328" y="2"/>
                    <a:pt x="339" y="1"/>
                  </a:cubicBezTo>
                  <a:cubicBezTo>
                    <a:pt x="350" y="0"/>
                    <a:pt x="360" y="12"/>
                    <a:pt x="369" y="34"/>
                  </a:cubicBezTo>
                  <a:cubicBezTo>
                    <a:pt x="378" y="56"/>
                    <a:pt x="386" y="86"/>
                    <a:pt x="396" y="136"/>
                  </a:cubicBezTo>
                  <a:cubicBezTo>
                    <a:pt x="406" y="186"/>
                    <a:pt x="422" y="284"/>
                    <a:pt x="432" y="337"/>
                  </a:cubicBezTo>
                  <a:cubicBezTo>
                    <a:pt x="442" y="390"/>
                    <a:pt x="444" y="414"/>
                    <a:pt x="456" y="457"/>
                  </a:cubicBezTo>
                  <a:cubicBezTo>
                    <a:pt x="468" y="500"/>
                    <a:pt x="485" y="564"/>
                    <a:pt x="504" y="595"/>
                  </a:cubicBezTo>
                  <a:cubicBezTo>
                    <a:pt x="523" y="626"/>
                    <a:pt x="555" y="633"/>
                    <a:pt x="573" y="643"/>
                  </a:cubicBezTo>
                  <a:cubicBezTo>
                    <a:pt x="591" y="653"/>
                    <a:pt x="596" y="651"/>
                    <a:pt x="612" y="655"/>
                  </a:cubicBezTo>
                  <a:cubicBezTo>
                    <a:pt x="628" y="659"/>
                    <a:pt x="660" y="667"/>
                    <a:pt x="672" y="670"/>
                  </a:cubicBezTo>
                </a:path>
              </a:pathLst>
            </a:custGeom>
            <a:noFill/>
            <a:ln w="1270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CC"/>
                </a:solidFill>
                <a:latin typeface="微软雅黑" pitchFamily="34" charset="-122"/>
                <a:ea typeface="微软雅黑" pitchFamily="34" charset="-122"/>
              </a:endParaRPr>
            </a:p>
          </p:txBody>
        </p:sp>
        <p:sp>
          <p:nvSpPr>
            <p:cNvPr id="2" name="Line 50"/>
            <p:cNvSpPr>
              <a:spLocks noChangeShapeType="1"/>
            </p:cNvSpPr>
            <p:nvPr/>
          </p:nvSpPr>
          <p:spPr bwMode="auto">
            <a:xfrm flipV="1">
              <a:off x="2286430" y="3294543"/>
              <a:ext cx="4608000" cy="6954"/>
            </a:xfrm>
            <a:prstGeom prst="line">
              <a:avLst/>
            </a:prstGeom>
            <a:noFill/>
            <a:ln w="12700">
              <a:solidFill>
                <a:srgbClr val="FF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CC"/>
                </a:solidFill>
                <a:latin typeface="微软雅黑" pitchFamily="34" charset="-122"/>
                <a:ea typeface="微软雅黑" pitchFamily="34" charset="-122"/>
              </a:endParaRPr>
            </a:p>
          </p:txBody>
        </p:sp>
      </p:grpSp>
    </p:spTree>
    <p:extLst>
      <p:ext uri="{BB962C8B-B14F-4D97-AF65-F5344CB8AC3E}">
        <p14:creationId xmlns:p14="http://schemas.microsoft.com/office/powerpoint/2010/main" val="20576161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466343" y="900000"/>
            <a:ext cx="8129017" cy="3376990"/>
          </a:xfrm>
        </p:spPr>
        <p:txBody>
          <a:bodyPr/>
          <a:lstStyle/>
          <a:p>
            <a:r>
              <a:rPr lang="zh-CN" altLang="en-US" dirty="0"/>
              <a:t>常用的三个波段的中心：</a:t>
            </a:r>
            <a:endParaRPr lang="en-US" altLang="zh-CN" dirty="0"/>
          </a:p>
          <a:p>
            <a:pPr lvl="1"/>
            <a:r>
              <a:rPr lang="en-US" altLang="zh-CN" dirty="0"/>
              <a:t>850 nm</a:t>
            </a:r>
            <a:r>
              <a:rPr lang="zh-CN" altLang="en-US" dirty="0"/>
              <a:t>，</a:t>
            </a:r>
            <a:r>
              <a:rPr lang="en-US" altLang="zh-CN" dirty="0"/>
              <a:t> </a:t>
            </a:r>
          </a:p>
          <a:p>
            <a:pPr lvl="1"/>
            <a:r>
              <a:rPr lang="en-US" altLang="zh-CN" dirty="0"/>
              <a:t>1300 nm</a:t>
            </a:r>
            <a:r>
              <a:rPr lang="zh-CN" altLang="en-US" dirty="0"/>
              <a:t>，</a:t>
            </a:r>
            <a:r>
              <a:rPr lang="en-US" altLang="zh-CN" dirty="0"/>
              <a:t> </a:t>
            </a:r>
          </a:p>
          <a:p>
            <a:pPr lvl="1"/>
            <a:r>
              <a:rPr lang="en-US" altLang="zh-CN" dirty="0"/>
              <a:t>1550 nm</a:t>
            </a:r>
            <a:r>
              <a:rPr lang="zh-CN" altLang="en-US" dirty="0"/>
              <a:t>。</a:t>
            </a:r>
          </a:p>
          <a:p>
            <a:r>
              <a:rPr lang="zh-CN" altLang="en-US" dirty="0"/>
              <a:t>所有这三个波段都具有 </a:t>
            </a:r>
            <a:r>
              <a:rPr lang="en-US" altLang="zh-CN" dirty="0"/>
              <a:t>25000~30000 GHz </a:t>
            </a:r>
            <a:r>
              <a:rPr lang="zh-CN" altLang="en-US" dirty="0"/>
              <a:t>的带宽，通信容量非常大。</a:t>
            </a:r>
          </a:p>
          <a:p>
            <a:endParaRPr lang="zh-CN" altLang="en-US" dirty="0"/>
          </a:p>
        </p:txBody>
      </p:sp>
      <p:sp>
        <p:nvSpPr>
          <p:cNvPr id="2" name="文本占位符 1"/>
          <p:cNvSpPr>
            <a:spLocks noGrp="1"/>
          </p:cNvSpPr>
          <p:nvPr>
            <p:ph type="body" sz="quarter" idx="11"/>
          </p:nvPr>
        </p:nvSpPr>
        <p:spPr>
          <a:xfrm>
            <a:off x="1332000" y="360000"/>
            <a:ext cx="6480000" cy="354012"/>
          </a:xfrm>
        </p:spPr>
        <p:txBody>
          <a:bodyPr>
            <a:normAutofit fontScale="92500" lnSpcReduction="10000"/>
          </a:bodyPr>
          <a:lstStyle/>
          <a:p>
            <a:r>
              <a:rPr lang="zh-CN" altLang="en-US" dirty="0"/>
              <a:t>光纤通信中使用的光波的波段</a:t>
            </a:r>
          </a:p>
        </p:txBody>
      </p:sp>
      <p:grpSp>
        <p:nvGrpSpPr>
          <p:cNvPr id="4" name="组合 3"/>
          <p:cNvGrpSpPr/>
          <p:nvPr/>
        </p:nvGrpSpPr>
        <p:grpSpPr>
          <a:xfrm>
            <a:off x="4343012" y="1195600"/>
            <a:ext cx="4380412" cy="2727357"/>
            <a:chOff x="4343012" y="1195600"/>
            <a:chExt cx="4380412" cy="2727357"/>
          </a:xfrm>
        </p:grpSpPr>
        <p:grpSp>
          <p:nvGrpSpPr>
            <p:cNvPr id="57" name="组合 56"/>
            <p:cNvGrpSpPr/>
            <p:nvPr/>
          </p:nvGrpSpPr>
          <p:grpSpPr>
            <a:xfrm>
              <a:off x="4343012" y="1195600"/>
              <a:ext cx="4380412" cy="2727357"/>
              <a:chOff x="4432662" y="1372593"/>
              <a:chExt cx="4380412" cy="2727357"/>
            </a:xfrm>
          </p:grpSpPr>
          <p:grpSp>
            <p:nvGrpSpPr>
              <p:cNvPr id="47" name="组合 46"/>
              <p:cNvGrpSpPr/>
              <p:nvPr/>
            </p:nvGrpSpPr>
            <p:grpSpPr>
              <a:xfrm>
                <a:off x="4432662" y="1372593"/>
                <a:ext cx="4380412" cy="2727357"/>
                <a:chOff x="4146095" y="1471749"/>
                <a:chExt cx="5295819" cy="2740723"/>
              </a:xfrm>
            </p:grpSpPr>
            <p:grpSp>
              <p:nvGrpSpPr>
                <p:cNvPr id="44" name="组合 43"/>
                <p:cNvGrpSpPr/>
                <p:nvPr/>
              </p:nvGrpSpPr>
              <p:grpSpPr>
                <a:xfrm>
                  <a:off x="4715688" y="1471749"/>
                  <a:ext cx="4428312" cy="2468863"/>
                  <a:chOff x="4715688" y="1471749"/>
                  <a:chExt cx="4428312" cy="2468863"/>
                </a:xfrm>
              </p:grpSpPr>
              <p:cxnSp>
                <p:nvCxnSpPr>
                  <p:cNvPr id="7" name="直接连接符 6"/>
                  <p:cNvCxnSpPr/>
                  <p:nvPr/>
                </p:nvCxnSpPr>
                <p:spPr>
                  <a:xfrm>
                    <a:off x="4720046" y="1471749"/>
                    <a:ext cx="0" cy="2455817"/>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cxnSp>
                <p:nvCxnSpPr>
                  <p:cNvPr id="9" name="直接连接符 8"/>
                  <p:cNvCxnSpPr/>
                  <p:nvPr/>
                </p:nvCxnSpPr>
                <p:spPr>
                  <a:xfrm>
                    <a:off x="4720046" y="3927566"/>
                    <a:ext cx="4423954" cy="0"/>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cxnSp>
                <p:nvCxnSpPr>
                  <p:cNvPr id="14" name="直接连接符 13"/>
                  <p:cNvCxnSpPr/>
                  <p:nvPr/>
                </p:nvCxnSpPr>
                <p:spPr>
                  <a:xfrm>
                    <a:off x="4715688" y="3727269"/>
                    <a:ext cx="76072" cy="0"/>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cxnSp>
                <p:nvCxnSpPr>
                  <p:cNvPr id="17" name="直接连接符 16"/>
                  <p:cNvCxnSpPr/>
                  <p:nvPr/>
                </p:nvCxnSpPr>
                <p:spPr>
                  <a:xfrm>
                    <a:off x="4715688" y="3505202"/>
                    <a:ext cx="76072" cy="0"/>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cxnSp>
                <p:nvCxnSpPr>
                  <p:cNvPr id="18" name="直接连接符 17"/>
                  <p:cNvCxnSpPr/>
                  <p:nvPr/>
                </p:nvCxnSpPr>
                <p:spPr>
                  <a:xfrm>
                    <a:off x="4715688" y="3270069"/>
                    <a:ext cx="76072" cy="0"/>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cxnSp>
                <p:nvCxnSpPr>
                  <p:cNvPr id="19" name="直接连接符 18"/>
                  <p:cNvCxnSpPr/>
                  <p:nvPr/>
                </p:nvCxnSpPr>
                <p:spPr>
                  <a:xfrm>
                    <a:off x="4715688" y="3048002"/>
                    <a:ext cx="76072" cy="0"/>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cxnSp>
                <p:nvCxnSpPr>
                  <p:cNvPr id="20" name="直接连接符 19"/>
                  <p:cNvCxnSpPr/>
                  <p:nvPr/>
                </p:nvCxnSpPr>
                <p:spPr>
                  <a:xfrm>
                    <a:off x="4715688" y="3727269"/>
                    <a:ext cx="76072" cy="0"/>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cxnSp>
                <p:nvCxnSpPr>
                  <p:cNvPr id="21" name="直接连接符 20"/>
                  <p:cNvCxnSpPr/>
                  <p:nvPr/>
                </p:nvCxnSpPr>
                <p:spPr>
                  <a:xfrm>
                    <a:off x="4715688" y="3505202"/>
                    <a:ext cx="76072" cy="0"/>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cxnSp>
                <p:nvCxnSpPr>
                  <p:cNvPr id="22" name="直接连接符 21"/>
                  <p:cNvCxnSpPr/>
                  <p:nvPr/>
                </p:nvCxnSpPr>
                <p:spPr>
                  <a:xfrm>
                    <a:off x="4715688" y="2817218"/>
                    <a:ext cx="76072" cy="0"/>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cxnSp>
                <p:nvCxnSpPr>
                  <p:cNvPr id="23" name="直接连接符 22"/>
                  <p:cNvCxnSpPr/>
                  <p:nvPr/>
                </p:nvCxnSpPr>
                <p:spPr>
                  <a:xfrm>
                    <a:off x="4715688" y="2595151"/>
                    <a:ext cx="76072" cy="0"/>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cxnSp>
                <p:nvCxnSpPr>
                  <p:cNvPr id="24" name="直接连接符 23"/>
                  <p:cNvCxnSpPr/>
                  <p:nvPr/>
                </p:nvCxnSpPr>
                <p:spPr>
                  <a:xfrm>
                    <a:off x="4715688" y="2360018"/>
                    <a:ext cx="76072" cy="0"/>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cxnSp>
                <p:nvCxnSpPr>
                  <p:cNvPr id="25" name="直接连接符 24"/>
                  <p:cNvCxnSpPr/>
                  <p:nvPr/>
                </p:nvCxnSpPr>
                <p:spPr>
                  <a:xfrm>
                    <a:off x="4715688" y="2137951"/>
                    <a:ext cx="76072" cy="0"/>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cxnSp>
                <p:nvCxnSpPr>
                  <p:cNvPr id="26" name="直接连接符 25"/>
                  <p:cNvCxnSpPr/>
                  <p:nvPr/>
                </p:nvCxnSpPr>
                <p:spPr>
                  <a:xfrm>
                    <a:off x="4715688" y="2817218"/>
                    <a:ext cx="76072" cy="0"/>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cxnSp>
                <p:nvCxnSpPr>
                  <p:cNvPr id="27" name="直接连接符 26"/>
                  <p:cNvCxnSpPr/>
                  <p:nvPr/>
                </p:nvCxnSpPr>
                <p:spPr>
                  <a:xfrm>
                    <a:off x="4715688" y="2595151"/>
                    <a:ext cx="76072" cy="0"/>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cxnSp>
                <p:nvCxnSpPr>
                  <p:cNvPr id="28" name="直接连接符 27"/>
                  <p:cNvCxnSpPr/>
                  <p:nvPr/>
                </p:nvCxnSpPr>
                <p:spPr>
                  <a:xfrm>
                    <a:off x="4715688" y="1911527"/>
                    <a:ext cx="76072" cy="0"/>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cxnSp>
                <p:nvCxnSpPr>
                  <p:cNvPr id="29" name="直接连接符 28"/>
                  <p:cNvCxnSpPr/>
                  <p:nvPr/>
                </p:nvCxnSpPr>
                <p:spPr>
                  <a:xfrm>
                    <a:off x="4715688" y="1689460"/>
                    <a:ext cx="76072" cy="0"/>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cxnSp>
                <p:nvCxnSpPr>
                  <p:cNvPr id="31" name="直接连接符 30"/>
                  <p:cNvCxnSpPr/>
                  <p:nvPr/>
                </p:nvCxnSpPr>
                <p:spPr>
                  <a:xfrm>
                    <a:off x="5094514" y="3853526"/>
                    <a:ext cx="0" cy="87086"/>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cxnSp>
                <p:nvCxnSpPr>
                  <p:cNvPr id="33" name="直接连接符 32"/>
                  <p:cNvCxnSpPr/>
                  <p:nvPr/>
                </p:nvCxnSpPr>
                <p:spPr>
                  <a:xfrm>
                    <a:off x="5482044" y="3853526"/>
                    <a:ext cx="0" cy="87086"/>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cxnSp>
                <p:nvCxnSpPr>
                  <p:cNvPr id="34" name="直接连接符 33"/>
                  <p:cNvCxnSpPr/>
                  <p:nvPr/>
                </p:nvCxnSpPr>
                <p:spPr>
                  <a:xfrm>
                    <a:off x="5856517" y="3853526"/>
                    <a:ext cx="0" cy="87086"/>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cxnSp>
                <p:nvCxnSpPr>
                  <p:cNvPr id="35" name="直接连接符 34"/>
                  <p:cNvCxnSpPr/>
                  <p:nvPr/>
                </p:nvCxnSpPr>
                <p:spPr>
                  <a:xfrm>
                    <a:off x="6244047" y="3853526"/>
                    <a:ext cx="0" cy="87086"/>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cxnSp>
                <p:nvCxnSpPr>
                  <p:cNvPr id="36" name="直接连接符 35"/>
                  <p:cNvCxnSpPr/>
                  <p:nvPr/>
                </p:nvCxnSpPr>
                <p:spPr>
                  <a:xfrm>
                    <a:off x="6622875" y="3853526"/>
                    <a:ext cx="0" cy="87086"/>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cxnSp>
                <p:nvCxnSpPr>
                  <p:cNvPr id="37" name="直接连接符 36"/>
                  <p:cNvCxnSpPr/>
                  <p:nvPr/>
                </p:nvCxnSpPr>
                <p:spPr>
                  <a:xfrm>
                    <a:off x="7010405" y="3853526"/>
                    <a:ext cx="0" cy="87086"/>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cxnSp>
                <p:nvCxnSpPr>
                  <p:cNvPr id="38" name="直接连接符 37"/>
                  <p:cNvCxnSpPr/>
                  <p:nvPr/>
                </p:nvCxnSpPr>
                <p:spPr>
                  <a:xfrm>
                    <a:off x="7384878" y="3853526"/>
                    <a:ext cx="0" cy="87086"/>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cxnSp>
                <p:nvCxnSpPr>
                  <p:cNvPr id="39" name="直接连接符 38"/>
                  <p:cNvCxnSpPr/>
                  <p:nvPr/>
                </p:nvCxnSpPr>
                <p:spPr>
                  <a:xfrm>
                    <a:off x="7772408" y="3853526"/>
                    <a:ext cx="0" cy="87086"/>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cxnSp>
                <p:nvCxnSpPr>
                  <p:cNvPr id="40" name="直接连接符 39"/>
                  <p:cNvCxnSpPr/>
                  <p:nvPr/>
                </p:nvCxnSpPr>
                <p:spPr>
                  <a:xfrm>
                    <a:off x="8181709" y="3853526"/>
                    <a:ext cx="0" cy="87086"/>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cxnSp>
                <p:nvCxnSpPr>
                  <p:cNvPr id="41" name="直接连接符 40"/>
                  <p:cNvCxnSpPr/>
                  <p:nvPr/>
                </p:nvCxnSpPr>
                <p:spPr>
                  <a:xfrm>
                    <a:off x="8556182" y="3853526"/>
                    <a:ext cx="0" cy="87086"/>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cxnSp>
                <p:nvCxnSpPr>
                  <p:cNvPr id="42" name="直接连接符 41"/>
                  <p:cNvCxnSpPr/>
                  <p:nvPr/>
                </p:nvCxnSpPr>
                <p:spPr>
                  <a:xfrm>
                    <a:off x="8943712" y="3853526"/>
                    <a:ext cx="0" cy="87086"/>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grpSp>
            <p:sp>
              <p:nvSpPr>
                <p:cNvPr id="45" name="文本框 44"/>
                <p:cNvSpPr txBox="1"/>
                <p:nvPr/>
              </p:nvSpPr>
              <p:spPr>
                <a:xfrm>
                  <a:off x="4146095" y="1516996"/>
                  <a:ext cx="592182" cy="2400657"/>
                </a:xfrm>
                <a:prstGeom prst="rect">
                  <a:avLst/>
                </a:prstGeom>
                <a:noFill/>
              </p:spPr>
              <p:txBody>
                <a:bodyPr wrap="square" rtlCol="0">
                  <a:spAutoFit/>
                </a:bodyPr>
                <a:lstStyle/>
                <a:p>
                  <a:pPr algn="r">
                    <a:lnSpc>
                      <a:spcPts val="1800"/>
                    </a:lnSpc>
                  </a:pPr>
                  <a:r>
                    <a:rPr lang="en-US" altLang="zh-CN" sz="1200" b="1" dirty="0"/>
                    <a:t>2.0</a:t>
                  </a:r>
                </a:p>
                <a:p>
                  <a:pPr algn="r">
                    <a:lnSpc>
                      <a:spcPts val="1800"/>
                    </a:lnSpc>
                  </a:pPr>
                  <a:r>
                    <a:rPr lang="en-US" altLang="zh-CN" sz="1200" b="1" dirty="0"/>
                    <a:t>1.8</a:t>
                  </a:r>
                </a:p>
                <a:p>
                  <a:pPr algn="r">
                    <a:lnSpc>
                      <a:spcPts val="1800"/>
                    </a:lnSpc>
                  </a:pPr>
                  <a:r>
                    <a:rPr lang="en-US" altLang="zh-CN" sz="1200" b="1" dirty="0"/>
                    <a:t>1.6</a:t>
                  </a:r>
                </a:p>
                <a:p>
                  <a:pPr algn="r">
                    <a:lnSpc>
                      <a:spcPts val="1800"/>
                    </a:lnSpc>
                  </a:pPr>
                  <a:r>
                    <a:rPr lang="en-US" altLang="zh-CN" sz="1200" b="1" dirty="0"/>
                    <a:t>1.4</a:t>
                  </a:r>
                </a:p>
                <a:p>
                  <a:pPr algn="r">
                    <a:lnSpc>
                      <a:spcPts val="1800"/>
                    </a:lnSpc>
                  </a:pPr>
                  <a:r>
                    <a:rPr lang="en-US" altLang="zh-CN" sz="1200" b="1" dirty="0"/>
                    <a:t>1.2</a:t>
                  </a:r>
                </a:p>
                <a:p>
                  <a:pPr algn="r">
                    <a:lnSpc>
                      <a:spcPts val="1800"/>
                    </a:lnSpc>
                  </a:pPr>
                  <a:r>
                    <a:rPr lang="en-US" altLang="zh-CN" sz="1200" b="1" dirty="0"/>
                    <a:t>1.0</a:t>
                  </a:r>
                </a:p>
                <a:p>
                  <a:pPr algn="r">
                    <a:lnSpc>
                      <a:spcPts val="1800"/>
                    </a:lnSpc>
                  </a:pPr>
                  <a:r>
                    <a:rPr lang="en-US" altLang="zh-CN" sz="1200" b="1" dirty="0"/>
                    <a:t>0.8</a:t>
                  </a:r>
                </a:p>
                <a:p>
                  <a:pPr algn="r">
                    <a:lnSpc>
                      <a:spcPts val="1800"/>
                    </a:lnSpc>
                  </a:pPr>
                  <a:r>
                    <a:rPr lang="en-US" altLang="zh-CN" sz="1200" b="1" dirty="0"/>
                    <a:t>0.6</a:t>
                  </a:r>
                </a:p>
                <a:p>
                  <a:pPr algn="r">
                    <a:lnSpc>
                      <a:spcPts val="1800"/>
                    </a:lnSpc>
                  </a:pPr>
                  <a:r>
                    <a:rPr lang="en-US" altLang="zh-CN" sz="1200" b="1" dirty="0"/>
                    <a:t>0.4</a:t>
                  </a:r>
                </a:p>
                <a:p>
                  <a:pPr algn="r">
                    <a:lnSpc>
                      <a:spcPts val="1800"/>
                    </a:lnSpc>
                  </a:pPr>
                  <a:r>
                    <a:rPr lang="en-US" altLang="zh-CN" sz="1200" b="1" dirty="0"/>
                    <a:t>0.2</a:t>
                  </a:r>
                </a:p>
              </p:txBody>
            </p:sp>
            <p:sp>
              <p:nvSpPr>
                <p:cNvPr id="46" name="文本框 45"/>
                <p:cNvSpPr txBox="1"/>
                <p:nvPr/>
              </p:nvSpPr>
              <p:spPr>
                <a:xfrm>
                  <a:off x="4850674" y="3887723"/>
                  <a:ext cx="4591240" cy="324749"/>
                </a:xfrm>
                <a:prstGeom prst="rect">
                  <a:avLst/>
                </a:prstGeom>
                <a:noFill/>
              </p:spPr>
              <p:txBody>
                <a:bodyPr wrap="square" rtlCol="0">
                  <a:spAutoFit/>
                </a:bodyPr>
                <a:lstStyle/>
                <a:p>
                  <a:pPr>
                    <a:lnSpc>
                      <a:spcPts val="1800"/>
                    </a:lnSpc>
                  </a:pPr>
                  <a:r>
                    <a:rPr lang="en-US" altLang="zh-CN" sz="1200" b="1" dirty="0"/>
                    <a:t>0.8    0.9   1.0    1.1    1.2   1.3    1.4   1.5    1.6   1.7    1.8</a:t>
                  </a:r>
                </a:p>
              </p:txBody>
            </p:sp>
          </p:grpSp>
          <p:sp>
            <p:nvSpPr>
              <p:cNvPr id="48" name="矩形 47"/>
              <p:cNvSpPr/>
              <p:nvPr/>
            </p:nvSpPr>
            <p:spPr>
              <a:xfrm>
                <a:off x="5255302" y="1736569"/>
                <a:ext cx="246700" cy="2069999"/>
              </a:xfrm>
              <a:prstGeom prst="rect">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p:cNvSpPr/>
              <p:nvPr/>
            </p:nvSpPr>
            <p:spPr>
              <a:xfrm>
                <a:off x="6530575" y="1736569"/>
                <a:ext cx="563025" cy="2069999"/>
              </a:xfrm>
              <a:prstGeom prst="rect">
                <a:avLst/>
              </a:prstGeom>
              <a:solidFill>
                <a:srgbClr val="00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p:cNvSpPr/>
              <p:nvPr/>
            </p:nvSpPr>
            <p:spPr>
              <a:xfrm>
                <a:off x="7270353" y="1736569"/>
                <a:ext cx="661844" cy="2069999"/>
              </a:xfrm>
              <a:prstGeom prst="rect">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2" name="任意多边形 51"/>
            <p:cNvSpPr/>
            <p:nvPr/>
          </p:nvSpPr>
          <p:spPr>
            <a:xfrm>
              <a:off x="4925801" y="1334258"/>
              <a:ext cx="3443155" cy="2157381"/>
            </a:xfrm>
            <a:custGeom>
              <a:avLst/>
              <a:gdLst>
                <a:gd name="connsiteX0" fmla="*/ 0 w 4162697"/>
                <a:gd name="connsiteY0" fmla="*/ 0 h 2156407"/>
                <a:gd name="connsiteX1" fmla="*/ 278675 w 4162697"/>
                <a:gd name="connsiteY1" fmla="*/ 1524000 h 2156407"/>
                <a:gd name="connsiteX2" fmla="*/ 687977 w 4162697"/>
                <a:gd name="connsiteY2" fmla="*/ 1454331 h 2156407"/>
                <a:gd name="connsiteX3" fmla="*/ 827315 w 4162697"/>
                <a:gd name="connsiteY3" fmla="*/ 1576251 h 2156407"/>
                <a:gd name="connsiteX4" fmla="*/ 1480457 w 4162697"/>
                <a:gd name="connsiteY4" fmla="*/ 1968137 h 2156407"/>
                <a:gd name="connsiteX5" fmla="*/ 1593669 w 4162697"/>
                <a:gd name="connsiteY5" fmla="*/ 2072640 h 2156407"/>
                <a:gd name="connsiteX6" fmla="*/ 1776549 w 4162697"/>
                <a:gd name="connsiteY6" fmla="*/ 1907177 h 2156407"/>
                <a:gd name="connsiteX7" fmla="*/ 1933303 w 4162697"/>
                <a:gd name="connsiteY7" fmla="*/ 2098765 h 2156407"/>
                <a:gd name="connsiteX8" fmla="*/ 2403566 w 4162697"/>
                <a:gd name="connsiteY8" fmla="*/ 2098765 h 2156407"/>
                <a:gd name="connsiteX9" fmla="*/ 2569029 w 4162697"/>
                <a:gd name="connsiteY9" fmla="*/ 1541417 h 2156407"/>
                <a:gd name="connsiteX10" fmla="*/ 2708366 w 4162697"/>
                <a:gd name="connsiteY10" fmla="*/ 1985554 h 2156407"/>
                <a:gd name="connsiteX11" fmla="*/ 3187337 w 4162697"/>
                <a:gd name="connsiteY11" fmla="*/ 2116183 h 2156407"/>
                <a:gd name="connsiteX12" fmla="*/ 3640183 w 4162697"/>
                <a:gd name="connsiteY12" fmla="*/ 1314994 h 2156407"/>
                <a:gd name="connsiteX13" fmla="*/ 4162697 w 4162697"/>
                <a:gd name="connsiteY13" fmla="*/ 139337 h 2156407"/>
                <a:gd name="connsiteX14" fmla="*/ 4162697 w 4162697"/>
                <a:gd name="connsiteY14" fmla="*/ 139337 h 2156407"/>
                <a:gd name="connsiteX0" fmla="*/ 0 w 4162697"/>
                <a:gd name="connsiteY0" fmla="*/ 0 h 2156407"/>
                <a:gd name="connsiteX1" fmla="*/ 243840 w 4162697"/>
                <a:gd name="connsiteY1" fmla="*/ 1393372 h 2156407"/>
                <a:gd name="connsiteX2" fmla="*/ 687977 w 4162697"/>
                <a:gd name="connsiteY2" fmla="*/ 1454331 h 2156407"/>
                <a:gd name="connsiteX3" fmla="*/ 827315 w 4162697"/>
                <a:gd name="connsiteY3" fmla="*/ 1576251 h 2156407"/>
                <a:gd name="connsiteX4" fmla="*/ 1480457 w 4162697"/>
                <a:gd name="connsiteY4" fmla="*/ 1968137 h 2156407"/>
                <a:gd name="connsiteX5" fmla="*/ 1593669 w 4162697"/>
                <a:gd name="connsiteY5" fmla="*/ 2072640 h 2156407"/>
                <a:gd name="connsiteX6" fmla="*/ 1776549 w 4162697"/>
                <a:gd name="connsiteY6" fmla="*/ 1907177 h 2156407"/>
                <a:gd name="connsiteX7" fmla="*/ 1933303 w 4162697"/>
                <a:gd name="connsiteY7" fmla="*/ 2098765 h 2156407"/>
                <a:gd name="connsiteX8" fmla="*/ 2403566 w 4162697"/>
                <a:gd name="connsiteY8" fmla="*/ 2098765 h 2156407"/>
                <a:gd name="connsiteX9" fmla="*/ 2569029 w 4162697"/>
                <a:gd name="connsiteY9" fmla="*/ 1541417 h 2156407"/>
                <a:gd name="connsiteX10" fmla="*/ 2708366 w 4162697"/>
                <a:gd name="connsiteY10" fmla="*/ 1985554 h 2156407"/>
                <a:gd name="connsiteX11" fmla="*/ 3187337 w 4162697"/>
                <a:gd name="connsiteY11" fmla="*/ 2116183 h 2156407"/>
                <a:gd name="connsiteX12" fmla="*/ 3640183 w 4162697"/>
                <a:gd name="connsiteY12" fmla="*/ 1314994 h 2156407"/>
                <a:gd name="connsiteX13" fmla="*/ 4162697 w 4162697"/>
                <a:gd name="connsiteY13" fmla="*/ 139337 h 2156407"/>
                <a:gd name="connsiteX14" fmla="*/ 4162697 w 4162697"/>
                <a:gd name="connsiteY14" fmla="*/ 139337 h 2156407"/>
                <a:gd name="connsiteX0" fmla="*/ 0 w 4162697"/>
                <a:gd name="connsiteY0" fmla="*/ 0 h 2156407"/>
                <a:gd name="connsiteX1" fmla="*/ 243840 w 4162697"/>
                <a:gd name="connsiteY1" fmla="*/ 1393372 h 2156407"/>
                <a:gd name="connsiteX2" fmla="*/ 714103 w 4162697"/>
                <a:gd name="connsiteY2" fmla="*/ 1358537 h 2156407"/>
                <a:gd name="connsiteX3" fmla="*/ 827315 w 4162697"/>
                <a:gd name="connsiteY3" fmla="*/ 1576251 h 2156407"/>
                <a:gd name="connsiteX4" fmla="*/ 1480457 w 4162697"/>
                <a:gd name="connsiteY4" fmla="*/ 1968137 h 2156407"/>
                <a:gd name="connsiteX5" fmla="*/ 1593669 w 4162697"/>
                <a:gd name="connsiteY5" fmla="*/ 2072640 h 2156407"/>
                <a:gd name="connsiteX6" fmla="*/ 1776549 w 4162697"/>
                <a:gd name="connsiteY6" fmla="*/ 1907177 h 2156407"/>
                <a:gd name="connsiteX7" fmla="*/ 1933303 w 4162697"/>
                <a:gd name="connsiteY7" fmla="*/ 2098765 h 2156407"/>
                <a:gd name="connsiteX8" fmla="*/ 2403566 w 4162697"/>
                <a:gd name="connsiteY8" fmla="*/ 2098765 h 2156407"/>
                <a:gd name="connsiteX9" fmla="*/ 2569029 w 4162697"/>
                <a:gd name="connsiteY9" fmla="*/ 1541417 h 2156407"/>
                <a:gd name="connsiteX10" fmla="*/ 2708366 w 4162697"/>
                <a:gd name="connsiteY10" fmla="*/ 1985554 h 2156407"/>
                <a:gd name="connsiteX11" fmla="*/ 3187337 w 4162697"/>
                <a:gd name="connsiteY11" fmla="*/ 2116183 h 2156407"/>
                <a:gd name="connsiteX12" fmla="*/ 3640183 w 4162697"/>
                <a:gd name="connsiteY12" fmla="*/ 1314994 h 2156407"/>
                <a:gd name="connsiteX13" fmla="*/ 4162697 w 4162697"/>
                <a:gd name="connsiteY13" fmla="*/ 139337 h 2156407"/>
                <a:gd name="connsiteX14" fmla="*/ 4162697 w 4162697"/>
                <a:gd name="connsiteY14" fmla="*/ 139337 h 2156407"/>
                <a:gd name="connsiteX0" fmla="*/ 0 w 4162697"/>
                <a:gd name="connsiteY0" fmla="*/ 0 h 2156407"/>
                <a:gd name="connsiteX1" fmla="*/ 243840 w 4162697"/>
                <a:gd name="connsiteY1" fmla="*/ 1393372 h 2156407"/>
                <a:gd name="connsiteX2" fmla="*/ 714103 w 4162697"/>
                <a:gd name="connsiteY2" fmla="*/ 1358537 h 2156407"/>
                <a:gd name="connsiteX3" fmla="*/ 836024 w 4162697"/>
                <a:gd name="connsiteY3" fmla="*/ 1576251 h 2156407"/>
                <a:gd name="connsiteX4" fmla="*/ 1480457 w 4162697"/>
                <a:gd name="connsiteY4" fmla="*/ 1968137 h 2156407"/>
                <a:gd name="connsiteX5" fmla="*/ 1593669 w 4162697"/>
                <a:gd name="connsiteY5" fmla="*/ 2072640 h 2156407"/>
                <a:gd name="connsiteX6" fmla="*/ 1776549 w 4162697"/>
                <a:gd name="connsiteY6" fmla="*/ 1907177 h 2156407"/>
                <a:gd name="connsiteX7" fmla="*/ 1933303 w 4162697"/>
                <a:gd name="connsiteY7" fmla="*/ 2098765 h 2156407"/>
                <a:gd name="connsiteX8" fmla="*/ 2403566 w 4162697"/>
                <a:gd name="connsiteY8" fmla="*/ 2098765 h 2156407"/>
                <a:gd name="connsiteX9" fmla="*/ 2569029 w 4162697"/>
                <a:gd name="connsiteY9" fmla="*/ 1541417 h 2156407"/>
                <a:gd name="connsiteX10" fmla="*/ 2708366 w 4162697"/>
                <a:gd name="connsiteY10" fmla="*/ 1985554 h 2156407"/>
                <a:gd name="connsiteX11" fmla="*/ 3187337 w 4162697"/>
                <a:gd name="connsiteY11" fmla="*/ 2116183 h 2156407"/>
                <a:gd name="connsiteX12" fmla="*/ 3640183 w 4162697"/>
                <a:gd name="connsiteY12" fmla="*/ 1314994 h 2156407"/>
                <a:gd name="connsiteX13" fmla="*/ 4162697 w 4162697"/>
                <a:gd name="connsiteY13" fmla="*/ 139337 h 2156407"/>
                <a:gd name="connsiteX14" fmla="*/ 4162697 w 4162697"/>
                <a:gd name="connsiteY14" fmla="*/ 139337 h 2156407"/>
                <a:gd name="connsiteX0" fmla="*/ 0 w 4162697"/>
                <a:gd name="connsiteY0" fmla="*/ 0 h 2156407"/>
                <a:gd name="connsiteX1" fmla="*/ 243840 w 4162697"/>
                <a:gd name="connsiteY1" fmla="*/ 1393372 h 2156407"/>
                <a:gd name="connsiteX2" fmla="*/ 714103 w 4162697"/>
                <a:gd name="connsiteY2" fmla="*/ 1358537 h 2156407"/>
                <a:gd name="connsiteX3" fmla="*/ 836024 w 4162697"/>
                <a:gd name="connsiteY3" fmla="*/ 1576251 h 2156407"/>
                <a:gd name="connsiteX4" fmla="*/ 1480457 w 4162697"/>
                <a:gd name="connsiteY4" fmla="*/ 1968137 h 2156407"/>
                <a:gd name="connsiteX5" fmla="*/ 1593669 w 4162697"/>
                <a:gd name="connsiteY5" fmla="*/ 2072640 h 2156407"/>
                <a:gd name="connsiteX6" fmla="*/ 1776549 w 4162697"/>
                <a:gd name="connsiteY6" fmla="*/ 1907177 h 2156407"/>
                <a:gd name="connsiteX7" fmla="*/ 1933303 w 4162697"/>
                <a:gd name="connsiteY7" fmla="*/ 2098765 h 2156407"/>
                <a:gd name="connsiteX8" fmla="*/ 2403566 w 4162697"/>
                <a:gd name="connsiteY8" fmla="*/ 2098765 h 2156407"/>
                <a:gd name="connsiteX9" fmla="*/ 2569029 w 4162697"/>
                <a:gd name="connsiteY9" fmla="*/ 1541417 h 2156407"/>
                <a:gd name="connsiteX10" fmla="*/ 2708366 w 4162697"/>
                <a:gd name="connsiteY10" fmla="*/ 1985554 h 2156407"/>
                <a:gd name="connsiteX11" fmla="*/ 3187337 w 4162697"/>
                <a:gd name="connsiteY11" fmla="*/ 2116183 h 2156407"/>
                <a:gd name="connsiteX12" fmla="*/ 3640183 w 4162697"/>
                <a:gd name="connsiteY12" fmla="*/ 1314994 h 2156407"/>
                <a:gd name="connsiteX13" fmla="*/ 4162697 w 4162697"/>
                <a:gd name="connsiteY13" fmla="*/ 139337 h 2156407"/>
                <a:gd name="connsiteX14" fmla="*/ 4162697 w 4162697"/>
                <a:gd name="connsiteY14" fmla="*/ 139337 h 2156407"/>
                <a:gd name="connsiteX0" fmla="*/ 0 w 4162697"/>
                <a:gd name="connsiteY0" fmla="*/ 0 h 2156407"/>
                <a:gd name="connsiteX1" fmla="*/ 243840 w 4162697"/>
                <a:gd name="connsiteY1" fmla="*/ 1393372 h 2156407"/>
                <a:gd name="connsiteX2" fmla="*/ 714103 w 4162697"/>
                <a:gd name="connsiteY2" fmla="*/ 1358537 h 2156407"/>
                <a:gd name="connsiteX3" fmla="*/ 836024 w 4162697"/>
                <a:gd name="connsiteY3" fmla="*/ 1576251 h 2156407"/>
                <a:gd name="connsiteX4" fmla="*/ 1480457 w 4162697"/>
                <a:gd name="connsiteY4" fmla="*/ 1968137 h 2156407"/>
                <a:gd name="connsiteX5" fmla="*/ 1576252 w 4162697"/>
                <a:gd name="connsiteY5" fmla="*/ 2081349 h 2156407"/>
                <a:gd name="connsiteX6" fmla="*/ 1776549 w 4162697"/>
                <a:gd name="connsiteY6" fmla="*/ 1907177 h 2156407"/>
                <a:gd name="connsiteX7" fmla="*/ 1933303 w 4162697"/>
                <a:gd name="connsiteY7" fmla="*/ 2098765 h 2156407"/>
                <a:gd name="connsiteX8" fmla="*/ 2403566 w 4162697"/>
                <a:gd name="connsiteY8" fmla="*/ 2098765 h 2156407"/>
                <a:gd name="connsiteX9" fmla="*/ 2569029 w 4162697"/>
                <a:gd name="connsiteY9" fmla="*/ 1541417 h 2156407"/>
                <a:gd name="connsiteX10" fmla="*/ 2708366 w 4162697"/>
                <a:gd name="connsiteY10" fmla="*/ 1985554 h 2156407"/>
                <a:gd name="connsiteX11" fmla="*/ 3187337 w 4162697"/>
                <a:gd name="connsiteY11" fmla="*/ 2116183 h 2156407"/>
                <a:gd name="connsiteX12" fmla="*/ 3640183 w 4162697"/>
                <a:gd name="connsiteY12" fmla="*/ 1314994 h 2156407"/>
                <a:gd name="connsiteX13" fmla="*/ 4162697 w 4162697"/>
                <a:gd name="connsiteY13" fmla="*/ 139337 h 2156407"/>
                <a:gd name="connsiteX14" fmla="*/ 4162697 w 4162697"/>
                <a:gd name="connsiteY14" fmla="*/ 139337 h 2156407"/>
                <a:gd name="connsiteX0" fmla="*/ 0 w 4162697"/>
                <a:gd name="connsiteY0" fmla="*/ 0 h 2156407"/>
                <a:gd name="connsiteX1" fmla="*/ 243840 w 4162697"/>
                <a:gd name="connsiteY1" fmla="*/ 1393372 h 2156407"/>
                <a:gd name="connsiteX2" fmla="*/ 714103 w 4162697"/>
                <a:gd name="connsiteY2" fmla="*/ 1358537 h 2156407"/>
                <a:gd name="connsiteX3" fmla="*/ 836024 w 4162697"/>
                <a:gd name="connsiteY3" fmla="*/ 1576251 h 2156407"/>
                <a:gd name="connsiteX4" fmla="*/ 1480457 w 4162697"/>
                <a:gd name="connsiteY4" fmla="*/ 1968137 h 2156407"/>
                <a:gd name="connsiteX5" fmla="*/ 1576252 w 4162697"/>
                <a:gd name="connsiteY5" fmla="*/ 2081349 h 2156407"/>
                <a:gd name="connsiteX6" fmla="*/ 1785258 w 4162697"/>
                <a:gd name="connsiteY6" fmla="*/ 1959429 h 2156407"/>
                <a:gd name="connsiteX7" fmla="*/ 1933303 w 4162697"/>
                <a:gd name="connsiteY7" fmla="*/ 2098765 h 2156407"/>
                <a:gd name="connsiteX8" fmla="*/ 2403566 w 4162697"/>
                <a:gd name="connsiteY8" fmla="*/ 2098765 h 2156407"/>
                <a:gd name="connsiteX9" fmla="*/ 2569029 w 4162697"/>
                <a:gd name="connsiteY9" fmla="*/ 1541417 h 2156407"/>
                <a:gd name="connsiteX10" fmla="*/ 2708366 w 4162697"/>
                <a:gd name="connsiteY10" fmla="*/ 1985554 h 2156407"/>
                <a:gd name="connsiteX11" fmla="*/ 3187337 w 4162697"/>
                <a:gd name="connsiteY11" fmla="*/ 2116183 h 2156407"/>
                <a:gd name="connsiteX12" fmla="*/ 3640183 w 4162697"/>
                <a:gd name="connsiteY12" fmla="*/ 1314994 h 2156407"/>
                <a:gd name="connsiteX13" fmla="*/ 4162697 w 4162697"/>
                <a:gd name="connsiteY13" fmla="*/ 139337 h 2156407"/>
                <a:gd name="connsiteX14" fmla="*/ 4162697 w 4162697"/>
                <a:gd name="connsiteY14" fmla="*/ 139337 h 2156407"/>
                <a:gd name="connsiteX0" fmla="*/ 0 w 4162697"/>
                <a:gd name="connsiteY0" fmla="*/ 0 h 2161928"/>
                <a:gd name="connsiteX1" fmla="*/ 243840 w 4162697"/>
                <a:gd name="connsiteY1" fmla="*/ 1393372 h 2161928"/>
                <a:gd name="connsiteX2" fmla="*/ 714103 w 4162697"/>
                <a:gd name="connsiteY2" fmla="*/ 1358537 h 2161928"/>
                <a:gd name="connsiteX3" fmla="*/ 836024 w 4162697"/>
                <a:gd name="connsiteY3" fmla="*/ 1576251 h 2161928"/>
                <a:gd name="connsiteX4" fmla="*/ 1480457 w 4162697"/>
                <a:gd name="connsiteY4" fmla="*/ 1968137 h 2161928"/>
                <a:gd name="connsiteX5" fmla="*/ 1576252 w 4162697"/>
                <a:gd name="connsiteY5" fmla="*/ 2081349 h 2161928"/>
                <a:gd name="connsiteX6" fmla="*/ 1785258 w 4162697"/>
                <a:gd name="connsiteY6" fmla="*/ 1959429 h 2161928"/>
                <a:gd name="connsiteX7" fmla="*/ 1942011 w 4162697"/>
                <a:gd name="connsiteY7" fmla="*/ 2133600 h 2161928"/>
                <a:gd name="connsiteX8" fmla="*/ 2403566 w 4162697"/>
                <a:gd name="connsiteY8" fmla="*/ 2098765 h 2161928"/>
                <a:gd name="connsiteX9" fmla="*/ 2569029 w 4162697"/>
                <a:gd name="connsiteY9" fmla="*/ 1541417 h 2161928"/>
                <a:gd name="connsiteX10" fmla="*/ 2708366 w 4162697"/>
                <a:gd name="connsiteY10" fmla="*/ 1985554 h 2161928"/>
                <a:gd name="connsiteX11" fmla="*/ 3187337 w 4162697"/>
                <a:gd name="connsiteY11" fmla="*/ 2116183 h 2161928"/>
                <a:gd name="connsiteX12" fmla="*/ 3640183 w 4162697"/>
                <a:gd name="connsiteY12" fmla="*/ 1314994 h 2161928"/>
                <a:gd name="connsiteX13" fmla="*/ 4162697 w 4162697"/>
                <a:gd name="connsiteY13" fmla="*/ 139337 h 2161928"/>
                <a:gd name="connsiteX14" fmla="*/ 4162697 w 4162697"/>
                <a:gd name="connsiteY14" fmla="*/ 139337 h 2161928"/>
                <a:gd name="connsiteX0" fmla="*/ 0 w 4162697"/>
                <a:gd name="connsiteY0" fmla="*/ 0 h 2163001"/>
                <a:gd name="connsiteX1" fmla="*/ 243840 w 4162697"/>
                <a:gd name="connsiteY1" fmla="*/ 1393372 h 2163001"/>
                <a:gd name="connsiteX2" fmla="*/ 714103 w 4162697"/>
                <a:gd name="connsiteY2" fmla="*/ 1358537 h 2163001"/>
                <a:gd name="connsiteX3" fmla="*/ 836024 w 4162697"/>
                <a:gd name="connsiteY3" fmla="*/ 1576251 h 2163001"/>
                <a:gd name="connsiteX4" fmla="*/ 1480457 w 4162697"/>
                <a:gd name="connsiteY4" fmla="*/ 1968137 h 2163001"/>
                <a:gd name="connsiteX5" fmla="*/ 1576252 w 4162697"/>
                <a:gd name="connsiteY5" fmla="*/ 2081349 h 2163001"/>
                <a:gd name="connsiteX6" fmla="*/ 1785258 w 4162697"/>
                <a:gd name="connsiteY6" fmla="*/ 1959429 h 2163001"/>
                <a:gd name="connsiteX7" fmla="*/ 1942011 w 4162697"/>
                <a:gd name="connsiteY7" fmla="*/ 2133600 h 2163001"/>
                <a:gd name="connsiteX8" fmla="*/ 2403566 w 4162697"/>
                <a:gd name="connsiteY8" fmla="*/ 2098765 h 2163001"/>
                <a:gd name="connsiteX9" fmla="*/ 2569029 w 4162697"/>
                <a:gd name="connsiteY9" fmla="*/ 1541417 h 2163001"/>
                <a:gd name="connsiteX10" fmla="*/ 2743200 w 4162697"/>
                <a:gd name="connsiteY10" fmla="*/ 2011680 h 2163001"/>
                <a:gd name="connsiteX11" fmla="*/ 3187337 w 4162697"/>
                <a:gd name="connsiteY11" fmla="*/ 2116183 h 2163001"/>
                <a:gd name="connsiteX12" fmla="*/ 3640183 w 4162697"/>
                <a:gd name="connsiteY12" fmla="*/ 1314994 h 2163001"/>
                <a:gd name="connsiteX13" fmla="*/ 4162697 w 4162697"/>
                <a:gd name="connsiteY13" fmla="*/ 139337 h 2163001"/>
                <a:gd name="connsiteX14" fmla="*/ 4162697 w 4162697"/>
                <a:gd name="connsiteY14" fmla="*/ 139337 h 2163001"/>
                <a:gd name="connsiteX0" fmla="*/ 0 w 4162697"/>
                <a:gd name="connsiteY0" fmla="*/ 0 h 2167955"/>
                <a:gd name="connsiteX1" fmla="*/ 243840 w 4162697"/>
                <a:gd name="connsiteY1" fmla="*/ 1393372 h 2167955"/>
                <a:gd name="connsiteX2" fmla="*/ 714103 w 4162697"/>
                <a:gd name="connsiteY2" fmla="*/ 1358537 h 2167955"/>
                <a:gd name="connsiteX3" fmla="*/ 836024 w 4162697"/>
                <a:gd name="connsiteY3" fmla="*/ 1576251 h 2167955"/>
                <a:gd name="connsiteX4" fmla="*/ 1480457 w 4162697"/>
                <a:gd name="connsiteY4" fmla="*/ 1968137 h 2167955"/>
                <a:gd name="connsiteX5" fmla="*/ 1576252 w 4162697"/>
                <a:gd name="connsiteY5" fmla="*/ 2081349 h 2167955"/>
                <a:gd name="connsiteX6" fmla="*/ 1785258 w 4162697"/>
                <a:gd name="connsiteY6" fmla="*/ 1959429 h 2167955"/>
                <a:gd name="connsiteX7" fmla="*/ 1942011 w 4162697"/>
                <a:gd name="connsiteY7" fmla="*/ 2133600 h 2167955"/>
                <a:gd name="connsiteX8" fmla="*/ 2403566 w 4162697"/>
                <a:gd name="connsiteY8" fmla="*/ 2098765 h 2167955"/>
                <a:gd name="connsiteX9" fmla="*/ 2569029 w 4162697"/>
                <a:gd name="connsiteY9" fmla="*/ 1541417 h 2167955"/>
                <a:gd name="connsiteX10" fmla="*/ 2743200 w 4162697"/>
                <a:gd name="connsiteY10" fmla="*/ 2011680 h 2167955"/>
                <a:gd name="connsiteX11" fmla="*/ 3187337 w 4162697"/>
                <a:gd name="connsiteY11" fmla="*/ 2116183 h 2167955"/>
                <a:gd name="connsiteX12" fmla="*/ 3640183 w 4162697"/>
                <a:gd name="connsiteY12" fmla="*/ 1314994 h 2167955"/>
                <a:gd name="connsiteX13" fmla="*/ 4162697 w 4162697"/>
                <a:gd name="connsiteY13" fmla="*/ 139337 h 2167955"/>
                <a:gd name="connsiteX14" fmla="*/ 4162697 w 4162697"/>
                <a:gd name="connsiteY14" fmla="*/ 139337 h 2167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62697" h="2167955">
                  <a:moveTo>
                    <a:pt x="0" y="0"/>
                  </a:moveTo>
                  <a:cubicBezTo>
                    <a:pt x="82006" y="640806"/>
                    <a:pt x="124823" y="1166949"/>
                    <a:pt x="243840" y="1393372"/>
                  </a:cubicBezTo>
                  <a:cubicBezTo>
                    <a:pt x="362857" y="1619795"/>
                    <a:pt x="615406" y="1328057"/>
                    <a:pt x="714103" y="1358537"/>
                  </a:cubicBezTo>
                  <a:cubicBezTo>
                    <a:pt x="812800" y="1389017"/>
                    <a:pt x="708298" y="1474651"/>
                    <a:pt x="836024" y="1576251"/>
                  </a:cubicBezTo>
                  <a:cubicBezTo>
                    <a:pt x="963750" y="1677851"/>
                    <a:pt x="1357086" y="1883954"/>
                    <a:pt x="1480457" y="1968137"/>
                  </a:cubicBezTo>
                  <a:cubicBezTo>
                    <a:pt x="1603828" y="2052320"/>
                    <a:pt x="1525452" y="2082800"/>
                    <a:pt x="1576252" y="2081349"/>
                  </a:cubicBezTo>
                  <a:cubicBezTo>
                    <a:pt x="1627052" y="2079898"/>
                    <a:pt x="1724298" y="1950721"/>
                    <a:pt x="1785258" y="1959429"/>
                  </a:cubicBezTo>
                  <a:cubicBezTo>
                    <a:pt x="1846218" y="1968138"/>
                    <a:pt x="1838960" y="2110377"/>
                    <a:pt x="1942011" y="2133600"/>
                  </a:cubicBezTo>
                  <a:cubicBezTo>
                    <a:pt x="2045062" y="2156823"/>
                    <a:pt x="2299063" y="2197462"/>
                    <a:pt x="2403566" y="2098765"/>
                  </a:cubicBezTo>
                  <a:cubicBezTo>
                    <a:pt x="2508069" y="2000068"/>
                    <a:pt x="2512423" y="1555931"/>
                    <a:pt x="2569029" y="1541417"/>
                  </a:cubicBezTo>
                  <a:cubicBezTo>
                    <a:pt x="2625635" y="1526903"/>
                    <a:pt x="2631441" y="1889760"/>
                    <a:pt x="2743200" y="2011680"/>
                  </a:cubicBezTo>
                  <a:cubicBezTo>
                    <a:pt x="2854959" y="2133600"/>
                    <a:pt x="3037840" y="2232297"/>
                    <a:pt x="3187337" y="2116183"/>
                  </a:cubicBezTo>
                  <a:cubicBezTo>
                    <a:pt x="3336834" y="2000069"/>
                    <a:pt x="3477623" y="1644468"/>
                    <a:pt x="3640183" y="1314994"/>
                  </a:cubicBezTo>
                  <a:cubicBezTo>
                    <a:pt x="3802743" y="985520"/>
                    <a:pt x="4162697" y="139337"/>
                    <a:pt x="4162697" y="139337"/>
                  </a:cubicBezTo>
                  <a:lnTo>
                    <a:pt x="4162697" y="139337"/>
                  </a:lnTo>
                </a:path>
              </a:pathLst>
            </a:custGeom>
            <a:noFill/>
            <a:ln>
              <a:solidFill>
                <a:srgbClr val="99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4" name="Text Box 18"/>
          <p:cNvSpPr txBox="1">
            <a:spLocks noChangeArrowheads="1"/>
          </p:cNvSpPr>
          <p:nvPr/>
        </p:nvSpPr>
        <p:spPr bwMode="auto">
          <a:xfrm>
            <a:off x="5845913" y="3860708"/>
            <a:ext cx="181396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400" b="1" dirty="0">
                <a:latin typeface="微软雅黑" pitchFamily="34" charset="-122"/>
                <a:ea typeface="微软雅黑" pitchFamily="34" charset="-122"/>
              </a:rPr>
              <a:t>波长 </a:t>
            </a:r>
            <a:r>
              <a:rPr kumimoji="1" lang="en-US" altLang="zh-CN" sz="1400" b="1" dirty="0">
                <a:latin typeface="微软雅黑" pitchFamily="34" charset="-122"/>
                <a:ea typeface="微软雅黑" pitchFamily="34" charset="-122"/>
              </a:rPr>
              <a:t>(</a:t>
            </a:r>
            <a:r>
              <a:rPr kumimoji="1" lang="en-US" altLang="zh-CN" sz="1400" b="1" dirty="0" err="1">
                <a:latin typeface="微软雅黑" pitchFamily="34" charset="-122"/>
                <a:ea typeface="微软雅黑" pitchFamily="34" charset="-122"/>
              </a:rPr>
              <a:t>μm</a:t>
            </a:r>
            <a:r>
              <a:rPr kumimoji="1" lang="en-US" altLang="zh-CN" sz="1400" b="1" dirty="0">
                <a:latin typeface="微软雅黑" pitchFamily="34" charset="-122"/>
                <a:ea typeface="微软雅黑" pitchFamily="34" charset="-122"/>
              </a:rPr>
              <a:t>)</a:t>
            </a:r>
            <a:endParaRPr kumimoji="1" lang="zh-CN" altLang="en-US" sz="1400" b="1" dirty="0">
              <a:latin typeface="微软雅黑" pitchFamily="34" charset="-122"/>
              <a:ea typeface="微软雅黑" pitchFamily="34" charset="-122"/>
            </a:endParaRPr>
          </a:p>
        </p:txBody>
      </p:sp>
      <p:sp>
        <p:nvSpPr>
          <p:cNvPr id="55" name="Text Box 18"/>
          <p:cNvSpPr txBox="1">
            <a:spLocks noChangeArrowheads="1"/>
          </p:cNvSpPr>
          <p:nvPr/>
        </p:nvSpPr>
        <p:spPr bwMode="auto">
          <a:xfrm>
            <a:off x="3649166" y="1960407"/>
            <a:ext cx="92264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a:spAutoFit/>
          </a:bodyPr>
          <a:lstStyle/>
          <a:p>
            <a:pPr algn="ctr"/>
            <a:r>
              <a:rPr kumimoji="1" lang="zh-CN" altLang="en-US" sz="1400" b="1" dirty="0">
                <a:latin typeface="微软雅黑" pitchFamily="34" charset="-122"/>
                <a:ea typeface="微软雅黑" pitchFamily="34" charset="-122"/>
              </a:rPr>
              <a:t>衰减 </a:t>
            </a:r>
            <a:r>
              <a:rPr kumimoji="1" lang="en-US" altLang="zh-CN" sz="1400" b="1" dirty="0">
                <a:latin typeface="微软雅黑" pitchFamily="34" charset="-122"/>
                <a:ea typeface="微软雅黑" pitchFamily="34" charset="-122"/>
              </a:rPr>
              <a:t>(dB/km )</a:t>
            </a:r>
            <a:endParaRPr kumimoji="1" lang="zh-CN" altLang="en-US" sz="1400" b="1" dirty="0">
              <a:latin typeface="微软雅黑" pitchFamily="34" charset="-122"/>
              <a:ea typeface="微软雅黑" pitchFamily="34" charset="-122"/>
            </a:endParaRPr>
          </a:p>
        </p:txBody>
      </p:sp>
    </p:spTree>
    <p:extLst>
      <p:ext uri="{BB962C8B-B14F-4D97-AF65-F5344CB8AC3E}">
        <p14:creationId xmlns:p14="http://schemas.microsoft.com/office/powerpoint/2010/main" val="26545432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a:xfrm>
            <a:off x="466343" y="900000"/>
            <a:ext cx="8129017" cy="3376990"/>
          </a:xfrm>
        </p:spPr>
        <p:txBody>
          <a:bodyPr/>
          <a:lstStyle/>
          <a:p>
            <a:r>
              <a:rPr lang="zh-CN" altLang="en-US" dirty="0"/>
              <a:t>必须将光纤做成很结实的光缆。</a:t>
            </a:r>
            <a:endParaRPr lang="en-US" altLang="zh-CN" dirty="0"/>
          </a:p>
          <a:p>
            <a:pPr lvl="1"/>
            <a:r>
              <a:rPr lang="zh-CN" altLang="en-US" dirty="0"/>
              <a:t>数十至数百根光纤，</a:t>
            </a:r>
            <a:endParaRPr lang="en-US" altLang="zh-CN" dirty="0"/>
          </a:p>
          <a:p>
            <a:pPr lvl="1"/>
            <a:r>
              <a:rPr lang="zh-CN" altLang="en-US" dirty="0"/>
              <a:t>加强芯和填充物，</a:t>
            </a:r>
            <a:endParaRPr lang="en-US" altLang="zh-CN" dirty="0"/>
          </a:p>
          <a:p>
            <a:pPr lvl="1"/>
            <a:r>
              <a:rPr lang="zh-CN" altLang="en-US" dirty="0"/>
              <a:t>必要时还可放入远供电源线，</a:t>
            </a:r>
            <a:endParaRPr lang="en-US" altLang="zh-CN" dirty="0"/>
          </a:p>
          <a:p>
            <a:pPr lvl="1"/>
            <a:r>
              <a:rPr lang="zh-CN" altLang="en-US" dirty="0"/>
              <a:t>最后加上包带层和外护套。</a:t>
            </a:r>
            <a:endParaRPr lang="en-US" altLang="zh-CN" dirty="0"/>
          </a:p>
          <a:p>
            <a:r>
              <a:rPr lang="zh-CN" altLang="en-US" dirty="0"/>
              <a:t>使抗拉强度达到几公斤，完全可以满足工程施工的强度要求。</a:t>
            </a:r>
          </a:p>
        </p:txBody>
      </p:sp>
      <p:sp>
        <p:nvSpPr>
          <p:cNvPr id="3" name="文本占位符 2"/>
          <p:cNvSpPr>
            <a:spLocks noGrp="1"/>
          </p:cNvSpPr>
          <p:nvPr>
            <p:ph type="body" sz="quarter" idx="11"/>
          </p:nvPr>
        </p:nvSpPr>
        <p:spPr>
          <a:xfrm>
            <a:off x="1332000" y="360000"/>
            <a:ext cx="6480000" cy="354012"/>
          </a:xfrm>
        </p:spPr>
        <p:txBody>
          <a:bodyPr>
            <a:normAutofit fontScale="92500" lnSpcReduction="10000"/>
          </a:bodyPr>
          <a:lstStyle/>
          <a:p>
            <a:r>
              <a:rPr lang="zh-CN" altLang="en-US" dirty="0"/>
              <a:t>光缆</a:t>
            </a:r>
          </a:p>
        </p:txBody>
      </p:sp>
      <p:grpSp>
        <p:nvGrpSpPr>
          <p:cNvPr id="4" name="Group 53"/>
          <p:cNvGrpSpPr>
            <a:grpSpLocks/>
          </p:cNvGrpSpPr>
          <p:nvPr/>
        </p:nvGrpSpPr>
        <p:grpSpPr bwMode="auto">
          <a:xfrm>
            <a:off x="5217782" y="1149529"/>
            <a:ext cx="3299624" cy="1914869"/>
            <a:chOff x="1056" y="887"/>
            <a:chExt cx="3455" cy="2085"/>
          </a:xfrm>
        </p:grpSpPr>
        <p:sp>
          <p:nvSpPr>
            <p:cNvPr id="5" name="Oval 2"/>
            <p:cNvSpPr>
              <a:spLocks noChangeArrowheads="1"/>
            </p:cNvSpPr>
            <p:nvPr/>
          </p:nvSpPr>
          <p:spPr bwMode="auto">
            <a:xfrm>
              <a:off x="1056" y="912"/>
              <a:ext cx="1872" cy="1872"/>
            </a:xfrm>
            <a:prstGeom prst="ellipse">
              <a:avLst/>
            </a:prstGeom>
            <a:solidFill>
              <a:srgbClr val="66FF66"/>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anose="020B0503020204020204" pitchFamily="34" charset="-122"/>
                <a:ea typeface="微软雅黑" panose="020B0503020204020204" pitchFamily="34" charset="-122"/>
              </a:endParaRPr>
            </a:p>
          </p:txBody>
        </p:sp>
        <p:sp>
          <p:nvSpPr>
            <p:cNvPr id="6" name="Oval 4" descr="深色下对角线"/>
            <p:cNvSpPr>
              <a:spLocks noChangeArrowheads="1"/>
            </p:cNvSpPr>
            <p:nvPr/>
          </p:nvSpPr>
          <p:spPr bwMode="auto">
            <a:xfrm>
              <a:off x="1278" y="1134"/>
              <a:ext cx="1429" cy="1429"/>
            </a:xfrm>
            <a:prstGeom prst="ellipse">
              <a:avLst/>
            </a:prstGeom>
            <a:pattFill prst="dkDnDiag">
              <a:fgClr>
                <a:schemeClr val="tx1"/>
              </a:fgClr>
              <a:bgClr>
                <a:schemeClr val="bg1"/>
              </a:bgClr>
            </a:patt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anose="020B0503020204020204" pitchFamily="34" charset="-122"/>
                <a:ea typeface="微软雅黑" panose="020B0503020204020204" pitchFamily="34" charset="-122"/>
              </a:endParaRPr>
            </a:p>
          </p:txBody>
        </p:sp>
        <p:sp>
          <p:nvSpPr>
            <p:cNvPr id="7" name="Oval 3"/>
            <p:cNvSpPr>
              <a:spLocks noChangeArrowheads="1"/>
            </p:cNvSpPr>
            <p:nvPr/>
          </p:nvSpPr>
          <p:spPr bwMode="auto">
            <a:xfrm>
              <a:off x="1704" y="1560"/>
              <a:ext cx="576" cy="576"/>
            </a:xfrm>
            <a:prstGeom prst="ellipse">
              <a:avLst/>
            </a:prstGeom>
            <a:solidFill>
              <a:schemeClr val="bg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anose="020B0503020204020204" pitchFamily="34" charset="-122"/>
                <a:ea typeface="微软雅黑" panose="020B0503020204020204" pitchFamily="34" charset="-122"/>
              </a:endParaRPr>
            </a:p>
          </p:txBody>
        </p:sp>
        <p:sp>
          <p:nvSpPr>
            <p:cNvPr id="8" name="Oval 5"/>
            <p:cNvSpPr>
              <a:spLocks noChangeArrowheads="1"/>
            </p:cNvSpPr>
            <p:nvPr/>
          </p:nvSpPr>
          <p:spPr bwMode="auto">
            <a:xfrm>
              <a:off x="1320" y="1176"/>
              <a:ext cx="1344" cy="13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anose="020B0503020204020204" pitchFamily="34" charset="-122"/>
                <a:ea typeface="微软雅黑" panose="020B0503020204020204" pitchFamily="34" charset="-122"/>
              </a:endParaRPr>
            </a:p>
          </p:txBody>
        </p:sp>
        <p:grpSp>
          <p:nvGrpSpPr>
            <p:cNvPr id="9" name="Group 8"/>
            <p:cNvGrpSpPr>
              <a:grpSpLocks/>
            </p:cNvGrpSpPr>
            <p:nvPr/>
          </p:nvGrpSpPr>
          <p:grpSpPr bwMode="auto">
            <a:xfrm>
              <a:off x="1737" y="1593"/>
              <a:ext cx="511" cy="511"/>
              <a:chOff x="3749" y="2352"/>
              <a:chExt cx="523" cy="523"/>
            </a:xfrm>
          </p:grpSpPr>
          <p:sp>
            <p:nvSpPr>
              <p:cNvPr id="42" name="Oval 6"/>
              <p:cNvSpPr>
                <a:spLocks noChangeArrowheads="1"/>
              </p:cNvSpPr>
              <p:nvPr/>
            </p:nvSpPr>
            <p:spPr bwMode="auto">
              <a:xfrm>
                <a:off x="3749" y="2352"/>
                <a:ext cx="523" cy="523"/>
              </a:xfrm>
              <a:prstGeom prst="ellipse">
                <a:avLst/>
              </a:prstGeom>
              <a:solidFill>
                <a:srgbClr val="C00000"/>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anose="020B0503020204020204" pitchFamily="34" charset="-122"/>
                  <a:ea typeface="微软雅黑" panose="020B0503020204020204" pitchFamily="34" charset="-122"/>
                </a:endParaRPr>
              </a:p>
            </p:txBody>
          </p:sp>
          <p:sp>
            <p:nvSpPr>
              <p:cNvPr id="43" name="Oval 7" descr="小棋盘"/>
              <p:cNvSpPr>
                <a:spLocks noChangeArrowheads="1"/>
              </p:cNvSpPr>
              <p:nvPr/>
            </p:nvSpPr>
            <p:spPr bwMode="auto">
              <a:xfrm>
                <a:off x="3843" y="2446"/>
                <a:ext cx="336" cy="336"/>
              </a:xfrm>
              <a:prstGeom prst="ellipse">
                <a:avLst/>
              </a:prstGeom>
              <a:pattFill prst="smCheck">
                <a:fgClr>
                  <a:schemeClr val="tx1"/>
                </a:fgClr>
                <a:bgClr>
                  <a:schemeClr val="bg1"/>
                </a:bgClr>
              </a:patt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anose="020B0503020204020204" pitchFamily="34" charset="-122"/>
                  <a:ea typeface="微软雅黑" panose="020B0503020204020204" pitchFamily="34" charset="-122"/>
                </a:endParaRPr>
              </a:p>
            </p:txBody>
          </p:sp>
        </p:grpSp>
        <p:sp>
          <p:nvSpPr>
            <p:cNvPr id="10" name="Oval 10" descr="10%"/>
            <p:cNvSpPr>
              <a:spLocks noChangeArrowheads="1"/>
            </p:cNvSpPr>
            <p:nvPr/>
          </p:nvSpPr>
          <p:spPr bwMode="auto">
            <a:xfrm>
              <a:off x="1324" y="1644"/>
              <a:ext cx="404" cy="405"/>
            </a:xfrm>
            <a:prstGeom prst="ellipse">
              <a:avLst/>
            </a:prstGeom>
            <a:pattFill prst="lgConfetti">
              <a:fgClr>
                <a:schemeClr val="bg1">
                  <a:lumMod val="65000"/>
                </a:schemeClr>
              </a:fgClr>
              <a:bgClr>
                <a:schemeClr val="bg1"/>
              </a:bgClr>
            </a:patt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anose="020B0503020204020204" pitchFamily="34" charset="-122"/>
                <a:ea typeface="微软雅黑" panose="020B0503020204020204" pitchFamily="34" charset="-122"/>
              </a:endParaRPr>
            </a:p>
          </p:txBody>
        </p:sp>
        <p:grpSp>
          <p:nvGrpSpPr>
            <p:cNvPr id="11" name="Group 14"/>
            <p:cNvGrpSpPr>
              <a:grpSpLocks/>
            </p:cNvGrpSpPr>
            <p:nvPr/>
          </p:nvGrpSpPr>
          <p:grpSpPr bwMode="auto">
            <a:xfrm>
              <a:off x="1784" y="1181"/>
              <a:ext cx="427" cy="411"/>
              <a:chOff x="3456" y="1104"/>
              <a:chExt cx="336" cy="340"/>
            </a:xfrm>
          </p:grpSpPr>
          <p:sp>
            <p:nvSpPr>
              <p:cNvPr id="40" name="Oval 15"/>
              <p:cNvSpPr>
                <a:spLocks noChangeArrowheads="1"/>
              </p:cNvSpPr>
              <p:nvPr/>
            </p:nvSpPr>
            <p:spPr bwMode="auto">
              <a:xfrm>
                <a:off x="3456" y="1104"/>
                <a:ext cx="336" cy="340"/>
              </a:xfrm>
              <a:prstGeom prst="ellipse">
                <a:avLst/>
              </a:prstGeom>
              <a:solidFill>
                <a:srgbClr val="FFC000"/>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anose="020B0503020204020204" pitchFamily="34" charset="-122"/>
                  <a:ea typeface="微软雅黑" panose="020B0503020204020204" pitchFamily="34" charset="-122"/>
                </a:endParaRPr>
              </a:p>
            </p:txBody>
          </p:sp>
          <p:sp>
            <p:nvSpPr>
              <p:cNvPr id="41" name="Oval 16" descr="深色上对角线"/>
              <p:cNvSpPr>
                <a:spLocks noChangeArrowheads="1"/>
              </p:cNvSpPr>
              <p:nvPr/>
            </p:nvSpPr>
            <p:spPr bwMode="auto">
              <a:xfrm>
                <a:off x="3529" y="1179"/>
                <a:ext cx="191" cy="191"/>
              </a:xfrm>
              <a:prstGeom prst="ellipse">
                <a:avLst/>
              </a:prstGeom>
              <a:pattFill prst="dkUpDiag">
                <a:fgClr>
                  <a:schemeClr val="accent6">
                    <a:lumMod val="75000"/>
                  </a:schemeClr>
                </a:fgClr>
                <a:bgClr>
                  <a:srgbClr val="FFFFFF"/>
                </a:bgClr>
              </a:patt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anose="020B0503020204020204" pitchFamily="34" charset="-122"/>
                  <a:ea typeface="微软雅黑" panose="020B0503020204020204" pitchFamily="34" charset="-122"/>
                </a:endParaRPr>
              </a:p>
            </p:txBody>
          </p:sp>
        </p:grpSp>
        <p:sp>
          <p:nvSpPr>
            <p:cNvPr id="12" name="Oval 18" descr="10%"/>
            <p:cNvSpPr>
              <a:spLocks noChangeArrowheads="1"/>
            </p:cNvSpPr>
            <p:nvPr/>
          </p:nvSpPr>
          <p:spPr bwMode="auto">
            <a:xfrm>
              <a:off x="2260" y="1660"/>
              <a:ext cx="400" cy="389"/>
            </a:xfrm>
            <a:prstGeom prst="ellipse">
              <a:avLst/>
            </a:prstGeom>
            <a:pattFill prst="lgConfetti">
              <a:fgClr>
                <a:schemeClr val="bg1">
                  <a:lumMod val="65000"/>
                </a:schemeClr>
              </a:fgClr>
              <a:bgClr>
                <a:schemeClr val="bg1"/>
              </a:bgClr>
            </a:patt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anose="020B0503020204020204" pitchFamily="34" charset="-122"/>
                <a:ea typeface="微软雅黑" panose="020B0503020204020204" pitchFamily="34" charset="-122"/>
              </a:endParaRPr>
            </a:p>
          </p:txBody>
        </p:sp>
        <p:grpSp>
          <p:nvGrpSpPr>
            <p:cNvPr id="13" name="Group 19"/>
            <p:cNvGrpSpPr>
              <a:grpSpLocks/>
            </p:cNvGrpSpPr>
            <p:nvPr/>
          </p:nvGrpSpPr>
          <p:grpSpPr bwMode="auto">
            <a:xfrm>
              <a:off x="1777" y="2114"/>
              <a:ext cx="428" cy="400"/>
              <a:chOff x="3456" y="1104"/>
              <a:chExt cx="336" cy="340"/>
            </a:xfrm>
          </p:grpSpPr>
          <p:sp>
            <p:nvSpPr>
              <p:cNvPr id="38" name="Oval 20"/>
              <p:cNvSpPr>
                <a:spLocks noChangeArrowheads="1"/>
              </p:cNvSpPr>
              <p:nvPr/>
            </p:nvSpPr>
            <p:spPr bwMode="auto">
              <a:xfrm>
                <a:off x="3456" y="1104"/>
                <a:ext cx="336" cy="340"/>
              </a:xfrm>
              <a:prstGeom prst="ellipse">
                <a:avLst/>
              </a:prstGeom>
              <a:solidFill>
                <a:srgbClr val="FFC000"/>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anose="020B0503020204020204" pitchFamily="34" charset="-122"/>
                  <a:ea typeface="微软雅黑" panose="020B0503020204020204" pitchFamily="34" charset="-122"/>
                </a:endParaRPr>
              </a:p>
            </p:txBody>
          </p:sp>
          <p:sp>
            <p:nvSpPr>
              <p:cNvPr id="39" name="Oval 21" descr="深色上对角线"/>
              <p:cNvSpPr>
                <a:spLocks noChangeArrowheads="1"/>
              </p:cNvSpPr>
              <p:nvPr/>
            </p:nvSpPr>
            <p:spPr bwMode="auto">
              <a:xfrm>
                <a:off x="3529" y="1179"/>
                <a:ext cx="191" cy="191"/>
              </a:xfrm>
              <a:prstGeom prst="ellipse">
                <a:avLst/>
              </a:prstGeom>
              <a:pattFill prst="dkUpDiag">
                <a:fgClr>
                  <a:schemeClr val="accent6">
                    <a:lumMod val="75000"/>
                  </a:schemeClr>
                </a:fgClr>
                <a:bgClr>
                  <a:srgbClr val="FFFFFF"/>
                </a:bgClr>
              </a:patt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anose="020B0503020204020204" pitchFamily="34" charset="-122"/>
                  <a:ea typeface="微软雅黑" panose="020B0503020204020204" pitchFamily="34" charset="-122"/>
                </a:endParaRPr>
              </a:p>
            </p:txBody>
          </p:sp>
        </p:grpSp>
        <p:grpSp>
          <p:nvGrpSpPr>
            <p:cNvPr id="14" name="Group 28"/>
            <p:cNvGrpSpPr>
              <a:grpSpLocks/>
            </p:cNvGrpSpPr>
            <p:nvPr/>
          </p:nvGrpSpPr>
          <p:grpSpPr bwMode="auto">
            <a:xfrm>
              <a:off x="2144" y="1996"/>
              <a:ext cx="234" cy="234"/>
              <a:chOff x="2160" y="2016"/>
              <a:chExt cx="258" cy="258"/>
            </a:xfrm>
          </p:grpSpPr>
          <p:sp>
            <p:nvSpPr>
              <p:cNvPr id="36" name="Oval 23"/>
              <p:cNvSpPr>
                <a:spLocks noChangeArrowheads="1"/>
              </p:cNvSpPr>
              <p:nvPr/>
            </p:nvSpPr>
            <p:spPr bwMode="auto">
              <a:xfrm>
                <a:off x="2160" y="2016"/>
                <a:ext cx="258" cy="258"/>
              </a:xfrm>
              <a:prstGeom prst="ellipse">
                <a:avLst/>
              </a:prstGeom>
              <a:solidFill>
                <a:srgbClr val="0066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anose="020B0503020204020204" pitchFamily="34" charset="-122"/>
                  <a:ea typeface="微软雅黑" panose="020B0503020204020204" pitchFamily="34" charset="-122"/>
                </a:endParaRPr>
              </a:p>
            </p:txBody>
          </p:sp>
          <p:sp>
            <p:nvSpPr>
              <p:cNvPr id="37" name="Oval 26"/>
              <p:cNvSpPr>
                <a:spLocks noChangeArrowheads="1"/>
              </p:cNvSpPr>
              <p:nvPr/>
            </p:nvSpPr>
            <p:spPr bwMode="auto">
              <a:xfrm>
                <a:off x="2226" y="2082"/>
                <a:ext cx="126" cy="126"/>
              </a:xfrm>
              <a:prstGeom prst="ellipse">
                <a:avLst/>
              </a:prstGeom>
              <a:solidFill>
                <a:schemeClr val="bg2"/>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anose="020B0503020204020204" pitchFamily="34" charset="-122"/>
                  <a:ea typeface="微软雅黑" panose="020B0503020204020204" pitchFamily="34" charset="-122"/>
                </a:endParaRPr>
              </a:p>
            </p:txBody>
          </p:sp>
        </p:grpSp>
        <p:grpSp>
          <p:nvGrpSpPr>
            <p:cNvPr id="15" name="Group 29"/>
            <p:cNvGrpSpPr>
              <a:grpSpLocks/>
            </p:cNvGrpSpPr>
            <p:nvPr/>
          </p:nvGrpSpPr>
          <p:grpSpPr bwMode="auto">
            <a:xfrm>
              <a:off x="1604" y="2000"/>
              <a:ext cx="234" cy="234"/>
              <a:chOff x="2160" y="2016"/>
              <a:chExt cx="258" cy="258"/>
            </a:xfrm>
          </p:grpSpPr>
          <p:sp>
            <p:nvSpPr>
              <p:cNvPr id="34" name="Oval 30"/>
              <p:cNvSpPr>
                <a:spLocks noChangeArrowheads="1"/>
              </p:cNvSpPr>
              <p:nvPr/>
            </p:nvSpPr>
            <p:spPr bwMode="auto">
              <a:xfrm>
                <a:off x="2160" y="2016"/>
                <a:ext cx="258" cy="258"/>
              </a:xfrm>
              <a:prstGeom prst="ellipse">
                <a:avLst/>
              </a:prstGeom>
              <a:solidFill>
                <a:srgbClr val="0066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anose="020B0503020204020204" pitchFamily="34" charset="-122"/>
                  <a:ea typeface="微软雅黑" panose="020B0503020204020204" pitchFamily="34" charset="-122"/>
                </a:endParaRPr>
              </a:p>
            </p:txBody>
          </p:sp>
          <p:sp>
            <p:nvSpPr>
              <p:cNvPr id="35" name="Oval 31"/>
              <p:cNvSpPr>
                <a:spLocks noChangeArrowheads="1"/>
              </p:cNvSpPr>
              <p:nvPr/>
            </p:nvSpPr>
            <p:spPr bwMode="auto">
              <a:xfrm>
                <a:off x="2226" y="2082"/>
                <a:ext cx="126" cy="126"/>
              </a:xfrm>
              <a:prstGeom prst="ellipse">
                <a:avLst/>
              </a:prstGeom>
              <a:solidFill>
                <a:schemeClr val="bg2"/>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anose="020B0503020204020204" pitchFamily="34" charset="-122"/>
                  <a:ea typeface="微软雅黑" panose="020B0503020204020204" pitchFamily="34" charset="-122"/>
                </a:endParaRPr>
              </a:p>
            </p:txBody>
          </p:sp>
        </p:grpSp>
        <p:grpSp>
          <p:nvGrpSpPr>
            <p:cNvPr id="16" name="Group 32"/>
            <p:cNvGrpSpPr>
              <a:grpSpLocks/>
            </p:cNvGrpSpPr>
            <p:nvPr/>
          </p:nvGrpSpPr>
          <p:grpSpPr bwMode="auto">
            <a:xfrm>
              <a:off x="1604" y="1464"/>
              <a:ext cx="234" cy="234"/>
              <a:chOff x="2160" y="2016"/>
              <a:chExt cx="258" cy="258"/>
            </a:xfrm>
          </p:grpSpPr>
          <p:sp>
            <p:nvSpPr>
              <p:cNvPr id="32" name="Oval 33"/>
              <p:cNvSpPr>
                <a:spLocks noChangeArrowheads="1"/>
              </p:cNvSpPr>
              <p:nvPr/>
            </p:nvSpPr>
            <p:spPr bwMode="auto">
              <a:xfrm>
                <a:off x="2160" y="2016"/>
                <a:ext cx="258" cy="258"/>
              </a:xfrm>
              <a:prstGeom prst="ellipse">
                <a:avLst/>
              </a:prstGeom>
              <a:solidFill>
                <a:srgbClr val="0066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anose="020B0503020204020204" pitchFamily="34" charset="-122"/>
                  <a:ea typeface="微软雅黑" panose="020B0503020204020204" pitchFamily="34" charset="-122"/>
                </a:endParaRPr>
              </a:p>
            </p:txBody>
          </p:sp>
          <p:sp>
            <p:nvSpPr>
              <p:cNvPr id="33" name="Oval 34"/>
              <p:cNvSpPr>
                <a:spLocks noChangeArrowheads="1"/>
              </p:cNvSpPr>
              <p:nvPr/>
            </p:nvSpPr>
            <p:spPr bwMode="auto">
              <a:xfrm>
                <a:off x="2226" y="2082"/>
                <a:ext cx="126" cy="126"/>
              </a:xfrm>
              <a:prstGeom prst="ellipse">
                <a:avLst/>
              </a:prstGeom>
              <a:solidFill>
                <a:schemeClr val="bg2"/>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anose="020B0503020204020204" pitchFamily="34" charset="-122"/>
                  <a:ea typeface="微软雅黑" panose="020B0503020204020204" pitchFamily="34" charset="-122"/>
                </a:endParaRPr>
              </a:p>
            </p:txBody>
          </p:sp>
        </p:grpSp>
        <p:grpSp>
          <p:nvGrpSpPr>
            <p:cNvPr id="17" name="Group 35"/>
            <p:cNvGrpSpPr>
              <a:grpSpLocks/>
            </p:cNvGrpSpPr>
            <p:nvPr/>
          </p:nvGrpSpPr>
          <p:grpSpPr bwMode="auto">
            <a:xfrm>
              <a:off x="2152" y="1472"/>
              <a:ext cx="234" cy="234"/>
              <a:chOff x="2160" y="2016"/>
              <a:chExt cx="258" cy="258"/>
            </a:xfrm>
          </p:grpSpPr>
          <p:sp>
            <p:nvSpPr>
              <p:cNvPr id="30" name="Oval 36"/>
              <p:cNvSpPr>
                <a:spLocks noChangeArrowheads="1"/>
              </p:cNvSpPr>
              <p:nvPr/>
            </p:nvSpPr>
            <p:spPr bwMode="auto">
              <a:xfrm>
                <a:off x="2160" y="2016"/>
                <a:ext cx="258" cy="258"/>
              </a:xfrm>
              <a:prstGeom prst="ellipse">
                <a:avLst/>
              </a:prstGeom>
              <a:solidFill>
                <a:srgbClr val="0066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anose="020B0503020204020204" pitchFamily="34" charset="-122"/>
                  <a:ea typeface="微软雅黑" panose="020B0503020204020204" pitchFamily="34" charset="-122"/>
                </a:endParaRPr>
              </a:p>
            </p:txBody>
          </p:sp>
          <p:sp>
            <p:nvSpPr>
              <p:cNvPr id="31" name="Oval 37"/>
              <p:cNvSpPr>
                <a:spLocks noChangeArrowheads="1"/>
              </p:cNvSpPr>
              <p:nvPr/>
            </p:nvSpPr>
            <p:spPr bwMode="auto">
              <a:xfrm>
                <a:off x="2226" y="2082"/>
                <a:ext cx="126" cy="126"/>
              </a:xfrm>
              <a:prstGeom prst="ellipse">
                <a:avLst/>
              </a:prstGeom>
              <a:solidFill>
                <a:schemeClr val="bg2"/>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anose="020B0503020204020204" pitchFamily="34" charset="-122"/>
                  <a:ea typeface="微软雅黑" panose="020B0503020204020204" pitchFamily="34" charset="-122"/>
                </a:endParaRPr>
              </a:p>
            </p:txBody>
          </p:sp>
        </p:grpSp>
        <p:sp>
          <p:nvSpPr>
            <p:cNvPr id="18" name="Text Box 38"/>
            <p:cNvSpPr txBox="1">
              <a:spLocks noChangeArrowheads="1"/>
            </p:cNvSpPr>
            <p:nvPr/>
          </p:nvSpPr>
          <p:spPr bwMode="auto">
            <a:xfrm>
              <a:off x="2939" y="2603"/>
              <a:ext cx="838" cy="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a:latin typeface="微软雅黑" panose="020B0503020204020204" pitchFamily="34" charset="-122"/>
                  <a:ea typeface="微软雅黑" panose="020B0503020204020204" pitchFamily="34" charset="-122"/>
                </a:rPr>
                <a:t>包带层</a:t>
              </a:r>
            </a:p>
          </p:txBody>
        </p:sp>
        <p:sp>
          <p:nvSpPr>
            <p:cNvPr id="19" name="Text Box 39"/>
            <p:cNvSpPr txBox="1">
              <a:spLocks noChangeArrowheads="1"/>
            </p:cNvSpPr>
            <p:nvPr/>
          </p:nvSpPr>
          <p:spPr bwMode="auto">
            <a:xfrm>
              <a:off x="3072" y="2260"/>
              <a:ext cx="838" cy="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a:latin typeface="微软雅黑" panose="020B0503020204020204" pitchFamily="34" charset="-122"/>
                  <a:ea typeface="微软雅黑" panose="020B0503020204020204" pitchFamily="34" charset="-122"/>
                </a:rPr>
                <a:t>加强芯</a:t>
              </a:r>
            </a:p>
          </p:txBody>
        </p:sp>
        <p:sp>
          <p:nvSpPr>
            <p:cNvPr id="20" name="Text Box 40"/>
            <p:cNvSpPr txBox="1">
              <a:spLocks noChangeArrowheads="1"/>
            </p:cNvSpPr>
            <p:nvPr/>
          </p:nvSpPr>
          <p:spPr bwMode="auto">
            <a:xfrm>
              <a:off x="2813" y="887"/>
              <a:ext cx="838" cy="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dirty="0">
                  <a:latin typeface="微软雅黑" panose="020B0503020204020204" pitchFamily="34" charset="-122"/>
                  <a:ea typeface="微软雅黑" panose="020B0503020204020204" pitchFamily="34" charset="-122"/>
                </a:rPr>
                <a:t>外护套</a:t>
              </a:r>
            </a:p>
          </p:txBody>
        </p:sp>
        <p:sp>
          <p:nvSpPr>
            <p:cNvPr id="21" name="Text Box 41"/>
            <p:cNvSpPr txBox="1">
              <a:spLocks noChangeArrowheads="1"/>
            </p:cNvSpPr>
            <p:nvPr/>
          </p:nvSpPr>
          <p:spPr bwMode="auto">
            <a:xfrm>
              <a:off x="3024" y="1216"/>
              <a:ext cx="1268" cy="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a:latin typeface="微软雅黑" panose="020B0503020204020204" pitchFamily="34" charset="-122"/>
                  <a:ea typeface="微软雅黑" panose="020B0503020204020204" pitchFamily="34" charset="-122"/>
                </a:rPr>
                <a:t>远供电源线</a:t>
              </a:r>
            </a:p>
          </p:txBody>
        </p:sp>
        <p:sp>
          <p:nvSpPr>
            <p:cNvPr id="22" name="Text Box 42"/>
            <p:cNvSpPr txBox="1">
              <a:spLocks noChangeArrowheads="1"/>
            </p:cNvSpPr>
            <p:nvPr/>
          </p:nvSpPr>
          <p:spPr bwMode="auto">
            <a:xfrm>
              <a:off x="3029" y="1566"/>
              <a:ext cx="1482" cy="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a:latin typeface="微软雅黑" panose="020B0503020204020204" pitchFamily="34" charset="-122"/>
                  <a:ea typeface="微软雅黑" panose="020B0503020204020204" pitchFamily="34" charset="-122"/>
                </a:rPr>
                <a:t>光纤及其包层</a:t>
              </a:r>
            </a:p>
          </p:txBody>
        </p:sp>
        <p:sp>
          <p:nvSpPr>
            <p:cNvPr id="23" name="Text Box 43"/>
            <p:cNvSpPr txBox="1">
              <a:spLocks noChangeArrowheads="1"/>
            </p:cNvSpPr>
            <p:nvPr/>
          </p:nvSpPr>
          <p:spPr bwMode="auto">
            <a:xfrm>
              <a:off x="3163" y="1961"/>
              <a:ext cx="838" cy="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a:latin typeface="微软雅黑" panose="020B0503020204020204" pitchFamily="34" charset="-122"/>
                  <a:ea typeface="微软雅黑" panose="020B0503020204020204" pitchFamily="34" charset="-122"/>
                </a:rPr>
                <a:t>填充物</a:t>
              </a:r>
            </a:p>
          </p:txBody>
        </p:sp>
        <p:sp>
          <p:nvSpPr>
            <p:cNvPr id="24" name="Line 45"/>
            <p:cNvSpPr>
              <a:spLocks noChangeShapeType="1"/>
            </p:cNvSpPr>
            <p:nvPr/>
          </p:nvSpPr>
          <p:spPr bwMode="auto">
            <a:xfrm>
              <a:off x="2304" y="2496"/>
              <a:ext cx="672"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anose="020B0503020204020204" pitchFamily="34" charset="-122"/>
                <a:ea typeface="微软雅黑" panose="020B0503020204020204" pitchFamily="34" charset="-122"/>
              </a:endParaRPr>
            </a:p>
          </p:txBody>
        </p:sp>
        <p:sp>
          <p:nvSpPr>
            <p:cNvPr id="25" name="Line 46"/>
            <p:cNvSpPr>
              <a:spLocks noChangeShapeType="1"/>
            </p:cNvSpPr>
            <p:nvPr/>
          </p:nvSpPr>
          <p:spPr bwMode="auto">
            <a:xfrm>
              <a:off x="2016" y="1872"/>
              <a:ext cx="1104" cy="4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anose="020B0503020204020204" pitchFamily="34" charset="-122"/>
                <a:ea typeface="微软雅黑" panose="020B0503020204020204" pitchFamily="34" charset="-122"/>
              </a:endParaRPr>
            </a:p>
          </p:txBody>
        </p:sp>
        <p:sp>
          <p:nvSpPr>
            <p:cNvPr id="26" name="Line 47"/>
            <p:cNvSpPr>
              <a:spLocks noChangeShapeType="1"/>
            </p:cNvSpPr>
            <p:nvPr/>
          </p:nvSpPr>
          <p:spPr bwMode="auto">
            <a:xfrm>
              <a:off x="2496" y="1872"/>
              <a:ext cx="72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anose="020B0503020204020204" pitchFamily="34" charset="-122"/>
                <a:ea typeface="微软雅黑" panose="020B0503020204020204" pitchFamily="34" charset="-122"/>
              </a:endParaRPr>
            </a:p>
          </p:txBody>
        </p:sp>
        <p:sp>
          <p:nvSpPr>
            <p:cNvPr id="27" name="Line 48"/>
            <p:cNvSpPr>
              <a:spLocks noChangeShapeType="1"/>
            </p:cNvSpPr>
            <p:nvPr/>
          </p:nvSpPr>
          <p:spPr bwMode="auto">
            <a:xfrm>
              <a:off x="2256" y="1584"/>
              <a:ext cx="816" cy="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anose="020B0503020204020204" pitchFamily="34" charset="-122"/>
                <a:ea typeface="微软雅黑" panose="020B0503020204020204" pitchFamily="34" charset="-122"/>
              </a:endParaRPr>
            </a:p>
          </p:txBody>
        </p:sp>
        <p:sp>
          <p:nvSpPr>
            <p:cNvPr id="28" name="Line 49"/>
            <p:cNvSpPr>
              <a:spLocks noChangeShapeType="1"/>
            </p:cNvSpPr>
            <p:nvPr/>
          </p:nvSpPr>
          <p:spPr bwMode="auto">
            <a:xfrm>
              <a:off x="2016" y="1344"/>
              <a:ext cx="100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anose="020B0503020204020204" pitchFamily="34" charset="-122"/>
                <a:ea typeface="微软雅黑" panose="020B0503020204020204" pitchFamily="34" charset="-122"/>
              </a:endParaRPr>
            </a:p>
          </p:txBody>
        </p:sp>
        <p:sp>
          <p:nvSpPr>
            <p:cNvPr id="29" name="Line 50"/>
            <p:cNvSpPr>
              <a:spLocks noChangeShapeType="1"/>
            </p:cNvSpPr>
            <p:nvPr/>
          </p:nvSpPr>
          <p:spPr bwMode="auto">
            <a:xfrm flipV="1">
              <a:off x="2352" y="1008"/>
              <a:ext cx="480" cy="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9613869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a:xfrm>
            <a:off x="466343" y="900000"/>
            <a:ext cx="8129017" cy="3376990"/>
          </a:xfrm>
        </p:spPr>
        <p:txBody>
          <a:bodyPr/>
          <a:lstStyle/>
          <a:p>
            <a:r>
              <a:rPr lang="en-US" altLang="zh-CN" dirty="0"/>
              <a:t>(1) </a:t>
            </a:r>
            <a:r>
              <a:rPr lang="zh-CN" altLang="en-US" dirty="0"/>
              <a:t>通信容量非常大</a:t>
            </a:r>
            <a:endParaRPr lang="en-US" altLang="zh-CN" dirty="0"/>
          </a:p>
          <a:p>
            <a:r>
              <a:rPr lang="en-US" altLang="zh-CN" dirty="0"/>
              <a:t>(2) </a:t>
            </a:r>
            <a:r>
              <a:rPr lang="zh-CN" altLang="en-US" dirty="0"/>
              <a:t>传输损耗小，中继距离长，对远距离传输特别经济。</a:t>
            </a:r>
          </a:p>
          <a:p>
            <a:r>
              <a:rPr lang="en-US" altLang="zh-CN" dirty="0"/>
              <a:t>(3) </a:t>
            </a:r>
            <a:r>
              <a:rPr lang="zh-CN" altLang="en-US" dirty="0"/>
              <a:t>抗雷电和电磁干扰性能好。</a:t>
            </a:r>
          </a:p>
          <a:p>
            <a:r>
              <a:rPr lang="en-US" altLang="zh-CN" dirty="0"/>
              <a:t>(4) </a:t>
            </a:r>
            <a:r>
              <a:rPr lang="zh-CN" altLang="en-US" dirty="0"/>
              <a:t>无串音干扰，保密性好，不易被窃听或截取数据。</a:t>
            </a:r>
          </a:p>
          <a:p>
            <a:r>
              <a:rPr lang="en-US" altLang="zh-CN" dirty="0"/>
              <a:t>(5) </a:t>
            </a:r>
            <a:r>
              <a:rPr lang="zh-CN" altLang="en-US" dirty="0"/>
              <a:t>体积小，重量轻。</a:t>
            </a:r>
            <a:endParaRPr lang="en-US" altLang="zh-CN" dirty="0"/>
          </a:p>
          <a:p>
            <a:endParaRPr lang="zh-CN" altLang="en-US" dirty="0"/>
          </a:p>
        </p:txBody>
      </p:sp>
      <p:sp>
        <p:nvSpPr>
          <p:cNvPr id="3" name="文本占位符 2"/>
          <p:cNvSpPr>
            <a:spLocks noGrp="1"/>
          </p:cNvSpPr>
          <p:nvPr>
            <p:ph type="body" sz="quarter" idx="11"/>
          </p:nvPr>
        </p:nvSpPr>
        <p:spPr>
          <a:xfrm>
            <a:off x="1332000" y="360000"/>
            <a:ext cx="6480000" cy="354012"/>
          </a:xfrm>
        </p:spPr>
        <p:txBody>
          <a:bodyPr>
            <a:normAutofit fontScale="92500" lnSpcReduction="10000"/>
          </a:bodyPr>
          <a:lstStyle/>
          <a:p>
            <a:r>
              <a:rPr lang="zh-CN" altLang="en-US" dirty="0"/>
              <a:t>光纤优点</a:t>
            </a:r>
          </a:p>
        </p:txBody>
      </p:sp>
      <p:sp>
        <p:nvSpPr>
          <p:cNvPr id="4" name="矩形 3"/>
          <p:cNvSpPr/>
          <p:nvPr/>
        </p:nvSpPr>
        <p:spPr>
          <a:xfrm>
            <a:off x="1591901" y="3084608"/>
            <a:ext cx="5444625" cy="861774"/>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nSpc>
                <a:spcPts val="3000"/>
              </a:lnSpc>
            </a:pPr>
            <a:r>
              <a:rPr lang="zh-CN" altLang="en-US" b="1" dirty="0">
                <a:latin typeface="微软雅黑" panose="020B0503020204020204" pitchFamily="34" charset="-122"/>
                <a:ea typeface="微软雅黑" panose="020B0503020204020204" pitchFamily="34" charset="-122"/>
              </a:rPr>
              <a:t>现在已经非常广泛地应用在计算机网络、电信网络和有线电视网络的主干网络中。</a:t>
            </a:r>
          </a:p>
        </p:txBody>
      </p:sp>
    </p:spTree>
    <p:extLst>
      <p:ext uri="{BB962C8B-B14F-4D97-AF65-F5344CB8AC3E}">
        <p14:creationId xmlns:p14="http://schemas.microsoft.com/office/powerpoint/2010/main" val="5840364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sz="quarter" idx="10"/>
          </p:nvPr>
        </p:nvSpPr>
        <p:spPr>
          <a:xfrm>
            <a:off x="466343" y="900000"/>
            <a:ext cx="8129017" cy="3376990"/>
          </a:xfrm>
        </p:spPr>
        <p:txBody>
          <a:bodyPr/>
          <a:lstStyle/>
          <a:p>
            <a:r>
              <a:rPr lang="zh-CN" altLang="en-US" dirty="0"/>
              <a:t>利用无线电波在自由空间的传播可较快地实现多种通信，因此将自由空间称为“非导引型传输媒体”。</a:t>
            </a:r>
            <a:endParaRPr lang="en-US" altLang="zh-CN" dirty="0"/>
          </a:p>
          <a:p>
            <a:r>
              <a:rPr lang="zh-CN" altLang="en-US" dirty="0"/>
              <a:t>无线传输所使用的频段很广：</a:t>
            </a:r>
            <a:r>
              <a:rPr lang="en-US" altLang="zh-CN" dirty="0"/>
              <a:t>	LF ~ THF </a:t>
            </a:r>
            <a:r>
              <a:rPr lang="zh-CN" altLang="en-US" dirty="0"/>
              <a:t>（</a:t>
            </a:r>
            <a:r>
              <a:rPr lang="en-US" altLang="zh-CN" dirty="0"/>
              <a:t>30 kHz ~ 3000 GHz</a:t>
            </a:r>
            <a:r>
              <a:rPr lang="zh-CN" altLang="en-US" dirty="0"/>
              <a:t>）</a:t>
            </a:r>
          </a:p>
        </p:txBody>
      </p:sp>
      <p:sp>
        <p:nvSpPr>
          <p:cNvPr id="4" name="文本占位符 3"/>
          <p:cNvSpPr>
            <a:spLocks noGrp="1"/>
          </p:cNvSpPr>
          <p:nvPr>
            <p:ph type="body" sz="quarter" idx="11"/>
          </p:nvPr>
        </p:nvSpPr>
        <p:spPr>
          <a:xfrm>
            <a:off x="1332000" y="360000"/>
            <a:ext cx="6480000" cy="354012"/>
          </a:xfrm>
        </p:spPr>
        <p:txBody>
          <a:bodyPr>
            <a:normAutofit fontScale="92500" lnSpcReduction="10000"/>
          </a:bodyPr>
          <a:lstStyle/>
          <a:p>
            <a:r>
              <a:rPr lang="en-US" altLang="zh-CN" dirty="0"/>
              <a:t>2.3.2  </a:t>
            </a:r>
            <a:r>
              <a:rPr lang="zh-CN" altLang="en-US" dirty="0"/>
              <a:t>非导引型传输媒体</a:t>
            </a:r>
          </a:p>
        </p:txBody>
      </p:sp>
      <p:grpSp>
        <p:nvGrpSpPr>
          <p:cNvPr id="3" name="组合 2"/>
          <p:cNvGrpSpPr/>
          <p:nvPr/>
        </p:nvGrpSpPr>
        <p:grpSpPr>
          <a:xfrm>
            <a:off x="793053" y="2408504"/>
            <a:ext cx="7319264" cy="1991078"/>
            <a:chOff x="723381" y="2478176"/>
            <a:chExt cx="7319264" cy="1991078"/>
          </a:xfrm>
        </p:grpSpPr>
        <p:sp>
          <p:nvSpPr>
            <p:cNvPr id="78" name="矩形 77"/>
            <p:cNvSpPr/>
            <p:nvPr/>
          </p:nvSpPr>
          <p:spPr>
            <a:xfrm>
              <a:off x="1470699" y="2763196"/>
              <a:ext cx="2096586" cy="1414739"/>
            </a:xfrm>
            <a:prstGeom prst="rect">
              <a:avLst/>
            </a:prstGeom>
            <a:solidFill>
              <a:srgbClr val="99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矩形 151"/>
            <p:cNvSpPr/>
            <p:nvPr/>
          </p:nvSpPr>
          <p:spPr>
            <a:xfrm>
              <a:off x="3538069" y="2763197"/>
              <a:ext cx="1558987" cy="1414738"/>
            </a:xfrm>
            <a:prstGeom prst="rect">
              <a:avLst/>
            </a:prstGeom>
            <a:solidFill>
              <a:srgbClr val="B1D8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矩形 152"/>
            <p:cNvSpPr/>
            <p:nvPr/>
          </p:nvSpPr>
          <p:spPr>
            <a:xfrm>
              <a:off x="5099220" y="2756523"/>
              <a:ext cx="1546580" cy="143955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4" name="矩形 153"/>
            <p:cNvSpPr/>
            <p:nvPr/>
          </p:nvSpPr>
          <p:spPr>
            <a:xfrm>
              <a:off x="7164288" y="2741893"/>
              <a:ext cx="526774" cy="1446406"/>
            </a:xfrm>
            <a:prstGeom prst="rect">
              <a:avLst/>
            </a:prstGeom>
            <a:solidFill>
              <a:srgbClr val="FF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Rectangle 7"/>
            <p:cNvSpPr>
              <a:spLocks noChangeArrowheads="1"/>
            </p:cNvSpPr>
            <p:nvPr/>
          </p:nvSpPr>
          <p:spPr bwMode="auto">
            <a:xfrm>
              <a:off x="7108604" y="2507973"/>
              <a:ext cx="320001" cy="19433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56" name="Rectangle 9"/>
            <p:cNvSpPr>
              <a:spLocks noChangeArrowheads="1"/>
            </p:cNvSpPr>
            <p:nvPr/>
          </p:nvSpPr>
          <p:spPr bwMode="auto">
            <a:xfrm>
              <a:off x="1382275" y="2507972"/>
              <a:ext cx="286317" cy="17878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57" name="Line 10"/>
            <p:cNvSpPr>
              <a:spLocks noChangeShapeType="1"/>
            </p:cNvSpPr>
            <p:nvPr/>
          </p:nvSpPr>
          <p:spPr bwMode="auto">
            <a:xfrm>
              <a:off x="2505084" y="2747649"/>
              <a:ext cx="0" cy="143028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58" name="Line 12"/>
            <p:cNvSpPr>
              <a:spLocks noChangeShapeType="1"/>
            </p:cNvSpPr>
            <p:nvPr/>
          </p:nvSpPr>
          <p:spPr bwMode="auto">
            <a:xfrm>
              <a:off x="1992803" y="2750240"/>
              <a:ext cx="0" cy="143028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59" name="Line 15"/>
            <p:cNvSpPr>
              <a:spLocks noChangeShapeType="1"/>
            </p:cNvSpPr>
            <p:nvPr/>
          </p:nvSpPr>
          <p:spPr bwMode="auto">
            <a:xfrm>
              <a:off x="3025788" y="2752831"/>
              <a:ext cx="0" cy="143028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60" name="Line 19"/>
            <p:cNvSpPr>
              <a:spLocks noChangeShapeType="1"/>
            </p:cNvSpPr>
            <p:nvPr/>
          </p:nvSpPr>
          <p:spPr bwMode="auto">
            <a:xfrm>
              <a:off x="4579474" y="2752831"/>
              <a:ext cx="0" cy="143028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61" name="Line 28"/>
            <p:cNvSpPr>
              <a:spLocks noChangeShapeType="1"/>
            </p:cNvSpPr>
            <p:nvPr/>
          </p:nvSpPr>
          <p:spPr bwMode="auto">
            <a:xfrm flipV="1">
              <a:off x="1466486" y="2752831"/>
              <a:ext cx="6232997" cy="388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62" name="Line 41"/>
            <p:cNvSpPr>
              <a:spLocks noChangeShapeType="1"/>
            </p:cNvSpPr>
            <p:nvPr/>
          </p:nvSpPr>
          <p:spPr bwMode="auto">
            <a:xfrm>
              <a:off x="1466485" y="3011941"/>
              <a:ext cx="1195792" cy="0"/>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63" name="Line 45"/>
            <p:cNvSpPr>
              <a:spLocks noChangeShapeType="1"/>
            </p:cNvSpPr>
            <p:nvPr/>
          </p:nvSpPr>
          <p:spPr bwMode="auto">
            <a:xfrm>
              <a:off x="3874912" y="3036556"/>
              <a:ext cx="1010529" cy="0"/>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64" name="Line 47"/>
            <p:cNvSpPr>
              <a:spLocks noChangeShapeType="1"/>
            </p:cNvSpPr>
            <p:nvPr/>
          </p:nvSpPr>
          <p:spPr bwMode="auto">
            <a:xfrm>
              <a:off x="4200528" y="3385059"/>
              <a:ext cx="830880" cy="0"/>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65" name="Line 51"/>
            <p:cNvSpPr>
              <a:spLocks noChangeShapeType="1"/>
            </p:cNvSpPr>
            <p:nvPr/>
          </p:nvSpPr>
          <p:spPr bwMode="auto">
            <a:xfrm>
              <a:off x="3369648" y="3820364"/>
              <a:ext cx="381755" cy="0"/>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66" name="Text Box 52"/>
            <p:cNvSpPr txBox="1">
              <a:spLocks noChangeArrowheads="1"/>
            </p:cNvSpPr>
            <p:nvPr/>
          </p:nvSpPr>
          <p:spPr bwMode="auto">
            <a:xfrm>
              <a:off x="6659479" y="2776151"/>
              <a:ext cx="487959" cy="274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200" b="1">
                  <a:solidFill>
                    <a:srgbClr val="0000FF"/>
                  </a:solidFill>
                  <a:latin typeface="微软雅黑" pitchFamily="34" charset="-122"/>
                  <a:ea typeface="微软雅黑" pitchFamily="34" charset="-122"/>
                </a:rPr>
                <a:t>光纤</a:t>
              </a:r>
            </a:p>
          </p:txBody>
        </p:sp>
        <p:sp>
          <p:nvSpPr>
            <p:cNvPr id="167" name="Line 53"/>
            <p:cNvSpPr>
              <a:spLocks noChangeShapeType="1"/>
            </p:cNvSpPr>
            <p:nvPr/>
          </p:nvSpPr>
          <p:spPr bwMode="auto">
            <a:xfrm>
              <a:off x="6637024" y="3046920"/>
              <a:ext cx="527721" cy="0"/>
            </a:xfrm>
            <a:prstGeom prst="line">
              <a:avLst/>
            </a:prstGeom>
            <a:noFill/>
            <a:ln w="952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68" name="Line 57"/>
            <p:cNvSpPr>
              <a:spLocks noChangeShapeType="1"/>
            </p:cNvSpPr>
            <p:nvPr/>
          </p:nvSpPr>
          <p:spPr bwMode="auto">
            <a:xfrm>
              <a:off x="1584381" y="3882550"/>
              <a:ext cx="606317" cy="0"/>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69" name="Line 58"/>
            <p:cNvSpPr>
              <a:spLocks noChangeShapeType="1"/>
            </p:cNvSpPr>
            <p:nvPr/>
          </p:nvSpPr>
          <p:spPr bwMode="auto">
            <a:xfrm>
              <a:off x="2325435" y="3882550"/>
              <a:ext cx="404211" cy="0"/>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70" name="Line 59"/>
            <p:cNvSpPr>
              <a:spLocks noChangeShapeType="1"/>
            </p:cNvSpPr>
            <p:nvPr/>
          </p:nvSpPr>
          <p:spPr bwMode="auto">
            <a:xfrm>
              <a:off x="3403333" y="4131296"/>
              <a:ext cx="662458" cy="0"/>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71" name="Line 60"/>
            <p:cNvSpPr>
              <a:spLocks noChangeShapeType="1"/>
            </p:cNvSpPr>
            <p:nvPr/>
          </p:nvSpPr>
          <p:spPr bwMode="auto">
            <a:xfrm>
              <a:off x="1462276" y="4187004"/>
              <a:ext cx="624141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72" name="Line 61"/>
            <p:cNvSpPr>
              <a:spLocks noChangeShapeType="1"/>
            </p:cNvSpPr>
            <p:nvPr/>
          </p:nvSpPr>
          <p:spPr bwMode="auto">
            <a:xfrm>
              <a:off x="1472100" y="2756717"/>
              <a:ext cx="0" cy="143028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73" name="Line 62"/>
            <p:cNvSpPr>
              <a:spLocks noChangeShapeType="1"/>
            </p:cNvSpPr>
            <p:nvPr/>
          </p:nvSpPr>
          <p:spPr bwMode="auto">
            <a:xfrm>
              <a:off x="4062983" y="2751535"/>
              <a:ext cx="0" cy="143028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74" name="Line 63"/>
            <p:cNvSpPr>
              <a:spLocks noChangeShapeType="1"/>
            </p:cNvSpPr>
            <p:nvPr/>
          </p:nvSpPr>
          <p:spPr bwMode="auto">
            <a:xfrm>
              <a:off x="5095968" y="2758013"/>
              <a:ext cx="0" cy="143028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75" name="Line 64"/>
            <p:cNvSpPr>
              <a:spLocks noChangeShapeType="1"/>
            </p:cNvSpPr>
            <p:nvPr/>
          </p:nvSpPr>
          <p:spPr bwMode="auto">
            <a:xfrm>
              <a:off x="5612460" y="2755422"/>
              <a:ext cx="0" cy="143028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76" name="Line 65"/>
            <p:cNvSpPr>
              <a:spLocks noChangeShapeType="1"/>
            </p:cNvSpPr>
            <p:nvPr/>
          </p:nvSpPr>
          <p:spPr bwMode="auto">
            <a:xfrm>
              <a:off x="6133163" y="2756717"/>
              <a:ext cx="0" cy="143028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77" name="Line 66"/>
            <p:cNvSpPr>
              <a:spLocks noChangeShapeType="1"/>
            </p:cNvSpPr>
            <p:nvPr/>
          </p:nvSpPr>
          <p:spPr bwMode="auto">
            <a:xfrm>
              <a:off x="6653867" y="2765787"/>
              <a:ext cx="0" cy="143028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78" name="Line 67"/>
            <p:cNvSpPr>
              <a:spLocks noChangeShapeType="1"/>
            </p:cNvSpPr>
            <p:nvPr/>
          </p:nvSpPr>
          <p:spPr bwMode="auto">
            <a:xfrm>
              <a:off x="7170359" y="2759308"/>
              <a:ext cx="0" cy="143028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79" name="Line 68"/>
            <p:cNvSpPr>
              <a:spLocks noChangeShapeType="1"/>
            </p:cNvSpPr>
            <p:nvPr/>
          </p:nvSpPr>
          <p:spPr bwMode="auto">
            <a:xfrm>
              <a:off x="7691062" y="2756717"/>
              <a:ext cx="0" cy="143028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80" name="Text Box 73"/>
            <p:cNvSpPr txBox="1">
              <a:spLocks noChangeArrowheads="1"/>
            </p:cNvSpPr>
            <p:nvPr/>
          </p:nvSpPr>
          <p:spPr bwMode="auto">
            <a:xfrm>
              <a:off x="723381" y="2478176"/>
              <a:ext cx="6639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200" b="1" dirty="0">
                  <a:solidFill>
                    <a:srgbClr val="0000FF"/>
                  </a:solidFill>
                  <a:latin typeface="微软雅黑" pitchFamily="34" charset="-122"/>
                  <a:ea typeface="微软雅黑" pitchFamily="34" charset="-122"/>
                </a:rPr>
                <a:t>f  (Hz)</a:t>
              </a:r>
            </a:p>
          </p:txBody>
        </p:sp>
        <p:sp>
          <p:nvSpPr>
            <p:cNvPr id="181" name="Line 75"/>
            <p:cNvSpPr>
              <a:spLocks noChangeShapeType="1"/>
            </p:cNvSpPr>
            <p:nvPr/>
          </p:nvSpPr>
          <p:spPr bwMode="auto">
            <a:xfrm>
              <a:off x="1651749" y="4187004"/>
              <a:ext cx="0" cy="621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82" name="Line 76"/>
            <p:cNvSpPr>
              <a:spLocks noChangeShapeType="1"/>
            </p:cNvSpPr>
            <p:nvPr/>
          </p:nvSpPr>
          <p:spPr bwMode="auto">
            <a:xfrm>
              <a:off x="2157014" y="4194777"/>
              <a:ext cx="0" cy="621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83" name="Line 77"/>
            <p:cNvSpPr>
              <a:spLocks noChangeShapeType="1"/>
            </p:cNvSpPr>
            <p:nvPr/>
          </p:nvSpPr>
          <p:spPr bwMode="auto">
            <a:xfrm>
              <a:off x="2666489" y="4198665"/>
              <a:ext cx="0" cy="621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84" name="Line 78"/>
            <p:cNvSpPr>
              <a:spLocks noChangeShapeType="1"/>
            </p:cNvSpPr>
            <p:nvPr/>
          </p:nvSpPr>
          <p:spPr bwMode="auto">
            <a:xfrm>
              <a:off x="3192805" y="4194777"/>
              <a:ext cx="0" cy="621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85" name="Line 79"/>
            <p:cNvSpPr>
              <a:spLocks noChangeShapeType="1"/>
            </p:cNvSpPr>
            <p:nvPr/>
          </p:nvSpPr>
          <p:spPr bwMode="auto">
            <a:xfrm>
              <a:off x="3693859" y="4194777"/>
              <a:ext cx="0" cy="621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86" name="Line 80"/>
            <p:cNvSpPr>
              <a:spLocks noChangeShapeType="1"/>
            </p:cNvSpPr>
            <p:nvPr/>
          </p:nvSpPr>
          <p:spPr bwMode="auto">
            <a:xfrm>
              <a:off x="4220176" y="4194777"/>
              <a:ext cx="0" cy="621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87" name="Line 81"/>
            <p:cNvSpPr>
              <a:spLocks noChangeShapeType="1"/>
            </p:cNvSpPr>
            <p:nvPr/>
          </p:nvSpPr>
          <p:spPr bwMode="auto">
            <a:xfrm>
              <a:off x="4742282" y="4194777"/>
              <a:ext cx="0" cy="621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88" name="Line 82"/>
            <p:cNvSpPr>
              <a:spLocks noChangeShapeType="1"/>
            </p:cNvSpPr>
            <p:nvPr/>
          </p:nvSpPr>
          <p:spPr bwMode="auto">
            <a:xfrm>
              <a:off x="5251758" y="4194777"/>
              <a:ext cx="0" cy="621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89" name="Line 83"/>
            <p:cNvSpPr>
              <a:spLocks noChangeShapeType="1"/>
            </p:cNvSpPr>
            <p:nvPr/>
          </p:nvSpPr>
          <p:spPr bwMode="auto">
            <a:xfrm>
              <a:off x="5782285" y="4198665"/>
              <a:ext cx="0" cy="621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90" name="Line 84"/>
            <p:cNvSpPr>
              <a:spLocks noChangeShapeType="1"/>
            </p:cNvSpPr>
            <p:nvPr/>
          </p:nvSpPr>
          <p:spPr bwMode="auto">
            <a:xfrm>
              <a:off x="6300181" y="4190891"/>
              <a:ext cx="0" cy="621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91" name="Line 85"/>
            <p:cNvSpPr>
              <a:spLocks noChangeShapeType="1"/>
            </p:cNvSpPr>
            <p:nvPr/>
          </p:nvSpPr>
          <p:spPr bwMode="auto">
            <a:xfrm>
              <a:off x="6826498" y="4198665"/>
              <a:ext cx="0" cy="621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92" name="Line 86"/>
            <p:cNvSpPr>
              <a:spLocks noChangeShapeType="1"/>
            </p:cNvSpPr>
            <p:nvPr/>
          </p:nvSpPr>
          <p:spPr bwMode="auto">
            <a:xfrm>
              <a:off x="7348605" y="4190891"/>
              <a:ext cx="0" cy="621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93" name="Text Box 87"/>
            <p:cNvSpPr txBox="1">
              <a:spLocks noChangeArrowheads="1"/>
            </p:cNvSpPr>
            <p:nvPr/>
          </p:nvSpPr>
          <p:spPr bwMode="auto">
            <a:xfrm>
              <a:off x="1709294" y="4194777"/>
              <a:ext cx="352945" cy="274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200" b="1">
                  <a:latin typeface="微软雅黑" pitchFamily="34" charset="-122"/>
                  <a:ea typeface="微软雅黑" pitchFamily="34" charset="-122"/>
                </a:rPr>
                <a:t>LF</a:t>
              </a:r>
            </a:p>
          </p:txBody>
        </p:sp>
        <p:sp>
          <p:nvSpPr>
            <p:cNvPr id="194" name="Text Box 88"/>
            <p:cNvSpPr txBox="1">
              <a:spLocks noChangeArrowheads="1"/>
            </p:cNvSpPr>
            <p:nvPr/>
          </p:nvSpPr>
          <p:spPr bwMode="auto">
            <a:xfrm>
              <a:off x="2227190" y="4194777"/>
              <a:ext cx="426011" cy="274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200" b="1" dirty="0">
                  <a:latin typeface="微软雅黑" pitchFamily="34" charset="-122"/>
                  <a:ea typeface="微软雅黑" pitchFamily="34" charset="-122"/>
                </a:rPr>
                <a:t>MF</a:t>
              </a:r>
            </a:p>
          </p:txBody>
        </p:sp>
        <p:sp>
          <p:nvSpPr>
            <p:cNvPr id="195" name="Text Box 89"/>
            <p:cNvSpPr txBox="1">
              <a:spLocks noChangeArrowheads="1"/>
            </p:cNvSpPr>
            <p:nvPr/>
          </p:nvSpPr>
          <p:spPr bwMode="auto">
            <a:xfrm>
              <a:off x="2745087" y="4194777"/>
              <a:ext cx="394243" cy="274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200" b="1">
                  <a:latin typeface="微软雅黑" pitchFamily="34" charset="-122"/>
                  <a:ea typeface="微软雅黑" pitchFamily="34" charset="-122"/>
                </a:rPr>
                <a:t>HF</a:t>
              </a:r>
            </a:p>
          </p:txBody>
        </p:sp>
        <p:sp>
          <p:nvSpPr>
            <p:cNvPr id="196" name="Text Box 90"/>
            <p:cNvSpPr txBox="1">
              <a:spLocks noChangeArrowheads="1"/>
            </p:cNvSpPr>
            <p:nvPr/>
          </p:nvSpPr>
          <p:spPr bwMode="auto">
            <a:xfrm>
              <a:off x="3204034" y="4194777"/>
              <a:ext cx="503843" cy="274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200" b="1">
                  <a:latin typeface="微软雅黑" pitchFamily="34" charset="-122"/>
                  <a:ea typeface="微软雅黑" pitchFamily="34" charset="-122"/>
                </a:rPr>
                <a:t>VHF</a:t>
              </a:r>
            </a:p>
          </p:txBody>
        </p:sp>
        <p:sp>
          <p:nvSpPr>
            <p:cNvPr id="197" name="Text Box 91"/>
            <p:cNvSpPr txBox="1">
              <a:spLocks noChangeArrowheads="1"/>
            </p:cNvSpPr>
            <p:nvPr/>
          </p:nvSpPr>
          <p:spPr bwMode="auto">
            <a:xfrm>
              <a:off x="3709298" y="4194777"/>
              <a:ext cx="513373" cy="274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200" b="1">
                  <a:latin typeface="微软雅黑" pitchFamily="34" charset="-122"/>
                  <a:ea typeface="微软雅黑" pitchFamily="34" charset="-122"/>
                </a:rPr>
                <a:t>UHF</a:t>
              </a:r>
            </a:p>
          </p:txBody>
        </p:sp>
        <p:sp>
          <p:nvSpPr>
            <p:cNvPr id="198" name="Text Box 92"/>
            <p:cNvSpPr txBox="1">
              <a:spLocks noChangeArrowheads="1"/>
            </p:cNvSpPr>
            <p:nvPr/>
          </p:nvSpPr>
          <p:spPr bwMode="auto">
            <a:xfrm>
              <a:off x="4210354" y="4194777"/>
              <a:ext cx="486370" cy="274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200" b="1">
                  <a:latin typeface="微软雅黑" pitchFamily="34" charset="-122"/>
                  <a:ea typeface="微软雅黑" pitchFamily="34" charset="-122"/>
                </a:rPr>
                <a:t>SHF</a:t>
              </a:r>
            </a:p>
          </p:txBody>
        </p:sp>
        <p:sp>
          <p:nvSpPr>
            <p:cNvPr id="199" name="Text Box 93"/>
            <p:cNvSpPr txBox="1">
              <a:spLocks noChangeArrowheads="1"/>
            </p:cNvSpPr>
            <p:nvPr/>
          </p:nvSpPr>
          <p:spPr bwMode="auto">
            <a:xfrm>
              <a:off x="4740879" y="4194777"/>
              <a:ext cx="481604" cy="274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200" b="1">
                  <a:latin typeface="微软雅黑" pitchFamily="34" charset="-122"/>
                  <a:ea typeface="微软雅黑" pitchFamily="34" charset="-122"/>
                </a:rPr>
                <a:t>EHF</a:t>
              </a:r>
            </a:p>
          </p:txBody>
        </p:sp>
        <p:sp>
          <p:nvSpPr>
            <p:cNvPr id="200" name="Text Box 94"/>
            <p:cNvSpPr txBox="1">
              <a:spLocks noChangeArrowheads="1"/>
            </p:cNvSpPr>
            <p:nvPr/>
          </p:nvSpPr>
          <p:spPr bwMode="auto">
            <a:xfrm>
              <a:off x="5254565" y="4194777"/>
              <a:ext cx="489547" cy="274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200" b="1">
                  <a:latin typeface="微软雅黑" pitchFamily="34" charset="-122"/>
                  <a:ea typeface="微软雅黑" pitchFamily="34" charset="-122"/>
                </a:rPr>
                <a:t>THF</a:t>
              </a:r>
            </a:p>
          </p:txBody>
        </p:sp>
        <p:sp>
          <p:nvSpPr>
            <p:cNvPr id="201" name="Text Box 95"/>
            <p:cNvSpPr txBox="1">
              <a:spLocks noChangeArrowheads="1"/>
            </p:cNvSpPr>
            <p:nvPr/>
          </p:nvSpPr>
          <p:spPr bwMode="auto">
            <a:xfrm>
              <a:off x="889046" y="4185290"/>
              <a:ext cx="487959" cy="274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200" b="1" dirty="0">
                  <a:solidFill>
                    <a:srgbClr val="0000FF"/>
                  </a:solidFill>
                  <a:latin typeface="微软雅黑" pitchFamily="34" charset="-122"/>
                  <a:ea typeface="微软雅黑" pitchFamily="34" charset="-122"/>
                </a:rPr>
                <a:t>波段</a:t>
              </a:r>
            </a:p>
          </p:txBody>
        </p:sp>
        <p:sp>
          <p:nvSpPr>
            <p:cNvPr id="202" name="Text Box 96"/>
            <p:cNvSpPr txBox="1">
              <a:spLocks noChangeArrowheads="1"/>
            </p:cNvSpPr>
            <p:nvPr/>
          </p:nvSpPr>
          <p:spPr bwMode="auto">
            <a:xfrm>
              <a:off x="1286836" y="2491130"/>
              <a:ext cx="6755809" cy="274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4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5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6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7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8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9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10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11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12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13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14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15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16</a:t>
              </a:r>
              <a:endParaRPr kumimoji="1" lang="en-US" altLang="zh-CN" sz="1200" b="1" dirty="0">
                <a:latin typeface="微软雅黑" pitchFamily="34" charset="-122"/>
                <a:ea typeface="微软雅黑" pitchFamily="34" charset="-122"/>
              </a:endParaRPr>
            </a:p>
          </p:txBody>
        </p:sp>
        <p:sp>
          <p:nvSpPr>
            <p:cNvPr id="203" name="Line 98"/>
            <p:cNvSpPr>
              <a:spLocks noChangeShapeType="1"/>
            </p:cNvSpPr>
            <p:nvPr/>
          </p:nvSpPr>
          <p:spPr bwMode="auto">
            <a:xfrm flipV="1">
              <a:off x="3897369" y="3817774"/>
              <a:ext cx="315791" cy="2591"/>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204" name="Rectangle 20"/>
            <p:cNvSpPr>
              <a:spLocks noChangeArrowheads="1"/>
            </p:cNvSpPr>
            <p:nvPr/>
          </p:nvSpPr>
          <p:spPr bwMode="auto">
            <a:xfrm>
              <a:off x="4178552" y="3123651"/>
              <a:ext cx="808737" cy="186558"/>
            </a:xfrm>
            <a:prstGeom prst="rect">
              <a:avLst/>
            </a:prstGeom>
            <a:solidFill>
              <a:srgbClr val="B1D8F9"/>
            </a:solidFill>
            <a:ln>
              <a:noFill/>
            </a:ln>
            <a:effec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205" name="Text Box 46"/>
            <p:cNvSpPr txBox="1">
              <a:spLocks noChangeArrowheads="1"/>
            </p:cNvSpPr>
            <p:nvPr/>
          </p:nvSpPr>
          <p:spPr bwMode="auto">
            <a:xfrm>
              <a:off x="4186454" y="3107328"/>
              <a:ext cx="792932" cy="274477"/>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200" b="1" dirty="0">
                  <a:solidFill>
                    <a:srgbClr val="0000FF"/>
                  </a:solidFill>
                  <a:latin typeface="微软雅黑" pitchFamily="34" charset="-122"/>
                  <a:ea typeface="微软雅黑" pitchFamily="34" charset="-122"/>
                </a:rPr>
                <a:t>地面微波</a:t>
              </a:r>
            </a:p>
          </p:txBody>
        </p:sp>
        <p:sp>
          <p:nvSpPr>
            <p:cNvPr id="206" name="Rectangle 20"/>
            <p:cNvSpPr>
              <a:spLocks noChangeArrowheads="1"/>
            </p:cNvSpPr>
            <p:nvPr/>
          </p:nvSpPr>
          <p:spPr bwMode="auto">
            <a:xfrm>
              <a:off x="2620213" y="3082487"/>
              <a:ext cx="808737" cy="186558"/>
            </a:xfrm>
            <a:prstGeom prst="rect">
              <a:avLst/>
            </a:prstGeom>
            <a:solidFill>
              <a:srgbClr val="99FFCC"/>
            </a:solidFill>
            <a:ln>
              <a:noFill/>
            </a:ln>
            <a:effec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207" name="Text Box 46"/>
            <p:cNvSpPr txBox="1">
              <a:spLocks noChangeArrowheads="1"/>
            </p:cNvSpPr>
            <p:nvPr/>
          </p:nvSpPr>
          <p:spPr bwMode="auto">
            <a:xfrm>
              <a:off x="2662752" y="3031515"/>
              <a:ext cx="792932" cy="274477"/>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同轴电缆</a:t>
              </a:r>
            </a:p>
          </p:txBody>
        </p:sp>
        <p:sp>
          <p:nvSpPr>
            <p:cNvPr id="208" name="Rectangle 20"/>
            <p:cNvSpPr>
              <a:spLocks noChangeArrowheads="1"/>
            </p:cNvSpPr>
            <p:nvPr/>
          </p:nvSpPr>
          <p:spPr bwMode="auto">
            <a:xfrm>
              <a:off x="1651749" y="2805207"/>
              <a:ext cx="654233" cy="186558"/>
            </a:xfrm>
            <a:prstGeom prst="rect">
              <a:avLst/>
            </a:prstGeom>
            <a:solidFill>
              <a:srgbClr val="99FFCC"/>
            </a:solidFill>
            <a:ln>
              <a:noFill/>
            </a:ln>
            <a:effec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209" name="Text Box 46"/>
            <p:cNvSpPr txBox="1">
              <a:spLocks noChangeArrowheads="1"/>
            </p:cNvSpPr>
            <p:nvPr/>
          </p:nvSpPr>
          <p:spPr bwMode="auto">
            <a:xfrm>
              <a:off x="1702319" y="2771461"/>
              <a:ext cx="646331" cy="276999"/>
            </a:xfrm>
            <a:prstGeom prst="rect">
              <a:avLst/>
            </a:prstGeom>
            <a:noFill/>
            <a:ln>
              <a:noFill/>
            </a:ln>
            <a:effec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双绞线</a:t>
              </a:r>
            </a:p>
          </p:txBody>
        </p:sp>
        <p:sp>
          <p:nvSpPr>
            <p:cNvPr id="210" name="Rectangle 13"/>
            <p:cNvSpPr>
              <a:spLocks noChangeArrowheads="1"/>
            </p:cNvSpPr>
            <p:nvPr/>
          </p:nvSpPr>
          <p:spPr bwMode="auto">
            <a:xfrm>
              <a:off x="1636738" y="3392250"/>
              <a:ext cx="538949" cy="40234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211" name="Text Box 50"/>
            <p:cNvSpPr txBox="1">
              <a:spLocks noChangeArrowheads="1"/>
            </p:cNvSpPr>
            <p:nvPr/>
          </p:nvSpPr>
          <p:spPr bwMode="auto">
            <a:xfrm>
              <a:off x="1585989" y="3382992"/>
              <a:ext cx="640446" cy="420864"/>
            </a:xfrm>
            <a:prstGeom prst="rect">
              <a:avLst/>
            </a:prstGeom>
            <a:solidFill>
              <a:srgbClr val="99FFCC"/>
            </a:solidFill>
            <a:ln>
              <a:noFill/>
            </a:ln>
            <a:effectLst/>
          </p:spPr>
          <p:txBody>
            <a:bodyPr wrap="none">
              <a:spAutoFit/>
            </a:bodyPr>
            <a:lstStyle/>
            <a:p>
              <a:pPr algn="l">
                <a:lnSpc>
                  <a:spcPct val="90000"/>
                </a:lnSpc>
              </a:pPr>
              <a:r>
                <a:rPr kumimoji="1" lang="en-US" altLang="zh-CN" sz="1200" b="1" dirty="0">
                  <a:solidFill>
                    <a:srgbClr val="0000FF"/>
                  </a:solidFill>
                  <a:latin typeface="微软雅黑" pitchFamily="34" charset="-122"/>
                  <a:ea typeface="微软雅黑" pitchFamily="34" charset="-122"/>
                </a:rPr>
                <a:t>  </a:t>
              </a:r>
              <a:r>
                <a:rPr kumimoji="1" lang="zh-CN" altLang="en-US" sz="1200" b="1" dirty="0">
                  <a:solidFill>
                    <a:srgbClr val="0000FF"/>
                  </a:solidFill>
                  <a:latin typeface="微软雅黑" pitchFamily="34" charset="-122"/>
                  <a:ea typeface="微软雅黑" pitchFamily="34" charset="-122"/>
                </a:rPr>
                <a:t>海事</a:t>
              </a:r>
            </a:p>
            <a:p>
              <a:pPr algn="l">
                <a:lnSpc>
                  <a:spcPct val="90000"/>
                </a:lnSpc>
              </a:pPr>
              <a:r>
                <a:rPr kumimoji="1" lang="zh-CN" altLang="en-US" sz="1200" b="1" dirty="0">
                  <a:solidFill>
                    <a:srgbClr val="0000FF"/>
                  </a:solidFill>
                  <a:latin typeface="微软雅黑" pitchFamily="34" charset="-122"/>
                  <a:ea typeface="微软雅黑" pitchFamily="34" charset="-122"/>
                </a:rPr>
                <a:t>无线电</a:t>
              </a:r>
            </a:p>
          </p:txBody>
        </p:sp>
        <p:sp>
          <p:nvSpPr>
            <p:cNvPr id="212" name="Rectangle 13"/>
            <p:cNvSpPr>
              <a:spLocks noChangeArrowheads="1"/>
            </p:cNvSpPr>
            <p:nvPr/>
          </p:nvSpPr>
          <p:spPr bwMode="auto">
            <a:xfrm>
              <a:off x="2246485" y="3392250"/>
              <a:ext cx="538949" cy="40234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213" name="Text Box 50"/>
            <p:cNvSpPr txBox="1">
              <a:spLocks noChangeArrowheads="1"/>
            </p:cNvSpPr>
            <p:nvPr/>
          </p:nvSpPr>
          <p:spPr bwMode="auto">
            <a:xfrm>
              <a:off x="2195736" y="3382992"/>
              <a:ext cx="646331" cy="424732"/>
            </a:xfrm>
            <a:prstGeom prst="rect">
              <a:avLst/>
            </a:prstGeom>
            <a:solidFill>
              <a:srgbClr val="99FFCC"/>
            </a:solidFill>
            <a:ln>
              <a:noFill/>
            </a:ln>
            <a:effectLst/>
          </p:spPr>
          <p:txBody>
            <a:bodyPr wrap="none">
              <a:spAutoFit/>
            </a:bodyPr>
            <a:lstStyle/>
            <a:p>
              <a:pPr algn="ctr">
                <a:lnSpc>
                  <a:spcPct val="90000"/>
                </a:lnSpc>
              </a:pPr>
              <a:r>
                <a:rPr kumimoji="1" lang="zh-CN" altLang="en-US" sz="1200" b="1" dirty="0">
                  <a:solidFill>
                    <a:srgbClr val="0000FF"/>
                  </a:solidFill>
                  <a:latin typeface="微软雅黑" pitchFamily="34" charset="-122"/>
                  <a:ea typeface="微软雅黑" pitchFamily="34" charset="-122"/>
                </a:rPr>
                <a:t>调幅</a:t>
              </a:r>
              <a:endParaRPr kumimoji="1" lang="en-US" altLang="zh-CN" sz="1200" b="1" dirty="0">
                <a:solidFill>
                  <a:srgbClr val="0000FF"/>
                </a:solidFill>
                <a:latin typeface="微软雅黑" pitchFamily="34" charset="-122"/>
                <a:ea typeface="微软雅黑" pitchFamily="34" charset="-122"/>
              </a:endParaRPr>
            </a:p>
            <a:p>
              <a:pPr algn="ctr">
                <a:lnSpc>
                  <a:spcPct val="90000"/>
                </a:lnSpc>
              </a:pPr>
              <a:r>
                <a:rPr kumimoji="1" lang="zh-CN" altLang="en-US" sz="1200" b="1" dirty="0">
                  <a:solidFill>
                    <a:srgbClr val="0000FF"/>
                  </a:solidFill>
                  <a:latin typeface="微软雅黑" pitchFamily="34" charset="-122"/>
                  <a:ea typeface="微软雅黑" pitchFamily="34" charset="-122"/>
                </a:rPr>
                <a:t>无线电</a:t>
              </a:r>
            </a:p>
          </p:txBody>
        </p:sp>
        <p:sp>
          <p:nvSpPr>
            <p:cNvPr id="214" name="Rectangle 13"/>
            <p:cNvSpPr>
              <a:spLocks noChangeArrowheads="1"/>
            </p:cNvSpPr>
            <p:nvPr/>
          </p:nvSpPr>
          <p:spPr bwMode="auto">
            <a:xfrm>
              <a:off x="3799407" y="3354150"/>
              <a:ext cx="538949" cy="40234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215" name="Text Box 50"/>
            <p:cNvSpPr txBox="1">
              <a:spLocks noChangeArrowheads="1"/>
            </p:cNvSpPr>
            <p:nvPr/>
          </p:nvSpPr>
          <p:spPr bwMode="auto">
            <a:xfrm>
              <a:off x="3748658" y="3344892"/>
              <a:ext cx="646331" cy="424732"/>
            </a:xfrm>
            <a:prstGeom prst="rect">
              <a:avLst/>
            </a:prstGeom>
            <a:solidFill>
              <a:srgbClr val="B1D8F9"/>
            </a:solidFill>
            <a:ln>
              <a:noFill/>
            </a:ln>
            <a:effectLst/>
          </p:spPr>
          <p:txBody>
            <a:bodyPr wrap="none">
              <a:spAutoFit/>
            </a:bodyPr>
            <a:lstStyle/>
            <a:p>
              <a:pPr algn="ctr">
                <a:lnSpc>
                  <a:spcPct val="90000"/>
                </a:lnSpc>
              </a:pPr>
              <a:r>
                <a:rPr kumimoji="1" lang="zh-CN" altLang="en-US" sz="1200" b="1" dirty="0">
                  <a:solidFill>
                    <a:srgbClr val="0000FF"/>
                  </a:solidFill>
                  <a:latin typeface="微软雅黑" pitchFamily="34" charset="-122"/>
                  <a:ea typeface="微软雅黑" pitchFamily="34" charset="-122"/>
                </a:rPr>
                <a:t>移动</a:t>
              </a:r>
            </a:p>
            <a:p>
              <a:pPr algn="ctr">
                <a:lnSpc>
                  <a:spcPct val="90000"/>
                </a:lnSpc>
              </a:pPr>
              <a:r>
                <a:rPr kumimoji="1" lang="zh-CN" altLang="en-US" sz="1200" b="1" dirty="0">
                  <a:solidFill>
                    <a:srgbClr val="0000FF"/>
                  </a:solidFill>
                  <a:latin typeface="微软雅黑" pitchFamily="34" charset="-122"/>
                  <a:ea typeface="微软雅黑" pitchFamily="34" charset="-122"/>
                </a:rPr>
                <a:t>无线电</a:t>
              </a:r>
            </a:p>
          </p:txBody>
        </p:sp>
        <p:sp>
          <p:nvSpPr>
            <p:cNvPr id="216" name="矩形 215"/>
            <p:cNvSpPr/>
            <p:nvPr/>
          </p:nvSpPr>
          <p:spPr>
            <a:xfrm>
              <a:off x="4133850" y="2805207"/>
              <a:ext cx="381000" cy="206734"/>
            </a:xfrm>
            <a:prstGeom prst="rect">
              <a:avLst/>
            </a:prstGeom>
            <a:solidFill>
              <a:srgbClr val="B1D8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7" name="Text Box 44"/>
            <p:cNvSpPr txBox="1">
              <a:spLocks noChangeArrowheads="1"/>
            </p:cNvSpPr>
            <p:nvPr/>
          </p:nvSpPr>
          <p:spPr bwMode="auto">
            <a:xfrm>
              <a:off x="4089718" y="2797053"/>
              <a:ext cx="487959" cy="274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200" b="1" dirty="0">
                  <a:solidFill>
                    <a:srgbClr val="0000FF"/>
                  </a:solidFill>
                  <a:latin typeface="微软雅黑" pitchFamily="34" charset="-122"/>
                  <a:ea typeface="微软雅黑" pitchFamily="34" charset="-122"/>
                </a:rPr>
                <a:t>卫星</a:t>
              </a:r>
            </a:p>
          </p:txBody>
        </p:sp>
        <p:sp>
          <p:nvSpPr>
            <p:cNvPr id="218" name="矩形 217"/>
            <p:cNvSpPr/>
            <p:nvPr/>
          </p:nvSpPr>
          <p:spPr>
            <a:xfrm>
              <a:off x="3608392" y="3868717"/>
              <a:ext cx="381000" cy="206734"/>
            </a:xfrm>
            <a:prstGeom prst="rect">
              <a:avLst/>
            </a:prstGeom>
            <a:solidFill>
              <a:srgbClr val="B1D8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9" name="Text Box 44"/>
            <p:cNvSpPr txBox="1">
              <a:spLocks noChangeArrowheads="1"/>
            </p:cNvSpPr>
            <p:nvPr/>
          </p:nvSpPr>
          <p:spPr bwMode="auto">
            <a:xfrm>
              <a:off x="3555551" y="3877021"/>
              <a:ext cx="487959" cy="274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电视</a:t>
              </a:r>
            </a:p>
          </p:txBody>
        </p:sp>
        <p:sp>
          <p:nvSpPr>
            <p:cNvPr id="220" name="Line 17"/>
            <p:cNvSpPr>
              <a:spLocks noChangeShapeType="1"/>
            </p:cNvSpPr>
            <p:nvPr/>
          </p:nvSpPr>
          <p:spPr bwMode="auto">
            <a:xfrm>
              <a:off x="3542281" y="2758013"/>
              <a:ext cx="0" cy="59613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221" name="Text Box 50"/>
            <p:cNvSpPr txBox="1">
              <a:spLocks noChangeArrowheads="1"/>
            </p:cNvSpPr>
            <p:nvPr/>
          </p:nvSpPr>
          <p:spPr bwMode="auto">
            <a:xfrm>
              <a:off x="3137206" y="3344892"/>
              <a:ext cx="646331" cy="424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kumimoji="1" lang="en-US" altLang="zh-CN" sz="1200" b="1" dirty="0">
                  <a:solidFill>
                    <a:srgbClr val="0000FF"/>
                  </a:solidFill>
                  <a:latin typeface="微软雅黑" pitchFamily="34" charset="-122"/>
                  <a:ea typeface="微软雅黑" pitchFamily="34" charset="-122"/>
                </a:rPr>
                <a:t> </a:t>
              </a:r>
              <a:r>
                <a:rPr kumimoji="1" lang="zh-CN" altLang="en-US" sz="1200" b="1" dirty="0">
                  <a:solidFill>
                    <a:srgbClr val="0000FF"/>
                  </a:solidFill>
                  <a:latin typeface="微软雅黑" pitchFamily="34" charset="-122"/>
                  <a:ea typeface="微软雅黑" pitchFamily="34" charset="-122"/>
                </a:rPr>
                <a:t>调频</a:t>
              </a:r>
            </a:p>
            <a:p>
              <a:pPr algn="ctr">
                <a:lnSpc>
                  <a:spcPct val="90000"/>
                </a:lnSpc>
              </a:pPr>
              <a:r>
                <a:rPr kumimoji="1" lang="zh-CN" altLang="en-US" sz="1200" b="1" dirty="0">
                  <a:solidFill>
                    <a:srgbClr val="0000FF"/>
                  </a:solidFill>
                  <a:latin typeface="微软雅黑" pitchFamily="34" charset="-122"/>
                  <a:ea typeface="微软雅黑" pitchFamily="34" charset="-122"/>
                </a:rPr>
                <a:t>无线电</a:t>
              </a:r>
            </a:p>
          </p:txBody>
        </p:sp>
        <p:sp>
          <p:nvSpPr>
            <p:cNvPr id="222" name="Line 17"/>
            <p:cNvSpPr>
              <a:spLocks noChangeShapeType="1"/>
            </p:cNvSpPr>
            <p:nvPr/>
          </p:nvSpPr>
          <p:spPr bwMode="auto">
            <a:xfrm>
              <a:off x="3542281" y="3756499"/>
              <a:ext cx="0" cy="42879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223" name="Line 43"/>
            <p:cNvSpPr>
              <a:spLocks noChangeShapeType="1"/>
            </p:cNvSpPr>
            <p:nvPr/>
          </p:nvSpPr>
          <p:spPr bwMode="auto">
            <a:xfrm>
              <a:off x="1988592" y="3316395"/>
              <a:ext cx="2021057" cy="0"/>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grpSp>
    </p:spTree>
    <p:extLst>
      <p:ext uri="{BB962C8B-B14F-4D97-AF65-F5344CB8AC3E}">
        <p14:creationId xmlns:p14="http://schemas.microsoft.com/office/powerpoint/2010/main" val="4887218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sz="quarter" idx="10"/>
          </p:nvPr>
        </p:nvSpPr>
        <p:spPr>
          <a:xfrm>
            <a:off x="466343" y="900000"/>
            <a:ext cx="8129017" cy="3376990"/>
          </a:xfrm>
        </p:spPr>
        <p:txBody>
          <a:bodyPr/>
          <a:lstStyle/>
          <a:p>
            <a:r>
              <a:rPr lang="zh-CN" altLang="en-US" dirty="0"/>
              <a:t>占有特殊重要的地位。</a:t>
            </a:r>
            <a:endParaRPr lang="en-US" altLang="zh-CN" dirty="0"/>
          </a:p>
          <a:p>
            <a:r>
              <a:rPr lang="zh-CN" altLang="en-US" dirty="0"/>
              <a:t>微波频率范围：</a:t>
            </a:r>
            <a:endParaRPr lang="en-US" altLang="zh-CN" dirty="0"/>
          </a:p>
          <a:p>
            <a:pPr lvl="1"/>
            <a:r>
              <a:rPr lang="en-US" altLang="zh-CN" dirty="0"/>
              <a:t>300 MHz~300 GHz</a:t>
            </a:r>
            <a:r>
              <a:rPr lang="zh-CN" altLang="en-US" dirty="0"/>
              <a:t>（波长</a:t>
            </a:r>
            <a:r>
              <a:rPr lang="en-US" altLang="zh-CN" dirty="0"/>
              <a:t>1 m ~ 1 mm</a:t>
            </a:r>
            <a:r>
              <a:rPr lang="zh-CN" altLang="en-US" dirty="0"/>
              <a:t>）。</a:t>
            </a:r>
            <a:endParaRPr lang="en-US" altLang="zh-CN" dirty="0"/>
          </a:p>
          <a:p>
            <a:pPr lvl="1"/>
            <a:r>
              <a:rPr lang="zh-CN" altLang="en-US" dirty="0"/>
              <a:t>主要使用：</a:t>
            </a:r>
            <a:r>
              <a:rPr lang="en-US" altLang="zh-CN" dirty="0"/>
              <a:t>2 ~ 40 GHz</a:t>
            </a:r>
            <a:r>
              <a:rPr lang="zh-CN" altLang="en-US" dirty="0"/>
              <a:t>。</a:t>
            </a:r>
            <a:endParaRPr lang="en-US" altLang="zh-CN" dirty="0"/>
          </a:p>
          <a:p>
            <a:r>
              <a:rPr lang="zh-CN" altLang="zh-CN" dirty="0"/>
              <a:t>在空间主要是直线传播</a:t>
            </a:r>
            <a:r>
              <a:rPr lang="zh-CN" altLang="en-US" dirty="0"/>
              <a:t>。</a:t>
            </a:r>
            <a:endParaRPr lang="en-US" altLang="zh-CN" dirty="0"/>
          </a:p>
          <a:p>
            <a:pPr lvl="1"/>
            <a:r>
              <a:rPr lang="zh-CN" altLang="en-US" dirty="0"/>
              <a:t>地球表面：传播距离受到限制，一般只有 </a:t>
            </a:r>
            <a:r>
              <a:rPr lang="en-US" altLang="zh-CN" dirty="0"/>
              <a:t>50 km</a:t>
            </a:r>
            <a:r>
              <a:rPr lang="zh-CN" altLang="en-US" dirty="0"/>
              <a:t>左右。</a:t>
            </a:r>
            <a:endParaRPr lang="en-US" altLang="zh-CN" dirty="0"/>
          </a:p>
          <a:p>
            <a:pPr lvl="1"/>
            <a:r>
              <a:rPr lang="en-US" altLang="zh-CN" dirty="0"/>
              <a:t>100 m </a:t>
            </a:r>
            <a:r>
              <a:rPr lang="zh-CN" altLang="en-US" dirty="0"/>
              <a:t>高的天线塔：传播距离可增大到 </a:t>
            </a:r>
            <a:r>
              <a:rPr lang="en-US" altLang="zh-CN" dirty="0"/>
              <a:t>100 km</a:t>
            </a:r>
            <a:r>
              <a:rPr lang="zh-CN" altLang="en-US" dirty="0"/>
              <a:t>。</a:t>
            </a:r>
          </a:p>
        </p:txBody>
      </p:sp>
      <p:sp>
        <p:nvSpPr>
          <p:cNvPr id="4" name="文本占位符 3"/>
          <p:cNvSpPr>
            <a:spLocks noGrp="1"/>
          </p:cNvSpPr>
          <p:nvPr>
            <p:ph type="body" sz="quarter" idx="11"/>
          </p:nvPr>
        </p:nvSpPr>
        <p:spPr>
          <a:xfrm>
            <a:off x="1332000" y="360000"/>
            <a:ext cx="6480000" cy="354012"/>
          </a:xfrm>
        </p:spPr>
        <p:txBody>
          <a:bodyPr>
            <a:normAutofit fontScale="92500" lnSpcReduction="10000"/>
          </a:bodyPr>
          <a:lstStyle/>
          <a:p>
            <a:r>
              <a:rPr lang="zh-CN" altLang="en-US" dirty="0"/>
              <a:t>无线电微波通信</a:t>
            </a:r>
          </a:p>
        </p:txBody>
      </p:sp>
    </p:spTree>
    <p:extLst>
      <p:ext uri="{BB962C8B-B14F-4D97-AF65-F5344CB8AC3E}">
        <p14:creationId xmlns:p14="http://schemas.microsoft.com/office/powerpoint/2010/main" val="27293385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sz="quarter" idx="10"/>
          </p:nvPr>
        </p:nvSpPr>
        <p:spPr>
          <a:xfrm>
            <a:off x="466343" y="900000"/>
            <a:ext cx="8129017" cy="3376990"/>
          </a:xfrm>
        </p:spPr>
        <p:txBody>
          <a:bodyPr/>
          <a:lstStyle/>
          <a:p>
            <a:r>
              <a:rPr lang="zh-CN" altLang="en-US" dirty="0"/>
              <a:t>基站发出的信号可以经过多个障碍物的数次反射，从多条路径、按不同时间等到达接收方。多条路径的信号叠加后一般都会产生很大的失真，这就是所谓的多径效应。</a:t>
            </a:r>
            <a:endParaRPr lang="en-US" altLang="zh-CN" dirty="0"/>
          </a:p>
        </p:txBody>
      </p:sp>
      <p:sp>
        <p:nvSpPr>
          <p:cNvPr id="4" name="文本占位符 3"/>
          <p:cNvSpPr>
            <a:spLocks noGrp="1"/>
          </p:cNvSpPr>
          <p:nvPr>
            <p:ph type="body" sz="quarter" idx="11"/>
          </p:nvPr>
        </p:nvSpPr>
        <p:spPr>
          <a:xfrm>
            <a:off x="1332000" y="360000"/>
            <a:ext cx="6480000" cy="354012"/>
          </a:xfrm>
        </p:spPr>
        <p:txBody>
          <a:bodyPr>
            <a:normAutofit fontScale="92500" lnSpcReduction="10000"/>
          </a:bodyPr>
          <a:lstStyle/>
          <a:p>
            <a:r>
              <a:rPr lang="zh-CN" altLang="en-US" dirty="0"/>
              <a:t>多径效应</a:t>
            </a:r>
          </a:p>
        </p:txBody>
      </p:sp>
      <p:grpSp>
        <p:nvGrpSpPr>
          <p:cNvPr id="88" name="组合 87"/>
          <p:cNvGrpSpPr/>
          <p:nvPr/>
        </p:nvGrpSpPr>
        <p:grpSpPr>
          <a:xfrm>
            <a:off x="957939" y="2281963"/>
            <a:ext cx="4214951" cy="2182627"/>
            <a:chOff x="984066" y="2360343"/>
            <a:chExt cx="4214951" cy="2182627"/>
          </a:xfrm>
        </p:grpSpPr>
        <p:sp>
          <p:nvSpPr>
            <p:cNvPr id="6" name="矩形 5"/>
            <p:cNvSpPr/>
            <p:nvPr/>
          </p:nvSpPr>
          <p:spPr>
            <a:xfrm>
              <a:off x="2680833" y="3074047"/>
              <a:ext cx="375876" cy="697763"/>
            </a:xfrm>
            <a:prstGeom prst="rect">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anose="020B0503020204020204" pitchFamily="34" charset="-122"/>
                  <a:ea typeface="微软雅黑" panose="020B0503020204020204" pitchFamily="34" charset="-122"/>
                </a:rPr>
                <a:t>障碍物</a:t>
              </a:r>
            </a:p>
          </p:txBody>
        </p:sp>
        <p:grpSp>
          <p:nvGrpSpPr>
            <p:cNvPr id="7" name="Group 479"/>
            <p:cNvGrpSpPr>
              <a:grpSpLocks/>
            </p:cNvGrpSpPr>
            <p:nvPr/>
          </p:nvGrpSpPr>
          <p:grpSpPr bwMode="auto">
            <a:xfrm>
              <a:off x="4640064" y="3596748"/>
              <a:ext cx="316457" cy="621824"/>
              <a:chOff x="4186" y="1736"/>
              <a:chExt cx="246" cy="461"/>
            </a:xfrm>
          </p:grpSpPr>
          <p:pic>
            <p:nvPicPr>
              <p:cNvPr id="8" name="Picture 426" descr="icon-mobile-phone"/>
              <p:cNvPicPr>
                <a:picLocks noChangeAspect="1" noChangeArrowheads="1"/>
              </p:cNvPicPr>
              <p:nvPr/>
            </p:nvPicPr>
            <p:blipFill>
              <a:blip r:embed="rId2" cstate="print"/>
              <a:srcRect/>
              <a:stretch>
                <a:fillRect/>
              </a:stretch>
            </p:blipFill>
            <p:spPr bwMode="auto">
              <a:xfrm flipH="1">
                <a:off x="4258" y="1795"/>
                <a:ext cx="174" cy="402"/>
              </a:xfrm>
              <a:prstGeom prst="rect">
                <a:avLst/>
              </a:prstGeom>
              <a:noFill/>
              <a:ln w="9525">
                <a:noFill/>
                <a:miter lim="800000"/>
                <a:headEnd/>
                <a:tailEnd/>
              </a:ln>
            </p:spPr>
          </p:pic>
          <p:grpSp>
            <p:nvGrpSpPr>
              <p:cNvPr id="9" name="Group 478"/>
              <p:cNvGrpSpPr>
                <a:grpSpLocks/>
              </p:cNvGrpSpPr>
              <p:nvPr/>
            </p:nvGrpSpPr>
            <p:grpSpPr bwMode="auto">
              <a:xfrm>
                <a:off x="4186" y="1736"/>
                <a:ext cx="198" cy="79"/>
                <a:chOff x="4513" y="1707"/>
                <a:chExt cx="198" cy="177"/>
              </a:xfrm>
            </p:grpSpPr>
            <p:sp>
              <p:nvSpPr>
                <p:cNvPr id="10" name="AutoShape 451"/>
                <p:cNvSpPr>
                  <a:spLocks noChangeArrowheads="1"/>
                </p:cNvSpPr>
                <p:nvPr/>
              </p:nvSpPr>
              <p:spPr bwMode="auto">
                <a:xfrm rot="16200000" flipH="1">
                  <a:off x="4546" y="1674"/>
                  <a:ext cx="132" cy="198"/>
                </a:xfrm>
                <a:prstGeom prst="moon">
                  <a:avLst>
                    <a:gd name="adj" fmla="val 18444"/>
                  </a:avLst>
                </a:prstGeom>
                <a:solidFill>
                  <a:srgbClr val="808080"/>
                </a:solidFill>
                <a:ln w="9525">
                  <a:noFill/>
                  <a:miter lim="800000"/>
                  <a:headEnd/>
                  <a:tailEnd/>
                </a:ln>
              </p:spPr>
              <p:txBody>
                <a:bodyPr wrap="none" anchor="ctr"/>
                <a:lstStyle/>
                <a:p>
                  <a:endParaRPr lang="zh-CN" altLang="en-US" sz="1600" b="1">
                    <a:latin typeface="微软雅黑" panose="020B0503020204020204" pitchFamily="34" charset="-122"/>
                    <a:ea typeface="微软雅黑" panose="020B0503020204020204" pitchFamily="34" charset="-122"/>
                  </a:endParaRPr>
                </a:p>
              </p:txBody>
            </p:sp>
            <p:sp>
              <p:nvSpPr>
                <p:cNvPr id="11" name="AutoShape 452"/>
                <p:cNvSpPr>
                  <a:spLocks noChangeArrowheads="1"/>
                </p:cNvSpPr>
                <p:nvPr/>
              </p:nvSpPr>
              <p:spPr bwMode="auto">
                <a:xfrm rot="16200000" flipH="1">
                  <a:off x="4570" y="1756"/>
                  <a:ext cx="83" cy="132"/>
                </a:xfrm>
                <a:prstGeom prst="moon">
                  <a:avLst>
                    <a:gd name="adj" fmla="val 18347"/>
                  </a:avLst>
                </a:prstGeom>
                <a:solidFill>
                  <a:srgbClr val="808080"/>
                </a:solidFill>
                <a:ln w="9525">
                  <a:noFill/>
                  <a:miter lim="800000"/>
                  <a:headEnd/>
                  <a:tailEnd/>
                </a:ln>
              </p:spPr>
              <p:txBody>
                <a:bodyPr wrap="none" anchor="ctr"/>
                <a:lstStyle/>
                <a:p>
                  <a:endParaRPr lang="zh-CN" altLang="en-US" sz="1600" b="1">
                    <a:latin typeface="微软雅黑" panose="020B0503020204020204" pitchFamily="34" charset="-122"/>
                    <a:ea typeface="微软雅黑" panose="020B0503020204020204" pitchFamily="34" charset="-122"/>
                  </a:endParaRPr>
                </a:p>
              </p:txBody>
            </p:sp>
            <p:sp>
              <p:nvSpPr>
                <p:cNvPr id="12" name="AutoShape 454"/>
                <p:cNvSpPr>
                  <a:spLocks noChangeArrowheads="1"/>
                </p:cNvSpPr>
                <p:nvPr/>
              </p:nvSpPr>
              <p:spPr bwMode="auto">
                <a:xfrm rot="16200000" flipH="1">
                  <a:off x="4591" y="1830"/>
                  <a:ext cx="42" cy="66"/>
                </a:xfrm>
                <a:prstGeom prst="moon">
                  <a:avLst>
                    <a:gd name="adj" fmla="val 41907"/>
                  </a:avLst>
                </a:prstGeom>
                <a:solidFill>
                  <a:srgbClr val="808080"/>
                </a:solidFill>
                <a:ln w="9525">
                  <a:noFill/>
                  <a:miter lim="800000"/>
                  <a:headEnd/>
                  <a:tailEnd/>
                </a:ln>
              </p:spPr>
              <p:txBody>
                <a:bodyPr wrap="none" anchor="ctr"/>
                <a:lstStyle/>
                <a:p>
                  <a:endParaRPr lang="zh-CN" altLang="en-US" sz="1600" b="1">
                    <a:latin typeface="微软雅黑" panose="020B0503020204020204" pitchFamily="34" charset="-122"/>
                    <a:ea typeface="微软雅黑" panose="020B0503020204020204" pitchFamily="34" charset="-122"/>
                  </a:endParaRPr>
                </a:p>
              </p:txBody>
            </p:sp>
          </p:grpSp>
        </p:grpSp>
        <p:grpSp>
          <p:nvGrpSpPr>
            <p:cNvPr id="13" name="Group 513"/>
            <p:cNvGrpSpPr>
              <a:grpSpLocks/>
            </p:cNvGrpSpPr>
            <p:nvPr/>
          </p:nvGrpSpPr>
          <p:grpSpPr bwMode="auto">
            <a:xfrm>
              <a:off x="1040814" y="2847704"/>
              <a:ext cx="465822" cy="748733"/>
              <a:chOff x="4608" y="700"/>
              <a:chExt cx="306" cy="553"/>
            </a:xfrm>
          </p:grpSpPr>
          <p:grpSp>
            <p:nvGrpSpPr>
              <p:cNvPr id="14" name="Group 505"/>
              <p:cNvGrpSpPr>
                <a:grpSpLocks/>
              </p:cNvGrpSpPr>
              <p:nvPr/>
            </p:nvGrpSpPr>
            <p:grpSpPr bwMode="auto">
              <a:xfrm>
                <a:off x="4694" y="784"/>
                <a:ext cx="134" cy="469"/>
                <a:chOff x="4740" y="784"/>
                <a:chExt cx="88" cy="692"/>
              </a:xfrm>
            </p:grpSpPr>
            <p:sp>
              <p:nvSpPr>
                <p:cNvPr id="22" name="Line 489"/>
                <p:cNvSpPr>
                  <a:spLocks noChangeShapeType="1"/>
                </p:cNvSpPr>
                <p:nvPr/>
              </p:nvSpPr>
              <p:spPr bwMode="auto">
                <a:xfrm>
                  <a:off x="4771" y="1032"/>
                  <a:ext cx="29" cy="1"/>
                </a:xfrm>
                <a:prstGeom prst="line">
                  <a:avLst/>
                </a:prstGeom>
                <a:noFill/>
                <a:ln w="12700">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grpSp>
              <p:nvGrpSpPr>
                <p:cNvPr id="23" name="Group 504"/>
                <p:cNvGrpSpPr>
                  <a:grpSpLocks/>
                </p:cNvGrpSpPr>
                <p:nvPr/>
              </p:nvGrpSpPr>
              <p:grpSpPr bwMode="auto">
                <a:xfrm>
                  <a:off x="4740" y="784"/>
                  <a:ext cx="88" cy="692"/>
                  <a:chOff x="4740" y="784"/>
                  <a:chExt cx="88" cy="692"/>
                </a:xfrm>
              </p:grpSpPr>
              <p:sp>
                <p:nvSpPr>
                  <p:cNvPr id="24" name="Line 490"/>
                  <p:cNvSpPr>
                    <a:spLocks noChangeShapeType="1"/>
                  </p:cNvSpPr>
                  <p:nvPr/>
                </p:nvSpPr>
                <p:spPr bwMode="auto">
                  <a:xfrm flipV="1">
                    <a:off x="4785" y="793"/>
                    <a:ext cx="1" cy="139"/>
                  </a:xfrm>
                  <a:prstGeom prst="line">
                    <a:avLst/>
                  </a:prstGeom>
                  <a:noFill/>
                  <a:ln w="12700">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25" name="Line 491"/>
                  <p:cNvSpPr>
                    <a:spLocks noChangeShapeType="1"/>
                  </p:cNvSpPr>
                  <p:nvPr/>
                </p:nvSpPr>
                <p:spPr bwMode="auto">
                  <a:xfrm flipV="1">
                    <a:off x="4740" y="929"/>
                    <a:ext cx="35" cy="547"/>
                  </a:xfrm>
                  <a:prstGeom prst="line">
                    <a:avLst/>
                  </a:prstGeom>
                  <a:noFill/>
                  <a:ln w="12700">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26" name="Line 492"/>
                  <p:cNvSpPr>
                    <a:spLocks noChangeShapeType="1"/>
                  </p:cNvSpPr>
                  <p:nvPr/>
                </p:nvSpPr>
                <p:spPr bwMode="auto">
                  <a:xfrm>
                    <a:off x="4793" y="929"/>
                    <a:ext cx="35" cy="547"/>
                  </a:xfrm>
                  <a:prstGeom prst="line">
                    <a:avLst/>
                  </a:prstGeom>
                  <a:noFill/>
                  <a:ln w="12700">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27" name="Line 493"/>
                  <p:cNvSpPr>
                    <a:spLocks noChangeShapeType="1"/>
                  </p:cNvSpPr>
                  <p:nvPr/>
                </p:nvSpPr>
                <p:spPr bwMode="auto">
                  <a:xfrm>
                    <a:off x="4743" y="1461"/>
                    <a:ext cx="84" cy="1"/>
                  </a:xfrm>
                  <a:prstGeom prst="line">
                    <a:avLst/>
                  </a:prstGeom>
                  <a:noFill/>
                  <a:ln w="12700">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28" name="Line 494"/>
                  <p:cNvSpPr>
                    <a:spLocks noChangeShapeType="1"/>
                  </p:cNvSpPr>
                  <p:nvPr/>
                </p:nvSpPr>
                <p:spPr bwMode="auto">
                  <a:xfrm>
                    <a:off x="4753" y="1312"/>
                    <a:ext cx="66" cy="1"/>
                  </a:xfrm>
                  <a:prstGeom prst="line">
                    <a:avLst/>
                  </a:prstGeom>
                  <a:noFill/>
                  <a:ln w="12700">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29" name="Line 495"/>
                  <p:cNvSpPr>
                    <a:spLocks noChangeShapeType="1"/>
                  </p:cNvSpPr>
                  <p:nvPr/>
                </p:nvSpPr>
                <p:spPr bwMode="auto">
                  <a:xfrm>
                    <a:off x="4752" y="1314"/>
                    <a:ext cx="73" cy="151"/>
                  </a:xfrm>
                  <a:prstGeom prst="line">
                    <a:avLst/>
                  </a:prstGeom>
                  <a:noFill/>
                  <a:ln w="6350">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30" name="Line 496"/>
                  <p:cNvSpPr>
                    <a:spLocks noChangeShapeType="1"/>
                  </p:cNvSpPr>
                  <p:nvPr/>
                </p:nvSpPr>
                <p:spPr bwMode="auto">
                  <a:xfrm flipH="1">
                    <a:off x="4745" y="1313"/>
                    <a:ext cx="73" cy="149"/>
                  </a:xfrm>
                  <a:prstGeom prst="line">
                    <a:avLst/>
                  </a:prstGeom>
                  <a:noFill/>
                  <a:ln w="6350">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31" name="Line 497"/>
                  <p:cNvSpPr>
                    <a:spLocks noChangeShapeType="1"/>
                  </p:cNvSpPr>
                  <p:nvPr/>
                </p:nvSpPr>
                <p:spPr bwMode="auto">
                  <a:xfrm>
                    <a:off x="4762" y="1167"/>
                    <a:ext cx="46" cy="1"/>
                  </a:xfrm>
                  <a:prstGeom prst="line">
                    <a:avLst/>
                  </a:prstGeom>
                  <a:noFill/>
                  <a:ln w="12700">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32" name="Line 498"/>
                  <p:cNvSpPr>
                    <a:spLocks noChangeShapeType="1"/>
                  </p:cNvSpPr>
                  <p:nvPr/>
                </p:nvSpPr>
                <p:spPr bwMode="auto">
                  <a:xfrm>
                    <a:off x="4761" y="1166"/>
                    <a:ext cx="54" cy="147"/>
                  </a:xfrm>
                  <a:prstGeom prst="line">
                    <a:avLst/>
                  </a:prstGeom>
                  <a:noFill/>
                  <a:ln w="6350">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33" name="Line 499"/>
                  <p:cNvSpPr>
                    <a:spLocks noChangeShapeType="1"/>
                  </p:cNvSpPr>
                  <p:nvPr/>
                </p:nvSpPr>
                <p:spPr bwMode="auto">
                  <a:xfrm flipV="1">
                    <a:off x="4750" y="1166"/>
                    <a:ext cx="57" cy="145"/>
                  </a:xfrm>
                  <a:prstGeom prst="line">
                    <a:avLst/>
                  </a:prstGeom>
                  <a:noFill/>
                  <a:ln w="6350">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34" name="Line 500"/>
                  <p:cNvSpPr>
                    <a:spLocks noChangeShapeType="1"/>
                  </p:cNvSpPr>
                  <p:nvPr/>
                </p:nvSpPr>
                <p:spPr bwMode="auto">
                  <a:xfrm>
                    <a:off x="4768" y="1032"/>
                    <a:ext cx="41" cy="136"/>
                  </a:xfrm>
                  <a:prstGeom prst="line">
                    <a:avLst/>
                  </a:prstGeom>
                  <a:noFill/>
                  <a:ln w="6350">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35" name="Line 501"/>
                  <p:cNvSpPr>
                    <a:spLocks noChangeShapeType="1"/>
                  </p:cNvSpPr>
                  <p:nvPr/>
                </p:nvSpPr>
                <p:spPr bwMode="auto">
                  <a:xfrm flipV="1">
                    <a:off x="4759" y="1031"/>
                    <a:ext cx="39" cy="138"/>
                  </a:xfrm>
                  <a:prstGeom prst="line">
                    <a:avLst/>
                  </a:prstGeom>
                  <a:noFill/>
                  <a:ln w="6350">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36" name="Line 502"/>
                  <p:cNvSpPr>
                    <a:spLocks noChangeShapeType="1"/>
                  </p:cNvSpPr>
                  <p:nvPr/>
                </p:nvSpPr>
                <p:spPr bwMode="auto">
                  <a:xfrm flipV="1">
                    <a:off x="4766" y="930"/>
                    <a:ext cx="27" cy="106"/>
                  </a:xfrm>
                  <a:prstGeom prst="line">
                    <a:avLst/>
                  </a:prstGeom>
                  <a:noFill/>
                  <a:ln w="6350">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37" name="Oval 503"/>
                  <p:cNvSpPr>
                    <a:spLocks noChangeArrowheads="1"/>
                  </p:cNvSpPr>
                  <p:nvPr/>
                </p:nvSpPr>
                <p:spPr bwMode="auto">
                  <a:xfrm>
                    <a:off x="4774" y="784"/>
                    <a:ext cx="22" cy="16"/>
                  </a:xfrm>
                  <a:prstGeom prst="ellipse">
                    <a:avLst/>
                  </a:prstGeom>
                  <a:solidFill>
                    <a:srgbClr val="C0C0C0"/>
                  </a:solidFill>
                  <a:ln w="9525">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grpSp>
          </p:grpSp>
          <p:grpSp>
            <p:nvGrpSpPr>
              <p:cNvPr id="15" name="Group 506"/>
              <p:cNvGrpSpPr>
                <a:grpSpLocks/>
              </p:cNvGrpSpPr>
              <p:nvPr/>
            </p:nvGrpSpPr>
            <p:grpSpPr bwMode="auto">
              <a:xfrm>
                <a:off x="4608" y="700"/>
                <a:ext cx="306" cy="90"/>
                <a:chOff x="748" y="2251"/>
                <a:chExt cx="306" cy="90"/>
              </a:xfrm>
            </p:grpSpPr>
            <p:sp>
              <p:nvSpPr>
                <p:cNvPr id="16" name="AutoShape 507"/>
                <p:cNvSpPr>
                  <a:spLocks noChangeArrowheads="1"/>
                </p:cNvSpPr>
                <p:nvPr/>
              </p:nvSpPr>
              <p:spPr bwMode="auto">
                <a:xfrm>
                  <a:off x="748" y="2251"/>
                  <a:ext cx="111" cy="90"/>
                </a:xfrm>
                <a:prstGeom prst="moon">
                  <a:avLst>
                    <a:gd name="adj" fmla="val 18444"/>
                  </a:avLst>
                </a:prstGeom>
                <a:solidFill>
                  <a:srgbClr val="808080"/>
                </a:solidFill>
                <a:ln w="9525">
                  <a:noFill/>
                  <a:miter lim="800000"/>
                  <a:headEnd/>
                  <a:tailEnd/>
                </a:ln>
              </p:spPr>
              <p:txBody>
                <a:bodyPr wrap="none" anchor="ctr"/>
                <a:lstStyle/>
                <a:p>
                  <a:endParaRPr lang="zh-CN" altLang="en-US" sz="1600" b="1">
                    <a:latin typeface="微软雅黑" panose="020B0503020204020204" pitchFamily="34" charset="-122"/>
                    <a:ea typeface="微软雅黑" panose="020B0503020204020204" pitchFamily="34" charset="-122"/>
                  </a:endParaRPr>
                </a:p>
              </p:txBody>
            </p:sp>
            <p:sp>
              <p:nvSpPr>
                <p:cNvPr id="17" name="AutoShape 508"/>
                <p:cNvSpPr>
                  <a:spLocks noChangeArrowheads="1"/>
                </p:cNvSpPr>
                <p:nvPr/>
              </p:nvSpPr>
              <p:spPr bwMode="auto">
                <a:xfrm flipH="1">
                  <a:off x="943" y="2251"/>
                  <a:ext cx="111" cy="90"/>
                </a:xfrm>
                <a:prstGeom prst="moon">
                  <a:avLst>
                    <a:gd name="adj" fmla="val 18444"/>
                  </a:avLst>
                </a:prstGeom>
                <a:solidFill>
                  <a:srgbClr val="808080"/>
                </a:solidFill>
                <a:ln w="9525">
                  <a:noFill/>
                  <a:miter lim="800000"/>
                  <a:headEnd/>
                  <a:tailEnd/>
                </a:ln>
              </p:spPr>
              <p:txBody>
                <a:bodyPr wrap="none" anchor="ctr"/>
                <a:lstStyle/>
                <a:p>
                  <a:endParaRPr lang="zh-CN" altLang="en-US" sz="1600" b="1">
                    <a:latin typeface="微软雅黑" panose="020B0503020204020204" pitchFamily="34" charset="-122"/>
                    <a:ea typeface="微软雅黑" panose="020B0503020204020204" pitchFamily="34" charset="-122"/>
                  </a:endParaRPr>
                </a:p>
              </p:txBody>
            </p:sp>
            <p:sp>
              <p:nvSpPr>
                <p:cNvPr id="18" name="AutoShape 509"/>
                <p:cNvSpPr>
                  <a:spLocks noChangeArrowheads="1"/>
                </p:cNvSpPr>
                <p:nvPr/>
              </p:nvSpPr>
              <p:spPr bwMode="auto">
                <a:xfrm flipH="1">
                  <a:off x="922" y="2266"/>
                  <a:ext cx="70" cy="60"/>
                </a:xfrm>
                <a:prstGeom prst="moon">
                  <a:avLst>
                    <a:gd name="adj" fmla="val 18347"/>
                  </a:avLst>
                </a:prstGeom>
                <a:solidFill>
                  <a:srgbClr val="808080"/>
                </a:solidFill>
                <a:ln w="9525">
                  <a:noFill/>
                  <a:miter lim="800000"/>
                  <a:headEnd/>
                  <a:tailEnd/>
                </a:ln>
              </p:spPr>
              <p:txBody>
                <a:bodyPr wrap="none" anchor="ctr"/>
                <a:lstStyle/>
                <a:p>
                  <a:endParaRPr lang="zh-CN" altLang="en-US" sz="1600" b="1">
                    <a:latin typeface="微软雅黑" panose="020B0503020204020204" pitchFamily="34" charset="-122"/>
                    <a:ea typeface="微软雅黑" panose="020B0503020204020204" pitchFamily="34" charset="-122"/>
                  </a:endParaRPr>
                </a:p>
              </p:txBody>
            </p:sp>
            <p:sp>
              <p:nvSpPr>
                <p:cNvPr id="19" name="AutoShape 510"/>
                <p:cNvSpPr>
                  <a:spLocks noChangeArrowheads="1"/>
                </p:cNvSpPr>
                <p:nvPr/>
              </p:nvSpPr>
              <p:spPr bwMode="auto">
                <a:xfrm>
                  <a:off x="806" y="2266"/>
                  <a:ext cx="70" cy="60"/>
                </a:xfrm>
                <a:prstGeom prst="moon">
                  <a:avLst>
                    <a:gd name="adj" fmla="val 18347"/>
                  </a:avLst>
                </a:prstGeom>
                <a:solidFill>
                  <a:srgbClr val="808080"/>
                </a:solidFill>
                <a:ln w="9525">
                  <a:noFill/>
                  <a:miter lim="800000"/>
                  <a:headEnd/>
                  <a:tailEnd/>
                </a:ln>
              </p:spPr>
              <p:txBody>
                <a:bodyPr wrap="none" anchor="ctr"/>
                <a:lstStyle/>
                <a:p>
                  <a:endParaRPr lang="zh-CN" altLang="en-US" sz="1600" b="1">
                    <a:latin typeface="微软雅黑" panose="020B0503020204020204" pitchFamily="34" charset="-122"/>
                    <a:ea typeface="微软雅黑" panose="020B0503020204020204" pitchFamily="34" charset="-122"/>
                  </a:endParaRPr>
                </a:p>
              </p:txBody>
            </p:sp>
            <p:sp>
              <p:nvSpPr>
                <p:cNvPr id="20" name="AutoShape 511"/>
                <p:cNvSpPr>
                  <a:spLocks noChangeArrowheads="1"/>
                </p:cNvSpPr>
                <p:nvPr/>
              </p:nvSpPr>
              <p:spPr bwMode="auto">
                <a:xfrm flipH="1">
                  <a:off x="905" y="2281"/>
                  <a:ext cx="35" cy="30"/>
                </a:xfrm>
                <a:prstGeom prst="moon">
                  <a:avLst>
                    <a:gd name="adj" fmla="val 41907"/>
                  </a:avLst>
                </a:prstGeom>
                <a:solidFill>
                  <a:srgbClr val="808080"/>
                </a:solidFill>
                <a:ln w="9525">
                  <a:noFill/>
                  <a:miter lim="800000"/>
                  <a:headEnd/>
                  <a:tailEnd/>
                </a:ln>
              </p:spPr>
              <p:txBody>
                <a:bodyPr wrap="none" anchor="ctr"/>
                <a:lstStyle/>
                <a:p>
                  <a:endParaRPr lang="zh-CN" altLang="en-US" sz="1600" b="1">
                    <a:latin typeface="微软雅黑" panose="020B0503020204020204" pitchFamily="34" charset="-122"/>
                    <a:ea typeface="微软雅黑" panose="020B0503020204020204" pitchFamily="34" charset="-122"/>
                  </a:endParaRPr>
                </a:p>
              </p:txBody>
            </p:sp>
            <p:sp>
              <p:nvSpPr>
                <p:cNvPr id="21" name="AutoShape 512"/>
                <p:cNvSpPr>
                  <a:spLocks noChangeArrowheads="1"/>
                </p:cNvSpPr>
                <p:nvPr/>
              </p:nvSpPr>
              <p:spPr bwMode="auto">
                <a:xfrm>
                  <a:off x="857" y="2281"/>
                  <a:ext cx="35" cy="30"/>
                </a:xfrm>
                <a:prstGeom prst="moon">
                  <a:avLst>
                    <a:gd name="adj" fmla="val 41907"/>
                  </a:avLst>
                </a:prstGeom>
                <a:solidFill>
                  <a:srgbClr val="808080"/>
                </a:solidFill>
                <a:ln w="9525">
                  <a:noFill/>
                  <a:miter lim="800000"/>
                  <a:headEnd/>
                  <a:tailEnd/>
                </a:ln>
              </p:spPr>
              <p:txBody>
                <a:bodyPr wrap="none" anchor="ctr"/>
                <a:lstStyle/>
                <a:p>
                  <a:endParaRPr lang="zh-CN" altLang="en-US" sz="1600" b="1">
                    <a:latin typeface="微软雅黑" panose="020B0503020204020204" pitchFamily="34" charset="-122"/>
                    <a:ea typeface="微软雅黑" panose="020B0503020204020204" pitchFamily="34" charset="-122"/>
                  </a:endParaRPr>
                </a:p>
              </p:txBody>
            </p:sp>
          </p:grpSp>
        </p:grpSp>
        <p:sp>
          <p:nvSpPr>
            <p:cNvPr id="39" name="矩形 38"/>
            <p:cNvSpPr/>
            <p:nvPr/>
          </p:nvSpPr>
          <p:spPr>
            <a:xfrm>
              <a:off x="2584667" y="2360343"/>
              <a:ext cx="822102" cy="243185"/>
            </a:xfrm>
            <a:prstGeom prst="rect">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anose="020B0503020204020204" pitchFamily="34" charset="-122"/>
                  <a:ea typeface="微软雅黑" panose="020B0503020204020204" pitchFamily="34" charset="-122"/>
                </a:rPr>
                <a:t>障碍物</a:t>
              </a:r>
            </a:p>
          </p:txBody>
        </p:sp>
        <p:sp>
          <p:nvSpPr>
            <p:cNvPr id="40" name="矩形 39"/>
            <p:cNvSpPr/>
            <p:nvPr/>
          </p:nvSpPr>
          <p:spPr>
            <a:xfrm>
              <a:off x="4228870" y="3003449"/>
              <a:ext cx="822102" cy="237814"/>
            </a:xfrm>
            <a:prstGeom prst="rect">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anose="020B0503020204020204" pitchFamily="34" charset="-122"/>
                  <a:ea typeface="微软雅黑" panose="020B0503020204020204" pitchFamily="34" charset="-122"/>
                </a:rPr>
                <a:t>障碍物</a:t>
              </a:r>
            </a:p>
          </p:txBody>
        </p:sp>
        <p:sp>
          <p:nvSpPr>
            <p:cNvPr id="41" name="矩形 40"/>
            <p:cNvSpPr/>
            <p:nvPr/>
          </p:nvSpPr>
          <p:spPr>
            <a:xfrm>
              <a:off x="2331713" y="4190940"/>
              <a:ext cx="822102" cy="237814"/>
            </a:xfrm>
            <a:prstGeom prst="rect">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anose="020B0503020204020204" pitchFamily="34" charset="-122"/>
                  <a:ea typeface="微软雅黑" panose="020B0503020204020204" pitchFamily="34" charset="-122"/>
                </a:rPr>
                <a:t>障碍物</a:t>
              </a:r>
            </a:p>
          </p:txBody>
        </p:sp>
        <p:cxnSp>
          <p:nvCxnSpPr>
            <p:cNvPr id="42" name="直接箭头连接符 41"/>
            <p:cNvCxnSpPr>
              <a:endCxn id="39" idx="2"/>
            </p:cNvCxnSpPr>
            <p:nvPr/>
          </p:nvCxnSpPr>
          <p:spPr>
            <a:xfrm flipV="1">
              <a:off x="1457923" y="2603528"/>
              <a:ext cx="1537795" cy="399921"/>
            </a:xfrm>
            <a:prstGeom prst="straightConnector1">
              <a:avLst/>
            </a:prstGeom>
            <a:ln>
              <a:solidFill>
                <a:schemeClr val="tx1"/>
              </a:solidFill>
              <a:prstDash val="solid"/>
              <a:headEnd type="none" w="sm" len="lg"/>
              <a:tailEnd type="triangle" w="sm" len="lg"/>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a:stCxn id="39" idx="2"/>
              <a:endCxn id="40" idx="1"/>
            </p:cNvCxnSpPr>
            <p:nvPr/>
          </p:nvCxnSpPr>
          <p:spPr>
            <a:xfrm>
              <a:off x="2995718" y="2603528"/>
              <a:ext cx="1233152" cy="518828"/>
            </a:xfrm>
            <a:prstGeom prst="straightConnector1">
              <a:avLst/>
            </a:prstGeom>
            <a:ln>
              <a:solidFill>
                <a:schemeClr val="tx1"/>
              </a:solidFill>
              <a:prstDash val="solid"/>
              <a:headEnd type="none" w="sm" len="lg"/>
              <a:tailEnd type="triangle" w="sm" len="lg"/>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a:stCxn id="6" idx="3"/>
            </p:cNvCxnSpPr>
            <p:nvPr/>
          </p:nvCxnSpPr>
          <p:spPr>
            <a:xfrm>
              <a:off x="3056709" y="3422929"/>
              <a:ext cx="1583354" cy="477572"/>
            </a:xfrm>
            <a:prstGeom prst="straightConnector1">
              <a:avLst/>
            </a:prstGeom>
            <a:ln>
              <a:solidFill>
                <a:schemeClr val="tx1"/>
              </a:solidFill>
              <a:prstDash val="solid"/>
              <a:headEnd type="none" w="sm" len="lg"/>
              <a:tailEnd type="triangle" w="sm" len="lg"/>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a:endCxn id="41" idx="0"/>
            </p:cNvCxnSpPr>
            <p:nvPr/>
          </p:nvCxnSpPr>
          <p:spPr>
            <a:xfrm>
              <a:off x="1453667" y="3188091"/>
              <a:ext cx="1289097" cy="1002849"/>
            </a:xfrm>
            <a:prstGeom prst="straightConnector1">
              <a:avLst/>
            </a:prstGeom>
            <a:ln>
              <a:solidFill>
                <a:schemeClr val="tx1"/>
              </a:solidFill>
              <a:prstDash val="solid"/>
              <a:headEnd type="none" w="sm" len="lg"/>
              <a:tailEnd type="triangle" w="sm" len="lg"/>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a:stCxn id="41" idx="0"/>
            </p:cNvCxnSpPr>
            <p:nvPr/>
          </p:nvCxnSpPr>
          <p:spPr>
            <a:xfrm flipV="1">
              <a:off x="2742764" y="3928517"/>
              <a:ext cx="1940844" cy="262423"/>
            </a:xfrm>
            <a:prstGeom prst="straightConnector1">
              <a:avLst/>
            </a:prstGeom>
            <a:ln>
              <a:solidFill>
                <a:schemeClr val="tx1"/>
              </a:solidFill>
              <a:prstDash val="solid"/>
              <a:headEnd type="none" w="sm" len="lg"/>
              <a:tailEnd type="triangle" w="sm" len="lg"/>
            </a:ln>
          </p:spPr>
          <p:style>
            <a:lnRef idx="1">
              <a:schemeClr val="accent1"/>
            </a:lnRef>
            <a:fillRef idx="0">
              <a:schemeClr val="accent1"/>
            </a:fillRef>
            <a:effectRef idx="0">
              <a:schemeClr val="accent1"/>
            </a:effectRef>
            <a:fontRef idx="minor">
              <a:schemeClr val="tx1"/>
            </a:fontRef>
          </p:style>
        </p:cxnSp>
        <p:cxnSp>
          <p:nvCxnSpPr>
            <p:cNvPr id="47" name="直接箭头连接符 46"/>
            <p:cNvCxnSpPr>
              <a:stCxn id="40" idx="1"/>
              <a:endCxn id="6" idx="3"/>
            </p:cNvCxnSpPr>
            <p:nvPr/>
          </p:nvCxnSpPr>
          <p:spPr>
            <a:xfrm flipH="1">
              <a:off x="3056709" y="3122356"/>
              <a:ext cx="1172161" cy="300573"/>
            </a:xfrm>
            <a:prstGeom prst="straightConnector1">
              <a:avLst/>
            </a:prstGeom>
            <a:ln>
              <a:solidFill>
                <a:schemeClr val="tx1"/>
              </a:solidFill>
              <a:prstDash val="solid"/>
              <a:headEnd type="none" w="sm" len="lg"/>
              <a:tailEnd type="triangle" w="sm" len="lg"/>
            </a:ln>
          </p:spPr>
          <p:style>
            <a:lnRef idx="1">
              <a:schemeClr val="accent1"/>
            </a:lnRef>
            <a:fillRef idx="0">
              <a:schemeClr val="accent1"/>
            </a:fillRef>
            <a:effectRef idx="0">
              <a:schemeClr val="accent1"/>
            </a:effectRef>
            <a:fontRef idx="minor">
              <a:schemeClr val="tx1"/>
            </a:fontRef>
          </p:style>
        </p:cxnSp>
        <p:sp>
          <p:nvSpPr>
            <p:cNvPr id="48" name="TextBox 64"/>
            <p:cNvSpPr txBox="1"/>
            <p:nvPr/>
          </p:nvSpPr>
          <p:spPr>
            <a:xfrm>
              <a:off x="3869132" y="3402479"/>
              <a:ext cx="389850" cy="369332"/>
            </a:xfrm>
            <a:prstGeom prst="rect">
              <a:avLst/>
            </a:prstGeom>
            <a:noFill/>
          </p:spPr>
          <p:txBody>
            <a:bodyPr wrap="none" rtlCol="0">
              <a:spAutoFit/>
            </a:bodyPr>
            <a:lstStyle/>
            <a:p>
              <a:r>
                <a:rPr lang="zh-CN" altLang="en-US" b="1" dirty="0">
                  <a:latin typeface="微软雅黑" panose="020B0503020204020204" pitchFamily="34" charset="-122"/>
                  <a:ea typeface="微软雅黑" panose="020B0503020204020204" pitchFamily="34" charset="-122"/>
                  <a:sym typeface="Wingdings 2"/>
                </a:rPr>
                <a:t></a:t>
              </a:r>
              <a:endParaRPr lang="zh-CN" altLang="en-US" b="1" dirty="0">
                <a:latin typeface="微软雅黑" panose="020B0503020204020204" pitchFamily="34" charset="-122"/>
                <a:ea typeface="微软雅黑" panose="020B0503020204020204" pitchFamily="34" charset="-122"/>
              </a:endParaRPr>
            </a:p>
          </p:txBody>
        </p:sp>
        <p:sp>
          <p:nvSpPr>
            <p:cNvPr id="49" name="TextBox 65"/>
            <p:cNvSpPr txBox="1"/>
            <p:nvPr/>
          </p:nvSpPr>
          <p:spPr>
            <a:xfrm>
              <a:off x="3507119" y="3003449"/>
              <a:ext cx="389850" cy="369332"/>
            </a:xfrm>
            <a:prstGeom prst="rect">
              <a:avLst/>
            </a:prstGeom>
            <a:noFill/>
          </p:spPr>
          <p:txBody>
            <a:bodyPr wrap="none" rtlCol="0">
              <a:spAutoFit/>
            </a:bodyPr>
            <a:lstStyle/>
            <a:p>
              <a:r>
                <a:rPr lang="zh-CN" altLang="en-US" b="1" dirty="0">
                  <a:latin typeface="微软雅黑" panose="020B0503020204020204" pitchFamily="34" charset="-122"/>
                  <a:ea typeface="微软雅黑" panose="020B0503020204020204" pitchFamily="34" charset="-122"/>
                  <a:sym typeface="Wingdings 2"/>
                </a:rPr>
                <a:t></a:t>
              </a:r>
              <a:endParaRPr lang="zh-CN" altLang="en-US" b="1" dirty="0">
                <a:latin typeface="微软雅黑" panose="020B0503020204020204" pitchFamily="34" charset="-122"/>
                <a:ea typeface="微软雅黑" panose="020B0503020204020204" pitchFamily="34" charset="-122"/>
              </a:endParaRPr>
            </a:p>
          </p:txBody>
        </p:sp>
        <p:sp>
          <p:nvSpPr>
            <p:cNvPr id="50" name="TextBox 66"/>
            <p:cNvSpPr txBox="1"/>
            <p:nvPr/>
          </p:nvSpPr>
          <p:spPr>
            <a:xfrm>
              <a:off x="1879932" y="3384170"/>
              <a:ext cx="389850" cy="369332"/>
            </a:xfrm>
            <a:prstGeom prst="rect">
              <a:avLst/>
            </a:prstGeom>
            <a:noFill/>
          </p:spPr>
          <p:txBody>
            <a:bodyPr wrap="none" rtlCol="0">
              <a:spAutoFit/>
            </a:bodyPr>
            <a:lstStyle/>
            <a:p>
              <a:r>
                <a:rPr lang="zh-CN" altLang="en-US" b="1" dirty="0">
                  <a:latin typeface="微软雅黑" panose="020B0503020204020204" pitchFamily="34" charset="-122"/>
                  <a:ea typeface="微软雅黑" panose="020B0503020204020204" pitchFamily="34" charset="-122"/>
                  <a:sym typeface="Wingdings 2"/>
                </a:rPr>
                <a:t></a:t>
              </a:r>
              <a:endParaRPr lang="zh-CN" altLang="en-US" b="1" dirty="0">
                <a:latin typeface="微软雅黑" panose="020B0503020204020204" pitchFamily="34" charset="-122"/>
                <a:ea typeface="微软雅黑" panose="020B0503020204020204" pitchFamily="34" charset="-122"/>
              </a:endParaRPr>
            </a:p>
          </p:txBody>
        </p:sp>
        <p:sp>
          <p:nvSpPr>
            <p:cNvPr id="51" name="TextBox 67"/>
            <p:cNvSpPr txBox="1"/>
            <p:nvPr/>
          </p:nvSpPr>
          <p:spPr>
            <a:xfrm>
              <a:off x="3380642" y="2578292"/>
              <a:ext cx="389850" cy="369332"/>
            </a:xfrm>
            <a:prstGeom prst="rect">
              <a:avLst/>
            </a:prstGeom>
            <a:noFill/>
          </p:spPr>
          <p:txBody>
            <a:bodyPr wrap="none" rtlCol="0">
              <a:spAutoFit/>
            </a:bodyPr>
            <a:lstStyle/>
            <a:p>
              <a:r>
                <a:rPr lang="zh-CN" altLang="en-US" b="1" dirty="0">
                  <a:latin typeface="微软雅黑" panose="020B0503020204020204" pitchFamily="34" charset="-122"/>
                  <a:ea typeface="微软雅黑" panose="020B0503020204020204" pitchFamily="34" charset="-122"/>
                  <a:sym typeface="Wingdings 2"/>
                </a:rPr>
                <a:t></a:t>
              </a:r>
              <a:endParaRPr lang="zh-CN" altLang="en-US" b="1" dirty="0">
                <a:latin typeface="微软雅黑" panose="020B0503020204020204" pitchFamily="34" charset="-122"/>
                <a:ea typeface="微软雅黑" panose="020B0503020204020204" pitchFamily="34" charset="-122"/>
              </a:endParaRPr>
            </a:p>
          </p:txBody>
        </p:sp>
        <p:sp>
          <p:nvSpPr>
            <p:cNvPr id="52" name="TextBox 68"/>
            <p:cNvSpPr txBox="1"/>
            <p:nvPr/>
          </p:nvSpPr>
          <p:spPr>
            <a:xfrm>
              <a:off x="1808386" y="2534747"/>
              <a:ext cx="389850" cy="369332"/>
            </a:xfrm>
            <a:prstGeom prst="rect">
              <a:avLst/>
            </a:prstGeom>
            <a:noFill/>
          </p:spPr>
          <p:txBody>
            <a:bodyPr wrap="none" rtlCol="0">
              <a:spAutoFit/>
            </a:bodyPr>
            <a:lstStyle/>
            <a:p>
              <a:r>
                <a:rPr lang="zh-CN" altLang="en-US" b="1" dirty="0">
                  <a:latin typeface="微软雅黑" panose="020B0503020204020204" pitchFamily="34" charset="-122"/>
                  <a:ea typeface="微软雅黑" panose="020B0503020204020204" pitchFamily="34" charset="-122"/>
                  <a:sym typeface="Wingdings 2"/>
                </a:rPr>
                <a:t></a:t>
              </a:r>
              <a:endParaRPr lang="zh-CN" altLang="en-US" b="1" dirty="0">
                <a:latin typeface="微软雅黑" panose="020B0503020204020204" pitchFamily="34" charset="-122"/>
                <a:ea typeface="微软雅黑" panose="020B0503020204020204" pitchFamily="34" charset="-122"/>
              </a:endParaRPr>
            </a:p>
          </p:txBody>
        </p:sp>
        <p:sp>
          <p:nvSpPr>
            <p:cNvPr id="53" name="TextBox 69"/>
            <p:cNvSpPr txBox="1"/>
            <p:nvPr/>
          </p:nvSpPr>
          <p:spPr>
            <a:xfrm>
              <a:off x="3437447" y="3818927"/>
              <a:ext cx="389850" cy="369332"/>
            </a:xfrm>
            <a:prstGeom prst="rect">
              <a:avLst/>
            </a:prstGeom>
            <a:noFill/>
          </p:spPr>
          <p:txBody>
            <a:bodyPr wrap="none" rtlCol="0">
              <a:spAutoFit/>
            </a:bodyPr>
            <a:lstStyle/>
            <a:p>
              <a:r>
                <a:rPr lang="zh-CN" altLang="en-US" b="1" dirty="0">
                  <a:latin typeface="微软雅黑" panose="020B0503020204020204" pitchFamily="34" charset="-122"/>
                  <a:ea typeface="微软雅黑" panose="020B0503020204020204" pitchFamily="34" charset="-122"/>
                  <a:sym typeface="Wingdings 2"/>
                </a:rPr>
                <a:t></a:t>
              </a:r>
              <a:endParaRPr lang="zh-CN" altLang="en-US" b="1" dirty="0">
                <a:latin typeface="微软雅黑" panose="020B0503020204020204" pitchFamily="34" charset="-122"/>
                <a:ea typeface="微软雅黑" panose="020B0503020204020204" pitchFamily="34" charset="-122"/>
              </a:endParaRPr>
            </a:p>
          </p:txBody>
        </p:sp>
        <p:sp>
          <p:nvSpPr>
            <p:cNvPr id="54" name="TextBox 49"/>
            <p:cNvSpPr txBox="1"/>
            <p:nvPr/>
          </p:nvSpPr>
          <p:spPr>
            <a:xfrm>
              <a:off x="984066" y="3579681"/>
              <a:ext cx="641155" cy="338554"/>
            </a:xfrm>
            <a:prstGeom prst="rect">
              <a:avLst/>
            </a:prstGeom>
            <a:noFill/>
          </p:spPr>
          <p:txBody>
            <a:bodyPr wrap="square" rtlCol="0">
              <a:spAutoFit/>
            </a:bodyPr>
            <a:lstStyle/>
            <a:p>
              <a:r>
                <a:rPr lang="zh-CN" altLang="en-US" sz="1600" b="1" dirty="0">
                  <a:latin typeface="微软雅黑" panose="020B0503020204020204" pitchFamily="34" charset="-122"/>
                  <a:ea typeface="微软雅黑" panose="020B0503020204020204" pitchFamily="34" charset="-122"/>
                </a:rPr>
                <a:t>基站</a:t>
              </a:r>
            </a:p>
          </p:txBody>
        </p:sp>
        <p:sp>
          <p:nvSpPr>
            <p:cNvPr id="55" name="TextBox 51"/>
            <p:cNvSpPr txBox="1"/>
            <p:nvPr/>
          </p:nvSpPr>
          <p:spPr>
            <a:xfrm>
              <a:off x="4557294" y="4204416"/>
              <a:ext cx="641723" cy="338554"/>
            </a:xfrm>
            <a:prstGeom prst="rect">
              <a:avLst/>
            </a:prstGeom>
            <a:noFill/>
          </p:spPr>
          <p:txBody>
            <a:bodyPr wrap="square" rtlCol="0">
              <a:spAutoFit/>
            </a:bodyPr>
            <a:lstStyle/>
            <a:p>
              <a:r>
                <a:rPr lang="zh-CN" altLang="en-US" sz="1600" b="1" dirty="0">
                  <a:latin typeface="微软雅黑" panose="020B0503020204020204" pitchFamily="34" charset="-122"/>
                  <a:ea typeface="微软雅黑" panose="020B0503020204020204" pitchFamily="34" charset="-122"/>
                </a:rPr>
                <a:t>手机</a:t>
              </a:r>
            </a:p>
          </p:txBody>
        </p:sp>
        <p:cxnSp>
          <p:nvCxnSpPr>
            <p:cNvPr id="56" name="直接箭头连接符 55"/>
            <p:cNvCxnSpPr>
              <a:endCxn id="6" idx="1"/>
            </p:cNvCxnSpPr>
            <p:nvPr/>
          </p:nvCxnSpPr>
          <p:spPr>
            <a:xfrm>
              <a:off x="1457923" y="3074047"/>
              <a:ext cx="1222910" cy="348882"/>
            </a:xfrm>
            <a:prstGeom prst="straightConnector1">
              <a:avLst/>
            </a:prstGeom>
            <a:ln>
              <a:solidFill>
                <a:schemeClr val="tx1"/>
              </a:solidFill>
              <a:prstDash val="solid"/>
              <a:headEnd type="none" w="sm" len="lg"/>
              <a:tailEnd type="triangle" w="sm" len="lg"/>
            </a:ln>
          </p:spPr>
          <p:style>
            <a:lnRef idx="1">
              <a:schemeClr val="accent1"/>
            </a:lnRef>
            <a:fillRef idx="0">
              <a:schemeClr val="accent1"/>
            </a:fillRef>
            <a:effectRef idx="0">
              <a:schemeClr val="accent1"/>
            </a:effectRef>
            <a:fontRef idx="minor">
              <a:schemeClr val="tx1"/>
            </a:fontRef>
          </p:style>
        </p:cxnSp>
      </p:grpSp>
      <p:sp>
        <p:nvSpPr>
          <p:cNvPr id="89" name="矩形 88"/>
          <p:cNvSpPr/>
          <p:nvPr/>
        </p:nvSpPr>
        <p:spPr>
          <a:xfrm>
            <a:off x="5412904" y="2670068"/>
            <a:ext cx="2879675" cy="92333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zh-CN" altLang="en-US" b="1" dirty="0">
                <a:latin typeface="微软雅黑" panose="020B0503020204020204" pitchFamily="34" charset="-122"/>
                <a:ea typeface="微软雅黑" panose="020B0503020204020204" pitchFamily="34" charset="-122"/>
                <a:cs typeface="Times New Roman" panose="02020603050405020304" pitchFamily="18" charset="0"/>
                <a:sym typeface="Wingdings 2" panose="05020102010507070707" pitchFamily="18" charset="2"/>
              </a:rPr>
              <a:t>信号从 </a:t>
            </a:r>
            <a:endParaRPr lang="en-US" altLang="zh-CN" b="1" dirty="0">
              <a:latin typeface="微软雅黑" panose="020B0503020204020204" pitchFamily="34" charset="-122"/>
              <a:ea typeface="微软雅黑" panose="020B0503020204020204" pitchFamily="34" charset="-122"/>
              <a:cs typeface="Times New Roman" panose="02020603050405020304" pitchFamily="18" charset="0"/>
              <a:sym typeface="Wingdings 2" panose="05020102010507070707" pitchFamily="18" charset="2"/>
            </a:endParaRPr>
          </a:p>
          <a:p>
            <a:r>
              <a:rPr lang="en-US" altLang="zh-CN" b="1" dirty="0">
                <a:latin typeface="微软雅黑" panose="020B0503020204020204" pitchFamily="34" charset="-122"/>
                <a:ea typeface="微软雅黑" panose="020B0503020204020204" pitchFamily="34" charset="-122"/>
                <a:cs typeface="Times New Roman" panose="02020603050405020304" pitchFamily="18" charset="0"/>
                <a:sym typeface="Wingdings 2" panose="05020102010507070707" pitchFamily="18" charset="2"/>
              </a:rPr>
              <a:t></a:t>
            </a:r>
            <a:r>
              <a:rPr lang="zh-CN" altLang="zh-CN" b="1"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b="1" dirty="0">
                <a:latin typeface="微软雅黑" panose="020B0503020204020204" pitchFamily="34" charset="-122"/>
                <a:ea typeface="微软雅黑" panose="020B0503020204020204" pitchFamily="34" charset="-122"/>
                <a:cs typeface="Times New Roman" panose="02020603050405020304" pitchFamily="18" charset="0"/>
                <a:sym typeface="Wingdings 2" panose="05020102010507070707" pitchFamily="18" charset="2"/>
              </a:rPr>
              <a:t>  </a:t>
            </a:r>
            <a:r>
              <a:rPr lang="zh-CN" altLang="zh-CN" b="1" dirty="0">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b="1" dirty="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b="1" dirty="0">
                <a:latin typeface="微软雅黑" panose="020B0503020204020204" pitchFamily="34" charset="-122"/>
                <a:ea typeface="微软雅黑" panose="020B0503020204020204" pitchFamily="34" charset="-122"/>
                <a:cs typeface="Times New Roman" panose="02020603050405020304" pitchFamily="18" charset="0"/>
                <a:sym typeface="Wingdings 2" panose="05020102010507070707" pitchFamily="18" charset="2"/>
              </a:rPr>
              <a:t></a:t>
            </a:r>
            <a:r>
              <a:rPr lang="zh-CN" altLang="zh-CN" b="1"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b="1" dirty="0">
                <a:latin typeface="微软雅黑" panose="020B0503020204020204" pitchFamily="34" charset="-122"/>
                <a:ea typeface="微软雅黑" panose="020B0503020204020204" pitchFamily="34" charset="-122"/>
                <a:cs typeface="Times New Roman" panose="02020603050405020304" pitchFamily="18" charset="0"/>
                <a:sym typeface="Wingdings 2" panose="05020102010507070707" pitchFamily="18" charset="2"/>
              </a:rPr>
              <a:t></a:t>
            </a:r>
            <a:r>
              <a:rPr lang="zh-CN" altLang="zh-CN" b="1"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b="1" dirty="0">
                <a:latin typeface="微软雅黑" panose="020B0503020204020204" pitchFamily="34" charset="-122"/>
                <a:ea typeface="微软雅黑" panose="020B0503020204020204" pitchFamily="34" charset="-122"/>
                <a:cs typeface="Times New Roman" panose="02020603050405020304" pitchFamily="18" charset="0"/>
                <a:sym typeface="Wingdings 2" panose="05020102010507070707" pitchFamily="18" charset="2"/>
              </a:rPr>
              <a:t></a:t>
            </a:r>
            <a:r>
              <a:rPr lang="zh-CN" altLang="zh-CN" b="1"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b="1" dirty="0">
                <a:latin typeface="微软雅黑" panose="020B0503020204020204" pitchFamily="34" charset="-122"/>
                <a:ea typeface="微软雅黑" panose="020B0503020204020204" pitchFamily="34" charset="-122"/>
                <a:cs typeface="Times New Roman" panose="02020603050405020304" pitchFamily="18" charset="0"/>
                <a:sym typeface="Wingdings 2" panose="05020102010507070707" pitchFamily="18" charset="2"/>
              </a:rPr>
              <a:t> </a:t>
            </a:r>
          </a:p>
          <a:p>
            <a:r>
              <a:rPr lang="zh-CN" altLang="zh-CN" b="1" dirty="0">
                <a:latin typeface="微软雅黑" panose="020B0503020204020204" pitchFamily="34" charset="-122"/>
                <a:ea typeface="微软雅黑" panose="020B0503020204020204" pitchFamily="34" charset="-122"/>
                <a:cs typeface="Times New Roman" panose="02020603050405020304" pitchFamily="18" charset="0"/>
              </a:rPr>
              <a:t>两条路径</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到达手机。</a:t>
            </a:r>
            <a:endParaRPr lang="zh-CN" altLang="en-US"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867490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a:xfrm>
            <a:off x="466343" y="900000"/>
            <a:ext cx="8129017" cy="3376990"/>
          </a:xfrm>
        </p:spPr>
        <p:txBody>
          <a:bodyPr/>
          <a:lstStyle/>
          <a:p>
            <a:r>
              <a:rPr lang="zh-CN" altLang="en-US" dirty="0"/>
              <a:t>对于给定的调制方式和数据率，信噪比越大，误码率就越低。</a:t>
            </a:r>
            <a:endParaRPr lang="en-US" altLang="zh-CN" dirty="0"/>
          </a:p>
          <a:p>
            <a:r>
              <a:rPr lang="zh-CN" altLang="en-US" dirty="0"/>
              <a:t>对于同样的信噪比，具有更高数据率的调制技术的误码率也更高。</a:t>
            </a:r>
            <a:endParaRPr lang="en-US" altLang="zh-CN" dirty="0"/>
          </a:p>
          <a:p>
            <a:r>
              <a:rPr lang="zh-CN" altLang="en-US" dirty="0"/>
              <a:t>如果用户在进行通信时不断改变自己的地理位置，就会引起无线信道特性的改变，因而信噪比和误码率都会发生变化。</a:t>
            </a:r>
          </a:p>
        </p:txBody>
      </p:sp>
      <p:sp>
        <p:nvSpPr>
          <p:cNvPr id="3" name="文本占位符 2"/>
          <p:cNvSpPr>
            <a:spLocks noGrp="1"/>
          </p:cNvSpPr>
          <p:nvPr>
            <p:ph type="body" sz="quarter" idx="11"/>
          </p:nvPr>
        </p:nvSpPr>
        <p:spPr>
          <a:xfrm>
            <a:off x="1332000" y="360000"/>
            <a:ext cx="6480000" cy="354012"/>
          </a:xfrm>
        </p:spPr>
        <p:txBody>
          <a:bodyPr>
            <a:normAutofit fontScale="92500" lnSpcReduction="10000"/>
          </a:bodyPr>
          <a:lstStyle/>
          <a:p>
            <a:r>
              <a:rPr lang="zh-CN" altLang="en-US" dirty="0"/>
              <a:t>误码率（即比特错误率）不能大于可容许的范围</a:t>
            </a:r>
          </a:p>
        </p:txBody>
      </p:sp>
      <p:grpSp>
        <p:nvGrpSpPr>
          <p:cNvPr id="19" name="组合 18"/>
          <p:cNvGrpSpPr/>
          <p:nvPr/>
        </p:nvGrpSpPr>
        <p:grpSpPr>
          <a:xfrm>
            <a:off x="5033448" y="1021236"/>
            <a:ext cx="3407630" cy="3273580"/>
            <a:chOff x="5146496" y="1236610"/>
            <a:chExt cx="3407630" cy="3273580"/>
          </a:xfrm>
        </p:grpSpPr>
        <p:pic>
          <p:nvPicPr>
            <p:cNvPr id="4" name="图片 3" descr="SNR.jpg"/>
            <p:cNvPicPr>
              <a:picLocks noChangeAspect="1"/>
            </p:cNvPicPr>
            <p:nvPr/>
          </p:nvPicPr>
          <p:blipFill>
            <a:blip r:embed="rId2" cstate="print"/>
            <a:stretch>
              <a:fillRect/>
            </a:stretch>
          </p:blipFill>
          <p:spPr>
            <a:xfrm>
              <a:off x="5752193" y="1236610"/>
              <a:ext cx="2627064" cy="2861828"/>
            </a:xfrm>
            <a:prstGeom prst="rect">
              <a:avLst/>
            </a:prstGeom>
          </p:spPr>
        </p:pic>
        <p:sp>
          <p:nvSpPr>
            <p:cNvPr id="5" name="TextBox 4"/>
            <p:cNvSpPr txBox="1"/>
            <p:nvPr/>
          </p:nvSpPr>
          <p:spPr>
            <a:xfrm>
              <a:off x="5146496" y="2249685"/>
              <a:ext cx="314414" cy="646331"/>
            </a:xfrm>
            <a:prstGeom prst="rect">
              <a:avLst/>
            </a:prstGeom>
            <a:noFill/>
          </p:spPr>
          <p:txBody>
            <a:bodyPr wrap="square" rtlCol="0">
              <a:spAutoFit/>
            </a:bodyPr>
            <a:lstStyle/>
            <a:p>
              <a:r>
                <a:rPr lang="zh-CN" altLang="en-US" sz="1200" b="1" dirty="0">
                  <a:latin typeface="微软雅黑" panose="020B0503020204020204" pitchFamily="34" charset="-122"/>
                  <a:ea typeface="微软雅黑" panose="020B0503020204020204" pitchFamily="34" charset="-122"/>
                </a:rPr>
                <a:t>误</a:t>
              </a:r>
              <a:endParaRPr lang="en-US" altLang="zh-CN" sz="1200" b="1" dirty="0">
                <a:latin typeface="微软雅黑" panose="020B0503020204020204" pitchFamily="34" charset="-122"/>
                <a:ea typeface="微软雅黑" panose="020B0503020204020204" pitchFamily="34" charset="-122"/>
              </a:endParaRPr>
            </a:p>
            <a:p>
              <a:r>
                <a:rPr lang="zh-CN" altLang="en-US" sz="1200" b="1" dirty="0">
                  <a:latin typeface="微软雅黑" panose="020B0503020204020204" pitchFamily="34" charset="-122"/>
                  <a:ea typeface="微软雅黑" panose="020B0503020204020204" pitchFamily="34" charset="-122"/>
                </a:rPr>
                <a:t>码</a:t>
              </a:r>
              <a:endParaRPr lang="en-US" altLang="zh-CN" sz="1200" b="1" dirty="0">
                <a:latin typeface="微软雅黑" panose="020B0503020204020204" pitchFamily="34" charset="-122"/>
                <a:ea typeface="微软雅黑" panose="020B0503020204020204" pitchFamily="34" charset="-122"/>
              </a:endParaRPr>
            </a:p>
            <a:p>
              <a:r>
                <a:rPr lang="zh-CN" altLang="en-US" sz="1200" b="1" dirty="0">
                  <a:latin typeface="微软雅黑" panose="020B0503020204020204" pitchFamily="34" charset="-122"/>
                  <a:ea typeface="微软雅黑" panose="020B0503020204020204" pitchFamily="34" charset="-122"/>
                </a:rPr>
                <a:t>率</a:t>
              </a:r>
            </a:p>
          </p:txBody>
        </p:sp>
        <p:sp>
          <p:nvSpPr>
            <p:cNvPr id="6" name="TextBox 5"/>
            <p:cNvSpPr txBox="1"/>
            <p:nvPr/>
          </p:nvSpPr>
          <p:spPr>
            <a:xfrm>
              <a:off x="6594886" y="4233191"/>
              <a:ext cx="955443" cy="276999"/>
            </a:xfrm>
            <a:prstGeom prst="rect">
              <a:avLst/>
            </a:prstGeom>
            <a:noFill/>
          </p:spPr>
          <p:txBody>
            <a:bodyPr wrap="square" rtlCol="0">
              <a:spAutoFit/>
            </a:bodyPr>
            <a:lstStyle/>
            <a:p>
              <a:r>
                <a:rPr lang="zh-CN" altLang="en-US" sz="1200" b="1" dirty="0">
                  <a:latin typeface="微软雅黑" panose="020B0503020204020204" pitchFamily="34" charset="-122"/>
                  <a:ea typeface="微软雅黑" panose="020B0503020204020204" pitchFamily="34" charset="-122"/>
                </a:rPr>
                <a:t>信噪比</a:t>
              </a:r>
              <a:r>
                <a:rPr lang="en-US" altLang="zh-CN" sz="1200" b="1" dirty="0">
                  <a:latin typeface="微软雅黑" panose="020B0503020204020204" pitchFamily="34" charset="-122"/>
                  <a:ea typeface="微软雅黑" panose="020B0503020204020204" pitchFamily="34" charset="-122"/>
                  <a:cs typeface="Times New Roman" pitchFamily="18" charset="0"/>
                </a:rPr>
                <a:t>(dB)</a:t>
              </a:r>
              <a:endParaRPr lang="zh-CN" altLang="en-US" sz="1200" b="1" dirty="0">
                <a:latin typeface="微软雅黑" panose="020B0503020204020204" pitchFamily="34" charset="-122"/>
                <a:ea typeface="微软雅黑" panose="020B0503020204020204" pitchFamily="34" charset="-122"/>
                <a:cs typeface="Times New Roman" pitchFamily="18" charset="0"/>
              </a:endParaRPr>
            </a:p>
          </p:txBody>
        </p:sp>
        <p:sp>
          <p:nvSpPr>
            <p:cNvPr id="7" name="TextBox 6"/>
            <p:cNvSpPr txBox="1"/>
            <p:nvPr/>
          </p:nvSpPr>
          <p:spPr>
            <a:xfrm>
              <a:off x="5751756" y="4043505"/>
              <a:ext cx="2802370" cy="276999"/>
            </a:xfrm>
            <a:prstGeom prst="rect">
              <a:avLst/>
            </a:prstGeom>
            <a:noFill/>
          </p:spPr>
          <p:txBody>
            <a:bodyPr wrap="none" rtlCol="0">
              <a:spAutoFit/>
            </a:bodyPr>
            <a:lstStyle/>
            <a:p>
              <a:r>
                <a:rPr lang="en-US" altLang="zh-CN" sz="1200" b="1" dirty="0">
                  <a:latin typeface="微软雅黑" panose="020B0503020204020204" pitchFamily="34" charset="-122"/>
                  <a:ea typeface="微软雅黑" panose="020B0503020204020204" pitchFamily="34" charset="-122"/>
                  <a:cs typeface="Times New Roman" pitchFamily="18" charset="0"/>
                </a:rPr>
                <a:t>0          10         20         30        40</a:t>
              </a:r>
              <a:endParaRPr lang="zh-CN" altLang="en-US" sz="1200" b="1" dirty="0">
                <a:latin typeface="微软雅黑" panose="020B0503020204020204" pitchFamily="34" charset="-122"/>
                <a:ea typeface="微软雅黑" panose="020B0503020204020204" pitchFamily="34" charset="-122"/>
                <a:cs typeface="Times New Roman" pitchFamily="18" charset="0"/>
              </a:endParaRPr>
            </a:p>
          </p:txBody>
        </p:sp>
        <p:sp>
          <p:nvSpPr>
            <p:cNvPr id="8" name="TextBox 9"/>
            <p:cNvSpPr txBox="1"/>
            <p:nvPr/>
          </p:nvSpPr>
          <p:spPr>
            <a:xfrm>
              <a:off x="5356284" y="1242732"/>
              <a:ext cx="343328" cy="209761"/>
            </a:xfrm>
            <a:prstGeom prst="rect">
              <a:avLst/>
            </a:prstGeom>
            <a:noFill/>
          </p:spPr>
          <p:txBody>
            <a:bodyPr wrap="none" rtlCol="0">
              <a:spAutoFit/>
            </a:bodyPr>
            <a:lstStyle/>
            <a:p>
              <a:r>
                <a:rPr lang="en-US" altLang="zh-CN" sz="1200" b="1" dirty="0">
                  <a:latin typeface="微软雅黑" panose="020B0503020204020204" pitchFamily="34" charset="-122"/>
                  <a:ea typeface="微软雅黑" panose="020B0503020204020204" pitchFamily="34" charset="-122"/>
                  <a:cs typeface="Times New Roman" pitchFamily="18" charset="0"/>
                </a:rPr>
                <a:t>10</a:t>
              </a:r>
              <a:r>
                <a:rPr lang="en-US" altLang="zh-CN" sz="1200" b="1" baseline="30000" dirty="0">
                  <a:latin typeface="微软雅黑" panose="020B0503020204020204" pitchFamily="34" charset="-122"/>
                  <a:ea typeface="微软雅黑" panose="020B0503020204020204" pitchFamily="34" charset="-122"/>
                  <a:cs typeface="Times New Roman" pitchFamily="18" charset="0"/>
                  <a:sym typeface="Symbol"/>
                </a:rPr>
                <a:t>1</a:t>
              </a:r>
              <a:endParaRPr lang="zh-CN" altLang="en-US" sz="1200" b="1" baseline="30000" dirty="0">
                <a:latin typeface="微软雅黑" panose="020B0503020204020204" pitchFamily="34" charset="-122"/>
                <a:ea typeface="微软雅黑" panose="020B0503020204020204" pitchFamily="34" charset="-122"/>
                <a:cs typeface="Times New Roman" pitchFamily="18" charset="0"/>
              </a:endParaRPr>
            </a:p>
          </p:txBody>
        </p:sp>
        <p:sp>
          <p:nvSpPr>
            <p:cNvPr id="9" name="TextBox 10"/>
            <p:cNvSpPr txBox="1"/>
            <p:nvPr/>
          </p:nvSpPr>
          <p:spPr>
            <a:xfrm>
              <a:off x="5356284" y="1678962"/>
              <a:ext cx="343328" cy="209761"/>
            </a:xfrm>
            <a:prstGeom prst="rect">
              <a:avLst/>
            </a:prstGeom>
            <a:noFill/>
          </p:spPr>
          <p:txBody>
            <a:bodyPr wrap="none" rtlCol="0">
              <a:spAutoFit/>
            </a:bodyPr>
            <a:lstStyle/>
            <a:p>
              <a:r>
                <a:rPr lang="en-US" altLang="zh-CN" sz="1200" b="1" dirty="0">
                  <a:latin typeface="微软雅黑" panose="020B0503020204020204" pitchFamily="34" charset="-122"/>
                  <a:ea typeface="微软雅黑" panose="020B0503020204020204" pitchFamily="34" charset="-122"/>
                  <a:cs typeface="Times New Roman" pitchFamily="18" charset="0"/>
                </a:rPr>
                <a:t>10</a:t>
              </a:r>
              <a:r>
                <a:rPr lang="en-US" altLang="zh-CN" sz="1200" b="1" baseline="30000" dirty="0">
                  <a:latin typeface="微软雅黑" panose="020B0503020204020204" pitchFamily="34" charset="-122"/>
                  <a:ea typeface="微软雅黑" panose="020B0503020204020204" pitchFamily="34" charset="-122"/>
                  <a:cs typeface="Times New Roman" pitchFamily="18" charset="0"/>
                  <a:sym typeface="Symbol"/>
                </a:rPr>
                <a:t>2</a:t>
              </a:r>
              <a:endParaRPr lang="zh-CN" altLang="en-US" sz="1200" b="1" baseline="30000" dirty="0">
                <a:latin typeface="微软雅黑" panose="020B0503020204020204" pitchFamily="34" charset="-122"/>
                <a:ea typeface="微软雅黑" panose="020B0503020204020204" pitchFamily="34" charset="-122"/>
                <a:cs typeface="Times New Roman" pitchFamily="18" charset="0"/>
              </a:endParaRPr>
            </a:p>
          </p:txBody>
        </p:sp>
        <p:sp>
          <p:nvSpPr>
            <p:cNvPr id="10" name="TextBox 11"/>
            <p:cNvSpPr txBox="1"/>
            <p:nvPr/>
          </p:nvSpPr>
          <p:spPr>
            <a:xfrm>
              <a:off x="5356284" y="2115193"/>
              <a:ext cx="343328" cy="209761"/>
            </a:xfrm>
            <a:prstGeom prst="rect">
              <a:avLst/>
            </a:prstGeom>
            <a:noFill/>
          </p:spPr>
          <p:txBody>
            <a:bodyPr wrap="none" rtlCol="0">
              <a:spAutoFit/>
            </a:bodyPr>
            <a:lstStyle/>
            <a:p>
              <a:r>
                <a:rPr lang="en-US" altLang="zh-CN" sz="1200" b="1" dirty="0">
                  <a:latin typeface="微软雅黑" panose="020B0503020204020204" pitchFamily="34" charset="-122"/>
                  <a:ea typeface="微软雅黑" panose="020B0503020204020204" pitchFamily="34" charset="-122"/>
                  <a:cs typeface="Times New Roman" pitchFamily="18" charset="0"/>
                </a:rPr>
                <a:t>10</a:t>
              </a:r>
              <a:r>
                <a:rPr lang="en-US" altLang="zh-CN" sz="1200" b="1" baseline="30000" dirty="0">
                  <a:latin typeface="微软雅黑" panose="020B0503020204020204" pitchFamily="34" charset="-122"/>
                  <a:ea typeface="微软雅黑" panose="020B0503020204020204" pitchFamily="34" charset="-122"/>
                  <a:cs typeface="Times New Roman" pitchFamily="18" charset="0"/>
                  <a:sym typeface="Symbol"/>
                </a:rPr>
                <a:t>3</a:t>
              </a:r>
              <a:endParaRPr lang="zh-CN" altLang="en-US" sz="1200" b="1" baseline="30000" dirty="0">
                <a:latin typeface="微软雅黑" panose="020B0503020204020204" pitchFamily="34" charset="-122"/>
                <a:ea typeface="微软雅黑" panose="020B0503020204020204" pitchFamily="34" charset="-122"/>
                <a:cs typeface="Times New Roman" pitchFamily="18" charset="0"/>
              </a:endParaRPr>
            </a:p>
          </p:txBody>
        </p:sp>
        <p:sp>
          <p:nvSpPr>
            <p:cNvPr id="11" name="TextBox 12"/>
            <p:cNvSpPr txBox="1"/>
            <p:nvPr/>
          </p:nvSpPr>
          <p:spPr>
            <a:xfrm>
              <a:off x="5356284" y="2551424"/>
              <a:ext cx="343328" cy="209761"/>
            </a:xfrm>
            <a:prstGeom prst="rect">
              <a:avLst/>
            </a:prstGeom>
            <a:noFill/>
          </p:spPr>
          <p:txBody>
            <a:bodyPr wrap="none" rtlCol="0">
              <a:spAutoFit/>
            </a:bodyPr>
            <a:lstStyle/>
            <a:p>
              <a:r>
                <a:rPr lang="en-US" altLang="zh-CN" sz="1200" b="1" dirty="0">
                  <a:latin typeface="微软雅黑" panose="020B0503020204020204" pitchFamily="34" charset="-122"/>
                  <a:ea typeface="微软雅黑" panose="020B0503020204020204" pitchFamily="34" charset="-122"/>
                  <a:cs typeface="Times New Roman" pitchFamily="18" charset="0"/>
                </a:rPr>
                <a:t>10</a:t>
              </a:r>
              <a:r>
                <a:rPr lang="en-US" altLang="zh-CN" sz="1200" b="1" baseline="30000" dirty="0">
                  <a:latin typeface="微软雅黑" panose="020B0503020204020204" pitchFamily="34" charset="-122"/>
                  <a:ea typeface="微软雅黑" panose="020B0503020204020204" pitchFamily="34" charset="-122"/>
                  <a:cs typeface="Times New Roman" pitchFamily="18" charset="0"/>
                  <a:sym typeface="Symbol"/>
                </a:rPr>
                <a:t>4</a:t>
              </a:r>
              <a:endParaRPr lang="zh-CN" altLang="en-US" sz="1200" b="1" baseline="30000" dirty="0">
                <a:latin typeface="微软雅黑" panose="020B0503020204020204" pitchFamily="34" charset="-122"/>
                <a:ea typeface="微软雅黑" panose="020B0503020204020204" pitchFamily="34" charset="-122"/>
                <a:cs typeface="Times New Roman" pitchFamily="18" charset="0"/>
              </a:endParaRPr>
            </a:p>
          </p:txBody>
        </p:sp>
        <p:sp>
          <p:nvSpPr>
            <p:cNvPr id="12" name="TextBox 13"/>
            <p:cNvSpPr txBox="1"/>
            <p:nvPr/>
          </p:nvSpPr>
          <p:spPr>
            <a:xfrm>
              <a:off x="5356284" y="2987655"/>
              <a:ext cx="343328" cy="209761"/>
            </a:xfrm>
            <a:prstGeom prst="rect">
              <a:avLst/>
            </a:prstGeom>
            <a:noFill/>
          </p:spPr>
          <p:txBody>
            <a:bodyPr wrap="none" rtlCol="0">
              <a:spAutoFit/>
            </a:bodyPr>
            <a:lstStyle/>
            <a:p>
              <a:r>
                <a:rPr lang="en-US" altLang="zh-CN" sz="1200" b="1" dirty="0">
                  <a:latin typeface="微软雅黑" panose="020B0503020204020204" pitchFamily="34" charset="-122"/>
                  <a:ea typeface="微软雅黑" panose="020B0503020204020204" pitchFamily="34" charset="-122"/>
                  <a:cs typeface="Times New Roman" pitchFamily="18" charset="0"/>
                </a:rPr>
                <a:t>10</a:t>
              </a:r>
              <a:r>
                <a:rPr lang="en-US" altLang="zh-CN" sz="1200" b="1" baseline="30000" dirty="0">
                  <a:latin typeface="微软雅黑" panose="020B0503020204020204" pitchFamily="34" charset="-122"/>
                  <a:ea typeface="微软雅黑" panose="020B0503020204020204" pitchFamily="34" charset="-122"/>
                  <a:cs typeface="Times New Roman" pitchFamily="18" charset="0"/>
                  <a:sym typeface="Symbol"/>
                </a:rPr>
                <a:t>5</a:t>
              </a:r>
              <a:endParaRPr lang="zh-CN" altLang="en-US" sz="1200" b="1" baseline="30000" dirty="0">
                <a:latin typeface="微软雅黑" panose="020B0503020204020204" pitchFamily="34" charset="-122"/>
                <a:ea typeface="微软雅黑" panose="020B0503020204020204" pitchFamily="34" charset="-122"/>
                <a:cs typeface="Times New Roman" pitchFamily="18" charset="0"/>
              </a:endParaRPr>
            </a:p>
          </p:txBody>
        </p:sp>
        <p:sp>
          <p:nvSpPr>
            <p:cNvPr id="13" name="TextBox 14"/>
            <p:cNvSpPr txBox="1"/>
            <p:nvPr/>
          </p:nvSpPr>
          <p:spPr>
            <a:xfrm>
              <a:off x="5356284" y="3423885"/>
              <a:ext cx="343328" cy="209761"/>
            </a:xfrm>
            <a:prstGeom prst="rect">
              <a:avLst/>
            </a:prstGeom>
            <a:noFill/>
          </p:spPr>
          <p:txBody>
            <a:bodyPr wrap="none" rtlCol="0">
              <a:spAutoFit/>
            </a:bodyPr>
            <a:lstStyle/>
            <a:p>
              <a:r>
                <a:rPr lang="en-US" altLang="zh-CN" sz="1200" b="1" dirty="0">
                  <a:latin typeface="微软雅黑" panose="020B0503020204020204" pitchFamily="34" charset="-122"/>
                  <a:ea typeface="微软雅黑" panose="020B0503020204020204" pitchFamily="34" charset="-122"/>
                  <a:cs typeface="Times New Roman" pitchFamily="18" charset="0"/>
                </a:rPr>
                <a:t>10</a:t>
              </a:r>
              <a:r>
                <a:rPr lang="en-US" altLang="zh-CN" sz="1200" b="1" baseline="30000" dirty="0">
                  <a:latin typeface="微软雅黑" panose="020B0503020204020204" pitchFamily="34" charset="-122"/>
                  <a:ea typeface="微软雅黑" panose="020B0503020204020204" pitchFamily="34" charset="-122"/>
                  <a:cs typeface="Times New Roman" pitchFamily="18" charset="0"/>
                  <a:sym typeface="Symbol"/>
                </a:rPr>
                <a:t>6</a:t>
              </a:r>
              <a:endParaRPr lang="zh-CN" altLang="en-US" sz="1200" b="1" baseline="30000" dirty="0">
                <a:latin typeface="微软雅黑" panose="020B0503020204020204" pitchFamily="34" charset="-122"/>
                <a:ea typeface="微软雅黑" panose="020B0503020204020204" pitchFamily="34" charset="-122"/>
                <a:cs typeface="Times New Roman" pitchFamily="18" charset="0"/>
              </a:endParaRPr>
            </a:p>
          </p:txBody>
        </p:sp>
        <p:sp>
          <p:nvSpPr>
            <p:cNvPr id="14" name="TextBox 15"/>
            <p:cNvSpPr txBox="1"/>
            <p:nvPr/>
          </p:nvSpPr>
          <p:spPr>
            <a:xfrm>
              <a:off x="5356284" y="3860116"/>
              <a:ext cx="343328" cy="209761"/>
            </a:xfrm>
            <a:prstGeom prst="rect">
              <a:avLst/>
            </a:prstGeom>
            <a:noFill/>
          </p:spPr>
          <p:txBody>
            <a:bodyPr wrap="none" rtlCol="0">
              <a:spAutoFit/>
            </a:bodyPr>
            <a:lstStyle/>
            <a:p>
              <a:r>
                <a:rPr lang="en-US" altLang="zh-CN" sz="1200" b="1" dirty="0">
                  <a:latin typeface="微软雅黑" panose="020B0503020204020204" pitchFamily="34" charset="-122"/>
                  <a:ea typeface="微软雅黑" panose="020B0503020204020204" pitchFamily="34" charset="-122"/>
                  <a:cs typeface="Times New Roman" pitchFamily="18" charset="0"/>
                </a:rPr>
                <a:t>10</a:t>
              </a:r>
              <a:r>
                <a:rPr lang="en-US" altLang="zh-CN" sz="1200" b="1" baseline="30000" dirty="0">
                  <a:latin typeface="微软雅黑" panose="020B0503020204020204" pitchFamily="34" charset="-122"/>
                  <a:ea typeface="微软雅黑" panose="020B0503020204020204" pitchFamily="34" charset="-122"/>
                  <a:cs typeface="Times New Roman" pitchFamily="18" charset="0"/>
                  <a:sym typeface="Symbol"/>
                </a:rPr>
                <a:t>7</a:t>
              </a:r>
              <a:endParaRPr lang="zh-CN" altLang="en-US" sz="1200" b="1" baseline="30000" dirty="0">
                <a:latin typeface="微软雅黑" panose="020B0503020204020204" pitchFamily="34" charset="-122"/>
                <a:ea typeface="微软雅黑" panose="020B0503020204020204" pitchFamily="34" charset="-122"/>
                <a:cs typeface="Times New Roman" pitchFamily="18" charset="0"/>
              </a:endParaRPr>
            </a:p>
          </p:txBody>
        </p:sp>
        <p:sp>
          <p:nvSpPr>
            <p:cNvPr id="15" name="TextBox 16"/>
            <p:cNvSpPr txBox="1"/>
            <p:nvPr/>
          </p:nvSpPr>
          <p:spPr>
            <a:xfrm>
              <a:off x="7390552" y="1351789"/>
              <a:ext cx="953869" cy="461665"/>
            </a:xfrm>
            <a:prstGeom prst="rect">
              <a:avLst/>
            </a:prstGeom>
            <a:noFill/>
          </p:spPr>
          <p:txBody>
            <a:bodyPr wrap="square" rtlCol="0">
              <a:spAutoFit/>
            </a:bodyPr>
            <a:lstStyle/>
            <a:p>
              <a:r>
                <a:rPr lang="en-US" altLang="zh-CN" sz="1200" b="1" dirty="0">
                  <a:latin typeface="微软雅黑" panose="020B0503020204020204" pitchFamily="34" charset="-122"/>
                  <a:ea typeface="微软雅黑" panose="020B0503020204020204" pitchFamily="34" charset="-122"/>
                  <a:cs typeface="Times New Roman" pitchFamily="18" charset="0"/>
                </a:rPr>
                <a:t>256QAM</a:t>
              </a:r>
            </a:p>
            <a:p>
              <a:r>
                <a:rPr lang="en-US" altLang="zh-CN" sz="1200" b="1" dirty="0">
                  <a:latin typeface="微软雅黑" panose="020B0503020204020204" pitchFamily="34" charset="-122"/>
                  <a:ea typeface="微软雅黑" panose="020B0503020204020204" pitchFamily="34" charset="-122"/>
                  <a:cs typeface="Times New Roman" pitchFamily="18" charset="0"/>
                </a:rPr>
                <a:t> 8 </a:t>
              </a:r>
              <a:r>
                <a:rPr lang="en-US" altLang="zh-CN" sz="1200" b="1" dirty="0" err="1">
                  <a:latin typeface="微软雅黑" panose="020B0503020204020204" pitchFamily="34" charset="-122"/>
                  <a:ea typeface="微软雅黑" panose="020B0503020204020204" pitchFamily="34" charset="-122"/>
                  <a:cs typeface="Times New Roman" pitchFamily="18" charset="0"/>
                </a:rPr>
                <a:t>Mbit</a:t>
              </a:r>
              <a:r>
                <a:rPr lang="en-US" altLang="zh-CN" sz="1200" b="1" dirty="0">
                  <a:latin typeface="微软雅黑" panose="020B0503020204020204" pitchFamily="34" charset="-122"/>
                  <a:ea typeface="微软雅黑" panose="020B0503020204020204" pitchFamily="34" charset="-122"/>
                  <a:cs typeface="Times New Roman" pitchFamily="18" charset="0"/>
                </a:rPr>
                <a:t>/s</a:t>
              </a:r>
              <a:endParaRPr lang="zh-CN" altLang="en-US" sz="1200" b="1" dirty="0">
                <a:latin typeface="微软雅黑" panose="020B0503020204020204" pitchFamily="34" charset="-122"/>
                <a:ea typeface="微软雅黑" panose="020B0503020204020204" pitchFamily="34" charset="-122"/>
                <a:cs typeface="Times New Roman" pitchFamily="18" charset="0"/>
              </a:endParaRPr>
            </a:p>
          </p:txBody>
        </p:sp>
        <p:sp>
          <p:nvSpPr>
            <p:cNvPr id="16" name="TextBox 17"/>
            <p:cNvSpPr txBox="1"/>
            <p:nvPr/>
          </p:nvSpPr>
          <p:spPr>
            <a:xfrm>
              <a:off x="6569877" y="1351789"/>
              <a:ext cx="904046" cy="461665"/>
            </a:xfrm>
            <a:prstGeom prst="rect">
              <a:avLst/>
            </a:prstGeom>
            <a:noFill/>
          </p:spPr>
          <p:txBody>
            <a:bodyPr wrap="square" rtlCol="0">
              <a:spAutoFit/>
            </a:bodyPr>
            <a:lstStyle/>
            <a:p>
              <a:r>
                <a:rPr lang="en-US" altLang="zh-CN" sz="1200" b="1" dirty="0">
                  <a:latin typeface="微软雅黑" panose="020B0503020204020204" pitchFamily="34" charset="-122"/>
                  <a:ea typeface="微软雅黑" panose="020B0503020204020204" pitchFamily="34" charset="-122"/>
                  <a:cs typeface="Times New Roman" pitchFamily="18" charset="0"/>
                </a:rPr>
                <a:t>16QAM</a:t>
              </a:r>
            </a:p>
            <a:p>
              <a:r>
                <a:rPr lang="en-US" altLang="zh-CN" sz="1200" b="1" dirty="0">
                  <a:latin typeface="微软雅黑" panose="020B0503020204020204" pitchFamily="34" charset="-122"/>
                  <a:ea typeface="微软雅黑" panose="020B0503020204020204" pitchFamily="34" charset="-122"/>
                  <a:cs typeface="Times New Roman" pitchFamily="18" charset="0"/>
                </a:rPr>
                <a:t>4 </a:t>
              </a:r>
              <a:r>
                <a:rPr lang="en-US" altLang="zh-CN" sz="1200" b="1" dirty="0" err="1">
                  <a:latin typeface="微软雅黑" panose="020B0503020204020204" pitchFamily="34" charset="-122"/>
                  <a:ea typeface="微软雅黑" panose="020B0503020204020204" pitchFamily="34" charset="-122"/>
                  <a:cs typeface="Times New Roman" pitchFamily="18" charset="0"/>
                </a:rPr>
                <a:t>Mbit</a:t>
              </a:r>
              <a:r>
                <a:rPr lang="en-US" altLang="zh-CN" sz="1200" b="1" dirty="0">
                  <a:latin typeface="微软雅黑" panose="020B0503020204020204" pitchFamily="34" charset="-122"/>
                  <a:ea typeface="微软雅黑" panose="020B0503020204020204" pitchFamily="34" charset="-122"/>
                  <a:cs typeface="Times New Roman" pitchFamily="18" charset="0"/>
                </a:rPr>
                <a:t>/s</a:t>
              </a:r>
              <a:endParaRPr lang="zh-CN" altLang="en-US" sz="1200" b="1" dirty="0">
                <a:latin typeface="微软雅黑" panose="020B0503020204020204" pitchFamily="34" charset="-122"/>
                <a:ea typeface="微软雅黑" panose="020B0503020204020204" pitchFamily="34" charset="-122"/>
                <a:cs typeface="Times New Roman" pitchFamily="18" charset="0"/>
              </a:endParaRPr>
            </a:p>
          </p:txBody>
        </p:sp>
        <p:sp>
          <p:nvSpPr>
            <p:cNvPr id="17" name="TextBox 18"/>
            <p:cNvSpPr txBox="1"/>
            <p:nvPr/>
          </p:nvSpPr>
          <p:spPr>
            <a:xfrm>
              <a:off x="6085260" y="1788020"/>
              <a:ext cx="904046" cy="461665"/>
            </a:xfrm>
            <a:prstGeom prst="rect">
              <a:avLst/>
            </a:prstGeom>
            <a:noFill/>
          </p:spPr>
          <p:txBody>
            <a:bodyPr wrap="square" rtlCol="0">
              <a:spAutoFit/>
            </a:bodyPr>
            <a:lstStyle/>
            <a:p>
              <a:r>
                <a:rPr lang="en-US" altLang="zh-CN" sz="1200" b="1" dirty="0">
                  <a:latin typeface="微软雅黑" panose="020B0503020204020204" pitchFamily="34" charset="-122"/>
                  <a:ea typeface="微软雅黑" panose="020B0503020204020204" pitchFamily="34" charset="-122"/>
                  <a:cs typeface="Times New Roman" pitchFamily="18" charset="0"/>
                </a:rPr>
                <a:t>BPSK</a:t>
              </a:r>
            </a:p>
            <a:p>
              <a:r>
                <a:rPr lang="en-US" altLang="zh-CN" sz="1200" b="1" dirty="0">
                  <a:latin typeface="微软雅黑" panose="020B0503020204020204" pitchFamily="34" charset="-122"/>
                  <a:ea typeface="微软雅黑" panose="020B0503020204020204" pitchFamily="34" charset="-122"/>
                  <a:cs typeface="Times New Roman" pitchFamily="18" charset="0"/>
                </a:rPr>
                <a:t>1 </a:t>
              </a:r>
              <a:r>
                <a:rPr lang="en-US" altLang="zh-CN" sz="1200" b="1" dirty="0" err="1">
                  <a:latin typeface="微软雅黑" panose="020B0503020204020204" pitchFamily="34" charset="-122"/>
                  <a:ea typeface="微软雅黑" panose="020B0503020204020204" pitchFamily="34" charset="-122"/>
                  <a:cs typeface="Times New Roman" pitchFamily="18" charset="0"/>
                </a:rPr>
                <a:t>Mbit</a:t>
              </a:r>
              <a:r>
                <a:rPr lang="en-US" altLang="zh-CN" sz="1200" b="1" dirty="0">
                  <a:latin typeface="微软雅黑" panose="020B0503020204020204" pitchFamily="34" charset="-122"/>
                  <a:ea typeface="微软雅黑" panose="020B0503020204020204" pitchFamily="34" charset="-122"/>
                  <a:cs typeface="Times New Roman" pitchFamily="18" charset="0"/>
                </a:rPr>
                <a:t>/s</a:t>
              </a:r>
              <a:endParaRPr lang="zh-CN" altLang="en-US" sz="1200" b="1" dirty="0">
                <a:latin typeface="微软雅黑" panose="020B0503020204020204" pitchFamily="34" charset="-122"/>
                <a:ea typeface="微软雅黑" panose="020B0503020204020204" pitchFamily="34" charset="-122"/>
                <a:cs typeface="Times New Roman" pitchFamily="18" charset="0"/>
              </a:endParaRPr>
            </a:p>
          </p:txBody>
        </p:sp>
      </p:grpSp>
      <p:sp>
        <p:nvSpPr>
          <p:cNvPr id="20" name="矩形 19"/>
          <p:cNvSpPr/>
          <p:nvPr/>
        </p:nvSpPr>
        <p:spPr>
          <a:xfrm>
            <a:off x="5190655" y="4245807"/>
            <a:ext cx="298813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zh-CN" sz="1600" b="1" dirty="0">
                <a:solidFill>
                  <a:srgbClr val="000099"/>
                </a:solidFill>
                <a:latin typeface="微软雅黑" pitchFamily="34" charset="-122"/>
                <a:ea typeface="微软雅黑" pitchFamily="34" charset="-122"/>
              </a:rPr>
              <a:t>理想无线信道的误码率与信噪比、调制方式、数据率的关系</a:t>
            </a:r>
            <a:endParaRPr kumimoji="1" lang="zh-CN" altLang="en-US" sz="1600" b="1" dirty="0">
              <a:solidFill>
                <a:srgbClr val="000099"/>
              </a:solidFill>
              <a:latin typeface="微软雅黑" pitchFamily="34" charset="-122"/>
              <a:ea typeface="微软雅黑" pitchFamily="34" charset="-122"/>
            </a:endParaRPr>
          </a:p>
        </p:txBody>
      </p:sp>
    </p:spTree>
    <p:extLst>
      <p:ext uri="{BB962C8B-B14F-4D97-AF65-F5344CB8AC3E}">
        <p14:creationId xmlns:p14="http://schemas.microsoft.com/office/powerpoint/2010/main" val="29797676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a:xfrm>
            <a:off x="466343" y="900000"/>
            <a:ext cx="8129017" cy="3376990"/>
          </a:xfrm>
        </p:spPr>
        <p:txBody>
          <a:bodyPr/>
          <a:lstStyle/>
          <a:p>
            <a:r>
              <a:rPr lang="zh-CN" altLang="en-US" dirty="0"/>
              <a:t>微波接力：中继站把前一站送来的信号放大后再发送到下一站。</a:t>
            </a:r>
          </a:p>
        </p:txBody>
      </p:sp>
      <p:sp>
        <p:nvSpPr>
          <p:cNvPr id="3" name="文本占位符 2"/>
          <p:cNvSpPr>
            <a:spLocks noGrp="1"/>
          </p:cNvSpPr>
          <p:nvPr>
            <p:ph type="body" sz="quarter" idx="11"/>
          </p:nvPr>
        </p:nvSpPr>
        <p:spPr>
          <a:xfrm>
            <a:off x="1332000" y="360000"/>
            <a:ext cx="6480000" cy="354012"/>
          </a:xfrm>
        </p:spPr>
        <p:txBody>
          <a:bodyPr>
            <a:normAutofit fontScale="92500" lnSpcReduction="10000"/>
          </a:bodyPr>
          <a:lstStyle/>
          <a:p>
            <a:r>
              <a:rPr lang="zh-CN" altLang="en-US" dirty="0"/>
              <a:t>远距离微波通信：微波接力</a:t>
            </a:r>
          </a:p>
        </p:txBody>
      </p:sp>
      <p:grpSp>
        <p:nvGrpSpPr>
          <p:cNvPr id="30" name="组合 29"/>
          <p:cNvGrpSpPr/>
          <p:nvPr/>
        </p:nvGrpSpPr>
        <p:grpSpPr>
          <a:xfrm>
            <a:off x="1061483" y="1621737"/>
            <a:ext cx="3538165" cy="2629265"/>
            <a:chOff x="885792" y="2664822"/>
            <a:chExt cx="3538165" cy="2629265"/>
          </a:xfrm>
        </p:grpSpPr>
        <p:sp>
          <p:nvSpPr>
            <p:cNvPr id="7" name="弦形 6"/>
            <p:cNvSpPr/>
            <p:nvPr/>
          </p:nvSpPr>
          <p:spPr>
            <a:xfrm rot="5400000">
              <a:off x="1677465" y="2591139"/>
              <a:ext cx="1942936" cy="3462959"/>
            </a:xfrm>
            <a:prstGeom prst="chord">
              <a:avLst>
                <a:gd name="adj1" fmla="val 5820239"/>
                <a:gd name="adj2" fmla="val 15782700"/>
              </a:avLst>
            </a:prstGeom>
            <a:gradFill flip="none" rotWithShape="1">
              <a:gsLst>
                <a:gs pos="0">
                  <a:srgbClr val="800000">
                    <a:tint val="66000"/>
                    <a:satMod val="160000"/>
                  </a:srgbClr>
                </a:gs>
                <a:gs pos="50000">
                  <a:srgbClr val="800000">
                    <a:tint val="44500"/>
                    <a:satMod val="160000"/>
                  </a:srgbClr>
                </a:gs>
                <a:gs pos="100000">
                  <a:srgbClr val="800000">
                    <a:tint val="23500"/>
                    <a:satMod val="160000"/>
                  </a:srgbClr>
                </a:gs>
              </a:gsLst>
              <a:lin ang="0" scaled="1"/>
              <a:tileRect/>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8" name="组合 27"/>
            <p:cNvGrpSpPr/>
            <p:nvPr/>
          </p:nvGrpSpPr>
          <p:grpSpPr>
            <a:xfrm>
              <a:off x="885792" y="2664822"/>
              <a:ext cx="3538165" cy="1229629"/>
              <a:chOff x="885792" y="2664822"/>
              <a:chExt cx="3538165" cy="1229629"/>
            </a:xfrm>
          </p:grpSpPr>
          <p:pic>
            <p:nvPicPr>
              <p:cNvPr id="13" name="Picture 216" descr="天线"/>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42031" y="2664822"/>
                <a:ext cx="500270" cy="808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216" descr="天线"/>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rot="2179116">
                <a:off x="3923687" y="3086304"/>
                <a:ext cx="500270" cy="808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216" descr="天线"/>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rot="19450255">
                <a:off x="885792" y="3086322"/>
                <a:ext cx="500270" cy="808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左右箭头 15"/>
              <p:cNvSpPr/>
              <p:nvPr/>
            </p:nvSpPr>
            <p:spPr>
              <a:xfrm rot="20456633">
                <a:off x="1253159" y="3025421"/>
                <a:ext cx="1147839" cy="214517"/>
              </a:xfrm>
              <a:prstGeom prst="leftRight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左右箭头 16"/>
              <p:cNvSpPr/>
              <p:nvPr/>
            </p:nvSpPr>
            <p:spPr>
              <a:xfrm rot="1138772">
                <a:off x="2859359" y="3026101"/>
                <a:ext cx="1147839" cy="214517"/>
              </a:xfrm>
              <a:prstGeom prst="leftRight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29" name="组合 28"/>
          <p:cNvGrpSpPr/>
          <p:nvPr/>
        </p:nvGrpSpPr>
        <p:grpSpPr>
          <a:xfrm>
            <a:off x="5723894" y="1454818"/>
            <a:ext cx="1697398" cy="2230851"/>
            <a:chOff x="5887738" y="1735588"/>
            <a:chExt cx="1983662" cy="2665435"/>
          </a:xfrm>
        </p:grpSpPr>
        <p:graphicFrame>
          <p:nvGraphicFramePr>
            <p:cNvPr id="18" name="Object 15"/>
            <p:cNvGraphicFramePr>
              <a:graphicFrameLocks noChangeAspect="1"/>
            </p:cNvGraphicFramePr>
            <p:nvPr>
              <p:extLst>
                <p:ext uri="{D42A27DB-BD31-4B8C-83A1-F6EECF244321}">
                  <p14:modId xmlns:p14="http://schemas.microsoft.com/office/powerpoint/2010/main" val="3960750755"/>
                </p:ext>
              </p:extLst>
            </p:nvPr>
          </p:nvGraphicFramePr>
          <p:xfrm>
            <a:off x="6189213" y="3203537"/>
            <a:ext cx="1265096" cy="1197486"/>
          </p:xfrm>
          <a:graphic>
            <a:graphicData uri="http://schemas.openxmlformats.org/presentationml/2006/ole">
              <mc:AlternateContent xmlns:mc="http://schemas.openxmlformats.org/markup-compatibility/2006">
                <mc:Choice xmlns:v="urn:schemas-microsoft-com:vml" Requires="v">
                  <p:oleObj name="绘图" r:id="rId3" imgW="294485" imgH="2535960" progId="">
                    <p:embed/>
                  </p:oleObj>
                </mc:Choice>
                <mc:Fallback>
                  <p:oleObj name="绘图" r:id="rId3" imgW="294485" imgH="2535960" progId="">
                    <p:embed/>
                    <p:pic>
                      <p:nvPicPr>
                        <p:cNvPr id="0" name="Picture 4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89213" y="3203537"/>
                          <a:ext cx="1265096" cy="119748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9" name="图片 18"/>
            <p:cNvPicPr>
              <a:picLocks noChangeAspect="1"/>
            </p:cNvPicPr>
            <p:nvPr/>
          </p:nvPicPr>
          <p:blipFill>
            <a:blip r:embed="rId5"/>
            <a:stretch>
              <a:fillRect/>
            </a:stretch>
          </p:blipFill>
          <p:spPr>
            <a:xfrm rot="20150946">
              <a:off x="6357744" y="1735588"/>
              <a:ext cx="1072989" cy="816935"/>
            </a:xfrm>
            <a:prstGeom prst="rect">
              <a:avLst/>
            </a:prstGeom>
          </p:spPr>
        </p:pic>
        <p:pic>
          <p:nvPicPr>
            <p:cNvPr id="20" name="图片 19"/>
            <p:cNvPicPr>
              <a:picLocks noChangeAspect="1"/>
            </p:cNvPicPr>
            <p:nvPr/>
          </p:nvPicPr>
          <p:blipFill>
            <a:blip r:embed="rId6" cstate="print"/>
            <a:stretch>
              <a:fillRect/>
            </a:stretch>
          </p:blipFill>
          <p:spPr>
            <a:xfrm rot="2925508">
              <a:off x="7353857" y="3299803"/>
              <a:ext cx="445053" cy="590032"/>
            </a:xfrm>
            <a:prstGeom prst="rect">
              <a:avLst/>
            </a:prstGeom>
          </p:spPr>
        </p:pic>
        <p:pic>
          <p:nvPicPr>
            <p:cNvPr id="21" name="图片 20"/>
            <p:cNvPicPr>
              <a:picLocks noChangeAspect="1"/>
            </p:cNvPicPr>
            <p:nvPr/>
          </p:nvPicPr>
          <p:blipFill>
            <a:blip r:embed="rId7" cstate="print"/>
            <a:stretch>
              <a:fillRect/>
            </a:stretch>
          </p:blipFill>
          <p:spPr>
            <a:xfrm rot="19443868" flipH="1">
              <a:off x="5887738" y="3254126"/>
              <a:ext cx="445053" cy="590032"/>
            </a:xfrm>
            <a:prstGeom prst="rect">
              <a:avLst/>
            </a:prstGeom>
          </p:spPr>
        </p:pic>
        <p:cxnSp>
          <p:nvCxnSpPr>
            <p:cNvPr id="23" name="直接连接符 22"/>
            <p:cNvCxnSpPr/>
            <p:nvPr/>
          </p:nvCxnSpPr>
          <p:spPr>
            <a:xfrm flipH="1">
              <a:off x="6237581" y="2325189"/>
              <a:ext cx="556714" cy="990006"/>
            </a:xfrm>
            <a:prstGeom prst="line">
              <a:avLst/>
            </a:prstGeom>
            <a:ln w="28575"/>
          </p:spPr>
          <p:style>
            <a:lnRef idx="1">
              <a:schemeClr val="dk1"/>
            </a:lnRef>
            <a:fillRef idx="0">
              <a:schemeClr val="dk1"/>
            </a:fillRef>
            <a:effectRef idx="0">
              <a:schemeClr val="dk1"/>
            </a:effectRef>
            <a:fontRef idx="minor">
              <a:schemeClr val="tx1"/>
            </a:fontRef>
          </p:style>
        </p:cxnSp>
        <p:cxnSp>
          <p:nvCxnSpPr>
            <p:cNvPr id="24" name="直接连接符 23"/>
            <p:cNvCxnSpPr/>
            <p:nvPr/>
          </p:nvCxnSpPr>
          <p:spPr>
            <a:xfrm>
              <a:off x="6928360" y="2325189"/>
              <a:ext cx="578914" cy="990006"/>
            </a:xfrm>
            <a:prstGeom prst="line">
              <a:avLst/>
            </a:prstGeom>
            <a:ln w="28575"/>
          </p:spPr>
          <p:style>
            <a:lnRef idx="1">
              <a:schemeClr val="dk1"/>
            </a:lnRef>
            <a:fillRef idx="0">
              <a:schemeClr val="dk1"/>
            </a:fillRef>
            <a:effectRef idx="0">
              <a:schemeClr val="dk1"/>
            </a:effectRef>
            <a:fontRef idx="minor">
              <a:schemeClr val="tx1"/>
            </a:fontRef>
          </p:style>
        </p:cxnSp>
      </p:grpSp>
      <p:sp>
        <p:nvSpPr>
          <p:cNvPr id="31" name="矩形 30"/>
          <p:cNvSpPr/>
          <p:nvPr/>
        </p:nvSpPr>
        <p:spPr>
          <a:xfrm>
            <a:off x="1284427" y="3192526"/>
            <a:ext cx="32108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lvl="1"/>
            <a:r>
              <a:rPr kumimoji="1" lang="en-US" altLang="zh-CN" sz="1600" b="1" dirty="0">
                <a:latin typeface="微软雅黑" pitchFamily="34" charset="-122"/>
                <a:ea typeface="微软雅黑" pitchFamily="34" charset="-122"/>
              </a:rPr>
              <a:t>100 m </a:t>
            </a:r>
            <a:r>
              <a:rPr kumimoji="1" lang="zh-CN" altLang="en-US" sz="1600" b="1" dirty="0">
                <a:latin typeface="微软雅黑" pitchFamily="34" charset="-122"/>
                <a:ea typeface="微软雅黑" pitchFamily="34" charset="-122"/>
              </a:rPr>
              <a:t>高的天线塔可使传播距离增大到 </a:t>
            </a:r>
            <a:r>
              <a:rPr kumimoji="1" lang="en-US" altLang="zh-CN" sz="1600" b="1" dirty="0">
                <a:latin typeface="微软雅黑" pitchFamily="34" charset="-122"/>
                <a:ea typeface="微软雅黑" pitchFamily="34" charset="-122"/>
              </a:rPr>
              <a:t>100 </a:t>
            </a:r>
            <a:r>
              <a:rPr kumimoji="1" lang="zh-CN" altLang="en-US" sz="1600" b="1" dirty="0">
                <a:latin typeface="微软雅黑" pitchFamily="34" charset="-122"/>
                <a:ea typeface="微软雅黑" pitchFamily="34" charset="-122"/>
              </a:rPr>
              <a:t>公里</a:t>
            </a:r>
          </a:p>
        </p:txBody>
      </p:sp>
      <p:sp>
        <p:nvSpPr>
          <p:cNvPr id="32" name="矩形 31"/>
          <p:cNvSpPr/>
          <p:nvPr/>
        </p:nvSpPr>
        <p:spPr>
          <a:xfrm>
            <a:off x="5127435" y="3776585"/>
            <a:ext cx="3078958" cy="584775"/>
          </a:xfrm>
          <a:prstGeom prst="rect">
            <a:avLst/>
          </a:prstGeom>
        </p:spPr>
        <p:txBody>
          <a:bodyPr wrap="square">
            <a:spAutoFit/>
          </a:bodyPr>
          <a:lstStyle/>
          <a:p>
            <a:r>
              <a:rPr kumimoji="1" lang="zh-CN" altLang="en-US" sz="1600" b="1" dirty="0">
                <a:latin typeface="微软雅黑" pitchFamily="34" charset="-122"/>
                <a:ea typeface="微软雅黑" pitchFamily="34" charset="-122"/>
              </a:rPr>
              <a:t>同步地球卫星通信覆盖区的跨度达 </a:t>
            </a:r>
            <a:r>
              <a:rPr kumimoji="1" lang="en-US" altLang="zh-CN" sz="1600" b="1" dirty="0">
                <a:latin typeface="微软雅黑" pitchFamily="34" charset="-122"/>
                <a:ea typeface="微软雅黑" pitchFamily="34" charset="-122"/>
              </a:rPr>
              <a:t>18000 </a:t>
            </a:r>
            <a:r>
              <a:rPr kumimoji="1" lang="zh-CN" altLang="en-US" sz="1600" b="1" dirty="0">
                <a:latin typeface="微软雅黑" pitchFamily="34" charset="-122"/>
                <a:ea typeface="微软雅黑" pitchFamily="34" charset="-122"/>
              </a:rPr>
              <a:t>多公里</a:t>
            </a:r>
          </a:p>
        </p:txBody>
      </p:sp>
      <p:sp>
        <p:nvSpPr>
          <p:cNvPr id="33" name="矩形 32"/>
          <p:cNvSpPr/>
          <p:nvPr/>
        </p:nvSpPr>
        <p:spPr>
          <a:xfrm>
            <a:off x="7064393" y="1715564"/>
            <a:ext cx="1023650" cy="584775"/>
          </a:xfrm>
          <a:prstGeom prst="rect">
            <a:avLst/>
          </a:prstGeom>
        </p:spPr>
        <p:txBody>
          <a:bodyPr wrap="square">
            <a:spAutoFit/>
          </a:bodyPr>
          <a:lstStyle/>
          <a:p>
            <a:r>
              <a:rPr kumimoji="1" lang="zh-CN" altLang="en-US" sz="1600" b="1" dirty="0">
                <a:latin typeface="微软雅黑" pitchFamily="34" charset="-122"/>
                <a:ea typeface="微软雅黑" pitchFamily="34" charset="-122"/>
              </a:rPr>
              <a:t>卫星作为中继器</a:t>
            </a:r>
          </a:p>
        </p:txBody>
      </p:sp>
    </p:spTree>
    <p:extLst>
      <p:ext uri="{BB962C8B-B14F-4D97-AF65-F5344CB8AC3E}">
        <p14:creationId xmlns:p14="http://schemas.microsoft.com/office/powerpoint/2010/main" val="25377943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a:xfrm>
            <a:off x="466343" y="899999"/>
            <a:ext cx="8129017" cy="3600000"/>
          </a:xfrm>
        </p:spPr>
        <p:txBody>
          <a:bodyPr>
            <a:normAutofit fontScale="70000" lnSpcReduction="20000"/>
          </a:bodyPr>
          <a:lstStyle/>
          <a:p>
            <a:r>
              <a:rPr lang="zh-CN" altLang="en-US" dirty="0"/>
              <a:t>主要特点：</a:t>
            </a:r>
          </a:p>
          <a:p>
            <a:pPr lvl="1"/>
            <a:r>
              <a:rPr lang="en-US" altLang="zh-CN" dirty="0"/>
              <a:t>(1) </a:t>
            </a:r>
            <a:r>
              <a:rPr lang="zh-CN" altLang="en-US" dirty="0"/>
              <a:t>微波波段频率很高，频段范围很宽，其通信信道的容量很大。</a:t>
            </a:r>
          </a:p>
          <a:p>
            <a:pPr lvl="1"/>
            <a:r>
              <a:rPr lang="en-US" altLang="zh-CN" dirty="0"/>
              <a:t>(2) </a:t>
            </a:r>
            <a:r>
              <a:rPr lang="zh-CN" altLang="en-US" dirty="0"/>
              <a:t>工业干扰和天电干扰对微波通信的危害小，微波传输质量较高。</a:t>
            </a:r>
          </a:p>
          <a:p>
            <a:pPr lvl="1"/>
            <a:r>
              <a:rPr lang="en-US" altLang="zh-CN" dirty="0"/>
              <a:t>(3) </a:t>
            </a:r>
            <a:r>
              <a:rPr lang="zh-CN" altLang="en-US" dirty="0"/>
              <a:t>与相同容量和长度的电缆载波通信比较，微波接力通信建设投资少，见效快，易于实施。</a:t>
            </a:r>
            <a:endParaRPr lang="en-US" altLang="zh-CN" dirty="0"/>
          </a:p>
          <a:p>
            <a:r>
              <a:rPr lang="zh-CN" altLang="en-US" dirty="0"/>
              <a:t>主要缺点：</a:t>
            </a:r>
          </a:p>
          <a:p>
            <a:pPr lvl="1"/>
            <a:r>
              <a:rPr lang="en-US" altLang="zh-CN" dirty="0"/>
              <a:t>(1) </a:t>
            </a:r>
            <a:r>
              <a:rPr lang="zh-CN" altLang="en-US" dirty="0"/>
              <a:t>相邻站之间必须直视（常称为视距 </a:t>
            </a:r>
            <a:r>
              <a:rPr lang="en-US" altLang="zh-CN" dirty="0"/>
              <a:t>LOS (Line Of Sight)</a:t>
            </a:r>
            <a:r>
              <a:rPr lang="zh-CN" altLang="en-US" dirty="0"/>
              <a:t>），不能有障碍物，存在多径效应。</a:t>
            </a:r>
          </a:p>
          <a:p>
            <a:pPr lvl="1"/>
            <a:r>
              <a:rPr lang="en-US" altLang="zh-CN" dirty="0"/>
              <a:t>(2) </a:t>
            </a:r>
            <a:r>
              <a:rPr lang="zh-CN" altLang="en-US" dirty="0"/>
              <a:t>有时会受到恶劣气候的影响。</a:t>
            </a:r>
          </a:p>
          <a:p>
            <a:pPr lvl="1"/>
            <a:r>
              <a:rPr lang="en-US" altLang="zh-CN" dirty="0"/>
              <a:t>(3) </a:t>
            </a:r>
            <a:r>
              <a:rPr lang="zh-CN" altLang="en-US" dirty="0"/>
              <a:t>与电缆通信系统比较，微波通信的隐蔽性和保密性较差。</a:t>
            </a:r>
          </a:p>
          <a:p>
            <a:pPr lvl="1"/>
            <a:r>
              <a:rPr lang="en-US" altLang="zh-CN" dirty="0"/>
              <a:t>(4) </a:t>
            </a:r>
            <a:r>
              <a:rPr lang="zh-CN" altLang="en-US" dirty="0"/>
              <a:t>对大量中继站的使用和维护要耗费较多的人力和物力。</a:t>
            </a:r>
            <a:endParaRPr lang="en-US" altLang="zh-CN" dirty="0"/>
          </a:p>
        </p:txBody>
      </p:sp>
      <p:sp>
        <p:nvSpPr>
          <p:cNvPr id="3" name="文本占位符 2"/>
          <p:cNvSpPr>
            <a:spLocks noGrp="1"/>
          </p:cNvSpPr>
          <p:nvPr>
            <p:ph type="body" sz="quarter" idx="11"/>
          </p:nvPr>
        </p:nvSpPr>
        <p:spPr>
          <a:xfrm>
            <a:off x="1332000" y="360000"/>
            <a:ext cx="6480000" cy="354012"/>
          </a:xfrm>
        </p:spPr>
        <p:txBody>
          <a:bodyPr>
            <a:normAutofit fontScale="92500" lnSpcReduction="10000"/>
          </a:bodyPr>
          <a:lstStyle/>
          <a:p>
            <a:r>
              <a:rPr lang="zh-CN" altLang="en-US" dirty="0"/>
              <a:t>远距离微波通信：微波接力</a:t>
            </a:r>
          </a:p>
        </p:txBody>
      </p:sp>
    </p:spTree>
    <p:extLst>
      <p:ext uri="{BB962C8B-B14F-4D97-AF65-F5344CB8AC3E}">
        <p14:creationId xmlns:p14="http://schemas.microsoft.com/office/powerpoint/2010/main" val="319001118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1"/>
          </p:nvPr>
        </p:nvSpPr>
        <p:spPr>
          <a:xfrm>
            <a:off x="1332000" y="360000"/>
            <a:ext cx="6480000" cy="354012"/>
          </a:xfrm>
        </p:spPr>
        <p:txBody>
          <a:bodyPr>
            <a:normAutofit fontScale="92500" lnSpcReduction="10000"/>
          </a:bodyPr>
          <a:lstStyle/>
          <a:p>
            <a:r>
              <a:rPr lang="zh-CN" altLang="en-US" dirty="0"/>
              <a:t>卫星通信</a:t>
            </a:r>
          </a:p>
        </p:txBody>
      </p:sp>
      <p:sp>
        <p:nvSpPr>
          <p:cNvPr id="48" name="矩形 47"/>
          <p:cNvSpPr/>
          <p:nvPr/>
        </p:nvSpPr>
        <p:spPr>
          <a:xfrm>
            <a:off x="663729" y="971991"/>
            <a:ext cx="4426862" cy="810478"/>
          </a:xfrm>
          <a:prstGeom prst="rect">
            <a:avLst/>
          </a:prstGeom>
        </p:spPr>
        <p:txBody>
          <a:bodyPr wrap="square">
            <a:spAutoFit/>
          </a:bodyPr>
          <a:lstStyle/>
          <a:p>
            <a:pPr>
              <a:lnSpc>
                <a:spcPts val="2800"/>
              </a:lnSpc>
            </a:pPr>
            <a:r>
              <a:rPr lang="zh-CN" altLang="en-US" sz="2000" b="1" dirty="0">
                <a:latin typeface="微软雅黑" panose="020B0503020204020204" pitchFamily="34" charset="-122"/>
                <a:ea typeface="微软雅黑" panose="020B0503020204020204" pitchFamily="34" charset="-122"/>
              </a:rPr>
              <a:t>通信容量大，通信距离远，通信比较稳定，通信费用与通信距离无关。</a:t>
            </a:r>
          </a:p>
        </p:txBody>
      </p:sp>
      <p:sp>
        <p:nvSpPr>
          <p:cNvPr id="49" name="矩形 48"/>
          <p:cNvSpPr/>
          <p:nvPr/>
        </p:nvSpPr>
        <p:spPr>
          <a:xfrm>
            <a:off x="663728" y="1808855"/>
            <a:ext cx="4757639" cy="422680"/>
          </a:xfrm>
          <a:prstGeom prst="rect">
            <a:avLst/>
          </a:prstGeom>
        </p:spPr>
        <p:txBody>
          <a:bodyPr wrap="square">
            <a:spAutoFit/>
          </a:bodyPr>
          <a:lstStyle/>
          <a:p>
            <a:pPr>
              <a:lnSpc>
                <a:spcPts val="2800"/>
              </a:lnSpc>
            </a:pPr>
            <a:r>
              <a:rPr lang="zh-CN" altLang="en-US" sz="2000" b="1" dirty="0">
                <a:latin typeface="微软雅黑" panose="020B0503020204020204" pitchFamily="34" charset="-122"/>
                <a:ea typeface="微软雅黑" panose="020B0503020204020204" pitchFamily="34" charset="-122"/>
              </a:rPr>
              <a:t>但</a:t>
            </a:r>
            <a:r>
              <a:rPr lang="zh-CN" altLang="en-US" sz="2000" b="1" dirty="0">
                <a:solidFill>
                  <a:srgbClr val="C00000"/>
                </a:solidFill>
                <a:latin typeface="微软雅黑" panose="020B0503020204020204" pitchFamily="34" charset="-122"/>
                <a:ea typeface="微软雅黑" panose="020B0503020204020204" pitchFamily="34" charset="-122"/>
              </a:rPr>
              <a:t>传播时延</a:t>
            </a:r>
            <a:r>
              <a:rPr lang="zh-CN" altLang="en-US" sz="2000" b="1" dirty="0">
                <a:latin typeface="微软雅黑" panose="020B0503020204020204" pitchFamily="34" charset="-122"/>
                <a:ea typeface="微软雅黑" panose="020B0503020204020204" pitchFamily="34" charset="-122"/>
              </a:rPr>
              <a:t>较大：在 </a:t>
            </a:r>
            <a:r>
              <a:rPr lang="en-US" altLang="zh-CN" sz="2000" b="1" dirty="0">
                <a:latin typeface="微软雅黑" panose="020B0503020204020204" pitchFamily="34" charset="-122"/>
                <a:ea typeface="微软雅黑" panose="020B0503020204020204" pitchFamily="34" charset="-122"/>
              </a:rPr>
              <a:t>250~300 </a:t>
            </a:r>
            <a:r>
              <a:rPr lang="en-US" altLang="zh-CN" sz="2000" b="1" dirty="0" err="1">
                <a:latin typeface="微软雅黑" panose="020B0503020204020204" pitchFamily="34" charset="-122"/>
                <a:ea typeface="微软雅黑" panose="020B0503020204020204" pitchFamily="34" charset="-122"/>
              </a:rPr>
              <a:t>ms</a:t>
            </a:r>
            <a:r>
              <a:rPr lang="zh-CN" altLang="en-US" sz="2000" b="1" dirty="0">
                <a:latin typeface="微软雅黑" panose="020B0503020204020204" pitchFamily="34" charset="-122"/>
                <a:ea typeface="微软雅黑" panose="020B0503020204020204" pitchFamily="34" charset="-122"/>
              </a:rPr>
              <a:t>之间。</a:t>
            </a:r>
          </a:p>
        </p:txBody>
      </p:sp>
      <p:sp>
        <p:nvSpPr>
          <p:cNvPr id="50" name="矩形 49"/>
          <p:cNvSpPr/>
          <p:nvPr/>
        </p:nvSpPr>
        <p:spPr>
          <a:xfrm>
            <a:off x="707019" y="2264631"/>
            <a:ext cx="4723432" cy="1140825"/>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nSpc>
                <a:spcPts val="2800"/>
              </a:lnSpc>
            </a:pPr>
            <a:r>
              <a:rPr lang="zh-CN" altLang="en-US" sz="2000" b="1" dirty="0">
                <a:latin typeface="微软雅黑" panose="020B0503020204020204" pitchFamily="34" charset="-122"/>
                <a:ea typeface="微软雅黑" panose="020B0503020204020204" pitchFamily="34" charset="-122"/>
              </a:rPr>
              <a:t>请注意：“卫星信道的</a:t>
            </a:r>
            <a:r>
              <a:rPr lang="zh-CN" altLang="en-US" sz="2000" b="1" dirty="0">
                <a:solidFill>
                  <a:srgbClr val="C00000"/>
                </a:solidFill>
                <a:latin typeface="微软雅黑" panose="020B0503020204020204" pitchFamily="34" charset="-122"/>
                <a:ea typeface="微软雅黑" panose="020B0503020204020204" pitchFamily="34" charset="-122"/>
              </a:rPr>
              <a:t>传播时延</a:t>
            </a:r>
            <a:r>
              <a:rPr lang="zh-CN" altLang="en-US" sz="2000" b="1" dirty="0">
                <a:latin typeface="微软雅黑" panose="020B0503020204020204" pitchFamily="34" charset="-122"/>
                <a:ea typeface="微软雅黑" panose="020B0503020204020204" pitchFamily="34" charset="-122"/>
              </a:rPr>
              <a:t>较大”并不等于“用卫星信道</a:t>
            </a:r>
            <a:r>
              <a:rPr lang="zh-CN" altLang="en-US" sz="2000" b="1" dirty="0">
                <a:solidFill>
                  <a:srgbClr val="C00000"/>
                </a:solidFill>
                <a:latin typeface="微软雅黑" panose="020B0503020204020204" pitchFamily="34" charset="-122"/>
                <a:ea typeface="微软雅黑" panose="020B0503020204020204" pitchFamily="34" charset="-122"/>
              </a:rPr>
              <a:t>传送数据的时延</a:t>
            </a:r>
            <a:r>
              <a:rPr lang="zh-CN" altLang="en-US" sz="2000" b="1" dirty="0">
                <a:latin typeface="微软雅黑" panose="020B0503020204020204" pitchFamily="34" charset="-122"/>
                <a:ea typeface="微软雅黑" panose="020B0503020204020204" pitchFamily="34" charset="-122"/>
              </a:rPr>
              <a:t>较大”。</a:t>
            </a:r>
          </a:p>
        </p:txBody>
      </p:sp>
      <p:sp>
        <p:nvSpPr>
          <p:cNvPr id="51" name="矩形 50"/>
          <p:cNvSpPr/>
          <p:nvPr/>
        </p:nvSpPr>
        <p:spPr>
          <a:xfrm>
            <a:off x="663728" y="3584981"/>
            <a:ext cx="4572000" cy="422680"/>
          </a:xfrm>
          <a:prstGeom prst="rect">
            <a:avLst/>
          </a:prstGeom>
        </p:spPr>
        <p:txBody>
          <a:bodyPr wrap="square">
            <a:spAutoFit/>
          </a:bodyPr>
          <a:lstStyle/>
          <a:p>
            <a:pPr>
              <a:lnSpc>
                <a:spcPts val="2800"/>
              </a:lnSpc>
            </a:pPr>
            <a:r>
              <a:rPr lang="zh-CN" altLang="en-US" sz="2000" b="1" dirty="0">
                <a:latin typeface="微软雅黑" panose="020B0503020204020204" pitchFamily="34" charset="-122"/>
                <a:ea typeface="微软雅黑" panose="020B0503020204020204" pitchFamily="34" charset="-122"/>
              </a:rPr>
              <a:t>保密性相对较差。造价较高。</a:t>
            </a:r>
          </a:p>
        </p:txBody>
      </p:sp>
      <p:grpSp>
        <p:nvGrpSpPr>
          <p:cNvPr id="53" name="组合 52"/>
          <p:cNvGrpSpPr/>
          <p:nvPr/>
        </p:nvGrpSpPr>
        <p:grpSpPr>
          <a:xfrm>
            <a:off x="5505442" y="1168997"/>
            <a:ext cx="3288302" cy="2532146"/>
            <a:chOff x="5500067" y="1113556"/>
            <a:chExt cx="3581787" cy="2744339"/>
          </a:xfrm>
        </p:grpSpPr>
        <p:grpSp>
          <p:nvGrpSpPr>
            <p:cNvPr id="46" name="组合 45"/>
            <p:cNvGrpSpPr/>
            <p:nvPr/>
          </p:nvGrpSpPr>
          <p:grpSpPr>
            <a:xfrm>
              <a:off x="5500067" y="1289262"/>
              <a:ext cx="3581787" cy="2568633"/>
              <a:chOff x="5845150" y="1523458"/>
              <a:chExt cx="3286773" cy="2284898"/>
            </a:xfrm>
          </p:grpSpPr>
          <p:graphicFrame>
            <p:nvGraphicFramePr>
              <p:cNvPr id="5" name="Object 15"/>
              <p:cNvGraphicFramePr>
                <a:graphicFrameLocks noChangeAspect="1"/>
              </p:cNvGraphicFramePr>
              <p:nvPr>
                <p:extLst>
                  <p:ext uri="{D42A27DB-BD31-4B8C-83A1-F6EECF244321}">
                    <p14:modId xmlns:p14="http://schemas.microsoft.com/office/powerpoint/2010/main" val="2480706143"/>
                  </p:ext>
                </p:extLst>
              </p:nvPr>
            </p:nvGraphicFramePr>
            <p:xfrm>
              <a:off x="6897189" y="2534385"/>
              <a:ext cx="628758" cy="582126"/>
            </p:xfrm>
            <a:graphic>
              <a:graphicData uri="http://schemas.openxmlformats.org/presentationml/2006/ole">
                <mc:AlternateContent xmlns:mc="http://schemas.openxmlformats.org/markup-compatibility/2006">
                  <mc:Choice xmlns:v="urn:schemas-microsoft-com:vml" Requires="v">
                    <p:oleObj name="绘图" r:id="rId2" imgW="294485" imgH="2535960" progId="">
                      <p:embed/>
                    </p:oleObj>
                  </mc:Choice>
                  <mc:Fallback>
                    <p:oleObj name="绘图" r:id="rId2" imgW="294485" imgH="2535960" progId="">
                      <p:embed/>
                      <p:pic>
                        <p:nvPicPr>
                          <p:cNvPr id="0" name="Picture 4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97189" y="2534385"/>
                            <a:ext cx="628758" cy="5821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 name="图片 5"/>
              <p:cNvPicPr>
                <a:picLocks noChangeAspect="1"/>
              </p:cNvPicPr>
              <p:nvPr/>
            </p:nvPicPr>
            <p:blipFill>
              <a:blip r:embed="rId4"/>
              <a:stretch>
                <a:fillRect/>
              </a:stretch>
            </p:blipFill>
            <p:spPr>
              <a:xfrm rot="20150946">
                <a:off x="6752495" y="1523458"/>
                <a:ext cx="918145" cy="683738"/>
              </a:xfrm>
              <a:prstGeom prst="rect">
                <a:avLst/>
              </a:prstGeom>
            </p:spPr>
          </p:pic>
          <p:cxnSp>
            <p:nvCxnSpPr>
              <p:cNvPr id="9" name="直接连接符 8"/>
              <p:cNvCxnSpPr>
                <a:endCxn id="5" idx="1"/>
              </p:cNvCxnSpPr>
              <p:nvPr/>
            </p:nvCxnSpPr>
            <p:spPr>
              <a:xfrm flipH="1">
                <a:off x="6897189" y="2003669"/>
                <a:ext cx="265543" cy="821779"/>
              </a:xfrm>
              <a:prstGeom prst="line">
                <a:avLst/>
              </a:prstGeom>
              <a:ln w="28575"/>
            </p:spPr>
            <p:style>
              <a:lnRef idx="1">
                <a:schemeClr val="dk1"/>
              </a:lnRef>
              <a:fillRef idx="0">
                <a:schemeClr val="dk1"/>
              </a:fillRef>
              <a:effectRef idx="0">
                <a:schemeClr val="dk1"/>
              </a:effectRef>
              <a:fontRef idx="minor">
                <a:schemeClr val="tx1"/>
              </a:fontRef>
            </p:style>
          </p:cxnSp>
          <p:cxnSp>
            <p:nvCxnSpPr>
              <p:cNvPr id="10" name="直接连接符 9"/>
              <p:cNvCxnSpPr>
                <a:endCxn id="5" idx="3"/>
              </p:cNvCxnSpPr>
              <p:nvPr/>
            </p:nvCxnSpPr>
            <p:spPr>
              <a:xfrm>
                <a:off x="7211567" y="2003669"/>
                <a:ext cx="314380" cy="821779"/>
              </a:xfrm>
              <a:prstGeom prst="line">
                <a:avLst/>
              </a:prstGeom>
              <a:ln w="28575"/>
            </p:spPr>
            <p:style>
              <a:lnRef idx="1">
                <a:schemeClr val="dk1"/>
              </a:lnRef>
              <a:fillRef idx="0">
                <a:schemeClr val="dk1"/>
              </a:fillRef>
              <a:effectRef idx="0">
                <a:schemeClr val="dk1"/>
              </a:effectRef>
              <a:fontRef idx="minor">
                <a:schemeClr val="tx1"/>
              </a:fontRef>
            </p:style>
          </p:cxnSp>
          <p:pic>
            <p:nvPicPr>
              <p:cNvPr id="15" name="图片 14"/>
              <p:cNvPicPr>
                <a:picLocks noChangeAspect="1"/>
              </p:cNvPicPr>
              <p:nvPr/>
            </p:nvPicPr>
            <p:blipFill>
              <a:blip r:embed="rId4"/>
              <a:stretch>
                <a:fillRect/>
              </a:stretch>
            </p:blipFill>
            <p:spPr>
              <a:xfrm rot="6170623">
                <a:off x="7797191" y="3007415"/>
                <a:ext cx="918145" cy="683738"/>
              </a:xfrm>
              <a:prstGeom prst="rect">
                <a:avLst/>
              </a:prstGeom>
            </p:spPr>
          </p:pic>
          <p:pic>
            <p:nvPicPr>
              <p:cNvPr id="16" name="图片 15"/>
              <p:cNvPicPr>
                <a:picLocks noChangeAspect="1"/>
              </p:cNvPicPr>
              <p:nvPr/>
            </p:nvPicPr>
            <p:blipFill>
              <a:blip r:embed="rId4"/>
              <a:stretch>
                <a:fillRect/>
              </a:stretch>
            </p:blipFill>
            <p:spPr>
              <a:xfrm rot="11909173">
                <a:off x="5845150" y="3007416"/>
                <a:ext cx="918145" cy="683738"/>
              </a:xfrm>
              <a:prstGeom prst="rect">
                <a:avLst/>
              </a:prstGeom>
            </p:spPr>
          </p:pic>
          <p:cxnSp>
            <p:nvCxnSpPr>
              <p:cNvPr id="20" name="直接连接符 19"/>
              <p:cNvCxnSpPr/>
              <p:nvPr/>
            </p:nvCxnSpPr>
            <p:spPr>
              <a:xfrm flipV="1">
                <a:off x="6419555" y="2597083"/>
                <a:ext cx="580918" cy="659763"/>
              </a:xfrm>
              <a:prstGeom prst="line">
                <a:avLst/>
              </a:prstGeom>
              <a:ln w="28575"/>
            </p:spPr>
            <p:style>
              <a:lnRef idx="1">
                <a:schemeClr val="dk1"/>
              </a:lnRef>
              <a:fillRef idx="0">
                <a:schemeClr val="dk1"/>
              </a:fillRef>
              <a:effectRef idx="0">
                <a:schemeClr val="dk1"/>
              </a:effectRef>
              <a:fontRef idx="minor">
                <a:schemeClr val="tx1"/>
              </a:fontRef>
            </p:style>
          </p:cxnSp>
          <p:cxnSp>
            <p:nvCxnSpPr>
              <p:cNvPr id="21" name="直接连接符 20"/>
              <p:cNvCxnSpPr/>
              <p:nvPr/>
            </p:nvCxnSpPr>
            <p:spPr>
              <a:xfrm flipV="1">
                <a:off x="6425005" y="3116512"/>
                <a:ext cx="918261" cy="177765"/>
              </a:xfrm>
              <a:prstGeom prst="line">
                <a:avLst/>
              </a:prstGeom>
              <a:ln w="28575"/>
            </p:spPr>
            <p:style>
              <a:lnRef idx="1">
                <a:schemeClr val="dk1"/>
              </a:lnRef>
              <a:fillRef idx="0">
                <a:schemeClr val="dk1"/>
              </a:fillRef>
              <a:effectRef idx="0">
                <a:schemeClr val="dk1"/>
              </a:effectRef>
              <a:fontRef idx="minor">
                <a:schemeClr val="tx1"/>
              </a:fontRef>
            </p:style>
          </p:cxnSp>
          <p:cxnSp>
            <p:nvCxnSpPr>
              <p:cNvPr id="28" name="直接连接符 27"/>
              <p:cNvCxnSpPr/>
              <p:nvPr/>
            </p:nvCxnSpPr>
            <p:spPr>
              <a:xfrm flipH="1" flipV="1">
                <a:off x="7085841" y="3116511"/>
                <a:ext cx="1049784" cy="177766"/>
              </a:xfrm>
              <a:prstGeom prst="line">
                <a:avLst/>
              </a:prstGeom>
              <a:ln w="28575"/>
            </p:spPr>
            <p:style>
              <a:lnRef idx="1">
                <a:schemeClr val="dk1"/>
              </a:lnRef>
              <a:fillRef idx="0">
                <a:schemeClr val="dk1"/>
              </a:fillRef>
              <a:effectRef idx="0">
                <a:schemeClr val="dk1"/>
              </a:effectRef>
              <a:fontRef idx="minor">
                <a:schemeClr val="tx1"/>
              </a:fontRef>
            </p:style>
          </p:cxnSp>
          <p:cxnSp>
            <p:nvCxnSpPr>
              <p:cNvPr id="29" name="直接连接符 28"/>
              <p:cNvCxnSpPr/>
              <p:nvPr/>
            </p:nvCxnSpPr>
            <p:spPr>
              <a:xfrm flipH="1" flipV="1">
                <a:off x="7392450" y="2612554"/>
                <a:ext cx="743175" cy="644292"/>
              </a:xfrm>
              <a:prstGeom prst="line">
                <a:avLst/>
              </a:prstGeom>
              <a:ln w="28575"/>
            </p:spPr>
            <p:style>
              <a:lnRef idx="1">
                <a:schemeClr val="dk1"/>
              </a:lnRef>
              <a:fillRef idx="0">
                <a:schemeClr val="dk1"/>
              </a:fillRef>
              <a:effectRef idx="0">
                <a:schemeClr val="dk1"/>
              </a:effectRef>
              <a:fontRef idx="minor">
                <a:schemeClr val="tx1"/>
              </a:fontRef>
            </p:style>
          </p:cxnSp>
          <p:cxnSp>
            <p:nvCxnSpPr>
              <p:cNvPr id="39" name="直接连接符 38"/>
              <p:cNvCxnSpPr/>
              <p:nvPr/>
            </p:nvCxnSpPr>
            <p:spPr>
              <a:xfrm>
                <a:off x="7764037" y="1865327"/>
                <a:ext cx="371588"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40" name="直接连接符 39"/>
              <p:cNvCxnSpPr/>
              <p:nvPr/>
            </p:nvCxnSpPr>
            <p:spPr>
              <a:xfrm>
                <a:off x="7764037" y="2612554"/>
                <a:ext cx="371588"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44" name="直接箭头连接符 43"/>
              <p:cNvCxnSpPr/>
              <p:nvPr/>
            </p:nvCxnSpPr>
            <p:spPr>
              <a:xfrm>
                <a:off x="7882166" y="1865327"/>
                <a:ext cx="0" cy="747227"/>
              </a:xfrm>
              <a:prstGeom prst="straightConnector1">
                <a:avLst/>
              </a:prstGeom>
              <a:ln w="12700">
                <a:headEnd type="triangle"/>
                <a:tailEnd type="triangle"/>
              </a:ln>
            </p:spPr>
            <p:style>
              <a:lnRef idx="1">
                <a:schemeClr val="dk1"/>
              </a:lnRef>
              <a:fillRef idx="0">
                <a:schemeClr val="dk1"/>
              </a:fillRef>
              <a:effectRef idx="0">
                <a:schemeClr val="dk1"/>
              </a:effectRef>
              <a:fontRef idx="minor">
                <a:schemeClr val="tx1"/>
              </a:fontRef>
            </p:style>
          </p:cxnSp>
          <p:sp>
            <p:nvSpPr>
              <p:cNvPr id="45" name="矩形 44"/>
              <p:cNvSpPr/>
              <p:nvPr/>
            </p:nvSpPr>
            <p:spPr>
              <a:xfrm>
                <a:off x="7849796" y="2082587"/>
                <a:ext cx="1282127" cy="296722"/>
              </a:xfrm>
              <a:prstGeom prst="rect">
                <a:avLst/>
              </a:prstGeom>
            </p:spPr>
            <p:txBody>
              <a:bodyPr wrap="none">
                <a:spAutoFit/>
              </a:bodyPr>
              <a:lstStyle/>
              <a:p>
                <a:r>
                  <a:rPr lang="en-US" altLang="zh-CN" sz="1400" b="1" dirty="0">
                    <a:latin typeface="微软雅黑" panose="020B0503020204020204" pitchFamily="34" charset="-122"/>
                    <a:ea typeface="微软雅黑" panose="020B0503020204020204" pitchFamily="34" charset="-122"/>
                  </a:rPr>
                  <a:t>3 </a:t>
                </a:r>
                <a:r>
                  <a:rPr lang="zh-CN" altLang="en-US" sz="1400" b="1" dirty="0">
                    <a:latin typeface="微软雅黑" panose="020B0503020204020204" pitchFamily="34" charset="-122"/>
                    <a:ea typeface="微软雅黑" panose="020B0503020204020204" pitchFamily="34" charset="-122"/>
                  </a:rPr>
                  <a:t>万 </a:t>
                </a:r>
                <a:r>
                  <a:rPr lang="en-US" altLang="zh-CN" sz="1400" b="1" dirty="0">
                    <a:latin typeface="微软雅黑" panose="020B0503020204020204" pitchFamily="34" charset="-122"/>
                    <a:ea typeface="微软雅黑" panose="020B0503020204020204" pitchFamily="34" charset="-122"/>
                  </a:rPr>
                  <a:t>6 </a:t>
                </a:r>
                <a:r>
                  <a:rPr lang="zh-CN" altLang="en-US" sz="1400" b="1" dirty="0">
                    <a:latin typeface="微软雅黑" panose="020B0503020204020204" pitchFamily="34" charset="-122"/>
                    <a:ea typeface="微软雅黑" panose="020B0503020204020204" pitchFamily="34" charset="-122"/>
                  </a:rPr>
                  <a:t>千公里</a:t>
                </a:r>
              </a:p>
            </p:txBody>
          </p:sp>
        </p:grpSp>
        <p:sp>
          <p:nvSpPr>
            <p:cNvPr id="52" name="矩形 51"/>
            <p:cNvSpPr/>
            <p:nvPr/>
          </p:nvSpPr>
          <p:spPr>
            <a:xfrm>
              <a:off x="6494866" y="1113556"/>
              <a:ext cx="983388" cy="348804"/>
            </a:xfrm>
            <a:prstGeom prst="rect">
              <a:avLst/>
            </a:prstGeom>
          </p:spPr>
          <p:txBody>
            <a:bodyPr wrap="none">
              <a:spAutoFit/>
            </a:bodyPr>
            <a:lstStyle/>
            <a:p>
              <a:r>
                <a:rPr lang="zh-CN" altLang="en-US" sz="1400" b="1" dirty="0">
                  <a:solidFill>
                    <a:srgbClr val="0000FF"/>
                  </a:solidFill>
                  <a:latin typeface="微软雅黑" panose="020B0503020204020204" pitchFamily="34" charset="-122"/>
                  <a:ea typeface="微软雅黑" panose="020B0503020204020204" pitchFamily="34" charset="-122"/>
                </a:rPr>
                <a:t>同步卫星</a:t>
              </a:r>
            </a:p>
          </p:txBody>
        </p:sp>
      </p:grpSp>
    </p:spTree>
    <p:extLst>
      <p:ext uri="{BB962C8B-B14F-4D97-AF65-F5344CB8AC3E}">
        <p14:creationId xmlns:p14="http://schemas.microsoft.com/office/powerpoint/2010/main" val="17034180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1"/>
          </p:nvPr>
        </p:nvSpPr>
        <p:spPr>
          <a:xfrm>
            <a:off x="1332000" y="360000"/>
            <a:ext cx="6480000" cy="354012"/>
          </a:xfrm>
        </p:spPr>
        <p:txBody>
          <a:bodyPr>
            <a:normAutofit fontScale="92500" lnSpcReduction="10000"/>
          </a:bodyPr>
          <a:lstStyle/>
          <a:p>
            <a:r>
              <a:rPr lang="zh-CN" altLang="en-US" dirty="0"/>
              <a:t>卫星通信</a:t>
            </a:r>
          </a:p>
        </p:txBody>
      </p:sp>
      <p:sp>
        <p:nvSpPr>
          <p:cNvPr id="48" name="矩形 47"/>
          <p:cNvSpPr/>
          <p:nvPr/>
        </p:nvSpPr>
        <p:spPr>
          <a:xfrm>
            <a:off x="1033689" y="3629618"/>
            <a:ext cx="7073992" cy="993670"/>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nSpc>
                <a:spcPts val="2400"/>
              </a:lnSpc>
            </a:pPr>
            <a:r>
              <a:rPr lang="zh-CN" altLang="en-US" b="1" dirty="0">
                <a:solidFill>
                  <a:srgbClr val="C00000"/>
                </a:solidFill>
                <a:latin typeface="微软雅黑" panose="020B0503020204020204" pitchFamily="34" charset="-122"/>
                <a:ea typeface="微软雅黑" panose="020B0503020204020204" pitchFamily="34" charset="-122"/>
              </a:rPr>
              <a:t>低轨道卫星</a:t>
            </a:r>
            <a:r>
              <a:rPr lang="zh-CN" altLang="en-US" b="1" dirty="0">
                <a:latin typeface="微软雅黑" panose="020B0503020204020204" pitchFamily="34" charset="-122"/>
                <a:ea typeface="微软雅黑" panose="020B0503020204020204" pitchFamily="34" charset="-122"/>
              </a:rPr>
              <a:t>通信系统（卫星高度在 </a:t>
            </a:r>
            <a:r>
              <a:rPr lang="en-US" altLang="zh-CN" b="1" dirty="0">
                <a:latin typeface="微软雅黑" panose="020B0503020204020204" pitchFamily="34" charset="-122"/>
                <a:ea typeface="微软雅黑" panose="020B0503020204020204" pitchFamily="34" charset="-122"/>
              </a:rPr>
              <a:t>2000 </a:t>
            </a:r>
            <a:r>
              <a:rPr lang="zh-CN" altLang="en-US" b="1" dirty="0">
                <a:latin typeface="微软雅黑" panose="020B0503020204020204" pitchFamily="34" charset="-122"/>
                <a:ea typeface="微软雅黑" panose="020B0503020204020204" pitchFamily="34" charset="-122"/>
              </a:rPr>
              <a:t>公里以下）已开始使用。目前，大功率、大容量、低轨道宽带卫星已开始在空间部署，并构成了空间高速链路。</a:t>
            </a:r>
          </a:p>
        </p:txBody>
      </p:sp>
      <p:grpSp>
        <p:nvGrpSpPr>
          <p:cNvPr id="7" name="组合 6"/>
          <p:cNvGrpSpPr/>
          <p:nvPr/>
        </p:nvGrpSpPr>
        <p:grpSpPr>
          <a:xfrm>
            <a:off x="1033688" y="1100764"/>
            <a:ext cx="3338316" cy="2598526"/>
            <a:chOff x="5221598" y="1330787"/>
            <a:chExt cx="3338316" cy="2598526"/>
          </a:xfrm>
        </p:grpSpPr>
        <p:pic>
          <p:nvPicPr>
            <p:cNvPr id="10246" name="Picture 6" descr="https://www.nextbigcoins.io/wp-content/uploads/2018/04/starlinkspacex.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21598" y="1330787"/>
              <a:ext cx="3338316" cy="1966405"/>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5308834" y="3221427"/>
              <a:ext cx="3163843" cy="707886"/>
            </a:xfrm>
            <a:prstGeom prst="rect">
              <a:avLst/>
            </a:prstGeom>
          </p:spPr>
          <p:txBody>
            <a:bodyPr wrap="square">
              <a:spAutoFit/>
            </a:bodyPr>
            <a:lstStyle/>
            <a:p>
              <a:pPr>
                <a:lnSpc>
                  <a:spcPts val="2400"/>
                </a:lnSpc>
              </a:pPr>
              <a:r>
                <a:rPr lang="en-US" altLang="zh-CN" sz="1600" b="1" dirty="0" err="1">
                  <a:latin typeface="微软雅黑" panose="020B0503020204020204" pitchFamily="34" charset="-122"/>
                  <a:ea typeface="微软雅黑" panose="020B0503020204020204" pitchFamily="34" charset="-122"/>
                </a:rPr>
                <a:t>SpaceX</a:t>
              </a:r>
              <a:r>
                <a:rPr lang="en-US" altLang="zh-CN" sz="1600" b="1" dirty="0">
                  <a:latin typeface="微软雅黑" panose="020B0503020204020204" pitchFamily="34" charset="-122"/>
                  <a:ea typeface="微软雅黑" panose="020B0503020204020204" pitchFamily="34" charset="-122"/>
                </a:rPr>
                <a:t> </a:t>
              </a:r>
              <a:r>
                <a:rPr lang="zh-CN" altLang="en-US" sz="1600" b="1" dirty="0">
                  <a:latin typeface="微软雅黑" panose="020B0503020204020204" pitchFamily="34" charset="-122"/>
                  <a:ea typeface="微软雅黑" panose="020B0503020204020204" pitchFamily="34" charset="-122"/>
                </a:rPr>
                <a:t>在 </a:t>
              </a:r>
              <a:r>
                <a:rPr lang="en-US" altLang="zh-CN" sz="1600" b="1" dirty="0">
                  <a:latin typeface="微软雅黑" panose="020B0503020204020204" pitchFamily="34" charset="-122"/>
                  <a:ea typeface="微软雅黑" panose="020B0503020204020204" pitchFamily="34" charset="-122"/>
                </a:rPr>
                <a:t>2015 </a:t>
              </a:r>
              <a:r>
                <a:rPr lang="zh-CN" altLang="en-US" sz="1600" b="1" dirty="0">
                  <a:latin typeface="微软雅黑" panose="020B0503020204020204" pitchFamily="34" charset="-122"/>
                  <a:ea typeface="微软雅黑" panose="020B0503020204020204" pitchFamily="34" charset="-122"/>
                </a:rPr>
                <a:t>年 </a:t>
              </a:r>
              <a:r>
                <a:rPr lang="en-US" altLang="zh-CN" sz="1600" b="1" dirty="0">
                  <a:latin typeface="微软雅黑" panose="020B0503020204020204" pitchFamily="34" charset="-122"/>
                  <a:ea typeface="微软雅黑" panose="020B0503020204020204" pitchFamily="34" charset="-122"/>
                </a:rPr>
                <a:t>1 </a:t>
              </a:r>
              <a:r>
                <a:rPr lang="zh-CN" altLang="en-US" sz="1600" b="1" dirty="0">
                  <a:latin typeface="微软雅黑" panose="020B0503020204020204" pitchFamily="34" charset="-122"/>
                  <a:ea typeface="微软雅黑" panose="020B0503020204020204" pitchFamily="34" charset="-122"/>
                </a:rPr>
                <a:t>月提出了“星链”（</a:t>
              </a:r>
              <a:r>
                <a:rPr lang="en-US" altLang="zh-CN" sz="1600" b="1" dirty="0" err="1">
                  <a:latin typeface="微软雅黑" panose="020B0503020204020204" pitchFamily="34" charset="-122"/>
                  <a:ea typeface="微软雅黑" panose="020B0503020204020204" pitchFamily="34" charset="-122"/>
                </a:rPr>
                <a:t>Starlink</a:t>
              </a:r>
              <a:r>
                <a:rPr lang="zh-CN" altLang="en-US" sz="1600" b="1" dirty="0">
                  <a:latin typeface="微软雅黑" panose="020B0503020204020204" pitchFamily="34" charset="-122"/>
                  <a:ea typeface="微软雅黑" panose="020B0503020204020204" pitchFamily="34" charset="-122"/>
                </a:rPr>
                <a:t>）计划</a:t>
              </a:r>
            </a:p>
          </p:txBody>
        </p:sp>
      </p:grpSp>
      <p:grpSp>
        <p:nvGrpSpPr>
          <p:cNvPr id="8" name="组合 7"/>
          <p:cNvGrpSpPr/>
          <p:nvPr/>
        </p:nvGrpSpPr>
        <p:grpSpPr>
          <a:xfrm>
            <a:off x="5524328" y="1100764"/>
            <a:ext cx="2391764" cy="2410856"/>
            <a:chOff x="2667917" y="1330786"/>
            <a:chExt cx="2391764" cy="2410856"/>
          </a:xfrm>
        </p:grpSpPr>
        <p:pic>
          <p:nvPicPr>
            <p:cNvPr id="10248" name="Picture 8" descr="See the source image"/>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17819" b="16262"/>
            <a:stretch/>
          </p:blipFill>
          <p:spPr bwMode="auto">
            <a:xfrm>
              <a:off x="2667917" y="1330786"/>
              <a:ext cx="2391764" cy="1966405"/>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2745544" y="3290236"/>
              <a:ext cx="2236510" cy="451406"/>
            </a:xfrm>
            <a:prstGeom prst="rect">
              <a:avLst/>
            </a:prstGeom>
          </p:spPr>
          <p:txBody>
            <a:bodyPr wrap="square">
              <a:spAutoFit/>
            </a:bodyPr>
            <a:lstStyle/>
            <a:p>
              <a:pPr>
                <a:lnSpc>
                  <a:spcPts val="2800"/>
                </a:lnSpc>
              </a:pPr>
              <a:r>
                <a:rPr lang="zh-CN" altLang="en-US" sz="1600" b="1" dirty="0">
                  <a:latin typeface="微软雅黑" panose="020B0503020204020204" pitchFamily="34" charset="-122"/>
                  <a:ea typeface="微软雅黑" panose="020B0503020204020204" pitchFamily="34" charset="-122"/>
                </a:rPr>
                <a:t>鸿雁卫星星座通信系统</a:t>
              </a:r>
            </a:p>
          </p:txBody>
        </p:sp>
      </p:grpSp>
    </p:spTree>
    <p:extLst>
      <p:ext uri="{BB962C8B-B14F-4D97-AF65-F5344CB8AC3E}">
        <p14:creationId xmlns:p14="http://schemas.microsoft.com/office/powerpoint/2010/main" val="294688908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8"/>
          <p:cNvSpPr>
            <a:spLocks noChangeArrowheads="1"/>
          </p:cNvSpPr>
          <p:nvPr/>
        </p:nvSpPr>
        <p:spPr bwMode="auto">
          <a:xfrm>
            <a:off x="556963" y="977770"/>
            <a:ext cx="8048776" cy="12464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ts val="3000"/>
              </a:lnSpc>
              <a:buClr>
                <a:srgbClr val="0070C0"/>
              </a:buClr>
            </a:pPr>
            <a:r>
              <a:rPr lang="zh-CN" altLang="en-US" sz="2000" b="1" dirty="0">
                <a:solidFill>
                  <a:srgbClr val="C00000"/>
                </a:solidFill>
                <a:latin typeface="微软雅黑" pitchFamily="34" charset="-122"/>
                <a:ea typeface="微软雅黑" pitchFamily="34" charset="-122"/>
              </a:rPr>
              <a:t>无线局域网：</a:t>
            </a:r>
            <a:r>
              <a:rPr lang="zh-CN" altLang="en-US" sz="2000" b="1" dirty="0">
                <a:latin typeface="微软雅黑" pitchFamily="34" charset="-122"/>
                <a:ea typeface="微软雅黑" pitchFamily="34" charset="-122"/>
              </a:rPr>
              <a:t>使用</a:t>
            </a:r>
            <a:r>
              <a:rPr lang="zh-CN" altLang="zh-CN" sz="2000" b="1" dirty="0">
                <a:latin typeface="微软雅黑" pitchFamily="34" charset="-122"/>
                <a:ea typeface="微软雅黑" pitchFamily="34" charset="-122"/>
              </a:rPr>
              <a:t>无线信道</a:t>
            </a:r>
            <a:r>
              <a:rPr lang="zh-CN" altLang="en-US" sz="2000" b="1" dirty="0">
                <a:latin typeface="微软雅黑" pitchFamily="34" charset="-122"/>
                <a:ea typeface="微软雅黑" pitchFamily="34" charset="-122"/>
              </a:rPr>
              <a:t>的计算机局域网。</a:t>
            </a:r>
            <a:endParaRPr lang="en-US" altLang="zh-CN" sz="2000" b="1" dirty="0">
              <a:latin typeface="微软雅黑" pitchFamily="34" charset="-122"/>
              <a:ea typeface="微软雅黑" pitchFamily="34" charset="-122"/>
            </a:endParaRPr>
          </a:p>
          <a:p>
            <a:pPr eaLnBrk="0" hangingPunct="0">
              <a:lnSpc>
                <a:spcPts val="3000"/>
              </a:lnSpc>
              <a:buClr>
                <a:srgbClr val="0070C0"/>
              </a:buClr>
            </a:pPr>
            <a:r>
              <a:rPr lang="zh-CN" altLang="en-US" sz="2000" b="1" dirty="0">
                <a:solidFill>
                  <a:srgbClr val="C00000"/>
                </a:solidFill>
                <a:latin typeface="微软雅黑" pitchFamily="34" charset="-122"/>
                <a:ea typeface="微软雅黑" pitchFamily="34" charset="-122"/>
              </a:rPr>
              <a:t>无线电频段：</a:t>
            </a:r>
            <a:r>
              <a:rPr lang="zh-CN" altLang="en-US" sz="2000" b="1" dirty="0">
                <a:latin typeface="微软雅黑" pitchFamily="34" charset="-122"/>
                <a:ea typeface="微软雅黑" pitchFamily="34" charset="-122"/>
              </a:rPr>
              <a:t>通常必须得到无线电频谱管理机构的</a:t>
            </a:r>
            <a:r>
              <a:rPr lang="zh-CN" altLang="en-US" sz="2000" b="1" dirty="0">
                <a:solidFill>
                  <a:srgbClr val="0000FF"/>
                </a:solidFill>
                <a:latin typeface="微软雅黑" pitchFamily="34" charset="-122"/>
                <a:ea typeface="微软雅黑" pitchFamily="34" charset="-122"/>
              </a:rPr>
              <a:t>许可证。</a:t>
            </a:r>
            <a:endParaRPr lang="en-US" altLang="zh-CN" sz="2000" b="1" dirty="0">
              <a:solidFill>
                <a:srgbClr val="0000FF"/>
              </a:solidFill>
              <a:latin typeface="微软雅黑" pitchFamily="34" charset="-122"/>
              <a:ea typeface="微软雅黑" pitchFamily="34" charset="-122"/>
            </a:endParaRPr>
          </a:p>
          <a:p>
            <a:pPr eaLnBrk="0" hangingPunct="0">
              <a:lnSpc>
                <a:spcPts val="3000"/>
              </a:lnSpc>
              <a:buClr>
                <a:srgbClr val="0070C0"/>
              </a:buClr>
            </a:pPr>
            <a:r>
              <a:rPr lang="en-US" altLang="zh-CN" sz="2000" b="1" dirty="0">
                <a:solidFill>
                  <a:srgbClr val="C00000"/>
                </a:solidFill>
                <a:latin typeface="微软雅黑" pitchFamily="34" charset="-122"/>
                <a:ea typeface="微软雅黑" pitchFamily="34" charset="-122"/>
              </a:rPr>
              <a:t>ISM </a:t>
            </a:r>
            <a:r>
              <a:rPr lang="zh-CN" altLang="en-US" sz="2000" b="1" dirty="0">
                <a:solidFill>
                  <a:srgbClr val="C00000"/>
                </a:solidFill>
                <a:latin typeface="微软雅黑" pitchFamily="34" charset="-122"/>
                <a:ea typeface="微软雅黑" pitchFamily="34" charset="-122"/>
              </a:rPr>
              <a:t>频段：</a:t>
            </a:r>
            <a:r>
              <a:rPr lang="zh-CN" altLang="en-US" sz="2000" b="1" dirty="0">
                <a:latin typeface="微软雅黑" pitchFamily="34" charset="-122"/>
                <a:ea typeface="微软雅黑" pitchFamily="34" charset="-122"/>
              </a:rPr>
              <a:t>可以自由使用。</a:t>
            </a:r>
          </a:p>
        </p:txBody>
      </p:sp>
      <p:grpSp>
        <p:nvGrpSpPr>
          <p:cNvPr id="37" name="组合 36"/>
          <p:cNvGrpSpPr/>
          <p:nvPr/>
        </p:nvGrpSpPr>
        <p:grpSpPr>
          <a:xfrm>
            <a:off x="1638076" y="2306162"/>
            <a:ext cx="5822428" cy="1851823"/>
            <a:chOff x="1619788" y="2215097"/>
            <a:chExt cx="5822428" cy="1851823"/>
          </a:xfrm>
        </p:grpSpPr>
        <p:grpSp>
          <p:nvGrpSpPr>
            <p:cNvPr id="8" name="组合 7"/>
            <p:cNvGrpSpPr/>
            <p:nvPr/>
          </p:nvGrpSpPr>
          <p:grpSpPr>
            <a:xfrm>
              <a:off x="1619788" y="2215097"/>
              <a:ext cx="5822428" cy="1851823"/>
              <a:chOff x="507339" y="3213083"/>
              <a:chExt cx="9327781" cy="2966700"/>
            </a:xfrm>
          </p:grpSpPr>
          <p:sp>
            <p:nvSpPr>
              <p:cNvPr id="9" name="Text Box 5"/>
              <p:cNvSpPr txBox="1">
                <a:spLocks noChangeArrowheads="1"/>
              </p:cNvSpPr>
              <p:nvPr/>
            </p:nvSpPr>
            <p:spPr bwMode="auto">
              <a:xfrm>
                <a:off x="507339" y="3213083"/>
                <a:ext cx="9054171" cy="7346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85000"/>
                  </a:lnSpc>
                </a:pPr>
                <a:r>
                  <a:rPr lang="en-US" altLang="zh-CN" sz="1400" b="1" dirty="0">
                    <a:solidFill>
                      <a:srgbClr val="0000FF"/>
                    </a:solidFill>
                    <a:latin typeface="微软雅黑" pitchFamily="34" charset="-122"/>
                    <a:ea typeface="微软雅黑" pitchFamily="34" charset="-122"/>
                  </a:rPr>
                  <a:t>                26                      83.5                                    125</a:t>
                </a:r>
              </a:p>
              <a:p>
                <a:pPr algn="l">
                  <a:lnSpc>
                    <a:spcPct val="85000"/>
                  </a:lnSpc>
                </a:pPr>
                <a:r>
                  <a:rPr lang="zh-CN" altLang="en-US" sz="1400" b="1" dirty="0">
                    <a:latin typeface="微软雅黑" pitchFamily="34" charset="-122"/>
                    <a:ea typeface="微软雅黑" pitchFamily="34" charset="-122"/>
                  </a:rPr>
                  <a:t>频带</a:t>
                </a:r>
                <a:r>
                  <a:rPr lang="zh-CN" altLang="en-US" sz="1400" b="1" dirty="0">
                    <a:solidFill>
                      <a:srgbClr val="0000FF"/>
                    </a:solidFill>
                    <a:latin typeface="微软雅黑" pitchFamily="34" charset="-122"/>
                    <a:ea typeface="微软雅黑" pitchFamily="34" charset="-122"/>
                  </a:rPr>
                  <a:t>       </a:t>
                </a:r>
                <a:r>
                  <a:rPr lang="en-US" altLang="zh-CN" sz="1400" b="1" dirty="0">
                    <a:solidFill>
                      <a:srgbClr val="0000FF"/>
                    </a:solidFill>
                    <a:latin typeface="微软雅黑" pitchFamily="34" charset="-122"/>
                    <a:ea typeface="微软雅黑" pitchFamily="34" charset="-122"/>
                  </a:rPr>
                  <a:t>MHz                    </a:t>
                </a:r>
                <a:r>
                  <a:rPr lang="en-US" altLang="zh-CN" sz="1400" b="1" dirty="0" err="1">
                    <a:solidFill>
                      <a:srgbClr val="0000FF"/>
                    </a:solidFill>
                    <a:latin typeface="微软雅黑" pitchFamily="34" charset="-122"/>
                    <a:ea typeface="微软雅黑" pitchFamily="34" charset="-122"/>
                  </a:rPr>
                  <a:t>MHz</a:t>
                </a:r>
                <a:r>
                  <a:rPr lang="en-US" altLang="zh-CN" sz="1400" b="1" dirty="0">
                    <a:solidFill>
                      <a:srgbClr val="0000FF"/>
                    </a:solidFill>
                    <a:latin typeface="微软雅黑" pitchFamily="34" charset="-122"/>
                    <a:ea typeface="微软雅黑" pitchFamily="34" charset="-122"/>
                  </a:rPr>
                  <a:t>                                    </a:t>
                </a:r>
                <a:r>
                  <a:rPr lang="en-US" altLang="zh-CN" sz="1400" b="1" dirty="0" err="1">
                    <a:solidFill>
                      <a:srgbClr val="0000FF"/>
                    </a:solidFill>
                    <a:latin typeface="微软雅黑" pitchFamily="34" charset="-122"/>
                    <a:ea typeface="微软雅黑" pitchFamily="34" charset="-122"/>
                  </a:rPr>
                  <a:t>MHz</a:t>
                </a:r>
                <a:endParaRPr lang="en-US" altLang="zh-CN" sz="1400" b="1" dirty="0">
                  <a:solidFill>
                    <a:srgbClr val="0000FF"/>
                  </a:solidFill>
                  <a:latin typeface="微软雅黑" pitchFamily="34" charset="-122"/>
                  <a:ea typeface="微软雅黑" pitchFamily="34" charset="-122"/>
                </a:endParaRPr>
              </a:p>
            </p:txBody>
          </p:sp>
          <p:sp>
            <p:nvSpPr>
              <p:cNvPr id="10" name="Text Box 6"/>
              <p:cNvSpPr txBox="1">
                <a:spLocks noChangeArrowheads="1"/>
              </p:cNvSpPr>
              <p:nvPr/>
            </p:nvSpPr>
            <p:spPr bwMode="auto">
              <a:xfrm>
                <a:off x="507339" y="5445107"/>
                <a:ext cx="9327781" cy="7346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85000"/>
                  </a:lnSpc>
                </a:pPr>
                <a:r>
                  <a:rPr lang="zh-CN" altLang="en-US" sz="1400" b="1" dirty="0">
                    <a:latin typeface="微软雅黑" pitchFamily="34" charset="-122"/>
                    <a:ea typeface="微软雅黑" pitchFamily="34" charset="-122"/>
                  </a:rPr>
                  <a:t>频率</a:t>
                </a:r>
                <a:r>
                  <a:rPr lang="zh-CN" altLang="en-US" sz="1400" b="1" dirty="0">
                    <a:solidFill>
                      <a:srgbClr val="0000FF"/>
                    </a:solidFill>
                    <a:latin typeface="微软雅黑" pitchFamily="34" charset="-122"/>
                    <a:ea typeface="微软雅黑" pitchFamily="34" charset="-122"/>
                  </a:rPr>
                  <a:t>    </a:t>
                </a:r>
                <a:r>
                  <a:rPr lang="en-US" altLang="zh-CN" sz="1400" b="1" dirty="0">
                    <a:solidFill>
                      <a:srgbClr val="0000FF"/>
                    </a:solidFill>
                    <a:latin typeface="微软雅黑" pitchFamily="34" charset="-122"/>
                    <a:ea typeface="微软雅黑" pitchFamily="34" charset="-122"/>
                  </a:rPr>
                  <a:t>902    928       2.4            2.4835          5.725               5.850</a:t>
                </a:r>
              </a:p>
              <a:p>
                <a:pPr algn="l">
                  <a:lnSpc>
                    <a:spcPct val="85000"/>
                  </a:lnSpc>
                </a:pPr>
                <a:r>
                  <a:rPr lang="en-US" altLang="zh-CN" sz="1400" b="1" dirty="0">
                    <a:solidFill>
                      <a:srgbClr val="0000FF"/>
                    </a:solidFill>
                    <a:latin typeface="微软雅黑" pitchFamily="34" charset="-122"/>
                    <a:ea typeface="微软雅黑" pitchFamily="34" charset="-122"/>
                  </a:rPr>
                  <a:t>           MHz   </a:t>
                </a:r>
                <a:r>
                  <a:rPr lang="en-US" altLang="zh-CN" sz="1400" b="1" dirty="0" err="1">
                    <a:solidFill>
                      <a:srgbClr val="0000FF"/>
                    </a:solidFill>
                    <a:latin typeface="微软雅黑" pitchFamily="34" charset="-122"/>
                    <a:ea typeface="微软雅黑" pitchFamily="34" charset="-122"/>
                  </a:rPr>
                  <a:t>MHz</a:t>
                </a:r>
                <a:r>
                  <a:rPr lang="en-US" altLang="zh-CN" sz="1400" b="1" dirty="0">
                    <a:solidFill>
                      <a:srgbClr val="0000FF"/>
                    </a:solidFill>
                    <a:latin typeface="微软雅黑" pitchFamily="34" charset="-122"/>
                    <a:ea typeface="微软雅黑" pitchFamily="34" charset="-122"/>
                  </a:rPr>
                  <a:t>     GHz             </a:t>
                </a:r>
                <a:r>
                  <a:rPr lang="en-US" altLang="zh-CN" sz="1400" b="1" dirty="0" err="1">
                    <a:solidFill>
                      <a:srgbClr val="0000FF"/>
                    </a:solidFill>
                    <a:latin typeface="微软雅黑" pitchFamily="34" charset="-122"/>
                    <a:ea typeface="微软雅黑" pitchFamily="34" charset="-122"/>
                  </a:rPr>
                  <a:t>GHz</a:t>
                </a:r>
                <a:r>
                  <a:rPr lang="en-US" altLang="zh-CN" sz="1400" b="1" dirty="0">
                    <a:solidFill>
                      <a:srgbClr val="0000FF"/>
                    </a:solidFill>
                    <a:latin typeface="微软雅黑" pitchFamily="34" charset="-122"/>
                    <a:ea typeface="微软雅黑" pitchFamily="34" charset="-122"/>
                  </a:rPr>
                  <a:t>            </a:t>
                </a:r>
                <a:r>
                  <a:rPr lang="en-US" altLang="zh-CN" sz="1400" b="1" dirty="0" err="1">
                    <a:solidFill>
                      <a:srgbClr val="0000FF"/>
                    </a:solidFill>
                    <a:latin typeface="微软雅黑" pitchFamily="34" charset="-122"/>
                    <a:ea typeface="微软雅黑" pitchFamily="34" charset="-122"/>
                  </a:rPr>
                  <a:t>GHz</a:t>
                </a:r>
                <a:r>
                  <a:rPr lang="en-US" altLang="zh-CN" sz="1400" b="1" dirty="0">
                    <a:solidFill>
                      <a:srgbClr val="0000FF"/>
                    </a:solidFill>
                    <a:latin typeface="微软雅黑" pitchFamily="34" charset="-122"/>
                    <a:ea typeface="微软雅黑" pitchFamily="34" charset="-122"/>
                  </a:rPr>
                  <a:t>                 </a:t>
                </a:r>
                <a:r>
                  <a:rPr lang="en-US" altLang="zh-CN" sz="1400" b="1" dirty="0" err="1">
                    <a:solidFill>
                      <a:srgbClr val="0000FF"/>
                    </a:solidFill>
                    <a:latin typeface="微软雅黑" pitchFamily="34" charset="-122"/>
                    <a:ea typeface="微软雅黑" pitchFamily="34" charset="-122"/>
                  </a:rPr>
                  <a:t>GHz</a:t>
                </a:r>
                <a:endParaRPr lang="en-US" altLang="zh-CN" sz="1400" b="1" dirty="0">
                  <a:solidFill>
                    <a:srgbClr val="0000FF"/>
                  </a:solidFill>
                  <a:latin typeface="微软雅黑" pitchFamily="34" charset="-122"/>
                  <a:ea typeface="微软雅黑" pitchFamily="34" charset="-122"/>
                </a:endParaRPr>
              </a:p>
            </p:txBody>
          </p:sp>
          <p:sp>
            <p:nvSpPr>
              <p:cNvPr id="11" name="Line 7"/>
              <p:cNvSpPr>
                <a:spLocks noChangeShapeType="1"/>
              </p:cNvSpPr>
              <p:nvPr/>
            </p:nvSpPr>
            <p:spPr bwMode="auto">
              <a:xfrm>
                <a:off x="1396471" y="4062395"/>
                <a:ext cx="801422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12" name="Line 8"/>
              <p:cNvSpPr>
                <a:spLocks noChangeShapeType="1"/>
              </p:cNvSpPr>
              <p:nvPr/>
            </p:nvSpPr>
            <p:spPr bwMode="auto">
              <a:xfrm>
                <a:off x="1396471" y="5356207"/>
                <a:ext cx="801422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13" name="Rectangle 9"/>
              <p:cNvSpPr>
                <a:spLocks noChangeArrowheads="1"/>
              </p:cNvSpPr>
              <p:nvPr/>
            </p:nvSpPr>
            <p:spPr bwMode="auto">
              <a:xfrm>
                <a:off x="1792023" y="4062395"/>
                <a:ext cx="693077" cy="1293812"/>
              </a:xfrm>
              <a:prstGeom prst="rect">
                <a:avLst/>
              </a:prstGeom>
              <a:solidFill>
                <a:srgbClr val="99FF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14" name="Rectangle 10"/>
              <p:cNvSpPr>
                <a:spLocks noChangeArrowheads="1"/>
              </p:cNvSpPr>
              <p:nvPr/>
            </p:nvSpPr>
            <p:spPr bwMode="auto">
              <a:xfrm>
                <a:off x="3769783" y="4062395"/>
                <a:ext cx="1485900" cy="1293812"/>
              </a:xfrm>
              <a:prstGeom prst="rect">
                <a:avLst/>
              </a:prstGeom>
              <a:solidFill>
                <a:srgbClr val="00B05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15" name="Rectangle 11"/>
              <p:cNvSpPr>
                <a:spLocks noChangeArrowheads="1"/>
              </p:cNvSpPr>
              <p:nvPr/>
            </p:nvSpPr>
            <p:spPr bwMode="auto">
              <a:xfrm>
                <a:off x="7035669" y="4062395"/>
                <a:ext cx="2079228" cy="1293812"/>
              </a:xfrm>
              <a:prstGeom prst="rect">
                <a:avLst/>
              </a:prstGeom>
              <a:solidFill>
                <a:srgbClr val="FF00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16" name="Line 12"/>
              <p:cNvSpPr>
                <a:spLocks noChangeShapeType="1"/>
              </p:cNvSpPr>
              <p:nvPr/>
            </p:nvSpPr>
            <p:spPr bwMode="auto">
              <a:xfrm>
                <a:off x="1792023" y="3933807"/>
                <a:ext cx="693077" cy="0"/>
              </a:xfrm>
              <a:prstGeom prst="line">
                <a:avLst/>
              </a:prstGeom>
              <a:noFill/>
              <a:ln w="2857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17" name="Line 13"/>
              <p:cNvSpPr>
                <a:spLocks noChangeShapeType="1"/>
              </p:cNvSpPr>
              <p:nvPr/>
            </p:nvSpPr>
            <p:spPr bwMode="auto">
              <a:xfrm>
                <a:off x="3769783" y="3933807"/>
                <a:ext cx="1485900" cy="0"/>
              </a:xfrm>
              <a:prstGeom prst="line">
                <a:avLst/>
              </a:prstGeom>
              <a:noFill/>
              <a:ln w="2857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18" name="Line 14"/>
              <p:cNvSpPr>
                <a:spLocks noChangeShapeType="1"/>
              </p:cNvSpPr>
              <p:nvPr/>
            </p:nvSpPr>
            <p:spPr bwMode="auto">
              <a:xfrm>
                <a:off x="7035669" y="3933807"/>
                <a:ext cx="2079228" cy="0"/>
              </a:xfrm>
              <a:prstGeom prst="line">
                <a:avLst/>
              </a:prstGeom>
              <a:noFill/>
              <a:ln w="2857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grpSp>
        <p:grpSp>
          <p:nvGrpSpPr>
            <p:cNvPr id="27" name="组合 26"/>
            <p:cNvGrpSpPr/>
            <p:nvPr/>
          </p:nvGrpSpPr>
          <p:grpSpPr>
            <a:xfrm>
              <a:off x="3088814" y="3279209"/>
              <a:ext cx="415498" cy="369332"/>
              <a:chOff x="3088814" y="3270065"/>
              <a:chExt cx="415498" cy="369332"/>
            </a:xfrm>
          </p:grpSpPr>
          <p:sp>
            <p:nvSpPr>
              <p:cNvPr id="25" name="矩形 24"/>
              <p:cNvSpPr/>
              <p:nvPr/>
            </p:nvSpPr>
            <p:spPr>
              <a:xfrm>
                <a:off x="3101696" y="3454731"/>
                <a:ext cx="402616" cy="153602"/>
              </a:xfrm>
              <a:prstGeom prst="rect">
                <a:avLst/>
              </a:prstGeom>
              <a:solidFill>
                <a:srgbClr val="C5E5F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Text Box 16"/>
              <p:cNvSpPr txBox="1">
                <a:spLocks noChangeArrowheads="1"/>
              </p:cNvSpPr>
              <p:nvPr/>
            </p:nvSpPr>
            <p:spPr bwMode="auto">
              <a:xfrm>
                <a:off x="3088814" y="3270065"/>
                <a:ext cx="415498" cy="369332"/>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dirty="0">
                    <a:latin typeface="微软雅黑" pitchFamily="34" charset="-122"/>
                    <a:ea typeface="微软雅黑" pitchFamily="34" charset="-122"/>
                    <a:sym typeface="Symbol" pitchFamily="18" charset="2"/>
                  </a:rPr>
                  <a:t></a:t>
                </a:r>
              </a:p>
            </p:txBody>
          </p:sp>
        </p:grpSp>
        <p:grpSp>
          <p:nvGrpSpPr>
            <p:cNvPr id="28" name="组合 27"/>
            <p:cNvGrpSpPr/>
            <p:nvPr/>
          </p:nvGrpSpPr>
          <p:grpSpPr>
            <a:xfrm>
              <a:off x="3088814" y="2499742"/>
              <a:ext cx="415498" cy="369332"/>
              <a:chOff x="3088814" y="3270065"/>
              <a:chExt cx="415498" cy="369332"/>
            </a:xfrm>
          </p:grpSpPr>
          <p:sp>
            <p:nvSpPr>
              <p:cNvPr id="29" name="矩形 28"/>
              <p:cNvSpPr/>
              <p:nvPr/>
            </p:nvSpPr>
            <p:spPr>
              <a:xfrm>
                <a:off x="3101696" y="3454731"/>
                <a:ext cx="402616" cy="153602"/>
              </a:xfrm>
              <a:prstGeom prst="rect">
                <a:avLst/>
              </a:prstGeom>
              <a:solidFill>
                <a:srgbClr val="C5E5F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Text Box 16"/>
              <p:cNvSpPr txBox="1">
                <a:spLocks noChangeArrowheads="1"/>
              </p:cNvSpPr>
              <p:nvPr/>
            </p:nvSpPr>
            <p:spPr bwMode="auto">
              <a:xfrm>
                <a:off x="3088814" y="3270065"/>
                <a:ext cx="415498" cy="369332"/>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dirty="0">
                    <a:latin typeface="微软雅黑" pitchFamily="34" charset="-122"/>
                    <a:ea typeface="微软雅黑" pitchFamily="34" charset="-122"/>
                    <a:sym typeface="Symbol" pitchFamily="18" charset="2"/>
                  </a:rPr>
                  <a:t></a:t>
                </a:r>
              </a:p>
            </p:txBody>
          </p:sp>
        </p:grpSp>
        <p:grpSp>
          <p:nvGrpSpPr>
            <p:cNvPr id="31" name="组合 30"/>
            <p:cNvGrpSpPr/>
            <p:nvPr/>
          </p:nvGrpSpPr>
          <p:grpSpPr>
            <a:xfrm>
              <a:off x="4959472" y="3279209"/>
              <a:ext cx="415498" cy="369332"/>
              <a:chOff x="3088814" y="3270065"/>
              <a:chExt cx="415498" cy="369332"/>
            </a:xfrm>
          </p:grpSpPr>
          <p:sp>
            <p:nvSpPr>
              <p:cNvPr id="32" name="矩形 31"/>
              <p:cNvSpPr/>
              <p:nvPr/>
            </p:nvSpPr>
            <p:spPr>
              <a:xfrm>
                <a:off x="3101696" y="3454731"/>
                <a:ext cx="402616" cy="153602"/>
              </a:xfrm>
              <a:prstGeom prst="rect">
                <a:avLst/>
              </a:prstGeom>
              <a:solidFill>
                <a:srgbClr val="C5E5F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Text Box 16"/>
              <p:cNvSpPr txBox="1">
                <a:spLocks noChangeArrowheads="1"/>
              </p:cNvSpPr>
              <p:nvPr/>
            </p:nvSpPr>
            <p:spPr bwMode="auto">
              <a:xfrm>
                <a:off x="3088814" y="3270065"/>
                <a:ext cx="415498" cy="369332"/>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dirty="0">
                    <a:latin typeface="微软雅黑" pitchFamily="34" charset="-122"/>
                    <a:ea typeface="微软雅黑" pitchFamily="34" charset="-122"/>
                    <a:sym typeface="Symbol" pitchFamily="18" charset="2"/>
                  </a:rPr>
                  <a:t></a:t>
                </a:r>
              </a:p>
            </p:txBody>
          </p:sp>
        </p:grpSp>
        <p:grpSp>
          <p:nvGrpSpPr>
            <p:cNvPr id="34" name="组合 33"/>
            <p:cNvGrpSpPr/>
            <p:nvPr/>
          </p:nvGrpSpPr>
          <p:grpSpPr>
            <a:xfrm>
              <a:off x="4959472" y="2499742"/>
              <a:ext cx="415498" cy="369332"/>
              <a:chOff x="3088814" y="3270065"/>
              <a:chExt cx="415498" cy="369332"/>
            </a:xfrm>
          </p:grpSpPr>
          <p:sp>
            <p:nvSpPr>
              <p:cNvPr id="35" name="矩形 34"/>
              <p:cNvSpPr/>
              <p:nvPr/>
            </p:nvSpPr>
            <p:spPr>
              <a:xfrm>
                <a:off x="3101696" y="3454731"/>
                <a:ext cx="402616" cy="153602"/>
              </a:xfrm>
              <a:prstGeom prst="rect">
                <a:avLst/>
              </a:prstGeom>
              <a:solidFill>
                <a:srgbClr val="C5E5F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Text Box 16"/>
              <p:cNvSpPr txBox="1">
                <a:spLocks noChangeArrowheads="1"/>
              </p:cNvSpPr>
              <p:nvPr/>
            </p:nvSpPr>
            <p:spPr bwMode="auto">
              <a:xfrm>
                <a:off x="3088814" y="3270065"/>
                <a:ext cx="415498" cy="369332"/>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dirty="0">
                    <a:latin typeface="微软雅黑" pitchFamily="34" charset="-122"/>
                    <a:ea typeface="微软雅黑" pitchFamily="34" charset="-122"/>
                    <a:sym typeface="Symbol" pitchFamily="18" charset="2"/>
                  </a:rPr>
                  <a:t></a:t>
                </a:r>
              </a:p>
            </p:txBody>
          </p:sp>
        </p:grpSp>
      </p:grpSp>
      <p:sp>
        <p:nvSpPr>
          <p:cNvPr id="19" name="文本占位符 18"/>
          <p:cNvSpPr>
            <a:spLocks noGrp="1"/>
          </p:cNvSpPr>
          <p:nvPr>
            <p:ph type="body" sz="quarter" idx="11"/>
          </p:nvPr>
        </p:nvSpPr>
        <p:spPr>
          <a:xfrm>
            <a:off x="1332000" y="360000"/>
            <a:ext cx="6480000" cy="354012"/>
          </a:xfrm>
        </p:spPr>
        <p:txBody>
          <a:bodyPr>
            <a:normAutofit fontScale="92500" lnSpcReduction="10000"/>
          </a:bodyPr>
          <a:lstStyle/>
          <a:p>
            <a:r>
              <a:rPr lang="zh-CN" altLang="en-US" dirty="0"/>
              <a:t> 无线局域网使用的 </a:t>
            </a:r>
            <a:r>
              <a:rPr lang="en-US" altLang="zh-CN" dirty="0"/>
              <a:t>ISM </a:t>
            </a:r>
            <a:r>
              <a:rPr lang="zh-CN" altLang="en-US" dirty="0"/>
              <a:t>频段</a:t>
            </a:r>
          </a:p>
        </p:txBody>
      </p:sp>
    </p:spTree>
    <p:extLst>
      <p:ext uri="{BB962C8B-B14F-4D97-AF65-F5344CB8AC3E}">
        <p14:creationId xmlns:p14="http://schemas.microsoft.com/office/powerpoint/2010/main" val="373473556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EA59A-C8A7-4760-C531-99D762501178}"/>
            </a:ext>
          </a:extLst>
        </p:cNvPr>
        <p:cNvGrpSpPr/>
        <p:nvPr/>
      </p:nvGrpSpPr>
      <p:grpSpPr>
        <a:xfrm>
          <a:off x="0" y="0"/>
          <a:ext cx="0" cy="0"/>
          <a:chOff x="0" y="0"/>
          <a:chExt cx="0" cy="0"/>
        </a:xfrm>
      </p:grpSpPr>
      <p:sp>
        <p:nvSpPr>
          <p:cNvPr id="7" name="内容占位符 2">
            <a:extLst>
              <a:ext uri="{FF2B5EF4-FFF2-40B4-BE49-F238E27FC236}">
                <a16:creationId xmlns:a16="http://schemas.microsoft.com/office/drawing/2014/main" id="{37D9B802-C720-9DEA-3B5F-093D043CF10F}"/>
              </a:ext>
            </a:extLst>
          </p:cNvPr>
          <p:cNvSpPr>
            <a:spLocks noGrp="1"/>
          </p:cNvSpPr>
          <p:nvPr>
            <p:ph sz="quarter" idx="10"/>
          </p:nvPr>
        </p:nvSpPr>
        <p:spPr>
          <a:xfrm>
            <a:off x="466343" y="900000"/>
            <a:ext cx="8129017" cy="3376990"/>
          </a:xfrm>
        </p:spPr>
        <p:txBody>
          <a:bodyPr/>
          <a:lstStyle/>
          <a:p>
            <a:r>
              <a:rPr lang="zh-CN" altLang="en-US" dirty="0"/>
              <a:t>复用 </a:t>
            </a:r>
            <a:r>
              <a:rPr lang="en-US" altLang="zh-CN" dirty="0"/>
              <a:t>(multiplexing) </a:t>
            </a:r>
            <a:r>
              <a:rPr lang="zh-CN" altLang="en-US" dirty="0"/>
              <a:t>：允许用户使用一个共享信道进行通信。</a:t>
            </a:r>
          </a:p>
          <a:p>
            <a:endParaRPr lang="zh-CN" altLang="en-US" dirty="0"/>
          </a:p>
        </p:txBody>
      </p:sp>
      <p:sp>
        <p:nvSpPr>
          <p:cNvPr id="2" name="文本占位符 1">
            <a:extLst>
              <a:ext uri="{FF2B5EF4-FFF2-40B4-BE49-F238E27FC236}">
                <a16:creationId xmlns:a16="http://schemas.microsoft.com/office/drawing/2014/main" id="{AD3AD1B7-F75F-DA23-D32D-76D6AEB0DF55}"/>
              </a:ext>
            </a:extLst>
          </p:cNvPr>
          <p:cNvSpPr>
            <a:spLocks noGrp="1"/>
          </p:cNvSpPr>
          <p:nvPr>
            <p:ph type="body" sz="quarter" idx="11"/>
          </p:nvPr>
        </p:nvSpPr>
        <p:spPr>
          <a:xfrm>
            <a:off x="1332000" y="360000"/>
            <a:ext cx="6480000" cy="354012"/>
          </a:xfrm>
        </p:spPr>
        <p:txBody>
          <a:bodyPr>
            <a:normAutofit fontScale="92500" lnSpcReduction="10000"/>
          </a:bodyPr>
          <a:lstStyle/>
          <a:p>
            <a:r>
              <a:rPr lang="en-US" altLang="zh-CN" dirty="0"/>
              <a:t>2.4  </a:t>
            </a:r>
            <a:r>
              <a:rPr lang="zh-CN" altLang="en-US" dirty="0"/>
              <a:t>信道复用技术</a:t>
            </a:r>
          </a:p>
        </p:txBody>
      </p:sp>
      <p:sp>
        <p:nvSpPr>
          <p:cNvPr id="18" name="Text Box 60">
            <a:extLst>
              <a:ext uri="{FF2B5EF4-FFF2-40B4-BE49-F238E27FC236}">
                <a16:creationId xmlns:a16="http://schemas.microsoft.com/office/drawing/2014/main" id="{DE027D38-B174-50F5-033A-960FFD4AFBC9}"/>
              </a:ext>
            </a:extLst>
          </p:cNvPr>
          <p:cNvSpPr txBox="1">
            <a:spLocks noChangeArrowheads="1"/>
          </p:cNvSpPr>
          <p:nvPr/>
        </p:nvSpPr>
        <p:spPr bwMode="auto">
          <a:xfrm>
            <a:off x="3689870" y="2575060"/>
            <a:ext cx="1301959"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050" dirty="0"/>
              <a:t>(a) </a:t>
            </a:r>
            <a:r>
              <a:rPr lang="zh-CN" altLang="en-US" sz="1050" dirty="0"/>
              <a:t>使用单独的信道</a:t>
            </a:r>
          </a:p>
        </p:txBody>
      </p:sp>
      <p:grpSp>
        <p:nvGrpSpPr>
          <p:cNvPr id="5" name="组合 4">
            <a:extLst>
              <a:ext uri="{FF2B5EF4-FFF2-40B4-BE49-F238E27FC236}">
                <a16:creationId xmlns:a16="http://schemas.microsoft.com/office/drawing/2014/main" id="{2490CA47-D700-9DF5-72F6-4F478F4D2DF9}"/>
              </a:ext>
            </a:extLst>
          </p:cNvPr>
          <p:cNvGrpSpPr>
            <a:grpSpLocks noChangeAspect="1"/>
          </p:cNvGrpSpPr>
          <p:nvPr/>
        </p:nvGrpSpPr>
        <p:grpSpPr>
          <a:xfrm>
            <a:off x="1998524" y="1565660"/>
            <a:ext cx="4320000" cy="923504"/>
            <a:chOff x="1998524" y="1565660"/>
            <a:chExt cx="5168206" cy="1104832"/>
          </a:xfrm>
        </p:grpSpPr>
        <p:sp>
          <p:nvSpPr>
            <p:cNvPr id="9" name="Line 39">
              <a:extLst>
                <a:ext uri="{FF2B5EF4-FFF2-40B4-BE49-F238E27FC236}">
                  <a16:creationId xmlns:a16="http://schemas.microsoft.com/office/drawing/2014/main" id="{DAFE8083-636B-3F98-9475-5989A824435A}"/>
                </a:ext>
              </a:extLst>
            </p:cNvPr>
            <p:cNvSpPr>
              <a:spLocks noChangeShapeType="1"/>
            </p:cNvSpPr>
            <p:nvPr/>
          </p:nvSpPr>
          <p:spPr bwMode="auto">
            <a:xfrm>
              <a:off x="2287733" y="1814132"/>
              <a:ext cx="4646127" cy="0"/>
            </a:xfrm>
            <a:prstGeom prst="line">
              <a:avLst/>
            </a:prstGeom>
            <a:noFill/>
            <a:ln w="12700">
              <a:solidFill>
                <a:schemeClr val="tx1">
                  <a:lumMod val="50000"/>
                  <a:lumOff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800"/>
            </a:p>
          </p:txBody>
        </p:sp>
        <p:sp>
          <p:nvSpPr>
            <p:cNvPr id="10" name="Line 40">
              <a:extLst>
                <a:ext uri="{FF2B5EF4-FFF2-40B4-BE49-F238E27FC236}">
                  <a16:creationId xmlns:a16="http://schemas.microsoft.com/office/drawing/2014/main" id="{D6BCA426-DADD-A2CD-C855-49BC193F05C3}"/>
                </a:ext>
              </a:extLst>
            </p:cNvPr>
            <p:cNvSpPr>
              <a:spLocks noChangeShapeType="1"/>
            </p:cNvSpPr>
            <p:nvPr/>
          </p:nvSpPr>
          <p:spPr bwMode="auto">
            <a:xfrm>
              <a:off x="2287733" y="2173549"/>
              <a:ext cx="4646127" cy="0"/>
            </a:xfrm>
            <a:prstGeom prst="line">
              <a:avLst/>
            </a:prstGeom>
            <a:noFill/>
            <a:ln w="12700">
              <a:solidFill>
                <a:schemeClr val="tx1">
                  <a:lumMod val="50000"/>
                  <a:lumOff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800"/>
            </a:p>
          </p:txBody>
        </p:sp>
        <p:sp>
          <p:nvSpPr>
            <p:cNvPr id="11" name="Line 41">
              <a:extLst>
                <a:ext uri="{FF2B5EF4-FFF2-40B4-BE49-F238E27FC236}">
                  <a16:creationId xmlns:a16="http://schemas.microsoft.com/office/drawing/2014/main" id="{00D3860E-665A-23CC-EA65-1A66C17F8597}"/>
                </a:ext>
              </a:extLst>
            </p:cNvPr>
            <p:cNvSpPr>
              <a:spLocks noChangeShapeType="1"/>
            </p:cNvSpPr>
            <p:nvPr/>
          </p:nvSpPr>
          <p:spPr bwMode="auto">
            <a:xfrm>
              <a:off x="2287733" y="2532966"/>
              <a:ext cx="4646127" cy="0"/>
            </a:xfrm>
            <a:prstGeom prst="line">
              <a:avLst/>
            </a:prstGeom>
            <a:noFill/>
            <a:ln w="12700">
              <a:solidFill>
                <a:schemeClr val="tx1">
                  <a:lumMod val="50000"/>
                  <a:lumOff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800"/>
            </a:p>
          </p:txBody>
        </p:sp>
        <p:sp>
          <p:nvSpPr>
            <p:cNvPr id="12" name="Oval 42">
              <a:extLst>
                <a:ext uri="{FF2B5EF4-FFF2-40B4-BE49-F238E27FC236}">
                  <a16:creationId xmlns:a16="http://schemas.microsoft.com/office/drawing/2014/main" id="{C4D4E5E0-B1A5-AFFB-8C66-BFBA15F4A9DE}"/>
                </a:ext>
              </a:extLst>
            </p:cNvPr>
            <p:cNvSpPr>
              <a:spLocks noChangeArrowheads="1"/>
            </p:cNvSpPr>
            <p:nvPr/>
          </p:nvSpPr>
          <p:spPr bwMode="auto">
            <a:xfrm>
              <a:off x="1998524" y="1676606"/>
              <a:ext cx="289209" cy="275052"/>
            </a:xfrm>
            <a:prstGeom prst="ellipse">
              <a:avLst/>
            </a:prstGeom>
            <a:solidFill>
              <a:schemeClr val="bg1">
                <a:lumMod val="95000"/>
              </a:schemeClr>
            </a:solidFill>
            <a:ln w="9525">
              <a:noFill/>
              <a:round/>
              <a:headEnd/>
              <a:tailEnd/>
            </a:ln>
            <a:effectLst/>
          </p:spPr>
          <p:txBody>
            <a:bodyPr wrap="none" anchor="ctr"/>
            <a:lstStyle/>
            <a:p>
              <a:pPr algn="ctr"/>
              <a:r>
                <a:rPr lang="en-US" altLang="zh-CN" sz="800" dirty="0">
                  <a:latin typeface="Times New Roman" panose="02020603050405020304" pitchFamily="18" charset="0"/>
                  <a:cs typeface="Times New Roman" panose="02020603050405020304" pitchFamily="18" charset="0"/>
                </a:rPr>
                <a:t>A</a:t>
              </a:r>
              <a:r>
                <a:rPr lang="en-US" altLang="zh-CN" sz="800" baseline="-25000" dirty="0">
                  <a:latin typeface="Times New Roman" panose="02020603050405020304" pitchFamily="18" charset="0"/>
                  <a:cs typeface="Times New Roman" panose="02020603050405020304" pitchFamily="18" charset="0"/>
                </a:rPr>
                <a:t>1</a:t>
              </a:r>
            </a:p>
          </p:txBody>
        </p:sp>
        <p:sp>
          <p:nvSpPr>
            <p:cNvPr id="13" name="Oval 43">
              <a:extLst>
                <a:ext uri="{FF2B5EF4-FFF2-40B4-BE49-F238E27FC236}">
                  <a16:creationId xmlns:a16="http://schemas.microsoft.com/office/drawing/2014/main" id="{4EFE0256-A7D4-3D91-E86B-E0954B418A6A}"/>
                </a:ext>
              </a:extLst>
            </p:cNvPr>
            <p:cNvSpPr>
              <a:spLocks noChangeArrowheads="1"/>
            </p:cNvSpPr>
            <p:nvPr/>
          </p:nvSpPr>
          <p:spPr bwMode="auto">
            <a:xfrm>
              <a:off x="6877521" y="1676606"/>
              <a:ext cx="289209" cy="275052"/>
            </a:xfrm>
            <a:prstGeom prst="ellipse">
              <a:avLst/>
            </a:prstGeom>
            <a:solidFill>
              <a:schemeClr val="bg1">
                <a:lumMod val="95000"/>
              </a:schemeClr>
            </a:solidFill>
            <a:ln w="9525">
              <a:noFill/>
              <a:round/>
              <a:headEnd/>
              <a:tailEnd/>
            </a:ln>
            <a:effectLst/>
          </p:spPr>
          <p:txBody>
            <a:bodyPr wrap="none" anchor="ctr"/>
            <a:lstStyle/>
            <a:p>
              <a:pPr algn="ctr"/>
              <a:r>
                <a:rPr lang="en-US" altLang="zh-CN" sz="800" dirty="0">
                  <a:latin typeface="Times New Roman" panose="02020603050405020304" pitchFamily="18" charset="0"/>
                  <a:cs typeface="Times New Roman" panose="02020603050405020304" pitchFamily="18" charset="0"/>
                </a:rPr>
                <a:t>A</a:t>
              </a:r>
              <a:r>
                <a:rPr lang="en-US" altLang="zh-CN" sz="800" baseline="-25000" dirty="0">
                  <a:latin typeface="Times New Roman" panose="02020603050405020304" pitchFamily="18" charset="0"/>
                  <a:cs typeface="Times New Roman" panose="02020603050405020304" pitchFamily="18" charset="0"/>
                </a:rPr>
                <a:t>2</a:t>
              </a:r>
            </a:p>
          </p:txBody>
        </p:sp>
        <p:sp>
          <p:nvSpPr>
            <p:cNvPr id="14" name="Oval 44">
              <a:extLst>
                <a:ext uri="{FF2B5EF4-FFF2-40B4-BE49-F238E27FC236}">
                  <a16:creationId xmlns:a16="http://schemas.microsoft.com/office/drawing/2014/main" id="{CE98D121-1221-30FB-A41F-94EF75605A14}"/>
                </a:ext>
              </a:extLst>
            </p:cNvPr>
            <p:cNvSpPr>
              <a:spLocks noChangeArrowheads="1"/>
            </p:cNvSpPr>
            <p:nvPr/>
          </p:nvSpPr>
          <p:spPr bwMode="auto">
            <a:xfrm>
              <a:off x="1998524" y="2036024"/>
              <a:ext cx="289209" cy="275052"/>
            </a:xfrm>
            <a:prstGeom prst="ellipse">
              <a:avLst/>
            </a:prstGeom>
            <a:solidFill>
              <a:schemeClr val="bg1">
                <a:lumMod val="95000"/>
              </a:schemeClr>
            </a:solidFill>
            <a:ln w="9525">
              <a:noFill/>
              <a:round/>
              <a:headEnd/>
              <a:tailEnd/>
            </a:ln>
            <a:effectLst/>
          </p:spPr>
          <p:txBody>
            <a:bodyPr wrap="none" anchor="ctr"/>
            <a:lstStyle/>
            <a:p>
              <a:pPr algn="ctr"/>
              <a:r>
                <a:rPr lang="en-US" altLang="zh-CN" sz="800">
                  <a:latin typeface="Times New Roman" panose="02020603050405020304" pitchFamily="18" charset="0"/>
                  <a:cs typeface="Times New Roman" panose="02020603050405020304" pitchFamily="18" charset="0"/>
                </a:rPr>
                <a:t>B</a:t>
              </a:r>
              <a:r>
                <a:rPr lang="en-US" altLang="zh-CN" sz="800" baseline="-25000">
                  <a:latin typeface="Times New Roman" panose="02020603050405020304" pitchFamily="18" charset="0"/>
                  <a:cs typeface="Times New Roman" panose="02020603050405020304" pitchFamily="18" charset="0"/>
                </a:rPr>
                <a:t>1</a:t>
              </a:r>
            </a:p>
          </p:txBody>
        </p:sp>
        <p:sp>
          <p:nvSpPr>
            <p:cNvPr id="15" name="Oval 45">
              <a:extLst>
                <a:ext uri="{FF2B5EF4-FFF2-40B4-BE49-F238E27FC236}">
                  <a16:creationId xmlns:a16="http://schemas.microsoft.com/office/drawing/2014/main" id="{42970F7D-DBF6-5CBF-64A0-B6E818B7A824}"/>
                </a:ext>
              </a:extLst>
            </p:cNvPr>
            <p:cNvSpPr>
              <a:spLocks noChangeArrowheads="1"/>
            </p:cNvSpPr>
            <p:nvPr/>
          </p:nvSpPr>
          <p:spPr bwMode="auto">
            <a:xfrm>
              <a:off x="6877521" y="2036024"/>
              <a:ext cx="289209" cy="275052"/>
            </a:xfrm>
            <a:prstGeom prst="ellipse">
              <a:avLst/>
            </a:prstGeom>
            <a:solidFill>
              <a:schemeClr val="bg1">
                <a:lumMod val="95000"/>
              </a:schemeClr>
            </a:solidFill>
            <a:ln w="9525">
              <a:noFill/>
              <a:round/>
              <a:headEnd/>
              <a:tailEnd/>
            </a:ln>
            <a:effectLst/>
          </p:spPr>
          <p:txBody>
            <a:bodyPr wrap="none" anchor="ctr"/>
            <a:lstStyle/>
            <a:p>
              <a:pPr algn="ctr"/>
              <a:r>
                <a:rPr lang="en-US" altLang="zh-CN" sz="800">
                  <a:latin typeface="Times New Roman" panose="02020603050405020304" pitchFamily="18" charset="0"/>
                  <a:cs typeface="Times New Roman" panose="02020603050405020304" pitchFamily="18" charset="0"/>
                </a:rPr>
                <a:t>B</a:t>
              </a:r>
              <a:r>
                <a:rPr lang="en-US" altLang="zh-CN" sz="800" baseline="-25000">
                  <a:latin typeface="Times New Roman" panose="02020603050405020304" pitchFamily="18" charset="0"/>
                  <a:cs typeface="Times New Roman" panose="02020603050405020304" pitchFamily="18" charset="0"/>
                </a:rPr>
                <a:t>2</a:t>
              </a:r>
            </a:p>
          </p:txBody>
        </p:sp>
        <p:sp>
          <p:nvSpPr>
            <p:cNvPr id="16" name="Oval 46">
              <a:extLst>
                <a:ext uri="{FF2B5EF4-FFF2-40B4-BE49-F238E27FC236}">
                  <a16:creationId xmlns:a16="http://schemas.microsoft.com/office/drawing/2014/main" id="{4C527013-C194-B17B-6BD5-E696DCE36EFC}"/>
                </a:ext>
              </a:extLst>
            </p:cNvPr>
            <p:cNvSpPr>
              <a:spLocks noChangeArrowheads="1"/>
            </p:cNvSpPr>
            <p:nvPr/>
          </p:nvSpPr>
          <p:spPr bwMode="auto">
            <a:xfrm>
              <a:off x="1998524" y="2395440"/>
              <a:ext cx="289209" cy="275052"/>
            </a:xfrm>
            <a:prstGeom prst="ellipse">
              <a:avLst/>
            </a:prstGeom>
            <a:solidFill>
              <a:schemeClr val="bg1">
                <a:lumMod val="95000"/>
              </a:schemeClr>
            </a:solidFill>
            <a:ln w="9525">
              <a:noFill/>
              <a:round/>
              <a:headEnd/>
              <a:tailEnd/>
            </a:ln>
            <a:effectLst/>
          </p:spPr>
          <p:txBody>
            <a:bodyPr wrap="none" anchor="ctr"/>
            <a:lstStyle/>
            <a:p>
              <a:pPr algn="ctr"/>
              <a:r>
                <a:rPr lang="en-US" altLang="zh-CN" sz="800" dirty="0">
                  <a:latin typeface="Times New Roman" panose="02020603050405020304" pitchFamily="18" charset="0"/>
                  <a:cs typeface="Times New Roman" panose="02020603050405020304" pitchFamily="18" charset="0"/>
                </a:rPr>
                <a:t>C</a:t>
              </a:r>
              <a:r>
                <a:rPr lang="en-US" altLang="zh-CN" sz="800" baseline="-25000" dirty="0">
                  <a:latin typeface="Times New Roman" panose="02020603050405020304" pitchFamily="18" charset="0"/>
                  <a:cs typeface="Times New Roman" panose="02020603050405020304" pitchFamily="18" charset="0"/>
                </a:rPr>
                <a:t>1</a:t>
              </a:r>
            </a:p>
          </p:txBody>
        </p:sp>
        <p:sp>
          <p:nvSpPr>
            <p:cNvPr id="17" name="Oval 47">
              <a:extLst>
                <a:ext uri="{FF2B5EF4-FFF2-40B4-BE49-F238E27FC236}">
                  <a16:creationId xmlns:a16="http://schemas.microsoft.com/office/drawing/2014/main" id="{67DF0A76-0779-4167-025A-7E1BC23EB0BD}"/>
                </a:ext>
              </a:extLst>
            </p:cNvPr>
            <p:cNvSpPr>
              <a:spLocks noChangeArrowheads="1"/>
            </p:cNvSpPr>
            <p:nvPr/>
          </p:nvSpPr>
          <p:spPr bwMode="auto">
            <a:xfrm>
              <a:off x="6877521" y="2395440"/>
              <a:ext cx="289209" cy="275052"/>
            </a:xfrm>
            <a:prstGeom prst="ellipse">
              <a:avLst/>
            </a:prstGeom>
            <a:solidFill>
              <a:schemeClr val="bg1">
                <a:lumMod val="95000"/>
              </a:schemeClr>
            </a:solidFill>
            <a:ln w="9525">
              <a:noFill/>
              <a:round/>
              <a:headEnd/>
              <a:tailEnd/>
            </a:ln>
            <a:effectLst/>
          </p:spPr>
          <p:txBody>
            <a:bodyPr wrap="none" anchor="ctr"/>
            <a:lstStyle/>
            <a:p>
              <a:pPr algn="ctr"/>
              <a:r>
                <a:rPr lang="en-US" altLang="zh-CN" sz="800">
                  <a:latin typeface="Times New Roman" panose="02020603050405020304" pitchFamily="18" charset="0"/>
                  <a:cs typeface="Times New Roman" panose="02020603050405020304" pitchFamily="18" charset="0"/>
                </a:rPr>
                <a:t>C</a:t>
              </a:r>
              <a:r>
                <a:rPr lang="en-US" altLang="zh-CN" sz="800" baseline="-25000">
                  <a:latin typeface="Times New Roman" panose="02020603050405020304" pitchFamily="18" charset="0"/>
                  <a:cs typeface="Times New Roman" panose="02020603050405020304" pitchFamily="18" charset="0"/>
                </a:rPr>
                <a:t>2</a:t>
              </a:r>
            </a:p>
          </p:txBody>
        </p:sp>
        <p:grpSp>
          <p:nvGrpSpPr>
            <p:cNvPr id="19" name="组合 18">
              <a:extLst>
                <a:ext uri="{FF2B5EF4-FFF2-40B4-BE49-F238E27FC236}">
                  <a16:creationId xmlns:a16="http://schemas.microsoft.com/office/drawing/2014/main" id="{F63668D2-A5B8-AF9F-5E73-8566C410611D}"/>
                </a:ext>
              </a:extLst>
            </p:cNvPr>
            <p:cNvGrpSpPr/>
            <p:nvPr/>
          </p:nvGrpSpPr>
          <p:grpSpPr>
            <a:xfrm>
              <a:off x="3624856" y="1730923"/>
              <a:ext cx="1740263" cy="717678"/>
              <a:chOff x="3624856" y="1730923"/>
              <a:chExt cx="1740263" cy="717678"/>
            </a:xfrm>
          </p:grpSpPr>
          <p:sp>
            <p:nvSpPr>
              <p:cNvPr id="20" name="Line 64">
                <a:extLst>
                  <a:ext uri="{FF2B5EF4-FFF2-40B4-BE49-F238E27FC236}">
                    <a16:creationId xmlns:a16="http://schemas.microsoft.com/office/drawing/2014/main" id="{6A8AE6ED-FC47-9513-D09E-8F7533CE0A7A}"/>
                  </a:ext>
                </a:extLst>
              </p:cNvPr>
              <p:cNvSpPr>
                <a:spLocks noChangeShapeType="1"/>
              </p:cNvSpPr>
              <p:nvPr/>
            </p:nvSpPr>
            <p:spPr bwMode="auto">
              <a:xfrm>
                <a:off x="3624856" y="1730923"/>
                <a:ext cx="1740263" cy="0"/>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800"/>
              </a:p>
            </p:txBody>
          </p:sp>
          <p:sp>
            <p:nvSpPr>
              <p:cNvPr id="21" name="Line 65">
                <a:extLst>
                  <a:ext uri="{FF2B5EF4-FFF2-40B4-BE49-F238E27FC236}">
                    <a16:creationId xmlns:a16="http://schemas.microsoft.com/office/drawing/2014/main" id="{4FDFAFBC-3F0C-075B-0437-C568E5593812}"/>
                  </a:ext>
                </a:extLst>
              </p:cNvPr>
              <p:cNvSpPr>
                <a:spLocks noChangeShapeType="1"/>
              </p:cNvSpPr>
              <p:nvPr/>
            </p:nvSpPr>
            <p:spPr bwMode="auto">
              <a:xfrm>
                <a:off x="3624856" y="2081094"/>
                <a:ext cx="1740263" cy="0"/>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800"/>
              </a:p>
            </p:txBody>
          </p:sp>
          <p:sp>
            <p:nvSpPr>
              <p:cNvPr id="22" name="Line 66">
                <a:extLst>
                  <a:ext uri="{FF2B5EF4-FFF2-40B4-BE49-F238E27FC236}">
                    <a16:creationId xmlns:a16="http://schemas.microsoft.com/office/drawing/2014/main" id="{F4CC80A9-AD49-722C-964D-494BFC1DDF4A}"/>
                  </a:ext>
                </a:extLst>
              </p:cNvPr>
              <p:cNvSpPr>
                <a:spLocks noChangeShapeType="1"/>
              </p:cNvSpPr>
              <p:nvPr/>
            </p:nvSpPr>
            <p:spPr bwMode="auto">
              <a:xfrm>
                <a:off x="3624856" y="2448601"/>
                <a:ext cx="1740263" cy="0"/>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800"/>
              </a:p>
            </p:txBody>
          </p:sp>
        </p:grpSp>
        <p:sp>
          <p:nvSpPr>
            <p:cNvPr id="23" name="AutoShape 78">
              <a:extLst>
                <a:ext uri="{FF2B5EF4-FFF2-40B4-BE49-F238E27FC236}">
                  <a16:creationId xmlns:a16="http://schemas.microsoft.com/office/drawing/2014/main" id="{5CF77BC0-B50F-3940-08F0-CDBC2785824D}"/>
                </a:ext>
              </a:extLst>
            </p:cNvPr>
            <p:cNvSpPr>
              <a:spLocks noChangeArrowheads="1"/>
            </p:cNvSpPr>
            <p:nvPr/>
          </p:nvSpPr>
          <p:spPr bwMode="auto">
            <a:xfrm>
              <a:off x="4437396" y="2284494"/>
              <a:ext cx="130206" cy="124814"/>
            </a:xfrm>
            <a:prstGeom prst="star5">
              <a:avLst/>
            </a:prstGeom>
            <a:solidFill>
              <a:schemeClr val="tx1">
                <a:lumMod val="50000"/>
                <a:lumOff val="50000"/>
              </a:schemeClr>
            </a:solidFill>
            <a:ln w="9525">
              <a:noFill/>
              <a:miter lim="800000"/>
              <a:headEnd/>
              <a:tailEnd/>
            </a:ln>
            <a:effectLst/>
          </p:spPr>
          <p:txBody>
            <a:bodyPr wrap="none" anchor="ctr"/>
            <a:lstStyle/>
            <a:p>
              <a:endParaRPr lang="zh-CN" altLang="en-US" sz="800"/>
            </a:p>
          </p:txBody>
        </p:sp>
        <p:sp>
          <p:nvSpPr>
            <p:cNvPr id="24" name="Oval 80">
              <a:extLst>
                <a:ext uri="{FF2B5EF4-FFF2-40B4-BE49-F238E27FC236}">
                  <a16:creationId xmlns:a16="http://schemas.microsoft.com/office/drawing/2014/main" id="{1F24CB9A-ABD5-946B-4801-E32865ADC3BD}"/>
                </a:ext>
              </a:extLst>
            </p:cNvPr>
            <p:cNvSpPr>
              <a:spLocks noChangeArrowheads="1"/>
            </p:cNvSpPr>
            <p:nvPr/>
          </p:nvSpPr>
          <p:spPr bwMode="auto">
            <a:xfrm>
              <a:off x="2352836" y="1676605"/>
              <a:ext cx="116434" cy="110945"/>
            </a:xfrm>
            <a:prstGeom prst="ellipse">
              <a:avLst/>
            </a:prstGeom>
            <a:solidFill>
              <a:schemeClr val="tx1">
                <a:lumMod val="50000"/>
                <a:lumOff val="50000"/>
              </a:schemeClr>
            </a:solidFill>
            <a:ln w="9525">
              <a:noFill/>
              <a:round/>
              <a:headEnd/>
              <a:tailEnd/>
            </a:ln>
            <a:effectLst/>
          </p:spPr>
          <p:txBody>
            <a:bodyPr wrap="none" anchor="ctr"/>
            <a:lstStyle/>
            <a:p>
              <a:endParaRPr lang="zh-CN" altLang="en-US" sz="800"/>
            </a:p>
          </p:txBody>
        </p:sp>
        <p:sp>
          <p:nvSpPr>
            <p:cNvPr id="25" name="Oval 81">
              <a:extLst>
                <a:ext uri="{FF2B5EF4-FFF2-40B4-BE49-F238E27FC236}">
                  <a16:creationId xmlns:a16="http://schemas.microsoft.com/office/drawing/2014/main" id="{C5F5DBD6-F35B-C2F3-B0CA-86ECAE956755}"/>
                </a:ext>
              </a:extLst>
            </p:cNvPr>
            <p:cNvSpPr>
              <a:spLocks noChangeArrowheads="1"/>
            </p:cNvSpPr>
            <p:nvPr/>
          </p:nvSpPr>
          <p:spPr bwMode="auto">
            <a:xfrm>
              <a:off x="4443656" y="1565660"/>
              <a:ext cx="116435" cy="110945"/>
            </a:xfrm>
            <a:prstGeom prst="ellipse">
              <a:avLst/>
            </a:prstGeom>
            <a:solidFill>
              <a:schemeClr val="tx1">
                <a:lumMod val="50000"/>
                <a:lumOff val="50000"/>
              </a:schemeClr>
            </a:solidFill>
            <a:ln w="9525">
              <a:noFill/>
              <a:round/>
              <a:headEnd/>
              <a:tailEnd/>
            </a:ln>
            <a:effectLst/>
          </p:spPr>
          <p:txBody>
            <a:bodyPr wrap="none" anchor="ctr"/>
            <a:lstStyle/>
            <a:p>
              <a:endParaRPr lang="zh-CN" altLang="en-US" sz="800"/>
            </a:p>
          </p:txBody>
        </p:sp>
        <p:sp>
          <p:nvSpPr>
            <p:cNvPr id="26" name="Oval 82">
              <a:extLst>
                <a:ext uri="{FF2B5EF4-FFF2-40B4-BE49-F238E27FC236}">
                  <a16:creationId xmlns:a16="http://schemas.microsoft.com/office/drawing/2014/main" id="{9593F8E0-667B-653C-C6CE-8CF0D6F906A3}"/>
                </a:ext>
              </a:extLst>
            </p:cNvPr>
            <p:cNvSpPr>
              <a:spLocks noChangeArrowheads="1"/>
            </p:cNvSpPr>
            <p:nvPr/>
          </p:nvSpPr>
          <p:spPr bwMode="auto">
            <a:xfrm>
              <a:off x="6683105" y="1676605"/>
              <a:ext cx="116435" cy="110945"/>
            </a:xfrm>
            <a:prstGeom prst="ellipse">
              <a:avLst/>
            </a:prstGeom>
            <a:solidFill>
              <a:schemeClr val="tx1">
                <a:lumMod val="50000"/>
                <a:lumOff val="50000"/>
              </a:schemeClr>
            </a:solidFill>
            <a:ln w="9525">
              <a:noFill/>
              <a:round/>
              <a:headEnd/>
              <a:tailEnd/>
            </a:ln>
            <a:effectLst/>
          </p:spPr>
          <p:txBody>
            <a:bodyPr wrap="none" anchor="ctr"/>
            <a:lstStyle/>
            <a:p>
              <a:endParaRPr lang="zh-CN" altLang="en-US" sz="800"/>
            </a:p>
          </p:txBody>
        </p:sp>
        <p:sp>
          <p:nvSpPr>
            <p:cNvPr id="27" name="Rectangle 83">
              <a:extLst>
                <a:ext uri="{FF2B5EF4-FFF2-40B4-BE49-F238E27FC236}">
                  <a16:creationId xmlns:a16="http://schemas.microsoft.com/office/drawing/2014/main" id="{1AE5E80B-787C-B434-83A9-7DEA5BD91B95}"/>
                </a:ext>
              </a:extLst>
            </p:cNvPr>
            <p:cNvSpPr>
              <a:spLocks noChangeArrowheads="1"/>
            </p:cNvSpPr>
            <p:nvPr/>
          </p:nvSpPr>
          <p:spPr bwMode="auto">
            <a:xfrm>
              <a:off x="6694999" y="2062603"/>
              <a:ext cx="92647" cy="88988"/>
            </a:xfrm>
            <a:prstGeom prst="rect">
              <a:avLst/>
            </a:prstGeom>
            <a:solidFill>
              <a:schemeClr val="tx1">
                <a:lumMod val="50000"/>
                <a:lumOff val="50000"/>
              </a:schemeClr>
            </a:solidFill>
            <a:ln w="9525">
              <a:noFill/>
              <a:miter lim="800000"/>
              <a:headEnd/>
              <a:tailEnd/>
            </a:ln>
            <a:effectLst/>
          </p:spPr>
          <p:txBody>
            <a:bodyPr wrap="none" anchor="ctr"/>
            <a:lstStyle/>
            <a:p>
              <a:endParaRPr lang="zh-CN" altLang="en-US" sz="800"/>
            </a:p>
          </p:txBody>
        </p:sp>
        <p:sp>
          <p:nvSpPr>
            <p:cNvPr id="28" name="Rectangle 84">
              <a:extLst>
                <a:ext uri="{FF2B5EF4-FFF2-40B4-BE49-F238E27FC236}">
                  <a16:creationId xmlns:a16="http://schemas.microsoft.com/office/drawing/2014/main" id="{A220FDF6-7789-4D79-A71E-8EA3C90D3C42}"/>
                </a:ext>
              </a:extLst>
            </p:cNvPr>
            <p:cNvSpPr>
              <a:spLocks noChangeArrowheads="1"/>
            </p:cNvSpPr>
            <p:nvPr/>
          </p:nvSpPr>
          <p:spPr bwMode="auto">
            <a:xfrm>
              <a:off x="2364104" y="2062603"/>
              <a:ext cx="93899" cy="88988"/>
            </a:xfrm>
            <a:prstGeom prst="rect">
              <a:avLst/>
            </a:prstGeom>
            <a:solidFill>
              <a:schemeClr val="tx1">
                <a:lumMod val="50000"/>
                <a:lumOff val="50000"/>
              </a:schemeClr>
            </a:solidFill>
            <a:ln w="9525">
              <a:noFill/>
              <a:miter lim="800000"/>
              <a:headEnd/>
              <a:tailEnd/>
            </a:ln>
            <a:effectLst/>
          </p:spPr>
          <p:txBody>
            <a:bodyPr wrap="none" anchor="ctr"/>
            <a:lstStyle/>
            <a:p>
              <a:endParaRPr lang="zh-CN" altLang="en-US" sz="800"/>
            </a:p>
          </p:txBody>
        </p:sp>
        <p:sp>
          <p:nvSpPr>
            <p:cNvPr id="29" name="Rectangle 85">
              <a:extLst>
                <a:ext uri="{FF2B5EF4-FFF2-40B4-BE49-F238E27FC236}">
                  <a16:creationId xmlns:a16="http://schemas.microsoft.com/office/drawing/2014/main" id="{A03C6262-7710-68C0-F476-C7045BCDF7DF}"/>
                </a:ext>
              </a:extLst>
            </p:cNvPr>
            <p:cNvSpPr>
              <a:spLocks noChangeArrowheads="1"/>
            </p:cNvSpPr>
            <p:nvPr/>
          </p:nvSpPr>
          <p:spPr bwMode="auto">
            <a:xfrm>
              <a:off x="4454924" y="1952815"/>
              <a:ext cx="93899" cy="88987"/>
            </a:xfrm>
            <a:prstGeom prst="rect">
              <a:avLst/>
            </a:prstGeom>
            <a:solidFill>
              <a:schemeClr val="tx1">
                <a:lumMod val="50000"/>
                <a:lumOff val="50000"/>
              </a:schemeClr>
            </a:solidFill>
            <a:ln w="9525">
              <a:noFill/>
              <a:miter lim="800000"/>
              <a:headEnd/>
              <a:tailEnd/>
            </a:ln>
            <a:effectLst/>
          </p:spPr>
          <p:txBody>
            <a:bodyPr wrap="none" anchor="ctr"/>
            <a:lstStyle/>
            <a:p>
              <a:endParaRPr lang="zh-CN" altLang="en-US" sz="800"/>
            </a:p>
          </p:txBody>
        </p:sp>
        <p:sp>
          <p:nvSpPr>
            <p:cNvPr id="30" name="AutoShape 86">
              <a:extLst>
                <a:ext uri="{FF2B5EF4-FFF2-40B4-BE49-F238E27FC236}">
                  <a16:creationId xmlns:a16="http://schemas.microsoft.com/office/drawing/2014/main" id="{3072B122-7D66-8290-41BB-86111920E961}"/>
                </a:ext>
              </a:extLst>
            </p:cNvPr>
            <p:cNvSpPr>
              <a:spLocks noChangeArrowheads="1"/>
            </p:cNvSpPr>
            <p:nvPr/>
          </p:nvSpPr>
          <p:spPr bwMode="auto">
            <a:xfrm>
              <a:off x="6676219" y="2370015"/>
              <a:ext cx="130206" cy="123658"/>
            </a:xfrm>
            <a:prstGeom prst="star5">
              <a:avLst/>
            </a:prstGeom>
            <a:solidFill>
              <a:schemeClr val="tx1">
                <a:lumMod val="50000"/>
                <a:lumOff val="50000"/>
              </a:schemeClr>
            </a:solidFill>
            <a:ln w="9525">
              <a:noFill/>
              <a:miter lim="800000"/>
              <a:headEnd/>
              <a:tailEnd/>
            </a:ln>
            <a:effectLst/>
          </p:spPr>
          <p:txBody>
            <a:bodyPr wrap="none" anchor="ctr"/>
            <a:lstStyle/>
            <a:p>
              <a:endParaRPr lang="zh-CN" altLang="en-US" sz="800"/>
            </a:p>
          </p:txBody>
        </p:sp>
        <p:sp>
          <p:nvSpPr>
            <p:cNvPr id="31" name="AutoShape 87">
              <a:extLst>
                <a:ext uri="{FF2B5EF4-FFF2-40B4-BE49-F238E27FC236}">
                  <a16:creationId xmlns:a16="http://schemas.microsoft.com/office/drawing/2014/main" id="{786EE5D0-E6E6-E577-6909-951472B8DE17}"/>
                </a:ext>
              </a:extLst>
            </p:cNvPr>
            <p:cNvSpPr>
              <a:spLocks noChangeArrowheads="1"/>
            </p:cNvSpPr>
            <p:nvPr/>
          </p:nvSpPr>
          <p:spPr bwMode="auto">
            <a:xfrm>
              <a:off x="2345950" y="2380416"/>
              <a:ext cx="130206" cy="124814"/>
            </a:xfrm>
            <a:prstGeom prst="star5">
              <a:avLst/>
            </a:prstGeom>
            <a:solidFill>
              <a:schemeClr val="tx1">
                <a:lumMod val="50000"/>
                <a:lumOff val="50000"/>
              </a:schemeClr>
            </a:solidFill>
            <a:ln w="9525">
              <a:noFill/>
              <a:miter lim="800000"/>
              <a:headEnd/>
              <a:tailEnd/>
            </a:ln>
            <a:effectLst/>
          </p:spPr>
          <p:txBody>
            <a:bodyPr wrap="none" anchor="ctr"/>
            <a:lstStyle/>
            <a:p>
              <a:endParaRPr lang="zh-CN" altLang="en-US" sz="800"/>
            </a:p>
          </p:txBody>
        </p:sp>
      </p:grpSp>
      <p:sp>
        <p:nvSpPr>
          <p:cNvPr id="47" name="Text Box 59">
            <a:extLst>
              <a:ext uri="{FF2B5EF4-FFF2-40B4-BE49-F238E27FC236}">
                <a16:creationId xmlns:a16="http://schemas.microsoft.com/office/drawing/2014/main" id="{44208867-8EBC-5AB3-936E-2047446C9779}"/>
              </a:ext>
            </a:extLst>
          </p:cNvPr>
          <p:cNvSpPr txBox="1">
            <a:spLocks noChangeArrowheads="1"/>
          </p:cNvSpPr>
          <p:nvPr/>
        </p:nvSpPr>
        <p:spPr bwMode="auto">
          <a:xfrm>
            <a:off x="4099359" y="3609409"/>
            <a:ext cx="748923"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050" dirty="0">
                <a:solidFill>
                  <a:srgbClr val="C00000"/>
                </a:solidFill>
              </a:rPr>
              <a:t>共享信道</a:t>
            </a:r>
          </a:p>
        </p:txBody>
      </p:sp>
      <p:sp>
        <p:nvSpPr>
          <p:cNvPr id="48" name="Text Box 61">
            <a:extLst>
              <a:ext uri="{FF2B5EF4-FFF2-40B4-BE49-F238E27FC236}">
                <a16:creationId xmlns:a16="http://schemas.microsoft.com/office/drawing/2014/main" id="{DB00711C-BF6C-B12E-176A-CA2ED082943C}"/>
              </a:ext>
            </a:extLst>
          </p:cNvPr>
          <p:cNvSpPr txBox="1">
            <a:spLocks noChangeArrowheads="1"/>
          </p:cNvSpPr>
          <p:nvPr/>
        </p:nvSpPr>
        <p:spPr bwMode="auto">
          <a:xfrm>
            <a:off x="3799206" y="3916866"/>
            <a:ext cx="1173719"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050" dirty="0"/>
              <a:t>(b) </a:t>
            </a:r>
            <a:r>
              <a:rPr lang="zh-CN" altLang="en-US" sz="1050" dirty="0"/>
              <a:t>使用共享信道</a:t>
            </a:r>
          </a:p>
        </p:txBody>
      </p:sp>
      <p:grpSp>
        <p:nvGrpSpPr>
          <p:cNvPr id="6" name="组合 5">
            <a:extLst>
              <a:ext uri="{FF2B5EF4-FFF2-40B4-BE49-F238E27FC236}">
                <a16:creationId xmlns:a16="http://schemas.microsoft.com/office/drawing/2014/main" id="{C215F275-78D3-83FD-7809-139958B43534}"/>
              </a:ext>
            </a:extLst>
          </p:cNvPr>
          <p:cNvGrpSpPr>
            <a:grpSpLocks noChangeAspect="1"/>
          </p:cNvGrpSpPr>
          <p:nvPr/>
        </p:nvGrpSpPr>
        <p:grpSpPr>
          <a:xfrm>
            <a:off x="1998524" y="3093987"/>
            <a:ext cx="4320000" cy="830771"/>
            <a:chOff x="1998524" y="3093975"/>
            <a:chExt cx="5168206" cy="993886"/>
          </a:xfrm>
        </p:grpSpPr>
        <p:sp>
          <p:nvSpPr>
            <p:cNvPr id="35" name="Line 38">
              <a:extLst>
                <a:ext uri="{FF2B5EF4-FFF2-40B4-BE49-F238E27FC236}">
                  <a16:creationId xmlns:a16="http://schemas.microsoft.com/office/drawing/2014/main" id="{C6561FFA-8CD6-E627-80C0-E615A5A6D114}"/>
                </a:ext>
              </a:extLst>
            </p:cNvPr>
            <p:cNvSpPr>
              <a:spLocks noChangeShapeType="1"/>
            </p:cNvSpPr>
            <p:nvPr/>
          </p:nvSpPr>
          <p:spPr bwMode="auto">
            <a:xfrm>
              <a:off x="2287733" y="3590918"/>
              <a:ext cx="4646127" cy="0"/>
            </a:xfrm>
            <a:prstGeom prst="line">
              <a:avLst/>
            </a:prstGeom>
            <a:noFill/>
            <a:ln w="12700">
              <a:solidFill>
                <a:schemeClr val="tx1">
                  <a:lumMod val="50000"/>
                  <a:lumOff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800"/>
            </a:p>
          </p:txBody>
        </p:sp>
        <p:sp>
          <p:nvSpPr>
            <p:cNvPr id="36" name="Line 48">
              <a:extLst>
                <a:ext uri="{FF2B5EF4-FFF2-40B4-BE49-F238E27FC236}">
                  <a16:creationId xmlns:a16="http://schemas.microsoft.com/office/drawing/2014/main" id="{F4207494-9F84-422A-9447-7A0E34E6E30E}"/>
                </a:ext>
              </a:extLst>
            </p:cNvPr>
            <p:cNvSpPr>
              <a:spLocks noChangeShapeType="1"/>
            </p:cNvSpPr>
            <p:nvPr/>
          </p:nvSpPr>
          <p:spPr bwMode="auto">
            <a:xfrm>
              <a:off x="2926247" y="3590918"/>
              <a:ext cx="3427943" cy="0"/>
            </a:xfrm>
            <a:prstGeom prst="line">
              <a:avLst/>
            </a:prstGeom>
            <a:noFill/>
            <a:ln w="57150">
              <a:solidFill>
                <a:schemeClr val="accent6">
                  <a:lumMod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800"/>
            </a:p>
          </p:txBody>
        </p:sp>
        <p:sp>
          <p:nvSpPr>
            <p:cNvPr id="37" name="Line 49">
              <a:extLst>
                <a:ext uri="{FF2B5EF4-FFF2-40B4-BE49-F238E27FC236}">
                  <a16:creationId xmlns:a16="http://schemas.microsoft.com/office/drawing/2014/main" id="{AE88820C-9928-D5C4-91A0-B078876E9636}"/>
                </a:ext>
              </a:extLst>
            </p:cNvPr>
            <p:cNvSpPr>
              <a:spLocks noChangeShapeType="1"/>
            </p:cNvSpPr>
            <p:nvPr/>
          </p:nvSpPr>
          <p:spPr bwMode="auto">
            <a:xfrm>
              <a:off x="6354190" y="3646390"/>
              <a:ext cx="638514" cy="276208"/>
            </a:xfrm>
            <a:prstGeom prst="line">
              <a:avLst/>
            </a:prstGeom>
            <a:noFill/>
            <a:ln w="12700">
              <a:solidFill>
                <a:schemeClr val="tx1">
                  <a:lumMod val="50000"/>
                  <a:lumOff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800"/>
            </a:p>
          </p:txBody>
        </p:sp>
        <p:sp>
          <p:nvSpPr>
            <p:cNvPr id="38" name="Line 50">
              <a:extLst>
                <a:ext uri="{FF2B5EF4-FFF2-40B4-BE49-F238E27FC236}">
                  <a16:creationId xmlns:a16="http://schemas.microsoft.com/office/drawing/2014/main" id="{13D5E63E-AFE0-260E-A232-F8ACB0530963}"/>
                </a:ext>
              </a:extLst>
            </p:cNvPr>
            <p:cNvSpPr>
              <a:spLocks noChangeShapeType="1"/>
            </p:cNvSpPr>
            <p:nvPr/>
          </p:nvSpPr>
          <p:spPr bwMode="auto">
            <a:xfrm flipH="1">
              <a:off x="6354190" y="3259236"/>
              <a:ext cx="638514" cy="277364"/>
            </a:xfrm>
            <a:prstGeom prst="line">
              <a:avLst/>
            </a:prstGeom>
            <a:noFill/>
            <a:ln w="12700">
              <a:solidFill>
                <a:schemeClr val="tx1">
                  <a:lumMod val="50000"/>
                  <a:lumOff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800"/>
            </a:p>
          </p:txBody>
        </p:sp>
        <p:sp>
          <p:nvSpPr>
            <p:cNvPr id="39" name="Line 51">
              <a:extLst>
                <a:ext uri="{FF2B5EF4-FFF2-40B4-BE49-F238E27FC236}">
                  <a16:creationId xmlns:a16="http://schemas.microsoft.com/office/drawing/2014/main" id="{F1E5E649-C3F2-DD18-4D53-A55F75845B6E}"/>
                </a:ext>
              </a:extLst>
            </p:cNvPr>
            <p:cNvSpPr>
              <a:spLocks noChangeShapeType="1"/>
            </p:cNvSpPr>
            <p:nvPr/>
          </p:nvSpPr>
          <p:spPr bwMode="auto">
            <a:xfrm flipV="1">
              <a:off x="2228889" y="3646390"/>
              <a:ext cx="639765" cy="276208"/>
            </a:xfrm>
            <a:prstGeom prst="line">
              <a:avLst/>
            </a:prstGeom>
            <a:noFill/>
            <a:ln w="12700">
              <a:solidFill>
                <a:schemeClr val="tx1">
                  <a:lumMod val="50000"/>
                  <a:lumOff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800"/>
            </a:p>
          </p:txBody>
        </p:sp>
        <p:sp>
          <p:nvSpPr>
            <p:cNvPr id="40" name="Line 52">
              <a:extLst>
                <a:ext uri="{FF2B5EF4-FFF2-40B4-BE49-F238E27FC236}">
                  <a16:creationId xmlns:a16="http://schemas.microsoft.com/office/drawing/2014/main" id="{F2964CF5-A7B4-1771-E0A8-C57BEFD33572}"/>
                </a:ext>
              </a:extLst>
            </p:cNvPr>
            <p:cNvSpPr>
              <a:spLocks noChangeShapeType="1"/>
            </p:cNvSpPr>
            <p:nvPr/>
          </p:nvSpPr>
          <p:spPr bwMode="auto">
            <a:xfrm>
              <a:off x="2228889" y="3259236"/>
              <a:ext cx="639765" cy="277364"/>
            </a:xfrm>
            <a:prstGeom prst="line">
              <a:avLst/>
            </a:prstGeom>
            <a:noFill/>
            <a:ln w="12700">
              <a:solidFill>
                <a:schemeClr val="tx1">
                  <a:lumMod val="50000"/>
                  <a:lumOff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800"/>
            </a:p>
          </p:txBody>
        </p:sp>
        <p:sp>
          <p:nvSpPr>
            <p:cNvPr id="41" name="Oval 53">
              <a:extLst>
                <a:ext uri="{FF2B5EF4-FFF2-40B4-BE49-F238E27FC236}">
                  <a16:creationId xmlns:a16="http://schemas.microsoft.com/office/drawing/2014/main" id="{A7C259A1-FF2B-159A-FD71-B2D5E8C4836C}"/>
                </a:ext>
              </a:extLst>
            </p:cNvPr>
            <p:cNvSpPr>
              <a:spLocks noChangeArrowheads="1"/>
            </p:cNvSpPr>
            <p:nvPr/>
          </p:nvSpPr>
          <p:spPr bwMode="auto">
            <a:xfrm>
              <a:off x="1998524" y="3093975"/>
              <a:ext cx="289209" cy="275052"/>
            </a:xfrm>
            <a:prstGeom prst="ellipse">
              <a:avLst/>
            </a:prstGeom>
            <a:solidFill>
              <a:schemeClr val="bg1">
                <a:lumMod val="95000"/>
              </a:schemeClr>
            </a:solidFill>
            <a:ln w="9525">
              <a:noFill/>
              <a:round/>
              <a:headEnd/>
              <a:tailEnd/>
            </a:ln>
            <a:effectLst/>
          </p:spPr>
          <p:txBody>
            <a:bodyPr wrap="none" anchor="ctr"/>
            <a:lstStyle/>
            <a:p>
              <a:pPr algn="ctr"/>
              <a:r>
                <a:rPr lang="en-US" altLang="zh-CN" sz="800" dirty="0">
                  <a:latin typeface="Times New Roman" panose="02020603050405020304" pitchFamily="18" charset="0"/>
                  <a:cs typeface="Times New Roman" panose="02020603050405020304" pitchFamily="18" charset="0"/>
                </a:rPr>
                <a:t>A</a:t>
              </a:r>
              <a:r>
                <a:rPr lang="en-US" altLang="zh-CN" sz="800" baseline="-25000" dirty="0">
                  <a:latin typeface="Times New Roman" panose="02020603050405020304" pitchFamily="18" charset="0"/>
                  <a:cs typeface="Times New Roman" panose="02020603050405020304" pitchFamily="18" charset="0"/>
                </a:rPr>
                <a:t>1</a:t>
              </a:r>
            </a:p>
          </p:txBody>
        </p:sp>
        <p:sp>
          <p:nvSpPr>
            <p:cNvPr id="42" name="Oval 54">
              <a:extLst>
                <a:ext uri="{FF2B5EF4-FFF2-40B4-BE49-F238E27FC236}">
                  <a16:creationId xmlns:a16="http://schemas.microsoft.com/office/drawing/2014/main" id="{92A18BFD-2D75-9395-B311-BB600113411B}"/>
                </a:ext>
              </a:extLst>
            </p:cNvPr>
            <p:cNvSpPr>
              <a:spLocks noChangeArrowheads="1"/>
            </p:cNvSpPr>
            <p:nvPr/>
          </p:nvSpPr>
          <p:spPr bwMode="auto">
            <a:xfrm>
              <a:off x="6877521" y="3093975"/>
              <a:ext cx="289209" cy="275052"/>
            </a:xfrm>
            <a:prstGeom prst="ellipse">
              <a:avLst/>
            </a:prstGeom>
            <a:solidFill>
              <a:schemeClr val="bg1">
                <a:lumMod val="95000"/>
              </a:schemeClr>
            </a:solidFill>
            <a:ln w="9525">
              <a:noFill/>
              <a:round/>
              <a:headEnd/>
              <a:tailEnd/>
            </a:ln>
            <a:effectLst/>
          </p:spPr>
          <p:txBody>
            <a:bodyPr wrap="none" anchor="ctr"/>
            <a:lstStyle/>
            <a:p>
              <a:pPr algn="ctr"/>
              <a:r>
                <a:rPr lang="en-US" altLang="zh-CN" sz="800" dirty="0">
                  <a:latin typeface="Times New Roman" panose="02020603050405020304" pitchFamily="18" charset="0"/>
                  <a:cs typeface="Times New Roman" panose="02020603050405020304" pitchFamily="18" charset="0"/>
                </a:rPr>
                <a:t>A</a:t>
              </a:r>
              <a:r>
                <a:rPr lang="en-US" altLang="zh-CN" sz="800" baseline="-25000" dirty="0">
                  <a:latin typeface="Times New Roman" panose="02020603050405020304" pitchFamily="18" charset="0"/>
                  <a:cs typeface="Times New Roman" panose="02020603050405020304" pitchFamily="18" charset="0"/>
                </a:rPr>
                <a:t>2</a:t>
              </a:r>
            </a:p>
          </p:txBody>
        </p:sp>
        <p:sp>
          <p:nvSpPr>
            <p:cNvPr id="43" name="Oval 55">
              <a:extLst>
                <a:ext uri="{FF2B5EF4-FFF2-40B4-BE49-F238E27FC236}">
                  <a16:creationId xmlns:a16="http://schemas.microsoft.com/office/drawing/2014/main" id="{A0F0B2E7-8517-9DBE-D802-BDAA2F10C27A}"/>
                </a:ext>
              </a:extLst>
            </p:cNvPr>
            <p:cNvSpPr>
              <a:spLocks noChangeArrowheads="1"/>
            </p:cNvSpPr>
            <p:nvPr/>
          </p:nvSpPr>
          <p:spPr bwMode="auto">
            <a:xfrm>
              <a:off x="1998524" y="3445302"/>
              <a:ext cx="289209" cy="275052"/>
            </a:xfrm>
            <a:prstGeom prst="ellipse">
              <a:avLst/>
            </a:prstGeom>
            <a:solidFill>
              <a:schemeClr val="bg1">
                <a:lumMod val="95000"/>
              </a:schemeClr>
            </a:solidFill>
            <a:ln w="9525">
              <a:noFill/>
              <a:round/>
              <a:headEnd/>
              <a:tailEnd/>
            </a:ln>
            <a:effectLst/>
          </p:spPr>
          <p:txBody>
            <a:bodyPr wrap="none" anchor="ctr"/>
            <a:lstStyle/>
            <a:p>
              <a:pPr algn="ctr"/>
              <a:r>
                <a:rPr lang="en-US" altLang="zh-CN" sz="800" dirty="0">
                  <a:latin typeface="Times New Roman" panose="02020603050405020304" pitchFamily="18" charset="0"/>
                  <a:cs typeface="Times New Roman" panose="02020603050405020304" pitchFamily="18" charset="0"/>
                </a:rPr>
                <a:t>B</a:t>
              </a:r>
              <a:r>
                <a:rPr lang="en-US" altLang="zh-CN" sz="800" baseline="-25000" dirty="0">
                  <a:latin typeface="Times New Roman" panose="02020603050405020304" pitchFamily="18" charset="0"/>
                  <a:cs typeface="Times New Roman" panose="02020603050405020304" pitchFamily="18" charset="0"/>
                </a:rPr>
                <a:t>1</a:t>
              </a:r>
            </a:p>
          </p:txBody>
        </p:sp>
        <p:sp>
          <p:nvSpPr>
            <p:cNvPr id="44" name="Oval 56">
              <a:extLst>
                <a:ext uri="{FF2B5EF4-FFF2-40B4-BE49-F238E27FC236}">
                  <a16:creationId xmlns:a16="http://schemas.microsoft.com/office/drawing/2014/main" id="{334D09B5-E51C-6917-E613-0EF8C2C3CC12}"/>
                </a:ext>
              </a:extLst>
            </p:cNvPr>
            <p:cNvSpPr>
              <a:spLocks noChangeArrowheads="1"/>
            </p:cNvSpPr>
            <p:nvPr/>
          </p:nvSpPr>
          <p:spPr bwMode="auto">
            <a:xfrm>
              <a:off x="6877521" y="3445302"/>
              <a:ext cx="289209" cy="275052"/>
            </a:xfrm>
            <a:prstGeom prst="ellipse">
              <a:avLst/>
            </a:prstGeom>
            <a:solidFill>
              <a:schemeClr val="bg1">
                <a:lumMod val="95000"/>
              </a:schemeClr>
            </a:solidFill>
            <a:ln w="9525">
              <a:noFill/>
              <a:round/>
              <a:headEnd/>
              <a:tailEnd/>
            </a:ln>
            <a:effectLst/>
          </p:spPr>
          <p:txBody>
            <a:bodyPr wrap="none" anchor="ctr"/>
            <a:lstStyle/>
            <a:p>
              <a:pPr algn="ctr"/>
              <a:r>
                <a:rPr lang="en-US" altLang="zh-CN" sz="800">
                  <a:latin typeface="Times New Roman" panose="02020603050405020304" pitchFamily="18" charset="0"/>
                  <a:cs typeface="Times New Roman" panose="02020603050405020304" pitchFamily="18" charset="0"/>
                </a:rPr>
                <a:t>B</a:t>
              </a:r>
              <a:r>
                <a:rPr lang="en-US" altLang="zh-CN" sz="800" baseline="-25000">
                  <a:latin typeface="Times New Roman" panose="02020603050405020304" pitchFamily="18" charset="0"/>
                  <a:cs typeface="Times New Roman" panose="02020603050405020304" pitchFamily="18" charset="0"/>
                </a:rPr>
                <a:t>2</a:t>
              </a:r>
            </a:p>
          </p:txBody>
        </p:sp>
        <p:sp>
          <p:nvSpPr>
            <p:cNvPr id="45" name="Oval 57">
              <a:extLst>
                <a:ext uri="{FF2B5EF4-FFF2-40B4-BE49-F238E27FC236}">
                  <a16:creationId xmlns:a16="http://schemas.microsoft.com/office/drawing/2014/main" id="{083D80D2-8C76-7AE1-FE37-A12047952C8D}"/>
                </a:ext>
              </a:extLst>
            </p:cNvPr>
            <p:cNvSpPr>
              <a:spLocks noChangeArrowheads="1"/>
            </p:cNvSpPr>
            <p:nvPr/>
          </p:nvSpPr>
          <p:spPr bwMode="auto">
            <a:xfrm>
              <a:off x="1998524" y="3812809"/>
              <a:ext cx="289209" cy="275052"/>
            </a:xfrm>
            <a:prstGeom prst="ellipse">
              <a:avLst/>
            </a:prstGeom>
            <a:solidFill>
              <a:schemeClr val="bg1">
                <a:lumMod val="95000"/>
              </a:schemeClr>
            </a:solidFill>
            <a:ln w="9525">
              <a:noFill/>
              <a:round/>
              <a:headEnd/>
              <a:tailEnd/>
            </a:ln>
            <a:effectLst/>
          </p:spPr>
          <p:txBody>
            <a:bodyPr wrap="none" anchor="ctr"/>
            <a:lstStyle/>
            <a:p>
              <a:pPr algn="ctr"/>
              <a:r>
                <a:rPr lang="en-US" altLang="zh-CN" sz="800" dirty="0">
                  <a:latin typeface="Times New Roman" panose="02020603050405020304" pitchFamily="18" charset="0"/>
                  <a:cs typeface="Times New Roman" panose="02020603050405020304" pitchFamily="18" charset="0"/>
                </a:rPr>
                <a:t>C</a:t>
              </a:r>
              <a:r>
                <a:rPr lang="en-US" altLang="zh-CN" sz="800" baseline="-25000" dirty="0">
                  <a:latin typeface="Times New Roman" panose="02020603050405020304" pitchFamily="18" charset="0"/>
                  <a:cs typeface="Times New Roman" panose="02020603050405020304" pitchFamily="18" charset="0"/>
                </a:rPr>
                <a:t>1</a:t>
              </a:r>
            </a:p>
          </p:txBody>
        </p:sp>
        <p:sp>
          <p:nvSpPr>
            <p:cNvPr id="46" name="Oval 58">
              <a:extLst>
                <a:ext uri="{FF2B5EF4-FFF2-40B4-BE49-F238E27FC236}">
                  <a16:creationId xmlns:a16="http://schemas.microsoft.com/office/drawing/2014/main" id="{19C07624-7F2A-07D5-0647-425278CDA3B5}"/>
                </a:ext>
              </a:extLst>
            </p:cNvPr>
            <p:cNvSpPr>
              <a:spLocks noChangeArrowheads="1"/>
            </p:cNvSpPr>
            <p:nvPr/>
          </p:nvSpPr>
          <p:spPr bwMode="auto">
            <a:xfrm>
              <a:off x="6877521" y="3812809"/>
              <a:ext cx="289209" cy="275052"/>
            </a:xfrm>
            <a:prstGeom prst="ellipse">
              <a:avLst/>
            </a:prstGeom>
            <a:solidFill>
              <a:schemeClr val="bg1">
                <a:lumMod val="95000"/>
              </a:schemeClr>
            </a:solidFill>
            <a:ln w="9525">
              <a:noFill/>
              <a:round/>
              <a:headEnd/>
              <a:tailEnd/>
            </a:ln>
            <a:effectLst/>
          </p:spPr>
          <p:txBody>
            <a:bodyPr wrap="none" anchor="ctr"/>
            <a:lstStyle/>
            <a:p>
              <a:pPr algn="ctr"/>
              <a:r>
                <a:rPr lang="en-US" altLang="zh-CN" sz="800">
                  <a:latin typeface="Times New Roman" panose="02020603050405020304" pitchFamily="18" charset="0"/>
                  <a:cs typeface="Times New Roman" panose="02020603050405020304" pitchFamily="18" charset="0"/>
                </a:rPr>
                <a:t>C</a:t>
              </a:r>
              <a:r>
                <a:rPr lang="en-US" altLang="zh-CN" sz="800" baseline="-25000">
                  <a:latin typeface="Times New Roman" panose="02020603050405020304" pitchFamily="18" charset="0"/>
                  <a:cs typeface="Times New Roman" panose="02020603050405020304" pitchFamily="18" charset="0"/>
                </a:rPr>
                <a:t>2</a:t>
              </a:r>
            </a:p>
          </p:txBody>
        </p:sp>
        <p:sp>
          <p:nvSpPr>
            <p:cNvPr id="49" name="Oval 62">
              <a:extLst>
                <a:ext uri="{FF2B5EF4-FFF2-40B4-BE49-F238E27FC236}">
                  <a16:creationId xmlns:a16="http://schemas.microsoft.com/office/drawing/2014/main" id="{33EF305D-4DF2-CD89-398E-E3847E216E6C}"/>
                </a:ext>
              </a:extLst>
            </p:cNvPr>
            <p:cNvSpPr>
              <a:spLocks noChangeArrowheads="1"/>
            </p:cNvSpPr>
            <p:nvPr/>
          </p:nvSpPr>
          <p:spPr bwMode="auto">
            <a:xfrm>
              <a:off x="2718416" y="3382518"/>
              <a:ext cx="387615" cy="387615"/>
            </a:xfrm>
            <a:prstGeom prst="ellipse">
              <a:avLst/>
            </a:prstGeom>
            <a:solidFill>
              <a:schemeClr val="accent6">
                <a:lumMod val="50000"/>
              </a:schemeClr>
            </a:solidFill>
            <a:ln w="9525">
              <a:noFill/>
              <a:round/>
              <a:headEnd/>
              <a:tailEnd/>
            </a:ln>
            <a:effectLst/>
          </p:spPr>
          <p:txBody>
            <a:bodyPr wrap="none" anchor="ctr"/>
            <a:lstStyle/>
            <a:p>
              <a:pPr algn="ctr"/>
              <a:r>
                <a:rPr lang="zh-CN" altLang="en-US" sz="800" dirty="0">
                  <a:solidFill>
                    <a:schemeClr val="bg1"/>
                  </a:solidFill>
                  <a:latin typeface="Times New Roman" panose="02020603050405020304" pitchFamily="18" charset="0"/>
                  <a:cs typeface="Times New Roman" panose="02020603050405020304" pitchFamily="18" charset="0"/>
                </a:rPr>
                <a:t>复用</a:t>
              </a:r>
            </a:p>
          </p:txBody>
        </p:sp>
        <p:sp>
          <p:nvSpPr>
            <p:cNvPr id="50" name="Oval 63">
              <a:extLst>
                <a:ext uri="{FF2B5EF4-FFF2-40B4-BE49-F238E27FC236}">
                  <a16:creationId xmlns:a16="http://schemas.microsoft.com/office/drawing/2014/main" id="{FDFC4FB9-6F78-17C3-0EF1-666F307983BE}"/>
                </a:ext>
              </a:extLst>
            </p:cNvPr>
            <p:cNvSpPr>
              <a:spLocks noChangeArrowheads="1"/>
            </p:cNvSpPr>
            <p:nvPr/>
          </p:nvSpPr>
          <p:spPr bwMode="auto">
            <a:xfrm>
              <a:off x="6078752" y="3392919"/>
              <a:ext cx="387615" cy="387615"/>
            </a:xfrm>
            <a:prstGeom prst="ellipse">
              <a:avLst/>
            </a:prstGeom>
            <a:solidFill>
              <a:schemeClr val="accent6">
                <a:lumMod val="50000"/>
              </a:schemeClr>
            </a:solidFill>
            <a:ln w="9525">
              <a:noFill/>
              <a:round/>
              <a:headEnd/>
              <a:tailEnd/>
            </a:ln>
            <a:effectLst/>
          </p:spPr>
          <p:txBody>
            <a:bodyPr wrap="none" anchor="ctr"/>
            <a:lstStyle/>
            <a:p>
              <a:pPr algn="ctr"/>
              <a:r>
                <a:rPr lang="zh-CN" altLang="en-US" sz="800" dirty="0">
                  <a:solidFill>
                    <a:schemeClr val="bg1"/>
                  </a:solidFill>
                  <a:latin typeface="Times New Roman" panose="02020603050405020304" pitchFamily="18" charset="0"/>
                  <a:cs typeface="Times New Roman" panose="02020603050405020304" pitchFamily="18" charset="0"/>
                </a:rPr>
                <a:t>分用</a:t>
              </a:r>
            </a:p>
          </p:txBody>
        </p:sp>
        <p:sp>
          <p:nvSpPr>
            <p:cNvPr id="51" name="Line 67">
              <a:extLst>
                <a:ext uri="{FF2B5EF4-FFF2-40B4-BE49-F238E27FC236}">
                  <a16:creationId xmlns:a16="http://schemas.microsoft.com/office/drawing/2014/main" id="{46B7106F-9301-DD07-E361-91B0815D64E0}"/>
                </a:ext>
              </a:extLst>
            </p:cNvPr>
            <p:cNvSpPr>
              <a:spLocks noChangeShapeType="1"/>
            </p:cNvSpPr>
            <p:nvPr/>
          </p:nvSpPr>
          <p:spPr bwMode="auto">
            <a:xfrm>
              <a:off x="3624856" y="3498463"/>
              <a:ext cx="1740263" cy="0"/>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800"/>
            </a:p>
          </p:txBody>
        </p:sp>
        <p:sp>
          <p:nvSpPr>
            <p:cNvPr id="52" name="Line 68">
              <a:extLst>
                <a:ext uri="{FF2B5EF4-FFF2-40B4-BE49-F238E27FC236}">
                  <a16:creationId xmlns:a16="http://schemas.microsoft.com/office/drawing/2014/main" id="{7CC1DE9D-DFB1-104C-0A7C-644F0EF57378}"/>
                </a:ext>
              </a:extLst>
            </p:cNvPr>
            <p:cNvSpPr>
              <a:spLocks noChangeShapeType="1"/>
            </p:cNvSpPr>
            <p:nvPr/>
          </p:nvSpPr>
          <p:spPr bwMode="auto">
            <a:xfrm>
              <a:off x="2339064" y="3558559"/>
              <a:ext cx="290461"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800"/>
            </a:p>
          </p:txBody>
        </p:sp>
        <p:sp>
          <p:nvSpPr>
            <p:cNvPr id="53" name="Line 69">
              <a:extLst>
                <a:ext uri="{FF2B5EF4-FFF2-40B4-BE49-F238E27FC236}">
                  <a16:creationId xmlns:a16="http://schemas.microsoft.com/office/drawing/2014/main" id="{CF0D4019-228D-8BCE-0A3B-5B68D31B2868}"/>
                </a:ext>
              </a:extLst>
            </p:cNvPr>
            <p:cNvSpPr>
              <a:spLocks noChangeShapeType="1"/>
            </p:cNvSpPr>
            <p:nvPr/>
          </p:nvSpPr>
          <p:spPr bwMode="auto">
            <a:xfrm>
              <a:off x="6585807" y="3536600"/>
              <a:ext cx="290461"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800"/>
            </a:p>
          </p:txBody>
        </p:sp>
        <p:sp>
          <p:nvSpPr>
            <p:cNvPr id="54" name="Line 70">
              <a:extLst>
                <a:ext uri="{FF2B5EF4-FFF2-40B4-BE49-F238E27FC236}">
                  <a16:creationId xmlns:a16="http://schemas.microsoft.com/office/drawing/2014/main" id="{306D749A-2500-583A-52BF-153E9CB03FD9}"/>
                </a:ext>
              </a:extLst>
            </p:cNvPr>
            <p:cNvSpPr>
              <a:spLocks noChangeShapeType="1"/>
            </p:cNvSpPr>
            <p:nvPr/>
          </p:nvSpPr>
          <p:spPr bwMode="auto">
            <a:xfrm rot="1484370">
              <a:off x="2389144" y="3336668"/>
              <a:ext cx="290461"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800"/>
            </a:p>
          </p:txBody>
        </p:sp>
        <p:sp>
          <p:nvSpPr>
            <p:cNvPr id="55" name="Line 71">
              <a:extLst>
                <a:ext uri="{FF2B5EF4-FFF2-40B4-BE49-F238E27FC236}">
                  <a16:creationId xmlns:a16="http://schemas.microsoft.com/office/drawing/2014/main" id="{981A3B97-3AB3-CA56-F341-D2C973E901B6}"/>
                </a:ext>
              </a:extLst>
            </p:cNvPr>
            <p:cNvSpPr>
              <a:spLocks noChangeShapeType="1"/>
            </p:cNvSpPr>
            <p:nvPr/>
          </p:nvSpPr>
          <p:spPr bwMode="auto">
            <a:xfrm rot="1484370">
              <a:off x="6628375" y="3786228"/>
              <a:ext cx="290461"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800"/>
            </a:p>
          </p:txBody>
        </p:sp>
        <p:sp>
          <p:nvSpPr>
            <p:cNvPr id="56" name="Line 72">
              <a:extLst>
                <a:ext uri="{FF2B5EF4-FFF2-40B4-BE49-F238E27FC236}">
                  <a16:creationId xmlns:a16="http://schemas.microsoft.com/office/drawing/2014/main" id="{04CFDE1D-D1D8-0DF7-70C7-6CB42D11CED7}"/>
                </a:ext>
              </a:extLst>
            </p:cNvPr>
            <p:cNvSpPr>
              <a:spLocks noChangeShapeType="1"/>
            </p:cNvSpPr>
            <p:nvPr/>
          </p:nvSpPr>
          <p:spPr bwMode="auto">
            <a:xfrm rot="19951492">
              <a:off x="2347828" y="3761959"/>
              <a:ext cx="290461" cy="1155"/>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800"/>
            </a:p>
          </p:txBody>
        </p:sp>
        <p:sp>
          <p:nvSpPr>
            <p:cNvPr id="57" name="Line 73">
              <a:extLst>
                <a:ext uri="{FF2B5EF4-FFF2-40B4-BE49-F238E27FC236}">
                  <a16:creationId xmlns:a16="http://schemas.microsoft.com/office/drawing/2014/main" id="{C92F6116-1494-B417-4B1E-0F25375DCAD8}"/>
                </a:ext>
              </a:extLst>
            </p:cNvPr>
            <p:cNvSpPr>
              <a:spLocks noChangeShapeType="1"/>
            </p:cNvSpPr>
            <p:nvPr/>
          </p:nvSpPr>
          <p:spPr bwMode="auto">
            <a:xfrm rot="20100000">
              <a:off x="6595289" y="3337163"/>
              <a:ext cx="290462" cy="1154"/>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800"/>
            </a:p>
          </p:txBody>
        </p:sp>
        <p:sp>
          <p:nvSpPr>
            <p:cNvPr id="58" name="Oval 74">
              <a:extLst>
                <a:ext uri="{FF2B5EF4-FFF2-40B4-BE49-F238E27FC236}">
                  <a16:creationId xmlns:a16="http://schemas.microsoft.com/office/drawing/2014/main" id="{C99205BB-CD15-9B5B-616C-F52743BBA5A6}"/>
                </a:ext>
              </a:extLst>
            </p:cNvPr>
            <p:cNvSpPr>
              <a:spLocks noChangeArrowheads="1"/>
            </p:cNvSpPr>
            <p:nvPr/>
          </p:nvSpPr>
          <p:spPr bwMode="auto">
            <a:xfrm>
              <a:off x="2352836" y="3146396"/>
              <a:ext cx="116435" cy="110946"/>
            </a:xfrm>
            <a:prstGeom prst="ellipse">
              <a:avLst/>
            </a:prstGeom>
            <a:solidFill>
              <a:schemeClr val="tx1">
                <a:lumMod val="50000"/>
                <a:lumOff val="50000"/>
              </a:schemeClr>
            </a:solidFill>
            <a:ln w="9525">
              <a:noFill/>
              <a:round/>
              <a:headEnd/>
              <a:tailEnd/>
            </a:ln>
            <a:effectLst/>
          </p:spPr>
          <p:txBody>
            <a:bodyPr wrap="none" anchor="ctr"/>
            <a:lstStyle/>
            <a:p>
              <a:endParaRPr lang="zh-CN" altLang="en-US" sz="800"/>
            </a:p>
          </p:txBody>
        </p:sp>
        <p:sp>
          <p:nvSpPr>
            <p:cNvPr id="59" name="Oval 75">
              <a:extLst>
                <a:ext uri="{FF2B5EF4-FFF2-40B4-BE49-F238E27FC236}">
                  <a16:creationId xmlns:a16="http://schemas.microsoft.com/office/drawing/2014/main" id="{335E76CF-B666-1589-914F-372F60EA7D57}"/>
                </a:ext>
              </a:extLst>
            </p:cNvPr>
            <p:cNvSpPr>
              <a:spLocks noChangeArrowheads="1"/>
            </p:cNvSpPr>
            <p:nvPr/>
          </p:nvSpPr>
          <p:spPr bwMode="auto">
            <a:xfrm>
              <a:off x="6683105" y="3198817"/>
              <a:ext cx="116435" cy="109789"/>
            </a:xfrm>
            <a:prstGeom prst="ellipse">
              <a:avLst/>
            </a:prstGeom>
            <a:solidFill>
              <a:schemeClr val="tx1">
                <a:lumMod val="50000"/>
                <a:lumOff val="50000"/>
              </a:schemeClr>
            </a:solidFill>
            <a:ln w="9525">
              <a:noFill/>
              <a:round/>
              <a:headEnd/>
              <a:tailEnd/>
            </a:ln>
            <a:effectLst/>
          </p:spPr>
          <p:txBody>
            <a:bodyPr wrap="none" anchor="ctr"/>
            <a:lstStyle/>
            <a:p>
              <a:endParaRPr lang="zh-CN" altLang="en-US" sz="800"/>
            </a:p>
          </p:txBody>
        </p:sp>
        <p:sp>
          <p:nvSpPr>
            <p:cNvPr id="60" name="Rectangle 76">
              <a:extLst>
                <a:ext uri="{FF2B5EF4-FFF2-40B4-BE49-F238E27FC236}">
                  <a16:creationId xmlns:a16="http://schemas.microsoft.com/office/drawing/2014/main" id="{7245BC04-7563-15F9-46B0-8CC7F853E86D}"/>
                </a:ext>
              </a:extLst>
            </p:cNvPr>
            <p:cNvSpPr>
              <a:spLocks noChangeArrowheads="1"/>
            </p:cNvSpPr>
            <p:nvPr/>
          </p:nvSpPr>
          <p:spPr bwMode="auto">
            <a:xfrm>
              <a:off x="2364104" y="3437212"/>
              <a:ext cx="93900" cy="88988"/>
            </a:xfrm>
            <a:prstGeom prst="rect">
              <a:avLst/>
            </a:prstGeom>
            <a:solidFill>
              <a:schemeClr val="tx1">
                <a:lumMod val="50000"/>
                <a:lumOff val="50000"/>
              </a:schemeClr>
            </a:solidFill>
            <a:ln w="9525">
              <a:noFill/>
              <a:miter lim="800000"/>
              <a:headEnd/>
              <a:tailEnd/>
            </a:ln>
            <a:effectLst/>
          </p:spPr>
          <p:txBody>
            <a:bodyPr wrap="none" anchor="ctr"/>
            <a:lstStyle/>
            <a:p>
              <a:endParaRPr lang="zh-CN" altLang="en-US" sz="800"/>
            </a:p>
          </p:txBody>
        </p:sp>
        <p:sp>
          <p:nvSpPr>
            <p:cNvPr id="61" name="Rectangle 77">
              <a:extLst>
                <a:ext uri="{FF2B5EF4-FFF2-40B4-BE49-F238E27FC236}">
                  <a16:creationId xmlns:a16="http://schemas.microsoft.com/office/drawing/2014/main" id="{D2262ACD-FD3C-CEF7-6085-07632C1D51B2}"/>
                </a:ext>
              </a:extLst>
            </p:cNvPr>
            <p:cNvSpPr>
              <a:spLocks noChangeArrowheads="1"/>
            </p:cNvSpPr>
            <p:nvPr/>
          </p:nvSpPr>
          <p:spPr bwMode="auto">
            <a:xfrm>
              <a:off x="6694373" y="3427966"/>
              <a:ext cx="93899" cy="88988"/>
            </a:xfrm>
            <a:prstGeom prst="rect">
              <a:avLst/>
            </a:prstGeom>
            <a:solidFill>
              <a:schemeClr val="tx1">
                <a:lumMod val="50000"/>
                <a:lumOff val="50000"/>
              </a:schemeClr>
            </a:solidFill>
            <a:ln w="9525">
              <a:noFill/>
              <a:miter lim="800000"/>
              <a:headEnd/>
              <a:tailEnd/>
            </a:ln>
            <a:effectLst/>
          </p:spPr>
          <p:txBody>
            <a:bodyPr wrap="none" anchor="ctr"/>
            <a:lstStyle/>
            <a:p>
              <a:endParaRPr lang="zh-CN" altLang="en-US" sz="800"/>
            </a:p>
          </p:txBody>
        </p:sp>
        <p:sp>
          <p:nvSpPr>
            <p:cNvPr id="62" name="AutoShape 79">
              <a:extLst>
                <a:ext uri="{FF2B5EF4-FFF2-40B4-BE49-F238E27FC236}">
                  <a16:creationId xmlns:a16="http://schemas.microsoft.com/office/drawing/2014/main" id="{ABAB18E7-8053-CC31-FA75-A6DB06A30DA8}"/>
                </a:ext>
              </a:extLst>
            </p:cNvPr>
            <p:cNvSpPr>
              <a:spLocks noChangeArrowheads="1"/>
            </p:cNvSpPr>
            <p:nvPr/>
          </p:nvSpPr>
          <p:spPr bwMode="auto">
            <a:xfrm>
              <a:off x="6676219" y="3633678"/>
              <a:ext cx="130206" cy="124814"/>
            </a:xfrm>
            <a:prstGeom prst="star5">
              <a:avLst/>
            </a:prstGeom>
            <a:solidFill>
              <a:schemeClr val="tx1">
                <a:lumMod val="50000"/>
                <a:lumOff val="50000"/>
              </a:schemeClr>
            </a:solid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a:p>
          </p:txBody>
        </p:sp>
        <p:sp>
          <p:nvSpPr>
            <p:cNvPr id="63" name="AutoShape 88">
              <a:extLst>
                <a:ext uri="{FF2B5EF4-FFF2-40B4-BE49-F238E27FC236}">
                  <a16:creationId xmlns:a16="http://schemas.microsoft.com/office/drawing/2014/main" id="{5D72DAC5-92E7-F5BE-D749-2CAD9CAEBF75}"/>
                </a:ext>
              </a:extLst>
            </p:cNvPr>
            <p:cNvSpPr>
              <a:spLocks noChangeArrowheads="1"/>
            </p:cNvSpPr>
            <p:nvPr/>
          </p:nvSpPr>
          <p:spPr bwMode="auto">
            <a:xfrm>
              <a:off x="2345324" y="3645235"/>
              <a:ext cx="131459" cy="123658"/>
            </a:xfrm>
            <a:prstGeom prst="star5">
              <a:avLst/>
            </a:prstGeom>
            <a:solidFill>
              <a:schemeClr val="tx1">
                <a:lumMod val="50000"/>
                <a:lumOff val="50000"/>
              </a:schemeClr>
            </a:solidFill>
            <a:ln w="9525">
              <a:noFill/>
              <a:miter lim="800000"/>
              <a:headEnd/>
              <a:tailEnd/>
            </a:ln>
            <a:effectLst/>
          </p:spPr>
          <p:txBody>
            <a:bodyPr wrap="none" anchor="ctr"/>
            <a:lstStyle/>
            <a:p>
              <a:endParaRPr lang="zh-CN" altLang="en-US" sz="800"/>
            </a:p>
          </p:txBody>
        </p:sp>
        <p:sp>
          <p:nvSpPr>
            <p:cNvPr id="64" name="Oval 89">
              <a:extLst>
                <a:ext uri="{FF2B5EF4-FFF2-40B4-BE49-F238E27FC236}">
                  <a16:creationId xmlns:a16="http://schemas.microsoft.com/office/drawing/2014/main" id="{BF9F4922-1630-2688-41FA-9239E7E60A35}"/>
                </a:ext>
              </a:extLst>
            </p:cNvPr>
            <p:cNvSpPr>
              <a:spLocks noChangeArrowheads="1"/>
            </p:cNvSpPr>
            <p:nvPr/>
          </p:nvSpPr>
          <p:spPr bwMode="auto">
            <a:xfrm>
              <a:off x="4172252" y="3332045"/>
              <a:ext cx="116434" cy="110946"/>
            </a:xfrm>
            <a:prstGeom prst="ellipse">
              <a:avLst/>
            </a:prstGeom>
            <a:solidFill>
              <a:schemeClr val="tx1">
                <a:lumMod val="50000"/>
                <a:lumOff val="50000"/>
              </a:schemeClr>
            </a:solidFill>
            <a:ln w="9525">
              <a:noFill/>
              <a:round/>
              <a:headEnd/>
              <a:tailEnd/>
            </a:ln>
            <a:effectLst/>
          </p:spPr>
          <p:txBody>
            <a:bodyPr wrap="none" anchor="ctr"/>
            <a:lstStyle/>
            <a:p>
              <a:endParaRPr lang="zh-CN" altLang="en-US" sz="800"/>
            </a:p>
          </p:txBody>
        </p:sp>
        <p:sp>
          <p:nvSpPr>
            <p:cNvPr id="65" name="Rectangle 90">
              <a:extLst>
                <a:ext uri="{FF2B5EF4-FFF2-40B4-BE49-F238E27FC236}">
                  <a16:creationId xmlns:a16="http://schemas.microsoft.com/office/drawing/2014/main" id="{4925D31D-D154-C064-D899-9325C485A183}"/>
                </a:ext>
              </a:extLst>
            </p:cNvPr>
            <p:cNvSpPr>
              <a:spLocks noChangeArrowheads="1"/>
            </p:cNvSpPr>
            <p:nvPr/>
          </p:nvSpPr>
          <p:spPr bwMode="auto">
            <a:xfrm>
              <a:off x="4462713" y="3342446"/>
              <a:ext cx="93899" cy="88988"/>
            </a:xfrm>
            <a:prstGeom prst="rect">
              <a:avLst/>
            </a:prstGeom>
            <a:solidFill>
              <a:schemeClr val="tx1">
                <a:lumMod val="50000"/>
                <a:lumOff val="50000"/>
              </a:schemeClr>
            </a:solidFill>
            <a:ln w="9525">
              <a:noFill/>
              <a:miter lim="800000"/>
              <a:headEnd/>
              <a:tailEnd/>
            </a:ln>
            <a:effectLst/>
          </p:spPr>
          <p:txBody>
            <a:bodyPr wrap="none" anchor="ctr"/>
            <a:lstStyle/>
            <a:p>
              <a:endParaRPr lang="zh-CN" altLang="en-US" sz="800"/>
            </a:p>
          </p:txBody>
        </p:sp>
        <p:sp>
          <p:nvSpPr>
            <p:cNvPr id="66" name="AutoShape 91">
              <a:extLst>
                <a:ext uri="{FF2B5EF4-FFF2-40B4-BE49-F238E27FC236}">
                  <a16:creationId xmlns:a16="http://schemas.microsoft.com/office/drawing/2014/main" id="{6CB888D7-3020-D619-3E02-EA8758B2B613}"/>
                </a:ext>
              </a:extLst>
            </p:cNvPr>
            <p:cNvSpPr>
              <a:spLocks noChangeArrowheads="1"/>
            </p:cNvSpPr>
            <p:nvPr/>
          </p:nvSpPr>
          <p:spPr bwMode="auto">
            <a:xfrm>
              <a:off x="4738150" y="3323955"/>
              <a:ext cx="130206" cy="124814"/>
            </a:xfrm>
            <a:prstGeom prst="star5">
              <a:avLst/>
            </a:prstGeom>
            <a:solidFill>
              <a:schemeClr val="tx1">
                <a:lumMod val="50000"/>
                <a:lumOff val="50000"/>
              </a:schemeClr>
            </a:solidFill>
            <a:ln w="9525">
              <a:noFill/>
              <a:miter lim="800000"/>
              <a:headEnd/>
              <a:tailEnd/>
            </a:ln>
            <a:effectLst/>
          </p:spPr>
          <p:txBody>
            <a:bodyPr wrap="none" anchor="ctr"/>
            <a:lstStyle/>
            <a:p>
              <a:endParaRPr lang="zh-CN" altLang="en-US" sz="800"/>
            </a:p>
          </p:txBody>
        </p:sp>
      </p:grpSp>
    </p:spTree>
    <p:extLst>
      <p:ext uri="{BB962C8B-B14F-4D97-AF65-F5344CB8AC3E}">
        <p14:creationId xmlns:p14="http://schemas.microsoft.com/office/powerpoint/2010/main" val="416392629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0"/>
          </p:nvPr>
        </p:nvSpPr>
        <p:spPr>
          <a:xfrm>
            <a:off x="466343" y="900000"/>
            <a:ext cx="8129017" cy="3376990"/>
          </a:xfrm>
        </p:spPr>
        <p:txBody>
          <a:bodyPr/>
          <a:lstStyle/>
          <a:p>
            <a:r>
              <a:rPr lang="zh-CN" altLang="en-US" dirty="0"/>
              <a:t>最基本。</a:t>
            </a:r>
            <a:endParaRPr lang="en-US" altLang="zh-CN" dirty="0"/>
          </a:p>
          <a:p>
            <a:r>
              <a:rPr lang="zh-CN" altLang="en-US" dirty="0"/>
              <a:t>将整个带宽分为多份，用户在分配到一定的频带后，在通信过程中自始至终都占用这个频带。</a:t>
            </a:r>
          </a:p>
          <a:p>
            <a:r>
              <a:rPr lang="zh-CN" altLang="en-US" dirty="0"/>
              <a:t>所有用户在同样的时间占用不同的带宽（即频带）资源。</a:t>
            </a:r>
          </a:p>
          <a:p>
            <a:endParaRPr lang="zh-CN" altLang="en-US" dirty="0"/>
          </a:p>
        </p:txBody>
      </p:sp>
      <p:sp>
        <p:nvSpPr>
          <p:cNvPr id="5" name="文本占位符 4"/>
          <p:cNvSpPr>
            <a:spLocks noGrp="1"/>
          </p:cNvSpPr>
          <p:nvPr>
            <p:ph type="body" sz="quarter" idx="11"/>
          </p:nvPr>
        </p:nvSpPr>
        <p:spPr>
          <a:xfrm>
            <a:off x="1332000" y="360000"/>
            <a:ext cx="6480000" cy="354012"/>
          </a:xfrm>
        </p:spPr>
        <p:txBody>
          <a:bodyPr>
            <a:normAutofit fontScale="92500" lnSpcReduction="10000"/>
          </a:bodyPr>
          <a:lstStyle/>
          <a:p>
            <a:r>
              <a:rPr lang="zh-CN" altLang="en-US" dirty="0"/>
              <a:t>频分复用 </a:t>
            </a:r>
            <a:r>
              <a:rPr lang="en-US" altLang="zh-CN" dirty="0"/>
              <a:t>FDM (Frequency Division Multiplexing) </a:t>
            </a:r>
            <a:endParaRPr lang="zh-CN" altLang="en-US" dirty="0"/>
          </a:p>
        </p:txBody>
      </p:sp>
      <p:grpSp>
        <p:nvGrpSpPr>
          <p:cNvPr id="6" name="组合 5"/>
          <p:cNvGrpSpPr/>
          <p:nvPr/>
        </p:nvGrpSpPr>
        <p:grpSpPr>
          <a:xfrm>
            <a:off x="4614756" y="1969904"/>
            <a:ext cx="2870591" cy="2030418"/>
            <a:chOff x="1569012" y="4230579"/>
            <a:chExt cx="5106977" cy="2030418"/>
          </a:xfrm>
        </p:grpSpPr>
        <p:sp>
          <p:nvSpPr>
            <p:cNvPr id="7" name="Text Box 29"/>
            <p:cNvSpPr txBox="1">
              <a:spLocks noChangeArrowheads="1"/>
            </p:cNvSpPr>
            <p:nvPr/>
          </p:nvSpPr>
          <p:spPr bwMode="auto">
            <a:xfrm>
              <a:off x="1569012" y="4282041"/>
              <a:ext cx="693570" cy="203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zh-CN" altLang="en-US" sz="800" dirty="0">
                  <a:latin typeface="Times New Roman" panose="02020603050405020304" pitchFamily="18" charset="0"/>
                  <a:ea typeface="宋体" panose="02010600030101010101" pitchFamily="2" charset="-122"/>
                </a:rPr>
                <a:t>频率</a:t>
              </a:r>
            </a:p>
          </p:txBody>
        </p:sp>
        <p:sp>
          <p:nvSpPr>
            <p:cNvPr id="8" name="Text Box 30"/>
            <p:cNvSpPr txBox="1">
              <a:spLocks noChangeArrowheads="1"/>
            </p:cNvSpPr>
            <p:nvPr/>
          </p:nvSpPr>
          <p:spPr bwMode="auto">
            <a:xfrm>
              <a:off x="5755280" y="6057864"/>
              <a:ext cx="693568" cy="203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zh-CN" altLang="en-US" sz="800" dirty="0">
                  <a:latin typeface="Times New Roman" panose="02020603050405020304" pitchFamily="18" charset="0"/>
                  <a:ea typeface="宋体" panose="02010600030101010101" pitchFamily="2" charset="-122"/>
                </a:rPr>
                <a:t>时间</a:t>
              </a:r>
            </a:p>
          </p:txBody>
        </p:sp>
        <p:sp>
          <p:nvSpPr>
            <p:cNvPr id="9" name="Rectangle 31"/>
            <p:cNvSpPr>
              <a:spLocks noChangeArrowheads="1"/>
            </p:cNvSpPr>
            <p:nvPr/>
          </p:nvSpPr>
          <p:spPr bwMode="auto">
            <a:xfrm>
              <a:off x="2192736" y="4578526"/>
              <a:ext cx="3842789" cy="288000"/>
            </a:xfrm>
            <a:prstGeom prst="rect">
              <a:avLst/>
            </a:prstGeom>
            <a:solidFill>
              <a:srgbClr val="66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a:latin typeface="Times New Roman" panose="02020603050405020304" pitchFamily="18" charset="0"/>
                <a:ea typeface="宋体" panose="02010600030101010101" pitchFamily="2" charset="-122"/>
              </a:endParaRPr>
            </a:p>
          </p:txBody>
        </p:sp>
        <p:sp>
          <p:nvSpPr>
            <p:cNvPr id="10" name="Rectangle 32"/>
            <p:cNvSpPr>
              <a:spLocks noChangeArrowheads="1"/>
            </p:cNvSpPr>
            <p:nvPr/>
          </p:nvSpPr>
          <p:spPr bwMode="auto">
            <a:xfrm>
              <a:off x="2192736" y="4869291"/>
              <a:ext cx="3842789" cy="288000"/>
            </a:xfrm>
            <a:prstGeom prst="rect">
              <a:avLst/>
            </a:prstGeom>
            <a:solidFill>
              <a:srgbClr val="00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a:latin typeface="Times New Roman" panose="02020603050405020304" pitchFamily="18" charset="0"/>
                <a:ea typeface="宋体" panose="02010600030101010101" pitchFamily="2" charset="-122"/>
              </a:endParaRPr>
            </a:p>
          </p:txBody>
        </p:sp>
        <p:sp>
          <p:nvSpPr>
            <p:cNvPr id="11" name="Rectangle 34"/>
            <p:cNvSpPr>
              <a:spLocks noChangeArrowheads="1"/>
            </p:cNvSpPr>
            <p:nvPr/>
          </p:nvSpPr>
          <p:spPr bwMode="auto">
            <a:xfrm>
              <a:off x="2192736" y="5450821"/>
              <a:ext cx="3842789" cy="28800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a:latin typeface="Times New Roman" panose="02020603050405020304" pitchFamily="18" charset="0"/>
                <a:ea typeface="宋体" panose="02010600030101010101" pitchFamily="2" charset="-122"/>
              </a:endParaRPr>
            </a:p>
          </p:txBody>
        </p:sp>
        <p:sp>
          <p:nvSpPr>
            <p:cNvPr id="12" name="Rectangle 35"/>
            <p:cNvSpPr>
              <a:spLocks noChangeArrowheads="1"/>
            </p:cNvSpPr>
            <p:nvPr/>
          </p:nvSpPr>
          <p:spPr bwMode="auto">
            <a:xfrm>
              <a:off x="2192736" y="5735147"/>
              <a:ext cx="3842789" cy="28800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a:latin typeface="Times New Roman" panose="02020603050405020304" pitchFamily="18" charset="0"/>
                <a:ea typeface="宋体" panose="02010600030101010101" pitchFamily="2" charset="-122"/>
              </a:endParaRPr>
            </a:p>
          </p:txBody>
        </p:sp>
        <p:sp>
          <p:nvSpPr>
            <p:cNvPr id="13" name="Text Box 36"/>
            <p:cNvSpPr txBox="1">
              <a:spLocks noChangeArrowheads="1"/>
            </p:cNvSpPr>
            <p:nvPr/>
          </p:nvSpPr>
          <p:spPr bwMode="auto">
            <a:xfrm>
              <a:off x="3676085" y="5820821"/>
              <a:ext cx="876088" cy="203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kumimoji="1" lang="zh-CN" altLang="en-US" sz="800" dirty="0">
                  <a:latin typeface="+mj-ea"/>
                  <a:ea typeface="+mj-ea"/>
                </a:rPr>
                <a:t>频带 </a:t>
              </a:r>
              <a:r>
                <a:rPr kumimoji="1" lang="en-US" altLang="zh-CN" sz="800" dirty="0">
                  <a:latin typeface="+mj-ea"/>
                  <a:ea typeface="+mj-ea"/>
                </a:rPr>
                <a:t>1</a:t>
              </a:r>
            </a:p>
          </p:txBody>
        </p:sp>
        <p:sp>
          <p:nvSpPr>
            <p:cNvPr id="14" name="Text Box 37"/>
            <p:cNvSpPr txBox="1">
              <a:spLocks noChangeArrowheads="1"/>
            </p:cNvSpPr>
            <p:nvPr/>
          </p:nvSpPr>
          <p:spPr bwMode="auto">
            <a:xfrm>
              <a:off x="3676085" y="5536495"/>
              <a:ext cx="876088" cy="203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kumimoji="1" lang="zh-CN" altLang="en-US" sz="800" dirty="0">
                  <a:latin typeface="+mj-ea"/>
                  <a:ea typeface="+mj-ea"/>
                </a:rPr>
                <a:t>频带 </a:t>
              </a:r>
              <a:r>
                <a:rPr kumimoji="1" lang="en-US" altLang="zh-CN" sz="800" dirty="0">
                  <a:latin typeface="+mj-ea"/>
                  <a:ea typeface="+mj-ea"/>
                </a:rPr>
                <a:t>2</a:t>
              </a:r>
            </a:p>
          </p:txBody>
        </p:sp>
        <p:sp>
          <p:nvSpPr>
            <p:cNvPr id="15" name="Text Box 39"/>
            <p:cNvSpPr txBox="1">
              <a:spLocks noChangeArrowheads="1"/>
            </p:cNvSpPr>
            <p:nvPr/>
          </p:nvSpPr>
          <p:spPr bwMode="auto">
            <a:xfrm>
              <a:off x="3858603" y="4954965"/>
              <a:ext cx="511052" cy="203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kumimoji="1" lang="en-US" altLang="zh-CN" sz="800" dirty="0">
                  <a:latin typeface="+mj-ea"/>
                  <a:ea typeface="+mj-ea"/>
                  <a:sym typeface="Symbol" pitchFamily="18" charset="2"/>
                </a:rPr>
                <a:t></a:t>
              </a:r>
              <a:endParaRPr kumimoji="1" lang="zh-CN" altLang="zh-CN" sz="800" dirty="0">
                <a:latin typeface="+mj-ea"/>
                <a:ea typeface="+mj-ea"/>
                <a:sym typeface="Symbol" pitchFamily="18" charset="2"/>
              </a:endParaRPr>
            </a:p>
          </p:txBody>
        </p:sp>
        <p:sp>
          <p:nvSpPr>
            <p:cNvPr id="16" name="Text Box 40"/>
            <p:cNvSpPr txBox="1">
              <a:spLocks noChangeArrowheads="1"/>
            </p:cNvSpPr>
            <p:nvPr/>
          </p:nvSpPr>
          <p:spPr bwMode="auto">
            <a:xfrm>
              <a:off x="3676085" y="4664200"/>
              <a:ext cx="876088" cy="203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kumimoji="1" lang="zh-CN" altLang="en-US" sz="800" dirty="0">
                  <a:latin typeface="+mj-ea"/>
                  <a:ea typeface="+mj-ea"/>
                </a:rPr>
                <a:t>频带 </a:t>
              </a:r>
              <a:r>
                <a:rPr kumimoji="1" lang="en-US" altLang="zh-CN" sz="800" dirty="0">
                  <a:latin typeface="+mj-ea"/>
                  <a:ea typeface="+mj-ea"/>
                </a:rPr>
                <a:t>n</a:t>
              </a:r>
            </a:p>
          </p:txBody>
        </p:sp>
        <p:sp>
          <p:nvSpPr>
            <p:cNvPr id="17" name="Rectangle 34"/>
            <p:cNvSpPr>
              <a:spLocks noChangeArrowheads="1"/>
            </p:cNvSpPr>
            <p:nvPr/>
          </p:nvSpPr>
          <p:spPr bwMode="auto">
            <a:xfrm>
              <a:off x="2199896" y="5160055"/>
              <a:ext cx="3842789" cy="288000"/>
            </a:xfrm>
            <a:prstGeom prst="rect">
              <a:avLst/>
            </a:prstGeom>
            <a:solidFill>
              <a:srgbClr val="B1D8F9"/>
            </a:solidFill>
            <a:ln>
              <a:noFill/>
            </a:ln>
            <a:effectLst/>
          </p:spPr>
          <p:txBody>
            <a:bodyPr wrap="none" anchor="ctr"/>
            <a:lstStyle/>
            <a:p>
              <a:endParaRPr lang="zh-CN" altLang="en-US" sz="800">
                <a:latin typeface="Times New Roman" panose="02020603050405020304" pitchFamily="18" charset="0"/>
                <a:ea typeface="宋体" panose="02010600030101010101" pitchFamily="2" charset="-122"/>
              </a:endParaRPr>
            </a:p>
          </p:txBody>
        </p:sp>
        <p:sp>
          <p:nvSpPr>
            <p:cNvPr id="18" name="Text Box 38"/>
            <p:cNvSpPr txBox="1">
              <a:spLocks noChangeArrowheads="1"/>
            </p:cNvSpPr>
            <p:nvPr/>
          </p:nvSpPr>
          <p:spPr bwMode="auto">
            <a:xfrm>
              <a:off x="3676085" y="5245730"/>
              <a:ext cx="876088" cy="203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kumimoji="1" lang="zh-CN" altLang="en-US" sz="800" dirty="0">
                  <a:latin typeface="+mj-ea"/>
                  <a:ea typeface="+mj-ea"/>
                </a:rPr>
                <a:t>频带 </a:t>
              </a:r>
              <a:r>
                <a:rPr kumimoji="1" lang="en-US" altLang="zh-CN" sz="800" dirty="0">
                  <a:latin typeface="+mj-ea"/>
                  <a:ea typeface="+mj-ea"/>
                </a:rPr>
                <a:t>3</a:t>
              </a:r>
            </a:p>
          </p:txBody>
        </p:sp>
        <p:cxnSp>
          <p:nvCxnSpPr>
            <p:cNvPr id="19" name="直接箭头连接符 18"/>
            <p:cNvCxnSpPr>
              <a:stCxn id="20" idx="0"/>
            </p:cNvCxnSpPr>
            <p:nvPr/>
          </p:nvCxnSpPr>
          <p:spPr bwMode="auto">
            <a:xfrm>
              <a:off x="2192734" y="6030579"/>
              <a:ext cx="4483255" cy="1"/>
            </a:xfrm>
            <a:prstGeom prst="straightConnector1">
              <a:avLst/>
            </a:prstGeom>
            <a:noFill/>
            <a:ln w="12700">
              <a:solidFill>
                <a:schemeClr val="tx1"/>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Line 41"/>
            <p:cNvSpPr>
              <a:spLocks noChangeShapeType="1"/>
            </p:cNvSpPr>
            <p:nvPr/>
          </p:nvSpPr>
          <p:spPr bwMode="auto">
            <a:xfrm rot="16200000">
              <a:off x="1292734" y="5130579"/>
              <a:ext cx="1800000" cy="0"/>
            </a:xfrm>
            <a:prstGeom prst="line">
              <a:avLst/>
            </a:prstGeom>
            <a:noFill/>
            <a:ln w="12700">
              <a:solidFill>
                <a:schemeClr val="tx1"/>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a:latin typeface="Times New Roman" panose="02020603050405020304" pitchFamily="18" charset="0"/>
                <a:ea typeface="宋体" panose="02010600030101010101" pitchFamily="2" charset="-122"/>
              </a:endParaRPr>
            </a:p>
          </p:txBody>
        </p:sp>
      </p:grpSp>
    </p:spTree>
    <p:extLst>
      <p:ext uri="{BB962C8B-B14F-4D97-AF65-F5344CB8AC3E}">
        <p14:creationId xmlns:p14="http://schemas.microsoft.com/office/powerpoint/2010/main" val="198992931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0"/>
          </p:nvPr>
        </p:nvSpPr>
        <p:spPr>
          <a:xfrm>
            <a:off x="466343" y="900000"/>
            <a:ext cx="8129017" cy="3376990"/>
          </a:xfrm>
        </p:spPr>
        <p:txBody>
          <a:bodyPr/>
          <a:lstStyle/>
          <a:p>
            <a:r>
              <a:rPr lang="zh-CN" altLang="en-US" dirty="0"/>
              <a:t>将时间划分为一段段等长的时分复用帧（</a:t>
            </a:r>
            <a:r>
              <a:rPr lang="en-US" altLang="zh-CN" dirty="0"/>
              <a:t>TDM</a:t>
            </a:r>
            <a:r>
              <a:rPr lang="zh-CN" altLang="en-US" dirty="0"/>
              <a:t>帧）。</a:t>
            </a:r>
            <a:endParaRPr lang="en-US" altLang="zh-CN" dirty="0"/>
          </a:p>
          <a:p>
            <a:r>
              <a:rPr lang="zh-CN" altLang="en-US" dirty="0"/>
              <a:t>每一个时分复用的用户在每一个 </a:t>
            </a:r>
            <a:r>
              <a:rPr lang="en-US" altLang="zh-CN" dirty="0"/>
              <a:t>TDM </a:t>
            </a:r>
            <a:r>
              <a:rPr lang="zh-CN" altLang="en-US" dirty="0"/>
              <a:t>帧中占用固定序号的时隙。</a:t>
            </a:r>
          </a:p>
          <a:p>
            <a:r>
              <a:rPr lang="zh-CN" altLang="en-US" dirty="0"/>
              <a:t>每一个用户所占用的时隙是周期性地出现（其周期就是</a:t>
            </a:r>
            <a:r>
              <a:rPr lang="en-US" altLang="zh-CN" dirty="0"/>
              <a:t>TDM</a:t>
            </a:r>
            <a:r>
              <a:rPr lang="zh-CN" altLang="en-US" dirty="0"/>
              <a:t>帧的长度）的。</a:t>
            </a:r>
            <a:endParaRPr lang="en-US" altLang="zh-CN" dirty="0"/>
          </a:p>
          <a:p>
            <a:r>
              <a:rPr lang="en-US" altLang="zh-CN" dirty="0"/>
              <a:t>TDM </a:t>
            </a:r>
            <a:r>
              <a:rPr lang="zh-CN" altLang="en-US" dirty="0"/>
              <a:t>信号也称为等时 </a:t>
            </a:r>
            <a:r>
              <a:rPr lang="en-US" altLang="zh-CN" dirty="0"/>
              <a:t>(isochronous) </a:t>
            </a:r>
            <a:r>
              <a:rPr lang="zh-CN" altLang="en-US" dirty="0"/>
              <a:t>信号。</a:t>
            </a:r>
          </a:p>
          <a:p>
            <a:r>
              <a:rPr lang="zh-CN" altLang="en-US" dirty="0"/>
              <a:t>所有用户在不同的时间占用同样的频带宽度。</a:t>
            </a:r>
          </a:p>
        </p:txBody>
      </p:sp>
      <p:sp>
        <p:nvSpPr>
          <p:cNvPr id="5" name="文本占位符 4"/>
          <p:cNvSpPr>
            <a:spLocks noGrp="1"/>
          </p:cNvSpPr>
          <p:nvPr>
            <p:ph type="body" sz="quarter" idx="11"/>
          </p:nvPr>
        </p:nvSpPr>
        <p:spPr>
          <a:xfrm>
            <a:off x="1332000" y="360000"/>
            <a:ext cx="6480000" cy="354012"/>
          </a:xfrm>
        </p:spPr>
        <p:txBody>
          <a:bodyPr>
            <a:normAutofit fontScale="92500" lnSpcReduction="10000"/>
          </a:bodyPr>
          <a:lstStyle/>
          <a:p>
            <a:r>
              <a:rPr lang="zh-CN" altLang="en-US" dirty="0"/>
              <a:t>时分复用 </a:t>
            </a:r>
            <a:r>
              <a:rPr lang="en-US" altLang="zh-CN" dirty="0"/>
              <a:t>TDM (Time Division Multiplexing)</a:t>
            </a:r>
            <a:endParaRPr lang="zh-CN" altLang="en-US" dirty="0"/>
          </a:p>
        </p:txBody>
      </p:sp>
    </p:spTree>
    <p:extLst>
      <p:ext uri="{BB962C8B-B14F-4D97-AF65-F5344CB8AC3E}">
        <p14:creationId xmlns:p14="http://schemas.microsoft.com/office/powerpoint/2010/main" val="109419914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1"/>
          </p:nvPr>
        </p:nvSpPr>
        <p:spPr>
          <a:xfrm>
            <a:off x="1332000" y="360000"/>
            <a:ext cx="6480000" cy="354012"/>
          </a:xfrm>
        </p:spPr>
        <p:txBody>
          <a:bodyPr>
            <a:normAutofit fontScale="92500" lnSpcReduction="10000"/>
          </a:bodyPr>
          <a:lstStyle/>
          <a:p>
            <a:r>
              <a:rPr lang="zh-CN" altLang="en-US" dirty="0"/>
              <a:t>时分复用 </a:t>
            </a:r>
            <a:r>
              <a:rPr lang="en-US" altLang="zh-CN" dirty="0"/>
              <a:t>TDM (Time Division Multiplexing)</a:t>
            </a:r>
            <a:endParaRPr lang="zh-CN" altLang="en-US" dirty="0"/>
          </a:p>
        </p:txBody>
      </p:sp>
      <p:grpSp>
        <p:nvGrpSpPr>
          <p:cNvPr id="3" name="组合 2">
            <a:extLst>
              <a:ext uri="{FF2B5EF4-FFF2-40B4-BE49-F238E27FC236}">
                <a16:creationId xmlns:a16="http://schemas.microsoft.com/office/drawing/2014/main" id="{F6D6CD48-DE83-9387-DB68-C2C5E835E92E}"/>
              </a:ext>
            </a:extLst>
          </p:cNvPr>
          <p:cNvGrpSpPr>
            <a:grpSpLocks noChangeAspect="1"/>
          </p:cNvGrpSpPr>
          <p:nvPr/>
        </p:nvGrpSpPr>
        <p:grpSpPr>
          <a:xfrm>
            <a:off x="871770" y="1366735"/>
            <a:ext cx="4320000" cy="1953931"/>
            <a:chOff x="839818" y="1366734"/>
            <a:chExt cx="6567075" cy="2970279"/>
          </a:xfrm>
        </p:grpSpPr>
        <p:sp>
          <p:nvSpPr>
            <p:cNvPr id="7" name="Line 3"/>
            <p:cNvSpPr>
              <a:spLocks noChangeShapeType="1"/>
            </p:cNvSpPr>
            <p:nvPr/>
          </p:nvSpPr>
          <p:spPr bwMode="auto">
            <a:xfrm flipV="1">
              <a:off x="1353090" y="4073052"/>
              <a:ext cx="6053803" cy="10153"/>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8" name="Text Box 4"/>
            <p:cNvSpPr txBox="1">
              <a:spLocks noChangeArrowheads="1"/>
            </p:cNvSpPr>
            <p:nvPr/>
          </p:nvSpPr>
          <p:spPr bwMode="auto">
            <a:xfrm>
              <a:off x="839818" y="1366734"/>
              <a:ext cx="389850" cy="203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zh-CN" altLang="en-US" sz="800" dirty="0">
                  <a:latin typeface="Times New Roman" panose="02020603050405020304" pitchFamily="18" charset="0"/>
                  <a:ea typeface="微软雅黑" pitchFamily="34" charset="-122"/>
                </a:rPr>
                <a:t>频率</a:t>
              </a:r>
            </a:p>
          </p:txBody>
        </p:sp>
        <p:sp>
          <p:nvSpPr>
            <p:cNvPr id="9" name="Text Box 5"/>
            <p:cNvSpPr txBox="1">
              <a:spLocks noChangeArrowheads="1"/>
            </p:cNvSpPr>
            <p:nvPr/>
          </p:nvSpPr>
          <p:spPr bwMode="auto">
            <a:xfrm>
              <a:off x="7017043" y="4133880"/>
              <a:ext cx="389850" cy="203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nSpc>
                  <a:spcPct val="90000"/>
                </a:lnSpc>
                <a:defRPr kumimoji="1" sz="800">
                  <a:latin typeface="Times New Roman" panose="02020603050405020304" pitchFamily="18" charset="0"/>
                  <a:ea typeface="微软雅黑" pitchFamily="34" charset="-122"/>
                </a:defRPr>
              </a:lvl1pPr>
            </a:lstStyle>
            <a:p>
              <a:r>
                <a:rPr lang="zh-CN" altLang="en-US" dirty="0"/>
                <a:t>时间</a:t>
              </a:r>
            </a:p>
          </p:txBody>
        </p:sp>
        <p:sp>
          <p:nvSpPr>
            <p:cNvPr id="10" name="Rectangle 6"/>
            <p:cNvSpPr>
              <a:spLocks noChangeArrowheads="1"/>
            </p:cNvSpPr>
            <p:nvPr/>
          </p:nvSpPr>
          <p:spPr bwMode="auto">
            <a:xfrm>
              <a:off x="1637477" y="1780078"/>
              <a:ext cx="284385" cy="1709940"/>
            </a:xfrm>
            <a:prstGeom prst="rect">
              <a:avLst/>
            </a:prstGeom>
            <a:solidFill>
              <a:srgbClr val="FFFF00"/>
            </a:solidFill>
            <a:ln>
              <a:noFill/>
            </a:ln>
            <a:effectLst/>
          </p:spPr>
          <p:txBody>
            <a:bodyPr wrap="none" anchor="ctr"/>
            <a:lstStyle/>
            <a:p>
              <a:r>
                <a:rPr lang="en-US" altLang="zh-CN" sz="1000">
                  <a:latin typeface="Times New Roman" panose="02020603050405020304" pitchFamily="18" charset="0"/>
                  <a:ea typeface="微软雅黑" pitchFamily="34" charset="-122"/>
                  <a:cs typeface="Times New Roman" panose="02020603050405020304" pitchFamily="18" charset="0"/>
                </a:rPr>
                <a:t>B</a:t>
              </a:r>
            </a:p>
          </p:txBody>
        </p:sp>
        <p:sp>
          <p:nvSpPr>
            <p:cNvPr id="11" name="Rectangle 7"/>
            <p:cNvSpPr>
              <a:spLocks noChangeArrowheads="1"/>
            </p:cNvSpPr>
            <p:nvPr/>
          </p:nvSpPr>
          <p:spPr bwMode="auto">
            <a:xfrm>
              <a:off x="1923434" y="1780078"/>
              <a:ext cx="284385" cy="170994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000">
                  <a:latin typeface="Times New Roman" panose="02020603050405020304" pitchFamily="18" charset="0"/>
                  <a:ea typeface="微软雅黑" pitchFamily="34" charset="-122"/>
                  <a:cs typeface="Times New Roman" panose="02020603050405020304" pitchFamily="18" charset="0"/>
                </a:rPr>
                <a:t>C</a:t>
              </a:r>
            </a:p>
          </p:txBody>
        </p:sp>
        <p:sp>
          <p:nvSpPr>
            <p:cNvPr id="12" name="Rectangle 8"/>
            <p:cNvSpPr>
              <a:spLocks noChangeArrowheads="1"/>
            </p:cNvSpPr>
            <p:nvPr/>
          </p:nvSpPr>
          <p:spPr bwMode="auto">
            <a:xfrm>
              <a:off x="2207819" y="1780078"/>
              <a:ext cx="284386" cy="1709940"/>
            </a:xfrm>
            <a:prstGeom prst="rect">
              <a:avLst/>
            </a:prstGeom>
            <a:solidFill>
              <a:srgbClr val="00B0F0"/>
            </a:solidFill>
            <a:ln>
              <a:noFill/>
            </a:ln>
            <a:effectLst/>
          </p:spPr>
          <p:txBody>
            <a:bodyPr wrap="none" anchor="ctr"/>
            <a:lstStyle/>
            <a:p>
              <a:r>
                <a:rPr lang="en-US" altLang="zh-CN" sz="1000">
                  <a:latin typeface="Times New Roman" panose="02020603050405020304" pitchFamily="18" charset="0"/>
                  <a:ea typeface="微软雅黑" pitchFamily="34" charset="-122"/>
                  <a:cs typeface="Times New Roman" panose="02020603050405020304" pitchFamily="18" charset="0"/>
                </a:rPr>
                <a:t>D</a:t>
              </a:r>
            </a:p>
          </p:txBody>
        </p:sp>
        <p:sp>
          <p:nvSpPr>
            <p:cNvPr id="13" name="Rectangle 9"/>
            <p:cNvSpPr>
              <a:spLocks noChangeArrowheads="1"/>
            </p:cNvSpPr>
            <p:nvPr/>
          </p:nvSpPr>
          <p:spPr bwMode="auto">
            <a:xfrm>
              <a:off x="2778162" y="1780078"/>
              <a:ext cx="284385" cy="1709940"/>
            </a:xfrm>
            <a:prstGeom prst="rect">
              <a:avLst/>
            </a:prstGeom>
            <a:solidFill>
              <a:srgbClr val="FFFF00"/>
            </a:solidFill>
            <a:ln>
              <a:noFill/>
            </a:ln>
            <a:effectLst/>
          </p:spPr>
          <p:txBody>
            <a:bodyPr wrap="none" anchor="ctr"/>
            <a:lstStyle/>
            <a:p>
              <a:r>
                <a:rPr lang="en-US" altLang="zh-CN" sz="1000">
                  <a:latin typeface="Times New Roman" panose="02020603050405020304" pitchFamily="18" charset="0"/>
                  <a:ea typeface="微软雅黑" pitchFamily="34" charset="-122"/>
                  <a:cs typeface="Times New Roman" panose="02020603050405020304" pitchFamily="18" charset="0"/>
                </a:rPr>
                <a:t>B</a:t>
              </a:r>
            </a:p>
          </p:txBody>
        </p:sp>
        <p:sp>
          <p:nvSpPr>
            <p:cNvPr id="14" name="Rectangle 10"/>
            <p:cNvSpPr>
              <a:spLocks noChangeArrowheads="1"/>
            </p:cNvSpPr>
            <p:nvPr/>
          </p:nvSpPr>
          <p:spPr bwMode="auto">
            <a:xfrm>
              <a:off x="3064119" y="1780078"/>
              <a:ext cx="284385" cy="170994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000">
                  <a:latin typeface="Times New Roman" panose="02020603050405020304" pitchFamily="18" charset="0"/>
                  <a:ea typeface="微软雅黑" pitchFamily="34" charset="-122"/>
                  <a:cs typeface="Times New Roman" panose="02020603050405020304" pitchFamily="18" charset="0"/>
                </a:rPr>
                <a:t>C</a:t>
              </a:r>
            </a:p>
          </p:txBody>
        </p:sp>
        <p:sp>
          <p:nvSpPr>
            <p:cNvPr id="15" name="Rectangle 11"/>
            <p:cNvSpPr>
              <a:spLocks noChangeArrowheads="1"/>
            </p:cNvSpPr>
            <p:nvPr/>
          </p:nvSpPr>
          <p:spPr bwMode="auto">
            <a:xfrm>
              <a:off x="3348504" y="1780078"/>
              <a:ext cx="284386" cy="1709940"/>
            </a:xfrm>
            <a:prstGeom prst="rect">
              <a:avLst/>
            </a:prstGeom>
            <a:solidFill>
              <a:srgbClr val="00B0F0"/>
            </a:solidFill>
            <a:ln>
              <a:noFill/>
            </a:ln>
            <a:effectLst/>
          </p:spPr>
          <p:txBody>
            <a:bodyPr wrap="none" anchor="ctr"/>
            <a:lstStyle/>
            <a:p>
              <a:r>
                <a:rPr lang="en-US" altLang="zh-CN" sz="1000">
                  <a:latin typeface="Times New Roman" panose="02020603050405020304" pitchFamily="18" charset="0"/>
                  <a:ea typeface="微软雅黑" pitchFamily="34" charset="-122"/>
                  <a:cs typeface="Times New Roman" panose="02020603050405020304" pitchFamily="18" charset="0"/>
                </a:rPr>
                <a:t>D</a:t>
              </a:r>
            </a:p>
          </p:txBody>
        </p:sp>
        <p:sp>
          <p:nvSpPr>
            <p:cNvPr id="16" name="Rectangle 12"/>
            <p:cNvSpPr>
              <a:spLocks noChangeArrowheads="1"/>
            </p:cNvSpPr>
            <p:nvPr/>
          </p:nvSpPr>
          <p:spPr bwMode="auto">
            <a:xfrm>
              <a:off x="3918847" y="1780078"/>
              <a:ext cx="284385" cy="1709940"/>
            </a:xfrm>
            <a:prstGeom prst="rect">
              <a:avLst/>
            </a:prstGeom>
            <a:solidFill>
              <a:srgbClr val="FFFF00"/>
            </a:solidFill>
            <a:ln>
              <a:noFill/>
            </a:ln>
            <a:effectLst/>
          </p:spPr>
          <p:txBody>
            <a:bodyPr wrap="none" anchor="ctr"/>
            <a:lstStyle/>
            <a:p>
              <a:r>
                <a:rPr lang="en-US" altLang="zh-CN" sz="1000">
                  <a:latin typeface="Times New Roman" panose="02020603050405020304" pitchFamily="18" charset="0"/>
                  <a:ea typeface="微软雅黑" pitchFamily="34" charset="-122"/>
                  <a:cs typeface="Times New Roman" panose="02020603050405020304" pitchFamily="18" charset="0"/>
                </a:rPr>
                <a:t>B</a:t>
              </a:r>
            </a:p>
          </p:txBody>
        </p:sp>
        <p:sp>
          <p:nvSpPr>
            <p:cNvPr id="17" name="Rectangle 13"/>
            <p:cNvSpPr>
              <a:spLocks noChangeArrowheads="1"/>
            </p:cNvSpPr>
            <p:nvPr/>
          </p:nvSpPr>
          <p:spPr bwMode="auto">
            <a:xfrm>
              <a:off x="4204804" y="1780078"/>
              <a:ext cx="284385" cy="170994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000">
                  <a:latin typeface="Times New Roman" panose="02020603050405020304" pitchFamily="18" charset="0"/>
                  <a:ea typeface="微软雅黑" pitchFamily="34" charset="-122"/>
                  <a:cs typeface="Times New Roman" panose="02020603050405020304" pitchFamily="18" charset="0"/>
                </a:rPr>
                <a:t>C</a:t>
              </a:r>
            </a:p>
          </p:txBody>
        </p:sp>
        <p:sp>
          <p:nvSpPr>
            <p:cNvPr id="18" name="Rectangle 14"/>
            <p:cNvSpPr>
              <a:spLocks noChangeArrowheads="1"/>
            </p:cNvSpPr>
            <p:nvPr/>
          </p:nvSpPr>
          <p:spPr bwMode="auto">
            <a:xfrm>
              <a:off x="4489189" y="1780078"/>
              <a:ext cx="284386" cy="1709940"/>
            </a:xfrm>
            <a:prstGeom prst="rect">
              <a:avLst/>
            </a:prstGeom>
            <a:solidFill>
              <a:srgbClr val="00B0F0"/>
            </a:solidFill>
            <a:ln>
              <a:noFill/>
            </a:ln>
            <a:effectLst/>
          </p:spPr>
          <p:txBody>
            <a:bodyPr wrap="none" anchor="ctr"/>
            <a:lstStyle/>
            <a:p>
              <a:r>
                <a:rPr lang="en-US" altLang="zh-CN" sz="1000">
                  <a:latin typeface="Times New Roman" panose="02020603050405020304" pitchFamily="18" charset="0"/>
                  <a:ea typeface="微软雅黑" pitchFamily="34" charset="-122"/>
                  <a:cs typeface="Times New Roman" panose="02020603050405020304" pitchFamily="18" charset="0"/>
                </a:rPr>
                <a:t>D</a:t>
              </a:r>
            </a:p>
          </p:txBody>
        </p:sp>
        <p:sp>
          <p:nvSpPr>
            <p:cNvPr id="19" name="Rectangle 15"/>
            <p:cNvSpPr>
              <a:spLocks noChangeArrowheads="1"/>
            </p:cNvSpPr>
            <p:nvPr/>
          </p:nvSpPr>
          <p:spPr bwMode="auto">
            <a:xfrm>
              <a:off x="5059533" y="1780078"/>
              <a:ext cx="284385" cy="1709940"/>
            </a:xfrm>
            <a:prstGeom prst="rect">
              <a:avLst/>
            </a:prstGeom>
            <a:solidFill>
              <a:srgbClr val="FFFF00"/>
            </a:solidFill>
            <a:ln>
              <a:noFill/>
            </a:ln>
            <a:effectLst/>
          </p:spPr>
          <p:txBody>
            <a:bodyPr wrap="none" anchor="ctr"/>
            <a:lstStyle/>
            <a:p>
              <a:r>
                <a:rPr lang="en-US" altLang="zh-CN" sz="1000">
                  <a:latin typeface="Times New Roman" panose="02020603050405020304" pitchFamily="18" charset="0"/>
                  <a:ea typeface="微软雅黑" pitchFamily="34" charset="-122"/>
                  <a:cs typeface="Times New Roman" panose="02020603050405020304" pitchFamily="18" charset="0"/>
                </a:rPr>
                <a:t>B</a:t>
              </a:r>
            </a:p>
          </p:txBody>
        </p:sp>
        <p:sp>
          <p:nvSpPr>
            <p:cNvPr id="20" name="Rectangle 16"/>
            <p:cNvSpPr>
              <a:spLocks noChangeArrowheads="1"/>
            </p:cNvSpPr>
            <p:nvPr/>
          </p:nvSpPr>
          <p:spPr bwMode="auto">
            <a:xfrm>
              <a:off x="5345490" y="1780078"/>
              <a:ext cx="284385" cy="170994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000">
                  <a:latin typeface="Times New Roman" panose="02020603050405020304" pitchFamily="18" charset="0"/>
                  <a:ea typeface="微软雅黑" pitchFamily="34" charset="-122"/>
                  <a:cs typeface="Times New Roman" panose="02020603050405020304" pitchFamily="18" charset="0"/>
                </a:rPr>
                <a:t>C</a:t>
              </a:r>
            </a:p>
          </p:txBody>
        </p:sp>
        <p:sp>
          <p:nvSpPr>
            <p:cNvPr id="21" name="Rectangle 17"/>
            <p:cNvSpPr>
              <a:spLocks noChangeArrowheads="1"/>
            </p:cNvSpPr>
            <p:nvPr/>
          </p:nvSpPr>
          <p:spPr bwMode="auto">
            <a:xfrm>
              <a:off x="5629874" y="1780078"/>
              <a:ext cx="284386" cy="1709940"/>
            </a:xfrm>
            <a:prstGeom prst="rect">
              <a:avLst/>
            </a:prstGeom>
            <a:solidFill>
              <a:srgbClr val="00B0F0"/>
            </a:solidFill>
            <a:ln>
              <a:noFill/>
            </a:ln>
            <a:effectLst/>
          </p:spPr>
          <p:txBody>
            <a:bodyPr wrap="none" anchor="ctr"/>
            <a:lstStyle/>
            <a:p>
              <a:r>
                <a:rPr lang="en-US" altLang="zh-CN" sz="1000">
                  <a:latin typeface="Times New Roman" panose="02020603050405020304" pitchFamily="18" charset="0"/>
                  <a:ea typeface="微软雅黑" pitchFamily="34" charset="-122"/>
                  <a:cs typeface="Times New Roman" panose="02020603050405020304" pitchFamily="18" charset="0"/>
                </a:rPr>
                <a:t>D</a:t>
              </a:r>
            </a:p>
          </p:txBody>
        </p:sp>
        <p:sp>
          <p:nvSpPr>
            <p:cNvPr id="23" name="Rectangle 19"/>
            <p:cNvSpPr>
              <a:spLocks noChangeArrowheads="1"/>
            </p:cNvSpPr>
            <p:nvPr/>
          </p:nvSpPr>
          <p:spPr bwMode="auto">
            <a:xfrm>
              <a:off x="1353091" y="1780078"/>
              <a:ext cx="284386" cy="1709940"/>
            </a:xfrm>
            <a:prstGeom prst="rect">
              <a:avLst/>
            </a:prstGeom>
            <a:solidFill>
              <a:srgbClr val="66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000" dirty="0">
                  <a:latin typeface="Times New Roman" panose="02020603050405020304" pitchFamily="18" charset="0"/>
                  <a:ea typeface="微软雅黑" pitchFamily="34" charset="-122"/>
                  <a:cs typeface="Times New Roman" panose="02020603050405020304" pitchFamily="18" charset="0"/>
                </a:rPr>
                <a:t>A</a:t>
              </a:r>
            </a:p>
          </p:txBody>
        </p:sp>
        <p:sp>
          <p:nvSpPr>
            <p:cNvPr id="24" name="Rectangle 20"/>
            <p:cNvSpPr>
              <a:spLocks noChangeArrowheads="1"/>
            </p:cNvSpPr>
            <p:nvPr/>
          </p:nvSpPr>
          <p:spPr bwMode="auto">
            <a:xfrm>
              <a:off x="2493776" y="1780078"/>
              <a:ext cx="284386" cy="1709940"/>
            </a:xfrm>
            <a:prstGeom prst="rect">
              <a:avLst/>
            </a:prstGeom>
            <a:solidFill>
              <a:srgbClr val="66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000">
                  <a:latin typeface="Times New Roman" panose="02020603050405020304" pitchFamily="18" charset="0"/>
                  <a:ea typeface="微软雅黑" pitchFamily="34" charset="-122"/>
                  <a:cs typeface="Times New Roman" panose="02020603050405020304" pitchFamily="18" charset="0"/>
                </a:rPr>
                <a:t>A</a:t>
              </a:r>
            </a:p>
          </p:txBody>
        </p:sp>
        <p:sp>
          <p:nvSpPr>
            <p:cNvPr id="25" name="Rectangle 21"/>
            <p:cNvSpPr>
              <a:spLocks noChangeArrowheads="1"/>
            </p:cNvSpPr>
            <p:nvPr/>
          </p:nvSpPr>
          <p:spPr bwMode="auto">
            <a:xfrm>
              <a:off x="3634462" y="1780078"/>
              <a:ext cx="284386" cy="1709940"/>
            </a:xfrm>
            <a:prstGeom prst="rect">
              <a:avLst/>
            </a:prstGeom>
            <a:solidFill>
              <a:srgbClr val="66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000" dirty="0">
                  <a:latin typeface="Times New Roman" panose="02020603050405020304" pitchFamily="18" charset="0"/>
                  <a:ea typeface="微软雅黑" pitchFamily="34" charset="-122"/>
                  <a:cs typeface="Times New Roman" panose="02020603050405020304" pitchFamily="18" charset="0"/>
                </a:rPr>
                <a:t>A</a:t>
              </a:r>
            </a:p>
          </p:txBody>
        </p:sp>
        <p:sp>
          <p:nvSpPr>
            <p:cNvPr id="26" name="Rectangle 22"/>
            <p:cNvSpPr>
              <a:spLocks noChangeArrowheads="1"/>
            </p:cNvSpPr>
            <p:nvPr/>
          </p:nvSpPr>
          <p:spPr bwMode="auto">
            <a:xfrm>
              <a:off x="4775147" y="1780078"/>
              <a:ext cx="284386" cy="1709940"/>
            </a:xfrm>
            <a:prstGeom prst="rect">
              <a:avLst/>
            </a:prstGeom>
            <a:solidFill>
              <a:srgbClr val="66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000">
                  <a:latin typeface="Times New Roman" panose="02020603050405020304" pitchFamily="18" charset="0"/>
                  <a:ea typeface="微软雅黑" pitchFamily="34" charset="-122"/>
                  <a:cs typeface="Times New Roman" panose="02020603050405020304" pitchFamily="18" charset="0"/>
                </a:rPr>
                <a:t>A</a:t>
              </a:r>
            </a:p>
          </p:txBody>
        </p:sp>
        <p:sp>
          <p:nvSpPr>
            <p:cNvPr id="28" name="Text Box 31"/>
            <p:cNvSpPr txBox="1">
              <a:spLocks noChangeArrowheads="1"/>
            </p:cNvSpPr>
            <p:nvPr/>
          </p:nvSpPr>
          <p:spPr bwMode="auto">
            <a:xfrm>
              <a:off x="1489784" y="3687265"/>
              <a:ext cx="551489" cy="203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en-US" altLang="zh-CN" sz="800" dirty="0">
                  <a:latin typeface="Times New Roman" panose="02020603050405020304" pitchFamily="18" charset="0"/>
                  <a:ea typeface="微软雅黑" pitchFamily="34" charset="-122"/>
                </a:rPr>
                <a:t>TDM </a:t>
              </a:r>
              <a:r>
                <a:rPr kumimoji="1" lang="zh-CN" altLang="en-US" sz="800" dirty="0">
                  <a:latin typeface="Times New Roman" panose="02020603050405020304" pitchFamily="18" charset="0"/>
                  <a:ea typeface="微软雅黑" pitchFamily="34" charset="-122"/>
                </a:rPr>
                <a:t>帧</a:t>
              </a:r>
            </a:p>
          </p:txBody>
        </p:sp>
        <p:sp>
          <p:nvSpPr>
            <p:cNvPr id="29" name="AutoShape 32"/>
            <p:cNvSpPr>
              <a:spLocks/>
            </p:cNvSpPr>
            <p:nvPr/>
          </p:nvSpPr>
          <p:spPr bwMode="auto">
            <a:xfrm rot="16200000" flipV="1">
              <a:off x="1858168" y="3051717"/>
              <a:ext cx="130530" cy="1139115"/>
            </a:xfrm>
            <a:prstGeom prst="leftBrace">
              <a:avLst>
                <a:gd name="adj1" fmla="val 67130"/>
                <a:gd name="adj2" fmla="val 50000"/>
              </a:avLst>
            </a:prstGeom>
            <a:noFill/>
            <a:ln w="12700">
              <a:solidFill>
                <a:schemeClr val="accent6">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a:latin typeface="Times New Roman" panose="02020603050405020304" pitchFamily="18" charset="0"/>
                <a:ea typeface="微软雅黑" pitchFamily="34" charset="-122"/>
              </a:endParaRPr>
            </a:p>
          </p:txBody>
        </p:sp>
        <p:sp>
          <p:nvSpPr>
            <p:cNvPr id="31" name="Text Box 34"/>
            <p:cNvSpPr txBox="1">
              <a:spLocks noChangeArrowheads="1"/>
            </p:cNvSpPr>
            <p:nvPr/>
          </p:nvSpPr>
          <p:spPr bwMode="auto">
            <a:xfrm>
              <a:off x="2638327" y="3687265"/>
              <a:ext cx="551488" cy="203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en-US" altLang="zh-CN" sz="800" dirty="0">
                  <a:latin typeface="Times New Roman" panose="02020603050405020304" pitchFamily="18" charset="0"/>
                  <a:ea typeface="微软雅黑" pitchFamily="34" charset="-122"/>
                </a:rPr>
                <a:t>TDM </a:t>
              </a:r>
              <a:r>
                <a:rPr kumimoji="1" lang="zh-CN" altLang="en-US" sz="800" dirty="0">
                  <a:latin typeface="Times New Roman" panose="02020603050405020304" pitchFamily="18" charset="0"/>
                  <a:ea typeface="微软雅黑" pitchFamily="34" charset="-122"/>
                </a:rPr>
                <a:t>帧</a:t>
              </a:r>
            </a:p>
          </p:txBody>
        </p:sp>
        <p:sp>
          <p:nvSpPr>
            <p:cNvPr id="32" name="AutoShape 35"/>
            <p:cNvSpPr>
              <a:spLocks/>
            </p:cNvSpPr>
            <p:nvPr/>
          </p:nvSpPr>
          <p:spPr bwMode="auto">
            <a:xfrm rot="16200000" flipV="1">
              <a:off x="2997283" y="3051718"/>
              <a:ext cx="130530" cy="1139113"/>
            </a:xfrm>
            <a:prstGeom prst="leftBrace">
              <a:avLst>
                <a:gd name="adj1" fmla="val 67130"/>
                <a:gd name="adj2" fmla="val 50000"/>
              </a:avLst>
            </a:prstGeom>
            <a:noFill/>
            <a:ln w="12700">
              <a:solidFill>
                <a:schemeClr val="accent6">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a:latin typeface="Times New Roman" panose="02020603050405020304" pitchFamily="18" charset="0"/>
                <a:ea typeface="微软雅黑" pitchFamily="34" charset="-122"/>
              </a:endParaRPr>
            </a:p>
          </p:txBody>
        </p:sp>
        <p:sp>
          <p:nvSpPr>
            <p:cNvPr id="34" name="Text Box 37"/>
            <p:cNvSpPr txBox="1">
              <a:spLocks noChangeArrowheads="1"/>
            </p:cNvSpPr>
            <p:nvPr/>
          </p:nvSpPr>
          <p:spPr bwMode="auto">
            <a:xfrm>
              <a:off x="3779010" y="3687265"/>
              <a:ext cx="551489" cy="203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en-US" altLang="zh-CN" sz="800" dirty="0">
                  <a:latin typeface="Times New Roman" panose="02020603050405020304" pitchFamily="18" charset="0"/>
                  <a:ea typeface="微软雅黑" pitchFamily="34" charset="-122"/>
                </a:rPr>
                <a:t>TDM </a:t>
              </a:r>
              <a:r>
                <a:rPr kumimoji="1" lang="zh-CN" altLang="en-US" sz="800" dirty="0">
                  <a:latin typeface="Times New Roman" panose="02020603050405020304" pitchFamily="18" charset="0"/>
                  <a:ea typeface="微软雅黑" pitchFamily="34" charset="-122"/>
                </a:rPr>
                <a:t>帧</a:t>
              </a:r>
            </a:p>
          </p:txBody>
        </p:sp>
        <p:sp>
          <p:nvSpPr>
            <p:cNvPr id="35" name="AutoShape 38"/>
            <p:cNvSpPr>
              <a:spLocks/>
            </p:cNvSpPr>
            <p:nvPr/>
          </p:nvSpPr>
          <p:spPr bwMode="auto">
            <a:xfrm rot="16200000" flipV="1">
              <a:off x="4136396" y="3051717"/>
              <a:ext cx="130530" cy="1139115"/>
            </a:xfrm>
            <a:prstGeom prst="leftBrace">
              <a:avLst>
                <a:gd name="adj1" fmla="val 67130"/>
                <a:gd name="adj2" fmla="val 50000"/>
              </a:avLst>
            </a:prstGeom>
            <a:noFill/>
            <a:ln w="12700">
              <a:solidFill>
                <a:schemeClr val="accent6">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a:latin typeface="Times New Roman" panose="02020603050405020304" pitchFamily="18" charset="0"/>
                <a:ea typeface="微软雅黑" pitchFamily="34" charset="-122"/>
              </a:endParaRPr>
            </a:p>
          </p:txBody>
        </p:sp>
        <p:sp>
          <p:nvSpPr>
            <p:cNvPr id="37" name="Text Box 40"/>
            <p:cNvSpPr txBox="1">
              <a:spLocks noChangeArrowheads="1"/>
            </p:cNvSpPr>
            <p:nvPr/>
          </p:nvSpPr>
          <p:spPr bwMode="auto">
            <a:xfrm>
              <a:off x="4919696" y="3687265"/>
              <a:ext cx="551488" cy="203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en-US" altLang="zh-CN" sz="800" dirty="0">
                  <a:latin typeface="Times New Roman" panose="02020603050405020304" pitchFamily="18" charset="0"/>
                  <a:ea typeface="微软雅黑" pitchFamily="34" charset="-122"/>
                </a:rPr>
                <a:t>TDM </a:t>
              </a:r>
              <a:r>
                <a:rPr kumimoji="1" lang="zh-CN" altLang="en-US" sz="800" dirty="0">
                  <a:latin typeface="Times New Roman" panose="02020603050405020304" pitchFamily="18" charset="0"/>
                  <a:ea typeface="微软雅黑" pitchFamily="34" charset="-122"/>
                </a:rPr>
                <a:t>帧</a:t>
              </a:r>
            </a:p>
          </p:txBody>
        </p:sp>
        <p:sp>
          <p:nvSpPr>
            <p:cNvPr id="38" name="AutoShape 41"/>
            <p:cNvSpPr>
              <a:spLocks/>
            </p:cNvSpPr>
            <p:nvPr/>
          </p:nvSpPr>
          <p:spPr bwMode="auto">
            <a:xfrm rot="16200000" flipV="1">
              <a:off x="5275510" y="3051718"/>
              <a:ext cx="130530" cy="1139113"/>
            </a:xfrm>
            <a:prstGeom prst="leftBrace">
              <a:avLst>
                <a:gd name="adj1" fmla="val 67130"/>
                <a:gd name="adj2" fmla="val 50000"/>
              </a:avLst>
            </a:prstGeom>
            <a:noFill/>
            <a:ln w="12700">
              <a:solidFill>
                <a:schemeClr val="accent6">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a:latin typeface="Times New Roman" panose="02020603050405020304" pitchFamily="18" charset="0"/>
                <a:ea typeface="微软雅黑" pitchFamily="34" charset="-122"/>
              </a:endParaRPr>
            </a:p>
          </p:txBody>
        </p:sp>
        <p:sp>
          <p:nvSpPr>
            <p:cNvPr id="39" name="Rectangle 42"/>
            <p:cNvSpPr>
              <a:spLocks noChangeArrowheads="1"/>
            </p:cNvSpPr>
            <p:nvPr/>
          </p:nvSpPr>
          <p:spPr bwMode="auto">
            <a:xfrm>
              <a:off x="6282395" y="2404865"/>
              <a:ext cx="31098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kumimoji="1" lang="en-US" altLang="zh-CN" sz="1000">
                  <a:latin typeface="Times New Roman" panose="02020603050405020304" pitchFamily="18" charset="0"/>
                  <a:ea typeface="微软雅黑" pitchFamily="34" charset="-122"/>
                  <a:cs typeface="Times New Roman" panose="02020603050405020304" pitchFamily="18" charset="0"/>
                </a:rPr>
                <a:t>…</a:t>
              </a:r>
            </a:p>
          </p:txBody>
        </p:sp>
        <p:sp>
          <p:nvSpPr>
            <p:cNvPr id="40" name="Line 43"/>
            <p:cNvSpPr>
              <a:spLocks noChangeShapeType="1"/>
            </p:cNvSpPr>
            <p:nvPr/>
          </p:nvSpPr>
          <p:spPr bwMode="auto">
            <a:xfrm rot="16200000">
              <a:off x="-2969" y="2722794"/>
              <a:ext cx="2712119" cy="0"/>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2" name="Text Box 45"/>
            <p:cNvSpPr txBox="1">
              <a:spLocks noChangeArrowheads="1"/>
            </p:cNvSpPr>
            <p:nvPr/>
          </p:nvSpPr>
          <p:spPr bwMode="auto">
            <a:xfrm>
              <a:off x="6063524" y="3687265"/>
              <a:ext cx="551488" cy="203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en-US" altLang="zh-CN" sz="800" dirty="0">
                  <a:latin typeface="Times New Roman" panose="02020603050405020304" pitchFamily="18" charset="0"/>
                  <a:ea typeface="微软雅黑" pitchFamily="34" charset="-122"/>
                </a:rPr>
                <a:t>TDM </a:t>
              </a:r>
              <a:r>
                <a:rPr kumimoji="1" lang="zh-CN" altLang="en-US" sz="800" dirty="0">
                  <a:latin typeface="Times New Roman" panose="02020603050405020304" pitchFamily="18" charset="0"/>
                  <a:ea typeface="微软雅黑" pitchFamily="34" charset="-122"/>
                </a:rPr>
                <a:t>帧</a:t>
              </a:r>
            </a:p>
          </p:txBody>
        </p:sp>
        <p:sp>
          <p:nvSpPr>
            <p:cNvPr id="43" name="AutoShape 46"/>
            <p:cNvSpPr>
              <a:spLocks/>
            </p:cNvSpPr>
            <p:nvPr/>
          </p:nvSpPr>
          <p:spPr bwMode="auto">
            <a:xfrm rot="16200000" flipV="1">
              <a:off x="6419338" y="3051718"/>
              <a:ext cx="130530" cy="1139113"/>
            </a:xfrm>
            <a:prstGeom prst="leftBrace">
              <a:avLst>
                <a:gd name="adj1" fmla="val 67130"/>
                <a:gd name="adj2" fmla="val 50000"/>
              </a:avLst>
            </a:prstGeom>
            <a:noFill/>
            <a:ln w="12700">
              <a:solidFill>
                <a:schemeClr val="accent6">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a:latin typeface="Times New Roman" panose="02020603050405020304" pitchFamily="18" charset="0"/>
                <a:ea typeface="微软雅黑" pitchFamily="34" charset="-122"/>
              </a:endParaRPr>
            </a:p>
          </p:txBody>
        </p:sp>
        <p:grpSp>
          <p:nvGrpSpPr>
            <p:cNvPr id="44" name="Group 52"/>
            <p:cNvGrpSpPr>
              <a:grpSpLocks/>
            </p:cNvGrpSpPr>
            <p:nvPr/>
          </p:nvGrpSpPr>
          <p:grpSpPr bwMode="auto">
            <a:xfrm>
              <a:off x="2492205" y="1648098"/>
              <a:ext cx="4562741" cy="2171146"/>
              <a:chOff x="1655" y="1570"/>
              <a:chExt cx="2904" cy="1497"/>
            </a:xfrm>
          </p:grpSpPr>
          <p:sp>
            <p:nvSpPr>
              <p:cNvPr id="45" name="Line 47"/>
              <p:cNvSpPr>
                <a:spLocks noChangeShapeType="1"/>
              </p:cNvSpPr>
              <p:nvPr/>
            </p:nvSpPr>
            <p:spPr bwMode="auto">
              <a:xfrm>
                <a:off x="1655" y="1570"/>
                <a:ext cx="0" cy="1497"/>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6" name="Line 48"/>
              <p:cNvSpPr>
                <a:spLocks noChangeShapeType="1"/>
              </p:cNvSpPr>
              <p:nvPr/>
            </p:nvSpPr>
            <p:spPr bwMode="auto">
              <a:xfrm>
                <a:off x="2381" y="1570"/>
                <a:ext cx="0" cy="1497"/>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7" name="Line 49"/>
              <p:cNvSpPr>
                <a:spLocks noChangeShapeType="1"/>
              </p:cNvSpPr>
              <p:nvPr/>
            </p:nvSpPr>
            <p:spPr bwMode="auto">
              <a:xfrm>
                <a:off x="3107" y="1570"/>
                <a:ext cx="0" cy="1497"/>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8" name="Line 50"/>
              <p:cNvSpPr>
                <a:spLocks noChangeShapeType="1"/>
              </p:cNvSpPr>
              <p:nvPr/>
            </p:nvSpPr>
            <p:spPr bwMode="auto">
              <a:xfrm>
                <a:off x="3833" y="1570"/>
                <a:ext cx="0" cy="1497"/>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9" name="Line 51"/>
              <p:cNvSpPr>
                <a:spLocks noChangeShapeType="1"/>
              </p:cNvSpPr>
              <p:nvPr/>
            </p:nvSpPr>
            <p:spPr bwMode="auto">
              <a:xfrm>
                <a:off x="4559" y="1570"/>
                <a:ext cx="0" cy="1497"/>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grpSp>
      </p:grpSp>
      <p:grpSp>
        <p:nvGrpSpPr>
          <p:cNvPr id="2" name="组合 1">
            <a:extLst>
              <a:ext uri="{FF2B5EF4-FFF2-40B4-BE49-F238E27FC236}">
                <a16:creationId xmlns:a16="http://schemas.microsoft.com/office/drawing/2014/main" id="{81EC0AB5-8135-F691-E21E-1AD646C5A14B}"/>
              </a:ext>
            </a:extLst>
          </p:cNvPr>
          <p:cNvGrpSpPr/>
          <p:nvPr/>
        </p:nvGrpSpPr>
        <p:grpSpPr>
          <a:xfrm>
            <a:off x="1494497" y="1137019"/>
            <a:ext cx="3404774" cy="577795"/>
            <a:chOff x="1494497" y="1137019"/>
            <a:chExt cx="3404774" cy="577795"/>
          </a:xfrm>
        </p:grpSpPr>
        <p:sp>
          <p:nvSpPr>
            <p:cNvPr id="50" name="Text Box 53"/>
            <p:cNvSpPr txBox="1">
              <a:spLocks noChangeArrowheads="1"/>
            </p:cNvSpPr>
            <p:nvPr/>
          </p:nvSpPr>
          <p:spPr bwMode="auto">
            <a:xfrm>
              <a:off x="2688916" y="1137019"/>
              <a:ext cx="1082349" cy="286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zh-CN" altLang="en-US" sz="1400" b="1" dirty="0">
                  <a:solidFill>
                    <a:srgbClr val="C00000"/>
                  </a:solidFill>
                  <a:latin typeface="微软雅黑" pitchFamily="34" charset="-122"/>
                  <a:ea typeface="微软雅黑" pitchFamily="34" charset="-122"/>
                </a:rPr>
                <a:t>周期性出现</a:t>
              </a:r>
            </a:p>
          </p:txBody>
        </p:sp>
        <p:sp>
          <p:nvSpPr>
            <p:cNvPr id="52" name="Line 26"/>
            <p:cNvSpPr>
              <a:spLocks noChangeShapeType="1"/>
            </p:cNvSpPr>
            <p:nvPr/>
          </p:nvSpPr>
          <p:spPr bwMode="auto">
            <a:xfrm flipH="1">
              <a:off x="1494497" y="1385588"/>
              <a:ext cx="1711814" cy="329225"/>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53" name="Line 27"/>
            <p:cNvSpPr>
              <a:spLocks noChangeShapeType="1"/>
            </p:cNvSpPr>
            <p:nvPr/>
          </p:nvSpPr>
          <p:spPr bwMode="auto">
            <a:xfrm flipH="1">
              <a:off x="2628896" y="1385588"/>
              <a:ext cx="577414" cy="329226"/>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54" name="Line 28"/>
            <p:cNvSpPr>
              <a:spLocks noChangeShapeType="1"/>
            </p:cNvSpPr>
            <p:nvPr/>
          </p:nvSpPr>
          <p:spPr bwMode="auto">
            <a:xfrm>
              <a:off x="3206311" y="1385588"/>
              <a:ext cx="558559" cy="329225"/>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55" name="Line 29"/>
            <p:cNvSpPr>
              <a:spLocks noChangeShapeType="1"/>
            </p:cNvSpPr>
            <p:nvPr/>
          </p:nvSpPr>
          <p:spPr bwMode="auto">
            <a:xfrm>
              <a:off x="3206311" y="1385588"/>
              <a:ext cx="1692960" cy="329225"/>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grpSp>
    </p:spTree>
    <p:extLst>
      <p:ext uri="{BB962C8B-B14F-4D97-AF65-F5344CB8AC3E}">
        <p14:creationId xmlns:p14="http://schemas.microsoft.com/office/powerpoint/2010/main" val="291365669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466343" y="900000"/>
            <a:ext cx="8129017" cy="3376990"/>
          </a:xfrm>
        </p:spPr>
        <p:txBody>
          <a:bodyPr/>
          <a:lstStyle/>
          <a:p>
            <a:r>
              <a:rPr lang="zh-CN" altLang="en-US" dirty="0"/>
              <a:t>可让 </a:t>
            </a:r>
            <a:r>
              <a:rPr lang="en-US" altLang="zh-CN" dirty="0"/>
              <a:t>N </a:t>
            </a:r>
            <a:r>
              <a:rPr lang="zh-CN" altLang="en-US" dirty="0"/>
              <a:t>个用户各使用一个频带，或让更多的用户轮流使用这 </a:t>
            </a:r>
            <a:r>
              <a:rPr lang="en-US" altLang="zh-CN" dirty="0"/>
              <a:t>N </a:t>
            </a:r>
            <a:r>
              <a:rPr lang="zh-CN" altLang="en-US" dirty="0"/>
              <a:t>个频带。这种方式称为频分多址接入 </a:t>
            </a:r>
            <a:r>
              <a:rPr lang="en-US" altLang="zh-CN" dirty="0"/>
              <a:t>FDMA (Frequency Division Multiple Access)</a:t>
            </a:r>
            <a:r>
              <a:rPr lang="zh-CN" altLang="en-US" dirty="0"/>
              <a:t>，简称为频分多址。</a:t>
            </a:r>
            <a:endParaRPr lang="en-US" altLang="zh-CN" dirty="0"/>
          </a:p>
          <a:p>
            <a:r>
              <a:rPr lang="zh-CN" altLang="en-US" dirty="0"/>
              <a:t>可让</a:t>
            </a:r>
            <a:r>
              <a:rPr lang="en-US" altLang="zh-CN" dirty="0"/>
              <a:t> N </a:t>
            </a:r>
            <a:r>
              <a:rPr lang="zh-CN" altLang="en-US" dirty="0"/>
              <a:t>个用户各使用一个时隙，或让更多的用户轮流使用这 </a:t>
            </a:r>
            <a:r>
              <a:rPr lang="en-US" altLang="zh-CN" dirty="0"/>
              <a:t>N </a:t>
            </a:r>
            <a:r>
              <a:rPr lang="zh-CN" altLang="en-US" dirty="0"/>
              <a:t>个时隙。这种方式称为时分多址接入 </a:t>
            </a:r>
            <a:r>
              <a:rPr lang="en-US" altLang="zh-CN" dirty="0"/>
              <a:t>TDMA (Time Division Multiple Access)</a:t>
            </a:r>
            <a:r>
              <a:rPr lang="zh-CN" altLang="en-US" dirty="0"/>
              <a:t>，简称为时分多址。</a:t>
            </a:r>
            <a:endParaRPr lang="en-US" altLang="zh-CN" dirty="0"/>
          </a:p>
          <a:p>
            <a:endParaRPr lang="zh-CN" altLang="en-US" dirty="0"/>
          </a:p>
        </p:txBody>
      </p:sp>
      <p:sp>
        <p:nvSpPr>
          <p:cNvPr id="4" name="文本占位符 3"/>
          <p:cNvSpPr>
            <a:spLocks noGrp="1"/>
          </p:cNvSpPr>
          <p:nvPr>
            <p:ph type="body" sz="quarter" idx="11"/>
          </p:nvPr>
        </p:nvSpPr>
        <p:spPr>
          <a:xfrm>
            <a:off x="1332000" y="360000"/>
            <a:ext cx="6480000" cy="354012"/>
          </a:xfrm>
        </p:spPr>
        <p:txBody>
          <a:bodyPr>
            <a:normAutofit fontScale="92500" lnSpcReduction="10000"/>
          </a:bodyPr>
          <a:lstStyle/>
          <a:p>
            <a:r>
              <a:rPr lang="zh-CN" altLang="en-US" dirty="0"/>
              <a:t>频分多址与时分多址</a:t>
            </a:r>
          </a:p>
        </p:txBody>
      </p:sp>
    </p:spTree>
    <p:extLst>
      <p:ext uri="{BB962C8B-B14F-4D97-AF65-F5344CB8AC3E}">
        <p14:creationId xmlns:p14="http://schemas.microsoft.com/office/powerpoint/2010/main" val="335217923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85DFA-EA2D-699B-C819-427763755ECA}"/>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34757CCF-1A75-C9B7-A3F8-6F32435F9205}"/>
              </a:ext>
            </a:extLst>
          </p:cNvPr>
          <p:cNvSpPr>
            <a:spLocks noGrp="1"/>
          </p:cNvSpPr>
          <p:nvPr>
            <p:ph sz="quarter" idx="10"/>
          </p:nvPr>
        </p:nvSpPr>
        <p:spPr>
          <a:xfrm>
            <a:off x="466343" y="900000"/>
            <a:ext cx="8129017" cy="3376990"/>
          </a:xfrm>
        </p:spPr>
        <p:txBody>
          <a:bodyPr/>
          <a:lstStyle/>
          <a:p>
            <a:r>
              <a:rPr lang="en-US" altLang="zh-CN" dirty="0"/>
              <a:t>OFDM (Orthogonal Frequency-Division Multiplexing)</a:t>
            </a:r>
            <a:r>
              <a:rPr lang="zh-CN" altLang="en-US" dirty="0"/>
              <a:t>是目前使用得非常广泛的一种多载波数字调制技术。</a:t>
            </a:r>
            <a:endParaRPr lang="en-US" altLang="zh-CN" dirty="0"/>
          </a:p>
          <a:p>
            <a:r>
              <a:rPr lang="en-US" altLang="zh-CN" dirty="0"/>
              <a:t>OFDM</a:t>
            </a:r>
            <a:r>
              <a:rPr lang="zh-CN" altLang="en-US" dirty="0"/>
              <a:t>把要传送高速数字信号，分割成很多个低速数字信号，并分别把这些低速数字信号，同时调制在彼此相互正交</a:t>
            </a:r>
            <a:r>
              <a:rPr lang="en-US" altLang="zh-CN" dirty="0"/>
              <a:t>(orthogonal)</a:t>
            </a:r>
            <a:r>
              <a:rPr lang="zh-CN" altLang="en-US" dirty="0"/>
              <a:t>的子载波上并行传输。</a:t>
            </a:r>
            <a:endParaRPr lang="en-US" altLang="zh-CN" dirty="0"/>
          </a:p>
          <a:p>
            <a:r>
              <a:rPr lang="zh-CN" altLang="en-US" dirty="0"/>
              <a:t>正交的子载波之间互不干扰（实际上是干扰非常小）。</a:t>
            </a:r>
            <a:endParaRPr lang="en-US" altLang="zh-CN" dirty="0"/>
          </a:p>
          <a:p>
            <a:r>
              <a:rPr lang="zh-CN" altLang="en-US" dirty="0"/>
              <a:t>由于每个子信道上的数据率降低了，因而就有了更好的抗多径干扰的能力。</a:t>
            </a:r>
          </a:p>
        </p:txBody>
      </p:sp>
      <p:sp>
        <p:nvSpPr>
          <p:cNvPr id="4" name="文本占位符 3">
            <a:extLst>
              <a:ext uri="{FF2B5EF4-FFF2-40B4-BE49-F238E27FC236}">
                <a16:creationId xmlns:a16="http://schemas.microsoft.com/office/drawing/2014/main" id="{12198CB0-7649-C6E0-F242-C541AF4FCB57}"/>
              </a:ext>
            </a:extLst>
          </p:cNvPr>
          <p:cNvSpPr>
            <a:spLocks noGrp="1"/>
          </p:cNvSpPr>
          <p:nvPr>
            <p:ph type="body" sz="quarter" idx="11"/>
          </p:nvPr>
        </p:nvSpPr>
        <p:spPr>
          <a:xfrm>
            <a:off x="1332000" y="360000"/>
            <a:ext cx="6480000" cy="354012"/>
          </a:xfrm>
        </p:spPr>
        <p:txBody>
          <a:bodyPr>
            <a:normAutofit fontScale="92500" lnSpcReduction="10000"/>
          </a:bodyPr>
          <a:lstStyle/>
          <a:p>
            <a:r>
              <a:rPr lang="zh-CN" altLang="en-US" dirty="0"/>
              <a:t>正交频分复用</a:t>
            </a:r>
            <a:r>
              <a:rPr lang="en-US" altLang="zh-CN" dirty="0"/>
              <a:t>OFDM </a:t>
            </a:r>
            <a:endParaRPr lang="zh-CN" altLang="en-US" dirty="0"/>
          </a:p>
        </p:txBody>
      </p:sp>
    </p:spTree>
    <p:extLst>
      <p:ext uri="{BB962C8B-B14F-4D97-AF65-F5344CB8AC3E}">
        <p14:creationId xmlns:p14="http://schemas.microsoft.com/office/powerpoint/2010/main" val="212383516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6AD9F-5319-2E55-F7B4-C5896C4E9F2B}"/>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602E62EA-C35A-5475-7F56-EE91C03C39CC}"/>
              </a:ext>
            </a:extLst>
          </p:cNvPr>
          <p:cNvSpPr>
            <a:spLocks noGrp="1"/>
          </p:cNvSpPr>
          <p:nvPr>
            <p:ph sz="quarter" idx="10"/>
          </p:nvPr>
        </p:nvSpPr>
        <p:spPr>
          <a:xfrm>
            <a:off x="466343" y="900000"/>
            <a:ext cx="8129017" cy="3376990"/>
          </a:xfrm>
        </p:spPr>
        <p:txBody>
          <a:bodyPr/>
          <a:lstStyle/>
          <a:p>
            <a:r>
              <a:rPr lang="zh-CN" altLang="en-US" dirty="0"/>
              <a:t>为了使多个用户在不同地点共同高效地使用正交频分复用技术，可以使用正交频分多址</a:t>
            </a:r>
            <a:r>
              <a:rPr lang="en-US" altLang="zh-CN" dirty="0"/>
              <a:t>OFDMA (Orthogonal Frequency-Division Multiple Access)</a:t>
            </a:r>
            <a:r>
              <a:rPr lang="zh-CN" altLang="en-US" dirty="0"/>
              <a:t>。</a:t>
            </a:r>
            <a:endParaRPr lang="en-US" altLang="zh-CN" dirty="0"/>
          </a:p>
          <a:p>
            <a:r>
              <a:rPr lang="zh-CN" altLang="en-US" dirty="0"/>
              <a:t>将整个频带划分为多个子载波，同时将时间划分为多个时隙，从而形成二维的资源块</a:t>
            </a:r>
            <a:r>
              <a:rPr lang="en-US" altLang="zh-CN" dirty="0"/>
              <a:t>RB (Resource Block)</a:t>
            </a:r>
            <a:r>
              <a:rPr lang="zh-CN" altLang="en-US" dirty="0"/>
              <a:t>，每个资源块包括若干个子载波和若干个时隙。</a:t>
            </a:r>
            <a:endParaRPr lang="en-US" altLang="zh-CN" dirty="0"/>
          </a:p>
          <a:p>
            <a:r>
              <a:rPr lang="zh-CN" altLang="en-US" dirty="0"/>
              <a:t>根据用户需求和无线环境，动态地为每一个用户分配不同数量的资源块，实现对频谱的灵活高效利用。</a:t>
            </a:r>
          </a:p>
        </p:txBody>
      </p:sp>
      <p:sp>
        <p:nvSpPr>
          <p:cNvPr id="4" name="文本占位符 3">
            <a:extLst>
              <a:ext uri="{FF2B5EF4-FFF2-40B4-BE49-F238E27FC236}">
                <a16:creationId xmlns:a16="http://schemas.microsoft.com/office/drawing/2014/main" id="{908E69D4-7376-D81E-A290-7F586F68A476}"/>
              </a:ext>
            </a:extLst>
          </p:cNvPr>
          <p:cNvSpPr>
            <a:spLocks noGrp="1"/>
          </p:cNvSpPr>
          <p:nvPr>
            <p:ph type="body" sz="quarter" idx="11"/>
          </p:nvPr>
        </p:nvSpPr>
        <p:spPr>
          <a:xfrm>
            <a:off x="1332000" y="360000"/>
            <a:ext cx="6480000" cy="354012"/>
          </a:xfrm>
        </p:spPr>
        <p:txBody>
          <a:bodyPr>
            <a:normAutofit fontScale="92500" lnSpcReduction="10000"/>
          </a:bodyPr>
          <a:lstStyle/>
          <a:p>
            <a:r>
              <a:rPr lang="zh-CN" altLang="en-US" dirty="0"/>
              <a:t>正交频分多址</a:t>
            </a:r>
            <a:r>
              <a:rPr lang="en-US" altLang="zh-CN" dirty="0"/>
              <a:t>OFDMA</a:t>
            </a:r>
            <a:endParaRPr lang="zh-CN" altLang="en-US" dirty="0"/>
          </a:p>
        </p:txBody>
      </p:sp>
    </p:spTree>
    <p:extLst>
      <p:ext uri="{BB962C8B-B14F-4D97-AF65-F5344CB8AC3E}">
        <p14:creationId xmlns:p14="http://schemas.microsoft.com/office/powerpoint/2010/main" val="206775026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1"/>
          </p:nvPr>
        </p:nvSpPr>
        <p:spPr>
          <a:xfrm>
            <a:off x="1332000" y="360000"/>
            <a:ext cx="6480000" cy="354012"/>
          </a:xfrm>
        </p:spPr>
        <p:txBody>
          <a:bodyPr>
            <a:normAutofit fontScale="92500" lnSpcReduction="10000"/>
          </a:bodyPr>
          <a:lstStyle/>
          <a:p>
            <a:r>
              <a:rPr lang="zh-CN" altLang="en-US" dirty="0"/>
              <a:t>波分复用</a:t>
            </a:r>
          </a:p>
        </p:txBody>
      </p:sp>
      <p:sp>
        <p:nvSpPr>
          <p:cNvPr id="7" name="Text Box 2"/>
          <p:cNvSpPr txBox="1">
            <a:spLocks noChangeArrowheads="1"/>
          </p:cNvSpPr>
          <p:nvPr/>
        </p:nvSpPr>
        <p:spPr bwMode="auto">
          <a:xfrm flipH="1">
            <a:off x="5844729" y="2193603"/>
            <a:ext cx="1558440" cy="183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ts val="1700"/>
              </a:lnSpc>
            </a:pPr>
            <a:r>
              <a:rPr kumimoji="1" lang="en-US" altLang="zh-CN" sz="1200" b="1" dirty="0">
                <a:latin typeface="微软雅黑" pitchFamily="34" charset="-122"/>
                <a:ea typeface="微软雅黑" pitchFamily="34" charset="-122"/>
              </a:rPr>
              <a:t> 1550 nm           0 </a:t>
            </a:r>
          </a:p>
          <a:p>
            <a:pPr algn="l">
              <a:lnSpc>
                <a:spcPts val="1700"/>
              </a:lnSpc>
            </a:pPr>
            <a:r>
              <a:rPr kumimoji="1" lang="en-US" altLang="zh-CN" sz="1200" b="1" dirty="0">
                <a:latin typeface="微软雅黑" pitchFamily="34" charset="-122"/>
                <a:ea typeface="微软雅黑" pitchFamily="34" charset="-122"/>
              </a:rPr>
              <a:t> 1551 nm           1</a:t>
            </a:r>
          </a:p>
          <a:p>
            <a:pPr algn="l">
              <a:lnSpc>
                <a:spcPts val="1700"/>
              </a:lnSpc>
            </a:pPr>
            <a:r>
              <a:rPr kumimoji="1" lang="en-US" altLang="zh-CN" sz="1200" b="1" dirty="0">
                <a:latin typeface="微软雅黑" pitchFamily="34" charset="-122"/>
                <a:ea typeface="微软雅黑" pitchFamily="34" charset="-122"/>
              </a:rPr>
              <a:t> 1552 nm           2</a:t>
            </a:r>
          </a:p>
          <a:p>
            <a:pPr algn="l">
              <a:lnSpc>
                <a:spcPts val="1700"/>
              </a:lnSpc>
            </a:pPr>
            <a:r>
              <a:rPr kumimoji="1" lang="en-US" altLang="zh-CN" sz="1200" b="1" dirty="0">
                <a:latin typeface="微软雅黑" pitchFamily="34" charset="-122"/>
                <a:ea typeface="微软雅黑" pitchFamily="34" charset="-122"/>
              </a:rPr>
              <a:t> 1553 nm           3</a:t>
            </a:r>
          </a:p>
          <a:p>
            <a:pPr algn="l">
              <a:lnSpc>
                <a:spcPts val="1700"/>
              </a:lnSpc>
            </a:pPr>
            <a:r>
              <a:rPr kumimoji="1" lang="en-US" altLang="zh-CN" sz="1200" b="1" dirty="0">
                <a:latin typeface="微软雅黑" pitchFamily="34" charset="-122"/>
                <a:ea typeface="微软雅黑" pitchFamily="34" charset="-122"/>
              </a:rPr>
              <a:t> 1554 nm           4</a:t>
            </a:r>
          </a:p>
          <a:p>
            <a:pPr algn="l">
              <a:lnSpc>
                <a:spcPts val="1700"/>
              </a:lnSpc>
            </a:pPr>
            <a:r>
              <a:rPr kumimoji="1" lang="en-US" altLang="zh-CN" sz="1200" b="1" dirty="0">
                <a:latin typeface="微软雅黑" pitchFamily="34" charset="-122"/>
                <a:ea typeface="微软雅黑" pitchFamily="34" charset="-122"/>
              </a:rPr>
              <a:t> 1555 nm           5</a:t>
            </a:r>
          </a:p>
          <a:p>
            <a:pPr algn="l">
              <a:lnSpc>
                <a:spcPts val="1700"/>
              </a:lnSpc>
            </a:pPr>
            <a:r>
              <a:rPr kumimoji="1" lang="en-US" altLang="zh-CN" sz="1200" b="1" dirty="0">
                <a:latin typeface="微软雅黑" pitchFamily="34" charset="-122"/>
                <a:ea typeface="微软雅黑" pitchFamily="34" charset="-122"/>
              </a:rPr>
              <a:t> 1556 nm           6</a:t>
            </a:r>
          </a:p>
          <a:p>
            <a:pPr algn="l">
              <a:lnSpc>
                <a:spcPts val="1700"/>
              </a:lnSpc>
            </a:pPr>
            <a:r>
              <a:rPr kumimoji="1" lang="en-US" altLang="zh-CN" sz="1200" b="1" dirty="0">
                <a:latin typeface="微软雅黑" pitchFamily="34" charset="-122"/>
                <a:ea typeface="微软雅黑" pitchFamily="34" charset="-122"/>
              </a:rPr>
              <a:t> 1557 nm           7</a:t>
            </a:r>
          </a:p>
        </p:txBody>
      </p:sp>
      <p:sp>
        <p:nvSpPr>
          <p:cNvPr id="8" name="Text Box 3"/>
          <p:cNvSpPr txBox="1">
            <a:spLocks noChangeArrowheads="1"/>
          </p:cNvSpPr>
          <p:nvPr/>
        </p:nvSpPr>
        <p:spPr bwMode="auto">
          <a:xfrm>
            <a:off x="1704343" y="2197384"/>
            <a:ext cx="1697901" cy="183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ts val="1700"/>
              </a:lnSpc>
            </a:pPr>
            <a:r>
              <a:rPr kumimoji="1" lang="en-US" altLang="zh-CN" sz="1200" b="1" dirty="0">
                <a:latin typeface="微软雅黑" pitchFamily="34" charset="-122"/>
                <a:ea typeface="微软雅黑" pitchFamily="34" charset="-122"/>
              </a:rPr>
              <a:t>0            1550 nm    </a:t>
            </a:r>
          </a:p>
          <a:p>
            <a:pPr algn="l">
              <a:lnSpc>
                <a:spcPts val="1700"/>
              </a:lnSpc>
            </a:pPr>
            <a:r>
              <a:rPr kumimoji="1" lang="en-US" altLang="zh-CN" sz="1200" b="1" dirty="0">
                <a:latin typeface="微软雅黑" pitchFamily="34" charset="-122"/>
                <a:ea typeface="微软雅黑" pitchFamily="34" charset="-122"/>
              </a:rPr>
              <a:t>1            1551 nm  </a:t>
            </a:r>
          </a:p>
          <a:p>
            <a:pPr algn="l">
              <a:lnSpc>
                <a:spcPts val="1700"/>
              </a:lnSpc>
            </a:pPr>
            <a:r>
              <a:rPr kumimoji="1" lang="en-US" altLang="zh-CN" sz="1200" b="1" dirty="0">
                <a:latin typeface="微软雅黑" pitchFamily="34" charset="-122"/>
                <a:ea typeface="微软雅黑" pitchFamily="34" charset="-122"/>
              </a:rPr>
              <a:t>2            1552 nm  </a:t>
            </a:r>
          </a:p>
          <a:p>
            <a:pPr algn="l">
              <a:lnSpc>
                <a:spcPts val="1700"/>
              </a:lnSpc>
            </a:pPr>
            <a:r>
              <a:rPr kumimoji="1" lang="en-US" altLang="zh-CN" sz="1200" b="1" dirty="0">
                <a:latin typeface="微软雅黑" pitchFamily="34" charset="-122"/>
                <a:ea typeface="微软雅黑" pitchFamily="34" charset="-122"/>
              </a:rPr>
              <a:t>3            1553 nm  </a:t>
            </a:r>
          </a:p>
          <a:p>
            <a:pPr algn="l">
              <a:lnSpc>
                <a:spcPts val="1700"/>
              </a:lnSpc>
            </a:pPr>
            <a:r>
              <a:rPr kumimoji="1" lang="en-US" altLang="zh-CN" sz="1200" b="1" dirty="0">
                <a:latin typeface="微软雅黑" pitchFamily="34" charset="-122"/>
                <a:ea typeface="微软雅黑" pitchFamily="34" charset="-122"/>
              </a:rPr>
              <a:t>4            1554 nm  </a:t>
            </a:r>
          </a:p>
          <a:p>
            <a:pPr algn="l">
              <a:lnSpc>
                <a:spcPts val="1700"/>
              </a:lnSpc>
            </a:pPr>
            <a:r>
              <a:rPr kumimoji="1" lang="en-US" altLang="zh-CN" sz="1200" b="1" dirty="0">
                <a:latin typeface="微软雅黑" pitchFamily="34" charset="-122"/>
                <a:ea typeface="微软雅黑" pitchFamily="34" charset="-122"/>
              </a:rPr>
              <a:t>5            1555 nm  </a:t>
            </a:r>
          </a:p>
          <a:p>
            <a:pPr algn="l">
              <a:lnSpc>
                <a:spcPts val="1700"/>
              </a:lnSpc>
            </a:pPr>
            <a:r>
              <a:rPr kumimoji="1" lang="en-US" altLang="zh-CN" sz="1200" b="1" dirty="0">
                <a:latin typeface="微软雅黑" pitchFamily="34" charset="-122"/>
                <a:ea typeface="微软雅黑" pitchFamily="34" charset="-122"/>
              </a:rPr>
              <a:t>6            1556 nm  </a:t>
            </a:r>
          </a:p>
          <a:p>
            <a:pPr algn="l">
              <a:lnSpc>
                <a:spcPts val="1700"/>
              </a:lnSpc>
            </a:pPr>
            <a:r>
              <a:rPr kumimoji="1" lang="en-US" altLang="zh-CN" sz="1200" b="1" dirty="0">
                <a:latin typeface="微软雅黑" pitchFamily="34" charset="-122"/>
                <a:ea typeface="微软雅黑" pitchFamily="34" charset="-122"/>
              </a:rPr>
              <a:t>7            1557 nm  </a:t>
            </a:r>
          </a:p>
        </p:txBody>
      </p:sp>
      <p:sp>
        <p:nvSpPr>
          <p:cNvPr id="9" name="Text Box 6"/>
          <p:cNvSpPr txBox="1">
            <a:spLocks noChangeArrowheads="1"/>
          </p:cNvSpPr>
          <p:nvPr/>
        </p:nvSpPr>
        <p:spPr bwMode="auto">
          <a:xfrm>
            <a:off x="723524" y="2641023"/>
            <a:ext cx="915868" cy="738664"/>
          </a:xfrm>
          <a:prstGeom prst="rect">
            <a:avLst/>
          </a:prstGeom>
          <a:solidFill>
            <a:srgbClr val="00FFCC"/>
          </a:solidFill>
          <a:ln w="19050">
            <a:solidFill>
              <a:srgbClr val="333399"/>
            </a:solidFill>
            <a:miter lim="800000"/>
            <a:headEnd/>
            <a:tailEnd/>
          </a:ln>
          <a:effectLst/>
        </p:spPr>
        <p:txBody>
          <a:bodyPr wrap="square">
            <a:spAutoFit/>
          </a:bodyPr>
          <a:lstStyle/>
          <a:p>
            <a:r>
              <a:rPr kumimoji="1" lang="en-US" altLang="zh-CN" sz="1400" b="1" dirty="0">
                <a:solidFill>
                  <a:srgbClr val="000099"/>
                </a:solidFill>
                <a:latin typeface="+mn-lt"/>
                <a:ea typeface="黑体" pitchFamily="2" charset="-122"/>
              </a:rPr>
              <a:t>8 </a:t>
            </a:r>
            <a:r>
              <a:rPr kumimoji="1" lang="en-US" altLang="zh-CN" sz="1400" b="1" dirty="0">
                <a:solidFill>
                  <a:srgbClr val="000099"/>
                </a:solidFill>
                <a:latin typeface="+mn-lt"/>
                <a:ea typeface="黑体" pitchFamily="2" charset="-122"/>
                <a:sym typeface="Symbol" pitchFamily="18" charset="2"/>
              </a:rPr>
              <a:t> </a:t>
            </a:r>
            <a:r>
              <a:rPr kumimoji="1" lang="en-US" altLang="zh-CN" sz="1400" b="1" dirty="0">
                <a:solidFill>
                  <a:srgbClr val="000099"/>
                </a:solidFill>
                <a:latin typeface="+mn-lt"/>
                <a:ea typeface="黑体" pitchFamily="2" charset="-122"/>
              </a:rPr>
              <a:t>2.5 </a:t>
            </a:r>
            <a:r>
              <a:rPr kumimoji="1" lang="en-US" altLang="zh-CN" sz="1400" b="1" dirty="0" err="1">
                <a:solidFill>
                  <a:srgbClr val="000099"/>
                </a:solidFill>
                <a:latin typeface="+mn-lt"/>
                <a:ea typeface="黑体" pitchFamily="2" charset="-122"/>
              </a:rPr>
              <a:t>Gbit</a:t>
            </a:r>
            <a:r>
              <a:rPr kumimoji="1" lang="en-US" altLang="zh-CN" sz="1400" b="1" dirty="0">
                <a:solidFill>
                  <a:srgbClr val="000099"/>
                </a:solidFill>
                <a:latin typeface="+mn-lt"/>
                <a:ea typeface="黑体" pitchFamily="2" charset="-122"/>
              </a:rPr>
              <a:t>/s</a:t>
            </a:r>
          </a:p>
          <a:p>
            <a:r>
              <a:rPr kumimoji="1" lang="en-US" altLang="zh-CN" sz="1400" b="1" dirty="0">
                <a:solidFill>
                  <a:srgbClr val="000099"/>
                </a:solidFill>
                <a:latin typeface="+mn-lt"/>
                <a:ea typeface="黑体" pitchFamily="2" charset="-122"/>
              </a:rPr>
              <a:t>1310 nm</a:t>
            </a:r>
          </a:p>
        </p:txBody>
      </p:sp>
      <p:sp>
        <p:nvSpPr>
          <p:cNvPr id="10" name="Line 7"/>
          <p:cNvSpPr>
            <a:spLocks noChangeShapeType="1"/>
          </p:cNvSpPr>
          <p:nvPr/>
        </p:nvSpPr>
        <p:spPr bwMode="auto">
          <a:xfrm>
            <a:off x="5949812" y="2422134"/>
            <a:ext cx="1416326" cy="0"/>
          </a:xfrm>
          <a:prstGeom prst="line">
            <a:avLst/>
          </a:prstGeom>
          <a:noFill/>
          <a:ln w="28575">
            <a:solidFill>
              <a:srgbClr val="0000FF"/>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mn-lt"/>
              <a:ea typeface="黑体" pitchFamily="2" charset="-122"/>
            </a:endParaRPr>
          </a:p>
        </p:txBody>
      </p:sp>
      <p:sp>
        <p:nvSpPr>
          <p:cNvPr id="11" name="Line 8"/>
          <p:cNvSpPr>
            <a:spLocks noChangeShapeType="1"/>
          </p:cNvSpPr>
          <p:nvPr/>
        </p:nvSpPr>
        <p:spPr bwMode="auto">
          <a:xfrm>
            <a:off x="5949812" y="2641520"/>
            <a:ext cx="1416326" cy="0"/>
          </a:xfrm>
          <a:prstGeom prst="line">
            <a:avLst/>
          </a:prstGeom>
          <a:noFill/>
          <a:ln w="28575">
            <a:solidFill>
              <a:srgbClr val="0000FF"/>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mn-lt"/>
              <a:ea typeface="黑体" pitchFamily="2" charset="-122"/>
            </a:endParaRPr>
          </a:p>
        </p:txBody>
      </p:sp>
      <p:sp>
        <p:nvSpPr>
          <p:cNvPr id="12" name="Line 9"/>
          <p:cNvSpPr>
            <a:spLocks noChangeShapeType="1"/>
          </p:cNvSpPr>
          <p:nvPr/>
        </p:nvSpPr>
        <p:spPr bwMode="auto">
          <a:xfrm>
            <a:off x="5949812" y="2859913"/>
            <a:ext cx="1416326" cy="0"/>
          </a:xfrm>
          <a:prstGeom prst="line">
            <a:avLst/>
          </a:prstGeom>
          <a:noFill/>
          <a:ln w="28575">
            <a:solidFill>
              <a:srgbClr val="0000FF"/>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mn-lt"/>
              <a:ea typeface="黑体" pitchFamily="2" charset="-122"/>
            </a:endParaRPr>
          </a:p>
        </p:txBody>
      </p:sp>
      <p:sp>
        <p:nvSpPr>
          <p:cNvPr id="13" name="Line 10"/>
          <p:cNvSpPr>
            <a:spLocks noChangeShapeType="1"/>
          </p:cNvSpPr>
          <p:nvPr/>
        </p:nvSpPr>
        <p:spPr bwMode="auto">
          <a:xfrm>
            <a:off x="5949812" y="3080291"/>
            <a:ext cx="1416326" cy="0"/>
          </a:xfrm>
          <a:prstGeom prst="line">
            <a:avLst/>
          </a:prstGeom>
          <a:noFill/>
          <a:ln w="28575">
            <a:solidFill>
              <a:srgbClr val="0000FF"/>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mn-lt"/>
              <a:ea typeface="黑体" pitchFamily="2" charset="-122"/>
            </a:endParaRPr>
          </a:p>
        </p:txBody>
      </p:sp>
      <p:sp>
        <p:nvSpPr>
          <p:cNvPr id="14" name="Line 11"/>
          <p:cNvSpPr>
            <a:spLocks noChangeShapeType="1"/>
          </p:cNvSpPr>
          <p:nvPr/>
        </p:nvSpPr>
        <p:spPr bwMode="auto">
          <a:xfrm>
            <a:off x="5949812" y="3298683"/>
            <a:ext cx="1416326" cy="0"/>
          </a:xfrm>
          <a:prstGeom prst="line">
            <a:avLst/>
          </a:prstGeom>
          <a:noFill/>
          <a:ln w="28575">
            <a:solidFill>
              <a:srgbClr val="0000FF"/>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mn-lt"/>
              <a:ea typeface="黑体" pitchFamily="2" charset="-122"/>
            </a:endParaRPr>
          </a:p>
        </p:txBody>
      </p:sp>
      <p:sp>
        <p:nvSpPr>
          <p:cNvPr id="15" name="Line 12"/>
          <p:cNvSpPr>
            <a:spLocks noChangeShapeType="1"/>
          </p:cNvSpPr>
          <p:nvPr/>
        </p:nvSpPr>
        <p:spPr bwMode="auto">
          <a:xfrm>
            <a:off x="5949812" y="3519061"/>
            <a:ext cx="1416326" cy="0"/>
          </a:xfrm>
          <a:prstGeom prst="line">
            <a:avLst/>
          </a:prstGeom>
          <a:noFill/>
          <a:ln w="28575">
            <a:solidFill>
              <a:srgbClr val="0000FF"/>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mn-lt"/>
              <a:ea typeface="黑体" pitchFamily="2" charset="-122"/>
            </a:endParaRPr>
          </a:p>
        </p:txBody>
      </p:sp>
      <p:sp>
        <p:nvSpPr>
          <p:cNvPr id="16" name="Line 13"/>
          <p:cNvSpPr>
            <a:spLocks noChangeShapeType="1"/>
          </p:cNvSpPr>
          <p:nvPr/>
        </p:nvSpPr>
        <p:spPr bwMode="auto">
          <a:xfrm>
            <a:off x="5949812" y="3737454"/>
            <a:ext cx="1416326" cy="0"/>
          </a:xfrm>
          <a:prstGeom prst="line">
            <a:avLst/>
          </a:prstGeom>
          <a:noFill/>
          <a:ln w="28575">
            <a:solidFill>
              <a:srgbClr val="0000FF"/>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mn-lt"/>
              <a:ea typeface="黑体" pitchFamily="2" charset="-122"/>
            </a:endParaRPr>
          </a:p>
        </p:txBody>
      </p:sp>
      <p:sp>
        <p:nvSpPr>
          <p:cNvPr id="17" name="Line 14"/>
          <p:cNvSpPr>
            <a:spLocks noChangeShapeType="1"/>
          </p:cNvSpPr>
          <p:nvPr/>
        </p:nvSpPr>
        <p:spPr bwMode="auto">
          <a:xfrm>
            <a:off x="5949812" y="3957832"/>
            <a:ext cx="1416326" cy="0"/>
          </a:xfrm>
          <a:prstGeom prst="line">
            <a:avLst/>
          </a:prstGeom>
          <a:noFill/>
          <a:ln w="28575">
            <a:solidFill>
              <a:srgbClr val="0000FF"/>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mn-lt"/>
              <a:ea typeface="黑体" pitchFamily="2" charset="-122"/>
            </a:endParaRPr>
          </a:p>
        </p:txBody>
      </p:sp>
      <p:sp>
        <p:nvSpPr>
          <p:cNvPr id="18" name="Line 15"/>
          <p:cNvSpPr>
            <a:spLocks noChangeShapeType="1"/>
          </p:cNvSpPr>
          <p:nvPr/>
        </p:nvSpPr>
        <p:spPr bwMode="auto">
          <a:xfrm>
            <a:off x="1780544" y="2422134"/>
            <a:ext cx="1416325" cy="0"/>
          </a:xfrm>
          <a:prstGeom prst="line">
            <a:avLst/>
          </a:prstGeom>
          <a:noFill/>
          <a:ln w="28575">
            <a:solidFill>
              <a:srgbClr val="0000FF"/>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mn-lt"/>
              <a:ea typeface="黑体" pitchFamily="2" charset="-122"/>
            </a:endParaRPr>
          </a:p>
        </p:txBody>
      </p:sp>
      <p:sp>
        <p:nvSpPr>
          <p:cNvPr id="19" name="Line 16"/>
          <p:cNvSpPr>
            <a:spLocks noChangeShapeType="1"/>
          </p:cNvSpPr>
          <p:nvPr/>
        </p:nvSpPr>
        <p:spPr bwMode="auto">
          <a:xfrm>
            <a:off x="1780544" y="2641520"/>
            <a:ext cx="1416325" cy="0"/>
          </a:xfrm>
          <a:prstGeom prst="line">
            <a:avLst/>
          </a:prstGeom>
          <a:noFill/>
          <a:ln w="28575">
            <a:solidFill>
              <a:srgbClr val="0000FF"/>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mn-lt"/>
              <a:ea typeface="黑体" pitchFamily="2" charset="-122"/>
            </a:endParaRPr>
          </a:p>
        </p:txBody>
      </p:sp>
      <p:sp>
        <p:nvSpPr>
          <p:cNvPr id="20" name="Line 17"/>
          <p:cNvSpPr>
            <a:spLocks noChangeShapeType="1"/>
          </p:cNvSpPr>
          <p:nvPr/>
        </p:nvSpPr>
        <p:spPr bwMode="auto">
          <a:xfrm>
            <a:off x="1780544" y="2859913"/>
            <a:ext cx="1416325" cy="0"/>
          </a:xfrm>
          <a:prstGeom prst="line">
            <a:avLst/>
          </a:prstGeom>
          <a:noFill/>
          <a:ln w="28575">
            <a:solidFill>
              <a:srgbClr val="0000FF"/>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mn-lt"/>
              <a:ea typeface="黑体" pitchFamily="2" charset="-122"/>
            </a:endParaRPr>
          </a:p>
        </p:txBody>
      </p:sp>
      <p:sp>
        <p:nvSpPr>
          <p:cNvPr id="21" name="Line 18"/>
          <p:cNvSpPr>
            <a:spLocks noChangeShapeType="1"/>
          </p:cNvSpPr>
          <p:nvPr/>
        </p:nvSpPr>
        <p:spPr bwMode="auto">
          <a:xfrm>
            <a:off x="1780544" y="3080291"/>
            <a:ext cx="1416325" cy="0"/>
          </a:xfrm>
          <a:prstGeom prst="line">
            <a:avLst/>
          </a:prstGeom>
          <a:noFill/>
          <a:ln w="28575">
            <a:solidFill>
              <a:srgbClr val="0000FF"/>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mn-lt"/>
              <a:ea typeface="黑体" pitchFamily="2" charset="-122"/>
            </a:endParaRPr>
          </a:p>
        </p:txBody>
      </p:sp>
      <p:sp>
        <p:nvSpPr>
          <p:cNvPr id="22" name="Line 19"/>
          <p:cNvSpPr>
            <a:spLocks noChangeShapeType="1"/>
          </p:cNvSpPr>
          <p:nvPr/>
        </p:nvSpPr>
        <p:spPr bwMode="auto">
          <a:xfrm>
            <a:off x="1780544" y="3298683"/>
            <a:ext cx="1416325" cy="0"/>
          </a:xfrm>
          <a:prstGeom prst="line">
            <a:avLst/>
          </a:prstGeom>
          <a:noFill/>
          <a:ln w="28575">
            <a:solidFill>
              <a:srgbClr val="0000FF"/>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mn-lt"/>
              <a:ea typeface="黑体" pitchFamily="2" charset="-122"/>
            </a:endParaRPr>
          </a:p>
        </p:txBody>
      </p:sp>
      <p:sp>
        <p:nvSpPr>
          <p:cNvPr id="23" name="Line 20"/>
          <p:cNvSpPr>
            <a:spLocks noChangeShapeType="1"/>
          </p:cNvSpPr>
          <p:nvPr/>
        </p:nvSpPr>
        <p:spPr bwMode="auto">
          <a:xfrm>
            <a:off x="1780544" y="3519061"/>
            <a:ext cx="1416325" cy="0"/>
          </a:xfrm>
          <a:prstGeom prst="line">
            <a:avLst/>
          </a:prstGeom>
          <a:noFill/>
          <a:ln w="28575">
            <a:solidFill>
              <a:srgbClr val="0000FF"/>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mn-lt"/>
              <a:ea typeface="黑体" pitchFamily="2" charset="-122"/>
            </a:endParaRPr>
          </a:p>
        </p:txBody>
      </p:sp>
      <p:sp>
        <p:nvSpPr>
          <p:cNvPr id="24" name="Line 21"/>
          <p:cNvSpPr>
            <a:spLocks noChangeShapeType="1"/>
          </p:cNvSpPr>
          <p:nvPr/>
        </p:nvSpPr>
        <p:spPr bwMode="auto">
          <a:xfrm>
            <a:off x="1780544" y="3737454"/>
            <a:ext cx="1416325" cy="0"/>
          </a:xfrm>
          <a:prstGeom prst="line">
            <a:avLst/>
          </a:prstGeom>
          <a:noFill/>
          <a:ln w="28575">
            <a:solidFill>
              <a:srgbClr val="0000FF"/>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mn-lt"/>
              <a:ea typeface="黑体" pitchFamily="2" charset="-122"/>
            </a:endParaRPr>
          </a:p>
        </p:txBody>
      </p:sp>
      <p:sp>
        <p:nvSpPr>
          <p:cNvPr id="25" name="Line 22"/>
          <p:cNvSpPr>
            <a:spLocks noChangeShapeType="1"/>
          </p:cNvSpPr>
          <p:nvPr/>
        </p:nvSpPr>
        <p:spPr bwMode="auto">
          <a:xfrm>
            <a:off x="1780544" y="3957832"/>
            <a:ext cx="1416325" cy="0"/>
          </a:xfrm>
          <a:prstGeom prst="line">
            <a:avLst/>
          </a:prstGeom>
          <a:noFill/>
          <a:ln w="28575">
            <a:solidFill>
              <a:srgbClr val="0000FF"/>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mn-lt"/>
              <a:ea typeface="黑体" pitchFamily="2" charset="-122"/>
            </a:endParaRPr>
          </a:p>
        </p:txBody>
      </p:sp>
      <p:sp>
        <p:nvSpPr>
          <p:cNvPr id="26" name="Line 23"/>
          <p:cNvSpPr>
            <a:spLocks noChangeShapeType="1"/>
          </p:cNvSpPr>
          <p:nvPr/>
        </p:nvSpPr>
        <p:spPr bwMode="auto">
          <a:xfrm>
            <a:off x="3238912" y="3186509"/>
            <a:ext cx="2605818"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mn-lt"/>
              <a:ea typeface="黑体" pitchFamily="2" charset="-122"/>
            </a:endParaRPr>
          </a:p>
        </p:txBody>
      </p:sp>
      <p:sp>
        <p:nvSpPr>
          <p:cNvPr id="27" name="AutoShape 24"/>
          <p:cNvSpPr>
            <a:spLocks noChangeArrowheads="1"/>
          </p:cNvSpPr>
          <p:nvPr/>
        </p:nvSpPr>
        <p:spPr bwMode="auto">
          <a:xfrm rot="5400000">
            <a:off x="3811553" y="3083476"/>
            <a:ext cx="221371" cy="201103"/>
          </a:xfrm>
          <a:prstGeom prst="triangle">
            <a:avLst>
              <a:gd name="adj" fmla="val 50000"/>
            </a:avLst>
          </a:prstGeom>
          <a:solidFill>
            <a:srgbClr val="FF00FF"/>
          </a:solidFill>
          <a:ln w="19050">
            <a:solidFill>
              <a:schemeClr val="tx1"/>
            </a:solidFill>
            <a:miter lim="800000"/>
            <a:headEnd/>
            <a:tailEnd/>
          </a:ln>
          <a:effectLst/>
        </p:spPr>
        <p:txBody>
          <a:bodyPr wrap="none" anchor="ctr"/>
          <a:lstStyle/>
          <a:p>
            <a:endParaRPr lang="zh-CN" altLang="en-US" sz="1400" b="1">
              <a:solidFill>
                <a:srgbClr val="000099"/>
              </a:solidFill>
              <a:latin typeface="+mn-lt"/>
              <a:ea typeface="黑体" pitchFamily="2" charset="-122"/>
            </a:endParaRPr>
          </a:p>
        </p:txBody>
      </p:sp>
      <p:sp>
        <p:nvSpPr>
          <p:cNvPr id="28" name="Rectangle 25"/>
          <p:cNvSpPr>
            <a:spLocks noChangeArrowheads="1"/>
          </p:cNvSpPr>
          <p:nvPr/>
        </p:nvSpPr>
        <p:spPr bwMode="auto">
          <a:xfrm>
            <a:off x="2088113" y="2361580"/>
            <a:ext cx="336605" cy="123094"/>
          </a:xfrm>
          <a:prstGeom prst="rect">
            <a:avLst/>
          </a:prstGeom>
          <a:solidFill>
            <a:srgbClr val="FFFFCC"/>
          </a:solidFill>
          <a:ln w="19050">
            <a:solidFill>
              <a:schemeClr val="tx1"/>
            </a:solidFill>
            <a:miter lim="800000"/>
            <a:headEnd/>
            <a:tailEnd/>
          </a:ln>
          <a:effectLst/>
        </p:spPr>
        <p:txBody>
          <a:bodyPr wrap="none" anchor="ctr"/>
          <a:lstStyle/>
          <a:p>
            <a:endParaRPr lang="zh-CN" altLang="en-US" sz="1400" b="1">
              <a:solidFill>
                <a:srgbClr val="000099"/>
              </a:solidFill>
              <a:latin typeface="+mn-lt"/>
              <a:ea typeface="黑体" pitchFamily="2" charset="-122"/>
            </a:endParaRPr>
          </a:p>
        </p:txBody>
      </p:sp>
      <p:sp>
        <p:nvSpPr>
          <p:cNvPr id="29" name="Rectangle 26"/>
          <p:cNvSpPr>
            <a:spLocks noChangeArrowheads="1"/>
          </p:cNvSpPr>
          <p:nvPr/>
        </p:nvSpPr>
        <p:spPr bwMode="auto">
          <a:xfrm>
            <a:off x="2088113" y="2579973"/>
            <a:ext cx="336605" cy="122101"/>
          </a:xfrm>
          <a:prstGeom prst="rect">
            <a:avLst/>
          </a:prstGeom>
          <a:solidFill>
            <a:srgbClr val="CCFF99"/>
          </a:solidFill>
          <a:ln w="19050">
            <a:solidFill>
              <a:schemeClr val="tx1"/>
            </a:solidFill>
            <a:miter lim="800000"/>
            <a:headEnd/>
            <a:tailEnd/>
          </a:ln>
          <a:effectLst/>
        </p:spPr>
        <p:txBody>
          <a:bodyPr wrap="none" anchor="ctr"/>
          <a:lstStyle/>
          <a:p>
            <a:endParaRPr lang="zh-CN" altLang="en-US" sz="1400" b="1">
              <a:solidFill>
                <a:srgbClr val="000099"/>
              </a:solidFill>
              <a:latin typeface="+mn-lt"/>
              <a:ea typeface="黑体" pitchFamily="2" charset="-122"/>
            </a:endParaRPr>
          </a:p>
        </p:txBody>
      </p:sp>
      <p:sp>
        <p:nvSpPr>
          <p:cNvPr id="30" name="Rectangle 27"/>
          <p:cNvSpPr>
            <a:spLocks noChangeArrowheads="1"/>
          </p:cNvSpPr>
          <p:nvPr/>
        </p:nvSpPr>
        <p:spPr bwMode="auto">
          <a:xfrm>
            <a:off x="2088113" y="2799359"/>
            <a:ext cx="336605" cy="122102"/>
          </a:xfrm>
          <a:prstGeom prst="rect">
            <a:avLst/>
          </a:prstGeom>
          <a:solidFill>
            <a:srgbClr val="CCCC00"/>
          </a:solidFill>
          <a:ln w="19050">
            <a:solidFill>
              <a:schemeClr val="tx1"/>
            </a:solidFill>
            <a:miter lim="800000"/>
            <a:headEnd/>
            <a:tailEnd/>
          </a:ln>
          <a:effectLst/>
        </p:spPr>
        <p:txBody>
          <a:bodyPr wrap="none" anchor="ctr"/>
          <a:lstStyle/>
          <a:p>
            <a:endParaRPr lang="zh-CN" altLang="en-US" sz="1400" b="1">
              <a:solidFill>
                <a:srgbClr val="000099"/>
              </a:solidFill>
              <a:latin typeface="+mn-lt"/>
              <a:ea typeface="黑体" pitchFamily="2" charset="-122"/>
            </a:endParaRPr>
          </a:p>
        </p:txBody>
      </p:sp>
      <p:sp>
        <p:nvSpPr>
          <p:cNvPr id="31" name="Rectangle 28"/>
          <p:cNvSpPr>
            <a:spLocks noChangeArrowheads="1"/>
          </p:cNvSpPr>
          <p:nvPr/>
        </p:nvSpPr>
        <p:spPr bwMode="auto">
          <a:xfrm>
            <a:off x="2088113" y="3018744"/>
            <a:ext cx="336605" cy="122101"/>
          </a:xfrm>
          <a:prstGeom prst="rect">
            <a:avLst/>
          </a:prstGeom>
          <a:solidFill>
            <a:srgbClr val="00CCFF"/>
          </a:solidFill>
          <a:ln w="19050">
            <a:solidFill>
              <a:schemeClr val="tx1"/>
            </a:solidFill>
            <a:miter lim="800000"/>
            <a:headEnd/>
            <a:tailEnd/>
          </a:ln>
          <a:effectLst/>
        </p:spPr>
        <p:txBody>
          <a:bodyPr wrap="none" anchor="ctr"/>
          <a:lstStyle/>
          <a:p>
            <a:endParaRPr lang="zh-CN" altLang="en-US" sz="1400" b="1">
              <a:solidFill>
                <a:srgbClr val="000099"/>
              </a:solidFill>
              <a:latin typeface="+mn-lt"/>
              <a:ea typeface="黑体" pitchFamily="2" charset="-122"/>
            </a:endParaRPr>
          </a:p>
        </p:txBody>
      </p:sp>
      <p:sp>
        <p:nvSpPr>
          <p:cNvPr id="32" name="Rectangle 29"/>
          <p:cNvSpPr>
            <a:spLocks noChangeArrowheads="1"/>
          </p:cNvSpPr>
          <p:nvPr/>
        </p:nvSpPr>
        <p:spPr bwMode="auto">
          <a:xfrm>
            <a:off x="2088113" y="3238129"/>
            <a:ext cx="336605" cy="122102"/>
          </a:xfrm>
          <a:prstGeom prst="rect">
            <a:avLst/>
          </a:prstGeom>
          <a:solidFill>
            <a:srgbClr val="FF99FF"/>
          </a:solidFill>
          <a:ln w="19050">
            <a:solidFill>
              <a:schemeClr val="tx1"/>
            </a:solidFill>
            <a:miter lim="800000"/>
            <a:headEnd/>
            <a:tailEnd/>
          </a:ln>
          <a:effectLst/>
        </p:spPr>
        <p:txBody>
          <a:bodyPr wrap="none" anchor="ctr"/>
          <a:lstStyle/>
          <a:p>
            <a:endParaRPr lang="zh-CN" altLang="en-US" sz="1400" b="1">
              <a:solidFill>
                <a:srgbClr val="000099"/>
              </a:solidFill>
              <a:latin typeface="+mn-lt"/>
              <a:ea typeface="黑体" pitchFamily="2" charset="-122"/>
            </a:endParaRPr>
          </a:p>
        </p:txBody>
      </p:sp>
      <p:sp>
        <p:nvSpPr>
          <p:cNvPr id="33" name="Rectangle 30"/>
          <p:cNvSpPr>
            <a:spLocks noChangeArrowheads="1"/>
          </p:cNvSpPr>
          <p:nvPr/>
        </p:nvSpPr>
        <p:spPr bwMode="auto">
          <a:xfrm>
            <a:off x="2088113" y="3457514"/>
            <a:ext cx="336605" cy="122101"/>
          </a:xfrm>
          <a:prstGeom prst="rect">
            <a:avLst/>
          </a:prstGeom>
          <a:solidFill>
            <a:srgbClr val="00CC00"/>
          </a:solidFill>
          <a:ln w="19050">
            <a:solidFill>
              <a:schemeClr val="tx1"/>
            </a:solidFill>
            <a:miter lim="800000"/>
            <a:headEnd/>
            <a:tailEnd/>
          </a:ln>
          <a:effectLst/>
        </p:spPr>
        <p:txBody>
          <a:bodyPr wrap="none" anchor="ctr"/>
          <a:lstStyle/>
          <a:p>
            <a:endParaRPr lang="zh-CN" altLang="en-US" sz="1400" b="1">
              <a:solidFill>
                <a:srgbClr val="000099"/>
              </a:solidFill>
              <a:latin typeface="+mn-lt"/>
              <a:ea typeface="黑体" pitchFamily="2" charset="-122"/>
            </a:endParaRPr>
          </a:p>
        </p:txBody>
      </p:sp>
      <p:sp>
        <p:nvSpPr>
          <p:cNvPr id="34" name="Rectangle 31"/>
          <p:cNvSpPr>
            <a:spLocks noChangeArrowheads="1"/>
          </p:cNvSpPr>
          <p:nvPr/>
        </p:nvSpPr>
        <p:spPr bwMode="auto">
          <a:xfrm>
            <a:off x="2088113" y="3676900"/>
            <a:ext cx="336605" cy="122102"/>
          </a:xfrm>
          <a:prstGeom prst="rect">
            <a:avLst/>
          </a:prstGeom>
          <a:solidFill>
            <a:srgbClr val="FF00FF"/>
          </a:solidFill>
          <a:ln w="19050">
            <a:solidFill>
              <a:schemeClr val="tx1"/>
            </a:solidFill>
            <a:miter lim="800000"/>
            <a:headEnd/>
            <a:tailEnd/>
          </a:ln>
          <a:effectLst/>
        </p:spPr>
        <p:txBody>
          <a:bodyPr wrap="none" anchor="ctr"/>
          <a:lstStyle/>
          <a:p>
            <a:endParaRPr lang="zh-CN" altLang="en-US" sz="1400" b="1">
              <a:solidFill>
                <a:srgbClr val="000099"/>
              </a:solidFill>
              <a:latin typeface="+mn-lt"/>
              <a:ea typeface="黑体" pitchFamily="2" charset="-122"/>
            </a:endParaRPr>
          </a:p>
        </p:txBody>
      </p:sp>
      <p:sp>
        <p:nvSpPr>
          <p:cNvPr id="35" name="Rectangle 32"/>
          <p:cNvSpPr>
            <a:spLocks noChangeArrowheads="1"/>
          </p:cNvSpPr>
          <p:nvPr/>
        </p:nvSpPr>
        <p:spPr bwMode="auto">
          <a:xfrm>
            <a:off x="2088113" y="3895292"/>
            <a:ext cx="336605" cy="123094"/>
          </a:xfrm>
          <a:prstGeom prst="rect">
            <a:avLst/>
          </a:prstGeom>
          <a:solidFill>
            <a:srgbClr val="3399FF"/>
          </a:solidFill>
          <a:ln w="19050">
            <a:solidFill>
              <a:schemeClr val="tx1"/>
            </a:solidFill>
            <a:miter lim="800000"/>
            <a:headEnd/>
            <a:tailEnd/>
          </a:ln>
          <a:effectLst/>
        </p:spPr>
        <p:txBody>
          <a:bodyPr wrap="none" anchor="ctr"/>
          <a:lstStyle/>
          <a:p>
            <a:endParaRPr lang="zh-CN" altLang="en-US" sz="1400" b="1">
              <a:solidFill>
                <a:srgbClr val="000099"/>
              </a:solidFill>
              <a:latin typeface="+mn-lt"/>
              <a:ea typeface="黑体" pitchFamily="2" charset="-122"/>
            </a:endParaRPr>
          </a:p>
        </p:txBody>
      </p:sp>
      <p:sp>
        <p:nvSpPr>
          <p:cNvPr id="36" name="Text Box 33"/>
          <p:cNvSpPr txBox="1">
            <a:spLocks noChangeArrowheads="1"/>
          </p:cNvSpPr>
          <p:nvPr/>
        </p:nvSpPr>
        <p:spPr bwMode="auto">
          <a:xfrm>
            <a:off x="3801397" y="2532324"/>
            <a:ext cx="86914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400" b="1" dirty="0">
                <a:latin typeface="+mn-lt"/>
                <a:ea typeface="黑体" pitchFamily="2" charset="-122"/>
              </a:rPr>
              <a:t>20 </a:t>
            </a:r>
            <a:r>
              <a:rPr kumimoji="1" lang="en-US" altLang="zh-CN" sz="1400" b="1" dirty="0" err="1">
                <a:latin typeface="+mn-lt"/>
                <a:ea typeface="黑体" pitchFamily="2" charset="-122"/>
              </a:rPr>
              <a:t>Gbit</a:t>
            </a:r>
            <a:r>
              <a:rPr kumimoji="1" lang="en-US" altLang="zh-CN" sz="1400" b="1" dirty="0">
                <a:latin typeface="+mn-lt"/>
                <a:ea typeface="黑体" pitchFamily="2" charset="-122"/>
              </a:rPr>
              <a:t>/s</a:t>
            </a:r>
          </a:p>
        </p:txBody>
      </p:sp>
      <p:sp>
        <p:nvSpPr>
          <p:cNvPr id="37" name="AutoShape 34"/>
          <p:cNvSpPr>
            <a:spLocks noChangeArrowheads="1"/>
          </p:cNvSpPr>
          <p:nvPr/>
        </p:nvSpPr>
        <p:spPr bwMode="auto">
          <a:xfrm rot="16200000">
            <a:off x="2284915" y="3021143"/>
            <a:ext cx="2026088" cy="337682"/>
          </a:xfrm>
          <a:custGeom>
            <a:avLst/>
            <a:gdLst>
              <a:gd name="G0" fmla="+- 2408 0 0"/>
              <a:gd name="G1" fmla="+- 21600 0 2408"/>
              <a:gd name="G2" fmla="*/ 2408 1 2"/>
              <a:gd name="G3" fmla="+- 21600 0 G2"/>
              <a:gd name="G4" fmla="+/ 2408 21600 2"/>
              <a:gd name="G5" fmla="+/ G1 0 2"/>
              <a:gd name="G6" fmla="*/ 21600 21600 2408"/>
              <a:gd name="G7" fmla="*/ G6 1 2"/>
              <a:gd name="G8" fmla="+- 21600 0 G7"/>
              <a:gd name="G9" fmla="*/ 21600 1 2"/>
              <a:gd name="G10" fmla="+- 2408 0 G9"/>
              <a:gd name="G11" fmla="?: G10 G8 0"/>
              <a:gd name="G12" fmla="?: G10 G7 21600"/>
              <a:gd name="T0" fmla="*/ 20396 w 21600"/>
              <a:gd name="T1" fmla="*/ 10800 h 21600"/>
              <a:gd name="T2" fmla="*/ 10800 w 21600"/>
              <a:gd name="T3" fmla="*/ 21600 h 21600"/>
              <a:gd name="T4" fmla="*/ 1204 w 21600"/>
              <a:gd name="T5" fmla="*/ 10800 h 21600"/>
              <a:gd name="T6" fmla="*/ 10800 w 21600"/>
              <a:gd name="T7" fmla="*/ 0 h 21600"/>
              <a:gd name="T8" fmla="*/ 3004 w 21600"/>
              <a:gd name="T9" fmla="*/ 3004 h 21600"/>
              <a:gd name="T10" fmla="*/ 18596 w 21600"/>
              <a:gd name="T11" fmla="*/ 18596 h 21600"/>
            </a:gdLst>
            <a:ahLst/>
            <a:cxnLst>
              <a:cxn ang="0">
                <a:pos x="T0" y="T1"/>
              </a:cxn>
              <a:cxn ang="0">
                <a:pos x="T2" y="T3"/>
              </a:cxn>
              <a:cxn ang="0">
                <a:pos x="T4" y="T5"/>
              </a:cxn>
              <a:cxn ang="0">
                <a:pos x="T6" y="T7"/>
              </a:cxn>
            </a:cxnLst>
            <a:rect l="T8" t="T9" r="T10" b="T11"/>
            <a:pathLst>
              <a:path w="21600" h="21600">
                <a:moveTo>
                  <a:pt x="0" y="0"/>
                </a:moveTo>
                <a:lnTo>
                  <a:pt x="2408" y="21600"/>
                </a:lnTo>
                <a:lnTo>
                  <a:pt x="19192" y="21600"/>
                </a:lnTo>
                <a:lnTo>
                  <a:pt x="21600" y="0"/>
                </a:lnTo>
                <a:close/>
              </a:path>
            </a:pathLst>
          </a:custGeom>
          <a:solidFill>
            <a:srgbClr val="99FF99"/>
          </a:solidFill>
          <a:ln w="19050">
            <a:solidFill>
              <a:schemeClr val="tx1"/>
            </a:solidFill>
            <a:miter lim="800000"/>
            <a:headEnd/>
            <a:tailEnd/>
          </a:ln>
          <a:effectLst/>
        </p:spPr>
        <p:txBody>
          <a:bodyPr wrap="none" anchor="ctr"/>
          <a:lstStyle/>
          <a:p>
            <a:endParaRPr lang="zh-CN" altLang="en-US" sz="1400" b="1">
              <a:solidFill>
                <a:srgbClr val="000099"/>
              </a:solidFill>
              <a:latin typeface="+mn-lt"/>
              <a:ea typeface="黑体" pitchFamily="2" charset="-122"/>
            </a:endParaRPr>
          </a:p>
        </p:txBody>
      </p:sp>
      <p:sp>
        <p:nvSpPr>
          <p:cNvPr id="38" name="AutoShape 35"/>
          <p:cNvSpPr>
            <a:spLocks noChangeArrowheads="1"/>
          </p:cNvSpPr>
          <p:nvPr/>
        </p:nvSpPr>
        <p:spPr bwMode="auto">
          <a:xfrm rot="5400000" flipH="1">
            <a:off x="4768466" y="3021681"/>
            <a:ext cx="2026088" cy="336605"/>
          </a:xfrm>
          <a:custGeom>
            <a:avLst/>
            <a:gdLst>
              <a:gd name="G0" fmla="+- 2408 0 0"/>
              <a:gd name="G1" fmla="+- 21600 0 2408"/>
              <a:gd name="G2" fmla="*/ 2408 1 2"/>
              <a:gd name="G3" fmla="+- 21600 0 G2"/>
              <a:gd name="G4" fmla="+/ 2408 21600 2"/>
              <a:gd name="G5" fmla="+/ G1 0 2"/>
              <a:gd name="G6" fmla="*/ 21600 21600 2408"/>
              <a:gd name="G7" fmla="*/ G6 1 2"/>
              <a:gd name="G8" fmla="+- 21600 0 G7"/>
              <a:gd name="G9" fmla="*/ 21600 1 2"/>
              <a:gd name="G10" fmla="+- 2408 0 G9"/>
              <a:gd name="G11" fmla="?: G10 G8 0"/>
              <a:gd name="G12" fmla="?: G10 G7 21600"/>
              <a:gd name="T0" fmla="*/ 20396 w 21600"/>
              <a:gd name="T1" fmla="*/ 10800 h 21600"/>
              <a:gd name="T2" fmla="*/ 10800 w 21600"/>
              <a:gd name="T3" fmla="*/ 21600 h 21600"/>
              <a:gd name="T4" fmla="*/ 1204 w 21600"/>
              <a:gd name="T5" fmla="*/ 10800 h 21600"/>
              <a:gd name="T6" fmla="*/ 10800 w 21600"/>
              <a:gd name="T7" fmla="*/ 0 h 21600"/>
              <a:gd name="T8" fmla="*/ 3004 w 21600"/>
              <a:gd name="T9" fmla="*/ 3004 h 21600"/>
              <a:gd name="T10" fmla="*/ 18596 w 21600"/>
              <a:gd name="T11" fmla="*/ 18596 h 21600"/>
            </a:gdLst>
            <a:ahLst/>
            <a:cxnLst>
              <a:cxn ang="0">
                <a:pos x="T0" y="T1"/>
              </a:cxn>
              <a:cxn ang="0">
                <a:pos x="T2" y="T3"/>
              </a:cxn>
              <a:cxn ang="0">
                <a:pos x="T4" y="T5"/>
              </a:cxn>
              <a:cxn ang="0">
                <a:pos x="T6" y="T7"/>
              </a:cxn>
            </a:cxnLst>
            <a:rect l="T8" t="T9" r="T10" b="T11"/>
            <a:pathLst>
              <a:path w="21600" h="21600">
                <a:moveTo>
                  <a:pt x="0" y="0"/>
                </a:moveTo>
                <a:lnTo>
                  <a:pt x="2408" y="21600"/>
                </a:lnTo>
                <a:lnTo>
                  <a:pt x="19192" y="21600"/>
                </a:lnTo>
                <a:lnTo>
                  <a:pt x="21600" y="0"/>
                </a:lnTo>
                <a:close/>
              </a:path>
            </a:pathLst>
          </a:custGeom>
          <a:solidFill>
            <a:srgbClr val="00FFCC"/>
          </a:solidFill>
          <a:ln w="19050">
            <a:solidFill>
              <a:schemeClr val="tx1"/>
            </a:solidFill>
            <a:miter lim="800000"/>
            <a:headEnd/>
            <a:tailEnd/>
          </a:ln>
          <a:effectLst/>
        </p:spPr>
        <p:txBody>
          <a:bodyPr wrap="none" anchor="ctr"/>
          <a:lstStyle/>
          <a:p>
            <a:endParaRPr lang="zh-CN" altLang="en-US" sz="1400" b="1">
              <a:solidFill>
                <a:srgbClr val="000099"/>
              </a:solidFill>
              <a:latin typeface="+mn-lt"/>
              <a:ea typeface="黑体" pitchFamily="2" charset="-122"/>
            </a:endParaRPr>
          </a:p>
        </p:txBody>
      </p:sp>
      <p:sp>
        <p:nvSpPr>
          <p:cNvPr id="39" name="Rectangle 36"/>
          <p:cNvSpPr>
            <a:spLocks noChangeArrowheads="1"/>
          </p:cNvSpPr>
          <p:nvPr/>
        </p:nvSpPr>
        <p:spPr bwMode="auto">
          <a:xfrm>
            <a:off x="6702604" y="2361580"/>
            <a:ext cx="336606" cy="123094"/>
          </a:xfrm>
          <a:prstGeom prst="rect">
            <a:avLst/>
          </a:prstGeom>
          <a:solidFill>
            <a:srgbClr val="FFFFCC"/>
          </a:solidFill>
          <a:ln w="19050">
            <a:solidFill>
              <a:schemeClr val="tx1"/>
            </a:solidFill>
            <a:miter lim="800000"/>
            <a:headEnd/>
            <a:tailEnd/>
          </a:ln>
          <a:effectLst/>
        </p:spPr>
        <p:txBody>
          <a:bodyPr wrap="none" anchor="ctr"/>
          <a:lstStyle/>
          <a:p>
            <a:endParaRPr lang="zh-CN" altLang="en-US" sz="1400" b="1">
              <a:solidFill>
                <a:srgbClr val="000099"/>
              </a:solidFill>
              <a:latin typeface="+mn-lt"/>
              <a:ea typeface="黑体" pitchFamily="2" charset="-122"/>
            </a:endParaRPr>
          </a:p>
        </p:txBody>
      </p:sp>
      <p:sp>
        <p:nvSpPr>
          <p:cNvPr id="40" name="Rectangle 37"/>
          <p:cNvSpPr>
            <a:spLocks noChangeArrowheads="1"/>
          </p:cNvSpPr>
          <p:nvPr/>
        </p:nvSpPr>
        <p:spPr bwMode="auto">
          <a:xfrm>
            <a:off x="6702604" y="2579973"/>
            <a:ext cx="336606" cy="122101"/>
          </a:xfrm>
          <a:prstGeom prst="rect">
            <a:avLst/>
          </a:prstGeom>
          <a:solidFill>
            <a:srgbClr val="CCFF99"/>
          </a:solidFill>
          <a:ln w="19050">
            <a:solidFill>
              <a:schemeClr val="tx1"/>
            </a:solidFill>
            <a:miter lim="800000"/>
            <a:headEnd/>
            <a:tailEnd/>
          </a:ln>
          <a:effectLst/>
        </p:spPr>
        <p:txBody>
          <a:bodyPr wrap="none" anchor="ctr"/>
          <a:lstStyle/>
          <a:p>
            <a:endParaRPr lang="zh-CN" altLang="en-US" sz="1400" b="1">
              <a:solidFill>
                <a:srgbClr val="000099"/>
              </a:solidFill>
              <a:latin typeface="+mn-lt"/>
              <a:ea typeface="黑体" pitchFamily="2" charset="-122"/>
            </a:endParaRPr>
          </a:p>
        </p:txBody>
      </p:sp>
      <p:sp>
        <p:nvSpPr>
          <p:cNvPr id="41" name="Rectangle 38"/>
          <p:cNvSpPr>
            <a:spLocks noChangeArrowheads="1"/>
          </p:cNvSpPr>
          <p:nvPr/>
        </p:nvSpPr>
        <p:spPr bwMode="auto">
          <a:xfrm>
            <a:off x="6702604" y="2799359"/>
            <a:ext cx="336606" cy="122102"/>
          </a:xfrm>
          <a:prstGeom prst="rect">
            <a:avLst/>
          </a:prstGeom>
          <a:solidFill>
            <a:srgbClr val="CCCC00"/>
          </a:solidFill>
          <a:ln w="19050">
            <a:solidFill>
              <a:schemeClr val="tx1"/>
            </a:solidFill>
            <a:miter lim="800000"/>
            <a:headEnd/>
            <a:tailEnd/>
          </a:ln>
          <a:effectLst/>
        </p:spPr>
        <p:txBody>
          <a:bodyPr wrap="none" anchor="ctr"/>
          <a:lstStyle/>
          <a:p>
            <a:endParaRPr lang="zh-CN" altLang="en-US" sz="1400" b="1">
              <a:solidFill>
                <a:srgbClr val="000099"/>
              </a:solidFill>
              <a:latin typeface="+mn-lt"/>
              <a:ea typeface="黑体" pitchFamily="2" charset="-122"/>
            </a:endParaRPr>
          </a:p>
        </p:txBody>
      </p:sp>
      <p:sp>
        <p:nvSpPr>
          <p:cNvPr id="42" name="Rectangle 39"/>
          <p:cNvSpPr>
            <a:spLocks noChangeArrowheads="1"/>
          </p:cNvSpPr>
          <p:nvPr/>
        </p:nvSpPr>
        <p:spPr bwMode="auto">
          <a:xfrm>
            <a:off x="6702604" y="3018744"/>
            <a:ext cx="336606" cy="122101"/>
          </a:xfrm>
          <a:prstGeom prst="rect">
            <a:avLst/>
          </a:prstGeom>
          <a:solidFill>
            <a:srgbClr val="00CCFF"/>
          </a:solidFill>
          <a:ln w="19050">
            <a:solidFill>
              <a:schemeClr val="tx1"/>
            </a:solidFill>
            <a:miter lim="800000"/>
            <a:headEnd/>
            <a:tailEnd/>
          </a:ln>
          <a:effectLst/>
        </p:spPr>
        <p:txBody>
          <a:bodyPr wrap="none" anchor="ctr"/>
          <a:lstStyle/>
          <a:p>
            <a:endParaRPr lang="zh-CN" altLang="en-US" sz="1400" b="1">
              <a:solidFill>
                <a:srgbClr val="000099"/>
              </a:solidFill>
              <a:latin typeface="+mn-lt"/>
              <a:ea typeface="黑体" pitchFamily="2" charset="-122"/>
            </a:endParaRPr>
          </a:p>
        </p:txBody>
      </p:sp>
      <p:sp>
        <p:nvSpPr>
          <p:cNvPr id="43" name="Rectangle 40"/>
          <p:cNvSpPr>
            <a:spLocks noChangeArrowheads="1"/>
          </p:cNvSpPr>
          <p:nvPr/>
        </p:nvSpPr>
        <p:spPr bwMode="auto">
          <a:xfrm>
            <a:off x="6702604" y="3238129"/>
            <a:ext cx="336606" cy="122102"/>
          </a:xfrm>
          <a:prstGeom prst="rect">
            <a:avLst/>
          </a:prstGeom>
          <a:solidFill>
            <a:srgbClr val="FF99FF"/>
          </a:solidFill>
          <a:ln w="19050">
            <a:solidFill>
              <a:schemeClr val="tx1"/>
            </a:solidFill>
            <a:miter lim="800000"/>
            <a:headEnd/>
            <a:tailEnd/>
          </a:ln>
          <a:effectLst/>
        </p:spPr>
        <p:txBody>
          <a:bodyPr wrap="none" anchor="ctr"/>
          <a:lstStyle/>
          <a:p>
            <a:endParaRPr lang="zh-CN" altLang="en-US" sz="1400" b="1">
              <a:solidFill>
                <a:srgbClr val="000099"/>
              </a:solidFill>
              <a:latin typeface="+mn-lt"/>
              <a:ea typeface="黑体" pitchFamily="2" charset="-122"/>
            </a:endParaRPr>
          </a:p>
        </p:txBody>
      </p:sp>
      <p:sp>
        <p:nvSpPr>
          <p:cNvPr id="44" name="Rectangle 41"/>
          <p:cNvSpPr>
            <a:spLocks noChangeArrowheads="1"/>
          </p:cNvSpPr>
          <p:nvPr/>
        </p:nvSpPr>
        <p:spPr bwMode="auto">
          <a:xfrm>
            <a:off x="6702604" y="3457514"/>
            <a:ext cx="336606" cy="122101"/>
          </a:xfrm>
          <a:prstGeom prst="rect">
            <a:avLst/>
          </a:prstGeom>
          <a:solidFill>
            <a:srgbClr val="00CC00"/>
          </a:solidFill>
          <a:ln w="19050">
            <a:solidFill>
              <a:schemeClr val="tx1"/>
            </a:solidFill>
            <a:miter lim="800000"/>
            <a:headEnd/>
            <a:tailEnd/>
          </a:ln>
          <a:effectLst/>
        </p:spPr>
        <p:txBody>
          <a:bodyPr wrap="none" anchor="ctr"/>
          <a:lstStyle/>
          <a:p>
            <a:endParaRPr lang="zh-CN" altLang="en-US" sz="1400" b="1">
              <a:solidFill>
                <a:srgbClr val="000099"/>
              </a:solidFill>
              <a:latin typeface="+mn-lt"/>
              <a:ea typeface="黑体" pitchFamily="2" charset="-122"/>
            </a:endParaRPr>
          </a:p>
        </p:txBody>
      </p:sp>
      <p:sp>
        <p:nvSpPr>
          <p:cNvPr id="45" name="Rectangle 42"/>
          <p:cNvSpPr>
            <a:spLocks noChangeArrowheads="1"/>
          </p:cNvSpPr>
          <p:nvPr/>
        </p:nvSpPr>
        <p:spPr bwMode="auto">
          <a:xfrm>
            <a:off x="6702604" y="3676900"/>
            <a:ext cx="336606" cy="122102"/>
          </a:xfrm>
          <a:prstGeom prst="rect">
            <a:avLst/>
          </a:prstGeom>
          <a:solidFill>
            <a:srgbClr val="FF00FF"/>
          </a:solidFill>
          <a:ln w="19050">
            <a:solidFill>
              <a:schemeClr val="tx1"/>
            </a:solidFill>
            <a:miter lim="800000"/>
            <a:headEnd/>
            <a:tailEnd/>
          </a:ln>
          <a:effectLst/>
        </p:spPr>
        <p:txBody>
          <a:bodyPr wrap="none" anchor="ctr"/>
          <a:lstStyle/>
          <a:p>
            <a:endParaRPr lang="zh-CN" altLang="en-US" sz="1400" b="1">
              <a:solidFill>
                <a:srgbClr val="000099"/>
              </a:solidFill>
              <a:latin typeface="+mn-lt"/>
              <a:ea typeface="黑体" pitchFamily="2" charset="-122"/>
            </a:endParaRPr>
          </a:p>
        </p:txBody>
      </p:sp>
      <p:sp>
        <p:nvSpPr>
          <p:cNvPr id="46" name="Rectangle 43"/>
          <p:cNvSpPr>
            <a:spLocks noChangeArrowheads="1"/>
          </p:cNvSpPr>
          <p:nvPr/>
        </p:nvSpPr>
        <p:spPr bwMode="auto">
          <a:xfrm>
            <a:off x="6702604" y="3895292"/>
            <a:ext cx="336606" cy="123094"/>
          </a:xfrm>
          <a:prstGeom prst="rect">
            <a:avLst/>
          </a:prstGeom>
          <a:solidFill>
            <a:srgbClr val="3399FF"/>
          </a:solidFill>
          <a:ln w="19050">
            <a:solidFill>
              <a:schemeClr val="tx1"/>
            </a:solidFill>
            <a:miter lim="800000"/>
            <a:headEnd/>
            <a:tailEnd/>
          </a:ln>
          <a:effectLst/>
        </p:spPr>
        <p:txBody>
          <a:bodyPr wrap="none" anchor="ctr"/>
          <a:lstStyle/>
          <a:p>
            <a:endParaRPr lang="zh-CN" altLang="en-US" sz="1400" b="1">
              <a:solidFill>
                <a:srgbClr val="000099"/>
              </a:solidFill>
              <a:latin typeface="+mn-lt"/>
              <a:ea typeface="黑体" pitchFamily="2" charset="-122"/>
            </a:endParaRPr>
          </a:p>
        </p:txBody>
      </p:sp>
      <p:sp>
        <p:nvSpPr>
          <p:cNvPr id="47" name="AutoShape 44"/>
          <p:cNvSpPr>
            <a:spLocks noChangeArrowheads="1"/>
          </p:cNvSpPr>
          <p:nvPr/>
        </p:nvSpPr>
        <p:spPr bwMode="auto">
          <a:xfrm rot="5400000">
            <a:off x="4442429" y="3084014"/>
            <a:ext cx="221371" cy="200028"/>
          </a:xfrm>
          <a:prstGeom prst="triangle">
            <a:avLst>
              <a:gd name="adj" fmla="val 50000"/>
            </a:avLst>
          </a:prstGeom>
          <a:solidFill>
            <a:srgbClr val="FF00FF"/>
          </a:solidFill>
          <a:ln w="19050">
            <a:solidFill>
              <a:schemeClr val="tx1"/>
            </a:solidFill>
            <a:miter lim="800000"/>
            <a:headEnd/>
            <a:tailEnd/>
          </a:ln>
          <a:effectLst/>
        </p:spPr>
        <p:txBody>
          <a:bodyPr wrap="none" anchor="ctr"/>
          <a:lstStyle/>
          <a:p>
            <a:endParaRPr lang="zh-CN" altLang="en-US" sz="1400" b="1">
              <a:solidFill>
                <a:srgbClr val="000099"/>
              </a:solidFill>
              <a:latin typeface="+mn-lt"/>
              <a:ea typeface="黑体" pitchFamily="2" charset="-122"/>
            </a:endParaRPr>
          </a:p>
        </p:txBody>
      </p:sp>
      <p:sp>
        <p:nvSpPr>
          <p:cNvPr id="48" name="AutoShape 45"/>
          <p:cNvSpPr>
            <a:spLocks noChangeArrowheads="1"/>
          </p:cNvSpPr>
          <p:nvPr/>
        </p:nvSpPr>
        <p:spPr bwMode="auto">
          <a:xfrm rot="5400000">
            <a:off x="5089339" y="3083476"/>
            <a:ext cx="221371" cy="201103"/>
          </a:xfrm>
          <a:prstGeom prst="triangle">
            <a:avLst>
              <a:gd name="adj" fmla="val 50000"/>
            </a:avLst>
          </a:prstGeom>
          <a:solidFill>
            <a:srgbClr val="FF00FF"/>
          </a:solidFill>
          <a:ln w="19050">
            <a:solidFill>
              <a:schemeClr val="tx1"/>
            </a:solidFill>
            <a:miter lim="800000"/>
            <a:headEnd/>
            <a:tailEnd/>
          </a:ln>
          <a:effectLst/>
        </p:spPr>
        <p:txBody>
          <a:bodyPr wrap="none" anchor="ctr"/>
          <a:lstStyle/>
          <a:p>
            <a:endParaRPr lang="zh-CN" altLang="en-US" sz="1400" b="1">
              <a:solidFill>
                <a:srgbClr val="000099"/>
              </a:solidFill>
              <a:latin typeface="+mn-lt"/>
              <a:ea typeface="黑体" pitchFamily="2" charset="-122"/>
            </a:endParaRPr>
          </a:p>
        </p:txBody>
      </p:sp>
      <p:sp>
        <p:nvSpPr>
          <p:cNvPr id="49" name="Line 46"/>
          <p:cNvSpPr>
            <a:spLocks noChangeShapeType="1"/>
          </p:cNvSpPr>
          <p:nvPr/>
        </p:nvSpPr>
        <p:spPr bwMode="auto">
          <a:xfrm flipH="1">
            <a:off x="4205611" y="2791416"/>
            <a:ext cx="87109" cy="389136"/>
          </a:xfrm>
          <a:prstGeom prst="line">
            <a:avLst/>
          </a:prstGeom>
          <a:noFill/>
          <a:ln w="28575">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mn-lt"/>
              <a:ea typeface="黑体" pitchFamily="2" charset="-122"/>
            </a:endParaRPr>
          </a:p>
        </p:txBody>
      </p:sp>
      <p:sp>
        <p:nvSpPr>
          <p:cNvPr id="50" name="Text Box 47"/>
          <p:cNvSpPr txBox="1">
            <a:spLocks noChangeArrowheads="1"/>
          </p:cNvSpPr>
          <p:nvPr/>
        </p:nvSpPr>
        <p:spPr bwMode="auto">
          <a:xfrm>
            <a:off x="3108224" y="2843439"/>
            <a:ext cx="39145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600" b="1" dirty="0">
                <a:latin typeface="微软雅黑" pitchFamily="34" charset="-122"/>
                <a:ea typeface="微软雅黑" pitchFamily="34" charset="-122"/>
              </a:rPr>
              <a:t>复</a:t>
            </a:r>
          </a:p>
          <a:p>
            <a:pPr algn="l"/>
            <a:r>
              <a:rPr kumimoji="1" lang="zh-CN" altLang="en-US" sz="1600" b="1" dirty="0">
                <a:latin typeface="微软雅黑" pitchFamily="34" charset="-122"/>
                <a:ea typeface="微软雅黑" pitchFamily="34" charset="-122"/>
              </a:rPr>
              <a:t>用</a:t>
            </a:r>
          </a:p>
          <a:p>
            <a:pPr algn="l"/>
            <a:r>
              <a:rPr kumimoji="1" lang="zh-CN" altLang="en-US" sz="1600" b="1" dirty="0">
                <a:latin typeface="微软雅黑" pitchFamily="34" charset="-122"/>
                <a:ea typeface="微软雅黑" pitchFamily="34" charset="-122"/>
              </a:rPr>
              <a:t>器</a:t>
            </a:r>
          </a:p>
        </p:txBody>
      </p:sp>
      <p:sp>
        <p:nvSpPr>
          <p:cNvPr id="51" name="Text Box 48"/>
          <p:cNvSpPr txBox="1">
            <a:spLocks noChangeArrowheads="1"/>
          </p:cNvSpPr>
          <p:nvPr/>
        </p:nvSpPr>
        <p:spPr bwMode="auto">
          <a:xfrm>
            <a:off x="5584939" y="2843439"/>
            <a:ext cx="39145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600" b="1" dirty="0">
                <a:latin typeface="微软雅黑" pitchFamily="34" charset="-122"/>
                <a:ea typeface="微软雅黑" pitchFamily="34" charset="-122"/>
              </a:rPr>
              <a:t>分</a:t>
            </a:r>
          </a:p>
          <a:p>
            <a:pPr algn="l"/>
            <a:r>
              <a:rPr kumimoji="1" lang="zh-CN" altLang="en-US" sz="1600" b="1" dirty="0">
                <a:latin typeface="微软雅黑" pitchFamily="34" charset="-122"/>
                <a:ea typeface="微软雅黑" pitchFamily="34" charset="-122"/>
              </a:rPr>
              <a:t>用</a:t>
            </a:r>
          </a:p>
          <a:p>
            <a:pPr algn="l"/>
            <a:r>
              <a:rPr kumimoji="1" lang="zh-CN" altLang="en-US" sz="1600" b="1" dirty="0">
                <a:latin typeface="微软雅黑" pitchFamily="34" charset="-122"/>
                <a:ea typeface="微软雅黑" pitchFamily="34" charset="-122"/>
              </a:rPr>
              <a:t>器</a:t>
            </a:r>
          </a:p>
        </p:txBody>
      </p:sp>
      <p:sp>
        <p:nvSpPr>
          <p:cNvPr id="52" name="Text Box 49"/>
          <p:cNvSpPr txBox="1">
            <a:spLocks noChangeArrowheads="1"/>
          </p:cNvSpPr>
          <p:nvPr/>
        </p:nvSpPr>
        <p:spPr bwMode="auto">
          <a:xfrm>
            <a:off x="4599358" y="2594864"/>
            <a:ext cx="56720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400" b="1">
                <a:latin typeface="+mn-lt"/>
                <a:ea typeface="黑体" pitchFamily="2" charset="-122"/>
              </a:rPr>
              <a:t>EDFA</a:t>
            </a:r>
          </a:p>
        </p:txBody>
      </p:sp>
      <p:sp>
        <p:nvSpPr>
          <p:cNvPr id="53" name="Line 50"/>
          <p:cNvSpPr>
            <a:spLocks noChangeShapeType="1"/>
          </p:cNvSpPr>
          <p:nvPr/>
        </p:nvSpPr>
        <p:spPr bwMode="auto">
          <a:xfrm flipH="1">
            <a:off x="4572472" y="2851971"/>
            <a:ext cx="296816" cy="270013"/>
          </a:xfrm>
          <a:prstGeom prst="line">
            <a:avLst/>
          </a:prstGeom>
          <a:noFill/>
          <a:ln w="28575">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mn-lt"/>
              <a:ea typeface="黑体" pitchFamily="2" charset="-122"/>
            </a:endParaRPr>
          </a:p>
        </p:txBody>
      </p:sp>
      <p:sp>
        <p:nvSpPr>
          <p:cNvPr id="54" name="Line 51"/>
          <p:cNvSpPr>
            <a:spLocks noChangeShapeType="1"/>
          </p:cNvSpPr>
          <p:nvPr/>
        </p:nvSpPr>
        <p:spPr bwMode="auto">
          <a:xfrm>
            <a:off x="3888363" y="3343354"/>
            <a:ext cx="0" cy="1230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mn-lt"/>
              <a:ea typeface="黑体" pitchFamily="2" charset="-122"/>
            </a:endParaRPr>
          </a:p>
        </p:txBody>
      </p:sp>
      <p:sp>
        <p:nvSpPr>
          <p:cNvPr id="55" name="Line 52"/>
          <p:cNvSpPr>
            <a:spLocks noChangeShapeType="1"/>
          </p:cNvSpPr>
          <p:nvPr/>
        </p:nvSpPr>
        <p:spPr bwMode="auto">
          <a:xfrm>
            <a:off x="4531607" y="3343354"/>
            <a:ext cx="0" cy="1230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mn-lt"/>
              <a:ea typeface="黑体" pitchFamily="2" charset="-122"/>
            </a:endParaRPr>
          </a:p>
        </p:txBody>
      </p:sp>
      <p:sp>
        <p:nvSpPr>
          <p:cNvPr id="56" name="Line 53"/>
          <p:cNvSpPr>
            <a:spLocks noChangeShapeType="1"/>
          </p:cNvSpPr>
          <p:nvPr/>
        </p:nvSpPr>
        <p:spPr bwMode="auto">
          <a:xfrm>
            <a:off x="3888363" y="3403909"/>
            <a:ext cx="642168" cy="0"/>
          </a:xfrm>
          <a:prstGeom prst="line">
            <a:avLst/>
          </a:prstGeom>
          <a:noFill/>
          <a:ln w="28575">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mn-lt"/>
              <a:ea typeface="黑体" pitchFamily="2" charset="-122"/>
            </a:endParaRPr>
          </a:p>
        </p:txBody>
      </p:sp>
      <p:sp>
        <p:nvSpPr>
          <p:cNvPr id="57" name="Text Box 55"/>
          <p:cNvSpPr txBox="1">
            <a:spLocks noChangeArrowheads="1"/>
          </p:cNvSpPr>
          <p:nvPr/>
        </p:nvSpPr>
        <p:spPr bwMode="auto">
          <a:xfrm>
            <a:off x="1857511" y="1797876"/>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200" b="1" dirty="0">
                <a:solidFill>
                  <a:srgbClr val="0000FF"/>
                </a:solidFill>
                <a:latin typeface="微软雅黑" pitchFamily="34" charset="-122"/>
                <a:ea typeface="微软雅黑" pitchFamily="34" charset="-122"/>
              </a:rPr>
              <a:t>光调制器</a:t>
            </a:r>
          </a:p>
        </p:txBody>
      </p:sp>
      <p:sp>
        <p:nvSpPr>
          <p:cNvPr id="58" name="Line 56"/>
          <p:cNvSpPr>
            <a:spLocks noChangeShapeType="1"/>
          </p:cNvSpPr>
          <p:nvPr/>
        </p:nvSpPr>
        <p:spPr bwMode="auto">
          <a:xfrm>
            <a:off x="2254949" y="2041201"/>
            <a:ext cx="0" cy="320379"/>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mn-lt"/>
              <a:ea typeface="黑体" pitchFamily="2" charset="-122"/>
            </a:endParaRPr>
          </a:p>
        </p:txBody>
      </p:sp>
      <p:sp>
        <p:nvSpPr>
          <p:cNvPr id="59" name="Text Box 57"/>
          <p:cNvSpPr txBox="1">
            <a:spLocks noChangeArrowheads="1"/>
          </p:cNvSpPr>
          <p:nvPr/>
        </p:nvSpPr>
        <p:spPr bwMode="auto">
          <a:xfrm>
            <a:off x="6472637" y="1807401"/>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200" b="1" dirty="0">
                <a:solidFill>
                  <a:srgbClr val="0000FF"/>
                </a:solidFill>
                <a:latin typeface="微软雅黑" pitchFamily="34" charset="-122"/>
                <a:ea typeface="微软雅黑" pitchFamily="34" charset="-122"/>
              </a:rPr>
              <a:t>光解调器</a:t>
            </a:r>
          </a:p>
        </p:txBody>
      </p:sp>
      <p:sp>
        <p:nvSpPr>
          <p:cNvPr id="60" name="Line 58"/>
          <p:cNvSpPr>
            <a:spLocks noChangeShapeType="1"/>
          </p:cNvSpPr>
          <p:nvPr/>
        </p:nvSpPr>
        <p:spPr bwMode="auto">
          <a:xfrm>
            <a:off x="6863902" y="2041201"/>
            <a:ext cx="0" cy="320379"/>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mn-lt"/>
              <a:ea typeface="黑体" pitchFamily="2" charset="-122"/>
            </a:endParaRPr>
          </a:p>
        </p:txBody>
      </p:sp>
      <p:sp>
        <p:nvSpPr>
          <p:cNvPr id="61" name="Text Box 6"/>
          <p:cNvSpPr txBox="1">
            <a:spLocks noChangeArrowheads="1"/>
          </p:cNvSpPr>
          <p:nvPr/>
        </p:nvSpPr>
        <p:spPr bwMode="auto">
          <a:xfrm>
            <a:off x="7569983" y="2641023"/>
            <a:ext cx="834797" cy="738664"/>
          </a:xfrm>
          <a:prstGeom prst="rect">
            <a:avLst/>
          </a:prstGeom>
          <a:solidFill>
            <a:srgbClr val="00FFCC"/>
          </a:solidFill>
          <a:ln w="19050">
            <a:solidFill>
              <a:srgbClr val="333399"/>
            </a:solidFill>
            <a:miter lim="800000"/>
            <a:headEnd/>
            <a:tailEnd/>
          </a:ln>
          <a:effectLst/>
        </p:spPr>
        <p:txBody>
          <a:bodyPr wrap="square">
            <a:spAutoFit/>
          </a:bodyPr>
          <a:lstStyle/>
          <a:p>
            <a:r>
              <a:rPr kumimoji="1" lang="en-US" altLang="zh-CN" sz="1400" b="1" dirty="0">
                <a:solidFill>
                  <a:srgbClr val="000099"/>
                </a:solidFill>
                <a:latin typeface="+mn-lt"/>
                <a:ea typeface="黑体" pitchFamily="2" charset="-122"/>
              </a:rPr>
              <a:t>8 </a:t>
            </a:r>
            <a:r>
              <a:rPr kumimoji="1" lang="en-US" altLang="zh-CN" sz="1400" b="1" dirty="0">
                <a:solidFill>
                  <a:srgbClr val="000099"/>
                </a:solidFill>
                <a:latin typeface="+mn-lt"/>
                <a:ea typeface="黑体" pitchFamily="2" charset="-122"/>
                <a:sym typeface="Symbol" pitchFamily="18" charset="2"/>
              </a:rPr>
              <a:t> </a:t>
            </a:r>
            <a:r>
              <a:rPr kumimoji="1" lang="en-US" altLang="zh-CN" sz="1400" b="1" dirty="0">
                <a:solidFill>
                  <a:srgbClr val="000099"/>
                </a:solidFill>
                <a:latin typeface="+mn-lt"/>
                <a:ea typeface="黑体" pitchFamily="2" charset="-122"/>
              </a:rPr>
              <a:t>2.5 </a:t>
            </a:r>
            <a:r>
              <a:rPr kumimoji="1" lang="en-US" altLang="zh-CN" sz="1400" b="1" dirty="0" err="1">
                <a:solidFill>
                  <a:srgbClr val="000099"/>
                </a:solidFill>
                <a:latin typeface="+mn-lt"/>
                <a:ea typeface="黑体" pitchFamily="2" charset="-122"/>
              </a:rPr>
              <a:t>Gbit</a:t>
            </a:r>
            <a:r>
              <a:rPr kumimoji="1" lang="en-US" altLang="zh-CN" sz="1400" b="1" dirty="0">
                <a:solidFill>
                  <a:srgbClr val="000099"/>
                </a:solidFill>
                <a:latin typeface="+mn-lt"/>
                <a:ea typeface="黑体" pitchFamily="2" charset="-122"/>
              </a:rPr>
              <a:t>/s</a:t>
            </a:r>
          </a:p>
          <a:p>
            <a:r>
              <a:rPr kumimoji="1" lang="en-US" altLang="zh-CN" sz="1400" b="1" dirty="0">
                <a:solidFill>
                  <a:srgbClr val="000099"/>
                </a:solidFill>
                <a:latin typeface="+mn-lt"/>
                <a:ea typeface="黑体" pitchFamily="2" charset="-122"/>
              </a:rPr>
              <a:t>1310 nm</a:t>
            </a:r>
          </a:p>
        </p:txBody>
      </p:sp>
      <p:sp>
        <p:nvSpPr>
          <p:cNvPr id="63" name="矩形 62"/>
          <p:cNvSpPr/>
          <p:nvPr/>
        </p:nvSpPr>
        <p:spPr>
          <a:xfrm>
            <a:off x="975359" y="1117599"/>
            <a:ext cx="7219405" cy="707886"/>
          </a:xfrm>
          <a:prstGeom prst="rect">
            <a:avLst/>
          </a:prstGeom>
          <a:noFill/>
          <a:ln>
            <a:noFill/>
          </a:ln>
        </p:spPr>
        <p:txBody>
          <a:bodyPr wrap="square">
            <a:spAutoFit/>
          </a:bodyPr>
          <a:lstStyle/>
          <a:p>
            <a:pPr>
              <a:lnSpc>
                <a:spcPts val="2400"/>
              </a:lnSpc>
            </a:pPr>
            <a:r>
              <a:rPr lang="zh-CN" altLang="en-US" b="1" dirty="0">
                <a:solidFill>
                  <a:srgbClr val="C00000"/>
                </a:solidFill>
                <a:latin typeface="微软雅黑" pitchFamily="34" charset="-122"/>
                <a:ea typeface="微软雅黑" pitchFamily="34" charset="-122"/>
              </a:rPr>
              <a:t>波分复用 </a:t>
            </a:r>
            <a:r>
              <a:rPr lang="en-US" altLang="zh-CN" b="1" dirty="0">
                <a:solidFill>
                  <a:srgbClr val="C00000"/>
                </a:solidFill>
                <a:latin typeface="微软雅黑" pitchFamily="34" charset="-122"/>
                <a:ea typeface="微软雅黑" pitchFamily="34" charset="-122"/>
              </a:rPr>
              <a:t>WDM </a:t>
            </a:r>
            <a:r>
              <a:rPr lang="en-US" altLang="zh-CN" b="1" dirty="0">
                <a:latin typeface="微软雅黑" pitchFamily="34" charset="-122"/>
                <a:ea typeface="微软雅黑" pitchFamily="34" charset="-122"/>
              </a:rPr>
              <a:t>(Wavelength Division Multiplexing) </a:t>
            </a:r>
            <a:r>
              <a:rPr lang="zh-CN" altLang="en-US" b="1" dirty="0">
                <a:latin typeface="微软雅黑" pitchFamily="34" charset="-122"/>
                <a:ea typeface="微软雅黑" pitchFamily="34" charset="-122"/>
              </a:rPr>
              <a:t>：光的频分复用。使用一根光纤来</a:t>
            </a:r>
            <a:r>
              <a:rPr lang="zh-CN" altLang="en-US" b="1" dirty="0">
                <a:solidFill>
                  <a:srgbClr val="0000FF"/>
                </a:solidFill>
                <a:latin typeface="微软雅黑" pitchFamily="34" charset="-122"/>
                <a:ea typeface="微软雅黑" pitchFamily="34" charset="-122"/>
              </a:rPr>
              <a:t>同时传输</a:t>
            </a:r>
            <a:r>
              <a:rPr lang="zh-CN" altLang="en-US" b="1" dirty="0">
                <a:latin typeface="微软雅黑" pitchFamily="34" charset="-122"/>
                <a:ea typeface="微软雅黑" pitchFamily="34" charset="-122"/>
              </a:rPr>
              <a:t>多个光载波信号。</a:t>
            </a:r>
          </a:p>
        </p:txBody>
      </p:sp>
      <p:sp>
        <p:nvSpPr>
          <p:cNvPr id="64" name="Text Box 54"/>
          <p:cNvSpPr txBox="1">
            <a:spLocks noChangeArrowheads="1"/>
          </p:cNvSpPr>
          <p:nvPr/>
        </p:nvSpPr>
        <p:spPr bwMode="auto">
          <a:xfrm>
            <a:off x="3840603" y="3384458"/>
            <a:ext cx="73129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400" b="1" dirty="0">
                <a:latin typeface="+mn-lt"/>
                <a:ea typeface="黑体" pitchFamily="2" charset="-122"/>
              </a:rPr>
              <a:t>120 km</a:t>
            </a:r>
          </a:p>
        </p:txBody>
      </p:sp>
    </p:spTree>
    <p:extLst>
      <p:ext uri="{BB962C8B-B14F-4D97-AF65-F5344CB8AC3E}">
        <p14:creationId xmlns:p14="http://schemas.microsoft.com/office/powerpoint/2010/main" val="216267535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466343" y="900000"/>
            <a:ext cx="8129017" cy="3376990"/>
          </a:xfrm>
        </p:spPr>
        <p:txBody>
          <a:bodyPr/>
          <a:lstStyle/>
          <a:p>
            <a:r>
              <a:rPr lang="zh-CN" altLang="en-US" dirty="0"/>
              <a:t>每一个用户可以在同样的时间使用同样的频带进行通信。</a:t>
            </a:r>
            <a:endParaRPr lang="en-US" altLang="zh-CN" dirty="0"/>
          </a:p>
          <a:p>
            <a:r>
              <a:rPr lang="zh-CN" altLang="en-US" dirty="0"/>
              <a:t>各用户使用经过特殊挑选的不同码型，因此不会造成干扰。</a:t>
            </a:r>
          </a:p>
          <a:p>
            <a:r>
              <a:rPr lang="zh-CN" altLang="en-US" dirty="0"/>
              <a:t>当码分复用 </a:t>
            </a:r>
            <a:r>
              <a:rPr lang="en-US" altLang="zh-CN" dirty="0"/>
              <a:t>CDM (Code Division Multiplexing) </a:t>
            </a:r>
            <a:r>
              <a:rPr lang="zh-CN" altLang="en-US" dirty="0"/>
              <a:t>信道为多个不同地址的用户所共享时，就称为码分多址 </a:t>
            </a:r>
            <a:r>
              <a:rPr lang="en-US" altLang="zh-CN" dirty="0"/>
              <a:t>CDMA (Code Division Multiple Access)</a:t>
            </a:r>
            <a:r>
              <a:rPr lang="zh-CN" altLang="en-US" dirty="0"/>
              <a:t>。</a:t>
            </a:r>
          </a:p>
        </p:txBody>
      </p:sp>
      <p:sp>
        <p:nvSpPr>
          <p:cNvPr id="2" name="文本占位符 1"/>
          <p:cNvSpPr>
            <a:spLocks noGrp="1"/>
          </p:cNvSpPr>
          <p:nvPr>
            <p:ph type="body" sz="quarter" idx="11"/>
          </p:nvPr>
        </p:nvSpPr>
        <p:spPr>
          <a:xfrm>
            <a:off x="1332000" y="360000"/>
            <a:ext cx="6480000" cy="354012"/>
          </a:xfrm>
        </p:spPr>
        <p:txBody>
          <a:bodyPr>
            <a:normAutofit fontScale="92500" lnSpcReduction="10000"/>
          </a:bodyPr>
          <a:lstStyle/>
          <a:p>
            <a:r>
              <a:rPr lang="zh-CN" altLang="en-US" dirty="0"/>
              <a:t>码分复用与码分多址</a:t>
            </a:r>
          </a:p>
        </p:txBody>
      </p:sp>
    </p:spTree>
    <p:extLst>
      <p:ext uri="{BB962C8B-B14F-4D97-AF65-F5344CB8AC3E}">
        <p14:creationId xmlns:p14="http://schemas.microsoft.com/office/powerpoint/2010/main" val="176845744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sz="quarter" idx="10"/>
          </p:nvPr>
        </p:nvSpPr>
        <p:spPr>
          <a:xfrm>
            <a:off x="466343" y="900000"/>
            <a:ext cx="8129017" cy="3376990"/>
          </a:xfrm>
        </p:spPr>
        <p:txBody>
          <a:bodyPr/>
          <a:lstStyle/>
          <a:p>
            <a:r>
              <a:rPr lang="zh-CN" altLang="en-US" dirty="0"/>
              <a:t>现代电信网业务括话音、视频、图像和各种数据业务。因此需要一种能承载来自其他各种业务网络数据的传输网络。</a:t>
            </a:r>
            <a:endParaRPr lang="en-US" altLang="zh-CN" dirty="0"/>
          </a:p>
          <a:p>
            <a:r>
              <a:rPr lang="zh-CN" altLang="en-US" dirty="0"/>
              <a:t>在数字化的同时，光纤开始成为长途干线最主要的传输媒体。</a:t>
            </a:r>
            <a:endParaRPr lang="en-US" altLang="zh-CN" dirty="0"/>
          </a:p>
          <a:p>
            <a:r>
              <a:rPr lang="zh-CN" altLang="en-US" dirty="0"/>
              <a:t>光纤的高带宽适用于承载今天的高数据速率业务（如视频会议）和大量复用的低速率业务（如话音）</a:t>
            </a:r>
            <a:endParaRPr lang="en-US" altLang="zh-CN" dirty="0"/>
          </a:p>
          <a:p>
            <a:r>
              <a:rPr lang="zh-CN" altLang="en-US" dirty="0"/>
              <a:t>需要采用一种统一的复用体制以及全球统一的标准数据率，从而使光纤传输网可以方便地为各种业务的数据传输提供不同速率的传输电路。</a:t>
            </a:r>
            <a:endParaRPr lang="en-US" altLang="zh-CN" dirty="0"/>
          </a:p>
          <a:p>
            <a:endParaRPr lang="en-US" altLang="zh-CN" dirty="0"/>
          </a:p>
        </p:txBody>
      </p:sp>
      <p:sp>
        <p:nvSpPr>
          <p:cNvPr id="5" name="文本占位符 4"/>
          <p:cNvSpPr>
            <a:spLocks noGrp="1"/>
          </p:cNvSpPr>
          <p:nvPr>
            <p:ph type="body" sz="quarter" idx="11"/>
          </p:nvPr>
        </p:nvSpPr>
        <p:spPr>
          <a:xfrm>
            <a:off x="1332000" y="360000"/>
            <a:ext cx="6480000" cy="354012"/>
          </a:xfrm>
        </p:spPr>
        <p:txBody>
          <a:bodyPr>
            <a:normAutofit fontScale="92500" lnSpcReduction="10000"/>
          </a:bodyPr>
          <a:lstStyle/>
          <a:p>
            <a:r>
              <a:rPr lang="en-US" altLang="zh-CN" dirty="0"/>
              <a:t>2.5  </a:t>
            </a:r>
            <a:r>
              <a:rPr lang="zh-CN" altLang="en-US" dirty="0"/>
              <a:t>数字传输系统</a:t>
            </a:r>
          </a:p>
        </p:txBody>
      </p:sp>
    </p:spTree>
    <p:extLst>
      <p:ext uri="{BB962C8B-B14F-4D97-AF65-F5344CB8AC3E}">
        <p14:creationId xmlns:p14="http://schemas.microsoft.com/office/powerpoint/2010/main" val="1601819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1000"/>
                                        <p:tgtEl>
                                          <p:spTgt spid="6">
                                            <p:txEl>
                                              <p:pRg st="1" end="1"/>
                                            </p:txEl>
                                          </p:spTgt>
                                        </p:tgtEl>
                                      </p:cBhvr>
                                    </p:animEffect>
                                    <p:anim calcmode="lin" valueType="num">
                                      <p:cBhvr>
                                        <p:cTn id="13"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1000"/>
                                        <p:tgtEl>
                                          <p:spTgt spid="6">
                                            <p:txEl>
                                              <p:pRg st="2" end="2"/>
                                            </p:txEl>
                                          </p:spTgt>
                                        </p:tgtEl>
                                      </p:cBhvr>
                                    </p:animEffect>
                                    <p:anim calcmode="lin" valueType="num">
                                      <p:cBhvr>
                                        <p:cTn id="18"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6">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fade">
                                      <p:cBhvr>
                                        <p:cTn id="22" dur="1000"/>
                                        <p:tgtEl>
                                          <p:spTgt spid="6">
                                            <p:txEl>
                                              <p:pRg st="3" end="3"/>
                                            </p:txEl>
                                          </p:spTgt>
                                        </p:tgtEl>
                                      </p:cBhvr>
                                    </p:animEffect>
                                    <p:anim calcmode="lin" valueType="num">
                                      <p:cBhvr>
                                        <p:cTn id="23"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a:xfrm>
            <a:off x="466343" y="899999"/>
            <a:ext cx="8129017" cy="3600000"/>
          </a:xfrm>
        </p:spPr>
        <p:txBody>
          <a:bodyPr>
            <a:normAutofit/>
          </a:bodyPr>
          <a:lstStyle/>
          <a:p>
            <a:r>
              <a:rPr lang="zh-CN" altLang="en-US" dirty="0"/>
              <a:t>美国在</a:t>
            </a:r>
            <a:r>
              <a:rPr lang="en-US" altLang="zh-CN" dirty="0"/>
              <a:t>1988</a:t>
            </a:r>
            <a:r>
              <a:rPr lang="zh-CN" altLang="en-US" dirty="0"/>
              <a:t>年首先推出的传输标准。</a:t>
            </a:r>
            <a:endParaRPr lang="en-US" altLang="zh-CN" dirty="0"/>
          </a:p>
          <a:p>
            <a:r>
              <a:rPr lang="zh-CN" altLang="en-US" dirty="0"/>
              <a:t>整个的同步网络的各级时钟都来自一个非常精确的主时钟（通常采用昂贵的铯原子钟）。 </a:t>
            </a:r>
          </a:p>
          <a:p>
            <a:r>
              <a:rPr lang="zh-CN" altLang="en-US" dirty="0"/>
              <a:t>为光纤传输系统定义了同步传输的线路速率等级结构：</a:t>
            </a:r>
          </a:p>
          <a:p>
            <a:pPr lvl="1"/>
            <a:r>
              <a:rPr lang="zh-CN" altLang="en-US" dirty="0"/>
              <a:t>传输速率以 </a:t>
            </a:r>
            <a:r>
              <a:rPr lang="en-US" altLang="zh-CN" dirty="0"/>
              <a:t>51.84 Mbit/s </a:t>
            </a:r>
            <a:r>
              <a:rPr lang="zh-CN" altLang="en-US" dirty="0"/>
              <a:t>为基础。对电信号称为第 </a:t>
            </a:r>
            <a:r>
              <a:rPr lang="en-US" altLang="zh-CN" dirty="0"/>
              <a:t>1 </a:t>
            </a:r>
            <a:r>
              <a:rPr lang="zh-CN" altLang="en-US" dirty="0"/>
              <a:t>级同步传送信号 </a:t>
            </a:r>
            <a:r>
              <a:rPr lang="en-US" altLang="zh-CN" dirty="0"/>
              <a:t>STS-1 (Synchronous Transport Signal)</a:t>
            </a:r>
            <a:r>
              <a:rPr lang="zh-CN" altLang="en-US" dirty="0"/>
              <a:t>，对光信号则称为第 </a:t>
            </a:r>
            <a:r>
              <a:rPr lang="en-US" altLang="zh-CN" dirty="0"/>
              <a:t>1 </a:t>
            </a:r>
            <a:r>
              <a:rPr lang="zh-CN" altLang="en-US" dirty="0"/>
              <a:t>级光载波 </a:t>
            </a:r>
            <a:r>
              <a:rPr lang="en-US" altLang="zh-CN" dirty="0"/>
              <a:t>OC-1 (Optical Carrier)</a:t>
            </a:r>
            <a:r>
              <a:rPr lang="zh-CN" altLang="en-US" dirty="0"/>
              <a:t>。</a:t>
            </a:r>
          </a:p>
          <a:p>
            <a:pPr lvl="1"/>
            <a:r>
              <a:rPr lang="zh-CN" altLang="en-US" dirty="0"/>
              <a:t>现已定义了从 </a:t>
            </a:r>
            <a:r>
              <a:rPr lang="en-US" altLang="zh-CN" dirty="0"/>
              <a:t>51.84 Mbit/s (</a:t>
            </a:r>
            <a:r>
              <a:rPr lang="zh-CN" altLang="en-US" dirty="0"/>
              <a:t>即 </a:t>
            </a:r>
            <a:r>
              <a:rPr lang="en-US" altLang="zh-CN" dirty="0"/>
              <a:t>OC-1) </a:t>
            </a:r>
            <a:r>
              <a:rPr lang="zh-CN" altLang="en-US" dirty="0"/>
              <a:t>到 </a:t>
            </a:r>
            <a:r>
              <a:rPr lang="en-US" altLang="zh-CN" dirty="0"/>
              <a:t>39813.120 Mbit/s (</a:t>
            </a:r>
            <a:r>
              <a:rPr lang="zh-CN" altLang="en-US" dirty="0"/>
              <a:t>即 </a:t>
            </a:r>
            <a:r>
              <a:rPr lang="en-US" altLang="zh-CN" dirty="0"/>
              <a:t>OC-768/STS-768) </a:t>
            </a:r>
            <a:r>
              <a:rPr lang="zh-CN" altLang="en-US" dirty="0"/>
              <a:t>的标准。 </a:t>
            </a:r>
          </a:p>
          <a:p>
            <a:endParaRPr lang="zh-CN" altLang="en-US" dirty="0"/>
          </a:p>
        </p:txBody>
      </p:sp>
      <p:sp>
        <p:nvSpPr>
          <p:cNvPr id="3" name="文本占位符 2"/>
          <p:cNvSpPr>
            <a:spLocks noGrp="1"/>
          </p:cNvSpPr>
          <p:nvPr>
            <p:ph type="body" sz="quarter" idx="11"/>
          </p:nvPr>
        </p:nvSpPr>
        <p:spPr>
          <a:xfrm>
            <a:off x="1332000" y="360000"/>
            <a:ext cx="6480000" cy="354012"/>
          </a:xfrm>
        </p:spPr>
        <p:txBody>
          <a:bodyPr>
            <a:normAutofit fontScale="92500" lnSpcReduction="10000"/>
          </a:bodyPr>
          <a:lstStyle/>
          <a:p>
            <a:r>
              <a:rPr lang="zh-CN" altLang="en-US" dirty="0"/>
              <a:t>同步光纤网 </a:t>
            </a:r>
            <a:r>
              <a:rPr lang="en-US" altLang="zh-CN" dirty="0"/>
              <a:t>SONET (Synchronous Optical Network) </a:t>
            </a:r>
            <a:endParaRPr lang="zh-CN" altLang="en-US" dirty="0"/>
          </a:p>
        </p:txBody>
      </p:sp>
    </p:spTree>
    <p:extLst>
      <p:ext uri="{BB962C8B-B14F-4D97-AF65-F5344CB8AC3E}">
        <p14:creationId xmlns:p14="http://schemas.microsoft.com/office/powerpoint/2010/main" val="2522956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1000"/>
                                        <p:tgtEl>
                                          <p:spTgt spid="2">
                                            <p:txEl>
                                              <p:pRg st="1" end="1"/>
                                            </p:txEl>
                                          </p:spTgt>
                                        </p:tgtEl>
                                      </p:cBhvr>
                                    </p:animEffect>
                                    <p:anim calcmode="lin" valueType="num">
                                      <p:cBhvr>
                                        <p:cTn id="13"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2">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1000"/>
                                        <p:tgtEl>
                                          <p:spTgt spid="2">
                                            <p:txEl>
                                              <p:pRg st="2" end="2"/>
                                            </p:txEl>
                                          </p:spTgt>
                                        </p:tgtEl>
                                      </p:cBhvr>
                                    </p:animEffect>
                                    <p:anim calcmode="lin" valueType="num">
                                      <p:cBhvr>
                                        <p:cTn id="18"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2">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1000"/>
                                        <p:tgtEl>
                                          <p:spTgt spid="2">
                                            <p:txEl>
                                              <p:pRg st="3" end="3"/>
                                            </p:txEl>
                                          </p:spTgt>
                                        </p:tgtEl>
                                      </p:cBhvr>
                                    </p:animEffect>
                                    <p:anim calcmode="lin" valueType="num">
                                      <p:cBhvr>
                                        <p:cTn id="23"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2">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1000"/>
                                        <p:tgtEl>
                                          <p:spTgt spid="2">
                                            <p:txEl>
                                              <p:pRg st="4" end="4"/>
                                            </p:txEl>
                                          </p:spTgt>
                                        </p:tgtEl>
                                      </p:cBhvr>
                                    </p:animEffect>
                                    <p:anim calcmode="lin" valueType="num">
                                      <p:cBhvr>
                                        <p:cTn id="28"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a:xfrm>
            <a:off x="466343" y="900000"/>
            <a:ext cx="8129017" cy="3376990"/>
          </a:xfrm>
        </p:spPr>
        <p:txBody>
          <a:bodyPr/>
          <a:lstStyle/>
          <a:p>
            <a:r>
              <a:rPr lang="en-US" altLang="zh-CN" dirty="0"/>
              <a:t>ITU-T </a:t>
            </a:r>
            <a:r>
              <a:rPr lang="zh-CN" altLang="en-US" dirty="0"/>
              <a:t>以美国标准 </a:t>
            </a:r>
            <a:r>
              <a:rPr lang="en-US" altLang="zh-CN" dirty="0"/>
              <a:t>SONET </a:t>
            </a:r>
            <a:r>
              <a:rPr lang="zh-CN" altLang="en-US" dirty="0"/>
              <a:t>为基础制订的国际标准。</a:t>
            </a:r>
            <a:endParaRPr lang="en-US" altLang="zh-CN" dirty="0"/>
          </a:p>
          <a:p>
            <a:r>
              <a:rPr lang="zh-CN" altLang="en-US" dirty="0"/>
              <a:t>与 </a:t>
            </a:r>
            <a:r>
              <a:rPr lang="en-US" altLang="zh-CN" dirty="0"/>
              <a:t>SONET </a:t>
            </a:r>
            <a:r>
              <a:rPr lang="zh-CN" altLang="en-US" dirty="0"/>
              <a:t>的主要不同：</a:t>
            </a:r>
            <a:r>
              <a:rPr lang="en-US" altLang="zh-CN" dirty="0"/>
              <a:t>SDH </a:t>
            </a:r>
            <a:r>
              <a:rPr lang="zh-CN" altLang="en-US" dirty="0"/>
              <a:t>的基本速率为 </a:t>
            </a:r>
            <a:r>
              <a:rPr lang="en-US" altLang="zh-CN" dirty="0"/>
              <a:t>155.52 Mbit/s</a:t>
            </a:r>
            <a:r>
              <a:rPr lang="zh-CN" altLang="en-US" dirty="0"/>
              <a:t>，称为第 </a:t>
            </a:r>
            <a:r>
              <a:rPr lang="en-US" altLang="zh-CN" dirty="0"/>
              <a:t>1 </a:t>
            </a:r>
            <a:r>
              <a:rPr lang="zh-CN" altLang="en-US" dirty="0"/>
              <a:t>级同步传递模块 </a:t>
            </a:r>
            <a:r>
              <a:rPr lang="en-US" altLang="zh-CN" dirty="0"/>
              <a:t>(Synchronous Transfer Module)</a:t>
            </a:r>
            <a:r>
              <a:rPr lang="zh-CN" altLang="en-US" dirty="0"/>
              <a:t>，即 </a:t>
            </a:r>
            <a:r>
              <a:rPr lang="en-US" altLang="zh-CN" dirty="0"/>
              <a:t>STM-1</a:t>
            </a:r>
            <a:r>
              <a:rPr lang="zh-CN" altLang="en-US" dirty="0"/>
              <a:t>，相当于 </a:t>
            </a:r>
            <a:r>
              <a:rPr lang="en-US" altLang="zh-CN" dirty="0"/>
              <a:t>SONET </a:t>
            </a:r>
            <a:r>
              <a:rPr lang="zh-CN" altLang="en-US" dirty="0"/>
              <a:t>体系中的 </a:t>
            </a:r>
            <a:r>
              <a:rPr lang="en-US" altLang="zh-CN" dirty="0"/>
              <a:t>OC-3 </a:t>
            </a:r>
            <a:r>
              <a:rPr lang="zh-CN" altLang="en-US" dirty="0"/>
              <a:t>速率。</a:t>
            </a:r>
          </a:p>
          <a:p>
            <a:endParaRPr lang="zh-CN" altLang="en-US" dirty="0"/>
          </a:p>
        </p:txBody>
      </p:sp>
      <p:sp>
        <p:nvSpPr>
          <p:cNvPr id="3" name="文本占位符 2"/>
          <p:cNvSpPr>
            <a:spLocks noGrp="1"/>
          </p:cNvSpPr>
          <p:nvPr>
            <p:ph type="body" sz="quarter" idx="11"/>
          </p:nvPr>
        </p:nvSpPr>
        <p:spPr>
          <a:xfrm>
            <a:off x="1332000" y="360000"/>
            <a:ext cx="6480000" cy="354012"/>
          </a:xfrm>
        </p:spPr>
        <p:txBody>
          <a:bodyPr>
            <a:normAutofit fontScale="92500" lnSpcReduction="10000"/>
          </a:bodyPr>
          <a:lstStyle/>
          <a:p>
            <a:r>
              <a:rPr lang="zh-CN" altLang="en-US" dirty="0"/>
              <a:t>同步数字系列 </a:t>
            </a:r>
            <a:r>
              <a:rPr lang="en-US" altLang="zh-CN" dirty="0"/>
              <a:t>SDH (Synchronous Digital Hierarchy)</a:t>
            </a:r>
            <a:endParaRPr lang="zh-CN" altLang="en-US" dirty="0"/>
          </a:p>
        </p:txBody>
      </p:sp>
    </p:spTree>
    <p:extLst>
      <p:ext uri="{BB962C8B-B14F-4D97-AF65-F5344CB8AC3E}">
        <p14:creationId xmlns:p14="http://schemas.microsoft.com/office/powerpoint/2010/main" val="854215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1000"/>
                                        <p:tgtEl>
                                          <p:spTgt spid="2">
                                            <p:txEl>
                                              <p:pRg st="1" end="1"/>
                                            </p:txEl>
                                          </p:spTgt>
                                        </p:tgtEl>
                                      </p:cBhvr>
                                    </p:animEffect>
                                    <p:anim calcmode="lin" valueType="num">
                                      <p:cBhvr>
                                        <p:cTn id="13"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083601" y="1093383"/>
            <a:ext cx="7009933" cy="30480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083601" y="1675522"/>
            <a:ext cx="7009933" cy="270655"/>
          </a:xfrm>
          <a:prstGeom prst="rect">
            <a:avLst/>
          </a:prstGeom>
          <a:solidFill>
            <a:srgbClr val="99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083601" y="2215354"/>
            <a:ext cx="7009933" cy="270655"/>
          </a:xfrm>
          <a:prstGeom prst="rect">
            <a:avLst/>
          </a:prstGeom>
          <a:solidFill>
            <a:srgbClr val="99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1083601" y="2767040"/>
            <a:ext cx="7009933" cy="270655"/>
          </a:xfrm>
          <a:prstGeom prst="rect">
            <a:avLst/>
          </a:prstGeom>
          <a:solidFill>
            <a:srgbClr val="99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1083601" y="3319289"/>
            <a:ext cx="7009933" cy="270655"/>
          </a:xfrm>
          <a:prstGeom prst="rect">
            <a:avLst/>
          </a:prstGeom>
          <a:solidFill>
            <a:srgbClr val="99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1083601" y="3876301"/>
            <a:ext cx="7009933" cy="270655"/>
          </a:xfrm>
          <a:prstGeom prst="rect">
            <a:avLst/>
          </a:prstGeom>
          <a:solidFill>
            <a:srgbClr val="99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1" name="Group 417"/>
          <p:cNvGraphicFramePr>
            <a:graphicFrameLocks noGrp="1"/>
          </p:cNvGraphicFramePr>
          <p:nvPr>
            <p:extLst>
              <p:ext uri="{D42A27DB-BD31-4B8C-83A1-F6EECF244321}">
                <p14:modId xmlns:p14="http://schemas.microsoft.com/office/powerpoint/2010/main" val="3116240095"/>
              </p:ext>
            </p:extLst>
          </p:nvPr>
        </p:nvGraphicFramePr>
        <p:xfrm>
          <a:off x="1077237" y="1093383"/>
          <a:ext cx="7022661" cy="3063721"/>
        </p:xfrm>
        <a:graphic>
          <a:graphicData uri="http://schemas.openxmlformats.org/drawingml/2006/table">
            <a:tbl>
              <a:tblPr>
                <a:tableStyleId>{BDBED569-4797-4DF1-A0F4-6AAB3CD982D8}</a:tableStyleId>
              </a:tblPr>
              <a:tblGrid>
                <a:gridCol w="1620613">
                  <a:extLst>
                    <a:ext uri="{9D8B030D-6E8A-4147-A177-3AD203B41FA5}">
                      <a16:colId xmlns:a16="http://schemas.microsoft.com/office/drawing/2014/main" val="20000"/>
                    </a:ext>
                  </a:extLst>
                </a:gridCol>
                <a:gridCol w="1672063">
                  <a:extLst>
                    <a:ext uri="{9D8B030D-6E8A-4147-A177-3AD203B41FA5}">
                      <a16:colId xmlns:a16="http://schemas.microsoft.com/office/drawing/2014/main" val="20001"/>
                    </a:ext>
                  </a:extLst>
                </a:gridCol>
                <a:gridCol w="1442882">
                  <a:extLst>
                    <a:ext uri="{9D8B030D-6E8A-4147-A177-3AD203B41FA5}">
                      <a16:colId xmlns:a16="http://schemas.microsoft.com/office/drawing/2014/main" val="20002"/>
                    </a:ext>
                  </a:extLst>
                </a:gridCol>
                <a:gridCol w="2287103">
                  <a:extLst>
                    <a:ext uri="{9D8B030D-6E8A-4147-A177-3AD203B41FA5}">
                      <a16:colId xmlns:a16="http://schemas.microsoft.com/office/drawing/2014/main" val="20003"/>
                    </a:ext>
                  </a:extLst>
                </a:gridCol>
              </a:tblGrid>
              <a:tr h="30483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zh-CN" altLang="en-US" sz="1400" dirty="0"/>
                        <a:t>线路速率</a:t>
                      </a:r>
                      <a:r>
                        <a:rPr lang="en-US" altLang="zh-CN" sz="1400" dirty="0"/>
                        <a:t>(Mbit/s)</a:t>
                      </a:r>
                    </a:p>
                  </a:txBody>
                  <a:tcPr marL="62729" marR="62729" marT="28952" marB="28952"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CN" sz="1400" dirty="0"/>
                        <a:t>SONET</a:t>
                      </a:r>
                      <a:r>
                        <a:rPr lang="zh-CN" altLang="en-US" sz="1400" dirty="0"/>
                        <a:t>符号</a:t>
                      </a:r>
                    </a:p>
                  </a:txBody>
                  <a:tcPr marL="62729" marR="62729" marT="28952" marB="28952"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CN" sz="1400" dirty="0"/>
                        <a:t>ITU-T</a:t>
                      </a:r>
                      <a:r>
                        <a:rPr lang="zh-CN" altLang="en-US" sz="1400" dirty="0"/>
                        <a:t>符号</a:t>
                      </a:r>
                    </a:p>
                  </a:txBody>
                  <a:tcPr marL="62729" marR="62729" marT="28952" marB="28952"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zh-CN" altLang="en-US" sz="1400" dirty="0"/>
                        <a:t>表示线路速率的常用近似值</a:t>
                      </a:r>
                    </a:p>
                  </a:txBody>
                  <a:tcPr marL="62729" marR="62729" marT="28952" marB="28952" horzOverflow="overflow"/>
                </a:tc>
                <a:extLst>
                  <a:ext uri="{0D108BD9-81ED-4DB2-BD59-A6C34878D82A}">
                    <a16:rowId xmlns:a16="http://schemas.microsoft.com/office/drawing/2014/main" val="10000"/>
                  </a:ext>
                </a:extLst>
              </a:tr>
              <a:tr h="27280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CN" sz="1400" dirty="0"/>
                        <a:t>51.840</a:t>
                      </a:r>
                    </a:p>
                  </a:txBody>
                  <a:tcPr marL="62729" marR="62729" marT="28952" marB="28952"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CN" sz="1400"/>
                        <a:t>OC-1/STS-1</a:t>
                      </a:r>
                    </a:p>
                  </a:txBody>
                  <a:tcPr marL="62729" marR="62729" marT="28952" marB="28952"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CN" sz="1400">
                          <a:sym typeface="Symbol" pitchFamily="18" charset="2"/>
                        </a:rPr>
                        <a:t></a:t>
                      </a:r>
                    </a:p>
                  </a:txBody>
                  <a:tcPr marL="62729" marR="62729" marT="28952" marB="28952"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lang="zh-CN" altLang="zh-CN" sz="1400" dirty="0"/>
                    </a:p>
                  </a:txBody>
                  <a:tcPr marL="62729" marR="62729" marT="28952" marB="28952" horzOverflow="overflow"/>
                </a:tc>
                <a:extLst>
                  <a:ext uri="{0D108BD9-81ED-4DB2-BD59-A6C34878D82A}">
                    <a16:rowId xmlns:a16="http://schemas.microsoft.com/office/drawing/2014/main" val="10001"/>
                  </a:ext>
                </a:extLst>
              </a:tr>
              <a:tr h="27280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CN" sz="1400" dirty="0"/>
                        <a:t>155.520</a:t>
                      </a:r>
                    </a:p>
                  </a:txBody>
                  <a:tcPr marL="62729" marR="62729" marT="28952" marB="28952"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CN" sz="1400" dirty="0"/>
                        <a:t>OC-3/STS-3</a:t>
                      </a:r>
                    </a:p>
                  </a:txBody>
                  <a:tcPr marL="62729" marR="62729" marT="28952" marB="28952"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CN" sz="1400"/>
                        <a:t>STM-1</a:t>
                      </a:r>
                    </a:p>
                  </a:txBody>
                  <a:tcPr marL="62729" marR="62729" marT="28952" marB="28952"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CN" sz="1400" dirty="0"/>
                        <a:t>155 Mbit/s</a:t>
                      </a:r>
                    </a:p>
                  </a:txBody>
                  <a:tcPr marL="62729" marR="62729" marT="28952" marB="28952" horzOverflow="overflow"/>
                </a:tc>
                <a:extLst>
                  <a:ext uri="{0D108BD9-81ED-4DB2-BD59-A6C34878D82A}">
                    <a16:rowId xmlns:a16="http://schemas.microsoft.com/office/drawing/2014/main" val="10002"/>
                  </a:ext>
                </a:extLst>
              </a:tr>
              <a:tr h="27280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CN" sz="1400" dirty="0"/>
                        <a:t>466.560</a:t>
                      </a:r>
                    </a:p>
                  </a:txBody>
                  <a:tcPr marL="62729" marR="62729" marT="28952" marB="28952"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CN" sz="1400"/>
                        <a:t>OC-9/STS-9</a:t>
                      </a:r>
                    </a:p>
                  </a:txBody>
                  <a:tcPr marL="62729" marR="62729" marT="28952" marB="28952"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CN" sz="1400" dirty="0"/>
                        <a:t>STM-3</a:t>
                      </a:r>
                    </a:p>
                  </a:txBody>
                  <a:tcPr marL="62729" marR="62729" marT="28952" marB="28952"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lang="zh-CN" altLang="zh-CN" sz="1400" dirty="0"/>
                    </a:p>
                  </a:txBody>
                  <a:tcPr marL="62729" marR="62729" marT="28952" marB="28952" horzOverflow="overflow"/>
                </a:tc>
                <a:extLst>
                  <a:ext uri="{0D108BD9-81ED-4DB2-BD59-A6C34878D82A}">
                    <a16:rowId xmlns:a16="http://schemas.microsoft.com/office/drawing/2014/main" val="10003"/>
                  </a:ext>
                </a:extLst>
              </a:tr>
              <a:tr h="27280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CN" sz="1400" dirty="0"/>
                        <a:t>622.080</a:t>
                      </a:r>
                    </a:p>
                  </a:txBody>
                  <a:tcPr marL="62729" marR="62729" marT="28952" marB="28952"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CN" sz="1400"/>
                        <a:t>OC-12/STS-12</a:t>
                      </a:r>
                    </a:p>
                  </a:txBody>
                  <a:tcPr marL="62729" marR="62729" marT="28952" marB="28952"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CN" sz="1400" dirty="0"/>
                        <a:t>STM-4</a:t>
                      </a:r>
                    </a:p>
                  </a:txBody>
                  <a:tcPr marL="62729" marR="62729" marT="28952" marB="28952"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CN" sz="1400" dirty="0"/>
                        <a:t>622 Mbit/s</a:t>
                      </a:r>
                    </a:p>
                  </a:txBody>
                  <a:tcPr marL="62729" marR="62729" marT="28952" marB="28952" horzOverflow="overflow"/>
                </a:tc>
                <a:extLst>
                  <a:ext uri="{0D108BD9-81ED-4DB2-BD59-A6C34878D82A}">
                    <a16:rowId xmlns:a16="http://schemas.microsoft.com/office/drawing/2014/main" val="10004"/>
                  </a:ext>
                </a:extLst>
              </a:tr>
              <a:tr h="27280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CN" sz="1400" dirty="0"/>
                        <a:t>933.120</a:t>
                      </a:r>
                    </a:p>
                  </a:txBody>
                  <a:tcPr marL="62729" marR="62729" marT="28952" marB="28952"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CN" sz="1400" dirty="0"/>
                        <a:t>OC-18/STS-18</a:t>
                      </a:r>
                    </a:p>
                  </a:txBody>
                  <a:tcPr marL="62729" marR="62729" marT="28952" marB="28952"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CN" sz="1400" dirty="0"/>
                        <a:t>STM-6</a:t>
                      </a:r>
                    </a:p>
                  </a:txBody>
                  <a:tcPr marL="62729" marR="62729" marT="28952" marB="28952"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lang="zh-CN" altLang="zh-CN" sz="1400" dirty="0"/>
                    </a:p>
                  </a:txBody>
                  <a:tcPr marL="62729" marR="62729" marT="28952" marB="28952" horzOverflow="overflow"/>
                </a:tc>
                <a:extLst>
                  <a:ext uri="{0D108BD9-81ED-4DB2-BD59-A6C34878D82A}">
                    <a16:rowId xmlns:a16="http://schemas.microsoft.com/office/drawing/2014/main" val="10005"/>
                  </a:ext>
                </a:extLst>
              </a:tr>
              <a:tr h="27280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CN" sz="1400" dirty="0"/>
                        <a:t>1244.160</a:t>
                      </a:r>
                    </a:p>
                  </a:txBody>
                  <a:tcPr marL="62729" marR="62729" marT="28952" marB="28952"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CN" sz="1400"/>
                        <a:t>OC-24/STS-24</a:t>
                      </a:r>
                    </a:p>
                  </a:txBody>
                  <a:tcPr marL="62729" marR="62729" marT="28952" marB="28952"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CN" sz="1400"/>
                        <a:t>STM-8</a:t>
                      </a:r>
                    </a:p>
                  </a:txBody>
                  <a:tcPr marL="62729" marR="62729" marT="28952" marB="28952"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lang="zh-CN" altLang="zh-CN" sz="1400" dirty="0"/>
                    </a:p>
                  </a:txBody>
                  <a:tcPr marL="62729" marR="62729" marT="28952" marB="28952" horzOverflow="overflow"/>
                </a:tc>
                <a:extLst>
                  <a:ext uri="{0D108BD9-81ED-4DB2-BD59-A6C34878D82A}">
                    <a16:rowId xmlns:a16="http://schemas.microsoft.com/office/drawing/2014/main" val="10006"/>
                  </a:ext>
                </a:extLst>
              </a:tr>
              <a:tr h="27280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CN" sz="1400" dirty="0"/>
                        <a:t>2488.320</a:t>
                      </a:r>
                    </a:p>
                  </a:txBody>
                  <a:tcPr marL="62729" marR="62729" marT="28952" marB="28952"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CN" sz="1400"/>
                        <a:t>OC-48/STS-48</a:t>
                      </a:r>
                    </a:p>
                  </a:txBody>
                  <a:tcPr marL="62729" marR="62729" marT="28952" marB="28952"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CN" sz="1400"/>
                        <a:t>STM-16</a:t>
                      </a:r>
                    </a:p>
                  </a:txBody>
                  <a:tcPr marL="62729" marR="62729" marT="28952" marB="28952"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lang="en-US" altLang="zh-CN" sz="1400" dirty="0"/>
                        <a:t>2.5 </a:t>
                      </a:r>
                      <a:r>
                        <a:rPr lang="en-US" altLang="zh-CN" sz="1400" dirty="0" err="1"/>
                        <a:t>Gbit</a:t>
                      </a:r>
                      <a:r>
                        <a:rPr lang="en-US" altLang="zh-CN" sz="1400" dirty="0"/>
                        <a:t>/s</a:t>
                      </a:r>
                    </a:p>
                  </a:txBody>
                  <a:tcPr marL="62729" marR="62729" marT="28952" marB="28952" horzOverflow="overflow"/>
                </a:tc>
                <a:extLst>
                  <a:ext uri="{0D108BD9-81ED-4DB2-BD59-A6C34878D82A}">
                    <a16:rowId xmlns:a16="http://schemas.microsoft.com/office/drawing/2014/main" val="10007"/>
                  </a:ext>
                </a:extLst>
              </a:tr>
              <a:tr h="28821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CN" sz="1400" dirty="0"/>
                        <a:t>4976.640</a:t>
                      </a:r>
                    </a:p>
                  </a:txBody>
                  <a:tcPr marL="62729" marR="62729" marT="28952" marB="28952"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CN" sz="1400"/>
                        <a:t>OC-96/STS-96</a:t>
                      </a:r>
                    </a:p>
                  </a:txBody>
                  <a:tcPr marL="62729" marR="62729" marT="28952" marB="28952"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CN" sz="1400"/>
                        <a:t>STM-32</a:t>
                      </a:r>
                    </a:p>
                  </a:txBody>
                  <a:tcPr marL="62729" marR="62729" marT="28952" marB="28952"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lang="zh-CN" altLang="zh-CN" sz="1400" dirty="0"/>
                    </a:p>
                  </a:txBody>
                  <a:tcPr marL="62729" marR="62729" marT="28952" marB="28952" horzOverflow="overflow"/>
                </a:tc>
                <a:extLst>
                  <a:ext uri="{0D108BD9-81ED-4DB2-BD59-A6C34878D82A}">
                    <a16:rowId xmlns:a16="http://schemas.microsoft.com/office/drawing/2014/main" val="10008"/>
                  </a:ext>
                </a:extLst>
              </a:tr>
              <a:tr h="27280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CN" sz="1400" dirty="0"/>
                        <a:t>9953.280</a:t>
                      </a:r>
                    </a:p>
                  </a:txBody>
                  <a:tcPr marL="62729" marR="62729" marT="28952" marB="28952"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CN" sz="1400"/>
                        <a:t>OC-192/STS-192</a:t>
                      </a:r>
                    </a:p>
                  </a:txBody>
                  <a:tcPr marL="62729" marR="62729" marT="28952" marB="28952"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CN" sz="1400"/>
                        <a:t>STM-64</a:t>
                      </a:r>
                    </a:p>
                  </a:txBody>
                  <a:tcPr marL="62729" marR="62729" marT="28952" marB="28952"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lang="en-US" altLang="zh-CN" sz="1400" dirty="0"/>
                        <a:t>10 </a:t>
                      </a:r>
                      <a:r>
                        <a:rPr lang="en-US" altLang="zh-CN" sz="1400" dirty="0" err="1"/>
                        <a:t>Gbit</a:t>
                      </a:r>
                      <a:r>
                        <a:rPr lang="en-US" altLang="zh-CN" sz="1400" dirty="0"/>
                        <a:t>/s</a:t>
                      </a:r>
                    </a:p>
                  </a:txBody>
                  <a:tcPr marL="62729" marR="62729" marT="28952" marB="28952" horzOverflow="overflow"/>
                </a:tc>
                <a:extLst>
                  <a:ext uri="{0D108BD9-81ED-4DB2-BD59-A6C34878D82A}">
                    <a16:rowId xmlns:a16="http://schemas.microsoft.com/office/drawing/2014/main" val="10009"/>
                  </a:ext>
                </a:extLst>
              </a:tr>
              <a:tr h="28821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CN" sz="1400" dirty="0"/>
                        <a:t>39813.120 </a:t>
                      </a:r>
                    </a:p>
                  </a:txBody>
                  <a:tcPr marL="62729" marR="62729" marT="28952" marB="28952"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CN" sz="1400" dirty="0"/>
                        <a:t>OC-768/STS-768 </a:t>
                      </a:r>
                    </a:p>
                  </a:txBody>
                  <a:tcPr marL="62729" marR="62729" marT="28952" marB="28952"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CN" sz="1400"/>
                        <a:t>STM-256 </a:t>
                      </a:r>
                    </a:p>
                  </a:txBody>
                  <a:tcPr marL="62729" marR="62729" marT="28952" marB="28952"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lang="en-US" altLang="zh-CN" sz="1400" dirty="0"/>
                        <a:t>40 </a:t>
                      </a:r>
                      <a:r>
                        <a:rPr lang="en-US" altLang="zh-CN" sz="1400" dirty="0" err="1"/>
                        <a:t>Gbit</a:t>
                      </a:r>
                      <a:r>
                        <a:rPr lang="en-US" altLang="zh-CN" sz="1400" dirty="0"/>
                        <a:t>/s </a:t>
                      </a:r>
                    </a:p>
                  </a:txBody>
                  <a:tcPr marL="62729" marR="62729" marT="28952" marB="28952" horzOverflow="overflow"/>
                </a:tc>
                <a:extLst>
                  <a:ext uri="{0D108BD9-81ED-4DB2-BD59-A6C34878D82A}">
                    <a16:rowId xmlns:a16="http://schemas.microsoft.com/office/drawing/2014/main" val="10010"/>
                  </a:ext>
                </a:extLst>
              </a:tr>
            </a:tbl>
          </a:graphicData>
        </a:graphic>
      </p:graphicFrame>
      <p:sp>
        <p:nvSpPr>
          <p:cNvPr id="3" name="文本占位符 2"/>
          <p:cNvSpPr>
            <a:spLocks noGrp="1"/>
          </p:cNvSpPr>
          <p:nvPr>
            <p:ph type="body" sz="quarter" idx="11"/>
          </p:nvPr>
        </p:nvSpPr>
        <p:spPr>
          <a:xfrm>
            <a:off x="1332000" y="360000"/>
            <a:ext cx="6480000" cy="354012"/>
          </a:xfrm>
        </p:spPr>
        <p:txBody>
          <a:bodyPr>
            <a:normAutofit fontScale="92500" lnSpcReduction="10000"/>
          </a:bodyPr>
          <a:lstStyle/>
          <a:p>
            <a:r>
              <a:rPr lang="en-US" altLang="zh-CN" dirty="0"/>
              <a:t>SONET </a:t>
            </a:r>
            <a:r>
              <a:rPr lang="zh-CN" altLang="en-US" dirty="0"/>
              <a:t>的 </a:t>
            </a:r>
            <a:r>
              <a:rPr lang="en-US" altLang="zh-CN" dirty="0"/>
              <a:t>OC/STS </a:t>
            </a:r>
            <a:r>
              <a:rPr lang="zh-CN" altLang="en-US" dirty="0"/>
              <a:t>级与 </a:t>
            </a:r>
            <a:r>
              <a:rPr lang="en-US" altLang="zh-CN" dirty="0"/>
              <a:t>SDH </a:t>
            </a:r>
            <a:r>
              <a:rPr lang="zh-CN" altLang="en-US" dirty="0"/>
              <a:t>的 </a:t>
            </a:r>
            <a:r>
              <a:rPr lang="en-US" altLang="zh-CN" dirty="0"/>
              <a:t>STM </a:t>
            </a:r>
            <a:r>
              <a:rPr lang="zh-CN" altLang="en-US" dirty="0"/>
              <a:t>级的对应关系</a:t>
            </a:r>
          </a:p>
        </p:txBody>
      </p:sp>
      <p:sp>
        <p:nvSpPr>
          <p:cNvPr id="4" name="文本框 3">
            <a:extLst>
              <a:ext uri="{FF2B5EF4-FFF2-40B4-BE49-F238E27FC236}">
                <a16:creationId xmlns:a16="http://schemas.microsoft.com/office/drawing/2014/main" id="{2A4076A0-1F9D-9593-129E-AE78A0DC6444}"/>
              </a:ext>
            </a:extLst>
          </p:cNvPr>
          <p:cNvSpPr txBox="1"/>
          <p:nvPr/>
        </p:nvSpPr>
        <p:spPr>
          <a:xfrm>
            <a:off x="2358512" y="4241615"/>
            <a:ext cx="4579374" cy="369332"/>
          </a:xfrm>
          <a:prstGeom prst="rect">
            <a:avLst/>
          </a:prstGeom>
          <a:solidFill>
            <a:schemeClr val="accent6">
              <a:lumMod val="50000"/>
            </a:schemeClr>
          </a:solidFill>
          <a:ln>
            <a:noFill/>
          </a:ln>
          <a:effectLst>
            <a:outerShdw blurRad="50800" dist="38100" dir="2700000" algn="t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我国采用的是</a:t>
            </a:r>
            <a:r>
              <a:rPr lang="en-US" altLang="zh-CN" b="1" dirty="0">
                <a:solidFill>
                  <a:schemeClr val="bg1"/>
                </a:solidFill>
                <a:latin typeface="微软雅黑" panose="020B0503020204020204" pitchFamily="34" charset="-122"/>
                <a:ea typeface="微软雅黑" panose="020B0503020204020204" pitchFamily="34" charset="-122"/>
              </a:rPr>
              <a:t>SDH</a:t>
            </a:r>
            <a:r>
              <a:rPr lang="zh-CN" altLang="en-US" b="1" dirty="0">
                <a:solidFill>
                  <a:schemeClr val="bg1"/>
                </a:solidFill>
                <a:latin typeface="微软雅黑" panose="020B0503020204020204" pitchFamily="34" charset="-122"/>
                <a:ea typeface="微软雅黑" panose="020B0503020204020204" pitchFamily="34" charset="-122"/>
              </a:rPr>
              <a:t>标准</a:t>
            </a:r>
          </a:p>
        </p:txBody>
      </p:sp>
    </p:spTree>
    <p:extLst>
      <p:ext uri="{BB962C8B-B14F-4D97-AF65-F5344CB8AC3E}">
        <p14:creationId xmlns:p14="http://schemas.microsoft.com/office/powerpoint/2010/main" val="4032238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1000"/>
                                        <p:tgtEl>
                                          <p:spTgt spid="8"/>
                                        </p:tgtEl>
                                      </p:cBhvr>
                                    </p:animEffect>
                                    <p:anim calcmode="lin" valueType="num">
                                      <p:cBhvr>
                                        <p:cTn id="23" dur="1000" fill="hold"/>
                                        <p:tgtEl>
                                          <p:spTgt spid="8"/>
                                        </p:tgtEl>
                                        <p:attrNameLst>
                                          <p:attrName>ppt_x</p:attrName>
                                        </p:attrNameLst>
                                      </p:cBhvr>
                                      <p:tavLst>
                                        <p:tav tm="0">
                                          <p:val>
                                            <p:strVal val="#ppt_x"/>
                                          </p:val>
                                        </p:tav>
                                        <p:tav tm="100000">
                                          <p:val>
                                            <p:strVal val="#ppt_x"/>
                                          </p:val>
                                        </p:tav>
                                      </p:tavLst>
                                    </p:anim>
                                    <p:anim calcmode="lin" valueType="num">
                                      <p:cBhvr>
                                        <p:cTn id="24" dur="1000" fill="hold"/>
                                        <p:tgtEl>
                                          <p:spTgt spid="8"/>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1000"/>
                                        <p:tgtEl>
                                          <p:spTgt spid="9"/>
                                        </p:tgtEl>
                                      </p:cBhvr>
                                    </p:animEffect>
                                    <p:anim calcmode="lin" valueType="num">
                                      <p:cBhvr>
                                        <p:cTn id="28" dur="1000" fill="hold"/>
                                        <p:tgtEl>
                                          <p:spTgt spid="9"/>
                                        </p:tgtEl>
                                        <p:attrNameLst>
                                          <p:attrName>ppt_x</p:attrName>
                                        </p:attrNameLst>
                                      </p:cBhvr>
                                      <p:tavLst>
                                        <p:tav tm="0">
                                          <p:val>
                                            <p:strVal val="#ppt_x"/>
                                          </p:val>
                                        </p:tav>
                                        <p:tav tm="100000">
                                          <p:val>
                                            <p:strVal val="#ppt_x"/>
                                          </p:val>
                                        </p:tav>
                                      </p:tavLst>
                                    </p:anim>
                                    <p:anim calcmode="lin" valueType="num">
                                      <p:cBhvr>
                                        <p:cTn id="29" dur="1000" fill="hold"/>
                                        <p:tgtEl>
                                          <p:spTgt spid="9"/>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1000"/>
                                        <p:tgtEl>
                                          <p:spTgt spid="10"/>
                                        </p:tgtEl>
                                      </p:cBhvr>
                                    </p:animEffect>
                                    <p:anim calcmode="lin" valueType="num">
                                      <p:cBhvr>
                                        <p:cTn id="33" dur="1000" fill="hold"/>
                                        <p:tgtEl>
                                          <p:spTgt spid="10"/>
                                        </p:tgtEl>
                                        <p:attrNameLst>
                                          <p:attrName>ppt_x</p:attrName>
                                        </p:attrNameLst>
                                      </p:cBhvr>
                                      <p:tavLst>
                                        <p:tav tm="0">
                                          <p:val>
                                            <p:strVal val="#ppt_x"/>
                                          </p:val>
                                        </p:tav>
                                        <p:tav tm="100000">
                                          <p:val>
                                            <p:strVal val="#ppt_x"/>
                                          </p:val>
                                        </p:tav>
                                      </p:tavLst>
                                    </p:anim>
                                    <p:anim calcmode="lin" valueType="num">
                                      <p:cBhvr>
                                        <p:cTn id="34" dur="1000" fill="hold"/>
                                        <p:tgtEl>
                                          <p:spTgt spid="10"/>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1000"/>
                                        <p:tgtEl>
                                          <p:spTgt spid="11"/>
                                        </p:tgtEl>
                                      </p:cBhvr>
                                    </p:animEffect>
                                    <p:anim calcmode="lin" valueType="num">
                                      <p:cBhvr>
                                        <p:cTn id="38" dur="1000" fill="hold"/>
                                        <p:tgtEl>
                                          <p:spTgt spid="11"/>
                                        </p:tgtEl>
                                        <p:attrNameLst>
                                          <p:attrName>ppt_x</p:attrName>
                                        </p:attrNameLst>
                                      </p:cBhvr>
                                      <p:tavLst>
                                        <p:tav tm="0">
                                          <p:val>
                                            <p:strVal val="#ppt_x"/>
                                          </p:val>
                                        </p:tav>
                                        <p:tav tm="100000">
                                          <p:val>
                                            <p:strVal val="#ppt_x"/>
                                          </p:val>
                                        </p:tav>
                                      </p:tavLst>
                                    </p:anim>
                                    <p:anim calcmode="lin" valueType="num">
                                      <p:cBhvr>
                                        <p:cTn id="3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grpId="0" nodeType="clickEffect">
                                  <p:stCondLst>
                                    <p:cond delay="0"/>
                                  </p:stCondLst>
                                  <p:childTnLst>
                                    <p:set>
                                      <p:cBhvr>
                                        <p:cTn id="43" dur="1" fill="hold">
                                          <p:stCondLst>
                                            <p:cond delay="0"/>
                                          </p:stCondLst>
                                        </p:cTn>
                                        <p:tgtEl>
                                          <p:spTgt spid="4"/>
                                        </p:tgtEl>
                                        <p:attrNameLst>
                                          <p:attrName>style.visibility</p:attrName>
                                        </p:attrNameLst>
                                      </p:cBhvr>
                                      <p:to>
                                        <p:strVal val="visible"/>
                                      </p:to>
                                    </p:set>
                                    <p:animEffect transition="in" filter="fade">
                                      <p:cBhvr>
                                        <p:cTn id="44" dur="1000"/>
                                        <p:tgtEl>
                                          <p:spTgt spid="4"/>
                                        </p:tgtEl>
                                      </p:cBhvr>
                                    </p:animEffect>
                                    <p:anim calcmode="lin" valueType="num">
                                      <p:cBhvr>
                                        <p:cTn id="45" dur="1000" fill="hold"/>
                                        <p:tgtEl>
                                          <p:spTgt spid="4"/>
                                        </p:tgtEl>
                                        <p:attrNameLst>
                                          <p:attrName>ppt_x</p:attrName>
                                        </p:attrNameLst>
                                      </p:cBhvr>
                                      <p:tavLst>
                                        <p:tav tm="0">
                                          <p:val>
                                            <p:strVal val="#ppt_x"/>
                                          </p:val>
                                        </p:tav>
                                        <p:tav tm="100000">
                                          <p:val>
                                            <p:strVal val="#ppt_x"/>
                                          </p:val>
                                        </p:tav>
                                      </p:tavLst>
                                    </p:anim>
                                    <p:anim calcmode="lin" valueType="num">
                                      <p:cBhvr>
                                        <p:cTn id="4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4"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1"/>
          </p:nvPr>
        </p:nvSpPr>
        <p:spPr/>
        <p:txBody>
          <a:bodyPr>
            <a:normAutofit fontScale="92500" lnSpcReduction="10000"/>
          </a:bodyPr>
          <a:lstStyle/>
          <a:p>
            <a:r>
              <a:rPr lang="en-US" altLang="zh-CN" dirty="0"/>
              <a:t>SONET / SDH </a:t>
            </a:r>
            <a:r>
              <a:rPr lang="zh-CN" altLang="en-US" dirty="0"/>
              <a:t>标准的意义</a:t>
            </a:r>
          </a:p>
        </p:txBody>
      </p:sp>
      <p:grpSp>
        <p:nvGrpSpPr>
          <p:cNvPr id="8" name="组合 7">
            <a:extLst>
              <a:ext uri="{FF2B5EF4-FFF2-40B4-BE49-F238E27FC236}">
                <a16:creationId xmlns:a16="http://schemas.microsoft.com/office/drawing/2014/main" id="{FD91864B-F985-0803-974B-791E36421F01}"/>
              </a:ext>
            </a:extLst>
          </p:cNvPr>
          <p:cNvGrpSpPr/>
          <p:nvPr/>
        </p:nvGrpSpPr>
        <p:grpSpPr>
          <a:xfrm>
            <a:off x="533991" y="1805483"/>
            <a:ext cx="8048776" cy="1807872"/>
            <a:chOff x="533991" y="1805483"/>
            <a:chExt cx="8048776" cy="1807872"/>
          </a:xfrm>
        </p:grpSpPr>
        <p:sp>
          <p:nvSpPr>
            <p:cNvPr id="2" name="对角圆角矩形 47">
              <a:extLst>
                <a:ext uri="{FF2B5EF4-FFF2-40B4-BE49-F238E27FC236}">
                  <a16:creationId xmlns:a16="http://schemas.microsoft.com/office/drawing/2014/main" id="{33A38015-8CD5-09D4-ADAE-9DDB0A5011DD}"/>
                </a:ext>
              </a:extLst>
            </p:cNvPr>
            <p:cNvSpPr/>
            <p:nvPr/>
          </p:nvSpPr>
          <p:spPr>
            <a:xfrm>
              <a:off x="533991" y="1805483"/>
              <a:ext cx="8048776" cy="1807872"/>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5" name="矩形 4">
              <a:extLst>
                <a:ext uri="{FF2B5EF4-FFF2-40B4-BE49-F238E27FC236}">
                  <a16:creationId xmlns:a16="http://schemas.microsoft.com/office/drawing/2014/main" id="{A76709C8-1C16-6E19-3688-3B331AFEE145}"/>
                </a:ext>
              </a:extLst>
            </p:cNvPr>
            <p:cNvSpPr/>
            <p:nvPr/>
          </p:nvSpPr>
          <p:spPr>
            <a:xfrm>
              <a:off x="741350" y="2047699"/>
              <a:ext cx="7799831" cy="1323439"/>
            </a:xfrm>
            <a:prstGeom prst="rect">
              <a:avLst/>
            </a:prstGeom>
          </p:spPr>
          <p:txBody>
            <a:bodyPr wrap="square">
              <a:spAutoFit/>
            </a:bodyPr>
            <a:lstStyle/>
            <a:p>
              <a:pPr>
                <a:lnSpc>
                  <a:spcPts val="2400"/>
                </a:lnSpc>
              </a:pPr>
              <a:r>
                <a:rPr lang="en-US" altLang="zh-CN" sz="2000" b="1" dirty="0">
                  <a:solidFill>
                    <a:schemeClr val="bg1"/>
                  </a:solidFill>
                  <a:latin typeface="微软雅黑" pitchFamily="34" charset="-122"/>
                  <a:ea typeface="微软雅黑" pitchFamily="34" charset="-122"/>
                </a:rPr>
                <a:t>SONET/SDH </a:t>
              </a:r>
              <a:r>
                <a:rPr lang="zh-CN" altLang="en-US" sz="2000" b="1" dirty="0">
                  <a:solidFill>
                    <a:schemeClr val="bg1"/>
                  </a:solidFill>
                  <a:latin typeface="微软雅黑" pitchFamily="34" charset="-122"/>
                  <a:ea typeface="微软雅黑" pitchFamily="34" charset="-122"/>
                </a:rPr>
                <a:t>通过制定统一的</a:t>
              </a:r>
              <a:r>
                <a:rPr lang="zh-CN" altLang="en-US" sz="2000" b="1" dirty="0">
                  <a:solidFill>
                    <a:srgbClr val="FFFF00"/>
                  </a:solidFill>
                  <a:latin typeface="微软雅黑" pitchFamily="34" charset="-122"/>
                  <a:ea typeface="微软雅黑" pitchFamily="34" charset="-122"/>
                </a:rPr>
                <a:t>同步复用体制</a:t>
              </a:r>
              <a:r>
                <a:rPr lang="zh-CN" altLang="en-US" sz="2000" b="1" dirty="0">
                  <a:solidFill>
                    <a:schemeClr val="bg1"/>
                  </a:solidFill>
                  <a:latin typeface="微软雅黑" pitchFamily="34" charset="-122"/>
                  <a:ea typeface="微软雅黑" pitchFamily="34" charset="-122"/>
                </a:rPr>
                <a:t>、</a:t>
              </a:r>
              <a:r>
                <a:rPr lang="zh-CN" altLang="en-US" sz="2000" b="1" dirty="0">
                  <a:solidFill>
                    <a:srgbClr val="FFFF00"/>
                  </a:solidFill>
                  <a:latin typeface="微软雅黑" pitchFamily="34" charset="-122"/>
                  <a:ea typeface="微软雅黑" pitchFamily="34" charset="-122"/>
                </a:rPr>
                <a:t>标准光信号</a:t>
              </a:r>
              <a:r>
                <a:rPr lang="zh-CN" altLang="en-US" sz="2000" b="1" dirty="0">
                  <a:solidFill>
                    <a:schemeClr val="bg1"/>
                  </a:solidFill>
                  <a:latin typeface="微软雅黑" pitchFamily="34" charset="-122"/>
                  <a:ea typeface="微软雅黑" pitchFamily="34" charset="-122"/>
                </a:rPr>
                <a:t>和灵活的</a:t>
              </a:r>
              <a:r>
                <a:rPr lang="zh-CN" altLang="en-US" sz="2000" b="1" dirty="0">
                  <a:solidFill>
                    <a:srgbClr val="FFFF00"/>
                  </a:solidFill>
                  <a:latin typeface="微软雅黑" pitchFamily="34" charset="-122"/>
                  <a:ea typeface="微软雅黑" pitchFamily="34" charset="-122"/>
                </a:rPr>
                <a:t>时分复用帧结构</a:t>
              </a:r>
              <a:r>
                <a:rPr lang="zh-CN" altLang="en-US" sz="2000" b="1" dirty="0">
                  <a:solidFill>
                    <a:schemeClr val="bg1"/>
                  </a:solidFill>
                  <a:latin typeface="微软雅黑" pitchFamily="34" charset="-122"/>
                  <a:ea typeface="微软雅黑" pitchFamily="34" charset="-122"/>
                </a:rPr>
                <a:t>，解决了传统传输网的互通性和业务适配问题，成为 </a:t>
              </a:r>
              <a:r>
                <a:rPr lang="en-US" altLang="zh-CN" sz="2000" b="1" dirty="0">
                  <a:solidFill>
                    <a:schemeClr val="bg1"/>
                  </a:solidFill>
                  <a:latin typeface="微软雅黑" pitchFamily="34" charset="-122"/>
                  <a:ea typeface="微软雅黑" pitchFamily="34" charset="-122"/>
                </a:rPr>
                <a:t>20 </a:t>
              </a:r>
              <a:r>
                <a:rPr lang="zh-CN" altLang="en-US" sz="2000" b="1" dirty="0">
                  <a:solidFill>
                    <a:schemeClr val="bg1"/>
                  </a:solidFill>
                  <a:latin typeface="微软雅黑" pitchFamily="34" charset="-122"/>
                  <a:ea typeface="微软雅黑" pitchFamily="34" charset="-122"/>
                </a:rPr>
                <a:t>世纪 </a:t>
              </a:r>
              <a:r>
                <a:rPr lang="en-US" altLang="zh-CN" sz="2000" b="1" dirty="0">
                  <a:solidFill>
                    <a:schemeClr val="bg1"/>
                  </a:solidFill>
                  <a:latin typeface="微软雅黑" pitchFamily="34" charset="-122"/>
                  <a:ea typeface="微软雅黑" pitchFamily="34" charset="-122"/>
                </a:rPr>
                <a:t>90 </a:t>
              </a:r>
              <a:r>
                <a:rPr lang="zh-CN" altLang="en-US" sz="2000" b="1" dirty="0">
                  <a:solidFill>
                    <a:schemeClr val="bg1"/>
                  </a:solidFill>
                  <a:latin typeface="微软雅黑" pitchFamily="34" charset="-122"/>
                  <a:ea typeface="微软雅黑" pitchFamily="34" charset="-122"/>
                </a:rPr>
                <a:t>年代至 </a:t>
              </a:r>
              <a:r>
                <a:rPr lang="en-US" altLang="zh-CN" sz="2000" b="1" dirty="0">
                  <a:solidFill>
                    <a:schemeClr val="bg1"/>
                  </a:solidFill>
                  <a:latin typeface="微软雅黑" pitchFamily="34" charset="-122"/>
                  <a:ea typeface="微软雅黑" pitchFamily="34" charset="-122"/>
                </a:rPr>
                <a:t>21 </a:t>
              </a:r>
              <a:r>
                <a:rPr lang="zh-CN" altLang="en-US" sz="2000" b="1" dirty="0">
                  <a:solidFill>
                    <a:schemeClr val="bg1"/>
                  </a:solidFill>
                  <a:latin typeface="微软雅黑" pitchFamily="34" charset="-122"/>
                  <a:ea typeface="微软雅黑" pitchFamily="34" charset="-122"/>
                </a:rPr>
                <a:t>世纪初光纤传输网的核心技术，为现代电信网的多元化业务（话音、数据、视频）提供了统一的承载平台。</a:t>
              </a:r>
            </a:p>
          </p:txBody>
        </p:sp>
      </p:grpSp>
    </p:spTree>
    <p:extLst>
      <p:ext uri="{BB962C8B-B14F-4D97-AF65-F5344CB8AC3E}">
        <p14:creationId xmlns:p14="http://schemas.microsoft.com/office/powerpoint/2010/main" val="1376413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9"/>
          <p:cNvSpPr>
            <a:spLocks noChangeArrowheads="1"/>
          </p:cNvSpPr>
          <p:nvPr/>
        </p:nvSpPr>
        <p:spPr bwMode="auto">
          <a:xfrm>
            <a:off x="2629135" y="2580672"/>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58" name="Rectangle 9"/>
          <p:cNvSpPr>
            <a:spLocks noChangeArrowheads="1"/>
          </p:cNvSpPr>
          <p:nvPr/>
        </p:nvSpPr>
        <p:spPr bwMode="auto">
          <a:xfrm>
            <a:off x="2629135" y="1379512"/>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59" name="Rectangle 10"/>
          <p:cNvSpPr>
            <a:spLocks noChangeArrowheads="1"/>
          </p:cNvSpPr>
          <p:nvPr/>
        </p:nvSpPr>
        <p:spPr bwMode="auto">
          <a:xfrm>
            <a:off x="2629135" y="1985937"/>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60" name="Line 16"/>
          <p:cNvSpPr>
            <a:spLocks noChangeShapeType="1"/>
          </p:cNvSpPr>
          <p:nvPr/>
        </p:nvSpPr>
        <p:spPr bwMode="auto">
          <a:xfrm>
            <a:off x="3637198" y="1308074"/>
            <a:ext cx="0" cy="180022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 name="Rectangle 8"/>
          <p:cNvSpPr>
            <a:spLocks noChangeArrowheads="1"/>
          </p:cNvSpPr>
          <p:nvPr/>
        </p:nvSpPr>
        <p:spPr bwMode="auto">
          <a:xfrm>
            <a:off x="2700573" y="1125511"/>
            <a:ext cx="5756006" cy="1846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200000"/>
              </a:lnSpc>
            </a:pPr>
            <a:r>
              <a:rPr lang="en-US" altLang="zh-CN" sz="2000" b="1" dirty="0">
                <a:solidFill>
                  <a:schemeClr val="bg1"/>
                </a:solidFill>
                <a:latin typeface="微软雅黑" pitchFamily="34" charset="-122"/>
                <a:ea typeface="微软雅黑" pitchFamily="34" charset="-122"/>
              </a:rPr>
              <a:t>2.6.1                                               </a:t>
            </a:r>
            <a:r>
              <a:rPr lang="zh-CN" altLang="en-US" sz="2000" b="1" dirty="0">
                <a:solidFill>
                  <a:schemeClr val="bg1"/>
                </a:solidFill>
                <a:latin typeface="微软雅黑" pitchFamily="34" charset="-122"/>
                <a:ea typeface="微软雅黑" pitchFamily="34" charset="-122"/>
              </a:rPr>
              <a:t>光纤接入</a:t>
            </a:r>
          </a:p>
          <a:p>
            <a:pPr eaLnBrk="0" hangingPunct="0">
              <a:lnSpc>
                <a:spcPct val="200000"/>
              </a:lnSpc>
            </a:pPr>
            <a:r>
              <a:rPr lang="en-US" altLang="zh-CN" sz="2000" b="1" dirty="0">
                <a:solidFill>
                  <a:schemeClr val="bg1"/>
                </a:solidFill>
                <a:latin typeface="微软雅黑" pitchFamily="34" charset="-122"/>
                <a:ea typeface="微软雅黑" pitchFamily="34" charset="-122"/>
              </a:rPr>
              <a:t>2.6.2                        </a:t>
            </a:r>
            <a:r>
              <a:rPr lang="zh-CN" altLang="en-US" sz="2000" b="1" dirty="0">
                <a:solidFill>
                  <a:schemeClr val="bg1"/>
                </a:solidFill>
                <a:latin typeface="微软雅黑" pitchFamily="34" charset="-122"/>
                <a:ea typeface="微软雅黑" pitchFamily="34" charset="-122"/>
              </a:rPr>
              <a:t>非对称数字用户线 </a:t>
            </a:r>
            <a:r>
              <a:rPr lang="en-US" altLang="zh-CN" sz="2000" b="1" dirty="0">
                <a:solidFill>
                  <a:schemeClr val="bg1"/>
                </a:solidFill>
                <a:latin typeface="微软雅黑" pitchFamily="34" charset="-122"/>
                <a:ea typeface="微软雅黑" pitchFamily="34" charset="-122"/>
              </a:rPr>
              <a:t>ADSL</a:t>
            </a:r>
            <a:endParaRPr lang="zh-CN" altLang="en-US" sz="2000" b="1" dirty="0">
              <a:solidFill>
                <a:schemeClr val="bg1"/>
              </a:solidFill>
              <a:latin typeface="微软雅黑" pitchFamily="34" charset="-122"/>
              <a:ea typeface="微软雅黑" pitchFamily="34" charset="-122"/>
            </a:endParaRPr>
          </a:p>
          <a:p>
            <a:pPr eaLnBrk="0" hangingPunct="0">
              <a:lnSpc>
                <a:spcPct val="200000"/>
              </a:lnSpc>
            </a:pPr>
            <a:r>
              <a:rPr lang="en-US" altLang="zh-CN" sz="2000" b="1" dirty="0">
                <a:solidFill>
                  <a:schemeClr val="bg1"/>
                </a:solidFill>
                <a:latin typeface="微软雅黑" pitchFamily="34" charset="-122"/>
                <a:ea typeface="微软雅黑" pitchFamily="34" charset="-122"/>
              </a:rPr>
              <a:t>2.6.3                       </a:t>
            </a:r>
            <a:r>
              <a:rPr lang="zh-CN" altLang="en-US" sz="2000" b="1" dirty="0">
                <a:solidFill>
                  <a:schemeClr val="bg1"/>
                </a:solidFill>
                <a:latin typeface="微软雅黑" pitchFamily="34" charset="-122"/>
                <a:ea typeface="微软雅黑" pitchFamily="34" charset="-122"/>
              </a:rPr>
              <a:t>光纤同轴混合网（</a:t>
            </a:r>
            <a:r>
              <a:rPr lang="en-US" altLang="zh-CN" sz="2000" b="1" dirty="0">
                <a:solidFill>
                  <a:schemeClr val="bg1"/>
                </a:solidFill>
                <a:latin typeface="微软雅黑" pitchFamily="34" charset="-122"/>
                <a:ea typeface="微软雅黑" pitchFamily="34" charset="-122"/>
              </a:rPr>
              <a:t>HFC</a:t>
            </a:r>
            <a:r>
              <a:rPr lang="zh-CN" altLang="en-US" sz="2000" b="1" dirty="0">
                <a:solidFill>
                  <a:schemeClr val="bg1"/>
                </a:solidFill>
                <a:latin typeface="微软雅黑" pitchFamily="34" charset="-122"/>
                <a:ea typeface="微软雅黑" pitchFamily="34" charset="-122"/>
              </a:rPr>
              <a:t>网）</a:t>
            </a:r>
          </a:p>
        </p:txBody>
      </p:sp>
      <p:sp>
        <p:nvSpPr>
          <p:cNvPr id="62" name="Rectangle 27"/>
          <p:cNvSpPr>
            <a:spLocks noChangeArrowheads="1"/>
          </p:cNvSpPr>
          <p:nvPr/>
        </p:nvSpPr>
        <p:spPr bwMode="auto">
          <a:xfrm>
            <a:off x="639730" y="1379512"/>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63" name="Rectangle 29"/>
          <p:cNvSpPr>
            <a:spLocks noChangeArrowheads="1"/>
          </p:cNvSpPr>
          <p:nvPr/>
        </p:nvSpPr>
        <p:spPr bwMode="auto">
          <a:xfrm>
            <a:off x="648619" y="1474444"/>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2.</a:t>
            </a:r>
            <a:r>
              <a:rPr lang="en-US" altLang="zh-CN" sz="2000" b="1" dirty="0">
                <a:solidFill>
                  <a:srgbClr val="FFFF00"/>
                </a:solidFill>
                <a:latin typeface="微软雅黑" pitchFamily="34" charset="-122"/>
                <a:ea typeface="微软雅黑" pitchFamily="34" charset="-122"/>
              </a:rPr>
              <a:t>6</a:t>
            </a:r>
          </a:p>
          <a:p>
            <a:pPr eaLnBrk="0" hangingPunct="0"/>
            <a:r>
              <a:rPr lang="zh-CN" altLang="en-US" sz="2000" b="1" dirty="0">
                <a:solidFill>
                  <a:schemeClr val="bg1"/>
                </a:solidFill>
                <a:latin typeface="微软雅黑" pitchFamily="34" charset="-122"/>
                <a:ea typeface="微软雅黑" pitchFamily="34" charset="-122"/>
              </a:rPr>
              <a:t>宽带接入</a:t>
            </a:r>
            <a:endParaRPr lang="en-US" altLang="zh-CN" sz="2000" b="1" dirty="0">
              <a:solidFill>
                <a:schemeClr val="bg1"/>
              </a:solidFill>
              <a:latin typeface="微软雅黑" pitchFamily="34" charset="-122"/>
              <a:ea typeface="微软雅黑" pitchFamily="34" charset="-122"/>
            </a:endParaRPr>
          </a:p>
          <a:p>
            <a:pPr eaLnBrk="0" hangingPunct="0"/>
            <a:r>
              <a:rPr lang="zh-CN" altLang="en-US" sz="2000" b="1" dirty="0">
                <a:solidFill>
                  <a:schemeClr val="bg1"/>
                </a:solidFill>
                <a:latin typeface="微软雅黑" pitchFamily="34" charset="-122"/>
                <a:ea typeface="微软雅黑" pitchFamily="34" charset="-122"/>
              </a:rPr>
              <a:t>技术</a:t>
            </a:r>
            <a:endParaRPr lang="zh-CN" altLang="fr-FR"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91853616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466343" y="899999"/>
            <a:ext cx="8129017" cy="3600000"/>
          </a:xfrm>
        </p:spPr>
        <p:txBody>
          <a:bodyPr/>
          <a:lstStyle/>
          <a:p>
            <a:r>
              <a:rPr lang="zh-CN" altLang="en-US" dirty="0"/>
              <a:t>宽带接入是现在普遍使用的互联网接入方式。</a:t>
            </a:r>
            <a:endParaRPr lang="en-US" altLang="zh-CN" dirty="0"/>
          </a:p>
          <a:p>
            <a:r>
              <a:rPr lang="zh-CN" altLang="en-US" dirty="0"/>
              <a:t>宽带：标准在不断提高。</a:t>
            </a:r>
            <a:endParaRPr lang="en-US" altLang="zh-CN" dirty="0"/>
          </a:p>
          <a:p>
            <a:r>
              <a:rPr lang="zh-CN" altLang="en-US" dirty="0"/>
              <a:t>美国联邦通信委员会 </a:t>
            </a:r>
            <a:r>
              <a:rPr lang="en-US" altLang="zh-CN" dirty="0"/>
              <a:t>FCC 2024</a:t>
            </a:r>
            <a:r>
              <a:rPr lang="zh-CN" altLang="en-US" dirty="0"/>
              <a:t>年</a:t>
            </a:r>
            <a:r>
              <a:rPr lang="en-US" altLang="zh-CN" dirty="0"/>
              <a:t>3</a:t>
            </a:r>
            <a:r>
              <a:rPr lang="zh-CN" altLang="en-US" dirty="0"/>
              <a:t>月的规定：</a:t>
            </a:r>
            <a:endParaRPr lang="en-US" altLang="zh-CN" dirty="0"/>
          </a:p>
          <a:p>
            <a:endParaRPr lang="en-US" altLang="zh-CN" dirty="0"/>
          </a:p>
          <a:p>
            <a:endParaRPr lang="en-US" altLang="zh-CN" dirty="0"/>
          </a:p>
          <a:p>
            <a:r>
              <a:rPr lang="zh-CN" altLang="en-US" dirty="0"/>
              <a:t>从宽带接入的媒体来看，划分为 </a:t>
            </a:r>
            <a:r>
              <a:rPr lang="en-US" altLang="zh-CN" dirty="0"/>
              <a:t>2 </a:t>
            </a:r>
            <a:r>
              <a:rPr lang="zh-CN" altLang="en-US" dirty="0"/>
              <a:t>大类：</a:t>
            </a:r>
          </a:p>
          <a:p>
            <a:pPr lvl="1"/>
            <a:r>
              <a:rPr lang="zh-CN" altLang="en-US" dirty="0"/>
              <a:t>有线宽带接入。</a:t>
            </a:r>
          </a:p>
          <a:p>
            <a:pPr lvl="1"/>
            <a:r>
              <a:rPr lang="zh-CN" altLang="en-US" dirty="0"/>
              <a:t>无线宽带接入。</a:t>
            </a:r>
          </a:p>
          <a:p>
            <a:endParaRPr lang="zh-CN" altLang="en-US" dirty="0"/>
          </a:p>
        </p:txBody>
      </p:sp>
      <p:sp>
        <p:nvSpPr>
          <p:cNvPr id="2" name="文本占位符 1"/>
          <p:cNvSpPr>
            <a:spLocks noGrp="1"/>
          </p:cNvSpPr>
          <p:nvPr>
            <p:ph type="body" sz="quarter" idx="11"/>
          </p:nvPr>
        </p:nvSpPr>
        <p:spPr>
          <a:xfrm>
            <a:off x="1332000" y="360000"/>
            <a:ext cx="6480000" cy="354012"/>
          </a:xfrm>
        </p:spPr>
        <p:txBody>
          <a:bodyPr>
            <a:normAutofit fontScale="92500" lnSpcReduction="10000"/>
          </a:bodyPr>
          <a:lstStyle/>
          <a:p>
            <a:r>
              <a:rPr lang="en-US" altLang="zh-CN" dirty="0"/>
              <a:t>2.6  </a:t>
            </a:r>
            <a:r>
              <a:rPr lang="zh-CN" altLang="en-US" dirty="0"/>
              <a:t>宽带接入技术</a:t>
            </a:r>
          </a:p>
        </p:txBody>
      </p:sp>
      <p:sp>
        <p:nvSpPr>
          <p:cNvPr id="4" name="矩形 3"/>
          <p:cNvSpPr/>
          <p:nvPr/>
        </p:nvSpPr>
        <p:spPr>
          <a:xfrm>
            <a:off x="1109078" y="2350792"/>
            <a:ext cx="7001691" cy="441916"/>
          </a:xfrm>
          <a:prstGeom prst="rect">
            <a:avLst/>
          </a:prstGeom>
        </p:spPr>
        <p:style>
          <a:lnRef idx="1">
            <a:schemeClr val="accent3"/>
          </a:lnRef>
          <a:fillRef idx="2">
            <a:schemeClr val="accent3"/>
          </a:fillRef>
          <a:effectRef idx="1">
            <a:schemeClr val="accent3"/>
          </a:effectRef>
          <a:fontRef idx="minor">
            <a:schemeClr val="dk1"/>
          </a:fontRef>
        </p:style>
        <p:txBody>
          <a:bodyPr wrap="square" anchor="ctr">
            <a:spAutoFit/>
          </a:bodyPr>
          <a:lstStyle/>
          <a:p>
            <a:pPr algn="ctr">
              <a:lnSpc>
                <a:spcPts val="3000"/>
              </a:lnSpc>
            </a:pPr>
            <a:r>
              <a:rPr lang="zh-CN" altLang="en-US" sz="2000" b="1" dirty="0">
                <a:solidFill>
                  <a:srgbClr val="000099"/>
                </a:solidFill>
                <a:latin typeface="微软雅黑" panose="020B0503020204020204" pitchFamily="34" charset="-122"/>
                <a:ea typeface="微软雅黑" panose="020B0503020204020204" pitchFamily="34" charset="-122"/>
              </a:rPr>
              <a:t>宽带上行速率达 </a:t>
            </a:r>
            <a:r>
              <a:rPr lang="en-US" altLang="zh-CN" sz="2000" b="1" dirty="0">
                <a:solidFill>
                  <a:srgbClr val="000099"/>
                </a:solidFill>
                <a:latin typeface="微软雅黑" panose="020B0503020204020204" pitchFamily="34" charset="-122"/>
                <a:ea typeface="微软雅黑" panose="020B0503020204020204" pitchFamily="34" charset="-122"/>
              </a:rPr>
              <a:t>20 Mbit/s</a:t>
            </a:r>
            <a:r>
              <a:rPr lang="zh-CN" altLang="en-US" sz="2000" b="1" dirty="0">
                <a:solidFill>
                  <a:srgbClr val="000099"/>
                </a:solidFill>
                <a:latin typeface="微软雅黑" panose="020B0503020204020204" pitchFamily="34" charset="-122"/>
                <a:ea typeface="微软雅黑" panose="020B0503020204020204" pitchFamily="34" charset="-122"/>
              </a:rPr>
              <a:t>，宽带下行速率达 </a:t>
            </a:r>
            <a:r>
              <a:rPr lang="en-US" altLang="zh-CN" sz="2000" b="1" dirty="0">
                <a:solidFill>
                  <a:srgbClr val="000099"/>
                </a:solidFill>
                <a:latin typeface="微软雅黑" panose="020B0503020204020204" pitchFamily="34" charset="-122"/>
                <a:ea typeface="微软雅黑" panose="020B0503020204020204" pitchFamily="34" charset="-122"/>
              </a:rPr>
              <a:t>100 Mbit/s</a:t>
            </a:r>
            <a:r>
              <a:rPr lang="zh-CN" altLang="en-US" sz="2000" b="1" dirty="0">
                <a:solidFill>
                  <a:srgbClr val="000099"/>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215948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1000"/>
                                        <p:tgtEl>
                                          <p:spTgt spid="3">
                                            <p:txEl>
                                              <p:pRg st="5" end="5"/>
                                            </p:txEl>
                                          </p:spTgt>
                                        </p:tgtEl>
                                      </p:cBhvr>
                                    </p:animEffect>
                                    <p:anim calcmode="lin" valueType="num">
                                      <p:cBhvr>
                                        <p:cTn id="2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1000"/>
                                        <p:tgtEl>
                                          <p:spTgt spid="3">
                                            <p:txEl>
                                              <p:pRg st="6" end="6"/>
                                            </p:txEl>
                                          </p:spTgt>
                                        </p:tgtEl>
                                      </p:cBhvr>
                                    </p:animEffect>
                                    <p:anim calcmode="lin" valueType="num">
                                      <p:cBhvr>
                                        <p:cTn id="2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1000"/>
                                        <p:tgtEl>
                                          <p:spTgt spid="3">
                                            <p:txEl>
                                              <p:pRg st="7" end="7"/>
                                            </p:txEl>
                                          </p:spTgt>
                                        </p:tgtEl>
                                      </p:cBhvr>
                                    </p:animEffect>
                                    <p:anim calcmode="lin" valueType="num">
                                      <p:cBhvr>
                                        <p:cTn id="3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7" end="7"/>
                                            </p:txEl>
                                          </p:spTgt>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fade">
                                      <p:cBhvr>
                                        <p:cTn id="37" dur="1000"/>
                                        <p:tgtEl>
                                          <p:spTgt spid="4"/>
                                        </p:tgtEl>
                                      </p:cBhvr>
                                    </p:animEffect>
                                    <p:anim calcmode="lin" valueType="num">
                                      <p:cBhvr>
                                        <p:cTn id="38" dur="1000" fill="hold"/>
                                        <p:tgtEl>
                                          <p:spTgt spid="4"/>
                                        </p:tgtEl>
                                        <p:attrNameLst>
                                          <p:attrName>ppt_x</p:attrName>
                                        </p:attrNameLst>
                                      </p:cBhvr>
                                      <p:tavLst>
                                        <p:tav tm="0">
                                          <p:val>
                                            <p:strVal val="#ppt_x"/>
                                          </p:val>
                                        </p:tav>
                                        <p:tav tm="100000">
                                          <p:val>
                                            <p:strVal val="#ppt_x"/>
                                          </p:val>
                                        </p:tav>
                                      </p:tavLst>
                                    </p:anim>
                                    <p:anim calcmode="lin" valueType="num">
                                      <p:cBhvr>
                                        <p:cTn id="3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sz="quarter" idx="10"/>
          </p:nvPr>
        </p:nvSpPr>
        <p:spPr>
          <a:xfrm>
            <a:off x="466343" y="899999"/>
            <a:ext cx="8129017" cy="3600000"/>
          </a:xfrm>
        </p:spPr>
        <p:txBody>
          <a:bodyPr/>
          <a:lstStyle/>
          <a:p>
            <a:r>
              <a:rPr lang="en-US" altLang="zh-CN" dirty="0" err="1"/>
              <a:t>FTTx</a:t>
            </a:r>
            <a:r>
              <a:rPr lang="en-US" altLang="zh-CN" dirty="0"/>
              <a:t> </a:t>
            </a:r>
            <a:r>
              <a:rPr lang="zh-CN" altLang="en-US" dirty="0"/>
              <a:t>表示 </a:t>
            </a:r>
            <a:r>
              <a:rPr lang="en-US" altLang="zh-CN" dirty="0"/>
              <a:t>Fiber To The…</a:t>
            </a:r>
            <a:r>
              <a:rPr lang="zh-CN" altLang="en-US" dirty="0"/>
              <a:t>（光纤到</a:t>
            </a:r>
            <a:r>
              <a:rPr lang="en-US" altLang="zh-CN" dirty="0"/>
              <a:t>…</a:t>
            </a:r>
            <a:r>
              <a:rPr lang="zh-CN" altLang="en-US" dirty="0"/>
              <a:t>），例如：</a:t>
            </a:r>
          </a:p>
          <a:p>
            <a:pPr lvl="1"/>
            <a:r>
              <a:rPr lang="zh-CN" altLang="en-US" dirty="0"/>
              <a:t>光纤到户 </a:t>
            </a:r>
            <a:r>
              <a:rPr lang="en-US" altLang="zh-CN" dirty="0"/>
              <a:t>FTTH (Fiber To The Home)</a:t>
            </a:r>
            <a:r>
              <a:rPr lang="zh-CN" altLang="en-US" dirty="0"/>
              <a:t>：在光纤进入用户的家门后，才把光信号转换为电信号。</a:t>
            </a:r>
            <a:endParaRPr lang="en-US" altLang="zh-CN" dirty="0"/>
          </a:p>
          <a:p>
            <a:pPr lvl="1"/>
            <a:r>
              <a:rPr lang="zh-CN" altLang="en-US" dirty="0"/>
              <a:t>光纤到路边 </a:t>
            </a:r>
            <a:r>
              <a:rPr lang="en-US" altLang="zh-CN" dirty="0"/>
              <a:t>FTTC (Fiber To The Curb)</a:t>
            </a:r>
          </a:p>
          <a:p>
            <a:pPr lvl="1"/>
            <a:r>
              <a:rPr lang="zh-CN" altLang="en-US" dirty="0"/>
              <a:t>光纤到小区 </a:t>
            </a:r>
            <a:r>
              <a:rPr lang="en-US" altLang="zh-CN" dirty="0"/>
              <a:t>FTTZ (Fiber To The Zone)</a:t>
            </a:r>
          </a:p>
          <a:p>
            <a:pPr lvl="1"/>
            <a:r>
              <a:rPr lang="zh-CN" altLang="en-US" dirty="0"/>
              <a:t>光纤到大楼 </a:t>
            </a:r>
            <a:r>
              <a:rPr lang="en-US" altLang="zh-CN" dirty="0"/>
              <a:t>FTTB (Fiber To The Building)</a:t>
            </a:r>
            <a:endParaRPr lang="zh-CN" altLang="en-US" dirty="0"/>
          </a:p>
          <a:p>
            <a:pPr lvl="1"/>
            <a:r>
              <a:rPr lang="zh-CN" altLang="en-US" dirty="0"/>
              <a:t>光纤到办公室 </a:t>
            </a:r>
            <a:r>
              <a:rPr lang="en-US" altLang="zh-CN" dirty="0"/>
              <a:t>FTTO (Fiber To The Office)</a:t>
            </a:r>
          </a:p>
          <a:p>
            <a:pPr lvl="1"/>
            <a:r>
              <a:rPr lang="zh-CN" altLang="en-US" dirty="0"/>
              <a:t>光纤到桌面 </a:t>
            </a:r>
            <a:r>
              <a:rPr lang="en-US" altLang="zh-CN" dirty="0"/>
              <a:t>FTTD (Fiber To The Desk) </a:t>
            </a:r>
            <a:r>
              <a:rPr lang="zh-CN" altLang="en-US" dirty="0"/>
              <a:t>等。</a:t>
            </a:r>
            <a:endParaRPr lang="en-US" altLang="zh-CN" dirty="0"/>
          </a:p>
        </p:txBody>
      </p:sp>
      <p:sp>
        <p:nvSpPr>
          <p:cNvPr id="4" name="文本占位符 3"/>
          <p:cNvSpPr>
            <a:spLocks noGrp="1"/>
          </p:cNvSpPr>
          <p:nvPr>
            <p:ph type="body" sz="quarter" idx="11"/>
          </p:nvPr>
        </p:nvSpPr>
        <p:spPr>
          <a:xfrm>
            <a:off x="1332000" y="360000"/>
            <a:ext cx="6480000" cy="354012"/>
          </a:xfrm>
        </p:spPr>
        <p:txBody>
          <a:bodyPr>
            <a:normAutofit fontScale="92500" lnSpcReduction="10000"/>
          </a:bodyPr>
          <a:lstStyle/>
          <a:p>
            <a:r>
              <a:rPr lang="en-US" altLang="zh-CN" dirty="0"/>
              <a:t>2.6.1  </a:t>
            </a:r>
            <a:r>
              <a:rPr lang="zh-CN" altLang="en-US"/>
              <a:t>光纤接入</a:t>
            </a:r>
            <a:endParaRPr lang="zh-CN" altLang="en-US" dirty="0"/>
          </a:p>
        </p:txBody>
      </p:sp>
      <p:grpSp>
        <p:nvGrpSpPr>
          <p:cNvPr id="2" name="组合 1">
            <a:extLst>
              <a:ext uri="{FF2B5EF4-FFF2-40B4-BE49-F238E27FC236}">
                <a16:creationId xmlns:a16="http://schemas.microsoft.com/office/drawing/2014/main" id="{1CC0F902-02D8-4A0E-A2DA-609E2A276843}"/>
              </a:ext>
            </a:extLst>
          </p:cNvPr>
          <p:cNvGrpSpPr/>
          <p:nvPr/>
        </p:nvGrpSpPr>
        <p:grpSpPr>
          <a:xfrm>
            <a:off x="1872361" y="4183253"/>
            <a:ext cx="5511665" cy="500682"/>
            <a:chOff x="2590116" y="4261911"/>
            <a:chExt cx="4388848" cy="500682"/>
          </a:xfrm>
        </p:grpSpPr>
        <p:sp>
          <p:nvSpPr>
            <p:cNvPr id="3" name="对角圆角矩形 94">
              <a:extLst>
                <a:ext uri="{FF2B5EF4-FFF2-40B4-BE49-F238E27FC236}">
                  <a16:creationId xmlns:a16="http://schemas.microsoft.com/office/drawing/2014/main" id="{1ED783DA-2ED1-030E-BEA3-335AF8728570}"/>
                </a:ext>
              </a:extLst>
            </p:cNvPr>
            <p:cNvSpPr/>
            <p:nvPr/>
          </p:nvSpPr>
          <p:spPr>
            <a:xfrm>
              <a:off x="2590116" y="4261911"/>
              <a:ext cx="4388848" cy="500682"/>
            </a:xfrm>
            <a:prstGeom prst="round2DiagRect">
              <a:avLst>
                <a:gd name="adj1" fmla="val 15845"/>
                <a:gd name="adj2" fmla="val 0"/>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600"/>
            </a:p>
          </p:txBody>
        </p:sp>
        <p:sp>
          <p:nvSpPr>
            <p:cNvPr id="6" name="矩形 5">
              <a:extLst>
                <a:ext uri="{FF2B5EF4-FFF2-40B4-BE49-F238E27FC236}">
                  <a16:creationId xmlns:a16="http://schemas.microsoft.com/office/drawing/2014/main" id="{9CF1C6E4-0897-FBDB-D13F-9F28BDBC13E0}"/>
                </a:ext>
              </a:extLst>
            </p:cNvPr>
            <p:cNvSpPr>
              <a:spLocks noChangeArrowheads="1"/>
            </p:cNvSpPr>
            <p:nvPr/>
          </p:nvSpPr>
          <p:spPr bwMode="auto">
            <a:xfrm>
              <a:off x="2702601" y="4327005"/>
              <a:ext cx="4145232" cy="378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2400"/>
                </a:lnSpc>
                <a:spcBef>
                  <a:spcPts val="0"/>
                </a:spcBef>
              </a:pPr>
              <a:r>
                <a:rPr lang="zh-CN" altLang="en-US" b="1" dirty="0">
                  <a:solidFill>
                    <a:srgbClr val="FFFF00"/>
                  </a:solidFill>
                  <a:latin typeface="微软雅黑" panose="020B0503020204020204" pitchFamily="34" charset="-122"/>
                  <a:ea typeface="微软雅黑" panose="020B0503020204020204" pitchFamily="34" charset="-122"/>
                </a:rPr>
                <a:t>光纤接入已在我们互联网宽带接入中占绝对优势</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65667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1000"/>
                                        <p:tgtEl>
                                          <p:spTgt spid="5">
                                            <p:txEl>
                                              <p:pRg st="1" end="1"/>
                                            </p:txEl>
                                          </p:spTgt>
                                        </p:tgtEl>
                                      </p:cBhvr>
                                    </p:animEffect>
                                    <p:anim calcmode="lin" valueType="num">
                                      <p:cBhvr>
                                        <p:cTn id="13"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1000"/>
                                        <p:tgtEl>
                                          <p:spTgt spid="5">
                                            <p:txEl>
                                              <p:pRg st="2" end="2"/>
                                            </p:txEl>
                                          </p:spTgt>
                                        </p:tgtEl>
                                      </p:cBhvr>
                                    </p:animEffect>
                                    <p:anim calcmode="lin" valueType="num">
                                      <p:cBhvr>
                                        <p:cTn id="1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1000"/>
                                        <p:tgtEl>
                                          <p:spTgt spid="5">
                                            <p:txEl>
                                              <p:pRg st="3" end="3"/>
                                            </p:txEl>
                                          </p:spTgt>
                                        </p:tgtEl>
                                      </p:cBhvr>
                                    </p:animEffect>
                                    <p:anim calcmode="lin" valueType="num">
                                      <p:cBhvr>
                                        <p:cTn id="2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1000"/>
                                        <p:tgtEl>
                                          <p:spTgt spid="5">
                                            <p:txEl>
                                              <p:pRg st="4" end="4"/>
                                            </p:txEl>
                                          </p:spTgt>
                                        </p:tgtEl>
                                      </p:cBhvr>
                                    </p:animEffect>
                                    <p:anim calcmode="lin" valueType="num">
                                      <p:cBhvr>
                                        <p:cTn id="2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1000"/>
                                        <p:tgtEl>
                                          <p:spTgt spid="5">
                                            <p:txEl>
                                              <p:pRg st="5" end="5"/>
                                            </p:txEl>
                                          </p:spTgt>
                                        </p:tgtEl>
                                      </p:cBhvr>
                                    </p:animEffect>
                                    <p:anim calcmode="lin" valueType="num">
                                      <p:cBhvr>
                                        <p:cTn id="33"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5">
                                            <p:txEl>
                                              <p:pRg st="5" end="5"/>
                                            </p:txEl>
                                          </p:spTgt>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fade">
                                      <p:cBhvr>
                                        <p:cTn id="37" dur="1000"/>
                                        <p:tgtEl>
                                          <p:spTgt spid="5">
                                            <p:txEl>
                                              <p:pRg st="6" end="6"/>
                                            </p:txEl>
                                          </p:spTgt>
                                        </p:tgtEl>
                                      </p:cBhvr>
                                    </p:animEffect>
                                    <p:anim calcmode="lin" valueType="num">
                                      <p:cBhvr>
                                        <p:cTn id="38"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39"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nodeType="clickEffect">
                                  <p:stCondLst>
                                    <p:cond delay="0"/>
                                  </p:stCondLst>
                                  <p:childTnLst>
                                    <p:set>
                                      <p:cBhvr>
                                        <p:cTn id="43" dur="1" fill="hold">
                                          <p:stCondLst>
                                            <p:cond delay="0"/>
                                          </p:stCondLst>
                                        </p:cTn>
                                        <p:tgtEl>
                                          <p:spTgt spid="2"/>
                                        </p:tgtEl>
                                        <p:attrNameLst>
                                          <p:attrName>style.visibility</p:attrName>
                                        </p:attrNameLst>
                                      </p:cBhvr>
                                      <p:to>
                                        <p:strVal val="visible"/>
                                      </p:to>
                                    </p:set>
                                    <p:anim calcmode="lin" valueType="num">
                                      <p:cBhvr>
                                        <p:cTn id="44" dur="500" fill="hold"/>
                                        <p:tgtEl>
                                          <p:spTgt spid="2"/>
                                        </p:tgtEl>
                                        <p:attrNameLst>
                                          <p:attrName>ppt_w</p:attrName>
                                        </p:attrNameLst>
                                      </p:cBhvr>
                                      <p:tavLst>
                                        <p:tav tm="0">
                                          <p:val>
                                            <p:fltVal val="0"/>
                                          </p:val>
                                        </p:tav>
                                        <p:tav tm="100000">
                                          <p:val>
                                            <p:strVal val="#ppt_w"/>
                                          </p:val>
                                        </p:tav>
                                      </p:tavLst>
                                    </p:anim>
                                    <p:anim calcmode="lin" valueType="num">
                                      <p:cBhvr>
                                        <p:cTn id="45" dur="500" fill="hold"/>
                                        <p:tgtEl>
                                          <p:spTgt spid="2"/>
                                        </p:tgtEl>
                                        <p:attrNameLst>
                                          <p:attrName>ppt_h</p:attrName>
                                        </p:attrNameLst>
                                      </p:cBhvr>
                                      <p:tavLst>
                                        <p:tav tm="0">
                                          <p:val>
                                            <p:fltVal val="0"/>
                                          </p:val>
                                        </p:tav>
                                        <p:tav tm="100000">
                                          <p:val>
                                            <p:strVal val="#ppt_h"/>
                                          </p:val>
                                        </p:tav>
                                      </p:tavLst>
                                    </p:anim>
                                    <p:animEffect transition="in" filter="fade">
                                      <p:cBhvr>
                                        <p:cTn id="4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1"/>
          </p:nvPr>
        </p:nvSpPr>
        <p:spPr>
          <a:xfrm>
            <a:off x="1332000" y="360000"/>
            <a:ext cx="6480000" cy="354012"/>
          </a:xfrm>
        </p:spPr>
        <p:txBody>
          <a:bodyPr>
            <a:normAutofit fontScale="92500" lnSpcReduction="10000"/>
          </a:bodyPr>
          <a:lstStyle/>
          <a:p>
            <a:r>
              <a:rPr lang="zh-CN" altLang="en-US" dirty="0"/>
              <a:t>光配线网 </a:t>
            </a:r>
            <a:r>
              <a:rPr lang="en-US" altLang="zh-CN" dirty="0"/>
              <a:t>ODN (Optical Distribution Network)</a:t>
            </a:r>
            <a:endParaRPr lang="zh-CN" altLang="en-US" dirty="0"/>
          </a:p>
        </p:txBody>
      </p:sp>
      <p:sp>
        <p:nvSpPr>
          <p:cNvPr id="87" name="矩形 86"/>
          <p:cNvSpPr/>
          <p:nvPr/>
        </p:nvSpPr>
        <p:spPr>
          <a:xfrm>
            <a:off x="728946" y="3826774"/>
            <a:ext cx="7611292" cy="656590"/>
          </a:xfrm>
          <a:prstGeom prst="rect">
            <a:avLst/>
          </a:prstGeom>
        </p:spPr>
        <p:txBody>
          <a:bodyPr wrap="square">
            <a:spAutoFit/>
          </a:bodyPr>
          <a:lstStyle/>
          <a:p>
            <a:pPr>
              <a:lnSpc>
                <a:spcPts val="2200"/>
              </a:lnSpc>
            </a:pPr>
            <a:r>
              <a:rPr lang="zh-CN" altLang="en-US" sz="1600" b="1" dirty="0">
                <a:solidFill>
                  <a:srgbClr val="C00000"/>
                </a:solidFill>
                <a:latin typeface="微软雅黑" panose="020B0503020204020204" pitchFamily="34" charset="-122"/>
                <a:ea typeface="微软雅黑" panose="020B0503020204020204" pitchFamily="34" charset="-122"/>
              </a:rPr>
              <a:t>光配线网 </a:t>
            </a:r>
            <a:r>
              <a:rPr lang="en-US" altLang="zh-CN" sz="1600" b="1" dirty="0">
                <a:solidFill>
                  <a:srgbClr val="C00000"/>
                </a:solidFill>
                <a:latin typeface="微软雅黑" panose="020B0503020204020204" pitchFamily="34" charset="-122"/>
                <a:ea typeface="微软雅黑" panose="020B0503020204020204" pitchFamily="34" charset="-122"/>
              </a:rPr>
              <a:t>ODN </a:t>
            </a:r>
            <a:r>
              <a:rPr lang="en-US" altLang="zh-CN" sz="1600" b="1" dirty="0">
                <a:latin typeface="微软雅黑" panose="020B0503020204020204" pitchFamily="34" charset="-122"/>
                <a:ea typeface="微软雅黑" panose="020B0503020204020204" pitchFamily="34" charset="-122"/>
              </a:rPr>
              <a:t>(Optical Distribution Network)</a:t>
            </a:r>
            <a:r>
              <a:rPr lang="zh-CN" altLang="en-US" sz="1600" b="1" dirty="0">
                <a:latin typeface="微软雅黑" panose="020B0503020204020204" pitchFamily="34" charset="-122"/>
                <a:ea typeface="微软雅黑" panose="020B0503020204020204" pitchFamily="34" charset="-122"/>
              </a:rPr>
              <a:t>：位于光纤干线和广大用户之间。</a:t>
            </a:r>
            <a:endParaRPr lang="en-US" altLang="zh-CN" sz="1600" b="1" dirty="0">
              <a:latin typeface="微软雅黑" panose="020B0503020204020204" pitchFamily="34" charset="-122"/>
              <a:ea typeface="微软雅黑" panose="020B0503020204020204" pitchFamily="34" charset="-122"/>
            </a:endParaRPr>
          </a:p>
          <a:p>
            <a:pPr>
              <a:lnSpc>
                <a:spcPts val="2200"/>
              </a:lnSpc>
            </a:pPr>
            <a:r>
              <a:rPr lang="zh-CN" altLang="en-US" sz="1600" b="1" dirty="0">
                <a:latin typeface="微软雅黑" panose="020B0503020204020204" pitchFamily="34" charset="-122"/>
                <a:ea typeface="微软雅黑" panose="020B0503020204020204" pitchFamily="34" charset="-122"/>
              </a:rPr>
              <a:t>无源的光配线网常称为</a:t>
            </a:r>
            <a:r>
              <a:rPr lang="zh-CN" altLang="en-US" sz="1600" b="1" dirty="0">
                <a:solidFill>
                  <a:srgbClr val="C00000"/>
                </a:solidFill>
                <a:latin typeface="微软雅黑" panose="020B0503020204020204" pitchFamily="34" charset="-122"/>
                <a:ea typeface="微软雅黑" panose="020B0503020204020204" pitchFamily="34" charset="-122"/>
              </a:rPr>
              <a:t>无源光网络 </a:t>
            </a:r>
            <a:r>
              <a:rPr lang="en-US" altLang="zh-CN" sz="1600" b="1" dirty="0">
                <a:solidFill>
                  <a:srgbClr val="C00000"/>
                </a:solidFill>
                <a:latin typeface="微软雅黑" panose="020B0503020204020204" pitchFamily="34" charset="-122"/>
                <a:ea typeface="微软雅黑" panose="020B0503020204020204" pitchFamily="34" charset="-122"/>
              </a:rPr>
              <a:t>PON </a:t>
            </a:r>
            <a:r>
              <a:rPr lang="en-US" altLang="zh-CN" sz="1600" b="1" dirty="0">
                <a:latin typeface="微软雅黑" panose="020B0503020204020204" pitchFamily="34" charset="-122"/>
                <a:ea typeface="微软雅黑" panose="020B0503020204020204" pitchFamily="34" charset="-122"/>
              </a:rPr>
              <a:t>(Passive Optical Network)</a:t>
            </a:r>
            <a:r>
              <a:rPr lang="zh-CN" altLang="en-US" sz="1600" b="1" dirty="0">
                <a:latin typeface="微软雅黑" panose="020B0503020204020204" pitchFamily="34" charset="-122"/>
                <a:ea typeface="微软雅黑" panose="020B0503020204020204" pitchFamily="34" charset="-122"/>
              </a:rPr>
              <a:t>。</a:t>
            </a:r>
          </a:p>
        </p:txBody>
      </p:sp>
      <p:grpSp>
        <p:nvGrpSpPr>
          <p:cNvPr id="3" name="Group 4">
            <a:extLst>
              <a:ext uri="{FF2B5EF4-FFF2-40B4-BE49-F238E27FC236}">
                <a16:creationId xmlns:a16="http://schemas.microsoft.com/office/drawing/2014/main" id="{2F3C86E8-F2C8-2473-7997-F7B62888A2AA}"/>
              </a:ext>
            </a:extLst>
          </p:cNvPr>
          <p:cNvGrpSpPr>
            <a:grpSpLocks/>
          </p:cNvGrpSpPr>
          <p:nvPr/>
        </p:nvGrpSpPr>
        <p:grpSpPr bwMode="auto">
          <a:xfrm>
            <a:off x="5764730" y="1357047"/>
            <a:ext cx="1237913" cy="803275"/>
            <a:chOff x="3781" y="1238"/>
            <a:chExt cx="1095" cy="1103"/>
          </a:xfrm>
        </p:grpSpPr>
        <p:sp>
          <p:nvSpPr>
            <p:cNvPr id="88" name="Line 5">
              <a:extLst>
                <a:ext uri="{FF2B5EF4-FFF2-40B4-BE49-F238E27FC236}">
                  <a16:creationId xmlns:a16="http://schemas.microsoft.com/office/drawing/2014/main" id="{1BB07970-656D-DBD0-57FA-C1AF92698AB5}"/>
                </a:ext>
              </a:extLst>
            </p:cNvPr>
            <p:cNvSpPr>
              <a:spLocks noChangeShapeType="1"/>
            </p:cNvSpPr>
            <p:nvPr/>
          </p:nvSpPr>
          <p:spPr bwMode="auto">
            <a:xfrm>
              <a:off x="3781" y="1752"/>
              <a:ext cx="109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89" name="Line 6">
              <a:extLst>
                <a:ext uri="{FF2B5EF4-FFF2-40B4-BE49-F238E27FC236}">
                  <a16:creationId xmlns:a16="http://schemas.microsoft.com/office/drawing/2014/main" id="{BB3C43E6-AA8D-C4E8-7CC0-53E167A81548}"/>
                </a:ext>
              </a:extLst>
            </p:cNvPr>
            <p:cNvSpPr>
              <a:spLocks noChangeShapeType="1"/>
            </p:cNvSpPr>
            <p:nvPr/>
          </p:nvSpPr>
          <p:spPr bwMode="auto">
            <a:xfrm>
              <a:off x="3923" y="2341"/>
              <a:ext cx="95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90" name="Line 7">
              <a:extLst>
                <a:ext uri="{FF2B5EF4-FFF2-40B4-BE49-F238E27FC236}">
                  <a16:creationId xmlns:a16="http://schemas.microsoft.com/office/drawing/2014/main" id="{85A1F635-2196-B1DE-FD5D-8076B9FDCAF1}"/>
                </a:ext>
              </a:extLst>
            </p:cNvPr>
            <p:cNvSpPr>
              <a:spLocks noChangeShapeType="1"/>
            </p:cNvSpPr>
            <p:nvPr/>
          </p:nvSpPr>
          <p:spPr bwMode="auto">
            <a:xfrm>
              <a:off x="3923" y="1238"/>
              <a:ext cx="95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grpSp>
      <p:sp>
        <p:nvSpPr>
          <p:cNvPr id="91" name="Rectangle 9">
            <a:extLst>
              <a:ext uri="{FF2B5EF4-FFF2-40B4-BE49-F238E27FC236}">
                <a16:creationId xmlns:a16="http://schemas.microsoft.com/office/drawing/2014/main" id="{6D7E048B-A2F2-9D4E-3497-4C2C5B624612}"/>
              </a:ext>
            </a:extLst>
          </p:cNvPr>
          <p:cNvSpPr>
            <a:spLocks noChangeArrowheads="1"/>
          </p:cNvSpPr>
          <p:nvPr/>
        </p:nvSpPr>
        <p:spPr bwMode="auto">
          <a:xfrm>
            <a:off x="4086580" y="1632330"/>
            <a:ext cx="380331" cy="198088"/>
          </a:xfrm>
          <a:prstGeom prst="rect">
            <a:avLst/>
          </a:prstGeom>
          <a:solidFill>
            <a:srgbClr val="00FFCC"/>
          </a:solidFill>
          <a:ln w="19050">
            <a:solidFill>
              <a:schemeClr val="tx1"/>
            </a:solidFill>
            <a:miter lim="800000"/>
            <a:headEnd/>
            <a:tailEnd/>
          </a:ln>
          <a:effectLst/>
        </p:spPr>
        <p:txBody>
          <a:bodyPr wrap="none" anchor="ctr"/>
          <a:lstStyle/>
          <a:p>
            <a:pPr algn="ctr"/>
            <a:r>
              <a:rPr lang="en-US" altLang="zh-CN" sz="1200" b="1" dirty="0">
                <a:latin typeface="微软雅黑" pitchFamily="34" charset="-122"/>
                <a:ea typeface="微软雅黑" pitchFamily="34" charset="-122"/>
              </a:rPr>
              <a:t>1:N</a:t>
            </a:r>
          </a:p>
        </p:txBody>
      </p:sp>
      <p:sp>
        <p:nvSpPr>
          <p:cNvPr id="92" name="Line 12">
            <a:extLst>
              <a:ext uri="{FF2B5EF4-FFF2-40B4-BE49-F238E27FC236}">
                <a16:creationId xmlns:a16="http://schemas.microsoft.com/office/drawing/2014/main" id="{0C400867-9F53-76F0-1EAF-183E883F7F6F}"/>
              </a:ext>
            </a:extLst>
          </p:cNvPr>
          <p:cNvSpPr>
            <a:spLocks noChangeShapeType="1"/>
          </p:cNvSpPr>
          <p:nvPr/>
        </p:nvSpPr>
        <p:spPr bwMode="auto">
          <a:xfrm>
            <a:off x="1491642" y="1731374"/>
            <a:ext cx="1439029" cy="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93" name="Text Box 14">
            <a:extLst>
              <a:ext uri="{FF2B5EF4-FFF2-40B4-BE49-F238E27FC236}">
                <a16:creationId xmlns:a16="http://schemas.microsoft.com/office/drawing/2014/main" id="{BC3D85C5-49B8-31A4-C7DF-383682D5C6DA}"/>
              </a:ext>
            </a:extLst>
          </p:cNvPr>
          <p:cNvSpPr txBox="1">
            <a:spLocks noChangeArrowheads="1"/>
          </p:cNvSpPr>
          <p:nvPr/>
        </p:nvSpPr>
        <p:spPr bwMode="auto">
          <a:xfrm>
            <a:off x="1468689" y="1512215"/>
            <a:ext cx="696907" cy="206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050" b="1" dirty="0">
                <a:latin typeface="微软雅黑" pitchFamily="34" charset="-122"/>
                <a:ea typeface="微软雅黑" pitchFamily="34" charset="-122"/>
              </a:rPr>
              <a:t>光纤干线</a:t>
            </a:r>
          </a:p>
        </p:txBody>
      </p:sp>
      <p:sp>
        <p:nvSpPr>
          <p:cNvPr id="94" name="Line 15">
            <a:extLst>
              <a:ext uri="{FF2B5EF4-FFF2-40B4-BE49-F238E27FC236}">
                <a16:creationId xmlns:a16="http://schemas.microsoft.com/office/drawing/2014/main" id="{1D0C618E-21F4-9E1C-B20D-3F45C9FE6999}"/>
              </a:ext>
            </a:extLst>
          </p:cNvPr>
          <p:cNvSpPr>
            <a:spLocks noChangeShapeType="1"/>
          </p:cNvSpPr>
          <p:nvPr/>
        </p:nvSpPr>
        <p:spPr bwMode="auto">
          <a:xfrm>
            <a:off x="2947591" y="1731374"/>
            <a:ext cx="1138989" cy="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95" name="Line 16">
            <a:extLst>
              <a:ext uri="{FF2B5EF4-FFF2-40B4-BE49-F238E27FC236}">
                <a16:creationId xmlns:a16="http://schemas.microsoft.com/office/drawing/2014/main" id="{9EE16DE7-0A0F-396F-2D6C-5EFDEA0F1E00}"/>
              </a:ext>
            </a:extLst>
          </p:cNvPr>
          <p:cNvSpPr>
            <a:spLocks noChangeShapeType="1"/>
          </p:cNvSpPr>
          <p:nvPr/>
        </p:nvSpPr>
        <p:spPr bwMode="auto">
          <a:xfrm flipV="1">
            <a:off x="4466911" y="1323851"/>
            <a:ext cx="1280671" cy="341252"/>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96" name="Line 17">
            <a:extLst>
              <a:ext uri="{FF2B5EF4-FFF2-40B4-BE49-F238E27FC236}">
                <a16:creationId xmlns:a16="http://schemas.microsoft.com/office/drawing/2014/main" id="{BBF36F75-3204-50B0-3ED8-A6D922E01049}"/>
              </a:ext>
            </a:extLst>
          </p:cNvPr>
          <p:cNvSpPr>
            <a:spLocks noChangeShapeType="1"/>
          </p:cNvSpPr>
          <p:nvPr/>
        </p:nvSpPr>
        <p:spPr bwMode="auto">
          <a:xfrm>
            <a:off x="4466911" y="1796918"/>
            <a:ext cx="1280671" cy="363404"/>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97" name="Line 18">
            <a:extLst>
              <a:ext uri="{FF2B5EF4-FFF2-40B4-BE49-F238E27FC236}">
                <a16:creationId xmlns:a16="http://schemas.microsoft.com/office/drawing/2014/main" id="{07F2EBB1-624E-AA09-937C-863EEE949A69}"/>
              </a:ext>
            </a:extLst>
          </p:cNvPr>
          <p:cNvSpPr>
            <a:spLocks noChangeShapeType="1"/>
          </p:cNvSpPr>
          <p:nvPr/>
        </p:nvSpPr>
        <p:spPr bwMode="auto">
          <a:xfrm>
            <a:off x="4466911" y="1731374"/>
            <a:ext cx="1297819" cy="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98" name="Text Box 19">
            <a:extLst>
              <a:ext uri="{FF2B5EF4-FFF2-40B4-BE49-F238E27FC236}">
                <a16:creationId xmlns:a16="http://schemas.microsoft.com/office/drawing/2014/main" id="{7D127594-4E17-30B8-B14F-ECE3ECE3C334}"/>
              </a:ext>
            </a:extLst>
          </p:cNvPr>
          <p:cNvSpPr txBox="1">
            <a:spLocks noChangeArrowheads="1"/>
          </p:cNvSpPr>
          <p:nvPr/>
        </p:nvSpPr>
        <p:spPr bwMode="auto">
          <a:xfrm rot="5400000">
            <a:off x="5844981" y="1822402"/>
            <a:ext cx="266634" cy="257760"/>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dirty="0">
                <a:latin typeface="微软雅黑" pitchFamily="34" charset="-122"/>
                <a:ea typeface="微软雅黑" pitchFamily="34" charset="-122"/>
                <a:sym typeface="Symbol" pitchFamily="18" charset="2"/>
              </a:rPr>
              <a:t></a:t>
            </a:r>
          </a:p>
        </p:txBody>
      </p:sp>
      <p:sp>
        <p:nvSpPr>
          <p:cNvPr id="99" name="Text Box 21">
            <a:extLst>
              <a:ext uri="{FF2B5EF4-FFF2-40B4-BE49-F238E27FC236}">
                <a16:creationId xmlns:a16="http://schemas.microsoft.com/office/drawing/2014/main" id="{EDF97C3A-8D5C-0280-0166-93D949F67C7F}"/>
              </a:ext>
            </a:extLst>
          </p:cNvPr>
          <p:cNvSpPr txBox="1">
            <a:spLocks noChangeArrowheads="1"/>
          </p:cNvSpPr>
          <p:nvPr/>
        </p:nvSpPr>
        <p:spPr bwMode="auto">
          <a:xfrm>
            <a:off x="5506442" y="1040586"/>
            <a:ext cx="990270"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1050" b="1" dirty="0">
                <a:latin typeface="微软雅黑" pitchFamily="34" charset="-122"/>
                <a:ea typeface="微软雅黑" pitchFamily="34" charset="-122"/>
              </a:rPr>
              <a:t>光网络单元</a:t>
            </a:r>
          </a:p>
        </p:txBody>
      </p:sp>
      <p:sp>
        <p:nvSpPr>
          <p:cNvPr id="100" name="Text Box 23">
            <a:extLst>
              <a:ext uri="{FF2B5EF4-FFF2-40B4-BE49-F238E27FC236}">
                <a16:creationId xmlns:a16="http://schemas.microsoft.com/office/drawing/2014/main" id="{4256117F-884D-2B57-2C4E-3BE4EA21F1C2}"/>
              </a:ext>
            </a:extLst>
          </p:cNvPr>
          <p:cNvSpPr txBox="1">
            <a:spLocks noChangeArrowheads="1"/>
          </p:cNvSpPr>
          <p:nvPr/>
        </p:nvSpPr>
        <p:spPr bwMode="auto">
          <a:xfrm>
            <a:off x="3162984" y="1515594"/>
            <a:ext cx="523874"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dirty="0">
                <a:ln w="12700">
                  <a:solidFill>
                    <a:sysClr val="windowText" lastClr="000000"/>
                  </a:solidFill>
                </a:ln>
                <a:solidFill>
                  <a:srgbClr val="00FFCC"/>
                </a:solidFill>
                <a:latin typeface="微软雅黑" pitchFamily="34" charset="-122"/>
                <a:ea typeface="微软雅黑" pitchFamily="34" charset="-122"/>
              </a:rPr>
              <a:t>★●</a:t>
            </a:r>
            <a:r>
              <a:rPr lang="en-US" altLang="zh-CN" sz="1200" b="1" dirty="0">
                <a:ln w="12700">
                  <a:solidFill>
                    <a:sysClr val="windowText" lastClr="000000"/>
                  </a:solidFill>
                </a:ln>
                <a:solidFill>
                  <a:srgbClr val="00FFCC"/>
                </a:solidFill>
                <a:latin typeface="微软雅黑" pitchFamily="34" charset="-122"/>
                <a:ea typeface="微软雅黑" pitchFamily="34" charset="-122"/>
                <a:sym typeface="Wingdings" pitchFamily="2" charset="2"/>
              </a:rPr>
              <a:t></a:t>
            </a:r>
          </a:p>
        </p:txBody>
      </p:sp>
      <p:sp>
        <p:nvSpPr>
          <p:cNvPr id="101" name="Text Box 24">
            <a:extLst>
              <a:ext uri="{FF2B5EF4-FFF2-40B4-BE49-F238E27FC236}">
                <a16:creationId xmlns:a16="http://schemas.microsoft.com/office/drawing/2014/main" id="{EED7EF16-6582-B27B-C76C-4E16AFEE0ACB}"/>
              </a:ext>
            </a:extLst>
          </p:cNvPr>
          <p:cNvSpPr txBox="1">
            <a:spLocks noChangeArrowheads="1"/>
          </p:cNvSpPr>
          <p:nvPr/>
        </p:nvSpPr>
        <p:spPr bwMode="auto">
          <a:xfrm>
            <a:off x="4843756" y="1525071"/>
            <a:ext cx="523874"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dirty="0">
                <a:ln w="12700">
                  <a:solidFill>
                    <a:sysClr val="windowText" lastClr="000000"/>
                  </a:solidFill>
                </a:ln>
                <a:solidFill>
                  <a:srgbClr val="00FFCC"/>
                </a:solidFill>
                <a:latin typeface="微软雅黑" pitchFamily="34" charset="-122"/>
                <a:ea typeface="微软雅黑" pitchFamily="34" charset="-122"/>
              </a:rPr>
              <a:t>★●</a:t>
            </a:r>
            <a:r>
              <a:rPr lang="en-US" altLang="zh-CN" sz="1200" b="1" dirty="0">
                <a:ln w="12700">
                  <a:solidFill>
                    <a:sysClr val="windowText" lastClr="000000"/>
                  </a:solidFill>
                </a:ln>
                <a:solidFill>
                  <a:srgbClr val="00FFCC"/>
                </a:solidFill>
                <a:latin typeface="微软雅黑" pitchFamily="34" charset="-122"/>
                <a:ea typeface="微软雅黑" pitchFamily="34" charset="-122"/>
                <a:sym typeface="Wingdings" pitchFamily="2" charset="2"/>
              </a:rPr>
              <a:t></a:t>
            </a:r>
          </a:p>
        </p:txBody>
      </p:sp>
      <p:sp>
        <p:nvSpPr>
          <p:cNvPr id="102" name="Text Box 25">
            <a:extLst>
              <a:ext uri="{FF2B5EF4-FFF2-40B4-BE49-F238E27FC236}">
                <a16:creationId xmlns:a16="http://schemas.microsoft.com/office/drawing/2014/main" id="{595953F1-49F0-0CB3-7909-DE0ADD6254B9}"/>
              </a:ext>
            </a:extLst>
          </p:cNvPr>
          <p:cNvSpPr txBox="1">
            <a:spLocks noChangeArrowheads="1"/>
          </p:cNvSpPr>
          <p:nvPr/>
        </p:nvSpPr>
        <p:spPr bwMode="auto">
          <a:xfrm>
            <a:off x="6496712" y="1962796"/>
            <a:ext cx="265816"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dirty="0">
                <a:ln w="12700">
                  <a:solidFill>
                    <a:sysClr val="windowText" lastClr="000000"/>
                  </a:solidFill>
                </a:ln>
                <a:solidFill>
                  <a:srgbClr val="00FFCC"/>
                </a:solidFill>
                <a:latin typeface="微软雅黑" pitchFamily="34" charset="-122"/>
                <a:ea typeface="微软雅黑" pitchFamily="34" charset="-122"/>
              </a:rPr>
              <a:t>●</a:t>
            </a:r>
            <a:endParaRPr lang="en-US" altLang="zh-CN" sz="1200" b="1" dirty="0">
              <a:ln w="12700">
                <a:solidFill>
                  <a:sysClr val="windowText" lastClr="000000"/>
                </a:solidFill>
              </a:ln>
              <a:solidFill>
                <a:srgbClr val="00FFCC"/>
              </a:solidFill>
              <a:latin typeface="微软雅黑" pitchFamily="34" charset="-122"/>
              <a:ea typeface="微软雅黑" pitchFamily="34" charset="-122"/>
              <a:sym typeface="Wingdings" pitchFamily="2" charset="2"/>
            </a:endParaRPr>
          </a:p>
        </p:txBody>
      </p:sp>
      <p:sp>
        <p:nvSpPr>
          <p:cNvPr id="103" name="Text Box 26">
            <a:extLst>
              <a:ext uri="{FF2B5EF4-FFF2-40B4-BE49-F238E27FC236}">
                <a16:creationId xmlns:a16="http://schemas.microsoft.com/office/drawing/2014/main" id="{345D5BE3-45F6-9679-1F43-48139BDA1AF5}"/>
              </a:ext>
            </a:extLst>
          </p:cNvPr>
          <p:cNvSpPr txBox="1">
            <a:spLocks noChangeArrowheads="1"/>
          </p:cNvSpPr>
          <p:nvPr/>
        </p:nvSpPr>
        <p:spPr bwMode="auto">
          <a:xfrm rot="1462546">
            <a:off x="4815504" y="1747251"/>
            <a:ext cx="523874"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dirty="0">
                <a:ln w="12700">
                  <a:solidFill>
                    <a:sysClr val="windowText" lastClr="000000"/>
                  </a:solidFill>
                </a:ln>
                <a:solidFill>
                  <a:srgbClr val="00FFCC"/>
                </a:solidFill>
                <a:latin typeface="微软雅黑" pitchFamily="34" charset="-122"/>
                <a:ea typeface="微软雅黑" pitchFamily="34" charset="-122"/>
              </a:rPr>
              <a:t>★●</a:t>
            </a:r>
            <a:r>
              <a:rPr lang="en-US" altLang="zh-CN" sz="1200" b="1" dirty="0">
                <a:ln w="12700">
                  <a:solidFill>
                    <a:sysClr val="windowText" lastClr="000000"/>
                  </a:solidFill>
                </a:ln>
                <a:solidFill>
                  <a:srgbClr val="00FFCC"/>
                </a:solidFill>
                <a:latin typeface="微软雅黑" pitchFamily="34" charset="-122"/>
                <a:ea typeface="微软雅黑" pitchFamily="34" charset="-122"/>
                <a:sym typeface="Wingdings" pitchFamily="2" charset="2"/>
              </a:rPr>
              <a:t></a:t>
            </a:r>
          </a:p>
        </p:txBody>
      </p:sp>
      <p:sp>
        <p:nvSpPr>
          <p:cNvPr id="104" name="Text Box 27">
            <a:extLst>
              <a:ext uri="{FF2B5EF4-FFF2-40B4-BE49-F238E27FC236}">
                <a16:creationId xmlns:a16="http://schemas.microsoft.com/office/drawing/2014/main" id="{32E661AD-6516-8A97-9C33-FFE083A216AD}"/>
              </a:ext>
            </a:extLst>
          </p:cNvPr>
          <p:cNvSpPr txBox="1">
            <a:spLocks noChangeArrowheads="1"/>
          </p:cNvSpPr>
          <p:nvPr/>
        </p:nvSpPr>
        <p:spPr bwMode="auto">
          <a:xfrm rot="20338690">
            <a:off x="4798086" y="1291836"/>
            <a:ext cx="523874"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dirty="0">
                <a:ln w="12700">
                  <a:solidFill>
                    <a:sysClr val="windowText" lastClr="000000"/>
                  </a:solidFill>
                </a:ln>
                <a:solidFill>
                  <a:srgbClr val="00FFCC"/>
                </a:solidFill>
                <a:latin typeface="微软雅黑" pitchFamily="34" charset="-122"/>
                <a:ea typeface="微软雅黑" pitchFamily="34" charset="-122"/>
              </a:rPr>
              <a:t>★●</a:t>
            </a:r>
            <a:r>
              <a:rPr lang="en-US" altLang="zh-CN" sz="1200" b="1" dirty="0">
                <a:ln w="12700">
                  <a:solidFill>
                    <a:sysClr val="windowText" lastClr="000000"/>
                  </a:solidFill>
                </a:ln>
                <a:solidFill>
                  <a:srgbClr val="00FFCC"/>
                </a:solidFill>
                <a:latin typeface="微软雅黑" pitchFamily="34" charset="-122"/>
                <a:ea typeface="微软雅黑" pitchFamily="34" charset="-122"/>
                <a:sym typeface="Wingdings" pitchFamily="2" charset="2"/>
              </a:rPr>
              <a:t></a:t>
            </a:r>
          </a:p>
        </p:txBody>
      </p:sp>
      <p:sp>
        <p:nvSpPr>
          <p:cNvPr id="105" name="Text Box 28">
            <a:extLst>
              <a:ext uri="{FF2B5EF4-FFF2-40B4-BE49-F238E27FC236}">
                <a16:creationId xmlns:a16="http://schemas.microsoft.com/office/drawing/2014/main" id="{72E4276E-554E-E883-4E4A-4A663985E362}"/>
              </a:ext>
            </a:extLst>
          </p:cNvPr>
          <p:cNvSpPr txBox="1">
            <a:spLocks noChangeArrowheads="1"/>
          </p:cNvSpPr>
          <p:nvPr/>
        </p:nvSpPr>
        <p:spPr bwMode="auto">
          <a:xfrm>
            <a:off x="6502306" y="1533120"/>
            <a:ext cx="313549"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a:ln w="12700">
                  <a:solidFill>
                    <a:sysClr val="windowText" lastClr="000000"/>
                  </a:solidFill>
                </a:ln>
                <a:solidFill>
                  <a:srgbClr val="00FFCC"/>
                </a:solidFill>
                <a:latin typeface="微软雅黑" pitchFamily="34" charset="-122"/>
                <a:ea typeface="微软雅黑" pitchFamily="34" charset="-122"/>
                <a:sym typeface="Wingdings" pitchFamily="2" charset="2"/>
              </a:rPr>
              <a:t></a:t>
            </a:r>
          </a:p>
        </p:txBody>
      </p:sp>
      <p:sp>
        <p:nvSpPr>
          <p:cNvPr id="106" name="Text Box 29">
            <a:extLst>
              <a:ext uri="{FF2B5EF4-FFF2-40B4-BE49-F238E27FC236}">
                <a16:creationId xmlns:a16="http://schemas.microsoft.com/office/drawing/2014/main" id="{2DC31509-1865-83EA-F1C2-CF2260CDA9AE}"/>
              </a:ext>
            </a:extLst>
          </p:cNvPr>
          <p:cNvSpPr txBox="1">
            <a:spLocks noChangeArrowheads="1"/>
          </p:cNvSpPr>
          <p:nvPr/>
        </p:nvSpPr>
        <p:spPr bwMode="auto">
          <a:xfrm>
            <a:off x="6496712" y="1160249"/>
            <a:ext cx="288190"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a:ln w="12700">
                  <a:solidFill>
                    <a:sysClr val="windowText" lastClr="000000"/>
                  </a:solidFill>
                </a:ln>
                <a:solidFill>
                  <a:srgbClr val="00FFCC"/>
                </a:solidFill>
                <a:latin typeface="微软雅黑" pitchFamily="34" charset="-122"/>
                <a:ea typeface="微软雅黑" pitchFamily="34" charset="-122"/>
              </a:rPr>
              <a:t>★</a:t>
            </a:r>
            <a:endParaRPr lang="en-US" altLang="zh-CN" sz="1200" b="1">
              <a:ln w="12700">
                <a:solidFill>
                  <a:sysClr val="windowText" lastClr="000000"/>
                </a:solidFill>
              </a:ln>
              <a:solidFill>
                <a:srgbClr val="00FFCC"/>
              </a:solidFill>
              <a:latin typeface="微软雅黑" pitchFamily="34" charset="-122"/>
              <a:ea typeface="微软雅黑" pitchFamily="34" charset="-122"/>
              <a:sym typeface="Wingdings" pitchFamily="2" charset="2"/>
            </a:endParaRPr>
          </a:p>
        </p:txBody>
      </p:sp>
      <p:sp>
        <p:nvSpPr>
          <p:cNvPr id="107" name="Line 30">
            <a:extLst>
              <a:ext uri="{FF2B5EF4-FFF2-40B4-BE49-F238E27FC236}">
                <a16:creationId xmlns:a16="http://schemas.microsoft.com/office/drawing/2014/main" id="{924191B4-3845-A4A0-2FAB-84EF16CB9616}"/>
              </a:ext>
            </a:extLst>
          </p:cNvPr>
          <p:cNvSpPr>
            <a:spLocks noChangeShapeType="1"/>
          </p:cNvSpPr>
          <p:nvPr/>
        </p:nvSpPr>
        <p:spPr bwMode="auto">
          <a:xfrm>
            <a:off x="3658024" y="1621949"/>
            <a:ext cx="168725"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08" name="Line 31">
            <a:extLst>
              <a:ext uri="{FF2B5EF4-FFF2-40B4-BE49-F238E27FC236}">
                <a16:creationId xmlns:a16="http://schemas.microsoft.com/office/drawing/2014/main" id="{EF3BBAA8-D34F-11ED-91AE-1AA29C7383FA}"/>
              </a:ext>
            </a:extLst>
          </p:cNvPr>
          <p:cNvSpPr>
            <a:spLocks noChangeShapeType="1"/>
          </p:cNvSpPr>
          <p:nvPr/>
        </p:nvSpPr>
        <p:spPr bwMode="auto">
          <a:xfrm rot="20348732">
            <a:off x="5312646" y="1335032"/>
            <a:ext cx="168725"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09" name="Line 32">
            <a:extLst>
              <a:ext uri="{FF2B5EF4-FFF2-40B4-BE49-F238E27FC236}">
                <a16:creationId xmlns:a16="http://schemas.microsoft.com/office/drawing/2014/main" id="{1D8EC929-BCBD-973D-2E16-4F1A35EA64B2}"/>
              </a:ext>
            </a:extLst>
          </p:cNvPr>
          <p:cNvSpPr>
            <a:spLocks noChangeShapeType="1"/>
          </p:cNvSpPr>
          <p:nvPr/>
        </p:nvSpPr>
        <p:spPr bwMode="auto">
          <a:xfrm>
            <a:off x="6750266" y="2094778"/>
            <a:ext cx="168726"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10" name="Line 33">
            <a:extLst>
              <a:ext uri="{FF2B5EF4-FFF2-40B4-BE49-F238E27FC236}">
                <a16:creationId xmlns:a16="http://schemas.microsoft.com/office/drawing/2014/main" id="{8C0F2F36-6869-340E-69FC-479119C8076F}"/>
              </a:ext>
            </a:extLst>
          </p:cNvPr>
          <p:cNvSpPr>
            <a:spLocks noChangeShapeType="1"/>
          </p:cNvSpPr>
          <p:nvPr/>
        </p:nvSpPr>
        <p:spPr bwMode="auto">
          <a:xfrm>
            <a:off x="6750266" y="1665102"/>
            <a:ext cx="168726"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11" name="Line 34">
            <a:extLst>
              <a:ext uri="{FF2B5EF4-FFF2-40B4-BE49-F238E27FC236}">
                <a16:creationId xmlns:a16="http://schemas.microsoft.com/office/drawing/2014/main" id="{2DF154F9-17AF-F1D4-F5EA-05073952B7A8}"/>
              </a:ext>
            </a:extLst>
          </p:cNvPr>
          <p:cNvSpPr>
            <a:spLocks noChangeShapeType="1"/>
          </p:cNvSpPr>
          <p:nvPr/>
        </p:nvSpPr>
        <p:spPr bwMode="auto">
          <a:xfrm rot="1377025">
            <a:off x="5308623" y="1979041"/>
            <a:ext cx="168726"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12" name="Line 35">
            <a:extLst>
              <a:ext uri="{FF2B5EF4-FFF2-40B4-BE49-F238E27FC236}">
                <a16:creationId xmlns:a16="http://schemas.microsoft.com/office/drawing/2014/main" id="{F75094AC-096C-CE92-8470-DFEDF956952E}"/>
              </a:ext>
            </a:extLst>
          </p:cNvPr>
          <p:cNvSpPr>
            <a:spLocks noChangeShapeType="1"/>
          </p:cNvSpPr>
          <p:nvPr/>
        </p:nvSpPr>
        <p:spPr bwMode="auto">
          <a:xfrm>
            <a:off x="5355526" y="1632164"/>
            <a:ext cx="168725"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13" name="Line 36">
            <a:extLst>
              <a:ext uri="{FF2B5EF4-FFF2-40B4-BE49-F238E27FC236}">
                <a16:creationId xmlns:a16="http://schemas.microsoft.com/office/drawing/2014/main" id="{68FCB538-5B86-C57B-782C-7E20C1320ECC}"/>
              </a:ext>
            </a:extLst>
          </p:cNvPr>
          <p:cNvSpPr>
            <a:spLocks noChangeShapeType="1"/>
          </p:cNvSpPr>
          <p:nvPr/>
        </p:nvSpPr>
        <p:spPr bwMode="auto">
          <a:xfrm>
            <a:off x="6753063" y="1289318"/>
            <a:ext cx="168725"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14" name="AutoShape 68">
            <a:extLst>
              <a:ext uri="{FF2B5EF4-FFF2-40B4-BE49-F238E27FC236}">
                <a16:creationId xmlns:a16="http://schemas.microsoft.com/office/drawing/2014/main" id="{E5FC1C98-F353-1CDD-F03E-9EB25ACADBCE}"/>
              </a:ext>
            </a:extLst>
          </p:cNvPr>
          <p:cNvSpPr>
            <a:spLocks noChangeArrowheads="1"/>
          </p:cNvSpPr>
          <p:nvPr/>
        </p:nvSpPr>
        <p:spPr bwMode="auto">
          <a:xfrm>
            <a:off x="2050986" y="1182194"/>
            <a:ext cx="1416703" cy="193845"/>
          </a:xfrm>
          <a:prstGeom prst="wedgeRoundRectCallout">
            <a:avLst>
              <a:gd name="adj1" fmla="val 45684"/>
              <a:gd name="adj2" fmla="val 158215"/>
              <a:gd name="adj3" fmla="val 16667"/>
            </a:avLst>
          </a:prstGeom>
          <a:solidFill>
            <a:schemeClr val="bg1"/>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sz="1200" b="1">
              <a:solidFill>
                <a:srgbClr val="000099"/>
              </a:solidFill>
              <a:latin typeface="微软雅黑" pitchFamily="34" charset="-122"/>
              <a:ea typeface="微软雅黑" pitchFamily="34" charset="-122"/>
            </a:endParaRPr>
          </a:p>
        </p:txBody>
      </p:sp>
      <p:sp>
        <p:nvSpPr>
          <p:cNvPr id="115" name="Text Box 69">
            <a:extLst>
              <a:ext uri="{FF2B5EF4-FFF2-40B4-BE49-F238E27FC236}">
                <a16:creationId xmlns:a16="http://schemas.microsoft.com/office/drawing/2014/main" id="{901BB413-A801-1DD6-F633-7544A0FBE2B7}"/>
              </a:ext>
            </a:extLst>
          </p:cNvPr>
          <p:cNvSpPr txBox="1">
            <a:spLocks noChangeArrowheads="1"/>
          </p:cNvSpPr>
          <p:nvPr/>
        </p:nvSpPr>
        <p:spPr bwMode="auto">
          <a:xfrm>
            <a:off x="2022468" y="1153534"/>
            <a:ext cx="1631468"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1050" b="1" dirty="0">
                <a:solidFill>
                  <a:srgbClr val="0000FF"/>
                </a:solidFill>
                <a:latin typeface="微软雅黑" pitchFamily="34" charset="-122"/>
                <a:ea typeface="微软雅黑" pitchFamily="34" charset="-122"/>
              </a:rPr>
              <a:t>发往特定 </a:t>
            </a:r>
            <a:r>
              <a:rPr lang="en-US" altLang="zh-CN" sz="1050" b="1" dirty="0">
                <a:solidFill>
                  <a:srgbClr val="0000FF"/>
                </a:solidFill>
                <a:latin typeface="微软雅黑" pitchFamily="34" charset="-122"/>
                <a:ea typeface="微软雅黑" pitchFamily="34" charset="-122"/>
              </a:rPr>
              <a:t>ONU </a:t>
            </a:r>
            <a:r>
              <a:rPr lang="zh-CN" altLang="en-US" sz="1050" b="1" dirty="0">
                <a:solidFill>
                  <a:srgbClr val="0000FF"/>
                </a:solidFill>
                <a:latin typeface="微软雅黑" pitchFamily="34" charset="-122"/>
                <a:ea typeface="微软雅黑" pitchFamily="34" charset="-122"/>
              </a:rPr>
              <a:t>的数据</a:t>
            </a:r>
          </a:p>
        </p:txBody>
      </p:sp>
      <p:sp>
        <p:nvSpPr>
          <p:cNvPr id="116" name="Text Box 72">
            <a:extLst>
              <a:ext uri="{FF2B5EF4-FFF2-40B4-BE49-F238E27FC236}">
                <a16:creationId xmlns:a16="http://schemas.microsoft.com/office/drawing/2014/main" id="{33B1AA4E-D3F7-7847-0195-85BD41647DA0}"/>
              </a:ext>
            </a:extLst>
          </p:cNvPr>
          <p:cNvSpPr txBox="1">
            <a:spLocks noChangeArrowheads="1"/>
          </p:cNvSpPr>
          <p:nvPr/>
        </p:nvSpPr>
        <p:spPr bwMode="auto">
          <a:xfrm>
            <a:off x="4017306" y="1282331"/>
            <a:ext cx="511098" cy="261910"/>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1200" b="1" dirty="0">
                <a:latin typeface="微软雅黑" pitchFamily="34" charset="-122"/>
                <a:ea typeface="微软雅黑" pitchFamily="34" charset="-122"/>
              </a:rPr>
              <a:t>下行</a:t>
            </a:r>
          </a:p>
        </p:txBody>
      </p:sp>
      <p:sp>
        <p:nvSpPr>
          <p:cNvPr id="117" name="Line 74">
            <a:extLst>
              <a:ext uri="{FF2B5EF4-FFF2-40B4-BE49-F238E27FC236}">
                <a16:creationId xmlns:a16="http://schemas.microsoft.com/office/drawing/2014/main" id="{1D14C506-4665-1177-5821-085778CAD1C1}"/>
              </a:ext>
            </a:extLst>
          </p:cNvPr>
          <p:cNvSpPr>
            <a:spLocks noChangeShapeType="1"/>
          </p:cNvSpPr>
          <p:nvPr/>
        </p:nvSpPr>
        <p:spPr bwMode="auto">
          <a:xfrm>
            <a:off x="4083960" y="1533476"/>
            <a:ext cx="422280"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grpSp>
        <p:nvGrpSpPr>
          <p:cNvPr id="118" name="组合 117">
            <a:extLst>
              <a:ext uri="{FF2B5EF4-FFF2-40B4-BE49-F238E27FC236}">
                <a16:creationId xmlns:a16="http://schemas.microsoft.com/office/drawing/2014/main" id="{1284A89F-BE70-B9A6-EA68-431BF115C020}"/>
              </a:ext>
            </a:extLst>
          </p:cNvPr>
          <p:cNvGrpSpPr/>
          <p:nvPr/>
        </p:nvGrpSpPr>
        <p:grpSpPr>
          <a:xfrm>
            <a:off x="2417038" y="3411582"/>
            <a:ext cx="3995341" cy="274931"/>
            <a:chOff x="1169459" y="5805264"/>
            <a:chExt cx="7371027" cy="599306"/>
          </a:xfrm>
        </p:grpSpPr>
        <p:sp>
          <p:nvSpPr>
            <p:cNvPr id="119" name="Text Box 76">
              <a:extLst>
                <a:ext uri="{FF2B5EF4-FFF2-40B4-BE49-F238E27FC236}">
                  <a16:creationId xmlns:a16="http://schemas.microsoft.com/office/drawing/2014/main" id="{1D254ED2-9729-187E-F4E0-62A35AE32461}"/>
                </a:ext>
              </a:extLst>
            </p:cNvPr>
            <p:cNvSpPr txBox="1">
              <a:spLocks noChangeArrowheads="1"/>
            </p:cNvSpPr>
            <p:nvPr/>
          </p:nvSpPr>
          <p:spPr bwMode="auto">
            <a:xfrm>
              <a:off x="1631722" y="5916327"/>
              <a:ext cx="845411" cy="475544"/>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200" b="1" dirty="0">
                  <a:latin typeface="微软雅黑" pitchFamily="34" charset="-122"/>
                  <a:ea typeface="微软雅黑" pitchFamily="34" charset="-122"/>
                </a:rPr>
                <a:t>局端</a:t>
              </a:r>
            </a:p>
          </p:txBody>
        </p:sp>
        <p:sp>
          <p:nvSpPr>
            <p:cNvPr id="120" name="AutoShape 77">
              <a:extLst>
                <a:ext uri="{FF2B5EF4-FFF2-40B4-BE49-F238E27FC236}">
                  <a16:creationId xmlns:a16="http://schemas.microsoft.com/office/drawing/2014/main" id="{94110BC1-C56B-D8BD-522C-9095D6DCB3FC}"/>
                </a:ext>
              </a:extLst>
            </p:cNvPr>
            <p:cNvSpPr>
              <a:spLocks/>
            </p:cNvSpPr>
            <p:nvPr/>
          </p:nvSpPr>
          <p:spPr bwMode="auto">
            <a:xfrm rot="-5400000">
              <a:off x="1975909" y="4998814"/>
              <a:ext cx="141287" cy="1754188"/>
            </a:xfrm>
            <a:prstGeom prst="leftBrace">
              <a:avLst>
                <a:gd name="adj1" fmla="val 95506"/>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21" name="AutoShape 78">
              <a:extLst>
                <a:ext uri="{FF2B5EF4-FFF2-40B4-BE49-F238E27FC236}">
                  <a16:creationId xmlns:a16="http://schemas.microsoft.com/office/drawing/2014/main" id="{12EB52A9-5BE4-CE76-C01B-CD99FA2C48DB}"/>
                </a:ext>
              </a:extLst>
            </p:cNvPr>
            <p:cNvSpPr>
              <a:spLocks/>
            </p:cNvSpPr>
            <p:nvPr/>
          </p:nvSpPr>
          <p:spPr bwMode="auto">
            <a:xfrm rot="-5400000">
              <a:off x="4743187" y="4025280"/>
              <a:ext cx="144462" cy="3704431"/>
            </a:xfrm>
            <a:prstGeom prst="leftBrace">
              <a:avLst>
                <a:gd name="adj1" fmla="val 197253"/>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22" name="AutoShape 79">
              <a:extLst>
                <a:ext uri="{FF2B5EF4-FFF2-40B4-BE49-F238E27FC236}">
                  <a16:creationId xmlns:a16="http://schemas.microsoft.com/office/drawing/2014/main" id="{5A449F53-28B7-060E-30A4-0C7D04053230}"/>
                </a:ext>
              </a:extLst>
            </p:cNvPr>
            <p:cNvSpPr>
              <a:spLocks/>
            </p:cNvSpPr>
            <p:nvPr/>
          </p:nvSpPr>
          <p:spPr bwMode="auto">
            <a:xfrm rot="-5400000">
              <a:off x="7592748" y="4998814"/>
              <a:ext cx="141287" cy="1754188"/>
            </a:xfrm>
            <a:prstGeom prst="leftBrace">
              <a:avLst>
                <a:gd name="adj1" fmla="val 95506"/>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23" name="Text Box 80">
              <a:extLst>
                <a:ext uri="{FF2B5EF4-FFF2-40B4-BE49-F238E27FC236}">
                  <a16:creationId xmlns:a16="http://schemas.microsoft.com/office/drawing/2014/main" id="{879452F5-350C-4E48-6F8E-7A3F87D2A260}"/>
                </a:ext>
              </a:extLst>
            </p:cNvPr>
            <p:cNvSpPr txBox="1">
              <a:spLocks noChangeArrowheads="1"/>
            </p:cNvSpPr>
            <p:nvPr/>
          </p:nvSpPr>
          <p:spPr bwMode="auto">
            <a:xfrm>
              <a:off x="7092061" y="5916327"/>
              <a:ext cx="1109602" cy="475544"/>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200" b="1">
                  <a:latin typeface="微软雅黑" pitchFamily="34" charset="-122"/>
                  <a:ea typeface="微软雅黑" pitchFamily="34" charset="-122"/>
                </a:rPr>
                <a:t>用户端</a:t>
              </a:r>
            </a:p>
          </p:txBody>
        </p:sp>
        <p:sp>
          <p:nvSpPr>
            <p:cNvPr id="124" name="Text Box 81">
              <a:extLst>
                <a:ext uri="{FF2B5EF4-FFF2-40B4-BE49-F238E27FC236}">
                  <a16:creationId xmlns:a16="http://schemas.microsoft.com/office/drawing/2014/main" id="{6BBAEE50-E180-CB32-DD08-FBF9ED8807F8}"/>
                </a:ext>
              </a:extLst>
            </p:cNvPr>
            <p:cNvSpPr txBox="1">
              <a:spLocks noChangeArrowheads="1"/>
            </p:cNvSpPr>
            <p:nvPr/>
          </p:nvSpPr>
          <p:spPr bwMode="auto">
            <a:xfrm>
              <a:off x="3970639" y="5929026"/>
              <a:ext cx="2306717" cy="475544"/>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200" b="1" dirty="0">
                  <a:latin typeface="微软雅黑" pitchFamily="34" charset="-122"/>
                  <a:ea typeface="微软雅黑" pitchFamily="34" charset="-122"/>
                </a:rPr>
                <a:t>光配线网 </a:t>
              </a:r>
              <a:r>
                <a:rPr lang="en-US" altLang="zh-CN" sz="1200" b="1" dirty="0">
                  <a:latin typeface="微软雅黑" pitchFamily="34" charset="-122"/>
                  <a:ea typeface="微软雅黑" pitchFamily="34" charset="-122"/>
                </a:rPr>
                <a:t>(ODN)</a:t>
              </a:r>
            </a:p>
          </p:txBody>
        </p:sp>
      </p:grpSp>
      <p:grpSp>
        <p:nvGrpSpPr>
          <p:cNvPr id="125" name="Group 37">
            <a:extLst>
              <a:ext uri="{FF2B5EF4-FFF2-40B4-BE49-F238E27FC236}">
                <a16:creationId xmlns:a16="http://schemas.microsoft.com/office/drawing/2014/main" id="{603896AF-8EB5-8009-F4F9-7F23FA16CB30}"/>
              </a:ext>
            </a:extLst>
          </p:cNvPr>
          <p:cNvGrpSpPr>
            <a:grpSpLocks/>
          </p:cNvGrpSpPr>
          <p:nvPr/>
        </p:nvGrpSpPr>
        <p:grpSpPr bwMode="auto">
          <a:xfrm>
            <a:off x="5849701" y="2485333"/>
            <a:ext cx="1152942" cy="803275"/>
            <a:chOff x="3844" y="1238"/>
            <a:chExt cx="1032" cy="1103"/>
          </a:xfrm>
        </p:grpSpPr>
        <p:sp>
          <p:nvSpPr>
            <p:cNvPr id="126" name="Line 38">
              <a:extLst>
                <a:ext uri="{FF2B5EF4-FFF2-40B4-BE49-F238E27FC236}">
                  <a16:creationId xmlns:a16="http://schemas.microsoft.com/office/drawing/2014/main" id="{CFA34D75-EF49-4A56-667D-2873E7166485}"/>
                </a:ext>
              </a:extLst>
            </p:cNvPr>
            <p:cNvSpPr>
              <a:spLocks noChangeShapeType="1"/>
            </p:cNvSpPr>
            <p:nvPr/>
          </p:nvSpPr>
          <p:spPr bwMode="auto">
            <a:xfrm>
              <a:off x="3844" y="1752"/>
              <a:ext cx="1032" cy="0"/>
            </a:xfrm>
            <a:prstGeom prst="line">
              <a:avLst/>
            </a:prstGeom>
            <a:noFill/>
            <a:ln w="127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27" name="Line 39">
              <a:extLst>
                <a:ext uri="{FF2B5EF4-FFF2-40B4-BE49-F238E27FC236}">
                  <a16:creationId xmlns:a16="http://schemas.microsoft.com/office/drawing/2014/main" id="{ED8D13EC-A707-A8F5-0795-7DE8C8D8C3F2}"/>
                </a:ext>
              </a:extLst>
            </p:cNvPr>
            <p:cNvSpPr>
              <a:spLocks noChangeShapeType="1"/>
            </p:cNvSpPr>
            <p:nvPr/>
          </p:nvSpPr>
          <p:spPr bwMode="auto">
            <a:xfrm>
              <a:off x="3923" y="2341"/>
              <a:ext cx="953" cy="0"/>
            </a:xfrm>
            <a:prstGeom prst="line">
              <a:avLst/>
            </a:prstGeom>
            <a:noFill/>
            <a:ln w="127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28" name="Line 40">
              <a:extLst>
                <a:ext uri="{FF2B5EF4-FFF2-40B4-BE49-F238E27FC236}">
                  <a16:creationId xmlns:a16="http://schemas.microsoft.com/office/drawing/2014/main" id="{5F74EDA3-93FD-14F5-987C-7DA25D4822DD}"/>
                </a:ext>
              </a:extLst>
            </p:cNvPr>
            <p:cNvSpPr>
              <a:spLocks noChangeShapeType="1"/>
            </p:cNvSpPr>
            <p:nvPr/>
          </p:nvSpPr>
          <p:spPr bwMode="auto">
            <a:xfrm>
              <a:off x="3923" y="1238"/>
              <a:ext cx="953" cy="0"/>
            </a:xfrm>
            <a:prstGeom prst="line">
              <a:avLst/>
            </a:prstGeom>
            <a:noFill/>
            <a:ln w="127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grpSp>
      <p:grpSp>
        <p:nvGrpSpPr>
          <p:cNvPr id="129" name="组合 128">
            <a:extLst>
              <a:ext uri="{FF2B5EF4-FFF2-40B4-BE49-F238E27FC236}">
                <a16:creationId xmlns:a16="http://schemas.microsoft.com/office/drawing/2014/main" id="{322B089E-0016-40BC-7A54-4C8BFA3EC135}"/>
              </a:ext>
            </a:extLst>
          </p:cNvPr>
          <p:cNvGrpSpPr/>
          <p:nvPr/>
        </p:nvGrpSpPr>
        <p:grpSpPr>
          <a:xfrm>
            <a:off x="2554811" y="1437913"/>
            <a:ext cx="451292" cy="1334320"/>
            <a:chOff x="2554811" y="1437913"/>
            <a:chExt cx="451292" cy="1334320"/>
          </a:xfrm>
        </p:grpSpPr>
        <p:sp>
          <p:nvSpPr>
            <p:cNvPr id="130" name="Text Box 8">
              <a:extLst>
                <a:ext uri="{FF2B5EF4-FFF2-40B4-BE49-F238E27FC236}">
                  <a16:creationId xmlns:a16="http://schemas.microsoft.com/office/drawing/2014/main" id="{EE6A2109-080C-A004-7E91-9CB0EBE1EF02}"/>
                </a:ext>
              </a:extLst>
            </p:cNvPr>
            <p:cNvSpPr txBox="1">
              <a:spLocks noChangeArrowheads="1"/>
            </p:cNvSpPr>
            <p:nvPr/>
          </p:nvSpPr>
          <p:spPr bwMode="auto">
            <a:xfrm>
              <a:off x="2554811" y="1437913"/>
              <a:ext cx="434373" cy="206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050" b="1" dirty="0">
                  <a:latin typeface="微软雅黑" pitchFamily="34" charset="-122"/>
                  <a:ea typeface="微软雅黑" pitchFamily="34" charset="-122"/>
                </a:rPr>
                <a:t>头端</a:t>
              </a:r>
            </a:p>
          </p:txBody>
        </p:sp>
        <p:sp>
          <p:nvSpPr>
            <p:cNvPr id="131" name="Text Box 41">
              <a:extLst>
                <a:ext uri="{FF2B5EF4-FFF2-40B4-BE49-F238E27FC236}">
                  <a16:creationId xmlns:a16="http://schemas.microsoft.com/office/drawing/2014/main" id="{75D151BE-853B-3578-9BA3-0DF1C6411DD9}"/>
                </a:ext>
              </a:extLst>
            </p:cNvPr>
            <p:cNvSpPr txBox="1">
              <a:spLocks noChangeArrowheads="1"/>
            </p:cNvSpPr>
            <p:nvPr/>
          </p:nvSpPr>
          <p:spPr bwMode="auto">
            <a:xfrm>
              <a:off x="2571730" y="2566198"/>
              <a:ext cx="434373" cy="206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050" b="1" dirty="0">
                  <a:latin typeface="微软雅黑" pitchFamily="34" charset="-122"/>
                  <a:ea typeface="微软雅黑" pitchFamily="34" charset="-122"/>
                </a:rPr>
                <a:t>头端</a:t>
              </a:r>
            </a:p>
          </p:txBody>
        </p:sp>
      </p:grpSp>
      <p:sp>
        <p:nvSpPr>
          <p:cNvPr id="132" name="Rectangle 42">
            <a:extLst>
              <a:ext uri="{FF2B5EF4-FFF2-40B4-BE49-F238E27FC236}">
                <a16:creationId xmlns:a16="http://schemas.microsoft.com/office/drawing/2014/main" id="{F38886BE-B12B-5A13-3584-0DD917C98C60}"/>
              </a:ext>
            </a:extLst>
          </p:cNvPr>
          <p:cNvSpPr>
            <a:spLocks noChangeArrowheads="1"/>
          </p:cNvSpPr>
          <p:nvPr/>
        </p:nvSpPr>
        <p:spPr bwMode="auto">
          <a:xfrm>
            <a:off x="4103499" y="2760616"/>
            <a:ext cx="380331" cy="198088"/>
          </a:xfrm>
          <a:prstGeom prst="rect">
            <a:avLst/>
          </a:prstGeom>
          <a:solidFill>
            <a:srgbClr val="00FFCC"/>
          </a:solidFill>
          <a:ln w="19050">
            <a:solidFill>
              <a:schemeClr val="tx1"/>
            </a:solidFill>
            <a:miter lim="800000"/>
            <a:headEnd/>
            <a:tailEnd/>
          </a:ln>
          <a:effectLst/>
        </p:spPr>
        <p:txBody>
          <a:bodyPr wrap="none" anchor="ctr"/>
          <a:lstStyle/>
          <a:p>
            <a:pPr algn="ctr"/>
            <a:r>
              <a:rPr lang="en-US" altLang="zh-CN" sz="1200" b="1" dirty="0">
                <a:latin typeface="微软雅黑" pitchFamily="34" charset="-122"/>
                <a:ea typeface="微软雅黑" pitchFamily="34" charset="-122"/>
              </a:rPr>
              <a:t>1:N</a:t>
            </a:r>
          </a:p>
        </p:txBody>
      </p:sp>
      <p:sp>
        <p:nvSpPr>
          <p:cNvPr id="133" name="Line 45">
            <a:extLst>
              <a:ext uri="{FF2B5EF4-FFF2-40B4-BE49-F238E27FC236}">
                <a16:creationId xmlns:a16="http://schemas.microsoft.com/office/drawing/2014/main" id="{41FEC13E-7E73-1748-F332-91A22FBD4EEE}"/>
              </a:ext>
            </a:extLst>
          </p:cNvPr>
          <p:cNvSpPr>
            <a:spLocks noChangeShapeType="1"/>
          </p:cNvSpPr>
          <p:nvPr/>
        </p:nvSpPr>
        <p:spPr bwMode="auto">
          <a:xfrm>
            <a:off x="1491642" y="2859660"/>
            <a:ext cx="1455948" cy="0"/>
          </a:xfrm>
          <a:prstGeom prst="line">
            <a:avLst/>
          </a:prstGeom>
          <a:noFill/>
          <a:ln w="381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34" name="Text Box 47">
            <a:extLst>
              <a:ext uri="{FF2B5EF4-FFF2-40B4-BE49-F238E27FC236}">
                <a16:creationId xmlns:a16="http://schemas.microsoft.com/office/drawing/2014/main" id="{2B0976D7-9024-99E3-3BC5-EE18AAB24185}"/>
              </a:ext>
            </a:extLst>
          </p:cNvPr>
          <p:cNvSpPr txBox="1">
            <a:spLocks noChangeArrowheads="1"/>
          </p:cNvSpPr>
          <p:nvPr/>
        </p:nvSpPr>
        <p:spPr bwMode="auto">
          <a:xfrm>
            <a:off x="1491642" y="2635395"/>
            <a:ext cx="696907" cy="206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050" b="1" dirty="0">
                <a:latin typeface="微软雅黑" pitchFamily="34" charset="-122"/>
                <a:ea typeface="微软雅黑" pitchFamily="34" charset="-122"/>
              </a:rPr>
              <a:t>光纤干线</a:t>
            </a:r>
          </a:p>
        </p:txBody>
      </p:sp>
      <p:sp>
        <p:nvSpPr>
          <p:cNvPr id="135" name="Line 48">
            <a:extLst>
              <a:ext uri="{FF2B5EF4-FFF2-40B4-BE49-F238E27FC236}">
                <a16:creationId xmlns:a16="http://schemas.microsoft.com/office/drawing/2014/main" id="{96EAE353-C250-CAD0-426D-DA9D3801ACAE}"/>
              </a:ext>
            </a:extLst>
          </p:cNvPr>
          <p:cNvSpPr>
            <a:spLocks noChangeShapeType="1"/>
          </p:cNvSpPr>
          <p:nvPr/>
        </p:nvSpPr>
        <p:spPr bwMode="auto">
          <a:xfrm>
            <a:off x="2947591" y="2859660"/>
            <a:ext cx="1155909" cy="0"/>
          </a:xfrm>
          <a:prstGeom prst="line">
            <a:avLst/>
          </a:prstGeom>
          <a:noFill/>
          <a:ln w="381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36" name="Line 49">
            <a:extLst>
              <a:ext uri="{FF2B5EF4-FFF2-40B4-BE49-F238E27FC236}">
                <a16:creationId xmlns:a16="http://schemas.microsoft.com/office/drawing/2014/main" id="{265B133F-A7A9-B995-7EB2-07790DBCA620}"/>
              </a:ext>
            </a:extLst>
          </p:cNvPr>
          <p:cNvSpPr>
            <a:spLocks noChangeShapeType="1"/>
          </p:cNvSpPr>
          <p:nvPr/>
        </p:nvSpPr>
        <p:spPr bwMode="auto">
          <a:xfrm flipV="1">
            <a:off x="4483830" y="2447336"/>
            <a:ext cx="1263751" cy="346053"/>
          </a:xfrm>
          <a:prstGeom prst="line">
            <a:avLst/>
          </a:prstGeom>
          <a:noFill/>
          <a:ln w="1905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37" name="Line 50">
            <a:extLst>
              <a:ext uri="{FF2B5EF4-FFF2-40B4-BE49-F238E27FC236}">
                <a16:creationId xmlns:a16="http://schemas.microsoft.com/office/drawing/2014/main" id="{5E94C991-401F-B4EB-6E02-D5B7A8B73E9E}"/>
              </a:ext>
            </a:extLst>
          </p:cNvPr>
          <p:cNvSpPr>
            <a:spLocks noChangeShapeType="1"/>
          </p:cNvSpPr>
          <p:nvPr/>
        </p:nvSpPr>
        <p:spPr bwMode="auto">
          <a:xfrm>
            <a:off x="4483830" y="2925204"/>
            <a:ext cx="1263751" cy="363404"/>
          </a:xfrm>
          <a:prstGeom prst="line">
            <a:avLst/>
          </a:prstGeom>
          <a:noFill/>
          <a:ln w="1905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38" name="Line 51">
            <a:extLst>
              <a:ext uri="{FF2B5EF4-FFF2-40B4-BE49-F238E27FC236}">
                <a16:creationId xmlns:a16="http://schemas.microsoft.com/office/drawing/2014/main" id="{033B3395-C061-9DAE-44CE-5F00EAD67CB1}"/>
              </a:ext>
            </a:extLst>
          </p:cNvPr>
          <p:cNvSpPr>
            <a:spLocks noChangeShapeType="1"/>
          </p:cNvSpPr>
          <p:nvPr/>
        </p:nvSpPr>
        <p:spPr bwMode="auto">
          <a:xfrm>
            <a:off x="4483830" y="2859660"/>
            <a:ext cx="1263751" cy="0"/>
          </a:xfrm>
          <a:prstGeom prst="line">
            <a:avLst/>
          </a:prstGeom>
          <a:noFill/>
          <a:ln w="1905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39" name="Text Box 52">
            <a:extLst>
              <a:ext uri="{FF2B5EF4-FFF2-40B4-BE49-F238E27FC236}">
                <a16:creationId xmlns:a16="http://schemas.microsoft.com/office/drawing/2014/main" id="{161B96DA-2E3F-D052-2FB9-1AA884DAFA97}"/>
              </a:ext>
            </a:extLst>
          </p:cNvPr>
          <p:cNvSpPr txBox="1">
            <a:spLocks noChangeArrowheads="1"/>
          </p:cNvSpPr>
          <p:nvPr/>
        </p:nvSpPr>
        <p:spPr bwMode="auto">
          <a:xfrm rot="5400000">
            <a:off x="5861901" y="2966009"/>
            <a:ext cx="266634" cy="257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dirty="0">
                <a:latin typeface="微软雅黑" pitchFamily="34" charset="-122"/>
                <a:ea typeface="微软雅黑" pitchFamily="34" charset="-122"/>
                <a:sym typeface="Symbol" pitchFamily="18" charset="2"/>
              </a:rPr>
              <a:t></a:t>
            </a:r>
          </a:p>
        </p:txBody>
      </p:sp>
      <p:sp>
        <p:nvSpPr>
          <p:cNvPr id="140" name="Text Box 54">
            <a:extLst>
              <a:ext uri="{FF2B5EF4-FFF2-40B4-BE49-F238E27FC236}">
                <a16:creationId xmlns:a16="http://schemas.microsoft.com/office/drawing/2014/main" id="{3C1E680A-07A0-5E50-DC1A-650A1357BB00}"/>
              </a:ext>
            </a:extLst>
          </p:cNvPr>
          <p:cNvSpPr txBox="1">
            <a:spLocks noChangeArrowheads="1"/>
          </p:cNvSpPr>
          <p:nvPr/>
        </p:nvSpPr>
        <p:spPr bwMode="auto">
          <a:xfrm>
            <a:off x="3377576" y="2647007"/>
            <a:ext cx="523874"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dirty="0">
                <a:ln w="12700">
                  <a:solidFill>
                    <a:sysClr val="windowText" lastClr="000000"/>
                  </a:solidFill>
                </a:ln>
                <a:solidFill>
                  <a:srgbClr val="00FFCC"/>
                </a:solidFill>
                <a:latin typeface="微软雅黑" pitchFamily="34" charset="-122"/>
                <a:ea typeface="微软雅黑" pitchFamily="34" charset="-122"/>
              </a:rPr>
              <a:t>★</a:t>
            </a:r>
            <a:r>
              <a:rPr lang="en-US" altLang="zh-CN" sz="1200" b="1" dirty="0">
                <a:ln w="12700">
                  <a:solidFill>
                    <a:sysClr val="windowText" lastClr="000000"/>
                  </a:solidFill>
                </a:ln>
                <a:solidFill>
                  <a:srgbClr val="00FFCC"/>
                </a:solidFill>
                <a:latin typeface="微软雅黑" pitchFamily="34" charset="-122"/>
                <a:ea typeface="微软雅黑" pitchFamily="34" charset="-122"/>
                <a:sym typeface="Wingdings" pitchFamily="2" charset="2"/>
              </a:rPr>
              <a:t>●</a:t>
            </a:r>
          </a:p>
        </p:txBody>
      </p:sp>
      <p:sp>
        <p:nvSpPr>
          <p:cNvPr id="141" name="Text Box 55">
            <a:extLst>
              <a:ext uri="{FF2B5EF4-FFF2-40B4-BE49-F238E27FC236}">
                <a16:creationId xmlns:a16="http://schemas.microsoft.com/office/drawing/2014/main" id="{F4EA2196-8B67-A02C-ED28-7EDF8ED73009}"/>
              </a:ext>
            </a:extLst>
          </p:cNvPr>
          <p:cNvSpPr txBox="1">
            <a:spLocks noChangeArrowheads="1"/>
          </p:cNvSpPr>
          <p:nvPr/>
        </p:nvSpPr>
        <p:spPr bwMode="auto">
          <a:xfrm>
            <a:off x="5137683" y="2664718"/>
            <a:ext cx="313549"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dirty="0">
                <a:ln w="12700">
                  <a:solidFill>
                    <a:sysClr val="windowText" lastClr="000000"/>
                  </a:solidFill>
                </a:ln>
                <a:solidFill>
                  <a:srgbClr val="00FFCC"/>
                </a:solidFill>
                <a:latin typeface="微软雅黑" pitchFamily="34" charset="-122"/>
                <a:ea typeface="微软雅黑" pitchFamily="34" charset="-122"/>
                <a:sym typeface="Wingdings" pitchFamily="2" charset="2"/>
              </a:rPr>
              <a:t></a:t>
            </a:r>
          </a:p>
        </p:txBody>
      </p:sp>
      <p:sp>
        <p:nvSpPr>
          <p:cNvPr id="142" name="Text Box 56">
            <a:extLst>
              <a:ext uri="{FF2B5EF4-FFF2-40B4-BE49-F238E27FC236}">
                <a16:creationId xmlns:a16="http://schemas.microsoft.com/office/drawing/2014/main" id="{BB433B1C-336B-29E3-0769-7B7873FD203E}"/>
              </a:ext>
            </a:extLst>
          </p:cNvPr>
          <p:cNvSpPr txBox="1">
            <a:spLocks noChangeArrowheads="1"/>
          </p:cNvSpPr>
          <p:nvPr/>
        </p:nvSpPr>
        <p:spPr bwMode="auto">
          <a:xfrm>
            <a:off x="6712185" y="3091081"/>
            <a:ext cx="265816"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a:ln w="12700">
                  <a:solidFill>
                    <a:sysClr val="windowText" lastClr="000000"/>
                  </a:solidFill>
                </a:ln>
                <a:solidFill>
                  <a:srgbClr val="00FFCC"/>
                </a:solidFill>
                <a:latin typeface="微软雅黑" pitchFamily="34" charset="-122"/>
                <a:ea typeface="微软雅黑" pitchFamily="34" charset="-122"/>
              </a:rPr>
              <a:t>●</a:t>
            </a:r>
            <a:endParaRPr lang="en-US" altLang="zh-CN" sz="1200" b="1">
              <a:ln w="12700">
                <a:solidFill>
                  <a:sysClr val="windowText" lastClr="000000"/>
                </a:solidFill>
              </a:ln>
              <a:solidFill>
                <a:srgbClr val="00FFCC"/>
              </a:solidFill>
              <a:latin typeface="微软雅黑" pitchFamily="34" charset="-122"/>
              <a:ea typeface="微软雅黑" pitchFamily="34" charset="-122"/>
              <a:sym typeface="Wingdings" pitchFamily="2" charset="2"/>
            </a:endParaRPr>
          </a:p>
        </p:txBody>
      </p:sp>
      <p:sp>
        <p:nvSpPr>
          <p:cNvPr id="143" name="Text Box 57">
            <a:extLst>
              <a:ext uri="{FF2B5EF4-FFF2-40B4-BE49-F238E27FC236}">
                <a16:creationId xmlns:a16="http://schemas.microsoft.com/office/drawing/2014/main" id="{0BD56EFA-EC17-194E-0DFC-D2938CD9130D}"/>
              </a:ext>
            </a:extLst>
          </p:cNvPr>
          <p:cNvSpPr txBox="1">
            <a:spLocks noChangeArrowheads="1"/>
          </p:cNvSpPr>
          <p:nvPr/>
        </p:nvSpPr>
        <p:spPr bwMode="auto">
          <a:xfrm rot="1462546">
            <a:off x="5160302" y="2952957"/>
            <a:ext cx="265816"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a:ln w="12700">
                  <a:solidFill>
                    <a:sysClr val="windowText" lastClr="000000"/>
                  </a:solidFill>
                </a:ln>
                <a:solidFill>
                  <a:srgbClr val="00FFCC"/>
                </a:solidFill>
                <a:latin typeface="微软雅黑" pitchFamily="34" charset="-122"/>
                <a:ea typeface="微软雅黑" pitchFamily="34" charset="-122"/>
              </a:rPr>
              <a:t>●</a:t>
            </a:r>
            <a:endParaRPr lang="en-US" altLang="zh-CN" sz="1200" b="1">
              <a:ln w="12700">
                <a:solidFill>
                  <a:sysClr val="windowText" lastClr="000000"/>
                </a:solidFill>
              </a:ln>
              <a:solidFill>
                <a:srgbClr val="00FFCC"/>
              </a:solidFill>
              <a:latin typeface="微软雅黑" pitchFamily="34" charset="-122"/>
              <a:ea typeface="微软雅黑" pitchFamily="34" charset="-122"/>
              <a:sym typeface="Wingdings" pitchFamily="2" charset="2"/>
            </a:endParaRPr>
          </a:p>
        </p:txBody>
      </p:sp>
      <p:sp>
        <p:nvSpPr>
          <p:cNvPr id="144" name="Text Box 58">
            <a:extLst>
              <a:ext uri="{FF2B5EF4-FFF2-40B4-BE49-F238E27FC236}">
                <a16:creationId xmlns:a16="http://schemas.microsoft.com/office/drawing/2014/main" id="{545A8565-FF70-CD4C-2CE8-7FF852F55D3F}"/>
              </a:ext>
            </a:extLst>
          </p:cNvPr>
          <p:cNvSpPr txBox="1">
            <a:spLocks noChangeArrowheads="1"/>
          </p:cNvSpPr>
          <p:nvPr/>
        </p:nvSpPr>
        <p:spPr bwMode="auto">
          <a:xfrm rot="20338690">
            <a:off x="5137928" y="2368841"/>
            <a:ext cx="288190"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dirty="0">
                <a:ln w="12700">
                  <a:solidFill>
                    <a:sysClr val="windowText" lastClr="000000"/>
                  </a:solidFill>
                </a:ln>
                <a:solidFill>
                  <a:srgbClr val="00FFCC"/>
                </a:solidFill>
                <a:latin typeface="微软雅黑" pitchFamily="34" charset="-122"/>
                <a:ea typeface="微软雅黑" pitchFamily="34" charset="-122"/>
              </a:rPr>
              <a:t>★</a:t>
            </a:r>
            <a:endParaRPr lang="en-US" altLang="zh-CN" sz="1200" b="1" dirty="0">
              <a:ln w="12700">
                <a:solidFill>
                  <a:sysClr val="windowText" lastClr="000000"/>
                </a:solidFill>
              </a:ln>
              <a:solidFill>
                <a:srgbClr val="00FFCC"/>
              </a:solidFill>
              <a:latin typeface="微软雅黑" pitchFamily="34" charset="-122"/>
              <a:ea typeface="微软雅黑" pitchFamily="34" charset="-122"/>
              <a:sym typeface="Wingdings" pitchFamily="2" charset="2"/>
            </a:endParaRPr>
          </a:p>
        </p:txBody>
      </p:sp>
      <p:sp>
        <p:nvSpPr>
          <p:cNvPr id="145" name="Text Box 59">
            <a:extLst>
              <a:ext uri="{FF2B5EF4-FFF2-40B4-BE49-F238E27FC236}">
                <a16:creationId xmlns:a16="http://schemas.microsoft.com/office/drawing/2014/main" id="{6EC874DA-EBE1-6ECE-4EF1-1C69B1B1EDE7}"/>
              </a:ext>
            </a:extLst>
          </p:cNvPr>
          <p:cNvSpPr txBox="1">
            <a:spLocks noChangeArrowheads="1"/>
          </p:cNvSpPr>
          <p:nvPr/>
        </p:nvSpPr>
        <p:spPr bwMode="auto">
          <a:xfrm>
            <a:off x="6717778" y="2661406"/>
            <a:ext cx="313549"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a:ln w="12700">
                  <a:solidFill>
                    <a:sysClr val="windowText" lastClr="000000"/>
                  </a:solidFill>
                </a:ln>
                <a:solidFill>
                  <a:srgbClr val="00FFCC"/>
                </a:solidFill>
                <a:latin typeface="微软雅黑" pitchFamily="34" charset="-122"/>
                <a:ea typeface="微软雅黑" pitchFamily="34" charset="-122"/>
                <a:sym typeface="Wingdings" pitchFamily="2" charset="2"/>
              </a:rPr>
              <a:t></a:t>
            </a:r>
          </a:p>
        </p:txBody>
      </p:sp>
      <p:sp>
        <p:nvSpPr>
          <p:cNvPr id="146" name="Text Box 60">
            <a:extLst>
              <a:ext uri="{FF2B5EF4-FFF2-40B4-BE49-F238E27FC236}">
                <a16:creationId xmlns:a16="http://schemas.microsoft.com/office/drawing/2014/main" id="{E8F55ABE-5268-0D3C-AB89-66CD42E74342}"/>
              </a:ext>
            </a:extLst>
          </p:cNvPr>
          <p:cNvSpPr txBox="1">
            <a:spLocks noChangeArrowheads="1"/>
          </p:cNvSpPr>
          <p:nvPr/>
        </p:nvSpPr>
        <p:spPr bwMode="auto">
          <a:xfrm>
            <a:off x="6712185" y="2288535"/>
            <a:ext cx="288190"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dirty="0">
                <a:ln w="12700">
                  <a:solidFill>
                    <a:sysClr val="windowText" lastClr="000000"/>
                  </a:solidFill>
                </a:ln>
                <a:solidFill>
                  <a:srgbClr val="00FFCC"/>
                </a:solidFill>
                <a:latin typeface="微软雅黑" pitchFamily="34" charset="-122"/>
                <a:ea typeface="微软雅黑" pitchFamily="34" charset="-122"/>
              </a:rPr>
              <a:t>★</a:t>
            </a:r>
            <a:endParaRPr lang="en-US" altLang="zh-CN" sz="1200" b="1" dirty="0">
              <a:ln w="12700">
                <a:solidFill>
                  <a:sysClr val="windowText" lastClr="000000"/>
                </a:solidFill>
              </a:ln>
              <a:solidFill>
                <a:srgbClr val="00FFCC"/>
              </a:solidFill>
              <a:latin typeface="微软雅黑" pitchFamily="34" charset="-122"/>
              <a:ea typeface="微软雅黑" pitchFamily="34" charset="-122"/>
              <a:sym typeface="Wingdings" pitchFamily="2" charset="2"/>
            </a:endParaRPr>
          </a:p>
        </p:txBody>
      </p:sp>
      <p:sp>
        <p:nvSpPr>
          <p:cNvPr id="147" name="Line 61">
            <a:extLst>
              <a:ext uri="{FF2B5EF4-FFF2-40B4-BE49-F238E27FC236}">
                <a16:creationId xmlns:a16="http://schemas.microsoft.com/office/drawing/2014/main" id="{30ED7496-38E4-DDE8-BDA4-3C6D564C7385}"/>
              </a:ext>
            </a:extLst>
          </p:cNvPr>
          <p:cNvSpPr>
            <a:spLocks noChangeShapeType="1"/>
          </p:cNvSpPr>
          <p:nvPr/>
        </p:nvSpPr>
        <p:spPr bwMode="auto">
          <a:xfrm flipH="1">
            <a:off x="3209781" y="2753362"/>
            <a:ext cx="168726"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48" name="Line 62">
            <a:extLst>
              <a:ext uri="{FF2B5EF4-FFF2-40B4-BE49-F238E27FC236}">
                <a16:creationId xmlns:a16="http://schemas.microsoft.com/office/drawing/2014/main" id="{8F294CE3-C0DB-9324-164E-1C18F13B7BA8}"/>
              </a:ext>
            </a:extLst>
          </p:cNvPr>
          <p:cNvSpPr>
            <a:spLocks noChangeShapeType="1"/>
          </p:cNvSpPr>
          <p:nvPr/>
        </p:nvSpPr>
        <p:spPr bwMode="auto">
          <a:xfrm rot="9548732">
            <a:off x="4991182" y="2569334"/>
            <a:ext cx="168726"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49" name="Line 63">
            <a:extLst>
              <a:ext uri="{FF2B5EF4-FFF2-40B4-BE49-F238E27FC236}">
                <a16:creationId xmlns:a16="http://schemas.microsoft.com/office/drawing/2014/main" id="{D65314B1-2CCD-EA4D-33D1-CD083E7D6667}"/>
              </a:ext>
            </a:extLst>
          </p:cNvPr>
          <p:cNvSpPr>
            <a:spLocks noChangeShapeType="1"/>
          </p:cNvSpPr>
          <p:nvPr/>
        </p:nvSpPr>
        <p:spPr bwMode="auto">
          <a:xfrm flipH="1">
            <a:off x="6543460" y="3223063"/>
            <a:ext cx="168725"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50" name="Line 64">
            <a:extLst>
              <a:ext uri="{FF2B5EF4-FFF2-40B4-BE49-F238E27FC236}">
                <a16:creationId xmlns:a16="http://schemas.microsoft.com/office/drawing/2014/main" id="{23A37C1E-B868-7A04-35D0-66AFABF4A134}"/>
              </a:ext>
            </a:extLst>
          </p:cNvPr>
          <p:cNvSpPr>
            <a:spLocks noChangeShapeType="1"/>
          </p:cNvSpPr>
          <p:nvPr/>
        </p:nvSpPr>
        <p:spPr bwMode="auto">
          <a:xfrm flipH="1">
            <a:off x="6543460" y="2793388"/>
            <a:ext cx="168725"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51" name="Line 65">
            <a:extLst>
              <a:ext uri="{FF2B5EF4-FFF2-40B4-BE49-F238E27FC236}">
                <a16:creationId xmlns:a16="http://schemas.microsoft.com/office/drawing/2014/main" id="{FDEB10AF-DD2A-FF42-59C7-720A84BC1079}"/>
              </a:ext>
            </a:extLst>
          </p:cNvPr>
          <p:cNvSpPr>
            <a:spLocks noChangeShapeType="1"/>
          </p:cNvSpPr>
          <p:nvPr/>
        </p:nvSpPr>
        <p:spPr bwMode="auto">
          <a:xfrm rot="1366384" flipH="1">
            <a:off x="4968319" y="3008563"/>
            <a:ext cx="168725"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52" name="Line 66">
            <a:extLst>
              <a:ext uri="{FF2B5EF4-FFF2-40B4-BE49-F238E27FC236}">
                <a16:creationId xmlns:a16="http://schemas.microsoft.com/office/drawing/2014/main" id="{5A3A7D62-A5E6-1013-7772-FA8CE74F587D}"/>
              </a:ext>
            </a:extLst>
          </p:cNvPr>
          <p:cNvSpPr>
            <a:spLocks noChangeShapeType="1"/>
          </p:cNvSpPr>
          <p:nvPr/>
        </p:nvSpPr>
        <p:spPr bwMode="auto">
          <a:xfrm flipH="1">
            <a:off x="4992114" y="2776918"/>
            <a:ext cx="168725"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53" name="Line 67">
            <a:extLst>
              <a:ext uri="{FF2B5EF4-FFF2-40B4-BE49-F238E27FC236}">
                <a16:creationId xmlns:a16="http://schemas.microsoft.com/office/drawing/2014/main" id="{68DB3828-E673-600C-D998-43D961310D60}"/>
              </a:ext>
            </a:extLst>
          </p:cNvPr>
          <p:cNvSpPr>
            <a:spLocks noChangeShapeType="1"/>
          </p:cNvSpPr>
          <p:nvPr/>
        </p:nvSpPr>
        <p:spPr bwMode="auto">
          <a:xfrm flipH="1">
            <a:off x="6546256" y="2417603"/>
            <a:ext cx="168726"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54" name="AutoShape 70">
            <a:extLst>
              <a:ext uri="{FF2B5EF4-FFF2-40B4-BE49-F238E27FC236}">
                <a16:creationId xmlns:a16="http://schemas.microsoft.com/office/drawing/2014/main" id="{DD4067E5-5E73-1373-84DE-D14CCC9136C8}"/>
              </a:ext>
            </a:extLst>
          </p:cNvPr>
          <p:cNvSpPr>
            <a:spLocks noChangeArrowheads="1"/>
          </p:cNvSpPr>
          <p:nvPr/>
        </p:nvSpPr>
        <p:spPr bwMode="auto">
          <a:xfrm>
            <a:off x="2167156" y="2298081"/>
            <a:ext cx="1421951" cy="198895"/>
          </a:xfrm>
          <a:prstGeom prst="wedgeRoundRectCallout">
            <a:avLst>
              <a:gd name="adj1" fmla="val 49806"/>
              <a:gd name="adj2" fmla="val 149652"/>
              <a:gd name="adj3" fmla="val 16667"/>
            </a:avLst>
          </a:prstGeom>
          <a:solidFill>
            <a:schemeClr val="bg1"/>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sz="1200" b="1">
              <a:solidFill>
                <a:srgbClr val="000099"/>
              </a:solidFill>
              <a:latin typeface="微软雅黑" pitchFamily="34" charset="-122"/>
              <a:ea typeface="微软雅黑" pitchFamily="34" charset="-122"/>
            </a:endParaRPr>
          </a:p>
        </p:txBody>
      </p:sp>
      <p:sp>
        <p:nvSpPr>
          <p:cNvPr id="155" name="Text Box 71">
            <a:extLst>
              <a:ext uri="{FF2B5EF4-FFF2-40B4-BE49-F238E27FC236}">
                <a16:creationId xmlns:a16="http://schemas.microsoft.com/office/drawing/2014/main" id="{56F6B374-8191-C836-3F13-059B8502CF7F}"/>
              </a:ext>
            </a:extLst>
          </p:cNvPr>
          <p:cNvSpPr txBox="1">
            <a:spLocks noChangeArrowheads="1"/>
          </p:cNvSpPr>
          <p:nvPr/>
        </p:nvSpPr>
        <p:spPr bwMode="auto">
          <a:xfrm>
            <a:off x="2144867" y="2273438"/>
            <a:ext cx="1604064"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1050" b="1" dirty="0">
                <a:solidFill>
                  <a:srgbClr val="CC00CC"/>
                </a:solidFill>
                <a:latin typeface="微软雅黑" pitchFamily="34" charset="-122"/>
                <a:ea typeface="微软雅黑" pitchFamily="34" charset="-122"/>
              </a:rPr>
              <a:t>特定 </a:t>
            </a:r>
            <a:r>
              <a:rPr lang="en-US" altLang="zh-CN" sz="1050" b="1" dirty="0">
                <a:solidFill>
                  <a:srgbClr val="CC00CC"/>
                </a:solidFill>
                <a:latin typeface="微软雅黑" pitchFamily="34" charset="-122"/>
                <a:ea typeface="微软雅黑" pitchFamily="34" charset="-122"/>
              </a:rPr>
              <a:t>ONU </a:t>
            </a:r>
            <a:r>
              <a:rPr lang="zh-CN" altLang="en-US" sz="1050" b="1" dirty="0">
                <a:solidFill>
                  <a:srgbClr val="CC00CC"/>
                </a:solidFill>
                <a:latin typeface="微软雅黑" pitchFamily="34" charset="-122"/>
                <a:ea typeface="微软雅黑" pitchFamily="34" charset="-122"/>
              </a:rPr>
              <a:t>发来的数据</a:t>
            </a:r>
          </a:p>
        </p:txBody>
      </p:sp>
      <p:sp>
        <p:nvSpPr>
          <p:cNvPr id="156" name="Text Box 73">
            <a:extLst>
              <a:ext uri="{FF2B5EF4-FFF2-40B4-BE49-F238E27FC236}">
                <a16:creationId xmlns:a16="http://schemas.microsoft.com/office/drawing/2014/main" id="{81C62A68-8577-9B1E-8853-F2826F32969B}"/>
              </a:ext>
            </a:extLst>
          </p:cNvPr>
          <p:cNvSpPr txBox="1">
            <a:spLocks noChangeArrowheads="1"/>
          </p:cNvSpPr>
          <p:nvPr/>
        </p:nvSpPr>
        <p:spPr bwMode="auto">
          <a:xfrm>
            <a:off x="4040855" y="2396980"/>
            <a:ext cx="493737" cy="261910"/>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1200" b="1" dirty="0">
                <a:latin typeface="微软雅黑" pitchFamily="34" charset="-122"/>
                <a:ea typeface="微软雅黑" pitchFamily="34" charset="-122"/>
              </a:rPr>
              <a:t>上行</a:t>
            </a:r>
          </a:p>
        </p:txBody>
      </p:sp>
      <p:sp>
        <p:nvSpPr>
          <p:cNvPr id="157" name="Line 75">
            <a:extLst>
              <a:ext uri="{FF2B5EF4-FFF2-40B4-BE49-F238E27FC236}">
                <a16:creationId xmlns:a16="http://schemas.microsoft.com/office/drawing/2014/main" id="{97321581-BC0C-85B3-708E-B8974293984D}"/>
              </a:ext>
            </a:extLst>
          </p:cNvPr>
          <p:cNvSpPr>
            <a:spLocks noChangeShapeType="1"/>
          </p:cNvSpPr>
          <p:nvPr/>
        </p:nvSpPr>
        <p:spPr bwMode="auto">
          <a:xfrm flipH="1">
            <a:off x="4061551" y="2667398"/>
            <a:ext cx="422280" cy="0"/>
          </a:xfrm>
          <a:prstGeom prst="line">
            <a:avLst/>
          </a:prstGeom>
          <a:noFill/>
          <a:ln w="28575">
            <a:solidFill>
              <a:srgbClr val="FF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58" name="矩形 157">
            <a:extLst>
              <a:ext uri="{FF2B5EF4-FFF2-40B4-BE49-F238E27FC236}">
                <a16:creationId xmlns:a16="http://schemas.microsoft.com/office/drawing/2014/main" id="{316CB3A2-CD8B-6AD3-64C8-CEFD5CACF445}"/>
              </a:ext>
            </a:extLst>
          </p:cNvPr>
          <p:cNvSpPr/>
          <p:nvPr/>
        </p:nvSpPr>
        <p:spPr>
          <a:xfrm>
            <a:off x="2461732" y="2994901"/>
            <a:ext cx="1275641" cy="199976"/>
          </a:xfrm>
          <a:prstGeom prst="rect">
            <a:avLst/>
          </a:prstGeom>
        </p:spPr>
        <p:txBody>
          <a:bodyPr wrap="square">
            <a:spAutoFit/>
          </a:bodyPr>
          <a:lstStyle/>
          <a:p>
            <a:r>
              <a:rPr lang="en-US" altLang="zh-CN" sz="1050" b="1" dirty="0">
                <a:latin typeface="微软雅黑" pitchFamily="34" charset="-122"/>
                <a:ea typeface="微软雅黑" pitchFamily="34" charset="-122"/>
              </a:rPr>
              <a:t>OLT</a:t>
            </a:r>
            <a:r>
              <a:rPr lang="zh-CN" altLang="en-US" sz="1050" b="1" dirty="0">
                <a:latin typeface="微软雅黑" pitchFamily="34" charset="-122"/>
                <a:ea typeface="微软雅黑" pitchFamily="34" charset="-122"/>
              </a:rPr>
              <a:t>：</a:t>
            </a:r>
            <a:r>
              <a:rPr lang="zh-CN" altLang="zh-CN" sz="1050" b="1" dirty="0">
                <a:latin typeface="微软雅黑" pitchFamily="34" charset="-122"/>
                <a:ea typeface="微软雅黑" pitchFamily="34" charset="-122"/>
              </a:rPr>
              <a:t>光线路终端</a:t>
            </a:r>
            <a:endParaRPr lang="zh-CN" altLang="en-US" sz="1050" b="1" dirty="0">
              <a:latin typeface="微软雅黑" pitchFamily="34" charset="-122"/>
              <a:ea typeface="微软雅黑" pitchFamily="34" charset="-122"/>
            </a:endParaRPr>
          </a:p>
        </p:txBody>
      </p:sp>
      <p:sp>
        <p:nvSpPr>
          <p:cNvPr id="159" name="Rectangle 46">
            <a:extLst>
              <a:ext uri="{FF2B5EF4-FFF2-40B4-BE49-F238E27FC236}">
                <a16:creationId xmlns:a16="http://schemas.microsoft.com/office/drawing/2014/main" id="{F76D5A65-9224-C854-9FD5-0ABF9477CCD5}"/>
              </a:ext>
            </a:extLst>
          </p:cNvPr>
          <p:cNvSpPr>
            <a:spLocks noChangeArrowheads="1"/>
          </p:cNvSpPr>
          <p:nvPr/>
        </p:nvSpPr>
        <p:spPr bwMode="auto">
          <a:xfrm>
            <a:off x="2610585" y="2760616"/>
            <a:ext cx="380331" cy="198088"/>
          </a:xfrm>
          <a:prstGeom prst="rect">
            <a:avLst/>
          </a:prstGeom>
          <a:solidFill>
            <a:srgbClr val="66FF66"/>
          </a:solidFill>
          <a:ln w="12700">
            <a:solidFill>
              <a:schemeClr val="tx1"/>
            </a:solidFill>
            <a:miter lim="800000"/>
            <a:headEnd/>
            <a:tailEnd/>
          </a:ln>
          <a:effectLst/>
        </p:spPr>
        <p:txBody>
          <a:bodyPr wrap="none" anchor="ctr"/>
          <a:lstStyle/>
          <a:p>
            <a:pPr algn="ctr"/>
            <a:r>
              <a:rPr lang="en-US" altLang="zh-CN" sz="1100" b="1" dirty="0">
                <a:latin typeface="微软雅黑" pitchFamily="34" charset="-122"/>
                <a:ea typeface="微软雅黑" pitchFamily="34" charset="-122"/>
              </a:rPr>
              <a:t>OLT</a:t>
            </a:r>
          </a:p>
        </p:txBody>
      </p:sp>
      <p:sp>
        <p:nvSpPr>
          <p:cNvPr id="160" name="Rectangle 13">
            <a:extLst>
              <a:ext uri="{FF2B5EF4-FFF2-40B4-BE49-F238E27FC236}">
                <a16:creationId xmlns:a16="http://schemas.microsoft.com/office/drawing/2014/main" id="{2F532E7A-D088-6942-9E33-EFA910D117F0}"/>
              </a:ext>
            </a:extLst>
          </p:cNvPr>
          <p:cNvSpPr>
            <a:spLocks noChangeArrowheads="1"/>
          </p:cNvSpPr>
          <p:nvPr/>
        </p:nvSpPr>
        <p:spPr bwMode="auto">
          <a:xfrm>
            <a:off x="2593666" y="1632330"/>
            <a:ext cx="380331" cy="198088"/>
          </a:xfrm>
          <a:prstGeom prst="rect">
            <a:avLst/>
          </a:prstGeom>
          <a:solidFill>
            <a:srgbClr val="66FF66"/>
          </a:solidFill>
          <a:ln w="12700">
            <a:solidFill>
              <a:schemeClr val="tx1"/>
            </a:solidFill>
            <a:miter lim="800000"/>
            <a:headEnd/>
            <a:tailEnd/>
          </a:ln>
          <a:effectLst/>
        </p:spPr>
        <p:txBody>
          <a:bodyPr wrap="none" anchor="ctr"/>
          <a:lstStyle/>
          <a:p>
            <a:pPr algn="ctr"/>
            <a:r>
              <a:rPr lang="en-US" altLang="zh-CN" sz="1100" b="1" dirty="0">
                <a:latin typeface="微软雅黑" pitchFamily="34" charset="-122"/>
                <a:ea typeface="微软雅黑" pitchFamily="34" charset="-122"/>
              </a:rPr>
              <a:t>OLT</a:t>
            </a:r>
          </a:p>
        </p:txBody>
      </p:sp>
      <p:sp>
        <p:nvSpPr>
          <p:cNvPr id="161" name="Rectangle 10">
            <a:extLst>
              <a:ext uri="{FF2B5EF4-FFF2-40B4-BE49-F238E27FC236}">
                <a16:creationId xmlns:a16="http://schemas.microsoft.com/office/drawing/2014/main" id="{DEE4DEB8-03F3-3461-ACF5-3CE66867A80E}"/>
              </a:ext>
            </a:extLst>
          </p:cNvPr>
          <p:cNvSpPr>
            <a:spLocks noChangeArrowheads="1"/>
          </p:cNvSpPr>
          <p:nvPr/>
        </p:nvSpPr>
        <p:spPr bwMode="auto">
          <a:xfrm>
            <a:off x="5747582" y="2061278"/>
            <a:ext cx="380331" cy="198088"/>
          </a:xfrm>
          <a:prstGeom prst="rect">
            <a:avLst/>
          </a:prstGeom>
          <a:solidFill>
            <a:srgbClr val="66FF66"/>
          </a:solidFill>
          <a:ln w="12700">
            <a:solidFill>
              <a:schemeClr val="tx1"/>
            </a:solidFill>
            <a:miter lim="800000"/>
            <a:headEnd/>
            <a:tailEnd/>
          </a:ln>
          <a:effectLst/>
        </p:spPr>
        <p:txBody>
          <a:bodyPr wrap="none" anchor="ctr"/>
          <a:lstStyle/>
          <a:p>
            <a:pPr algn="ctr"/>
            <a:r>
              <a:rPr lang="en-US" altLang="zh-CN" sz="1200" b="1" dirty="0">
                <a:latin typeface="微软雅黑" pitchFamily="34" charset="-122"/>
                <a:ea typeface="微软雅黑" pitchFamily="34" charset="-122"/>
              </a:rPr>
              <a:t>ONU</a:t>
            </a:r>
          </a:p>
        </p:txBody>
      </p:sp>
      <p:sp>
        <p:nvSpPr>
          <p:cNvPr id="162" name="Rectangle 11">
            <a:extLst>
              <a:ext uri="{FF2B5EF4-FFF2-40B4-BE49-F238E27FC236}">
                <a16:creationId xmlns:a16="http://schemas.microsoft.com/office/drawing/2014/main" id="{90BFEE6B-BDE6-63D2-48C1-7B4ED5A28D23}"/>
              </a:ext>
            </a:extLst>
          </p:cNvPr>
          <p:cNvSpPr>
            <a:spLocks noChangeArrowheads="1"/>
          </p:cNvSpPr>
          <p:nvPr/>
        </p:nvSpPr>
        <p:spPr bwMode="auto">
          <a:xfrm>
            <a:off x="5747582" y="1632330"/>
            <a:ext cx="380331" cy="198088"/>
          </a:xfrm>
          <a:prstGeom prst="rect">
            <a:avLst/>
          </a:prstGeom>
          <a:solidFill>
            <a:srgbClr val="66FF66"/>
          </a:solidFill>
          <a:ln w="12700">
            <a:solidFill>
              <a:schemeClr val="tx1"/>
            </a:solidFill>
            <a:miter lim="800000"/>
            <a:headEnd/>
            <a:tailEnd/>
          </a:ln>
          <a:effectLst/>
        </p:spPr>
        <p:txBody>
          <a:bodyPr wrap="none" anchor="ctr"/>
          <a:lstStyle/>
          <a:p>
            <a:pPr algn="ctr"/>
            <a:r>
              <a:rPr lang="en-US" altLang="zh-CN" sz="1200" b="1">
                <a:latin typeface="微软雅黑" pitchFamily="34" charset="-122"/>
                <a:ea typeface="微软雅黑" pitchFamily="34" charset="-122"/>
              </a:rPr>
              <a:t>ONU</a:t>
            </a:r>
          </a:p>
        </p:txBody>
      </p:sp>
      <p:sp>
        <p:nvSpPr>
          <p:cNvPr id="163" name="Rectangle 22">
            <a:extLst>
              <a:ext uri="{FF2B5EF4-FFF2-40B4-BE49-F238E27FC236}">
                <a16:creationId xmlns:a16="http://schemas.microsoft.com/office/drawing/2014/main" id="{E740D168-2159-949F-DF98-9E4DB8F7C2CF}"/>
              </a:ext>
            </a:extLst>
          </p:cNvPr>
          <p:cNvSpPr>
            <a:spLocks noChangeArrowheads="1"/>
          </p:cNvSpPr>
          <p:nvPr/>
        </p:nvSpPr>
        <p:spPr bwMode="auto">
          <a:xfrm>
            <a:off x="5747582" y="1258002"/>
            <a:ext cx="380331" cy="198088"/>
          </a:xfrm>
          <a:prstGeom prst="rect">
            <a:avLst/>
          </a:prstGeom>
          <a:solidFill>
            <a:srgbClr val="66FF66"/>
          </a:solidFill>
          <a:ln w="12700">
            <a:solidFill>
              <a:schemeClr val="tx1"/>
            </a:solidFill>
            <a:miter lim="800000"/>
            <a:headEnd/>
            <a:tailEnd/>
          </a:ln>
          <a:effectLst/>
        </p:spPr>
        <p:txBody>
          <a:bodyPr wrap="none" anchor="ctr"/>
          <a:lstStyle/>
          <a:p>
            <a:pPr algn="ctr"/>
            <a:r>
              <a:rPr lang="en-US" altLang="zh-CN" sz="1200" b="1" dirty="0">
                <a:latin typeface="微软雅黑" pitchFamily="34" charset="-122"/>
                <a:ea typeface="微软雅黑" pitchFamily="34" charset="-122"/>
              </a:rPr>
              <a:t>ONU</a:t>
            </a:r>
          </a:p>
        </p:txBody>
      </p:sp>
      <p:sp>
        <p:nvSpPr>
          <p:cNvPr id="164" name="Rectangle 43">
            <a:extLst>
              <a:ext uri="{FF2B5EF4-FFF2-40B4-BE49-F238E27FC236}">
                <a16:creationId xmlns:a16="http://schemas.microsoft.com/office/drawing/2014/main" id="{634CBF34-0850-188E-0709-08FE8174652A}"/>
              </a:ext>
            </a:extLst>
          </p:cNvPr>
          <p:cNvSpPr>
            <a:spLocks noChangeArrowheads="1"/>
          </p:cNvSpPr>
          <p:nvPr/>
        </p:nvSpPr>
        <p:spPr bwMode="auto">
          <a:xfrm>
            <a:off x="5764501" y="3189563"/>
            <a:ext cx="380331" cy="198088"/>
          </a:xfrm>
          <a:prstGeom prst="rect">
            <a:avLst/>
          </a:prstGeom>
          <a:solidFill>
            <a:srgbClr val="66FF66"/>
          </a:solidFill>
          <a:ln w="12700">
            <a:solidFill>
              <a:schemeClr val="tx1"/>
            </a:solidFill>
            <a:miter lim="800000"/>
            <a:headEnd/>
            <a:tailEnd/>
          </a:ln>
          <a:effectLst/>
        </p:spPr>
        <p:txBody>
          <a:bodyPr wrap="none" anchor="ctr"/>
          <a:lstStyle/>
          <a:p>
            <a:pPr algn="ctr"/>
            <a:r>
              <a:rPr lang="en-US" altLang="zh-CN" sz="1200" b="1" dirty="0">
                <a:latin typeface="微软雅黑" pitchFamily="34" charset="-122"/>
                <a:ea typeface="微软雅黑" pitchFamily="34" charset="-122"/>
              </a:rPr>
              <a:t>ONU</a:t>
            </a:r>
          </a:p>
        </p:txBody>
      </p:sp>
      <p:sp>
        <p:nvSpPr>
          <p:cNvPr id="165" name="Rectangle 44">
            <a:extLst>
              <a:ext uri="{FF2B5EF4-FFF2-40B4-BE49-F238E27FC236}">
                <a16:creationId xmlns:a16="http://schemas.microsoft.com/office/drawing/2014/main" id="{721FC8CD-9025-9F0D-ECBB-91FF05842D70}"/>
              </a:ext>
            </a:extLst>
          </p:cNvPr>
          <p:cNvSpPr>
            <a:spLocks noChangeArrowheads="1"/>
          </p:cNvSpPr>
          <p:nvPr/>
        </p:nvSpPr>
        <p:spPr bwMode="auto">
          <a:xfrm>
            <a:off x="5764501" y="2760616"/>
            <a:ext cx="380331" cy="198088"/>
          </a:xfrm>
          <a:prstGeom prst="rect">
            <a:avLst/>
          </a:prstGeom>
          <a:solidFill>
            <a:srgbClr val="66FF66"/>
          </a:solidFill>
          <a:ln w="12700">
            <a:solidFill>
              <a:schemeClr val="tx1"/>
            </a:solidFill>
            <a:miter lim="800000"/>
            <a:headEnd/>
            <a:tailEnd/>
          </a:ln>
          <a:effectLst/>
        </p:spPr>
        <p:txBody>
          <a:bodyPr wrap="none" anchor="ctr"/>
          <a:lstStyle/>
          <a:p>
            <a:pPr algn="ctr"/>
            <a:r>
              <a:rPr lang="en-US" altLang="zh-CN" sz="1200" b="1">
                <a:latin typeface="微软雅黑" pitchFamily="34" charset="-122"/>
                <a:ea typeface="微软雅黑" pitchFamily="34" charset="-122"/>
              </a:rPr>
              <a:t>ONU</a:t>
            </a:r>
          </a:p>
        </p:txBody>
      </p:sp>
      <p:sp>
        <p:nvSpPr>
          <p:cNvPr id="166" name="Rectangle 53">
            <a:extLst>
              <a:ext uri="{FF2B5EF4-FFF2-40B4-BE49-F238E27FC236}">
                <a16:creationId xmlns:a16="http://schemas.microsoft.com/office/drawing/2014/main" id="{CD85CD57-B151-3A27-86FC-1FA03E066CEF}"/>
              </a:ext>
            </a:extLst>
          </p:cNvPr>
          <p:cNvSpPr>
            <a:spLocks noChangeArrowheads="1"/>
          </p:cNvSpPr>
          <p:nvPr/>
        </p:nvSpPr>
        <p:spPr bwMode="auto">
          <a:xfrm>
            <a:off x="5764501" y="2386288"/>
            <a:ext cx="380331" cy="198088"/>
          </a:xfrm>
          <a:prstGeom prst="rect">
            <a:avLst/>
          </a:prstGeom>
          <a:solidFill>
            <a:srgbClr val="66FF66"/>
          </a:solidFill>
          <a:ln w="12700">
            <a:solidFill>
              <a:schemeClr val="tx1"/>
            </a:solidFill>
            <a:miter lim="800000"/>
            <a:headEnd/>
            <a:tailEnd/>
          </a:ln>
          <a:effectLst/>
        </p:spPr>
        <p:txBody>
          <a:bodyPr wrap="none" anchor="ctr"/>
          <a:lstStyle/>
          <a:p>
            <a:pPr algn="ctr"/>
            <a:r>
              <a:rPr lang="en-US" altLang="zh-CN" sz="1200" b="1">
                <a:latin typeface="微软雅黑" pitchFamily="34" charset="-122"/>
                <a:ea typeface="微软雅黑" pitchFamily="34" charset="-122"/>
              </a:rPr>
              <a:t>ONU</a:t>
            </a:r>
          </a:p>
        </p:txBody>
      </p:sp>
      <p:grpSp>
        <p:nvGrpSpPr>
          <p:cNvPr id="167" name="组合 166">
            <a:extLst>
              <a:ext uri="{FF2B5EF4-FFF2-40B4-BE49-F238E27FC236}">
                <a16:creationId xmlns:a16="http://schemas.microsoft.com/office/drawing/2014/main" id="{B8682002-4603-2713-D51F-4978EB96242A}"/>
              </a:ext>
            </a:extLst>
          </p:cNvPr>
          <p:cNvGrpSpPr/>
          <p:nvPr/>
        </p:nvGrpSpPr>
        <p:grpSpPr>
          <a:xfrm>
            <a:off x="3928927" y="1812353"/>
            <a:ext cx="697145" cy="1330648"/>
            <a:chOff x="3928927" y="1812353"/>
            <a:chExt cx="697145" cy="1330648"/>
          </a:xfrm>
        </p:grpSpPr>
        <p:sp>
          <p:nvSpPr>
            <p:cNvPr id="168" name="Text Box 20">
              <a:extLst>
                <a:ext uri="{FF2B5EF4-FFF2-40B4-BE49-F238E27FC236}">
                  <a16:creationId xmlns:a16="http://schemas.microsoft.com/office/drawing/2014/main" id="{8C06E1A5-D917-8FD7-7B09-4EF5D16C0859}"/>
                </a:ext>
              </a:extLst>
            </p:cNvPr>
            <p:cNvSpPr txBox="1">
              <a:spLocks noChangeArrowheads="1"/>
            </p:cNvSpPr>
            <p:nvPr/>
          </p:nvSpPr>
          <p:spPr bwMode="auto">
            <a:xfrm>
              <a:off x="3928927" y="1812353"/>
              <a:ext cx="696907" cy="20603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050" b="1" dirty="0">
                  <a:latin typeface="微软雅黑" pitchFamily="34" charset="-122"/>
                  <a:ea typeface="微软雅黑" pitchFamily="34" charset="-122"/>
                </a:rPr>
                <a:t>光分路器</a:t>
              </a:r>
            </a:p>
          </p:txBody>
        </p:sp>
        <p:sp>
          <p:nvSpPr>
            <p:cNvPr id="169" name="Text Box 20">
              <a:extLst>
                <a:ext uri="{FF2B5EF4-FFF2-40B4-BE49-F238E27FC236}">
                  <a16:creationId xmlns:a16="http://schemas.microsoft.com/office/drawing/2014/main" id="{7E4B4B52-2F34-D657-F883-FE122202666A}"/>
                </a:ext>
              </a:extLst>
            </p:cNvPr>
            <p:cNvSpPr txBox="1">
              <a:spLocks noChangeArrowheads="1"/>
            </p:cNvSpPr>
            <p:nvPr/>
          </p:nvSpPr>
          <p:spPr bwMode="auto">
            <a:xfrm>
              <a:off x="3929165" y="2936966"/>
              <a:ext cx="696907" cy="20603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050" b="1" dirty="0">
                  <a:latin typeface="微软雅黑" pitchFamily="34" charset="-122"/>
                  <a:ea typeface="微软雅黑" pitchFamily="34" charset="-122"/>
                </a:rPr>
                <a:t>光分路器</a:t>
              </a:r>
            </a:p>
          </p:txBody>
        </p:sp>
      </p:grpSp>
    </p:spTree>
    <p:extLst>
      <p:ext uri="{BB962C8B-B14F-4D97-AF65-F5344CB8AC3E}">
        <p14:creationId xmlns:p14="http://schemas.microsoft.com/office/powerpoint/2010/main" val="1146531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7"/>
                                        </p:tgtEl>
                                        <p:attrNameLst>
                                          <p:attrName>style.visibility</p:attrName>
                                        </p:attrNameLst>
                                      </p:cBhvr>
                                      <p:to>
                                        <p:strVal val="visible"/>
                                      </p:to>
                                    </p:set>
                                    <p:animEffect transition="in" filter="fade">
                                      <p:cBhvr>
                                        <p:cTn id="7" dur="1000"/>
                                        <p:tgtEl>
                                          <p:spTgt spid="87"/>
                                        </p:tgtEl>
                                      </p:cBhvr>
                                    </p:animEffect>
                                    <p:anim calcmode="lin" valueType="num">
                                      <p:cBhvr>
                                        <p:cTn id="8" dur="1000" fill="hold"/>
                                        <p:tgtEl>
                                          <p:spTgt spid="87"/>
                                        </p:tgtEl>
                                        <p:attrNameLst>
                                          <p:attrName>ppt_x</p:attrName>
                                        </p:attrNameLst>
                                      </p:cBhvr>
                                      <p:tavLst>
                                        <p:tav tm="0">
                                          <p:val>
                                            <p:strVal val="#ppt_x"/>
                                          </p:val>
                                        </p:tav>
                                        <p:tav tm="100000">
                                          <p:val>
                                            <p:strVal val="#ppt_x"/>
                                          </p:val>
                                        </p:tav>
                                      </p:tavLst>
                                    </p:anim>
                                    <p:anim calcmode="lin" valueType="num">
                                      <p:cBhvr>
                                        <p:cTn id="9" dur="1000" fill="hold"/>
                                        <p:tgtEl>
                                          <p:spTgt spid="8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6CA39-E6F6-98D2-7F1F-0A60D2837E10}"/>
            </a:ext>
          </a:extLst>
        </p:cNvPr>
        <p:cNvGrpSpPr/>
        <p:nvPr/>
      </p:nvGrpSpPr>
      <p:grpSpPr>
        <a:xfrm>
          <a:off x="0" y="0"/>
          <a:ext cx="0" cy="0"/>
          <a:chOff x="0" y="0"/>
          <a:chExt cx="0" cy="0"/>
        </a:xfrm>
      </p:grpSpPr>
      <p:sp>
        <p:nvSpPr>
          <p:cNvPr id="4" name="文本占位符 3">
            <a:extLst>
              <a:ext uri="{FF2B5EF4-FFF2-40B4-BE49-F238E27FC236}">
                <a16:creationId xmlns:a16="http://schemas.microsoft.com/office/drawing/2014/main" id="{8A9C2FD7-2ABE-8770-A97A-6804EC84ECF7}"/>
              </a:ext>
            </a:extLst>
          </p:cNvPr>
          <p:cNvSpPr>
            <a:spLocks noGrp="1"/>
          </p:cNvSpPr>
          <p:nvPr>
            <p:ph type="body" sz="quarter" idx="11"/>
          </p:nvPr>
        </p:nvSpPr>
        <p:spPr>
          <a:xfrm>
            <a:off x="1332000" y="360000"/>
            <a:ext cx="6480000" cy="354012"/>
          </a:xfrm>
        </p:spPr>
        <p:txBody>
          <a:bodyPr>
            <a:normAutofit fontScale="92500" lnSpcReduction="10000"/>
          </a:bodyPr>
          <a:lstStyle/>
          <a:p>
            <a:r>
              <a:rPr lang="zh-CN" altLang="en-US" dirty="0"/>
              <a:t>光配线网 </a:t>
            </a:r>
            <a:r>
              <a:rPr lang="en-US" altLang="zh-CN" dirty="0"/>
              <a:t>ODN (Optical Distribution Network)</a:t>
            </a:r>
            <a:endParaRPr lang="zh-CN" altLang="en-US" dirty="0"/>
          </a:p>
        </p:txBody>
      </p:sp>
      <p:grpSp>
        <p:nvGrpSpPr>
          <p:cNvPr id="6" name="Group 4">
            <a:extLst>
              <a:ext uri="{FF2B5EF4-FFF2-40B4-BE49-F238E27FC236}">
                <a16:creationId xmlns:a16="http://schemas.microsoft.com/office/drawing/2014/main" id="{8765A79D-D2B2-E29D-A507-2F5ECB351F46}"/>
              </a:ext>
            </a:extLst>
          </p:cNvPr>
          <p:cNvGrpSpPr>
            <a:grpSpLocks/>
          </p:cNvGrpSpPr>
          <p:nvPr/>
        </p:nvGrpSpPr>
        <p:grpSpPr bwMode="auto">
          <a:xfrm>
            <a:off x="5764730" y="1357047"/>
            <a:ext cx="1237913" cy="803275"/>
            <a:chOff x="3781" y="1238"/>
            <a:chExt cx="1095" cy="1103"/>
          </a:xfrm>
        </p:grpSpPr>
        <p:sp>
          <p:nvSpPr>
            <p:cNvPr id="7" name="Line 5">
              <a:extLst>
                <a:ext uri="{FF2B5EF4-FFF2-40B4-BE49-F238E27FC236}">
                  <a16:creationId xmlns:a16="http://schemas.microsoft.com/office/drawing/2014/main" id="{E698D4EE-AFF4-F23C-168D-62B5E9400895}"/>
                </a:ext>
              </a:extLst>
            </p:cNvPr>
            <p:cNvSpPr>
              <a:spLocks noChangeShapeType="1"/>
            </p:cNvSpPr>
            <p:nvPr/>
          </p:nvSpPr>
          <p:spPr bwMode="auto">
            <a:xfrm>
              <a:off x="3781" y="1752"/>
              <a:ext cx="109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8" name="Line 6">
              <a:extLst>
                <a:ext uri="{FF2B5EF4-FFF2-40B4-BE49-F238E27FC236}">
                  <a16:creationId xmlns:a16="http://schemas.microsoft.com/office/drawing/2014/main" id="{8C0614BE-3ED5-41BF-1744-7B729FB23CFE}"/>
                </a:ext>
              </a:extLst>
            </p:cNvPr>
            <p:cNvSpPr>
              <a:spLocks noChangeShapeType="1"/>
            </p:cNvSpPr>
            <p:nvPr/>
          </p:nvSpPr>
          <p:spPr bwMode="auto">
            <a:xfrm>
              <a:off x="3923" y="2341"/>
              <a:ext cx="95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9" name="Line 7">
              <a:extLst>
                <a:ext uri="{FF2B5EF4-FFF2-40B4-BE49-F238E27FC236}">
                  <a16:creationId xmlns:a16="http://schemas.microsoft.com/office/drawing/2014/main" id="{4A15CAB9-6D1E-EDDC-B66F-B055238DD5EC}"/>
                </a:ext>
              </a:extLst>
            </p:cNvPr>
            <p:cNvSpPr>
              <a:spLocks noChangeShapeType="1"/>
            </p:cNvSpPr>
            <p:nvPr/>
          </p:nvSpPr>
          <p:spPr bwMode="auto">
            <a:xfrm>
              <a:off x="3923" y="1238"/>
              <a:ext cx="95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grpSp>
      <p:sp>
        <p:nvSpPr>
          <p:cNvPr id="11" name="Rectangle 9">
            <a:extLst>
              <a:ext uri="{FF2B5EF4-FFF2-40B4-BE49-F238E27FC236}">
                <a16:creationId xmlns:a16="http://schemas.microsoft.com/office/drawing/2014/main" id="{606569AC-E1A1-20AD-5BA0-1C91B426B290}"/>
              </a:ext>
            </a:extLst>
          </p:cNvPr>
          <p:cNvSpPr>
            <a:spLocks noChangeArrowheads="1"/>
          </p:cNvSpPr>
          <p:nvPr/>
        </p:nvSpPr>
        <p:spPr bwMode="auto">
          <a:xfrm>
            <a:off x="4086580" y="1632330"/>
            <a:ext cx="380331" cy="198088"/>
          </a:xfrm>
          <a:prstGeom prst="rect">
            <a:avLst/>
          </a:prstGeom>
          <a:solidFill>
            <a:srgbClr val="00FFCC"/>
          </a:solidFill>
          <a:ln w="19050">
            <a:solidFill>
              <a:schemeClr val="tx1"/>
            </a:solidFill>
            <a:miter lim="800000"/>
            <a:headEnd/>
            <a:tailEnd/>
          </a:ln>
          <a:effectLst/>
        </p:spPr>
        <p:txBody>
          <a:bodyPr wrap="none" anchor="ctr"/>
          <a:lstStyle/>
          <a:p>
            <a:pPr algn="ctr"/>
            <a:r>
              <a:rPr lang="en-US" altLang="zh-CN" sz="1200" b="1" dirty="0">
                <a:latin typeface="微软雅黑" pitchFamily="34" charset="-122"/>
                <a:ea typeface="微软雅黑" pitchFamily="34" charset="-122"/>
              </a:rPr>
              <a:t>1:N</a:t>
            </a:r>
          </a:p>
        </p:txBody>
      </p:sp>
      <p:sp>
        <p:nvSpPr>
          <p:cNvPr id="12" name="Line 12">
            <a:extLst>
              <a:ext uri="{FF2B5EF4-FFF2-40B4-BE49-F238E27FC236}">
                <a16:creationId xmlns:a16="http://schemas.microsoft.com/office/drawing/2014/main" id="{8FB07F26-88D7-E590-5DB2-2A33BB1C2F7C}"/>
              </a:ext>
            </a:extLst>
          </p:cNvPr>
          <p:cNvSpPr>
            <a:spLocks noChangeShapeType="1"/>
          </p:cNvSpPr>
          <p:nvPr/>
        </p:nvSpPr>
        <p:spPr bwMode="auto">
          <a:xfrm>
            <a:off x="1491642" y="1731374"/>
            <a:ext cx="1439029" cy="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3" name="Text Box 14">
            <a:extLst>
              <a:ext uri="{FF2B5EF4-FFF2-40B4-BE49-F238E27FC236}">
                <a16:creationId xmlns:a16="http://schemas.microsoft.com/office/drawing/2014/main" id="{19C469C3-55C3-5D32-9146-97F42147E7E9}"/>
              </a:ext>
            </a:extLst>
          </p:cNvPr>
          <p:cNvSpPr txBox="1">
            <a:spLocks noChangeArrowheads="1"/>
          </p:cNvSpPr>
          <p:nvPr/>
        </p:nvSpPr>
        <p:spPr bwMode="auto">
          <a:xfrm>
            <a:off x="1468689" y="1512215"/>
            <a:ext cx="696907" cy="206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050" b="1" dirty="0">
                <a:latin typeface="微软雅黑" pitchFamily="34" charset="-122"/>
                <a:ea typeface="微软雅黑" pitchFamily="34" charset="-122"/>
              </a:rPr>
              <a:t>光纤干线</a:t>
            </a:r>
          </a:p>
        </p:txBody>
      </p:sp>
      <p:sp>
        <p:nvSpPr>
          <p:cNvPr id="14" name="Line 15">
            <a:extLst>
              <a:ext uri="{FF2B5EF4-FFF2-40B4-BE49-F238E27FC236}">
                <a16:creationId xmlns:a16="http://schemas.microsoft.com/office/drawing/2014/main" id="{7A8AC26A-BC56-2D18-3966-0CB8C1D91412}"/>
              </a:ext>
            </a:extLst>
          </p:cNvPr>
          <p:cNvSpPr>
            <a:spLocks noChangeShapeType="1"/>
          </p:cNvSpPr>
          <p:nvPr/>
        </p:nvSpPr>
        <p:spPr bwMode="auto">
          <a:xfrm>
            <a:off x="2947591" y="1731374"/>
            <a:ext cx="1138989" cy="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5" name="Line 16">
            <a:extLst>
              <a:ext uri="{FF2B5EF4-FFF2-40B4-BE49-F238E27FC236}">
                <a16:creationId xmlns:a16="http://schemas.microsoft.com/office/drawing/2014/main" id="{58F4D84E-FDE6-5D15-13B2-1F85B0E2F619}"/>
              </a:ext>
            </a:extLst>
          </p:cNvPr>
          <p:cNvSpPr>
            <a:spLocks noChangeShapeType="1"/>
          </p:cNvSpPr>
          <p:nvPr/>
        </p:nvSpPr>
        <p:spPr bwMode="auto">
          <a:xfrm flipV="1">
            <a:off x="4466911" y="1323851"/>
            <a:ext cx="1280671" cy="341252"/>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6" name="Line 17">
            <a:extLst>
              <a:ext uri="{FF2B5EF4-FFF2-40B4-BE49-F238E27FC236}">
                <a16:creationId xmlns:a16="http://schemas.microsoft.com/office/drawing/2014/main" id="{94195E8D-AB25-380A-D34B-E13C33905AA6}"/>
              </a:ext>
            </a:extLst>
          </p:cNvPr>
          <p:cNvSpPr>
            <a:spLocks noChangeShapeType="1"/>
          </p:cNvSpPr>
          <p:nvPr/>
        </p:nvSpPr>
        <p:spPr bwMode="auto">
          <a:xfrm>
            <a:off x="4466911" y="1796918"/>
            <a:ext cx="1280671" cy="363404"/>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7" name="Line 18">
            <a:extLst>
              <a:ext uri="{FF2B5EF4-FFF2-40B4-BE49-F238E27FC236}">
                <a16:creationId xmlns:a16="http://schemas.microsoft.com/office/drawing/2014/main" id="{EE4D2E31-B40D-3C42-5CA1-882E6ED7F764}"/>
              </a:ext>
            </a:extLst>
          </p:cNvPr>
          <p:cNvSpPr>
            <a:spLocks noChangeShapeType="1"/>
          </p:cNvSpPr>
          <p:nvPr/>
        </p:nvSpPr>
        <p:spPr bwMode="auto">
          <a:xfrm>
            <a:off x="4466911" y="1731374"/>
            <a:ext cx="1297819" cy="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8" name="Text Box 19">
            <a:extLst>
              <a:ext uri="{FF2B5EF4-FFF2-40B4-BE49-F238E27FC236}">
                <a16:creationId xmlns:a16="http://schemas.microsoft.com/office/drawing/2014/main" id="{40C9C4D8-5DFB-16B3-926B-407FBBE4560B}"/>
              </a:ext>
            </a:extLst>
          </p:cNvPr>
          <p:cNvSpPr txBox="1">
            <a:spLocks noChangeArrowheads="1"/>
          </p:cNvSpPr>
          <p:nvPr/>
        </p:nvSpPr>
        <p:spPr bwMode="auto">
          <a:xfrm rot="5400000">
            <a:off x="5844981" y="1822402"/>
            <a:ext cx="266634" cy="257760"/>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dirty="0">
                <a:latin typeface="微软雅黑" pitchFamily="34" charset="-122"/>
                <a:ea typeface="微软雅黑" pitchFamily="34" charset="-122"/>
                <a:sym typeface="Symbol" pitchFamily="18" charset="2"/>
              </a:rPr>
              <a:t></a:t>
            </a:r>
          </a:p>
        </p:txBody>
      </p:sp>
      <p:sp>
        <p:nvSpPr>
          <p:cNvPr id="20" name="Text Box 21">
            <a:extLst>
              <a:ext uri="{FF2B5EF4-FFF2-40B4-BE49-F238E27FC236}">
                <a16:creationId xmlns:a16="http://schemas.microsoft.com/office/drawing/2014/main" id="{246EF203-F15C-C943-F2C2-9E01C5BE3EEC}"/>
              </a:ext>
            </a:extLst>
          </p:cNvPr>
          <p:cNvSpPr txBox="1">
            <a:spLocks noChangeArrowheads="1"/>
          </p:cNvSpPr>
          <p:nvPr/>
        </p:nvSpPr>
        <p:spPr bwMode="auto">
          <a:xfrm>
            <a:off x="5506442" y="1040586"/>
            <a:ext cx="990270"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1050" b="1" dirty="0">
                <a:latin typeface="微软雅黑" pitchFamily="34" charset="-122"/>
                <a:ea typeface="微软雅黑" pitchFamily="34" charset="-122"/>
              </a:rPr>
              <a:t>光网络单元</a:t>
            </a:r>
          </a:p>
        </p:txBody>
      </p:sp>
      <p:sp>
        <p:nvSpPr>
          <p:cNvPr id="21" name="Text Box 23">
            <a:extLst>
              <a:ext uri="{FF2B5EF4-FFF2-40B4-BE49-F238E27FC236}">
                <a16:creationId xmlns:a16="http://schemas.microsoft.com/office/drawing/2014/main" id="{5E2BD3D4-4F49-0C9E-3210-44AEB0DD367C}"/>
              </a:ext>
            </a:extLst>
          </p:cNvPr>
          <p:cNvSpPr txBox="1">
            <a:spLocks noChangeArrowheads="1"/>
          </p:cNvSpPr>
          <p:nvPr/>
        </p:nvSpPr>
        <p:spPr bwMode="auto">
          <a:xfrm>
            <a:off x="3162984" y="1515594"/>
            <a:ext cx="523874"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dirty="0">
                <a:ln w="12700">
                  <a:solidFill>
                    <a:sysClr val="windowText" lastClr="000000"/>
                  </a:solidFill>
                </a:ln>
                <a:solidFill>
                  <a:srgbClr val="00FFCC"/>
                </a:solidFill>
                <a:latin typeface="微软雅黑" pitchFamily="34" charset="-122"/>
                <a:ea typeface="微软雅黑" pitchFamily="34" charset="-122"/>
              </a:rPr>
              <a:t>★●</a:t>
            </a:r>
            <a:r>
              <a:rPr lang="en-US" altLang="zh-CN" sz="1200" b="1" dirty="0">
                <a:ln w="12700">
                  <a:solidFill>
                    <a:sysClr val="windowText" lastClr="000000"/>
                  </a:solidFill>
                </a:ln>
                <a:solidFill>
                  <a:srgbClr val="00FFCC"/>
                </a:solidFill>
                <a:latin typeface="微软雅黑" pitchFamily="34" charset="-122"/>
                <a:ea typeface="微软雅黑" pitchFamily="34" charset="-122"/>
                <a:sym typeface="Wingdings" pitchFamily="2" charset="2"/>
              </a:rPr>
              <a:t></a:t>
            </a:r>
          </a:p>
        </p:txBody>
      </p:sp>
      <p:sp>
        <p:nvSpPr>
          <p:cNvPr id="23" name="Text Box 25">
            <a:extLst>
              <a:ext uri="{FF2B5EF4-FFF2-40B4-BE49-F238E27FC236}">
                <a16:creationId xmlns:a16="http://schemas.microsoft.com/office/drawing/2014/main" id="{747FE752-AB1E-CF86-4767-32D942CD2CDA}"/>
              </a:ext>
            </a:extLst>
          </p:cNvPr>
          <p:cNvSpPr txBox="1">
            <a:spLocks noChangeArrowheads="1"/>
          </p:cNvSpPr>
          <p:nvPr/>
        </p:nvSpPr>
        <p:spPr bwMode="auto">
          <a:xfrm>
            <a:off x="6496712" y="1962796"/>
            <a:ext cx="265816"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dirty="0">
                <a:ln w="12700">
                  <a:solidFill>
                    <a:sysClr val="windowText" lastClr="000000"/>
                  </a:solidFill>
                </a:ln>
                <a:solidFill>
                  <a:srgbClr val="00FFCC"/>
                </a:solidFill>
                <a:latin typeface="微软雅黑" pitchFamily="34" charset="-122"/>
                <a:ea typeface="微软雅黑" pitchFamily="34" charset="-122"/>
              </a:rPr>
              <a:t>●</a:t>
            </a:r>
            <a:endParaRPr lang="en-US" altLang="zh-CN" sz="1200" b="1" dirty="0">
              <a:ln w="12700">
                <a:solidFill>
                  <a:sysClr val="windowText" lastClr="000000"/>
                </a:solidFill>
              </a:ln>
              <a:solidFill>
                <a:srgbClr val="00FFCC"/>
              </a:solidFill>
              <a:latin typeface="微软雅黑" pitchFamily="34" charset="-122"/>
              <a:ea typeface="微软雅黑" pitchFamily="34" charset="-122"/>
              <a:sym typeface="Wingdings" pitchFamily="2" charset="2"/>
            </a:endParaRPr>
          </a:p>
        </p:txBody>
      </p:sp>
      <p:sp>
        <p:nvSpPr>
          <p:cNvPr id="26" name="Text Box 28">
            <a:extLst>
              <a:ext uri="{FF2B5EF4-FFF2-40B4-BE49-F238E27FC236}">
                <a16:creationId xmlns:a16="http://schemas.microsoft.com/office/drawing/2014/main" id="{689D1430-6F62-7EFD-525C-DB550E76E020}"/>
              </a:ext>
            </a:extLst>
          </p:cNvPr>
          <p:cNvSpPr txBox="1">
            <a:spLocks noChangeArrowheads="1"/>
          </p:cNvSpPr>
          <p:nvPr/>
        </p:nvSpPr>
        <p:spPr bwMode="auto">
          <a:xfrm>
            <a:off x="6502306" y="1533120"/>
            <a:ext cx="313549"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a:ln w="12700">
                  <a:solidFill>
                    <a:sysClr val="windowText" lastClr="000000"/>
                  </a:solidFill>
                </a:ln>
                <a:solidFill>
                  <a:srgbClr val="00FFCC"/>
                </a:solidFill>
                <a:latin typeface="微软雅黑" pitchFamily="34" charset="-122"/>
                <a:ea typeface="微软雅黑" pitchFamily="34" charset="-122"/>
                <a:sym typeface="Wingdings" pitchFamily="2" charset="2"/>
              </a:rPr>
              <a:t></a:t>
            </a:r>
          </a:p>
        </p:txBody>
      </p:sp>
      <p:sp>
        <p:nvSpPr>
          <p:cNvPr id="27" name="Text Box 29">
            <a:extLst>
              <a:ext uri="{FF2B5EF4-FFF2-40B4-BE49-F238E27FC236}">
                <a16:creationId xmlns:a16="http://schemas.microsoft.com/office/drawing/2014/main" id="{12795A7B-62A2-B890-D28E-0EFF1E3C4E4F}"/>
              </a:ext>
            </a:extLst>
          </p:cNvPr>
          <p:cNvSpPr txBox="1">
            <a:spLocks noChangeArrowheads="1"/>
          </p:cNvSpPr>
          <p:nvPr/>
        </p:nvSpPr>
        <p:spPr bwMode="auto">
          <a:xfrm>
            <a:off x="6496712" y="1160249"/>
            <a:ext cx="288190"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a:ln w="12700">
                  <a:solidFill>
                    <a:sysClr val="windowText" lastClr="000000"/>
                  </a:solidFill>
                </a:ln>
                <a:solidFill>
                  <a:srgbClr val="00FFCC"/>
                </a:solidFill>
                <a:latin typeface="微软雅黑" pitchFamily="34" charset="-122"/>
                <a:ea typeface="微软雅黑" pitchFamily="34" charset="-122"/>
              </a:rPr>
              <a:t>★</a:t>
            </a:r>
            <a:endParaRPr lang="en-US" altLang="zh-CN" sz="1200" b="1">
              <a:ln w="12700">
                <a:solidFill>
                  <a:sysClr val="windowText" lastClr="000000"/>
                </a:solidFill>
              </a:ln>
              <a:solidFill>
                <a:srgbClr val="00FFCC"/>
              </a:solidFill>
              <a:latin typeface="微软雅黑" pitchFamily="34" charset="-122"/>
              <a:ea typeface="微软雅黑" pitchFamily="34" charset="-122"/>
              <a:sym typeface="Wingdings" pitchFamily="2" charset="2"/>
            </a:endParaRPr>
          </a:p>
        </p:txBody>
      </p:sp>
      <p:sp>
        <p:nvSpPr>
          <p:cNvPr id="28" name="Line 30">
            <a:extLst>
              <a:ext uri="{FF2B5EF4-FFF2-40B4-BE49-F238E27FC236}">
                <a16:creationId xmlns:a16="http://schemas.microsoft.com/office/drawing/2014/main" id="{FE467C2B-4CA6-4767-44EE-0946DD2E6AC8}"/>
              </a:ext>
            </a:extLst>
          </p:cNvPr>
          <p:cNvSpPr>
            <a:spLocks noChangeShapeType="1"/>
          </p:cNvSpPr>
          <p:nvPr/>
        </p:nvSpPr>
        <p:spPr bwMode="auto">
          <a:xfrm>
            <a:off x="3658024" y="1621949"/>
            <a:ext cx="168725"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0" name="Line 32">
            <a:extLst>
              <a:ext uri="{FF2B5EF4-FFF2-40B4-BE49-F238E27FC236}">
                <a16:creationId xmlns:a16="http://schemas.microsoft.com/office/drawing/2014/main" id="{8BD13918-ED99-3AED-E0A7-DA81A519D4CD}"/>
              </a:ext>
            </a:extLst>
          </p:cNvPr>
          <p:cNvSpPr>
            <a:spLocks noChangeShapeType="1"/>
          </p:cNvSpPr>
          <p:nvPr/>
        </p:nvSpPr>
        <p:spPr bwMode="auto">
          <a:xfrm>
            <a:off x="6750266" y="2094778"/>
            <a:ext cx="168726"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1" name="Line 33">
            <a:extLst>
              <a:ext uri="{FF2B5EF4-FFF2-40B4-BE49-F238E27FC236}">
                <a16:creationId xmlns:a16="http://schemas.microsoft.com/office/drawing/2014/main" id="{32A92341-5503-DC34-8894-B87A63718B41}"/>
              </a:ext>
            </a:extLst>
          </p:cNvPr>
          <p:cNvSpPr>
            <a:spLocks noChangeShapeType="1"/>
          </p:cNvSpPr>
          <p:nvPr/>
        </p:nvSpPr>
        <p:spPr bwMode="auto">
          <a:xfrm>
            <a:off x="6750266" y="1665102"/>
            <a:ext cx="168726"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grpSp>
        <p:nvGrpSpPr>
          <p:cNvPr id="89" name="组合 88">
            <a:extLst>
              <a:ext uri="{FF2B5EF4-FFF2-40B4-BE49-F238E27FC236}">
                <a16:creationId xmlns:a16="http://schemas.microsoft.com/office/drawing/2014/main" id="{C4A7680A-FB6B-1913-AAE8-935F8397B2FD}"/>
              </a:ext>
            </a:extLst>
          </p:cNvPr>
          <p:cNvGrpSpPr/>
          <p:nvPr/>
        </p:nvGrpSpPr>
        <p:grpSpPr>
          <a:xfrm>
            <a:off x="4798086" y="1291836"/>
            <a:ext cx="726165" cy="687205"/>
            <a:chOff x="4798086" y="1291836"/>
            <a:chExt cx="726165" cy="687205"/>
          </a:xfrm>
        </p:grpSpPr>
        <p:sp>
          <p:nvSpPr>
            <p:cNvPr id="22" name="Text Box 24">
              <a:extLst>
                <a:ext uri="{FF2B5EF4-FFF2-40B4-BE49-F238E27FC236}">
                  <a16:creationId xmlns:a16="http://schemas.microsoft.com/office/drawing/2014/main" id="{5708451C-5EB9-ED64-F139-38CFB809B366}"/>
                </a:ext>
              </a:extLst>
            </p:cNvPr>
            <p:cNvSpPr txBox="1">
              <a:spLocks noChangeArrowheads="1"/>
            </p:cNvSpPr>
            <p:nvPr/>
          </p:nvSpPr>
          <p:spPr bwMode="auto">
            <a:xfrm>
              <a:off x="4843756" y="1525071"/>
              <a:ext cx="523874"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dirty="0">
                  <a:ln w="12700">
                    <a:solidFill>
                      <a:sysClr val="windowText" lastClr="000000"/>
                    </a:solidFill>
                  </a:ln>
                  <a:solidFill>
                    <a:srgbClr val="00FFCC"/>
                  </a:solidFill>
                  <a:latin typeface="微软雅黑" pitchFamily="34" charset="-122"/>
                  <a:ea typeface="微软雅黑" pitchFamily="34" charset="-122"/>
                </a:rPr>
                <a:t>★●</a:t>
              </a:r>
              <a:r>
                <a:rPr lang="en-US" altLang="zh-CN" sz="1200" b="1" dirty="0">
                  <a:ln w="12700">
                    <a:solidFill>
                      <a:sysClr val="windowText" lastClr="000000"/>
                    </a:solidFill>
                  </a:ln>
                  <a:solidFill>
                    <a:srgbClr val="00FFCC"/>
                  </a:solidFill>
                  <a:latin typeface="微软雅黑" pitchFamily="34" charset="-122"/>
                  <a:ea typeface="微软雅黑" pitchFamily="34" charset="-122"/>
                  <a:sym typeface="Wingdings" pitchFamily="2" charset="2"/>
                </a:rPr>
                <a:t></a:t>
              </a:r>
            </a:p>
          </p:txBody>
        </p:sp>
        <p:sp>
          <p:nvSpPr>
            <p:cNvPr id="24" name="Text Box 26">
              <a:extLst>
                <a:ext uri="{FF2B5EF4-FFF2-40B4-BE49-F238E27FC236}">
                  <a16:creationId xmlns:a16="http://schemas.microsoft.com/office/drawing/2014/main" id="{72C6B32C-99D0-1E44-67DD-F7C6DDF897D4}"/>
                </a:ext>
              </a:extLst>
            </p:cNvPr>
            <p:cNvSpPr txBox="1">
              <a:spLocks noChangeArrowheads="1"/>
            </p:cNvSpPr>
            <p:nvPr/>
          </p:nvSpPr>
          <p:spPr bwMode="auto">
            <a:xfrm rot="1462546">
              <a:off x="4815504" y="1747251"/>
              <a:ext cx="523874"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dirty="0">
                  <a:ln w="12700">
                    <a:solidFill>
                      <a:sysClr val="windowText" lastClr="000000"/>
                    </a:solidFill>
                  </a:ln>
                  <a:solidFill>
                    <a:srgbClr val="00FFCC"/>
                  </a:solidFill>
                  <a:latin typeface="微软雅黑" pitchFamily="34" charset="-122"/>
                  <a:ea typeface="微软雅黑" pitchFamily="34" charset="-122"/>
                </a:rPr>
                <a:t>★●</a:t>
              </a:r>
              <a:r>
                <a:rPr lang="en-US" altLang="zh-CN" sz="1200" b="1" dirty="0">
                  <a:ln w="12700">
                    <a:solidFill>
                      <a:sysClr val="windowText" lastClr="000000"/>
                    </a:solidFill>
                  </a:ln>
                  <a:solidFill>
                    <a:srgbClr val="00FFCC"/>
                  </a:solidFill>
                  <a:latin typeface="微软雅黑" pitchFamily="34" charset="-122"/>
                  <a:ea typeface="微软雅黑" pitchFamily="34" charset="-122"/>
                  <a:sym typeface="Wingdings" pitchFamily="2" charset="2"/>
                </a:rPr>
                <a:t></a:t>
              </a:r>
            </a:p>
          </p:txBody>
        </p:sp>
        <p:sp>
          <p:nvSpPr>
            <p:cNvPr id="25" name="Text Box 27">
              <a:extLst>
                <a:ext uri="{FF2B5EF4-FFF2-40B4-BE49-F238E27FC236}">
                  <a16:creationId xmlns:a16="http://schemas.microsoft.com/office/drawing/2014/main" id="{C2CD37C4-1129-1714-3329-AC02FBEC1F4D}"/>
                </a:ext>
              </a:extLst>
            </p:cNvPr>
            <p:cNvSpPr txBox="1">
              <a:spLocks noChangeArrowheads="1"/>
            </p:cNvSpPr>
            <p:nvPr/>
          </p:nvSpPr>
          <p:spPr bwMode="auto">
            <a:xfrm rot="20338690">
              <a:off x="4798086" y="1291836"/>
              <a:ext cx="523874"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dirty="0">
                  <a:ln w="12700">
                    <a:solidFill>
                      <a:sysClr val="windowText" lastClr="000000"/>
                    </a:solidFill>
                  </a:ln>
                  <a:solidFill>
                    <a:srgbClr val="00FFCC"/>
                  </a:solidFill>
                  <a:latin typeface="微软雅黑" pitchFamily="34" charset="-122"/>
                  <a:ea typeface="微软雅黑" pitchFamily="34" charset="-122"/>
                </a:rPr>
                <a:t>★●</a:t>
              </a:r>
              <a:r>
                <a:rPr lang="en-US" altLang="zh-CN" sz="1200" b="1" dirty="0">
                  <a:ln w="12700">
                    <a:solidFill>
                      <a:sysClr val="windowText" lastClr="000000"/>
                    </a:solidFill>
                  </a:ln>
                  <a:solidFill>
                    <a:srgbClr val="00FFCC"/>
                  </a:solidFill>
                  <a:latin typeface="微软雅黑" pitchFamily="34" charset="-122"/>
                  <a:ea typeface="微软雅黑" pitchFamily="34" charset="-122"/>
                  <a:sym typeface="Wingdings" pitchFamily="2" charset="2"/>
                </a:rPr>
                <a:t></a:t>
              </a:r>
            </a:p>
          </p:txBody>
        </p:sp>
        <p:sp>
          <p:nvSpPr>
            <p:cNvPr id="29" name="Line 31">
              <a:extLst>
                <a:ext uri="{FF2B5EF4-FFF2-40B4-BE49-F238E27FC236}">
                  <a16:creationId xmlns:a16="http://schemas.microsoft.com/office/drawing/2014/main" id="{68B66350-DFCA-1BCD-F789-E216355E50C8}"/>
                </a:ext>
              </a:extLst>
            </p:cNvPr>
            <p:cNvSpPr>
              <a:spLocks noChangeShapeType="1"/>
            </p:cNvSpPr>
            <p:nvPr/>
          </p:nvSpPr>
          <p:spPr bwMode="auto">
            <a:xfrm rot="20348732">
              <a:off x="5312646" y="1335032"/>
              <a:ext cx="168725"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2" name="Line 34">
              <a:extLst>
                <a:ext uri="{FF2B5EF4-FFF2-40B4-BE49-F238E27FC236}">
                  <a16:creationId xmlns:a16="http://schemas.microsoft.com/office/drawing/2014/main" id="{B247C9D5-07A5-784D-B403-C04714114B72}"/>
                </a:ext>
              </a:extLst>
            </p:cNvPr>
            <p:cNvSpPr>
              <a:spLocks noChangeShapeType="1"/>
            </p:cNvSpPr>
            <p:nvPr/>
          </p:nvSpPr>
          <p:spPr bwMode="auto">
            <a:xfrm rot="1377025">
              <a:off x="5308623" y="1979041"/>
              <a:ext cx="168726"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3" name="Line 35">
              <a:extLst>
                <a:ext uri="{FF2B5EF4-FFF2-40B4-BE49-F238E27FC236}">
                  <a16:creationId xmlns:a16="http://schemas.microsoft.com/office/drawing/2014/main" id="{3D5525E7-A260-A842-4CF3-8D5BB1C98D23}"/>
                </a:ext>
              </a:extLst>
            </p:cNvPr>
            <p:cNvSpPr>
              <a:spLocks noChangeShapeType="1"/>
            </p:cNvSpPr>
            <p:nvPr/>
          </p:nvSpPr>
          <p:spPr bwMode="auto">
            <a:xfrm>
              <a:off x="5355526" y="1632164"/>
              <a:ext cx="168725"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grpSp>
      <p:sp>
        <p:nvSpPr>
          <p:cNvPr id="34" name="Line 36">
            <a:extLst>
              <a:ext uri="{FF2B5EF4-FFF2-40B4-BE49-F238E27FC236}">
                <a16:creationId xmlns:a16="http://schemas.microsoft.com/office/drawing/2014/main" id="{E6DF9FB6-44E7-EA2E-3135-C46CE5DB2426}"/>
              </a:ext>
            </a:extLst>
          </p:cNvPr>
          <p:cNvSpPr>
            <a:spLocks noChangeShapeType="1"/>
          </p:cNvSpPr>
          <p:nvPr/>
        </p:nvSpPr>
        <p:spPr bwMode="auto">
          <a:xfrm>
            <a:off x="6753063" y="1289318"/>
            <a:ext cx="168725"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5" name="AutoShape 68">
            <a:extLst>
              <a:ext uri="{FF2B5EF4-FFF2-40B4-BE49-F238E27FC236}">
                <a16:creationId xmlns:a16="http://schemas.microsoft.com/office/drawing/2014/main" id="{B7BF500B-E1C8-11BF-3EB4-073DEFC05338}"/>
              </a:ext>
            </a:extLst>
          </p:cNvPr>
          <p:cNvSpPr>
            <a:spLocks noChangeArrowheads="1"/>
          </p:cNvSpPr>
          <p:nvPr/>
        </p:nvSpPr>
        <p:spPr bwMode="auto">
          <a:xfrm>
            <a:off x="2050986" y="1182194"/>
            <a:ext cx="1416703" cy="193845"/>
          </a:xfrm>
          <a:prstGeom prst="wedgeRoundRectCallout">
            <a:avLst>
              <a:gd name="adj1" fmla="val 45684"/>
              <a:gd name="adj2" fmla="val 158215"/>
              <a:gd name="adj3" fmla="val 16667"/>
            </a:avLst>
          </a:prstGeom>
          <a:solidFill>
            <a:schemeClr val="bg1"/>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sz="1200" b="1">
              <a:solidFill>
                <a:srgbClr val="000099"/>
              </a:solidFill>
              <a:latin typeface="微软雅黑" pitchFamily="34" charset="-122"/>
              <a:ea typeface="微软雅黑" pitchFamily="34" charset="-122"/>
            </a:endParaRPr>
          </a:p>
        </p:txBody>
      </p:sp>
      <p:sp>
        <p:nvSpPr>
          <p:cNvPr id="36" name="Text Box 69">
            <a:extLst>
              <a:ext uri="{FF2B5EF4-FFF2-40B4-BE49-F238E27FC236}">
                <a16:creationId xmlns:a16="http://schemas.microsoft.com/office/drawing/2014/main" id="{33686D0F-B899-35DD-3C0C-7EB581834A75}"/>
              </a:ext>
            </a:extLst>
          </p:cNvPr>
          <p:cNvSpPr txBox="1">
            <a:spLocks noChangeArrowheads="1"/>
          </p:cNvSpPr>
          <p:nvPr/>
        </p:nvSpPr>
        <p:spPr bwMode="auto">
          <a:xfrm>
            <a:off x="2022468" y="1153534"/>
            <a:ext cx="1631468"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1050" b="1" dirty="0">
                <a:solidFill>
                  <a:srgbClr val="0000FF"/>
                </a:solidFill>
                <a:latin typeface="微软雅黑" pitchFamily="34" charset="-122"/>
                <a:ea typeface="微软雅黑" pitchFamily="34" charset="-122"/>
              </a:rPr>
              <a:t>发往特定 </a:t>
            </a:r>
            <a:r>
              <a:rPr lang="en-US" altLang="zh-CN" sz="1050" b="1" dirty="0">
                <a:solidFill>
                  <a:srgbClr val="0000FF"/>
                </a:solidFill>
                <a:latin typeface="微软雅黑" pitchFamily="34" charset="-122"/>
                <a:ea typeface="微软雅黑" pitchFamily="34" charset="-122"/>
              </a:rPr>
              <a:t>ONU </a:t>
            </a:r>
            <a:r>
              <a:rPr lang="zh-CN" altLang="en-US" sz="1050" b="1" dirty="0">
                <a:solidFill>
                  <a:srgbClr val="0000FF"/>
                </a:solidFill>
                <a:latin typeface="微软雅黑" pitchFamily="34" charset="-122"/>
                <a:ea typeface="微软雅黑" pitchFamily="34" charset="-122"/>
              </a:rPr>
              <a:t>的数据</a:t>
            </a:r>
          </a:p>
        </p:txBody>
      </p:sp>
      <p:sp>
        <p:nvSpPr>
          <p:cNvPr id="37" name="Text Box 72">
            <a:extLst>
              <a:ext uri="{FF2B5EF4-FFF2-40B4-BE49-F238E27FC236}">
                <a16:creationId xmlns:a16="http://schemas.microsoft.com/office/drawing/2014/main" id="{E583B3AE-B4F3-B9F0-32D1-ED0A5D78B250}"/>
              </a:ext>
            </a:extLst>
          </p:cNvPr>
          <p:cNvSpPr txBox="1">
            <a:spLocks noChangeArrowheads="1"/>
          </p:cNvSpPr>
          <p:nvPr/>
        </p:nvSpPr>
        <p:spPr bwMode="auto">
          <a:xfrm>
            <a:off x="4017306" y="1282331"/>
            <a:ext cx="511098" cy="261910"/>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1200" b="1" dirty="0">
                <a:latin typeface="微软雅黑" pitchFamily="34" charset="-122"/>
                <a:ea typeface="微软雅黑" pitchFamily="34" charset="-122"/>
              </a:rPr>
              <a:t>下行</a:t>
            </a:r>
          </a:p>
        </p:txBody>
      </p:sp>
      <p:sp>
        <p:nvSpPr>
          <p:cNvPr id="38" name="Line 74">
            <a:extLst>
              <a:ext uri="{FF2B5EF4-FFF2-40B4-BE49-F238E27FC236}">
                <a16:creationId xmlns:a16="http://schemas.microsoft.com/office/drawing/2014/main" id="{15A8D7C9-A9CD-AC16-D883-4707C8B5C34C}"/>
              </a:ext>
            </a:extLst>
          </p:cNvPr>
          <p:cNvSpPr>
            <a:spLocks noChangeShapeType="1"/>
          </p:cNvSpPr>
          <p:nvPr/>
        </p:nvSpPr>
        <p:spPr bwMode="auto">
          <a:xfrm>
            <a:off x="4083960" y="1533476"/>
            <a:ext cx="422280"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grpSp>
        <p:nvGrpSpPr>
          <p:cNvPr id="39" name="组合 38">
            <a:extLst>
              <a:ext uri="{FF2B5EF4-FFF2-40B4-BE49-F238E27FC236}">
                <a16:creationId xmlns:a16="http://schemas.microsoft.com/office/drawing/2014/main" id="{2C88E32A-DD36-62A5-8087-83E3AD36B477}"/>
              </a:ext>
            </a:extLst>
          </p:cNvPr>
          <p:cNvGrpSpPr/>
          <p:nvPr/>
        </p:nvGrpSpPr>
        <p:grpSpPr>
          <a:xfrm>
            <a:off x="2417038" y="3411582"/>
            <a:ext cx="3995341" cy="274931"/>
            <a:chOff x="1169459" y="5805264"/>
            <a:chExt cx="7371027" cy="599306"/>
          </a:xfrm>
        </p:grpSpPr>
        <p:sp>
          <p:nvSpPr>
            <p:cNvPr id="40" name="Text Box 76">
              <a:extLst>
                <a:ext uri="{FF2B5EF4-FFF2-40B4-BE49-F238E27FC236}">
                  <a16:creationId xmlns:a16="http://schemas.microsoft.com/office/drawing/2014/main" id="{E51E3BD1-93F5-3D62-9B87-FA4AF042EA54}"/>
                </a:ext>
              </a:extLst>
            </p:cNvPr>
            <p:cNvSpPr txBox="1">
              <a:spLocks noChangeArrowheads="1"/>
            </p:cNvSpPr>
            <p:nvPr/>
          </p:nvSpPr>
          <p:spPr bwMode="auto">
            <a:xfrm>
              <a:off x="1631722" y="5916327"/>
              <a:ext cx="845411" cy="475544"/>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200" b="1" dirty="0">
                  <a:latin typeface="微软雅黑" pitchFamily="34" charset="-122"/>
                  <a:ea typeface="微软雅黑" pitchFamily="34" charset="-122"/>
                </a:rPr>
                <a:t>局端</a:t>
              </a:r>
            </a:p>
          </p:txBody>
        </p:sp>
        <p:sp>
          <p:nvSpPr>
            <p:cNvPr id="41" name="AutoShape 77">
              <a:extLst>
                <a:ext uri="{FF2B5EF4-FFF2-40B4-BE49-F238E27FC236}">
                  <a16:creationId xmlns:a16="http://schemas.microsoft.com/office/drawing/2014/main" id="{2F378866-0EE1-808D-38B2-88A542FE3900}"/>
                </a:ext>
              </a:extLst>
            </p:cNvPr>
            <p:cNvSpPr>
              <a:spLocks/>
            </p:cNvSpPr>
            <p:nvPr/>
          </p:nvSpPr>
          <p:spPr bwMode="auto">
            <a:xfrm rot="-5400000">
              <a:off x="1975909" y="4998814"/>
              <a:ext cx="141287" cy="1754188"/>
            </a:xfrm>
            <a:prstGeom prst="leftBrace">
              <a:avLst>
                <a:gd name="adj1" fmla="val 95506"/>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42" name="AutoShape 78">
              <a:extLst>
                <a:ext uri="{FF2B5EF4-FFF2-40B4-BE49-F238E27FC236}">
                  <a16:creationId xmlns:a16="http://schemas.microsoft.com/office/drawing/2014/main" id="{58CF3295-852D-A13F-2608-E9DE90D15C9D}"/>
                </a:ext>
              </a:extLst>
            </p:cNvPr>
            <p:cNvSpPr>
              <a:spLocks/>
            </p:cNvSpPr>
            <p:nvPr/>
          </p:nvSpPr>
          <p:spPr bwMode="auto">
            <a:xfrm rot="-5400000">
              <a:off x="4743187" y="4025280"/>
              <a:ext cx="144462" cy="3704431"/>
            </a:xfrm>
            <a:prstGeom prst="leftBrace">
              <a:avLst>
                <a:gd name="adj1" fmla="val 197253"/>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43" name="AutoShape 79">
              <a:extLst>
                <a:ext uri="{FF2B5EF4-FFF2-40B4-BE49-F238E27FC236}">
                  <a16:creationId xmlns:a16="http://schemas.microsoft.com/office/drawing/2014/main" id="{6D52B1AC-EF51-CAD8-E26A-2DD83421D8D8}"/>
                </a:ext>
              </a:extLst>
            </p:cNvPr>
            <p:cNvSpPr>
              <a:spLocks/>
            </p:cNvSpPr>
            <p:nvPr/>
          </p:nvSpPr>
          <p:spPr bwMode="auto">
            <a:xfrm rot="-5400000">
              <a:off x="7592748" y="4998814"/>
              <a:ext cx="141287" cy="1754188"/>
            </a:xfrm>
            <a:prstGeom prst="leftBrace">
              <a:avLst>
                <a:gd name="adj1" fmla="val 95506"/>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44" name="Text Box 80">
              <a:extLst>
                <a:ext uri="{FF2B5EF4-FFF2-40B4-BE49-F238E27FC236}">
                  <a16:creationId xmlns:a16="http://schemas.microsoft.com/office/drawing/2014/main" id="{99BEEB51-6714-384B-FBDB-758FD1C94869}"/>
                </a:ext>
              </a:extLst>
            </p:cNvPr>
            <p:cNvSpPr txBox="1">
              <a:spLocks noChangeArrowheads="1"/>
            </p:cNvSpPr>
            <p:nvPr/>
          </p:nvSpPr>
          <p:spPr bwMode="auto">
            <a:xfrm>
              <a:off x="7092061" y="5916327"/>
              <a:ext cx="1109602" cy="475544"/>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200" b="1">
                  <a:latin typeface="微软雅黑" pitchFamily="34" charset="-122"/>
                  <a:ea typeface="微软雅黑" pitchFamily="34" charset="-122"/>
                </a:rPr>
                <a:t>用户端</a:t>
              </a:r>
            </a:p>
          </p:txBody>
        </p:sp>
        <p:sp>
          <p:nvSpPr>
            <p:cNvPr id="45" name="Text Box 81">
              <a:extLst>
                <a:ext uri="{FF2B5EF4-FFF2-40B4-BE49-F238E27FC236}">
                  <a16:creationId xmlns:a16="http://schemas.microsoft.com/office/drawing/2014/main" id="{E609F7E0-903E-6AC4-3FB8-CE293FBD5863}"/>
                </a:ext>
              </a:extLst>
            </p:cNvPr>
            <p:cNvSpPr txBox="1">
              <a:spLocks noChangeArrowheads="1"/>
            </p:cNvSpPr>
            <p:nvPr/>
          </p:nvSpPr>
          <p:spPr bwMode="auto">
            <a:xfrm>
              <a:off x="3970639" y="5929026"/>
              <a:ext cx="2306717" cy="475544"/>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200" b="1" dirty="0">
                  <a:latin typeface="微软雅黑" pitchFamily="34" charset="-122"/>
                  <a:ea typeface="微软雅黑" pitchFamily="34" charset="-122"/>
                </a:rPr>
                <a:t>光配线网 </a:t>
              </a:r>
              <a:r>
                <a:rPr lang="en-US" altLang="zh-CN" sz="1200" b="1" dirty="0">
                  <a:latin typeface="微软雅黑" pitchFamily="34" charset="-122"/>
                  <a:ea typeface="微软雅黑" pitchFamily="34" charset="-122"/>
                </a:rPr>
                <a:t>(ODN)</a:t>
              </a:r>
            </a:p>
          </p:txBody>
        </p:sp>
      </p:grpSp>
      <p:grpSp>
        <p:nvGrpSpPr>
          <p:cNvPr id="46" name="Group 37">
            <a:extLst>
              <a:ext uri="{FF2B5EF4-FFF2-40B4-BE49-F238E27FC236}">
                <a16:creationId xmlns:a16="http://schemas.microsoft.com/office/drawing/2014/main" id="{C2BCF4B5-94C2-70D0-1149-B48D69E15926}"/>
              </a:ext>
            </a:extLst>
          </p:cNvPr>
          <p:cNvGrpSpPr>
            <a:grpSpLocks/>
          </p:cNvGrpSpPr>
          <p:nvPr/>
        </p:nvGrpSpPr>
        <p:grpSpPr bwMode="auto">
          <a:xfrm>
            <a:off x="5849701" y="2485333"/>
            <a:ext cx="1152942" cy="803275"/>
            <a:chOff x="3844" y="1238"/>
            <a:chExt cx="1032" cy="1103"/>
          </a:xfrm>
        </p:grpSpPr>
        <p:sp>
          <p:nvSpPr>
            <p:cNvPr id="47" name="Line 38">
              <a:extLst>
                <a:ext uri="{FF2B5EF4-FFF2-40B4-BE49-F238E27FC236}">
                  <a16:creationId xmlns:a16="http://schemas.microsoft.com/office/drawing/2014/main" id="{7A62D5F1-BAF1-A4CC-6B72-8E2265CDCE09}"/>
                </a:ext>
              </a:extLst>
            </p:cNvPr>
            <p:cNvSpPr>
              <a:spLocks noChangeShapeType="1"/>
            </p:cNvSpPr>
            <p:nvPr/>
          </p:nvSpPr>
          <p:spPr bwMode="auto">
            <a:xfrm>
              <a:off x="3844" y="1752"/>
              <a:ext cx="1032" cy="0"/>
            </a:xfrm>
            <a:prstGeom prst="line">
              <a:avLst/>
            </a:prstGeom>
            <a:noFill/>
            <a:ln w="127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48" name="Line 39">
              <a:extLst>
                <a:ext uri="{FF2B5EF4-FFF2-40B4-BE49-F238E27FC236}">
                  <a16:creationId xmlns:a16="http://schemas.microsoft.com/office/drawing/2014/main" id="{17992572-E441-6D4E-609E-6A9F51C4765F}"/>
                </a:ext>
              </a:extLst>
            </p:cNvPr>
            <p:cNvSpPr>
              <a:spLocks noChangeShapeType="1"/>
            </p:cNvSpPr>
            <p:nvPr/>
          </p:nvSpPr>
          <p:spPr bwMode="auto">
            <a:xfrm>
              <a:off x="3923" y="2341"/>
              <a:ext cx="953" cy="0"/>
            </a:xfrm>
            <a:prstGeom prst="line">
              <a:avLst/>
            </a:prstGeom>
            <a:noFill/>
            <a:ln w="127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49" name="Line 40">
              <a:extLst>
                <a:ext uri="{FF2B5EF4-FFF2-40B4-BE49-F238E27FC236}">
                  <a16:creationId xmlns:a16="http://schemas.microsoft.com/office/drawing/2014/main" id="{9888642B-1E62-1CD0-16CE-9BFEA4B875A6}"/>
                </a:ext>
              </a:extLst>
            </p:cNvPr>
            <p:cNvSpPr>
              <a:spLocks noChangeShapeType="1"/>
            </p:cNvSpPr>
            <p:nvPr/>
          </p:nvSpPr>
          <p:spPr bwMode="auto">
            <a:xfrm>
              <a:off x="3923" y="1238"/>
              <a:ext cx="953" cy="0"/>
            </a:xfrm>
            <a:prstGeom prst="line">
              <a:avLst/>
            </a:prstGeom>
            <a:noFill/>
            <a:ln w="127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grpSp>
      <p:sp>
        <p:nvSpPr>
          <p:cNvPr id="10" name="Text Box 8">
            <a:extLst>
              <a:ext uri="{FF2B5EF4-FFF2-40B4-BE49-F238E27FC236}">
                <a16:creationId xmlns:a16="http://schemas.microsoft.com/office/drawing/2014/main" id="{8EDBA708-A000-9D7D-E0CC-85889A39329A}"/>
              </a:ext>
            </a:extLst>
          </p:cNvPr>
          <p:cNvSpPr txBox="1">
            <a:spLocks noChangeArrowheads="1"/>
          </p:cNvSpPr>
          <p:nvPr/>
        </p:nvSpPr>
        <p:spPr bwMode="auto">
          <a:xfrm>
            <a:off x="2554811" y="1437913"/>
            <a:ext cx="434373" cy="206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050" b="1" dirty="0">
                <a:latin typeface="微软雅黑" pitchFamily="34" charset="-122"/>
                <a:ea typeface="微软雅黑" pitchFamily="34" charset="-122"/>
              </a:rPr>
              <a:t>头端</a:t>
            </a:r>
          </a:p>
        </p:txBody>
      </p:sp>
      <p:sp>
        <p:nvSpPr>
          <p:cNvPr id="51" name="Rectangle 42">
            <a:extLst>
              <a:ext uri="{FF2B5EF4-FFF2-40B4-BE49-F238E27FC236}">
                <a16:creationId xmlns:a16="http://schemas.microsoft.com/office/drawing/2014/main" id="{E2555226-F92F-CFBE-E876-D4CCC76FA5D3}"/>
              </a:ext>
            </a:extLst>
          </p:cNvPr>
          <p:cNvSpPr>
            <a:spLocks noChangeArrowheads="1"/>
          </p:cNvSpPr>
          <p:nvPr/>
        </p:nvSpPr>
        <p:spPr bwMode="auto">
          <a:xfrm>
            <a:off x="4103499" y="2760616"/>
            <a:ext cx="380331" cy="198088"/>
          </a:xfrm>
          <a:prstGeom prst="rect">
            <a:avLst/>
          </a:prstGeom>
          <a:solidFill>
            <a:srgbClr val="00FFCC"/>
          </a:solidFill>
          <a:ln w="19050">
            <a:solidFill>
              <a:schemeClr val="tx1"/>
            </a:solidFill>
            <a:miter lim="800000"/>
            <a:headEnd/>
            <a:tailEnd/>
          </a:ln>
          <a:effectLst/>
        </p:spPr>
        <p:txBody>
          <a:bodyPr wrap="none" anchor="ctr"/>
          <a:lstStyle/>
          <a:p>
            <a:pPr algn="ctr"/>
            <a:r>
              <a:rPr lang="en-US" altLang="zh-CN" sz="1200" b="1" dirty="0">
                <a:latin typeface="微软雅黑" pitchFamily="34" charset="-122"/>
                <a:ea typeface="微软雅黑" pitchFamily="34" charset="-122"/>
              </a:rPr>
              <a:t>1:N</a:t>
            </a:r>
          </a:p>
        </p:txBody>
      </p:sp>
      <p:sp>
        <p:nvSpPr>
          <p:cNvPr id="52" name="Line 45">
            <a:extLst>
              <a:ext uri="{FF2B5EF4-FFF2-40B4-BE49-F238E27FC236}">
                <a16:creationId xmlns:a16="http://schemas.microsoft.com/office/drawing/2014/main" id="{0E47BCDB-E4B5-608F-5D87-37908C67F88E}"/>
              </a:ext>
            </a:extLst>
          </p:cNvPr>
          <p:cNvSpPr>
            <a:spLocks noChangeShapeType="1"/>
          </p:cNvSpPr>
          <p:nvPr/>
        </p:nvSpPr>
        <p:spPr bwMode="auto">
          <a:xfrm>
            <a:off x="1491642" y="2859660"/>
            <a:ext cx="1455948" cy="0"/>
          </a:xfrm>
          <a:prstGeom prst="line">
            <a:avLst/>
          </a:prstGeom>
          <a:noFill/>
          <a:ln w="381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53" name="Text Box 47">
            <a:extLst>
              <a:ext uri="{FF2B5EF4-FFF2-40B4-BE49-F238E27FC236}">
                <a16:creationId xmlns:a16="http://schemas.microsoft.com/office/drawing/2014/main" id="{71297B9D-08C3-ACD8-FEBF-D5B7416F2FD3}"/>
              </a:ext>
            </a:extLst>
          </p:cNvPr>
          <p:cNvSpPr txBox="1">
            <a:spLocks noChangeArrowheads="1"/>
          </p:cNvSpPr>
          <p:nvPr/>
        </p:nvSpPr>
        <p:spPr bwMode="auto">
          <a:xfrm>
            <a:off x="1491642" y="2635395"/>
            <a:ext cx="696907" cy="206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050" b="1" dirty="0">
                <a:latin typeface="微软雅黑" pitchFamily="34" charset="-122"/>
                <a:ea typeface="微软雅黑" pitchFamily="34" charset="-122"/>
              </a:rPr>
              <a:t>光纤干线</a:t>
            </a:r>
          </a:p>
        </p:txBody>
      </p:sp>
      <p:sp>
        <p:nvSpPr>
          <p:cNvPr id="54" name="Line 48">
            <a:extLst>
              <a:ext uri="{FF2B5EF4-FFF2-40B4-BE49-F238E27FC236}">
                <a16:creationId xmlns:a16="http://schemas.microsoft.com/office/drawing/2014/main" id="{2A2B3ABC-FCA4-43E8-731E-F5CBAA853398}"/>
              </a:ext>
            </a:extLst>
          </p:cNvPr>
          <p:cNvSpPr>
            <a:spLocks noChangeShapeType="1"/>
          </p:cNvSpPr>
          <p:nvPr/>
        </p:nvSpPr>
        <p:spPr bwMode="auto">
          <a:xfrm>
            <a:off x="2947591" y="2859660"/>
            <a:ext cx="1155909" cy="0"/>
          </a:xfrm>
          <a:prstGeom prst="line">
            <a:avLst/>
          </a:prstGeom>
          <a:noFill/>
          <a:ln w="381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55" name="Line 49">
            <a:extLst>
              <a:ext uri="{FF2B5EF4-FFF2-40B4-BE49-F238E27FC236}">
                <a16:creationId xmlns:a16="http://schemas.microsoft.com/office/drawing/2014/main" id="{532D4DD3-0683-A469-5C91-B1ACF2BA0777}"/>
              </a:ext>
            </a:extLst>
          </p:cNvPr>
          <p:cNvSpPr>
            <a:spLocks noChangeShapeType="1"/>
          </p:cNvSpPr>
          <p:nvPr/>
        </p:nvSpPr>
        <p:spPr bwMode="auto">
          <a:xfrm flipV="1">
            <a:off x="4483830" y="2447336"/>
            <a:ext cx="1263751" cy="346053"/>
          </a:xfrm>
          <a:prstGeom prst="line">
            <a:avLst/>
          </a:prstGeom>
          <a:noFill/>
          <a:ln w="1905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56" name="Line 50">
            <a:extLst>
              <a:ext uri="{FF2B5EF4-FFF2-40B4-BE49-F238E27FC236}">
                <a16:creationId xmlns:a16="http://schemas.microsoft.com/office/drawing/2014/main" id="{E774116E-6F43-6458-8C92-F795AD0D996D}"/>
              </a:ext>
            </a:extLst>
          </p:cNvPr>
          <p:cNvSpPr>
            <a:spLocks noChangeShapeType="1"/>
          </p:cNvSpPr>
          <p:nvPr/>
        </p:nvSpPr>
        <p:spPr bwMode="auto">
          <a:xfrm>
            <a:off x="4483830" y="2925204"/>
            <a:ext cx="1263751" cy="363404"/>
          </a:xfrm>
          <a:prstGeom prst="line">
            <a:avLst/>
          </a:prstGeom>
          <a:noFill/>
          <a:ln w="1905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57" name="Line 51">
            <a:extLst>
              <a:ext uri="{FF2B5EF4-FFF2-40B4-BE49-F238E27FC236}">
                <a16:creationId xmlns:a16="http://schemas.microsoft.com/office/drawing/2014/main" id="{5B1A1CCE-B13B-8E25-6FFA-7B1A74262C44}"/>
              </a:ext>
            </a:extLst>
          </p:cNvPr>
          <p:cNvSpPr>
            <a:spLocks noChangeShapeType="1"/>
          </p:cNvSpPr>
          <p:nvPr/>
        </p:nvSpPr>
        <p:spPr bwMode="auto">
          <a:xfrm>
            <a:off x="4483830" y="2859660"/>
            <a:ext cx="1263751" cy="0"/>
          </a:xfrm>
          <a:prstGeom prst="line">
            <a:avLst/>
          </a:prstGeom>
          <a:noFill/>
          <a:ln w="1905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58" name="Text Box 52">
            <a:extLst>
              <a:ext uri="{FF2B5EF4-FFF2-40B4-BE49-F238E27FC236}">
                <a16:creationId xmlns:a16="http://schemas.microsoft.com/office/drawing/2014/main" id="{7E5042A7-DD1B-9F03-9854-C94C67FA68DF}"/>
              </a:ext>
            </a:extLst>
          </p:cNvPr>
          <p:cNvSpPr txBox="1">
            <a:spLocks noChangeArrowheads="1"/>
          </p:cNvSpPr>
          <p:nvPr/>
        </p:nvSpPr>
        <p:spPr bwMode="auto">
          <a:xfrm rot="5400000">
            <a:off x="5861901" y="2966009"/>
            <a:ext cx="266634" cy="257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dirty="0">
                <a:latin typeface="微软雅黑" pitchFamily="34" charset="-122"/>
                <a:ea typeface="微软雅黑" pitchFamily="34" charset="-122"/>
                <a:sym typeface="Symbol" pitchFamily="18" charset="2"/>
              </a:rPr>
              <a:t></a:t>
            </a:r>
          </a:p>
        </p:txBody>
      </p:sp>
      <p:sp>
        <p:nvSpPr>
          <p:cNvPr id="59" name="Text Box 54">
            <a:extLst>
              <a:ext uri="{FF2B5EF4-FFF2-40B4-BE49-F238E27FC236}">
                <a16:creationId xmlns:a16="http://schemas.microsoft.com/office/drawing/2014/main" id="{E636CE11-9AA9-9AFF-5C3D-4AA8AB0432DF}"/>
              </a:ext>
            </a:extLst>
          </p:cNvPr>
          <p:cNvSpPr txBox="1">
            <a:spLocks noChangeArrowheads="1"/>
          </p:cNvSpPr>
          <p:nvPr/>
        </p:nvSpPr>
        <p:spPr bwMode="auto">
          <a:xfrm>
            <a:off x="3377576" y="2647007"/>
            <a:ext cx="523874"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dirty="0">
                <a:ln w="12700">
                  <a:solidFill>
                    <a:sysClr val="windowText" lastClr="000000"/>
                  </a:solidFill>
                </a:ln>
                <a:solidFill>
                  <a:srgbClr val="00FFCC"/>
                </a:solidFill>
                <a:latin typeface="微软雅黑" pitchFamily="34" charset="-122"/>
                <a:ea typeface="微软雅黑" pitchFamily="34" charset="-122"/>
              </a:rPr>
              <a:t>★</a:t>
            </a:r>
            <a:r>
              <a:rPr lang="en-US" altLang="zh-CN" sz="1200" b="1" dirty="0">
                <a:ln w="12700">
                  <a:solidFill>
                    <a:sysClr val="windowText" lastClr="000000"/>
                  </a:solidFill>
                </a:ln>
                <a:solidFill>
                  <a:srgbClr val="00FFCC"/>
                </a:solidFill>
                <a:latin typeface="微软雅黑" pitchFamily="34" charset="-122"/>
                <a:ea typeface="微软雅黑" pitchFamily="34" charset="-122"/>
                <a:sym typeface="Wingdings" pitchFamily="2" charset="2"/>
              </a:rPr>
              <a:t>●</a:t>
            </a:r>
          </a:p>
        </p:txBody>
      </p:sp>
      <p:sp>
        <p:nvSpPr>
          <p:cNvPr id="60" name="Text Box 55">
            <a:extLst>
              <a:ext uri="{FF2B5EF4-FFF2-40B4-BE49-F238E27FC236}">
                <a16:creationId xmlns:a16="http://schemas.microsoft.com/office/drawing/2014/main" id="{99AF3809-E332-FA6F-6051-84540665262F}"/>
              </a:ext>
            </a:extLst>
          </p:cNvPr>
          <p:cNvSpPr txBox="1">
            <a:spLocks noChangeArrowheads="1"/>
          </p:cNvSpPr>
          <p:nvPr/>
        </p:nvSpPr>
        <p:spPr bwMode="auto">
          <a:xfrm>
            <a:off x="5137683" y="2664718"/>
            <a:ext cx="313549"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dirty="0">
                <a:ln w="12700">
                  <a:solidFill>
                    <a:sysClr val="windowText" lastClr="000000"/>
                  </a:solidFill>
                </a:ln>
                <a:solidFill>
                  <a:srgbClr val="00FFCC"/>
                </a:solidFill>
                <a:latin typeface="微软雅黑" pitchFamily="34" charset="-122"/>
                <a:ea typeface="微软雅黑" pitchFamily="34" charset="-122"/>
                <a:sym typeface="Wingdings" pitchFamily="2" charset="2"/>
              </a:rPr>
              <a:t></a:t>
            </a:r>
          </a:p>
        </p:txBody>
      </p:sp>
      <p:sp>
        <p:nvSpPr>
          <p:cNvPr id="61" name="Text Box 56">
            <a:extLst>
              <a:ext uri="{FF2B5EF4-FFF2-40B4-BE49-F238E27FC236}">
                <a16:creationId xmlns:a16="http://schemas.microsoft.com/office/drawing/2014/main" id="{8661850C-F0A1-F162-B687-B4FAA738A2B6}"/>
              </a:ext>
            </a:extLst>
          </p:cNvPr>
          <p:cNvSpPr txBox="1">
            <a:spLocks noChangeArrowheads="1"/>
          </p:cNvSpPr>
          <p:nvPr/>
        </p:nvSpPr>
        <p:spPr bwMode="auto">
          <a:xfrm>
            <a:off x="6712185" y="3091081"/>
            <a:ext cx="265816"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a:ln w="12700">
                  <a:solidFill>
                    <a:sysClr val="windowText" lastClr="000000"/>
                  </a:solidFill>
                </a:ln>
                <a:solidFill>
                  <a:srgbClr val="00FFCC"/>
                </a:solidFill>
                <a:latin typeface="微软雅黑" pitchFamily="34" charset="-122"/>
                <a:ea typeface="微软雅黑" pitchFamily="34" charset="-122"/>
              </a:rPr>
              <a:t>●</a:t>
            </a:r>
            <a:endParaRPr lang="en-US" altLang="zh-CN" sz="1200" b="1">
              <a:ln w="12700">
                <a:solidFill>
                  <a:sysClr val="windowText" lastClr="000000"/>
                </a:solidFill>
              </a:ln>
              <a:solidFill>
                <a:srgbClr val="00FFCC"/>
              </a:solidFill>
              <a:latin typeface="微软雅黑" pitchFamily="34" charset="-122"/>
              <a:ea typeface="微软雅黑" pitchFamily="34" charset="-122"/>
              <a:sym typeface="Wingdings" pitchFamily="2" charset="2"/>
            </a:endParaRPr>
          </a:p>
        </p:txBody>
      </p:sp>
      <p:sp>
        <p:nvSpPr>
          <p:cNvPr id="62" name="Text Box 57">
            <a:extLst>
              <a:ext uri="{FF2B5EF4-FFF2-40B4-BE49-F238E27FC236}">
                <a16:creationId xmlns:a16="http://schemas.microsoft.com/office/drawing/2014/main" id="{FDAE6D32-963E-7F59-FFBE-839D05DA0255}"/>
              </a:ext>
            </a:extLst>
          </p:cNvPr>
          <p:cNvSpPr txBox="1">
            <a:spLocks noChangeArrowheads="1"/>
          </p:cNvSpPr>
          <p:nvPr/>
        </p:nvSpPr>
        <p:spPr bwMode="auto">
          <a:xfrm rot="1462546">
            <a:off x="5160302" y="2952957"/>
            <a:ext cx="265816"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a:ln w="12700">
                  <a:solidFill>
                    <a:sysClr val="windowText" lastClr="000000"/>
                  </a:solidFill>
                </a:ln>
                <a:solidFill>
                  <a:srgbClr val="00FFCC"/>
                </a:solidFill>
                <a:latin typeface="微软雅黑" pitchFamily="34" charset="-122"/>
                <a:ea typeface="微软雅黑" pitchFamily="34" charset="-122"/>
              </a:rPr>
              <a:t>●</a:t>
            </a:r>
            <a:endParaRPr lang="en-US" altLang="zh-CN" sz="1200" b="1">
              <a:ln w="12700">
                <a:solidFill>
                  <a:sysClr val="windowText" lastClr="000000"/>
                </a:solidFill>
              </a:ln>
              <a:solidFill>
                <a:srgbClr val="00FFCC"/>
              </a:solidFill>
              <a:latin typeface="微软雅黑" pitchFamily="34" charset="-122"/>
              <a:ea typeface="微软雅黑" pitchFamily="34" charset="-122"/>
              <a:sym typeface="Wingdings" pitchFamily="2" charset="2"/>
            </a:endParaRPr>
          </a:p>
        </p:txBody>
      </p:sp>
      <p:sp>
        <p:nvSpPr>
          <p:cNvPr id="63" name="Text Box 58">
            <a:extLst>
              <a:ext uri="{FF2B5EF4-FFF2-40B4-BE49-F238E27FC236}">
                <a16:creationId xmlns:a16="http://schemas.microsoft.com/office/drawing/2014/main" id="{057F6DA6-8040-6C04-471D-18A9B14C1CD5}"/>
              </a:ext>
            </a:extLst>
          </p:cNvPr>
          <p:cNvSpPr txBox="1">
            <a:spLocks noChangeArrowheads="1"/>
          </p:cNvSpPr>
          <p:nvPr/>
        </p:nvSpPr>
        <p:spPr bwMode="auto">
          <a:xfrm rot="20338690">
            <a:off x="5137928" y="2368841"/>
            <a:ext cx="288190"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dirty="0">
                <a:ln w="12700">
                  <a:solidFill>
                    <a:sysClr val="windowText" lastClr="000000"/>
                  </a:solidFill>
                </a:ln>
                <a:solidFill>
                  <a:srgbClr val="00FFCC"/>
                </a:solidFill>
                <a:latin typeface="微软雅黑" pitchFamily="34" charset="-122"/>
                <a:ea typeface="微软雅黑" pitchFamily="34" charset="-122"/>
              </a:rPr>
              <a:t>★</a:t>
            </a:r>
            <a:endParaRPr lang="en-US" altLang="zh-CN" sz="1200" b="1" dirty="0">
              <a:ln w="12700">
                <a:solidFill>
                  <a:sysClr val="windowText" lastClr="000000"/>
                </a:solidFill>
              </a:ln>
              <a:solidFill>
                <a:srgbClr val="00FFCC"/>
              </a:solidFill>
              <a:latin typeface="微软雅黑" pitchFamily="34" charset="-122"/>
              <a:ea typeface="微软雅黑" pitchFamily="34" charset="-122"/>
              <a:sym typeface="Wingdings" pitchFamily="2" charset="2"/>
            </a:endParaRPr>
          </a:p>
        </p:txBody>
      </p:sp>
      <p:sp>
        <p:nvSpPr>
          <p:cNvPr id="64" name="Text Box 59">
            <a:extLst>
              <a:ext uri="{FF2B5EF4-FFF2-40B4-BE49-F238E27FC236}">
                <a16:creationId xmlns:a16="http://schemas.microsoft.com/office/drawing/2014/main" id="{FC8BB806-88E7-AA1C-A6DD-2D8B77D9C370}"/>
              </a:ext>
            </a:extLst>
          </p:cNvPr>
          <p:cNvSpPr txBox="1">
            <a:spLocks noChangeArrowheads="1"/>
          </p:cNvSpPr>
          <p:nvPr/>
        </p:nvSpPr>
        <p:spPr bwMode="auto">
          <a:xfrm>
            <a:off x="6717778" y="2661406"/>
            <a:ext cx="313549"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a:ln w="12700">
                  <a:solidFill>
                    <a:sysClr val="windowText" lastClr="000000"/>
                  </a:solidFill>
                </a:ln>
                <a:solidFill>
                  <a:srgbClr val="00FFCC"/>
                </a:solidFill>
                <a:latin typeface="微软雅黑" pitchFamily="34" charset="-122"/>
                <a:ea typeface="微软雅黑" pitchFamily="34" charset="-122"/>
                <a:sym typeface="Wingdings" pitchFamily="2" charset="2"/>
              </a:rPr>
              <a:t></a:t>
            </a:r>
          </a:p>
        </p:txBody>
      </p:sp>
      <p:sp>
        <p:nvSpPr>
          <p:cNvPr id="65" name="Text Box 60">
            <a:extLst>
              <a:ext uri="{FF2B5EF4-FFF2-40B4-BE49-F238E27FC236}">
                <a16:creationId xmlns:a16="http://schemas.microsoft.com/office/drawing/2014/main" id="{DCB612F7-4260-64CF-9534-9A4C05A42B78}"/>
              </a:ext>
            </a:extLst>
          </p:cNvPr>
          <p:cNvSpPr txBox="1">
            <a:spLocks noChangeArrowheads="1"/>
          </p:cNvSpPr>
          <p:nvPr/>
        </p:nvSpPr>
        <p:spPr bwMode="auto">
          <a:xfrm>
            <a:off x="6712185" y="2288535"/>
            <a:ext cx="288190"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dirty="0">
                <a:ln w="12700">
                  <a:solidFill>
                    <a:sysClr val="windowText" lastClr="000000"/>
                  </a:solidFill>
                </a:ln>
                <a:solidFill>
                  <a:srgbClr val="00FFCC"/>
                </a:solidFill>
                <a:latin typeface="微软雅黑" pitchFamily="34" charset="-122"/>
                <a:ea typeface="微软雅黑" pitchFamily="34" charset="-122"/>
              </a:rPr>
              <a:t>★</a:t>
            </a:r>
            <a:endParaRPr lang="en-US" altLang="zh-CN" sz="1200" b="1" dirty="0">
              <a:ln w="12700">
                <a:solidFill>
                  <a:sysClr val="windowText" lastClr="000000"/>
                </a:solidFill>
              </a:ln>
              <a:solidFill>
                <a:srgbClr val="00FFCC"/>
              </a:solidFill>
              <a:latin typeface="微软雅黑" pitchFamily="34" charset="-122"/>
              <a:ea typeface="微软雅黑" pitchFamily="34" charset="-122"/>
              <a:sym typeface="Wingdings" pitchFamily="2" charset="2"/>
            </a:endParaRPr>
          </a:p>
        </p:txBody>
      </p:sp>
      <p:sp>
        <p:nvSpPr>
          <p:cNvPr id="66" name="Line 61">
            <a:extLst>
              <a:ext uri="{FF2B5EF4-FFF2-40B4-BE49-F238E27FC236}">
                <a16:creationId xmlns:a16="http://schemas.microsoft.com/office/drawing/2014/main" id="{FCE1BD3C-8A94-003A-B923-33440CC84BA5}"/>
              </a:ext>
            </a:extLst>
          </p:cNvPr>
          <p:cNvSpPr>
            <a:spLocks noChangeShapeType="1"/>
          </p:cNvSpPr>
          <p:nvPr/>
        </p:nvSpPr>
        <p:spPr bwMode="auto">
          <a:xfrm flipH="1">
            <a:off x="3209781" y="2753362"/>
            <a:ext cx="168726"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67" name="Line 62">
            <a:extLst>
              <a:ext uri="{FF2B5EF4-FFF2-40B4-BE49-F238E27FC236}">
                <a16:creationId xmlns:a16="http://schemas.microsoft.com/office/drawing/2014/main" id="{85BFEDD4-6F6F-1E06-7F79-40AAB63F4C3F}"/>
              </a:ext>
            </a:extLst>
          </p:cNvPr>
          <p:cNvSpPr>
            <a:spLocks noChangeShapeType="1"/>
          </p:cNvSpPr>
          <p:nvPr/>
        </p:nvSpPr>
        <p:spPr bwMode="auto">
          <a:xfrm rot="9548732">
            <a:off x="4991182" y="2569334"/>
            <a:ext cx="168726"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68" name="Line 63">
            <a:extLst>
              <a:ext uri="{FF2B5EF4-FFF2-40B4-BE49-F238E27FC236}">
                <a16:creationId xmlns:a16="http://schemas.microsoft.com/office/drawing/2014/main" id="{30A4FA91-6A9F-C46C-C148-CF11E4D57D75}"/>
              </a:ext>
            </a:extLst>
          </p:cNvPr>
          <p:cNvSpPr>
            <a:spLocks noChangeShapeType="1"/>
          </p:cNvSpPr>
          <p:nvPr/>
        </p:nvSpPr>
        <p:spPr bwMode="auto">
          <a:xfrm flipH="1">
            <a:off x="6543460" y="3223063"/>
            <a:ext cx="168725"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69" name="Line 64">
            <a:extLst>
              <a:ext uri="{FF2B5EF4-FFF2-40B4-BE49-F238E27FC236}">
                <a16:creationId xmlns:a16="http://schemas.microsoft.com/office/drawing/2014/main" id="{09465C3A-C1C8-6B71-9368-0770B208792B}"/>
              </a:ext>
            </a:extLst>
          </p:cNvPr>
          <p:cNvSpPr>
            <a:spLocks noChangeShapeType="1"/>
          </p:cNvSpPr>
          <p:nvPr/>
        </p:nvSpPr>
        <p:spPr bwMode="auto">
          <a:xfrm flipH="1">
            <a:off x="6543460" y="2793388"/>
            <a:ext cx="168725"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70" name="Line 65">
            <a:extLst>
              <a:ext uri="{FF2B5EF4-FFF2-40B4-BE49-F238E27FC236}">
                <a16:creationId xmlns:a16="http://schemas.microsoft.com/office/drawing/2014/main" id="{D0E205C1-02CD-2318-897F-B6211964AAF7}"/>
              </a:ext>
            </a:extLst>
          </p:cNvPr>
          <p:cNvSpPr>
            <a:spLocks noChangeShapeType="1"/>
          </p:cNvSpPr>
          <p:nvPr/>
        </p:nvSpPr>
        <p:spPr bwMode="auto">
          <a:xfrm rot="1366384" flipH="1">
            <a:off x="4968319" y="3008563"/>
            <a:ext cx="168725"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71" name="Line 66">
            <a:extLst>
              <a:ext uri="{FF2B5EF4-FFF2-40B4-BE49-F238E27FC236}">
                <a16:creationId xmlns:a16="http://schemas.microsoft.com/office/drawing/2014/main" id="{F7C1E8DD-169C-8BF6-1C96-D7948F1A7918}"/>
              </a:ext>
            </a:extLst>
          </p:cNvPr>
          <p:cNvSpPr>
            <a:spLocks noChangeShapeType="1"/>
          </p:cNvSpPr>
          <p:nvPr/>
        </p:nvSpPr>
        <p:spPr bwMode="auto">
          <a:xfrm flipH="1">
            <a:off x="4992114" y="2776918"/>
            <a:ext cx="168725"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72" name="Line 67">
            <a:extLst>
              <a:ext uri="{FF2B5EF4-FFF2-40B4-BE49-F238E27FC236}">
                <a16:creationId xmlns:a16="http://schemas.microsoft.com/office/drawing/2014/main" id="{C9FCF346-3803-1712-E21A-A0C21BEE2AC6}"/>
              </a:ext>
            </a:extLst>
          </p:cNvPr>
          <p:cNvSpPr>
            <a:spLocks noChangeShapeType="1"/>
          </p:cNvSpPr>
          <p:nvPr/>
        </p:nvSpPr>
        <p:spPr bwMode="auto">
          <a:xfrm flipH="1">
            <a:off x="6546256" y="2417603"/>
            <a:ext cx="168726"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73" name="AutoShape 70">
            <a:extLst>
              <a:ext uri="{FF2B5EF4-FFF2-40B4-BE49-F238E27FC236}">
                <a16:creationId xmlns:a16="http://schemas.microsoft.com/office/drawing/2014/main" id="{6BB0984C-9763-CA3F-328B-C4149F15AC82}"/>
              </a:ext>
            </a:extLst>
          </p:cNvPr>
          <p:cNvSpPr>
            <a:spLocks noChangeArrowheads="1"/>
          </p:cNvSpPr>
          <p:nvPr/>
        </p:nvSpPr>
        <p:spPr bwMode="auto">
          <a:xfrm>
            <a:off x="2167156" y="2298081"/>
            <a:ext cx="1421951" cy="198895"/>
          </a:xfrm>
          <a:prstGeom prst="wedgeRoundRectCallout">
            <a:avLst>
              <a:gd name="adj1" fmla="val 49806"/>
              <a:gd name="adj2" fmla="val 149652"/>
              <a:gd name="adj3" fmla="val 16667"/>
            </a:avLst>
          </a:prstGeom>
          <a:solidFill>
            <a:schemeClr val="bg1"/>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sz="1200" b="1">
              <a:solidFill>
                <a:srgbClr val="000099"/>
              </a:solidFill>
              <a:latin typeface="微软雅黑" pitchFamily="34" charset="-122"/>
              <a:ea typeface="微软雅黑" pitchFamily="34" charset="-122"/>
            </a:endParaRPr>
          </a:p>
        </p:txBody>
      </p:sp>
      <p:sp>
        <p:nvSpPr>
          <p:cNvPr id="74" name="Text Box 71">
            <a:extLst>
              <a:ext uri="{FF2B5EF4-FFF2-40B4-BE49-F238E27FC236}">
                <a16:creationId xmlns:a16="http://schemas.microsoft.com/office/drawing/2014/main" id="{C9BD5BB2-ED27-452F-CAC5-0E949A19FEF0}"/>
              </a:ext>
            </a:extLst>
          </p:cNvPr>
          <p:cNvSpPr txBox="1">
            <a:spLocks noChangeArrowheads="1"/>
          </p:cNvSpPr>
          <p:nvPr/>
        </p:nvSpPr>
        <p:spPr bwMode="auto">
          <a:xfrm>
            <a:off x="2144867" y="2273438"/>
            <a:ext cx="1604064"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1050" b="1" dirty="0">
                <a:solidFill>
                  <a:srgbClr val="CC00CC"/>
                </a:solidFill>
                <a:latin typeface="微软雅黑" pitchFamily="34" charset="-122"/>
                <a:ea typeface="微软雅黑" pitchFamily="34" charset="-122"/>
              </a:rPr>
              <a:t>特定 </a:t>
            </a:r>
            <a:r>
              <a:rPr lang="en-US" altLang="zh-CN" sz="1050" b="1" dirty="0">
                <a:solidFill>
                  <a:srgbClr val="CC00CC"/>
                </a:solidFill>
                <a:latin typeface="微软雅黑" pitchFamily="34" charset="-122"/>
                <a:ea typeface="微软雅黑" pitchFamily="34" charset="-122"/>
              </a:rPr>
              <a:t>ONU </a:t>
            </a:r>
            <a:r>
              <a:rPr lang="zh-CN" altLang="en-US" sz="1050" b="1" dirty="0">
                <a:solidFill>
                  <a:srgbClr val="CC00CC"/>
                </a:solidFill>
                <a:latin typeface="微软雅黑" pitchFamily="34" charset="-122"/>
                <a:ea typeface="微软雅黑" pitchFamily="34" charset="-122"/>
              </a:rPr>
              <a:t>发来的数据</a:t>
            </a:r>
          </a:p>
        </p:txBody>
      </p:sp>
      <p:sp>
        <p:nvSpPr>
          <p:cNvPr id="75" name="Text Box 73">
            <a:extLst>
              <a:ext uri="{FF2B5EF4-FFF2-40B4-BE49-F238E27FC236}">
                <a16:creationId xmlns:a16="http://schemas.microsoft.com/office/drawing/2014/main" id="{98384CEB-5534-FA90-F902-B92244840AC8}"/>
              </a:ext>
            </a:extLst>
          </p:cNvPr>
          <p:cNvSpPr txBox="1">
            <a:spLocks noChangeArrowheads="1"/>
          </p:cNvSpPr>
          <p:nvPr/>
        </p:nvSpPr>
        <p:spPr bwMode="auto">
          <a:xfrm>
            <a:off x="4040855" y="2396980"/>
            <a:ext cx="493737" cy="261910"/>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1200" b="1" dirty="0">
                <a:latin typeface="微软雅黑" pitchFamily="34" charset="-122"/>
                <a:ea typeface="微软雅黑" pitchFamily="34" charset="-122"/>
              </a:rPr>
              <a:t>上行</a:t>
            </a:r>
          </a:p>
        </p:txBody>
      </p:sp>
      <p:sp>
        <p:nvSpPr>
          <p:cNvPr id="76" name="Line 75">
            <a:extLst>
              <a:ext uri="{FF2B5EF4-FFF2-40B4-BE49-F238E27FC236}">
                <a16:creationId xmlns:a16="http://schemas.microsoft.com/office/drawing/2014/main" id="{16C2BB43-1770-3345-43C4-5641C06836FE}"/>
              </a:ext>
            </a:extLst>
          </p:cNvPr>
          <p:cNvSpPr>
            <a:spLocks noChangeShapeType="1"/>
          </p:cNvSpPr>
          <p:nvPr/>
        </p:nvSpPr>
        <p:spPr bwMode="auto">
          <a:xfrm flipH="1">
            <a:off x="4061551" y="2667398"/>
            <a:ext cx="422280" cy="0"/>
          </a:xfrm>
          <a:prstGeom prst="line">
            <a:avLst/>
          </a:prstGeom>
          <a:noFill/>
          <a:ln w="28575">
            <a:solidFill>
              <a:srgbClr val="FF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77" name="矩形 76">
            <a:extLst>
              <a:ext uri="{FF2B5EF4-FFF2-40B4-BE49-F238E27FC236}">
                <a16:creationId xmlns:a16="http://schemas.microsoft.com/office/drawing/2014/main" id="{34F8D9D3-2ADC-7D7B-965E-E66F2A31BF28}"/>
              </a:ext>
            </a:extLst>
          </p:cNvPr>
          <p:cNvSpPr/>
          <p:nvPr/>
        </p:nvSpPr>
        <p:spPr>
          <a:xfrm>
            <a:off x="2461732" y="2994901"/>
            <a:ext cx="1275641" cy="199976"/>
          </a:xfrm>
          <a:prstGeom prst="rect">
            <a:avLst/>
          </a:prstGeom>
        </p:spPr>
        <p:txBody>
          <a:bodyPr wrap="square">
            <a:spAutoFit/>
          </a:bodyPr>
          <a:lstStyle/>
          <a:p>
            <a:r>
              <a:rPr lang="en-US" altLang="zh-CN" sz="1050" b="1" dirty="0">
                <a:latin typeface="微软雅黑" pitchFamily="34" charset="-122"/>
                <a:ea typeface="微软雅黑" pitchFamily="34" charset="-122"/>
              </a:rPr>
              <a:t>OLT</a:t>
            </a:r>
            <a:r>
              <a:rPr lang="zh-CN" altLang="en-US" sz="1050" b="1" dirty="0">
                <a:latin typeface="微软雅黑" pitchFamily="34" charset="-122"/>
                <a:ea typeface="微软雅黑" pitchFamily="34" charset="-122"/>
              </a:rPr>
              <a:t>：</a:t>
            </a:r>
            <a:r>
              <a:rPr lang="zh-CN" altLang="zh-CN" sz="1050" b="1" dirty="0">
                <a:latin typeface="微软雅黑" pitchFamily="34" charset="-122"/>
                <a:ea typeface="微软雅黑" pitchFamily="34" charset="-122"/>
              </a:rPr>
              <a:t>光线路终端</a:t>
            </a:r>
            <a:endParaRPr lang="zh-CN" altLang="en-US" sz="1050" b="1" dirty="0">
              <a:latin typeface="微软雅黑" pitchFamily="34" charset="-122"/>
              <a:ea typeface="微软雅黑" pitchFamily="34" charset="-122"/>
            </a:endParaRPr>
          </a:p>
        </p:txBody>
      </p:sp>
      <p:sp>
        <p:nvSpPr>
          <p:cNvPr id="78" name="Rectangle 46">
            <a:extLst>
              <a:ext uri="{FF2B5EF4-FFF2-40B4-BE49-F238E27FC236}">
                <a16:creationId xmlns:a16="http://schemas.microsoft.com/office/drawing/2014/main" id="{9C617DD5-DABA-A9EB-7FD6-05A1ABA4F863}"/>
              </a:ext>
            </a:extLst>
          </p:cNvPr>
          <p:cNvSpPr>
            <a:spLocks noChangeArrowheads="1"/>
          </p:cNvSpPr>
          <p:nvPr/>
        </p:nvSpPr>
        <p:spPr bwMode="auto">
          <a:xfrm>
            <a:off x="2610585" y="2760616"/>
            <a:ext cx="380331" cy="198088"/>
          </a:xfrm>
          <a:prstGeom prst="rect">
            <a:avLst/>
          </a:prstGeom>
          <a:solidFill>
            <a:srgbClr val="66FF66"/>
          </a:solidFill>
          <a:ln w="12700">
            <a:solidFill>
              <a:schemeClr val="tx1"/>
            </a:solidFill>
            <a:miter lim="800000"/>
            <a:headEnd/>
            <a:tailEnd/>
          </a:ln>
          <a:effectLst/>
        </p:spPr>
        <p:txBody>
          <a:bodyPr wrap="none" anchor="ctr"/>
          <a:lstStyle/>
          <a:p>
            <a:pPr algn="ctr"/>
            <a:r>
              <a:rPr lang="en-US" altLang="zh-CN" sz="1100" b="1" dirty="0">
                <a:latin typeface="微软雅黑" pitchFamily="34" charset="-122"/>
                <a:ea typeface="微软雅黑" pitchFamily="34" charset="-122"/>
              </a:rPr>
              <a:t>OLT</a:t>
            </a:r>
          </a:p>
        </p:txBody>
      </p:sp>
      <p:sp>
        <p:nvSpPr>
          <p:cNvPr id="79" name="Rectangle 13">
            <a:extLst>
              <a:ext uri="{FF2B5EF4-FFF2-40B4-BE49-F238E27FC236}">
                <a16:creationId xmlns:a16="http://schemas.microsoft.com/office/drawing/2014/main" id="{286FDA6A-574A-C021-15FD-39F05C65B261}"/>
              </a:ext>
            </a:extLst>
          </p:cNvPr>
          <p:cNvSpPr>
            <a:spLocks noChangeArrowheads="1"/>
          </p:cNvSpPr>
          <p:nvPr/>
        </p:nvSpPr>
        <p:spPr bwMode="auto">
          <a:xfrm>
            <a:off x="2593666" y="1632330"/>
            <a:ext cx="380331" cy="198088"/>
          </a:xfrm>
          <a:prstGeom prst="rect">
            <a:avLst/>
          </a:prstGeom>
          <a:solidFill>
            <a:srgbClr val="66FF66"/>
          </a:solidFill>
          <a:ln w="12700">
            <a:solidFill>
              <a:schemeClr val="tx1"/>
            </a:solidFill>
            <a:miter lim="800000"/>
            <a:headEnd/>
            <a:tailEnd/>
          </a:ln>
          <a:effectLst/>
        </p:spPr>
        <p:txBody>
          <a:bodyPr wrap="none" anchor="ctr"/>
          <a:lstStyle/>
          <a:p>
            <a:pPr algn="ctr"/>
            <a:r>
              <a:rPr lang="en-US" altLang="zh-CN" sz="1100" b="1" dirty="0">
                <a:latin typeface="微软雅黑" pitchFamily="34" charset="-122"/>
                <a:ea typeface="微软雅黑" pitchFamily="34" charset="-122"/>
              </a:rPr>
              <a:t>OLT</a:t>
            </a:r>
          </a:p>
        </p:txBody>
      </p:sp>
      <p:sp>
        <p:nvSpPr>
          <p:cNvPr id="80" name="Rectangle 10">
            <a:extLst>
              <a:ext uri="{FF2B5EF4-FFF2-40B4-BE49-F238E27FC236}">
                <a16:creationId xmlns:a16="http://schemas.microsoft.com/office/drawing/2014/main" id="{3CA159FE-417C-560D-CC88-B37C0A13D972}"/>
              </a:ext>
            </a:extLst>
          </p:cNvPr>
          <p:cNvSpPr>
            <a:spLocks noChangeArrowheads="1"/>
          </p:cNvSpPr>
          <p:nvPr/>
        </p:nvSpPr>
        <p:spPr bwMode="auto">
          <a:xfrm>
            <a:off x="5747582" y="2061278"/>
            <a:ext cx="380331" cy="198088"/>
          </a:xfrm>
          <a:prstGeom prst="rect">
            <a:avLst/>
          </a:prstGeom>
          <a:solidFill>
            <a:srgbClr val="66FF66"/>
          </a:solidFill>
          <a:ln w="12700">
            <a:solidFill>
              <a:schemeClr val="tx1"/>
            </a:solidFill>
            <a:miter lim="800000"/>
            <a:headEnd/>
            <a:tailEnd/>
          </a:ln>
          <a:effectLst/>
        </p:spPr>
        <p:txBody>
          <a:bodyPr wrap="none" anchor="ctr"/>
          <a:lstStyle/>
          <a:p>
            <a:pPr algn="ctr"/>
            <a:r>
              <a:rPr lang="en-US" altLang="zh-CN" sz="1200" b="1" dirty="0">
                <a:latin typeface="微软雅黑" pitchFamily="34" charset="-122"/>
                <a:ea typeface="微软雅黑" pitchFamily="34" charset="-122"/>
              </a:rPr>
              <a:t>ONU</a:t>
            </a:r>
          </a:p>
        </p:txBody>
      </p:sp>
      <p:sp>
        <p:nvSpPr>
          <p:cNvPr id="81" name="Rectangle 11">
            <a:extLst>
              <a:ext uri="{FF2B5EF4-FFF2-40B4-BE49-F238E27FC236}">
                <a16:creationId xmlns:a16="http://schemas.microsoft.com/office/drawing/2014/main" id="{A163BEC5-D6F7-D7C0-9E37-7FF9AEED88D1}"/>
              </a:ext>
            </a:extLst>
          </p:cNvPr>
          <p:cNvSpPr>
            <a:spLocks noChangeArrowheads="1"/>
          </p:cNvSpPr>
          <p:nvPr/>
        </p:nvSpPr>
        <p:spPr bwMode="auto">
          <a:xfrm>
            <a:off x="5747582" y="1632330"/>
            <a:ext cx="380331" cy="198088"/>
          </a:xfrm>
          <a:prstGeom prst="rect">
            <a:avLst/>
          </a:prstGeom>
          <a:solidFill>
            <a:srgbClr val="66FF66"/>
          </a:solidFill>
          <a:ln w="12700">
            <a:solidFill>
              <a:schemeClr val="tx1"/>
            </a:solidFill>
            <a:miter lim="800000"/>
            <a:headEnd/>
            <a:tailEnd/>
          </a:ln>
          <a:effectLst/>
        </p:spPr>
        <p:txBody>
          <a:bodyPr wrap="none" anchor="ctr"/>
          <a:lstStyle/>
          <a:p>
            <a:pPr algn="ctr"/>
            <a:r>
              <a:rPr lang="en-US" altLang="zh-CN" sz="1200" b="1">
                <a:latin typeface="微软雅黑" pitchFamily="34" charset="-122"/>
                <a:ea typeface="微软雅黑" pitchFamily="34" charset="-122"/>
              </a:rPr>
              <a:t>ONU</a:t>
            </a:r>
          </a:p>
        </p:txBody>
      </p:sp>
      <p:sp>
        <p:nvSpPr>
          <p:cNvPr id="82" name="Rectangle 22">
            <a:extLst>
              <a:ext uri="{FF2B5EF4-FFF2-40B4-BE49-F238E27FC236}">
                <a16:creationId xmlns:a16="http://schemas.microsoft.com/office/drawing/2014/main" id="{A247DF20-2B8C-968F-5940-1166A8578B83}"/>
              </a:ext>
            </a:extLst>
          </p:cNvPr>
          <p:cNvSpPr>
            <a:spLocks noChangeArrowheads="1"/>
          </p:cNvSpPr>
          <p:nvPr/>
        </p:nvSpPr>
        <p:spPr bwMode="auto">
          <a:xfrm>
            <a:off x="5747582" y="1258002"/>
            <a:ext cx="380331" cy="198088"/>
          </a:xfrm>
          <a:prstGeom prst="rect">
            <a:avLst/>
          </a:prstGeom>
          <a:solidFill>
            <a:srgbClr val="66FF66"/>
          </a:solidFill>
          <a:ln w="12700">
            <a:solidFill>
              <a:schemeClr val="tx1"/>
            </a:solidFill>
            <a:miter lim="800000"/>
            <a:headEnd/>
            <a:tailEnd/>
          </a:ln>
          <a:effectLst/>
        </p:spPr>
        <p:txBody>
          <a:bodyPr wrap="none" anchor="ctr"/>
          <a:lstStyle/>
          <a:p>
            <a:pPr algn="ctr"/>
            <a:r>
              <a:rPr lang="en-US" altLang="zh-CN" sz="1200" b="1" dirty="0">
                <a:latin typeface="微软雅黑" pitchFamily="34" charset="-122"/>
                <a:ea typeface="微软雅黑" pitchFamily="34" charset="-122"/>
              </a:rPr>
              <a:t>ONU</a:t>
            </a:r>
          </a:p>
        </p:txBody>
      </p:sp>
      <p:sp>
        <p:nvSpPr>
          <p:cNvPr id="83" name="Rectangle 43">
            <a:extLst>
              <a:ext uri="{FF2B5EF4-FFF2-40B4-BE49-F238E27FC236}">
                <a16:creationId xmlns:a16="http://schemas.microsoft.com/office/drawing/2014/main" id="{0788D8DD-5156-8249-81CC-836BFE2CB76A}"/>
              </a:ext>
            </a:extLst>
          </p:cNvPr>
          <p:cNvSpPr>
            <a:spLocks noChangeArrowheads="1"/>
          </p:cNvSpPr>
          <p:nvPr/>
        </p:nvSpPr>
        <p:spPr bwMode="auto">
          <a:xfrm>
            <a:off x="5764501" y="3189563"/>
            <a:ext cx="380331" cy="198088"/>
          </a:xfrm>
          <a:prstGeom prst="rect">
            <a:avLst/>
          </a:prstGeom>
          <a:solidFill>
            <a:srgbClr val="66FF66"/>
          </a:solidFill>
          <a:ln w="12700">
            <a:solidFill>
              <a:schemeClr val="tx1"/>
            </a:solidFill>
            <a:miter lim="800000"/>
            <a:headEnd/>
            <a:tailEnd/>
          </a:ln>
          <a:effectLst/>
        </p:spPr>
        <p:txBody>
          <a:bodyPr wrap="none" anchor="ctr"/>
          <a:lstStyle/>
          <a:p>
            <a:pPr algn="ctr"/>
            <a:r>
              <a:rPr lang="en-US" altLang="zh-CN" sz="1200" b="1" dirty="0">
                <a:latin typeface="微软雅黑" pitchFamily="34" charset="-122"/>
                <a:ea typeface="微软雅黑" pitchFamily="34" charset="-122"/>
              </a:rPr>
              <a:t>ONU</a:t>
            </a:r>
          </a:p>
        </p:txBody>
      </p:sp>
      <p:sp>
        <p:nvSpPr>
          <p:cNvPr id="84" name="Rectangle 44">
            <a:extLst>
              <a:ext uri="{FF2B5EF4-FFF2-40B4-BE49-F238E27FC236}">
                <a16:creationId xmlns:a16="http://schemas.microsoft.com/office/drawing/2014/main" id="{1A40E775-1589-8118-2487-7C30470C2F72}"/>
              </a:ext>
            </a:extLst>
          </p:cNvPr>
          <p:cNvSpPr>
            <a:spLocks noChangeArrowheads="1"/>
          </p:cNvSpPr>
          <p:nvPr/>
        </p:nvSpPr>
        <p:spPr bwMode="auto">
          <a:xfrm>
            <a:off x="5764501" y="2760616"/>
            <a:ext cx="380331" cy="198088"/>
          </a:xfrm>
          <a:prstGeom prst="rect">
            <a:avLst/>
          </a:prstGeom>
          <a:solidFill>
            <a:srgbClr val="66FF66"/>
          </a:solidFill>
          <a:ln w="12700">
            <a:solidFill>
              <a:schemeClr val="tx1"/>
            </a:solidFill>
            <a:miter lim="800000"/>
            <a:headEnd/>
            <a:tailEnd/>
          </a:ln>
          <a:effectLst/>
        </p:spPr>
        <p:txBody>
          <a:bodyPr wrap="none" anchor="ctr"/>
          <a:lstStyle/>
          <a:p>
            <a:pPr algn="ctr"/>
            <a:r>
              <a:rPr lang="en-US" altLang="zh-CN" sz="1200" b="1">
                <a:latin typeface="微软雅黑" pitchFamily="34" charset="-122"/>
                <a:ea typeface="微软雅黑" pitchFamily="34" charset="-122"/>
              </a:rPr>
              <a:t>ONU</a:t>
            </a:r>
          </a:p>
        </p:txBody>
      </p:sp>
      <p:sp>
        <p:nvSpPr>
          <p:cNvPr id="85" name="Rectangle 53">
            <a:extLst>
              <a:ext uri="{FF2B5EF4-FFF2-40B4-BE49-F238E27FC236}">
                <a16:creationId xmlns:a16="http://schemas.microsoft.com/office/drawing/2014/main" id="{DA7BEAC2-2B40-FED0-28C3-713C7118F617}"/>
              </a:ext>
            </a:extLst>
          </p:cNvPr>
          <p:cNvSpPr>
            <a:spLocks noChangeArrowheads="1"/>
          </p:cNvSpPr>
          <p:nvPr/>
        </p:nvSpPr>
        <p:spPr bwMode="auto">
          <a:xfrm>
            <a:off x="5764501" y="2386288"/>
            <a:ext cx="380331" cy="198088"/>
          </a:xfrm>
          <a:prstGeom prst="rect">
            <a:avLst/>
          </a:prstGeom>
          <a:solidFill>
            <a:srgbClr val="66FF66"/>
          </a:solidFill>
          <a:ln w="12700">
            <a:solidFill>
              <a:schemeClr val="tx1"/>
            </a:solidFill>
            <a:miter lim="800000"/>
            <a:headEnd/>
            <a:tailEnd/>
          </a:ln>
          <a:effectLst/>
        </p:spPr>
        <p:txBody>
          <a:bodyPr wrap="none" anchor="ctr"/>
          <a:lstStyle/>
          <a:p>
            <a:pPr algn="ctr"/>
            <a:r>
              <a:rPr lang="en-US" altLang="zh-CN" sz="1200" b="1">
                <a:latin typeface="微软雅黑" pitchFamily="34" charset="-122"/>
                <a:ea typeface="微软雅黑" pitchFamily="34" charset="-122"/>
              </a:rPr>
              <a:t>ONU</a:t>
            </a:r>
          </a:p>
        </p:txBody>
      </p:sp>
      <p:sp>
        <p:nvSpPr>
          <p:cNvPr id="87" name="矩形 86">
            <a:extLst>
              <a:ext uri="{FF2B5EF4-FFF2-40B4-BE49-F238E27FC236}">
                <a16:creationId xmlns:a16="http://schemas.microsoft.com/office/drawing/2014/main" id="{5C4D7CC4-FEA9-074B-291D-35E2BD7585AE}"/>
              </a:ext>
            </a:extLst>
          </p:cNvPr>
          <p:cNvSpPr/>
          <p:nvPr/>
        </p:nvSpPr>
        <p:spPr>
          <a:xfrm>
            <a:off x="728946" y="3826774"/>
            <a:ext cx="7611292" cy="917046"/>
          </a:xfrm>
          <a:prstGeom prst="rect">
            <a:avLst/>
          </a:prstGeom>
        </p:spPr>
        <p:txBody>
          <a:bodyPr wrap="square">
            <a:spAutoFit/>
          </a:bodyPr>
          <a:lstStyle/>
          <a:p>
            <a:pPr>
              <a:lnSpc>
                <a:spcPts val="2200"/>
              </a:lnSpc>
            </a:pPr>
            <a:r>
              <a:rPr lang="zh-CN" altLang="en-US" sz="1600" dirty="0"/>
              <a:t>光线路终端</a:t>
            </a:r>
            <a:r>
              <a:rPr lang="en-US" altLang="zh-CN" sz="1600" dirty="0"/>
              <a:t>OLT (Optical Line Terminal)</a:t>
            </a:r>
            <a:r>
              <a:rPr lang="zh-CN" altLang="en-US" sz="1600" dirty="0"/>
              <a:t>，即头端，是连接到光纤干线的终端设备。</a:t>
            </a:r>
            <a:r>
              <a:rPr lang="en-US" altLang="zh-CN" sz="1600" dirty="0"/>
              <a:t>OLT</a:t>
            </a:r>
            <a:r>
              <a:rPr lang="zh-CN" altLang="en-US" sz="1600" dirty="0"/>
              <a:t>把收到的下行数据发往无源的</a:t>
            </a:r>
            <a:r>
              <a:rPr lang="en-US" altLang="zh-CN" sz="1600" dirty="0"/>
              <a:t>1:N</a:t>
            </a:r>
            <a:r>
              <a:rPr lang="zh-CN" altLang="en-US" sz="1600" dirty="0"/>
              <a:t>光分路器，然后用广播方式向所有用户端的光网络单元</a:t>
            </a:r>
            <a:r>
              <a:rPr lang="en-US" altLang="zh-CN" sz="1600" dirty="0"/>
              <a:t>ONU (Optical Network Unit) </a:t>
            </a:r>
            <a:r>
              <a:rPr lang="zh-CN" altLang="en-US" sz="1600" dirty="0"/>
              <a:t>发送。</a:t>
            </a:r>
          </a:p>
        </p:txBody>
      </p:sp>
      <p:sp>
        <p:nvSpPr>
          <p:cNvPr id="19" name="Text Box 20">
            <a:extLst>
              <a:ext uri="{FF2B5EF4-FFF2-40B4-BE49-F238E27FC236}">
                <a16:creationId xmlns:a16="http://schemas.microsoft.com/office/drawing/2014/main" id="{DCBD4780-CD68-0008-52BA-00C7E1C225E5}"/>
              </a:ext>
            </a:extLst>
          </p:cNvPr>
          <p:cNvSpPr txBox="1">
            <a:spLocks noChangeArrowheads="1"/>
          </p:cNvSpPr>
          <p:nvPr/>
        </p:nvSpPr>
        <p:spPr bwMode="auto">
          <a:xfrm>
            <a:off x="3928927" y="1812353"/>
            <a:ext cx="696907" cy="20603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050" b="1" dirty="0">
                <a:latin typeface="微软雅黑" pitchFamily="34" charset="-122"/>
                <a:ea typeface="微软雅黑" pitchFamily="34" charset="-122"/>
              </a:rPr>
              <a:t>光分路器</a:t>
            </a:r>
          </a:p>
        </p:txBody>
      </p:sp>
      <p:sp>
        <p:nvSpPr>
          <p:cNvPr id="90" name="Text Box 41">
            <a:extLst>
              <a:ext uri="{FF2B5EF4-FFF2-40B4-BE49-F238E27FC236}">
                <a16:creationId xmlns:a16="http://schemas.microsoft.com/office/drawing/2014/main" id="{6C9DD2F6-4972-1BF7-CC42-A7CDC616B380}"/>
              </a:ext>
            </a:extLst>
          </p:cNvPr>
          <p:cNvSpPr txBox="1">
            <a:spLocks noChangeArrowheads="1"/>
          </p:cNvSpPr>
          <p:nvPr/>
        </p:nvSpPr>
        <p:spPr bwMode="auto">
          <a:xfrm>
            <a:off x="2571730" y="2566198"/>
            <a:ext cx="434373" cy="206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050" b="1" dirty="0">
                <a:latin typeface="微软雅黑" pitchFamily="34" charset="-122"/>
                <a:ea typeface="微软雅黑" pitchFamily="34" charset="-122"/>
              </a:rPr>
              <a:t>头端</a:t>
            </a:r>
          </a:p>
        </p:txBody>
      </p:sp>
      <p:sp>
        <p:nvSpPr>
          <p:cNvPr id="91" name="Text Box 20">
            <a:extLst>
              <a:ext uri="{FF2B5EF4-FFF2-40B4-BE49-F238E27FC236}">
                <a16:creationId xmlns:a16="http://schemas.microsoft.com/office/drawing/2014/main" id="{D80DE34B-4461-BDBE-F15C-CDCA6AFC3A88}"/>
              </a:ext>
            </a:extLst>
          </p:cNvPr>
          <p:cNvSpPr txBox="1">
            <a:spLocks noChangeArrowheads="1"/>
          </p:cNvSpPr>
          <p:nvPr/>
        </p:nvSpPr>
        <p:spPr bwMode="auto">
          <a:xfrm>
            <a:off x="3929165" y="2936966"/>
            <a:ext cx="696907" cy="20603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050" b="1" dirty="0">
                <a:latin typeface="微软雅黑" pitchFamily="34" charset="-122"/>
                <a:ea typeface="微软雅黑" pitchFamily="34" charset="-122"/>
              </a:rPr>
              <a:t>光分路器</a:t>
            </a:r>
          </a:p>
        </p:txBody>
      </p:sp>
    </p:spTree>
    <p:extLst>
      <p:ext uri="{BB962C8B-B14F-4D97-AF65-F5344CB8AC3E}">
        <p14:creationId xmlns:p14="http://schemas.microsoft.com/office/powerpoint/2010/main" val="2560802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7"/>
                                        </p:tgtEl>
                                        <p:attrNameLst>
                                          <p:attrName>style.visibility</p:attrName>
                                        </p:attrNameLst>
                                      </p:cBhvr>
                                      <p:to>
                                        <p:strVal val="visible"/>
                                      </p:to>
                                    </p:set>
                                    <p:animEffect transition="in" filter="fade">
                                      <p:cBhvr>
                                        <p:cTn id="7" dur="1000"/>
                                        <p:tgtEl>
                                          <p:spTgt spid="87"/>
                                        </p:tgtEl>
                                      </p:cBhvr>
                                    </p:animEffect>
                                    <p:anim calcmode="lin" valueType="num">
                                      <p:cBhvr>
                                        <p:cTn id="8" dur="1000" fill="hold"/>
                                        <p:tgtEl>
                                          <p:spTgt spid="87"/>
                                        </p:tgtEl>
                                        <p:attrNameLst>
                                          <p:attrName>ppt_x</p:attrName>
                                        </p:attrNameLst>
                                      </p:cBhvr>
                                      <p:tavLst>
                                        <p:tav tm="0">
                                          <p:val>
                                            <p:strVal val="#ppt_x"/>
                                          </p:val>
                                        </p:tav>
                                        <p:tav tm="100000">
                                          <p:val>
                                            <p:strVal val="#ppt_x"/>
                                          </p:val>
                                        </p:tav>
                                      </p:tavLst>
                                    </p:anim>
                                    <p:anim calcmode="lin" valueType="num">
                                      <p:cBhvr>
                                        <p:cTn id="9" dur="1000" fill="hold"/>
                                        <p:tgtEl>
                                          <p:spTgt spid="8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5" presetClass="emph" presetSubtype="0" repeatCount="3000" fill="hold" grpId="0" nodeType="clickEffect">
                                  <p:stCondLst>
                                    <p:cond delay="0"/>
                                  </p:stCondLst>
                                  <p:childTnLst>
                                    <p:anim calcmode="discrete" valueType="str">
                                      <p:cBhvr>
                                        <p:cTn id="13" dur="1000" fill="hold"/>
                                        <p:tgtEl>
                                          <p:spTgt spid="10"/>
                                        </p:tgtEl>
                                        <p:attrNameLst>
                                          <p:attrName>style.visibility</p:attrName>
                                        </p:attrNameLst>
                                      </p:cBhvr>
                                      <p:tavLst>
                                        <p:tav tm="0">
                                          <p:val>
                                            <p:strVal val="hidden"/>
                                          </p:val>
                                        </p:tav>
                                        <p:tav tm="50000">
                                          <p:val>
                                            <p:strVal val="visible"/>
                                          </p:val>
                                        </p:tav>
                                      </p:tavLst>
                                    </p:anim>
                                  </p:childTnLst>
                                </p:cTn>
                              </p:par>
                            </p:childTnLst>
                          </p:cTn>
                        </p:par>
                      </p:childTnLst>
                    </p:cTn>
                  </p:par>
                  <p:par>
                    <p:cTn id="14" fill="hold">
                      <p:stCondLst>
                        <p:cond delay="indefinite"/>
                      </p:stCondLst>
                      <p:childTnLst>
                        <p:par>
                          <p:cTn id="15" fill="hold">
                            <p:stCondLst>
                              <p:cond delay="0"/>
                            </p:stCondLst>
                            <p:childTnLst>
                              <p:par>
                                <p:cTn id="16" presetID="35" presetClass="emph" presetSubtype="0" repeatCount="3000" fill="hold" grpId="0" nodeType="clickEffect">
                                  <p:stCondLst>
                                    <p:cond delay="0"/>
                                  </p:stCondLst>
                                  <p:childTnLst>
                                    <p:anim calcmode="discrete" valueType="str">
                                      <p:cBhvr>
                                        <p:cTn id="17" dur="1000" fill="hold"/>
                                        <p:tgtEl>
                                          <p:spTgt spid="19"/>
                                        </p:tgtEl>
                                        <p:attrNameLst>
                                          <p:attrName>style.visibility</p:attrName>
                                        </p:attrNameLst>
                                      </p:cBhvr>
                                      <p:tavLst>
                                        <p:tav tm="0">
                                          <p:val>
                                            <p:strVal val="hidden"/>
                                          </p:val>
                                        </p:tav>
                                        <p:tav tm="50000">
                                          <p:val>
                                            <p:strVal val="visible"/>
                                          </p:val>
                                        </p:tav>
                                      </p:tavLst>
                                    </p:anim>
                                  </p:childTnLst>
                                </p:cTn>
                              </p:par>
                            </p:childTnLst>
                          </p:cTn>
                        </p:par>
                      </p:childTnLst>
                    </p:cTn>
                  </p:par>
                  <p:par>
                    <p:cTn id="18" fill="hold">
                      <p:stCondLst>
                        <p:cond delay="indefinite"/>
                      </p:stCondLst>
                      <p:childTnLst>
                        <p:par>
                          <p:cTn id="19" fill="hold">
                            <p:stCondLst>
                              <p:cond delay="0"/>
                            </p:stCondLst>
                            <p:childTnLst>
                              <p:par>
                                <p:cTn id="20" presetID="35" presetClass="emph" presetSubtype="0" repeatCount="3000" fill="hold" nodeType="clickEffect">
                                  <p:stCondLst>
                                    <p:cond delay="0"/>
                                  </p:stCondLst>
                                  <p:childTnLst>
                                    <p:anim calcmode="discrete" valueType="str">
                                      <p:cBhvr>
                                        <p:cTn id="21" dur="1000" fill="hold"/>
                                        <p:tgtEl>
                                          <p:spTgt spid="8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87" grpId="0"/>
      <p:bldP spid="19"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0D47F-C521-25DD-9CF9-C0340EA76A33}"/>
            </a:ext>
          </a:extLst>
        </p:cNvPr>
        <p:cNvGrpSpPr/>
        <p:nvPr/>
      </p:nvGrpSpPr>
      <p:grpSpPr>
        <a:xfrm>
          <a:off x="0" y="0"/>
          <a:ext cx="0" cy="0"/>
          <a:chOff x="0" y="0"/>
          <a:chExt cx="0" cy="0"/>
        </a:xfrm>
      </p:grpSpPr>
      <p:sp>
        <p:nvSpPr>
          <p:cNvPr id="4" name="文本占位符 3">
            <a:extLst>
              <a:ext uri="{FF2B5EF4-FFF2-40B4-BE49-F238E27FC236}">
                <a16:creationId xmlns:a16="http://schemas.microsoft.com/office/drawing/2014/main" id="{34E58BEB-D5BA-B2DB-C6EF-98BDD6F8BDDB}"/>
              </a:ext>
            </a:extLst>
          </p:cNvPr>
          <p:cNvSpPr>
            <a:spLocks noGrp="1"/>
          </p:cNvSpPr>
          <p:nvPr>
            <p:ph type="body" sz="quarter" idx="11"/>
          </p:nvPr>
        </p:nvSpPr>
        <p:spPr>
          <a:xfrm>
            <a:off x="1332000" y="360000"/>
            <a:ext cx="6480000" cy="354012"/>
          </a:xfrm>
        </p:spPr>
        <p:txBody>
          <a:bodyPr>
            <a:normAutofit fontScale="92500" lnSpcReduction="10000"/>
          </a:bodyPr>
          <a:lstStyle/>
          <a:p>
            <a:r>
              <a:rPr lang="zh-CN" altLang="en-US" dirty="0"/>
              <a:t>光配线网 </a:t>
            </a:r>
            <a:r>
              <a:rPr lang="en-US" altLang="zh-CN" dirty="0"/>
              <a:t>ODN (Optical Distribution Network)</a:t>
            </a:r>
            <a:endParaRPr lang="zh-CN" altLang="en-US" dirty="0"/>
          </a:p>
        </p:txBody>
      </p:sp>
      <p:grpSp>
        <p:nvGrpSpPr>
          <p:cNvPr id="6" name="Group 4">
            <a:extLst>
              <a:ext uri="{FF2B5EF4-FFF2-40B4-BE49-F238E27FC236}">
                <a16:creationId xmlns:a16="http://schemas.microsoft.com/office/drawing/2014/main" id="{211C882E-009D-0094-B0B6-E55E3AE2646F}"/>
              </a:ext>
            </a:extLst>
          </p:cNvPr>
          <p:cNvGrpSpPr>
            <a:grpSpLocks/>
          </p:cNvGrpSpPr>
          <p:nvPr/>
        </p:nvGrpSpPr>
        <p:grpSpPr bwMode="auto">
          <a:xfrm>
            <a:off x="5764730" y="1357047"/>
            <a:ext cx="1237913" cy="803275"/>
            <a:chOff x="3781" y="1238"/>
            <a:chExt cx="1095" cy="1103"/>
          </a:xfrm>
        </p:grpSpPr>
        <p:sp>
          <p:nvSpPr>
            <p:cNvPr id="7" name="Line 5">
              <a:extLst>
                <a:ext uri="{FF2B5EF4-FFF2-40B4-BE49-F238E27FC236}">
                  <a16:creationId xmlns:a16="http://schemas.microsoft.com/office/drawing/2014/main" id="{21845AB9-FC72-2F11-54A2-6C565F3F313A}"/>
                </a:ext>
              </a:extLst>
            </p:cNvPr>
            <p:cNvSpPr>
              <a:spLocks noChangeShapeType="1"/>
            </p:cNvSpPr>
            <p:nvPr/>
          </p:nvSpPr>
          <p:spPr bwMode="auto">
            <a:xfrm>
              <a:off x="3781" y="1752"/>
              <a:ext cx="109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8" name="Line 6">
              <a:extLst>
                <a:ext uri="{FF2B5EF4-FFF2-40B4-BE49-F238E27FC236}">
                  <a16:creationId xmlns:a16="http://schemas.microsoft.com/office/drawing/2014/main" id="{3D5A0D02-5253-14FA-164B-6769EFF0E841}"/>
                </a:ext>
              </a:extLst>
            </p:cNvPr>
            <p:cNvSpPr>
              <a:spLocks noChangeShapeType="1"/>
            </p:cNvSpPr>
            <p:nvPr/>
          </p:nvSpPr>
          <p:spPr bwMode="auto">
            <a:xfrm>
              <a:off x="3923" y="2341"/>
              <a:ext cx="95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9" name="Line 7">
              <a:extLst>
                <a:ext uri="{FF2B5EF4-FFF2-40B4-BE49-F238E27FC236}">
                  <a16:creationId xmlns:a16="http://schemas.microsoft.com/office/drawing/2014/main" id="{A462AF9C-ECDB-AB40-6314-67DC8D533DC5}"/>
                </a:ext>
              </a:extLst>
            </p:cNvPr>
            <p:cNvSpPr>
              <a:spLocks noChangeShapeType="1"/>
            </p:cNvSpPr>
            <p:nvPr/>
          </p:nvSpPr>
          <p:spPr bwMode="auto">
            <a:xfrm>
              <a:off x="3923" y="1238"/>
              <a:ext cx="95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grpSp>
      <p:sp>
        <p:nvSpPr>
          <p:cNvPr id="11" name="Rectangle 9">
            <a:extLst>
              <a:ext uri="{FF2B5EF4-FFF2-40B4-BE49-F238E27FC236}">
                <a16:creationId xmlns:a16="http://schemas.microsoft.com/office/drawing/2014/main" id="{DBBE5675-D911-8617-BD8E-12FDE5E73EE6}"/>
              </a:ext>
            </a:extLst>
          </p:cNvPr>
          <p:cNvSpPr>
            <a:spLocks noChangeArrowheads="1"/>
          </p:cNvSpPr>
          <p:nvPr/>
        </p:nvSpPr>
        <p:spPr bwMode="auto">
          <a:xfrm>
            <a:off x="4086580" y="1632330"/>
            <a:ext cx="380331" cy="198088"/>
          </a:xfrm>
          <a:prstGeom prst="rect">
            <a:avLst/>
          </a:prstGeom>
          <a:solidFill>
            <a:srgbClr val="00FFCC"/>
          </a:solidFill>
          <a:ln w="19050">
            <a:solidFill>
              <a:schemeClr val="tx1"/>
            </a:solidFill>
            <a:miter lim="800000"/>
            <a:headEnd/>
            <a:tailEnd/>
          </a:ln>
          <a:effectLst/>
        </p:spPr>
        <p:txBody>
          <a:bodyPr wrap="none" anchor="ctr"/>
          <a:lstStyle/>
          <a:p>
            <a:pPr algn="ctr"/>
            <a:r>
              <a:rPr lang="en-US" altLang="zh-CN" sz="1200" b="1" dirty="0">
                <a:latin typeface="微软雅黑" pitchFamily="34" charset="-122"/>
                <a:ea typeface="微软雅黑" pitchFamily="34" charset="-122"/>
              </a:rPr>
              <a:t>1:N</a:t>
            </a:r>
          </a:p>
        </p:txBody>
      </p:sp>
      <p:sp>
        <p:nvSpPr>
          <p:cNvPr id="12" name="Line 12">
            <a:extLst>
              <a:ext uri="{FF2B5EF4-FFF2-40B4-BE49-F238E27FC236}">
                <a16:creationId xmlns:a16="http://schemas.microsoft.com/office/drawing/2014/main" id="{F152FD86-F09B-806F-79F2-DEB25304B2D8}"/>
              </a:ext>
            </a:extLst>
          </p:cNvPr>
          <p:cNvSpPr>
            <a:spLocks noChangeShapeType="1"/>
          </p:cNvSpPr>
          <p:nvPr/>
        </p:nvSpPr>
        <p:spPr bwMode="auto">
          <a:xfrm>
            <a:off x="1491642" y="1731374"/>
            <a:ext cx="1439029" cy="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3" name="Text Box 14">
            <a:extLst>
              <a:ext uri="{FF2B5EF4-FFF2-40B4-BE49-F238E27FC236}">
                <a16:creationId xmlns:a16="http://schemas.microsoft.com/office/drawing/2014/main" id="{B9C78BF5-D056-D325-2F79-0278FD07ECBE}"/>
              </a:ext>
            </a:extLst>
          </p:cNvPr>
          <p:cNvSpPr txBox="1">
            <a:spLocks noChangeArrowheads="1"/>
          </p:cNvSpPr>
          <p:nvPr/>
        </p:nvSpPr>
        <p:spPr bwMode="auto">
          <a:xfrm>
            <a:off x="1468689" y="1512215"/>
            <a:ext cx="696907" cy="206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050" b="1" dirty="0">
                <a:latin typeface="微软雅黑" pitchFamily="34" charset="-122"/>
                <a:ea typeface="微软雅黑" pitchFamily="34" charset="-122"/>
              </a:rPr>
              <a:t>光纤干线</a:t>
            </a:r>
          </a:p>
        </p:txBody>
      </p:sp>
      <p:sp>
        <p:nvSpPr>
          <p:cNvPr id="14" name="Line 15">
            <a:extLst>
              <a:ext uri="{FF2B5EF4-FFF2-40B4-BE49-F238E27FC236}">
                <a16:creationId xmlns:a16="http://schemas.microsoft.com/office/drawing/2014/main" id="{986BA246-1C5E-D315-7E4B-70E5060F1DE4}"/>
              </a:ext>
            </a:extLst>
          </p:cNvPr>
          <p:cNvSpPr>
            <a:spLocks noChangeShapeType="1"/>
          </p:cNvSpPr>
          <p:nvPr/>
        </p:nvSpPr>
        <p:spPr bwMode="auto">
          <a:xfrm>
            <a:off x="2947591" y="1731374"/>
            <a:ext cx="1138989" cy="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5" name="Line 16">
            <a:extLst>
              <a:ext uri="{FF2B5EF4-FFF2-40B4-BE49-F238E27FC236}">
                <a16:creationId xmlns:a16="http://schemas.microsoft.com/office/drawing/2014/main" id="{62D05E7F-AC5D-1BE7-8403-24BA42BED5FD}"/>
              </a:ext>
            </a:extLst>
          </p:cNvPr>
          <p:cNvSpPr>
            <a:spLocks noChangeShapeType="1"/>
          </p:cNvSpPr>
          <p:nvPr/>
        </p:nvSpPr>
        <p:spPr bwMode="auto">
          <a:xfrm flipV="1">
            <a:off x="4466911" y="1323851"/>
            <a:ext cx="1280671" cy="341252"/>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6" name="Line 17">
            <a:extLst>
              <a:ext uri="{FF2B5EF4-FFF2-40B4-BE49-F238E27FC236}">
                <a16:creationId xmlns:a16="http://schemas.microsoft.com/office/drawing/2014/main" id="{AFD1B0C3-F207-0085-EF53-32AC65761CAC}"/>
              </a:ext>
            </a:extLst>
          </p:cNvPr>
          <p:cNvSpPr>
            <a:spLocks noChangeShapeType="1"/>
          </p:cNvSpPr>
          <p:nvPr/>
        </p:nvSpPr>
        <p:spPr bwMode="auto">
          <a:xfrm>
            <a:off x="4466911" y="1796918"/>
            <a:ext cx="1280671" cy="363404"/>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7" name="Line 18">
            <a:extLst>
              <a:ext uri="{FF2B5EF4-FFF2-40B4-BE49-F238E27FC236}">
                <a16:creationId xmlns:a16="http://schemas.microsoft.com/office/drawing/2014/main" id="{9BD3037D-17A9-1F68-B2C0-9FFAEE8BFF27}"/>
              </a:ext>
            </a:extLst>
          </p:cNvPr>
          <p:cNvSpPr>
            <a:spLocks noChangeShapeType="1"/>
          </p:cNvSpPr>
          <p:nvPr/>
        </p:nvSpPr>
        <p:spPr bwMode="auto">
          <a:xfrm>
            <a:off x="4466911" y="1731374"/>
            <a:ext cx="1297819" cy="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8" name="Text Box 19">
            <a:extLst>
              <a:ext uri="{FF2B5EF4-FFF2-40B4-BE49-F238E27FC236}">
                <a16:creationId xmlns:a16="http://schemas.microsoft.com/office/drawing/2014/main" id="{D8B22104-CD73-7651-E3E2-247E2DCC7681}"/>
              </a:ext>
            </a:extLst>
          </p:cNvPr>
          <p:cNvSpPr txBox="1">
            <a:spLocks noChangeArrowheads="1"/>
          </p:cNvSpPr>
          <p:nvPr/>
        </p:nvSpPr>
        <p:spPr bwMode="auto">
          <a:xfrm rot="5400000">
            <a:off x="5844981" y="1822402"/>
            <a:ext cx="266634" cy="257760"/>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dirty="0">
                <a:latin typeface="微软雅黑" pitchFamily="34" charset="-122"/>
                <a:ea typeface="微软雅黑" pitchFamily="34" charset="-122"/>
                <a:sym typeface="Symbol" pitchFamily="18" charset="2"/>
              </a:rPr>
              <a:t></a:t>
            </a:r>
          </a:p>
        </p:txBody>
      </p:sp>
      <p:sp>
        <p:nvSpPr>
          <p:cNvPr id="20" name="Text Box 21">
            <a:extLst>
              <a:ext uri="{FF2B5EF4-FFF2-40B4-BE49-F238E27FC236}">
                <a16:creationId xmlns:a16="http://schemas.microsoft.com/office/drawing/2014/main" id="{DF02367E-6574-625C-6824-8F73061B4F62}"/>
              </a:ext>
            </a:extLst>
          </p:cNvPr>
          <p:cNvSpPr txBox="1">
            <a:spLocks noChangeArrowheads="1"/>
          </p:cNvSpPr>
          <p:nvPr/>
        </p:nvSpPr>
        <p:spPr bwMode="auto">
          <a:xfrm>
            <a:off x="5506442" y="1040586"/>
            <a:ext cx="990270"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1050" b="1" dirty="0">
                <a:latin typeface="微软雅黑" pitchFamily="34" charset="-122"/>
                <a:ea typeface="微软雅黑" pitchFamily="34" charset="-122"/>
              </a:rPr>
              <a:t>光网络单元</a:t>
            </a:r>
          </a:p>
        </p:txBody>
      </p:sp>
      <p:sp>
        <p:nvSpPr>
          <p:cNvPr id="21" name="Text Box 23">
            <a:extLst>
              <a:ext uri="{FF2B5EF4-FFF2-40B4-BE49-F238E27FC236}">
                <a16:creationId xmlns:a16="http://schemas.microsoft.com/office/drawing/2014/main" id="{AAA93DA0-3310-614E-0B9B-4E4797341296}"/>
              </a:ext>
            </a:extLst>
          </p:cNvPr>
          <p:cNvSpPr txBox="1">
            <a:spLocks noChangeArrowheads="1"/>
          </p:cNvSpPr>
          <p:nvPr/>
        </p:nvSpPr>
        <p:spPr bwMode="auto">
          <a:xfrm>
            <a:off x="3162984" y="1515594"/>
            <a:ext cx="523874"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dirty="0">
                <a:ln w="12700">
                  <a:solidFill>
                    <a:sysClr val="windowText" lastClr="000000"/>
                  </a:solidFill>
                </a:ln>
                <a:solidFill>
                  <a:srgbClr val="00FFCC"/>
                </a:solidFill>
                <a:latin typeface="微软雅黑" pitchFamily="34" charset="-122"/>
                <a:ea typeface="微软雅黑" pitchFamily="34" charset="-122"/>
              </a:rPr>
              <a:t>★●</a:t>
            </a:r>
            <a:r>
              <a:rPr lang="en-US" altLang="zh-CN" sz="1200" b="1" dirty="0">
                <a:ln w="12700">
                  <a:solidFill>
                    <a:sysClr val="windowText" lastClr="000000"/>
                  </a:solidFill>
                </a:ln>
                <a:solidFill>
                  <a:srgbClr val="00FFCC"/>
                </a:solidFill>
                <a:latin typeface="微软雅黑" pitchFamily="34" charset="-122"/>
                <a:ea typeface="微软雅黑" pitchFamily="34" charset="-122"/>
                <a:sym typeface="Wingdings" pitchFamily="2" charset="2"/>
              </a:rPr>
              <a:t></a:t>
            </a:r>
          </a:p>
        </p:txBody>
      </p:sp>
      <p:sp>
        <p:nvSpPr>
          <p:cNvPr id="28" name="Line 30">
            <a:extLst>
              <a:ext uri="{FF2B5EF4-FFF2-40B4-BE49-F238E27FC236}">
                <a16:creationId xmlns:a16="http://schemas.microsoft.com/office/drawing/2014/main" id="{3D3CF002-3174-9D72-198B-4B1EB21BA77B}"/>
              </a:ext>
            </a:extLst>
          </p:cNvPr>
          <p:cNvSpPr>
            <a:spLocks noChangeShapeType="1"/>
          </p:cNvSpPr>
          <p:nvPr/>
        </p:nvSpPr>
        <p:spPr bwMode="auto">
          <a:xfrm>
            <a:off x="3658024" y="1621949"/>
            <a:ext cx="168725"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grpSp>
        <p:nvGrpSpPr>
          <p:cNvPr id="89" name="组合 88">
            <a:extLst>
              <a:ext uri="{FF2B5EF4-FFF2-40B4-BE49-F238E27FC236}">
                <a16:creationId xmlns:a16="http://schemas.microsoft.com/office/drawing/2014/main" id="{21C19210-C708-6742-8EC8-95D77BEFE345}"/>
              </a:ext>
            </a:extLst>
          </p:cNvPr>
          <p:cNvGrpSpPr/>
          <p:nvPr/>
        </p:nvGrpSpPr>
        <p:grpSpPr>
          <a:xfrm>
            <a:off x="4798086" y="1291836"/>
            <a:ext cx="726165" cy="687205"/>
            <a:chOff x="4798086" y="1291836"/>
            <a:chExt cx="726165" cy="687205"/>
          </a:xfrm>
        </p:grpSpPr>
        <p:sp>
          <p:nvSpPr>
            <p:cNvPr id="22" name="Text Box 24">
              <a:extLst>
                <a:ext uri="{FF2B5EF4-FFF2-40B4-BE49-F238E27FC236}">
                  <a16:creationId xmlns:a16="http://schemas.microsoft.com/office/drawing/2014/main" id="{438ECC2E-CBAC-EF63-D1E9-7A3B3B787FFC}"/>
                </a:ext>
              </a:extLst>
            </p:cNvPr>
            <p:cNvSpPr txBox="1">
              <a:spLocks noChangeArrowheads="1"/>
            </p:cNvSpPr>
            <p:nvPr/>
          </p:nvSpPr>
          <p:spPr bwMode="auto">
            <a:xfrm>
              <a:off x="4843756" y="1525071"/>
              <a:ext cx="523874"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dirty="0">
                  <a:ln w="12700">
                    <a:solidFill>
                      <a:sysClr val="windowText" lastClr="000000"/>
                    </a:solidFill>
                  </a:ln>
                  <a:solidFill>
                    <a:srgbClr val="00FFCC"/>
                  </a:solidFill>
                  <a:latin typeface="微软雅黑" pitchFamily="34" charset="-122"/>
                  <a:ea typeface="微软雅黑" pitchFamily="34" charset="-122"/>
                </a:rPr>
                <a:t>★●</a:t>
              </a:r>
              <a:r>
                <a:rPr lang="en-US" altLang="zh-CN" sz="1200" b="1" dirty="0">
                  <a:ln w="12700">
                    <a:solidFill>
                      <a:sysClr val="windowText" lastClr="000000"/>
                    </a:solidFill>
                  </a:ln>
                  <a:solidFill>
                    <a:srgbClr val="00FFCC"/>
                  </a:solidFill>
                  <a:latin typeface="微软雅黑" pitchFamily="34" charset="-122"/>
                  <a:ea typeface="微软雅黑" pitchFamily="34" charset="-122"/>
                  <a:sym typeface="Wingdings" pitchFamily="2" charset="2"/>
                </a:rPr>
                <a:t></a:t>
              </a:r>
            </a:p>
          </p:txBody>
        </p:sp>
        <p:sp>
          <p:nvSpPr>
            <p:cNvPr id="24" name="Text Box 26">
              <a:extLst>
                <a:ext uri="{FF2B5EF4-FFF2-40B4-BE49-F238E27FC236}">
                  <a16:creationId xmlns:a16="http://schemas.microsoft.com/office/drawing/2014/main" id="{77059F4A-75C3-C847-5E42-C320352E1BAE}"/>
                </a:ext>
              </a:extLst>
            </p:cNvPr>
            <p:cNvSpPr txBox="1">
              <a:spLocks noChangeArrowheads="1"/>
            </p:cNvSpPr>
            <p:nvPr/>
          </p:nvSpPr>
          <p:spPr bwMode="auto">
            <a:xfrm rot="1462546">
              <a:off x="4815504" y="1747251"/>
              <a:ext cx="523874"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dirty="0">
                  <a:ln w="12700">
                    <a:solidFill>
                      <a:sysClr val="windowText" lastClr="000000"/>
                    </a:solidFill>
                  </a:ln>
                  <a:solidFill>
                    <a:srgbClr val="00FFCC"/>
                  </a:solidFill>
                  <a:latin typeface="微软雅黑" pitchFamily="34" charset="-122"/>
                  <a:ea typeface="微软雅黑" pitchFamily="34" charset="-122"/>
                </a:rPr>
                <a:t>★●</a:t>
              </a:r>
              <a:r>
                <a:rPr lang="en-US" altLang="zh-CN" sz="1200" b="1" dirty="0">
                  <a:ln w="12700">
                    <a:solidFill>
                      <a:sysClr val="windowText" lastClr="000000"/>
                    </a:solidFill>
                  </a:ln>
                  <a:solidFill>
                    <a:srgbClr val="00FFCC"/>
                  </a:solidFill>
                  <a:latin typeface="微软雅黑" pitchFamily="34" charset="-122"/>
                  <a:ea typeface="微软雅黑" pitchFamily="34" charset="-122"/>
                  <a:sym typeface="Wingdings" pitchFamily="2" charset="2"/>
                </a:rPr>
                <a:t></a:t>
              </a:r>
            </a:p>
          </p:txBody>
        </p:sp>
        <p:sp>
          <p:nvSpPr>
            <p:cNvPr id="25" name="Text Box 27">
              <a:extLst>
                <a:ext uri="{FF2B5EF4-FFF2-40B4-BE49-F238E27FC236}">
                  <a16:creationId xmlns:a16="http://schemas.microsoft.com/office/drawing/2014/main" id="{EE6843C3-D63E-AAFF-A3D1-8B84F3D56B7C}"/>
                </a:ext>
              </a:extLst>
            </p:cNvPr>
            <p:cNvSpPr txBox="1">
              <a:spLocks noChangeArrowheads="1"/>
            </p:cNvSpPr>
            <p:nvPr/>
          </p:nvSpPr>
          <p:spPr bwMode="auto">
            <a:xfrm rot="20338690">
              <a:off x="4798086" y="1291836"/>
              <a:ext cx="523874"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dirty="0">
                  <a:ln w="12700">
                    <a:solidFill>
                      <a:sysClr val="windowText" lastClr="000000"/>
                    </a:solidFill>
                  </a:ln>
                  <a:solidFill>
                    <a:srgbClr val="00FFCC"/>
                  </a:solidFill>
                  <a:latin typeface="微软雅黑" pitchFamily="34" charset="-122"/>
                  <a:ea typeface="微软雅黑" pitchFamily="34" charset="-122"/>
                </a:rPr>
                <a:t>★●</a:t>
              </a:r>
              <a:r>
                <a:rPr lang="en-US" altLang="zh-CN" sz="1200" b="1" dirty="0">
                  <a:ln w="12700">
                    <a:solidFill>
                      <a:sysClr val="windowText" lastClr="000000"/>
                    </a:solidFill>
                  </a:ln>
                  <a:solidFill>
                    <a:srgbClr val="00FFCC"/>
                  </a:solidFill>
                  <a:latin typeface="微软雅黑" pitchFamily="34" charset="-122"/>
                  <a:ea typeface="微软雅黑" pitchFamily="34" charset="-122"/>
                  <a:sym typeface="Wingdings" pitchFamily="2" charset="2"/>
                </a:rPr>
                <a:t></a:t>
              </a:r>
            </a:p>
          </p:txBody>
        </p:sp>
        <p:sp>
          <p:nvSpPr>
            <p:cNvPr id="29" name="Line 31">
              <a:extLst>
                <a:ext uri="{FF2B5EF4-FFF2-40B4-BE49-F238E27FC236}">
                  <a16:creationId xmlns:a16="http://schemas.microsoft.com/office/drawing/2014/main" id="{03E923C4-1326-F9AE-9F82-512BE7A4E11E}"/>
                </a:ext>
              </a:extLst>
            </p:cNvPr>
            <p:cNvSpPr>
              <a:spLocks noChangeShapeType="1"/>
            </p:cNvSpPr>
            <p:nvPr/>
          </p:nvSpPr>
          <p:spPr bwMode="auto">
            <a:xfrm rot="20348732">
              <a:off x="5312646" y="1335032"/>
              <a:ext cx="168725"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2" name="Line 34">
              <a:extLst>
                <a:ext uri="{FF2B5EF4-FFF2-40B4-BE49-F238E27FC236}">
                  <a16:creationId xmlns:a16="http://schemas.microsoft.com/office/drawing/2014/main" id="{CC213FEA-A421-F0FD-8921-CA7392D9B33C}"/>
                </a:ext>
              </a:extLst>
            </p:cNvPr>
            <p:cNvSpPr>
              <a:spLocks noChangeShapeType="1"/>
            </p:cNvSpPr>
            <p:nvPr/>
          </p:nvSpPr>
          <p:spPr bwMode="auto">
            <a:xfrm rot="1377025">
              <a:off x="5308623" y="1979041"/>
              <a:ext cx="168726"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3" name="Line 35">
              <a:extLst>
                <a:ext uri="{FF2B5EF4-FFF2-40B4-BE49-F238E27FC236}">
                  <a16:creationId xmlns:a16="http://schemas.microsoft.com/office/drawing/2014/main" id="{13D4BCFE-C996-D15A-4004-C43671A1A84E}"/>
                </a:ext>
              </a:extLst>
            </p:cNvPr>
            <p:cNvSpPr>
              <a:spLocks noChangeShapeType="1"/>
            </p:cNvSpPr>
            <p:nvPr/>
          </p:nvSpPr>
          <p:spPr bwMode="auto">
            <a:xfrm>
              <a:off x="5355526" y="1632164"/>
              <a:ext cx="168725"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grpSp>
      <p:grpSp>
        <p:nvGrpSpPr>
          <p:cNvPr id="86" name="组合 85">
            <a:extLst>
              <a:ext uri="{FF2B5EF4-FFF2-40B4-BE49-F238E27FC236}">
                <a16:creationId xmlns:a16="http://schemas.microsoft.com/office/drawing/2014/main" id="{92485259-FA19-9987-2D10-1D4D1B2BCE98}"/>
              </a:ext>
            </a:extLst>
          </p:cNvPr>
          <p:cNvGrpSpPr/>
          <p:nvPr/>
        </p:nvGrpSpPr>
        <p:grpSpPr>
          <a:xfrm>
            <a:off x="6496712" y="1160249"/>
            <a:ext cx="425076" cy="1020703"/>
            <a:chOff x="6496712" y="1160249"/>
            <a:chExt cx="425076" cy="1020703"/>
          </a:xfrm>
        </p:grpSpPr>
        <p:sp>
          <p:nvSpPr>
            <p:cNvPr id="23" name="Text Box 25">
              <a:extLst>
                <a:ext uri="{FF2B5EF4-FFF2-40B4-BE49-F238E27FC236}">
                  <a16:creationId xmlns:a16="http://schemas.microsoft.com/office/drawing/2014/main" id="{41B305FA-FE83-EBC7-2A2B-20D96ABD6523}"/>
                </a:ext>
              </a:extLst>
            </p:cNvPr>
            <p:cNvSpPr txBox="1">
              <a:spLocks noChangeArrowheads="1"/>
            </p:cNvSpPr>
            <p:nvPr/>
          </p:nvSpPr>
          <p:spPr bwMode="auto">
            <a:xfrm>
              <a:off x="6496712" y="1962796"/>
              <a:ext cx="265816"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dirty="0">
                  <a:ln w="12700">
                    <a:solidFill>
                      <a:sysClr val="windowText" lastClr="000000"/>
                    </a:solidFill>
                  </a:ln>
                  <a:solidFill>
                    <a:srgbClr val="00FFCC"/>
                  </a:solidFill>
                  <a:latin typeface="微软雅黑" pitchFamily="34" charset="-122"/>
                  <a:ea typeface="微软雅黑" pitchFamily="34" charset="-122"/>
                </a:rPr>
                <a:t>●</a:t>
              </a:r>
              <a:endParaRPr lang="en-US" altLang="zh-CN" sz="1200" b="1" dirty="0">
                <a:ln w="12700">
                  <a:solidFill>
                    <a:sysClr val="windowText" lastClr="000000"/>
                  </a:solidFill>
                </a:ln>
                <a:solidFill>
                  <a:srgbClr val="00FFCC"/>
                </a:solidFill>
                <a:latin typeface="微软雅黑" pitchFamily="34" charset="-122"/>
                <a:ea typeface="微软雅黑" pitchFamily="34" charset="-122"/>
                <a:sym typeface="Wingdings" pitchFamily="2" charset="2"/>
              </a:endParaRPr>
            </a:p>
          </p:txBody>
        </p:sp>
        <p:sp>
          <p:nvSpPr>
            <p:cNvPr id="26" name="Text Box 28">
              <a:extLst>
                <a:ext uri="{FF2B5EF4-FFF2-40B4-BE49-F238E27FC236}">
                  <a16:creationId xmlns:a16="http://schemas.microsoft.com/office/drawing/2014/main" id="{031EFB57-7FAA-6FC4-2D67-D967E890657F}"/>
                </a:ext>
              </a:extLst>
            </p:cNvPr>
            <p:cNvSpPr txBox="1">
              <a:spLocks noChangeArrowheads="1"/>
            </p:cNvSpPr>
            <p:nvPr/>
          </p:nvSpPr>
          <p:spPr bwMode="auto">
            <a:xfrm>
              <a:off x="6502306" y="1533120"/>
              <a:ext cx="313549"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a:ln w="12700">
                    <a:solidFill>
                      <a:sysClr val="windowText" lastClr="000000"/>
                    </a:solidFill>
                  </a:ln>
                  <a:solidFill>
                    <a:srgbClr val="00FFCC"/>
                  </a:solidFill>
                  <a:latin typeface="微软雅黑" pitchFamily="34" charset="-122"/>
                  <a:ea typeface="微软雅黑" pitchFamily="34" charset="-122"/>
                  <a:sym typeface="Wingdings" pitchFamily="2" charset="2"/>
                </a:rPr>
                <a:t></a:t>
              </a:r>
            </a:p>
          </p:txBody>
        </p:sp>
        <p:sp>
          <p:nvSpPr>
            <p:cNvPr id="27" name="Text Box 29">
              <a:extLst>
                <a:ext uri="{FF2B5EF4-FFF2-40B4-BE49-F238E27FC236}">
                  <a16:creationId xmlns:a16="http://schemas.microsoft.com/office/drawing/2014/main" id="{954FB2E1-97F9-3C96-63DD-E7EEF7584982}"/>
                </a:ext>
              </a:extLst>
            </p:cNvPr>
            <p:cNvSpPr txBox="1">
              <a:spLocks noChangeArrowheads="1"/>
            </p:cNvSpPr>
            <p:nvPr/>
          </p:nvSpPr>
          <p:spPr bwMode="auto">
            <a:xfrm>
              <a:off x="6496712" y="1160249"/>
              <a:ext cx="288190"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a:ln w="12700">
                    <a:solidFill>
                      <a:sysClr val="windowText" lastClr="000000"/>
                    </a:solidFill>
                  </a:ln>
                  <a:solidFill>
                    <a:srgbClr val="00FFCC"/>
                  </a:solidFill>
                  <a:latin typeface="微软雅黑" pitchFamily="34" charset="-122"/>
                  <a:ea typeface="微软雅黑" pitchFamily="34" charset="-122"/>
                </a:rPr>
                <a:t>★</a:t>
              </a:r>
              <a:endParaRPr lang="en-US" altLang="zh-CN" sz="1200" b="1">
                <a:ln w="12700">
                  <a:solidFill>
                    <a:sysClr val="windowText" lastClr="000000"/>
                  </a:solidFill>
                </a:ln>
                <a:solidFill>
                  <a:srgbClr val="00FFCC"/>
                </a:solidFill>
                <a:latin typeface="微软雅黑" pitchFamily="34" charset="-122"/>
                <a:ea typeface="微软雅黑" pitchFamily="34" charset="-122"/>
                <a:sym typeface="Wingdings" pitchFamily="2" charset="2"/>
              </a:endParaRPr>
            </a:p>
          </p:txBody>
        </p:sp>
        <p:sp>
          <p:nvSpPr>
            <p:cNvPr id="30" name="Line 32">
              <a:extLst>
                <a:ext uri="{FF2B5EF4-FFF2-40B4-BE49-F238E27FC236}">
                  <a16:creationId xmlns:a16="http://schemas.microsoft.com/office/drawing/2014/main" id="{98B135B8-AF62-BB98-71F0-520B1B59B2F4}"/>
                </a:ext>
              </a:extLst>
            </p:cNvPr>
            <p:cNvSpPr>
              <a:spLocks noChangeShapeType="1"/>
            </p:cNvSpPr>
            <p:nvPr/>
          </p:nvSpPr>
          <p:spPr bwMode="auto">
            <a:xfrm>
              <a:off x="6750266" y="2094778"/>
              <a:ext cx="168726"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1" name="Line 33">
              <a:extLst>
                <a:ext uri="{FF2B5EF4-FFF2-40B4-BE49-F238E27FC236}">
                  <a16:creationId xmlns:a16="http://schemas.microsoft.com/office/drawing/2014/main" id="{1882783C-2D09-91A7-8D01-A8F2D0098CB3}"/>
                </a:ext>
              </a:extLst>
            </p:cNvPr>
            <p:cNvSpPr>
              <a:spLocks noChangeShapeType="1"/>
            </p:cNvSpPr>
            <p:nvPr/>
          </p:nvSpPr>
          <p:spPr bwMode="auto">
            <a:xfrm>
              <a:off x="6750266" y="1665102"/>
              <a:ext cx="168726"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4" name="Line 36">
              <a:extLst>
                <a:ext uri="{FF2B5EF4-FFF2-40B4-BE49-F238E27FC236}">
                  <a16:creationId xmlns:a16="http://schemas.microsoft.com/office/drawing/2014/main" id="{E8B443DE-6867-09EA-4DE3-7929F0F105F8}"/>
                </a:ext>
              </a:extLst>
            </p:cNvPr>
            <p:cNvSpPr>
              <a:spLocks noChangeShapeType="1"/>
            </p:cNvSpPr>
            <p:nvPr/>
          </p:nvSpPr>
          <p:spPr bwMode="auto">
            <a:xfrm>
              <a:off x="6753063" y="1289318"/>
              <a:ext cx="168725"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grpSp>
      <p:sp>
        <p:nvSpPr>
          <p:cNvPr id="35" name="AutoShape 68">
            <a:extLst>
              <a:ext uri="{FF2B5EF4-FFF2-40B4-BE49-F238E27FC236}">
                <a16:creationId xmlns:a16="http://schemas.microsoft.com/office/drawing/2014/main" id="{185950AF-EBF7-CC75-360D-A65B8FA17A5F}"/>
              </a:ext>
            </a:extLst>
          </p:cNvPr>
          <p:cNvSpPr>
            <a:spLocks noChangeArrowheads="1"/>
          </p:cNvSpPr>
          <p:nvPr/>
        </p:nvSpPr>
        <p:spPr bwMode="auto">
          <a:xfrm>
            <a:off x="2050986" y="1182194"/>
            <a:ext cx="1416703" cy="193845"/>
          </a:xfrm>
          <a:prstGeom prst="wedgeRoundRectCallout">
            <a:avLst>
              <a:gd name="adj1" fmla="val 45684"/>
              <a:gd name="adj2" fmla="val 158215"/>
              <a:gd name="adj3" fmla="val 16667"/>
            </a:avLst>
          </a:prstGeom>
          <a:solidFill>
            <a:schemeClr val="bg1"/>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sz="1200" b="1">
              <a:solidFill>
                <a:srgbClr val="000099"/>
              </a:solidFill>
              <a:latin typeface="微软雅黑" pitchFamily="34" charset="-122"/>
              <a:ea typeface="微软雅黑" pitchFamily="34" charset="-122"/>
            </a:endParaRPr>
          </a:p>
        </p:txBody>
      </p:sp>
      <p:sp>
        <p:nvSpPr>
          <p:cNvPr id="36" name="Text Box 69">
            <a:extLst>
              <a:ext uri="{FF2B5EF4-FFF2-40B4-BE49-F238E27FC236}">
                <a16:creationId xmlns:a16="http://schemas.microsoft.com/office/drawing/2014/main" id="{7A2AD4AE-BF29-D106-404E-EB825D6C8F7F}"/>
              </a:ext>
            </a:extLst>
          </p:cNvPr>
          <p:cNvSpPr txBox="1">
            <a:spLocks noChangeArrowheads="1"/>
          </p:cNvSpPr>
          <p:nvPr/>
        </p:nvSpPr>
        <p:spPr bwMode="auto">
          <a:xfrm>
            <a:off x="2022468" y="1153534"/>
            <a:ext cx="1631468"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1050" b="1" dirty="0">
                <a:solidFill>
                  <a:srgbClr val="0000FF"/>
                </a:solidFill>
                <a:latin typeface="微软雅黑" pitchFamily="34" charset="-122"/>
                <a:ea typeface="微软雅黑" pitchFamily="34" charset="-122"/>
              </a:rPr>
              <a:t>发往特定 </a:t>
            </a:r>
            <a:r>
              <a:rPr lang="en-US" altLang="zh-CN" sz="1050" b="1" dirty="0">
                <a:solidFill>
                  <a:srgbClr val="0000FF"/>
                </a:solidFill>
                <a:latin typeface="微软雅黑" pitchFamily="34" charset="-122"/>
                <a:ea typeface="微软雅黑" pitchFamily="34" charset="-122"/>
              </a:rPr>
              <a:t>ONU </a:t>
            </a:r>
            <a:r>
              <a:rPr lang="zh-CN" altLang="en-US" sz="1050" b="1" dirty="0">
                <a:solidFill>
                  <a:srgbClr val="0000FF"/>
                </a:solidFill>
                <a:latin typeface="微软雅黑" pitchFamily="34" charset="-122"/>
                <a:ea typeface="微软雅黑" pitchFamily="34" charset="-122"/>
              </a:rPr>
              <a:t>的数据</a:t>
            </a:r>
          </a:p>
        </p:txBody>
      </p:sp>
      <p:sp>
        <p:nvSpPr>
          <p:cNvPr id="37" name="Text Box 72">
            <a:extLst>
              <a:ext uri="{FF2B5EF4-FFF2-40B4-BE49-F238E27FC236}">
                <a16:creationId xmlns:a16="http://schemas.microsoft.com/office/drawing/2014/main" id="{72E5EABA-4CEE-3951-54F4-5179F650DD16}"/>
              </a:ext>
            </a:extLst>
          </p:cNvPr>
          <p:cNvSpPr txBox="1">
            <a:spLocks noChangeArrowheads="1"/>
          </p:cNvSpPr>
          <p:nvPr/>
        </p:nvSpPr>
        <p:spPr bwMode="auto">
          <a:xfrm>
            <a:off x="4017306" y="1282331"/>
            <a:ext cx="511098" cy="261910"/>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1200" b="1" dirty="0">
                <a:latin typeface="微软雅黑" pitchFamily="34" charset="-122"/>
                <a:ea typeface="微软雅黑" pitchFamily="34" charset="-122"/>
              </a:rPr>
              <a:t>下行</a:t>
            </a:r>
          </a:p>
        </p:txBody>
      </p:sp>
      <p:sp>
        <p:nvSpPr>
          <p:cNvPr id="38" name="Line 74">
            <a:extLst>
              <a:ext uri="{FF2B5EF4-FFF2-40B4-BE49-F238E27FC236}">
                <a16:creationId xmlns:a16="http://schemas.microsoft.com/office/drawing/2014/main" id="{BD48CA52-426E-7079-A6D4-FD3BB697F03D}"/>
              </a:ext>
            </a:extLst>
          </p:cNvPr>
          <p:cNvSpPr>
            <a:spLocks noChangeShapeType="1"/>
          </p:cNvSpPr>
          <p:nvPr/>
        </p:nvSpPr>
        <p:spPr bwMode="auto">
          <a:xfrm>
            <a:off x="4083960" y="1533476"/>
            <a:ext cx="422280"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grpSp>
        <p:nvGrpSpPr>
          <p:cNvPr id="39" name="组合 38">
            <a:extLst>
              <a:ext uri="{FF2B5EF4-FFF2-40B4-BE49-F238E27FC236}">
                <a16:creationId xmlns:a16="http://schemas.microsoft.com/office/drawing/2014/main" id="{C2864C81-C0F0-FCBB-EAB3-AD545F2A7AE9}"/>
              </a:ext>
            </a:extLst>
          </p:cNvPr>
          <p:cNvGrpSpPr/>
          <p:nvPr/>
        </p:nvGrpSpPr>
        <p:grpSpPr>
          <a:xfrm>
            <a:off x="2417038" y="3411582"/>
            <a:ext cx="3995341" cy="274931"/>
            <a:chOff x="1169459" y="5805264"/>
            <a:chExt cx="7371027" cy="599306"/>
          </a:xfrm>
        </p:grpSpPr>
        <p:sp>
          <p:nvSpPr>
            <p:cNvPr id="40" name="Text Box 76">
              <a:extLst>
                <a:ext uri="{FF2B5EF4-FFF2-40B4-BE49-F238E27FC236}">
                  <a16:creationId xmlns:a16="http://schemas.microsoft.com/office/drawing/2014/main" id="{F5AC680A-D4B0-2980-9F99-F4E5563CE7C0}"/>
                </a:ext>
              </a:extLst>
            </p:cNvPr>
            <p:cNvSpPr txBox="1">
              <a:spLocks noChangeArrowheads="1"/>
            </p:cNvSpPr>
            <p:nvPr/>
          </p:nvSpPr>
          <p:spPr bwMode="auto">
            <a:xfrm>
              <a:off x="1631722" y="5916327"/>
              <a:ext cx="845411" cy="475544"/>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200" b="1" dirty="0">
                  <a:latin typeface="微软雅黑" pitchFamily="34" charset="-122"/>
                  <a:ea typeface="微软雅黑" pitchFamily="34" charset="-122"/>
                </a:rPr>
                <a:t>局端</a:t>
              </a:r>
            </a:p>
          </p:txBody>
        </p:sp>
        <p:sp>
          <p:nvSpPr>
            <p:cNvPr id="41" name="AutoShape 77">
              <a:extLst>
                <a:ext uri="{FF2B5EF4-FFF2-40B4-BE49-F238E27FC236}">
                  <a16:creationId xmlns:a16="http://schemas.microsoft.com/office/drawing/2014/main" id="{0A1DD566-3B39-4478-BE64-A0B6FE9398C9}"/>
                </a:ext>
              </a:extLst>
            </p:cNvPr>
            <p:cNvSpPr>
              <a:spLocks/>
            </p:cNvSpPr>
            <p:nvPr/>
          </p:nvSpPr>
          <p:spPr bwMode="auto">
            <a:xfrm rot="-5400000">
              <a:off x="1975909" y="4998814"/>
              <a:ext cx="141287" cy="1754188"/>
            </a:xfrm>
            <a:prstGeom prst="leftBrace">
              <a:avLst>
                <a:gd name="adj1" fmla="val 95506"/>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42" name="AutoShape 78">
              <a:extLst>
                <a:ext uri="{FF2B5EF4-FFF2-40B4-BE49-F238E27FC236}">
                  <a16:creationId xmlns:a16="http://schemas.microsoft.com/office/drawing/2014/main" id="{D3A3AF15-1EDC-F24E-2C3F-63173D96AA3B}"/>
                </a:ext>
              </a:extLst>
            </p:cNvPr>
            <p:cNvSpPr>
              <a:spLocks/>
            </p:cNvSpPr>
            <p:nvPr/>
          </p:nvSpPr>
          <p:spPr bwMode="auto">
            <a:xfrm rot="-5400000">
              <a:off x="4743187" y="4025280"/>
              <a:ext cx="144462" cy="3704431"/>
            </a:xfrm>
            <a:prstGeom prst="leftBrace">
              <a:avLst>
                <a:gd name="adj1" fmla="val 197253"/>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43" name="AutoShape 79">
              <a:extLst>
                <a:ext uri="{FF2B5EF4-FFF2-40B4-BE49-F238E27FC236}">
                  <a16:creationId xmlns:a16="http://schemas.microsoft.com/office/drawing/2014/main" id="{94EF5373-8651-1C41-7314-68BE150A26F3}"/>
                </a:ext>
              </a:extLst>
            </p:cNvPr>
            <p:cNvSpPr>
              <a:spLocks/>
            </p:cNvSpPr>
            <p:nvPr/>
          </p:nvSpPr>
          <p:spPr bwMode="auto">
            <a:xfrm rot="-5400000">
              <a:off x="7592748" y="4998814"/>
              <a:ext cx="141287" cy="1754188"/>
            </a:xfrm>
            <a:prstGeom prst="leftBrace">
              <a:avLst>
                <a:gd name="adj1" fmla="val 95506"/>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44" name="Text Box 80">
              <a:extLst>
                <a:ext uri="{FF2B5EF4-FFF2-40B4-BE49-F238E27FC236}">
                  <a16:creationId xmlns:a16="http://schemas.microsoft.com/office/drawing/2014/main" id="{21C76F62-0F93-E1EE-1DFD-98394B35BB22}"/>
                </a:ext>
              </a:extLst>
            </p:cNvPr>
            <p:cNvSpPr txBox="1">
              <a:spLocks noChangeArrowheads="1"/>
            </p:cNvSpPr>
            <p:nvPr/>
          </p:nvSpPr>
          <p:spPr bwMode="auto">
            <a:xfrm>
              <a:off x="7092061" y="5916327"/>
              <a:ext cx="1109602" cy="475544"/>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200" b="1">
                  <a:latin typeface="微软雅黑" pitchFamily="34" charset="-122"/>
                  <a:ea typeface="微软雅黑" pitchFamily="34" charset="-122"/>
                </a:rPr>
                <a:t>用户端</a:t>
              </a:r>
            </a:p>
          </p:txBody>
        </p:sp>
        <p:sp>
          <p:nvSpPr>
            <p:cNvPr id="45" name="Text Box 81">
              <a:extLst>
                <a:ext uri="{FF2B5EF4-FFF2-40B4-BE49-F238E27FC236}">
                  <a16:creationId xmlns:a16="http://schemas.microsoft.com/office/drawing/2014/main" id="{E034FB49-F1FA-B36D-0EBA-ACE36EE9B02B}"/>
                </a:ext>
              </a:extLst>
            </p:cNvPr>
            <p:cNvSpPr txBox="1">
              <a:spLocks noChangeArrowheads="1"/>
            </p:cNvSpPr>
            <p:nvPr/>
          </p:nvSpPr>
          <p:spPr bwMode="auto">
            <a:xfrm>
              <a:off x="3970639" y="5929026"/>
              <a:ext cx="2306717" cy="475544"/>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200" b="1" dirty="0">
                  <a:latin typeface="微软雅黑" pitchFamily="34" charset="-122"/>
                  <a:ea typeface="微软雅黑" pitchFamily="34" charset="-122"/>
                </a:rPr>
                <a:t>光配线网 </a:t>
              </a:r>
              <a:r>
                <a:rPr lang="en-US" altLang="zh-CN" sz="1200" b="1" dirty="0">
                  <a:latin typeface="微软雅黑" pitchFamily="34" charset="-122"/>
                  <a:ea typeface="微软雅黑" pitchFamily="34" charset="-122"/>
                </a:rPr>
                <a:t>(ODN)</a:t>
              </a:r>
            </a:p>
          </p:txBody>
        </p:sp>
      </p:grpSp>
      <p:grpSp>
        <p:nvGrpSpPr>
          <p:cNvPr id="46" name="Group 37">
            <a:extLst>
              <a:ext uri="{FF2B5EF4-FFF2-40B4-BE49-F238E27FC236}">
                <a16:creationId xmlns:a16="http://schemas.microsoft.com/office/drawing/2014/main" id="{80DC20BB-4CC4-EC46-3899-63BE0803DC63}"/>
              </a:ext>
            </a:extLst>
          </p:cNvPr>
          <p:cNvGrpSpPr>
            <a:grpSpLocks/>
          </p:cNvGrpSpPr>
          <p:nvPr/>
        </p:nvGrpSpPr>
        <p:grpSpPr bwMode="auto">
          <a:xfrm>
            <a:off x="5849701" y="2485333"/>
            <a:ext cx="1152942" cy="803275"/>
            <a:chOff x="3844" y="1238"/>
            <a:chExt cx="1032" cy="1103"/>
          </a:xfrm>
        </p:grpSpPr>
        <p:sp>
          <p:nvSpPr>
            <p:cNvPr id="47" name="Line 38">
              <a:extLst>
                <a:ext uri="{FF2B5EF4-FFF2-40B4-BE49-F238E27FC236}">
                  <a16:creationId xmlns:a16="http://schemas.microsoft.com/office/drawing/2014/main" id="{8D7F5506-4BCC-5E5F-A7FC-6255A6350456}"/>
                </a:ext>
              </a:extLst>
            </p:cNvPr>
            <p:cNvSpPr>
              <a:spLocks noChangeShapeType="1"/>
            </p:cNvSpPr>
            <p:nvPr/>
          </p:nvSpPr>
          <p:spPr bwMode="auto">
            <a:xfrm>
              <a:off x="3844" y="1752"/>
              <a:ext cx="1032" cy="0"/>
            </a:xfrm>
            <a:prstGeom prst="line">
              <a:avLst/>
            </a:prstGeom>
            <a:noFill/>
            <a:ln w="127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48" name="Line 39">
              <a:extLst>
                <a:ext uri="{FF2B5EF4-FFF2-40B4-BE49-F238E27FC236}">
                  <a16:creationId xmlns:a16="http://schemas.microsoft.com/office/drawing/2014/main" id="{820B079C-CC7B-0BB9-7EDD-F1B4399397EB}"/>
                </a:ext>
              </a:extLst>
            </p:cNvPr>
            <p:cNvSpPr>
              <a:spLocks noChangeShapeType="1"/>
            </p:cNvSpPr>
            <p:nvPr/>
          </p:nvSpPr>
          <p:spPr bwMode="auto">
            <a:xfrm>
              <a:off x="3923" y="2341"/>
              <a:ext cx="953" cy="0"/>
            </a:xfrm>
            <a:prstGeom prst="line">
              <a:avLst/>
            </a:prstGeom>
            <a:noFill/>
            <a:ln w="127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49" name="Line 40">
              <a:extLst>
                <a:ext uri="{FF2B5EF4-FFF2-40B4-BE49-F238E27FC236}">
                  <a16:creationId xmlns:a16="http://schemas.microsoft.com/office/drawing/2014/main" id="{D853CFE4-35AE-85AC-EE7C-AB3CAB8516BC}"/>
                </a:ext>
              </a:extLst>
            </p:cNvPr>
            <p:cNvSpPr>
              <a:spLocks noChangeShapeType="1"/>
            </p:cNvSpPr>
            <p:nvPr/>
          </p:nvSpPr>
          <p:spPr bwMode="auto">
            <a:xfrm>
              <a:off x="3923" y="1238"/>
              <a:ext cx="953" cy="0"/>
            </a:xfrm>
            <a:prstGeom prst="line">
              <a:avLst/>
            </a:prstGeom>
            <a:noFill/>
            <a:ln w="127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grpSp>
      <p:sp>
        <p:nvSpPr>
          <p:cNvPr id="10" name="Text Box 8">
            <a:extLst>
              <a:ext uri="{FF2B5EF4-FFF2-40B4-BE49-F238E27FC236}">
                <a16:creationId xmlns:a16="http://schemas.microsoft.com/office/drawing/2014/main" id="{27E95466-A4C1-F996-4C86-4A5DCF60865F}"/>
              </a:ext>
            </a:extLst>
          </p:cNvPr>
          <p:cNvSpPr txBox="1">
            <a:spLocks noChangeArrowheads="1"/>
          </p:cNvSpPr>
          <p:nvPr/>
        </p:nvSpPr>
        <p:spPr bwMode="auto">
          <a:xfrm>
            <a:off x="2554811" y="1437913"/>
            <a:ext cx="434373" cy="206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050" b="1" dirty="0">
                <a:latin typeface="微软雅黑" pitchFamily="34" charset="-122"/>
                <a:ea typeface="微软雅黑" pitchFamily="34" charset="-122"/>
              </a:rPr>
              <a:t>头端</a:t>
            </a:r>
          </a:p>
        </p:txBody>
      </p:sp>
      <p:sp>
        <p:nvSpPr>
          <p:cNvPr id="51" name="Rectangle 42">
            <a:extLst>
              <a:ext uri="{FF2B5EF4-FFF2-40B4-BE49-F238E27FC236}">
                <a16:creationId xmlns:a16="http://schemas.microsoft.com/office/drawing/2014/main" id="{6BA84336-1752-3A04-5479-B204FA9FAC91}"/>
              </a:ext>
            </a:extLst>
          </p:cNvPr>
          <p:cNvSpPr>
            <a:spLocks noChangeArrowheads="1"/>
          </p:cNvSpPr>
          <p:nvPr/>
        </p:nvSpPr>
        <p:spPr bwMode="auto">
          <a:xfrm>
            <a:off x="4103499" y="2760616"/>
            <a:ext cx="380331" cy="198088"/>
          </a:xfrm>
          <a:prstGeom prst="rect">
            <a:avLst/>
          </a:prstGeom>
          <a:solidFill>
            <a:srgbClr val="00FFCC"/>
          </a:solidFill>
          <a:ln w="19050">
            <a:solidFill>
              <a:schemeClr val="tx1"/>
            </a:solidFill>
            <a:miter lim="800000"/>
            <a:headEnd/>
            <a:tailEnd/>
          </a:ln>
          <a:effectLst/>
        </p:spPr>
        <p:txBody>
          <a:bodyPr wrap="none" anchor="ctr"/>
          <a:lstStyle/>
          <a:p>
            <a:pPr algn="ctr"/>
            <a:r>
              <a:rPr lang="en-US" altLang="zh-CN" sz="1200" b="1" dirty="0">
                <a:latin typeface="微软雅黑" pitchFamily="34" charset="-122"/>
                <a:ea typeface="微软雅黑" pitchFamily="34" charset="-122"/>
              </a:rPr>
              <a:t>1:N</a:t>
            </a:r>
          </a:p>
        </p:txBody>
      </p:sp>
      <p:sp>
        <p:nvSpPr>
          <p:cNvPr id="52" name="Line 45">
            <a:extLst>
              <a:ext uri="{FF2B5EF4-FFF2-40B4-BE49-F238E27FC236}">
                <a16:creationId xmlns:a16="http://schemas.microsoft.com/office/drawing/2014/main" id="{163B5CDF-60A7-C709-F3FA-8411DDE40F4D}"/>
              </a:ext>
            </a:extLst>
          </p:cNvPr>
          <p:cNvSpPr>
            <a:spLocks noChangeShapeType="1"/>
          </p:cNvSpPr>
          <p:nvPr/>
        </p:nvSpPr>
        <p:spPr bwMode="auto">
          <a:xfrm>
            <a:off x="1491642" y="2859660"/>
            <a:ext cx="1455948" cy="0"/>
          </a:xfrm>
          <a:prstGeom prst="line">
            <a:avLst/>
          </a:prstGeom>
          <a:noFill/>
          <a:ln w="381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53" name="Text Box 47">
            <a:extLst>
              <a:ext uri="{FF2B5EF4-FFF2-40B4-BE49-F238E27FC236}">
                <a16:creationId xmlns:a16="http://schemas.microsoft.com/office/drawing/2014/main" id="{F7B55E43-AAD3-A4B6-4E82-5D80128E1748}"/>
              </a:ext>
            </a:extLst>
          </p:cNvPr>
          <p:cNvSpPr txBox="1">
            <a:spLocks noChangeArrowheads="1"/>
          </p:cNvSpPr>
          <p:nvPr/>
        </p:nvSpPr>
        <p:spPr bwMode="auto">
          <a:xfrm>
            <a:off x="1491642" y="2635395"/>
            <a:ext cx="696907" cy="206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050" b="1" dirty="0">
                <a:latin typeface="微软雅黑" pitchFamily="34" charset="-122"/>
                <a:ea typeface="微软雅黑" pitchFamily="34" charset="-122"/>
              </a:rPr>
              <a:t>光纤干线</a:t>
            </a:r>
          </a:p>
        </p:txBody>
      </p:sp>
      <p:sp>
        <p:nvSpPr>
          <p:cNvPr id="54" name="Line 48">
            <a:extLst>
              <a:ext uri="{FF2B5EF4-FFF2-40B4-BE49-F238E27FC236}">
                <a16:creationId xmlns:a16="http://schemas.microsoft.com/office/drawing/2014/main" id="{902329A2-04FE-9440-5D96-350F6C633F21}"/>
              </a:ext>
            </a:extLst>
          </p:cNvPr>
          <p:cNvSpPr>
            <a:spLocks noChangeShapeType="1"/>
          </p:cNvSpPr>
          <p:nvPr/>
        </p:nvSpPr>
        <p:spPr bwMode="auto">
          <a:xfrm>
            <a:off x="2947591" y="2859660"/>
            <a:ext cx="1155909" cy="0"/>
          </a:xfrm>
          <a:prstGeom prst="line">
            <a:avLst/>
          </a:prstGeom>
          <a:noFill/>
          <a:ln w="381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55" name="Line 49">
            <a:extLst>
              <a:ext uri="{FF2B5EF4-FFF2-40B4-BE49-F238E27FC236}">
                <a16:creationId xmlns:a16="http://schemas.microsoft.com/office/drawing/2014/main" id="{39E5DAB0-2C12-214A-AF37-B19A61B5BE12}"/>
              </a:ext>
            </a:extLst>
          </p:cNvPr>
          <p:cNvSpPr>
            <a:spLocks noChangeShapeType="1"/>
          </p:cNvSpPr>
          <p:nvPr/>
        </p:nvSpPr>
        <p:spPr bwMode="auto">
          <a:xfrm flipV="1">
            <a:off x="4483830" y="2447336"/>
            <a:ext cx="1263751" cy="346053"/>
          </a:xfrm>
          <a:prstGeom prst="line">
            <a:avLst/>
          </a:prstGeom>
          <a:noFill/>
          <a:ln w="1905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56" name="Line 50">
            <a:extLst>
              <a:ext uri="{FF2B5EF4-FFF2-40B4-BE49-F238E27FC236}">
                <a16:creationId xmlns:a16="http://schemas.microsoft.com/office/drawing/2014/main" id="{1BD62093-56AE-36C2-C09A-ABB087CEF6EC}"/>
              </a:ext>
            </a:extLst>
          </p:cNvPr>
          <p:cNvSpPr>
            <a:spLocks noChangeShapeType="1"/>
          </p:cNvSpPr>
          <p:nvPr/>
        </p:nvSpPr>
        <p:spPr bwMode="auto">
          <a:xfrm>
            <a:off x="4483830" y="2925204"/>
            <a:ext cx="1263751" cy="363404"/>
          </a:xfrm>
          <a:prstGeom prst="line">
            <a:avLst/>
          </a:prstGeom>
          <a:noFill/>
          <a:ln w="1905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57" name="Line 51">
            <a:extLst>
              <a:ext uri="{FF2B5EF4-FFF2-40B4-BE49-F238E27FC236}">
                <a16:creationId xmlns:a16="http://schemas.microsoft.com/office/drawing/2014/main" id="{2A679FEC-C8EA-602A-2605-D95BD498DB11}"/>
              </a:ext>
            </a:extLst>
          </p:cNvPr>
          <p:cNvSpPr>
            <a:spLocks noChangeShapeType="1"/>
          </p:cNvSpPr>
          <p:nvPr/>
        </p:nvSpPr>
        <p:spPr bwMode="auto">
          <a:xfrm>
            <a:off x="4483830" y="2859660"/>
            <a:ext cx="1263751" cy="0"/>
          </a:xfrm>
          <a:prstGeom prst="line">
            <a:avLst/>
          </a:prstGeom>
          <a:noFill/>
          <a:ln w="1905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58" name="Text Box 52">
            <a:extLst>
              <a:ext uri="{FF2B5EF4-FFF2-40B4-BE49-F238E27FC236}">
                <a16:creationId xmlns:a16="http://schemas.microsoft.com/office/drawing/2014/main" id="{1CFAB08D-FAC7-34B4-109C-8C6A96ECF8E9}"/>
              </a:ext>
            </a:extLst>
          </p:cNvPr>
          <p:cNvSpPr txBox="1">
            <a:spLocks noChangeArrowheads="1"/>
          </p:cNvSpPr>
          <p:nvPr/>
        </p:nvSpPr>
        <p:spPr bwMode="auto">
          <a:xfrm rot="5400000">
            <a:off x="5861901" y="2966009"/>
            <a:ext cx="266634" cy="257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dirty="0">
                <a:latin typeface="微软雅黑" pitchFamily="34" charset="-122"/>
                <a:ea typeface="微软雅黑" pitchFamily="34" charset="-122"/>
                <a:sym typeface="Symbol" pitchFamily="18" charset="2"/>
              </a:rPr>
              <a:t></a:t>
            </a:r>
          </a:p>
        </p:txBody>
      </p:sp>
      <p:sp>
        <p:nvSpPr>
          <p:cNvPr id="59" name="Text Box 54">
            <a:extLst>
              <a:ext uri="{FF2B5EF4-FFF2-40B4-BE49-F238E27FC236}">
                <a16:creationId xmlns:a16="http://schemas.microsoft.com/office/drawing/2014/main" id="{3BEC986B-03F7-E7BD-DF91-ECB3F00CA1A3}"/>
              </a:ext>
            </a:extLst>
          </p:cNvPr>
          <p:cNvSpPr txBox="1">
            <a:spLocks noChangeArrowheads="1"/>
          </p:cNvSpPr>
          <p:nvPr/>
        </p:nvSpPr>
        <p:spPr bwMode="auto">
          <a:xfrm>
            <a:off x="3377576" y="2647007"/>
            <a:ext cx="523874"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dirty="0">
                <a:ln w="12700">
                  <a:solidFill>
                    <a:sysClr val="windowText" lastClr="000000"/>
                  </a:solidFill>
                </a:ln>
                <a:solidFill>
                  <a:srgbClr val="00FFCC"/>
                </a:solidFill>
                <a:latin typeface="微软雅黑" pitchFamily="34" charset="-122"/>
                <a:ea typeface="微软雅黑" pitchFamily="34" charset="-122"/>
              </a:rPr>
              <a:t>★</a:t>
            </a:r>
            <a:r>
              <a:rPr lang="en-US" altLang="zh-CN" sz="1200" b="1" dirty="0">
                <a:ln w="12700">
                  <a:solidFill>
                    <a:sysClr val="windowText" lastClr="000000"/>
                  </a:solidFill>
                </a:ln>
                <a:solidFill>
                  <a:srgbClr val="00FFCC"/>
                </a:solidFill>
                <a:latin typeface="微软雅黑" pitchFamily="34" charset="-122"/>
                <a:ea typeface="微软雅黑" pitchFamily="34" charset="-122"/>
                <a:sym typeface="Wingdings" pitchFamily="2" charset="2"/>
              </a:rPr>
              <a:t>●</a:t>
            </a:r>
          </a:p>
        </p:txBody>
      </p:sp>
      <p:sp>
        <p:nvSpPr>
          <p:cNvPr id="60" name="Text Box 55">
            <a:extLst>
              <a:ext uri="{FF2B5EF4-FFF2-40B4-BE49-F238E27FC236}">
                <a16:creationId xmlns:a16="http://schemas.microsoft.com/office/drawing/2014/main" id="{9F4C03A9-22FD-3F64-C212-C6FD54582BA3}"/>
              </a:ext>
            </a:extLst>
          </p:cNvPr>
          <p:cNvSpPr txBox="1">
            <a:spLocks noChangeArrowheads="1"/>
          </p:cNvSpPr>
          <p:nvPr/>
        </p:nvSpPr>
        <p:spPr bwMode="auto">
          <a:xfrm>
            <a:off x="5137683" y="2664718"/>
            <a:ext cx="313549"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dirty="0">
                <a:ln w="12700">
                  <a:solidFill>
                    <a:sysClr val="windowText" lastClr="000000"/>
                  </a:solidFill>
                </a:ln>
                <a:solidFill>
                  <a:srgbClr val="00FFCC"/>
                </a:solidFill>
                <a:latin typeface="微软雅黑" pitchFamily="34" charset="-122"/>
                <a:ea typeface="微软雅黑" pitchFamily="34" charset="-122"/>
                <a:sym typeface="Wingdings" pitchFamily="2" charset="2"/>
              </a:rPr>
              <a:t></a:t>
            </a:r>
          </a:p>
        </p:txBody>
      </p:sp>
      <p:sp>
        <p:nvSpPr>
          <p:cNvPr id="61" name="Text Box 56">
            <a:extLst>
              <a:ext uri="{FF2B5EF4-FFF2-40B4-BE49-F238E27FC236}">
                <a16:creationId xmlns:a16="http://schemas.microsoft.com/office/drawing/2014/main" id="{4F43AE45-84AD-59E7-FAF7-95499BADD9A1}"/>
              </a:ext>
            </a:extLst>
          </p:cNvPr>
          <p:cNvSpPr txBox="1">
            <a:spLocks noChangeArrowheads="1"/>
          </p:cNvSpPr>
          <p:nvPr/>
        </p:nvSpPr>
        <p:spPr bwMode="auto">
          <a:xfrm>
            <a:off x="6712185" y="3091081"/>
            <a:ext cx="265816"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a:ln w="12700">
                  <a:solidFill>
                    <a:sysClr val="windowText" lastClr="000000"/>
                  </a:solidFill>
                </a:ln>
                <a:solidFill>
                  <a:srgbClr val="00FFCC"/>
                </a:solidFill>
                <a:latin typeface="微软雅黑" pitchFamily="34" charset="-122"/>
                <a:ea typeface="微软雅黑" pitchFamily="34" charset="-122"/>
              </a:rPr>
              <a:t>●</a:t>
            </a:r>
            <a:endParaRPr lang="en-US" altLang="zh-CN" sz="1200" b="1">
              <a:ln w="12700">
                <a:solidFill>
                  <a:sysClr val="windowText" lastClr="000000"/>
                </a:solidFill>
              </a:ln>
              <a:solidFill>
                <a:srgbClr val="00FFCC"/>
              </a:solidFill>
              <a:latin typeface="微软雅黑" pitchFamily="34" charset="-122"/>
              <a:ea typeface="微软雅黑" pitchFamily="34" charset="-122"/>
              <a:sym typeface="Wingdings" pitchFamily="2" charset="2"/>
            </a:endParaRPr>
          </a:p>
        </p:txBody>
      </p:sp>
      <p:sp>
        <p:nvSpPr>
          <p:cNvPr id="62" name="Text Box 57">
            <a:extLst>
              <a:ext uri="{FF2B5EF4-FFF2-40B4-BE49-F238E27FC236}">
                <a16:creationId xmlns:a16="http://schemas.microsoft.com/office/drawing/2014/main" id="{5B5B6E58-443F-EF52-8DE3-24AA30A7A995}"/>
              </a:ext>
            </a:extLst>
          </p:cNvPr>
          <p:cNvSpPr txBox="1">
            <a:spLocks noChangeArrowheads="1"/>
          </p:cNvSpPr>
          <p:nvPr/>
        </p:nvSpPr>
        <p:spPr bwMode="auto">
          <a:xfrm rot="1462546">
            <a:off x="5160302" y="2952957"/>
            <a:ext cx="265816"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a:ln w="12700">
                  <a:solidFill>
                    <a:sysClr val="windowText" lastClr="000000"/>
                  </a:solidFill>
                </a:ln>
                <a:solidFill>
                  <a:srgbClr val="00FFCC"/>
                </a:solidFill>
                <a:latin typeface="微软雅黑" pitchFamily="34" charset="-122"/>
                <a:ea typeface="微软雅黑" pitchFamily="34" charset="-122"/>
              </a:rPr>
              <a:t>●</a:t>
            </a:r>
            <a:endParaRPr lang="en-US" altLang="zh-CN" sz="1200" b="1">
              <a:ln w="12700">
                <a:solidFill>
                  <a:sysClr val="windowText" lastClr="000000"/>
                </a:solidFill>
              </a:ln>
              <a:solidFill>
                <a:srgbClr val="00FFCC"/>
              </a:solidFill>
              <a:latin typeface="微软雅黑" pitchFamily="34" charset="-122"/>
              <a:ea typeface="微软雅黑" pitchFamily="34" charset="-122"/>
              <a:sym typeface="Wingdings" pitchFamily="2" charset="2"/>
            </a:endParaRPr>
          </a:p>
        </p:txBody>
      </p:sp>
      <p:sp>
        <p:nvSpPr>
          <p:cNvPr id="63" name="Text Box 58">
            <a:extLst>
              <a:ext uri="{FF2B5EF4-FFF2-40B4-BE49-F238E27FC236}">
                <a16:creationId xmlns:a16="http://schemas.microsoft.com/office/drawing/2014/main" id="{CD453520-B8B4-CA9D-CB97-2FD8DBDA6771}"/>
              </a:ext>
            </a:extLst>
          </p:cNvPr>
          <p:cNvSpPr txBox="1">
            <a:spLocks noChangeArrowheads="1"/>
          </p:cNvSpPr>
          <p:nvPr/>
        </p:nvSpPr>
        <p:spPr bwMode="auto">
          <a:xfrm rot="20338690">
            <a:off x="5137928" y="2368841"/>
            <a:ext cx="288190"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dirty="0">
                <a:ln w="12700">
                  <a:solidFill>
                    <a:sysClr val="windowText" lastClr="000000"/>
                  </a:solidFill>
                </a:ln>
                <a:solidFill>
                  <a:srgbClr val="00FFCC"/>
                </a:solidFill>
                <a:latin typeface="微软雅黑" pitchFamily="34" charset="-122"/>
                <a:ea typeface="微软雅黑" pitchFamily="34" charset="-122"/>
              </a:rPr>
              <a:t>★</a:t>
            </a:r>
            <a:endParaRPr lang="en-US" altLang="zh-CN" sz="1200" b="1" dirty="0">
              <a:ln w="12700">
                <a:solidFill>
                  <a:sysClr val="windowText" lastClr="000000"/>
                </a:solidFill>
              </a:ln>
              <a:solidFill>
                <a:srgbClr val="00FFCC"/>
              </a:solidFill>
              <a:latin typeface="微软雅黑" pitchFamily="34" charset="-122"/>
              <a:ea typeface="微软雅黑" pitchFamily="34" charset="-122"/>
              <a:sym typeface="Wingdings" pitchFamily="2" charset="2"/>
            </a:endParaRPr>
          </a:p>
        </p:txBody>
      </p:sp>
      <p:sp>
        <p:nvSpPr>
          <p:cNvPr id="64" name="Text Box 59">
            <a:extLst>
              <a:ext uri="{FF2B5EF4-FFF2-40B4-BE49-F238E27FC236}">
                <a16:creationId xmlns:a16="http://schemas.microsoft.com/office/drawing/2014/main" id="{B0C31C4B-0D13-05D8-CDA5-C9AFDA45FC88}"/>
              </a:ext>
            </a:extLst>
          </p:cNvPr>
          <p:cNvSpPr txBox="1">
            <a:spLocks noChangeArrowheads="1"/>
          </p:cNvSpPr>
          <p:nvPr/>
        </p:nvSpPr>
        <p:spPr bwMode="auto">
          <a:xfrm>
            <a:off x="6717778" y="2661406"/>
            <a:ext cx="313549"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a:ln w="12700">
                  <a:solidFill>
                    <a:sysClr val="windowText" lastClr="000000"/>
                  </a:solidFill>
                </a:ln>
                <a:solidFill>
                  <a:srgbClr val="00FFCC"/>
                </a:solidFill>
                <a:latin typeface="微软雅黑" pitchFamily="34" charset="-122"/>
                <a:ea typeface="微软雅黑" pitchFamily="34" charset="-122"/>
                <a:sym typeface="Wingdings" pitchFamily="2" charset="2"/>
              </a:rPr>
              <a:t></a:t>
            </a:r>
          </a:p>
        </p:txBody>
      </p:sp>
      <p:sp>
        <p:nvSpPr>
          <p:cNvPr id="65" name="Text Box 60">
            <a:extLst>
              <a:ext uri="{FF2B5EF4-FFF2-40B4-BE49-F238E27FC236}">
                <a16:creationId xmlns:a16="http://schemas.microsoft.com/office/drawing/2014/main" id="{3055074D-D8ED-05D4-4AE8-09C62629D193}"/>
              </a:ext>
            </a:extLst>
          </p:cNvPr>
          <p:cNvSpPr txBox="1">
            <a:spLocks noChangeArrowheads="1"/>
          </p:cNvSpPr>
          <p:nvPr/>
        </p:nvSpPr>
        <p:spPr bwMode="auto">
          <a:xfrm>
            <a:off x="6712185" y="2288535"/>
            <a:ext cx="288190"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dirty="0">
                <a:ln w="12700">
                  <a:solidFill>
                    <a:sysClr val="windowText" lastClr="000000"/>
                  </a:solidFill>
                </a:ln>
                <a:solidFill>
                  <a:srgbClr val="00FFCC"/>
                </a:solidFill>
                <a:latin typeface="微软雅黑" pitchFamily="34" charset="-122"/>
                <a:ea typeface="微软雅黑" pitchFamily="34" charset="-122"/>
              </a:rPr>
              <a:t>★</a:t>
            </a:r>
            <a:endParaRPr lang="en-US" altLang="zh-CN" sz="1200" b="1" dirty="0">
              <a:ln w="12700">
                <a:solidFill>
                  <a:sysClr val="windowText" lastClr="000000"/>
                </a:solidFill>
              </a:ln>
              <a:solidFill>
                <a:srgbClr val="00FFCC"/>
              </a:solidFill>
              <a:latin typeface="微软雅黑" pitchFamily="34" charset="-122"/>
              <a:ea typeface="微软雅黑" pitchFamily="34" charset="-122"/>
              <a:sym typeface="Wingdings" pitchFamily="2" charset="2"/>
            </a:endParaRPr>
          </a:p>
        </p:txBody>
      </p:sp>
      <p:sp>
        <p:nvSpPr>
          <p:cNvPr id="66" name="Line 61">
            <a:extLst>
              <a:ext uri="{FF2B5EF4-FFF2-40B4-BE49-F238E27FC236}">
                <a16:creationId xmlns:a16="http://schemas.microsoft.com/office/drawing/2014/main" id="{674D1F9B-B505-F409-F365-0508D50414EF}"/>
              </a:ext>
            </a:extLst>
          </p:cNvPr>
          <p:cNvSpPr>
            <a:spLocks noChangeShapeType="1"/>
          </p:cNvSpPr>
          <p:nvPr/>
        </p:nvSpPr>
        <p:spPr bwMode="auto">
          <a:xfrm flipH="1">
            <a:off x="3209781" y="2753362"/>
            <a:ext cx="168726"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67" name="Line 62">
            <a:extLst>
              <a:ext uri="{FF2B5EF4-FFF2-40B4-BE49-F238E27FC236}">
                <a16:creationId xmlns:a16="http://schemas.microsoft.com/office/drawing/2014/main" id="{4C6F7AF1-D23F-B3F6-11F7-1203516A240B}"/>
              </a:ext>
            </a:extLst>
          </p:cNvPr>
          <p:cNvSpPr>
            <a:spLocks noChangeShapeType="1"/>
          </p:cNvSpPr>
          <p:nvPr/>
        </p:nvSpPr>
        <p:spPr bwMode="auto">
          <a:xfrm rot="9548732">
            <a:off x="4991182" y="2569334"/>
            <a:ext cx="168726"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68" name="Line 63">
            <a:extLst>
              <a:ext uri="{FF2B5EF4-FFF2-40B4-BE49-F238E27FC236}">
                <a16:creationId xmlns:a16="http://schemas.microsoft.com/office/drawing/2014/main" id="{1C30C71D-E8CE-7F27-9C0E-65090F2A9F9C}"/>
              </a:ext>
            </a:extLst>
          </p:cNvPr>
          <p:cNvSpPr>
            <a:spLocks noChangeShapeType="1"/>
          </p:cNvSpPr>
          <p:nvPr/>
        </p:nvSpPr>
        <p:spPr bwMode="auto">
          <a:xfrm flipH="1">
            <a:off x="6543460" y="3223063"/>
            <a:ext cx="168725"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69" name="Line 64">
            <a:extLst>
              <a:ext uri="{FF2B5EF4-FFF2-40B4-BE49-F238E27FC236}">
                <a16:creationId xmlns:a16="http://schemas.microsoft.com/office/drawing/2014/main" id="{A8920CF3-594B-1D86-32B0-6B8F51FD0666}"/>
              </a:ext>
            </a:extLst>
          </p:cNvPr>
          <p:cNvSpPr>
            <a:spLocks noChangeShapeType="1"/>
          </p:cNvSpPr>
          <p:nvPr/>
        </p:nvSpPr>
        <p:spPr bwMode="auto">
          <a:xfrm flipH="1">
            <a:off x="6543460" y="2793388"/>
            <a:ext cx="168725"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70" name="Line 65">
            <a:extLst>
              <a:ext uri="{FF2B5EF4-FFF2-40B4-BE49-F238E27FC236}">
                <a16:creationId xmlns:a16="http://schemas.microsoft.com/office/drawing/2014/main" id="{9796BF99-E015-2345-9AEF-517514B69EEB}"/>
              </a:ext>
            </a:extLst>
          </p:cNvPr>
          <p:cNvSpPr>
            <a:spLocks noChangeShapeType="1"/>
          </p:cNvSpPr>
          <p:nvPr/>
        </p:nvSpPr>
        <p:spPr bwMode="auto">
          <a:xfrm rot="1366384" flipH="1">
            <a:off x="4968319" y="3008563"/>
            <a:ext cx="168725"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71" name="Line 66">
            <a:extLst>
              <a:ext uri="{FF2B5EF4-FFF2-40B4-BE49-F238E27FC236}">
                <a16:creationId xmlns:a16="http://schemas.microsoft.com/office/drawing/2014/main" id="{A4B9638D-01F4-C451-D92B-36DCFD46E8E1}"/>
              </a:ext>
            </a:extLst>
          </p:cNvPr>
          <p:cNvSpPr>
            <a:spLocks noChangeShapeType="1"/>
          </p:cNvSpPr>
          <p:nvPr/>
        </p:nvSpPr>
        <p:spPr bwMode="auto">
          <a:xfrm flipH="1">
            <a:off x="4992114" y="2776918"/>
            <a:ext cx="168725"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72" name="Line 67">
            <a:extLst>
              <a:ext uri="{FF2B5EF4-FFF2-40B4-BE49-F238E27FC236}">
                <a16:creationId xmlns:a16="http://schemas.microsoft.com/office/drawing/2014/main" id="{4153A86E-AD1C-5781-BE64-EAE0A88D3270}"/>
              </a:ext>
            </a:extLst>
          </p:cNvPr>
          <p:cNvSpPr>
            <a:spLocks noChangeShapeType="1"/>
          </p:cNvSpPr>
          <p:nvPr/>
        </p:nvSpPr>
        <p:spPr bwMode="auto">
          <a:xfrm flipH="1">
            <a:off x="6546256" y="2417603"/>
            <a:ext cx="168726"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73" name="AutoShape 70">
            <a:extLst>
              <a:ext uri="{FF2B5EF4-FFF2-40B4-BE49-F238E27FC236}">
                <a16:creationId xmlns:a16="http://schemas.microsoft.com/office/drawing/2014/main" id="{04196095-0DCE-660F-3FA6-90AB026291E4}"/>
              </a:ext>
            </a:extLst>
          </p:cNvPr>
          <p:cNvSpPr>
            <a:spLocks noChangeArrowheads="1"/>
          </p:cNvSpPr>
          <p:nvPr/>
        </p:nvSpPr>
        <p:spPr bwMode="auto">
          <a:xfrm>
            <a:off x="2167156" y="2298081"/>
            <a:ext cx="1421951" cy="198895"/>
          </a:xfrm>
          <a:prstGeom prst="wedgeRoundRectCallout">
            <a:avLst>
              <a:gd name="adj1" fmla="val 49806"/>
              <a:gd name="adj2" fmla="val 149652"/>
              <a:gd name="adj3" fmla="val 16667"/>
            </a:avLst>
          </a:prstGeom>
          <a:solidFill>
            <a:schemeClr val="bg1"/>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sz="1200" b="1">
              <a:solidFill>
                <a:srgbClr val="000099"/>
              </a:solidFill>
              <a:latin typeface="微软雅黑" pitchFamily="34" charset="-122"/>
              <a:ea typeface="微软雅黑" pitchFamily="34" charset="-122"/>
            </a:endParaRPr>
          </a:p>
        </p:txBody>
      </p:sp>
      <p:sp>
        <p:nvSpPr>
          <p:cNvPr id="74" name="Text Box 71">
            <a:extLst>
              <a:ext uri="{FF2B5EF4-FFF2-40B4-BE49-F238E27FC236}">
                <a16:creationId xmlns:a16="http://schemas.microsoft.com/office/drawing/2014/main" id="{C9115AE6-6935-D282-09A9-4DEA8DBDE3B6}"/>
              </a:ext>
            </a:extLst>
          </p:cNvPr>
          <p:cNvSpPr txBox="1">
            <a:spLocks noChangeArrowheads="1"/>
          </p:cNvSpPr>
          <p:nvPr/>
        </p:nvSpPr>
        <p:spPr bwMode="auto">
          <a:xfrm>
            <a:off x="2144867" y="2273438"/>
            <a:ext cx="1604064"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1050" b="1" dirty="0">
                <a:solidFill>
                  <a:srgbClr val="CC00CC"/>
                </a:solidFill>
                <a:latin typeface="微软雅黑" pitchFamily="34" charset="-122"/>
                <a:ea typeface="微软雅黑" pitchFamily="34" charset="-122"/>
              </a:rPr>
              <a:t>特定 </a:t>
            </a:r>
            <a:r>
              <a:rPr lang="en-US" altLang="zh-CN" sz="1050" b="1" dirty="0">
                <a:solidFill>
                  <a:srgbClr val="CC00CC"/>
                </a:solidFill>
                <a:latin typeface="微软雅黑" pitchFamily="34" charset="-122"/>
                <a:ea typeface="微软雅黑" pitchFamily="34" charset="-122"/>
              </a:rPr>
              <a:t>ONU </a:t>
            </a:r>
            <a:r>
              <a:rPr lang="zh-CN" altLang="en-US" sz="1050" b="1" dirty="0">
                <a:solidFill>
                  <a:srgbClr val="CC00CC"/>
                </a:solidFill>
                <a:latin typeface="微软雅黑" pitchFamily="34" charset="-122"/>
                <a:ea typeface="微软雅黑" pitchFamily="34" charset="-122"/>
              </a:rPr>
              <a:t>发来的数据</a:t>
            </a:r>
          </a:p>
        </p:txBody>
      </p:sp>
      <p:sp>
        <p:nvSpPr>
          <p:cNvPr id="75" name="Text Box 73">
            <a:extLst>
              <a:ext uri="{FF2B5EF4-FFF2-40B4-BE49-F238E27FC236}">
                <a16:creationId xmlns:a16="http://schemas.microsoft.com/office/drawing/2014/main" id="{51013FC2-FEF0-EFE1-B55D-04B80ABE42F2}"/>
              </a:ext>
            </a:extLst>
          </p:cNvPr>
          <p:cNvSpPr txBox="1">
            <a:spLocks noChangeArrowheads="1"/>
          </p:cNvSpPr>
          <p:nvPr/>
        </p:nvSpPr>
        <p:spPr bwMode="auto">
          <a:xfrm>
            <a:off x="4040855" y="2396980"/>
            <a:ext cx="493737" cy="261910"/>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1200" b="1" dirty="0">
                <a:latin typeface="微软雅黑" pitchFamily="34" charset="-122"/>
                <a:ea typeface="微软雅黑" pitchFamily="34" charset="-122"/>
              </a:rPr>
              <a:t>上行</a:t>
            </a:r>
          </a:p>
        </p:txBody>
      </p:sp>
      <p:sp>
        <p:nvSpPr>
          <p:cNvPr id="76" name="Line 75">
            <a:extLst>
              <a:ext uri="{FF2B5EF4-FFF2-40B4-BE49-F238E27FC236}">
                <a16:creationId xmlns:a16="http://schemas.microsoft.com/office/drawing/2014/main" id="{8C39B27D-C66D-E511-6051-417D204557DC}"/>
              </a:ext>
            </a:extLst>
          </p:cNvPr>
          <p:cNvSpPr>
            <a:spLocks noChangeShapeType="1"/>
          </p:cNvSpPr>
          <p:nvPr/>
        </p:nvSpPr>
        <p:spPr bwMode="auto">
          <a:xfrm flipH="1">
            <a:off x="4061551" y="2667398"/>
            <a:ext cx="422280" cy="0"/>
          </a:xfrm>
          <a:prstGeom prst="line">
            <a:avLst/>
          </a:prstGeom>
          <a:noFill/>
          <a:ln w="28575">
            <a:solidFill>
              <a:srgbClr val="FF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77" name="矩形 76">
            <a:extLst>
              <a:ext uri="{FF2B5EF4-FFF2-40B4-BE49-F238E27FC236}">
                <a16:creationId xmlns:a16="http://schemas.microsoft.com/office/drawing/2014/main" id="{3F69920E-F76C-E7A2-E64C-1C0EBCA1D058}"/>
              </a:ext>
            </a:extLst>
          </p:cNvPr>
          <p:cNvSpPr/>
          <p:nvPr/>
        </p:nvSpPr>
        <p:spPr>
          <a:xfrm>
            <a:off x="2461732" y="2994901"/>
            <a:ext cx="1275641" cy="199976"/>
          </a:xfrm>
          <a:prstGeom prst="rect">
            <a:avLst/>
          </a:prstGeom>
        </p:spPr>
        <p:txBody>
          <a:bodyPr wrap="square">
            <a:spAutoFit/>
          </a:bodyPr>
          <a:lstStyle/>
          <a:p>
            <a:r>
              <a:rPr lang="en-US" altLang="zh-CN" sz="1050" b="1" dirty="0">
                <a:latin typeface="微软雅黑" pitchFamily="34" charset="-122"/>
                <a:ea typeface="微软雅黑" pitchFamily="34" charset="-122"/>
              </a:rPr>
              <a:t>OLT</a:t>
            </a:r>
            <a:r>
              <a:rPr lang="zh-CN" altLang="en-US" sz="1050" b="1" dirty="0">
                <a:latin typeface="微软雅黑" pitchFamily="34" charset="-122"/>
                <a:ea typeface="微软雅黑" pitchFamily="34" charset="-122"/>
              </a:rPr>
              <a:t>：</a:t>
            </a:r>
            <a:r>
              <a:rPr lang="zh-CN" altLang="zh-CN" sz="1050" b="1" dirty="0">
                <a:latin typeface="微软雅黑" pitchFamily="34" charset="-122"/>
                <a:ea typeface="微软雅黑" pitchFamily="34" charset="-122"/>
              </a:rPr>
              <a:t>光线路终端</a:t>
            </a:r>
            <a:endParaRPr lang="zh-CN" altLang="en-US" sz="1050" b="1" dirty="0">
              <a:latin typeface="微软雅黑" pitchFamily="34" charset="-122"/>
              <a:ea typeface="微软雅黑" pitchFamily="34" charset="-122"/>
            </a:endParaRPr>
          </a:p>
        </p:txBody>
      </p:sp>
      <p:sp>
        <p:nvSpPr>
          <p:cNvPr id="78" name="Rectangle 46">
            <a:extLst>
              <a:ext uri="{FF2B5EF4-FFF2-40B4-BE49-F238E27FC236}">
                <a16:creationId xmlns:a16="http://schemas.microsoft.com/office/drawing/2014/main" id="{F36B7AD8-C8B1-3769-3947-504301651FD8}"/>
              </a:ext>
            </a:extLst>
          </p:cNvPr>
          <p:cNvSpPr>
            <a:spLocks noChangeArrowheads="1"/>
          </p:cNvSpPr>
          <p:nvPr/>
        </p:nvSpPr>
        <p:spPr bwMode="auto">
          <a:xfrm>
            <a:off x="2610585" y="2760616"/>
            <a:ext cx="380331" cy="198088"/>
          </a:xfrm>
          <a:prstGeom prst="rect">
            <a:avLst/>
          </a:prstGeom>
          <a:solidFill>
            <a:srgbClr val="66FF66"/>
          </a:solidFill>
          <a:ln w="12700">
            <a:solidFill>
              <a:schemeClr val="tx1"/>
            </a:solidFill>
            <a:miter lim="800000"/>
            <a:headEnd/>
            <a:tailEnd/>
          </a:ln>
          <a:effectLst/>
        </p:spPr>
        <p:txBody>
          <a:bodyPr wrap="none" anchor="ctr"/>
          <a:lstStyle/>
          <a:p>
            <a:pPr algn="ctr"/>
            <a:r>
              <a:rPr lang="en-US" altLang="zh-CN" sz="1100" b="1" dirty="0">
                <a:latin typeface="微软雅黑" pitchFamily="34" charset="-122"/>
                <a:ea typeface="微软雅黑" pitchFamily="34" charset="-122"/>
              </a:rPr>
              <a:t>OLT</a:t>
            </a:r>
          </a:p>
        </p:txBody>
      </p:sp>
      <p:sp>
        <p:nvSpPr>
          <p:cNvPr id="79" name="Rectangle 13">
            <a:extLst>
              <a:ext uri="{FF2B5EF4-FFF2-40B4-BE49-F238E27FC236}">
                <a16:creationId xmlns:a16="http://schemas.microsoft.com/office/drawing/2014/main" id="{BDB40544-0A65-7D11-6722-9C3E3B07996A}"/>
              </a:ext>
            </a:extLst>
          </p:cNvPr>
          <p:cNvSpPr>
            <a:spLocks noChangeArrowheads="1"/>
          </p:cNvSpPr>
          <p:nvPr/>
        </p:nvSpPr>
        <p:spPr bwMode="auto">
          <a:xfrm>
            <a:off x="2593666" y="1632330"/>
            <a:ext cx="380331" cy="198088"/>
          </a:xfrm>
          <a:prstGeom prst="rect">
            <a:avLst/>
          </a:prstGeom>
          <a:solidFill>
            <a:srgbClr val="66FF66"/>
          </a:solidFill>
          <a:ln w="12700">
            <a:solidFill>
              <a:schemeClr val="tx1"/>
            </a:solidFill>
            <a:miter lim="800000"/>
            <a:headEnd/>
            <a:tailEnd/>
          </a:ln>
          <a:effectLst/>
        </p:spPr>
        <p:txBody>
          <a:bodyPr wrap="none" anchor="ctr"/>
          <a:lstStyle/>
          <a:p>
            <a:pPr algn="ctr"/>
            <a:r>
              <a:rPr lang="en-US" altLang="zh-CN" sz="1100" b="1" dirty="0">
                <a:latin typeface="微软雅黑" pitchFamily="34" charset="-122"/>
                <a:ea typeface="微软雅黑" pitchFamily="34" charset="-122"/>
              </a:rPr>
              <a:t>OLT</a:t>
            </a:r>
          </a:p>
        </p:txBody>
      </p:sp>
      <p:sp>
        <p:nvSpPr>
          <p:cNvPr id="80" name="Rectangle 10">
            <a:extLst>
              <a:ext uri="{FF2B5EF4-FFF2-40B4-BE49-F238E27FC236}">
                <a16:creationId xmlns:a16="http://schemas.microsoft.com/office/drawing/2014/main" id="{EB86F447-58C2-4CFE-5E3F-7A35512D0B95}"/>
              </a:ext>
            </a:extLst>
          </p:cNvPr>
          <p:cNvSpPr>
            <a:spLocks noChangeArrowheads="1"/>
          </p:cNvSpPr>
          <p:nvPr/>
        </p:nvSpPr>
        <p:spPr bwMode="auto">
          <a:xfrm>
            <a:off x="5747582" y="2061278"/>
            <a:ext cx="380331" cy="198088"/>
          </a:xfrm>
          <a:prstGeom prst="rect">
            <a:avLst/>
          </a:prstGeom>
          <a:solidFill>
            <a:srgbClr val="66FF66"/>
          </a:solidFill>
          <a:ln w="12700">
            <a:solidFill>
              <a:schemeClr val="tx1"/>
            </a:solidFill>
            <a:miter lim="800000"/>
            <a:headEnd/>
            <a:tailEnd/>
          </a:ln>
          <a:effectLst/>
        </p:spPr>
        <p:txBody>
          <a:bodyPr wrap="none" anchor="ctr"/>
          <a:lstStyle/>
          <a:p>
            <a:pPr algn="ctr"/>
            <a:r>
              <a:rPr lang="en-US" altLang="zh-CN" sz="1200" b="1" dirty="0">
                <a:latin typeface="微软雅黑" pitchFamily="34" charset="-122"/>
                <a:ea typeface="微软雅黑" pitchFamily="34" charset="-122"/>
              </a:rPr>
              <a:t>ONU</a:t>
            </a:r>
          </a:p>
        </p:txBody>
      </p:sp>
      <p:sp>
        <p:nvSpPr>
          <p:cNvPr id="81" name="Rectangle 11">
            <a:extLst>
              <a:ext uri="{FF2B5EF4-FFF2-40B4-BE49-F238E27FC236}">
                <a16:creationId xmlns:a16="http://schemas.microsoft.com/office/drawing/2014/main" id="{93862751-A81C-ED7B-C0AB-B9B6FF9C3986}"/>
              </a:ext>
            </a:extLst>
          </p:cNvPr>
          <p:cNvSpPr>
            <a:spLocks noChangeArrowheads="1"/>
          </p:cNvSpPr>
          <p:nvPr/>
        </p:nvSpPr>
        <p:spPr bwMode="auto">
          <a:xfrm>
            <a:off x="5747582" y="1632330"/>
            <a:ext cx="380331" cy="198088"/>
          </a:xfrm>
          <a:prstGeom prst="rect">
            <a:avLst/>
          </a:prstGeom>
          <a:solidFill>
            <a:srgbClr val="66FF66"/>
          </a:solidFill>
          <a:ln w="12700">
            <a:solidFill>
              <a:schemeClr val="tx1"/>
            </a:solidFill>
            <a:miter lim="800000"/>
            <a:headEnd/>
            <a:tailEnd/>
          </a:ln>
          <a:effectLst/>
        </p:spPr>
        <p:txBody>
          <a:bodyPr wrap="none" anchor="ctr"/>
          <a:lstStyle/>
          <a:p>
            <a:pPr algn="ctr"/>
            <a:r>
              <a:rPr lang="en-US" altLang="zh-CN" sz="1200" b="1">
                <a:latin typeface="微软雅黑" pitchFamily="34" charset="-122"/>
                <a:ea typeface="微软雅黑" pitchFamily="34" charset="-122"/>
              </a:rPr>
              <a:t>ONU</a:t>
            </a:r>
          </a:p>
        </p:txBody>
      </p:sp>
      <p:sp>
        <p:nvSpPr>
          <p:cNvPr id="82" name="Rectangle 22">
            <a:extLst>
              <a:ext uri="{FF2B5EF4-FFF2-40B4-BE49-F238E27FC236}">
                <a16:creationId xmlns:a16="http://schemas.microsoft.com/office/drawing/2014/main" id="{A0B21226-3707-1C68-5E5F-55738E0D68AF}"/>
              </a:ext>
            </a:extLst>
          </p:cNvPr>
          <p:cNvSpPr>
            <a:spLocks noChangeArrowheads="1"/>
          </p:cNvSpPr>
          <p:nvPr/>
        </p:nvSpPr>
        <p:spPr bwMode="auto">
          <a:xfrm>
            <a:off x="5747582" y="1258002"/>
            <a:ext cx="380331" cy="198088"/>
          </a:xfrm>
          <a:prstGeom prst="rect">
            <a:avLst/>
          </a:prstGeom>
          <a:solidFill>
            <a:srgbClr val="66FF66"/>
          </a:solidFill>
          <a:ln w="12700">
            <a:solidFill>
              <a:schemeClr val="tx1"/>
            </a:solidFill>
            <a:miter lim="800000"/>
            <a:headEnd/>
            <a:tailEnd/>
          </a:ln>
          <a:effectLst/>
        </p:spPr>
        <p:txBody>
          <a:bodyPr wrap="none" anchor="ctr"/>
          <a:lstStyle/>
          <a:p>
            <a:pPr algn="ctr"/>
            <a:r>
              <a:rPr lang="en-US" altLang="zh-CN" sz="1200" b="1" dirty="0">
                <a:latin typeface="微软雅黑" pitchFamily="34" charset="-122"/>
                <a:ea typeface="微软雅黑" pitchFamily="34" charset="-122"/>
              </a:rPr>
              <a:t>ONU</a:t>
            </a:r>
          </a:p>
        </p:txBody>
      </p:sp>
      <p:sp>
        <p:nvSpPr>
          <p:cNvPr id="83" name="Rectangle 43">
            <a:extLst>
              <a:ext uri="{FF2B5EF4-FFF2-40B4-BE49-F238E27FC236}">
                <a16:creationId xmlns:a16="http://schemas.microsoft.com/office/drawing/2014/main" id="{529BC912-C6C0-3612-75E6-4900056A8E53}"/>
              </a:ext>
            </a:extLst>
          </p:cNvPr>
          <p:cNvSpPr>
            <a:spLocks noChangeArrowheads="1"/>
          </p:cNvSpPr>
          <p:nvPr/>
        </p:nvSpPr>
        <p:spPr bwMode="auto">
          <a:xfrm>
            <a:off x="5764501" y="3189563"/>
            <a:ext cx="380331" cy="198088"/>
          </a:xfrm>
          <a:prstGeom prst="rect">
            <a:avLst/>
          </a:prstGeom>
          <a:solidFill>
            <a:srgbClr val="66FF66"/>
          </a:solidFill>
          <a:ln w="12700">
            <a:solidFill>
              <a:schemeClr val="tx1"/>
            </a:solidFill>
            <a:miter lim="800000"/>
            <a:headEnd/>
            <a:tailEnd/>
          </a:ln>
          <a:effectLst/>
        </p:spPr>
        <p:txBody>
          <a:bodyPr wrap="none" anchor="ctr"/>
          <a:lstStyle/>
          <a:p>
            <a:pPr algn="ctr"/>
            <a:r>
              <a:rPr lang="en-US" altLang="zh-CN" sz="1200" b="1" dirty="0">
                <a:latin typeface="微软雅黑" pitchFamily="34" charset="-122"/>
                <a:ea typeface="微软雅黑" pitchFamily="34" charset="-122"/>
              </a:rPr>
              <a:t>ONU</a:t>
            </a:r>
          </a:p>
        </p:txBody>
      </p:sp>
      <p:sp>
        <p:nvSpPr>
          <p:cNvPr id="84" name="Rectangle 44">
            <a:extLst>
              <a:ext uri="{FF2B5EF4-FFF2-40B4-BE49-F238E27FC236}">
                <a16:creationId xmlns:a16="http://schemas.microsoft.com/office/drawing/2014/main" id="{C6D0BD17-848A-0433-137B-974186ABA64C}"/>
              </a:ext>
            </a:extLst>
          </p:cNvPr>
          <p:cNvSpPr>
            <a:spLocks noChangeArrowheads="1"/>
          </p:cNvSpPr>
          <p:nvPr/>
        </p:nvSpPr>
        <p:spPr bwMode="auto">
          <a:xfrm>
            <a:off x="5764501" y="2760616"/>
            <a:ext cx="380331" cy="198088"/>
          </a:xfrm>
          <a:prstGeom prst="rect">
            <a:avLst/>
          </a:prstGeom>
          <a:solidFill>
            <a:srgbClr val="66FF66"/>
          </a:solidFill>
          <a:ln w="12700">
            <a:solidFill>
              <a:schemeClr val="tx1"/>
            </a:solidFill>
            <a:miter lim="800000"/>
            <a:headEnd/>
            <a:tailEnd/>
          </a:ln>
          <a:effectLst/>
        </p:spPr>
        <p:txBody>
          <a:bodyPr wrap="none" anchor="ctr"/>
          <a:lstStyle/>
          <a:p>
            <a:pPr algn="ctr"/>
            <a:r>
              <a:rPr lang="en-US" altLang="zh-CN" sz="1200" b="1">
                <a:latin typeface="微软雅黑" pitchFamily="34" charset="-122"/>
                <a:ea typeface="微软雅黑" pitchFamily="34" charset="-122"/>
              </a:rPr>
              <a:t>ONU</a:t>
            </a:r>
          </a:p>
        </p:txBody>
      </p:sp>
      <p:sp>
        <p:nvSpPr>
          <p:cNvPr id="85" name="Rectangle 53">
            <a:extLst>
              <a:ext uri="{FF2B5EF4-FFF2-40B4-BE49-F238E27FC236}">
                <a16:creationId xmlns:a16="http://schemas.microsoft.com/office/drawing/2014/main" id="{31E063A0-8A0C-C331-7CCD-A90CC44E0D27}"/>
              </a:ext>
            </a:extLst>
          </p:cNvPr>
          <p:cNvSpPr>
            <a:spLocks noChangeArrowheads="1"/>
          </p:cNvSpPr>
          <p:nvPr/>
        </p:nvSpPr>
        <p:spPr bwMode="auto">
          <a:xfrm>
            <a:off x="5764501" y="2386288"/>
            <a:ext cx="380331" cy="198088"/>
          </a:xfrm>
          <a:prstGeom prst="rect">
            <a:avLst/>
          </a:prstGeom>
          <a:solidFill>
            <a:srgbClr val="66FF66"/>
          </a:solidFill>
          <a:ln w="12700">
            <a:solidFill>
              <a:schemeClr val="tx1"/>
            </a:solidFill>
            <a:miter lim="800000"/>
            <a:headEnd/>
            <a:tailEnd/>
          </a:ln>
          <a:effectLst/>
        </p:spPr>
        <p:txBody>
          <a:bodyPr wrap="none" anchor="ctr"/>
          <a:lstStyle/>
          <a:p>
            <a:pPr algn="ctr"/>
            <a:r>
              <a:rPr lang="en-US" altLang="zh-CN" sz="1200" b="1">
                <a:latin typeface="微软雅黑" pitchFamily="34" charset="-122"/>
                <a:ea typeface="微软雅黑" pitchFamily="34" charset="-122"/>
              </a:rPr>
              <a:t>ONU</a:t>
            </a:r>
          </a:p>
        </p:txBody>
      </p:sp>
      <p:sp>
        <p:nvSpPr>
          <p:cNvPr id="87" name="矩形 86">
            <a:extLst>
              <a:ext uri="{FF2B5EF4-FFF2-40B4-BE49-F238E27FC236}">
                <a16:creationId xmlns:a16="http://schemas.microsoft.com/office/drawing/2014/main" id="{875DBC66-BCF0-B0F7-6879-98E621B6B16A}"/>
              </a:ext>
            </a:extLst>
          </p:cNvPr>
          <p:cNvSpPr/>
          <p:nvPr/>
        </p:nvSpPr>
        <p:spPr>
          <a:xfrm>
            <a:off x="728946" y="3826774"/>
            <a:ext cx="7611292" cy="917046"/>
          </a:xfrm>
          <a:prstGeom prst="rect">
            <a:avLst/>
          </a:prstGeom>
        </p:spPr>
        <p:txBody>
          <a:bodyPr wrap="square">
            <a:spAutoFit/>
          </a:bodyPr>
          <a:lstStyle/>
          <a:p>
            <a:pPr>
              <a:lnSpc>
                <a:spcPts val="2200"/>
              </a:lnSpc>
            </a:pPr>
            <a:r>
              <a:rPr lang="zh-CN" altLang="en-US" sz="1600" dirty="0"/>
              <a:t>每个</a:t>
            </a:r>
            <a:r>
              <a:rPr lang="en-US" altLang="zh-CN" sz="1600" dirty="0"/>
              <a:t>ONU</a:t>
            </a:r>
            <a:r>
              <a:rPr lang="zh-CN" altLang="en-US" sz="1600" dirty="0"/>
              <a:t>根据特有的标识只接收发送给自己的数据，</a:t>
            </a:r>
            <a:r>
              <a:rPr lang="en-US" altLang="zh-CN" sz="1600" dirty="0"/>
              <a:t>#</a:t>
            </a:r>
            <a:r>
              <a:rPr lang="zh-CN" altLang="en-US" sz="1600" dirty="0"/>
              <a:t>然后转换为电信号发往用户家中。每一个</a:t>
            </a:r>
            <a:r>
              <a:rPr lang="en-US" altLang="zh-CN" sz="1600" dirty="0"/>
              <a:t>ONU</a:t>
            </a:r>
            <a:r>
              <a:rPr lang="zh-CN" altLang="en-US" sz="1600" dirty="0"/>
              <a:t>到用户家中的距离可根据具体情况来设置，</a:t>
            </a:r>
            <a:r>
              <a:rPr lang="en-US" altLang="zh-CN" sz="1600" dirty="0"/>
              <a:t>#</a:t>
            </a:r>
            <a:r>
              <a:rPr lang="zh-CN" altLang="en-US" sz="1600" dirty="0"/>
              <a:t>如果</a:t>
            </a:r>
            <a:r>
              <a:rPr lang="en-US" altLang="zh-CN" sz="1600" dirty="0"/>
              <a:t>ONU</a:t>
            </a:r>
            <a:r>
              <a:rPr lang="zh-CN" altLang="en-US" sz="1600" dirty="0"/>
              <a:t>在用户家中，那就是光纤到户</a:t>
            </a:r>
            <a:r>
              <a:rPr lang="en-US" altLang="zh-CN" sz="1600" dirty="0"/>
              <a:t>FTTH</a:t>
            </a:r>
            <a:r>
              <a:rPr lang="zh-CN" altLang="en-US" sz="1600" dirty="0"/>
              <a:t>。</a:t>
            </a:r>
          </a:p>
        </p:txBody>
      </p:sp>
      <p:sp>
        <p:nvSpPr>
          <p:cNvPr id="19" name="Text Box 20">
            <a:extLst>
              <a:ext uri="{FF2B5EF4-FFF2-40B4-BE49-F238E27FC236}">
                <a16:creationId xmlns:a16="http://schemas.microsoft.com/office/drawing/2014/main" id="{77F9A94A-72B3-EB1A-7DC8-02D8BEDBFB84}"/>
              </a:ext>
            </a:extLst>
          </p:cNvPr>
          <p:cNvSpPr txBox="1">
            <a:spLocks noChangeArrowheads="1"/>
          </p:cNvSpPr>
          <p:nvPr/>
        </p:nvSpPr>
        <p:spPr bwMode="auto">
          <a:xfrm>
            <a:off x="3928927" y="1812353"/>
            <a:ext cx="696907" cy="20603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050" b="1" dirty="0">
                <a:latin typeface="微软雅黑" pitchFamily="34" charset="-122"/>
                <a:ea typeface="微软雅黑" pitchFamily="34" charset="-122"/>
              </a:rPr>
              <a:t>光分路器</a:t>
            </a:r>
          </a:p>
        </p:txBody>
      </p:sp>
      <p:sp>
        <p:nvSpPr>
          <p:cNvPr id="90" name="对话气泡: 矩形 89">
            <a:extLst>
              <a:ext uri="{FF2B5EF4-FFF2-40B4-BE49-F238E27FC236}">
                <a16:creationId xmlns:a16="http://schemas.microsoft.com/office/drawing/2014/main" id="{E7CCCC83-281D-F021-B77E-EBC60149B0AE}"/>
              </a:ext>
            </a:extLst>
          </p:cNvPr>
          <p:cNvSpPr/>
          <p:nvPr/>
        </p:nvSpPr>
        <p:spPr>
          <a:xfrm>
            <a:off x="7151445" y="1217502"/>
            <a:ext cx="1461442" cy="589426"/>
          </a:xfrm>
          <a:prstGeom prst="wedgeRectCallout">
            <a:avLst>
              <a:gd name="adj1" fmla="val -121750"/>
              <a:gd name="adj2" fmla="val 98364"/>
            </a:avLst>
          </a:prstGeom>
        </p:spPr>
        <p:style>
          <a:lnRef idx="1">
            <a:schemeClr val="accent2"/>
          </a:lnRef>
          <a:fillRef idx="2">
            <a:schemeClr val="accent2"/>
          </a:fillRef>
          <a:effectRef idx="1">
            <a:schemeClr val="accent2"/>
          </a:effectRef>
          <a:fontRef idx="minor">
            <a:schemeClr val="dk1"/>
          </a:fontRef>
        </p:style>
        <p:txBody>
          <a:bodyPr rtlCol="0" anchor="ctr"/>
          <a:lstStyle/>
          <a:p>
            <a:r>
              <a:rPr lang="zh-CN" altLang="en-US" sz="1600" b="1" dirty="0">
                <a:latin typeface="黑体" panose="02010609060101010101" pitchFamily="49" charset="-122"/>
                <a:ea typeface="黑体" panose="02010609060101010101" pitchFamily="49" charset="-122"/>
              </a:rPr>
              <a:t>若在用户家中，就是 </a:t>
            </a:r>
            <a:r>
              <a:rPr lang="en-US" altLang="zh-CN" sz="1600" b="1" dirty="0">
                <a:latin typeface="黑体" panose="02010609060101010101" pitchFamily="49" charset="-122"/>
                <a:ea typeface="黑体" panose="02010609060101010101" pitchFamily="49" charset="-122"/>
              </a:rPr>
              <a:t>FTTH</a:t>
            </a:r>
            <a:endParaRPr lang="zh-CN" altLang="en-US" sz="1600" b="1" dirty="0">
              <a:latin typeface="黑体" panose="02010609060101010101" pitchFamily="49" charset="-122"/>
              <a:ea typeface="黑体" panose="02010609060101010101" pitchFamily="49" charset="-122"/>
            </a:endParaRPr>
          </a:p>
        </p:txBody>
      </p:sp>
      <p:sp>
        <p:nvSpPr>
          <p:cNvPr id="91" name="Text Box 20">
            <a:extLst>
              <a:ext uri="{FF2B5EF4-FFF2-40B4-BE49-F238E27FC236}">
                <a16:creationId xmlns:a16="http://schemas.microsoft.com/office/drawing/2014/main" id="{29D0DCBA-7568-98C6-2237-297E9848E758}"/>
              </a:ext>
            </a:extLst>
          </p:cNvPr>
          <p:cNvSpPr txBox="1">
            <a:spLocks noChangeArrowheads="1"/>
          </p:cNvSpPr>
          <p:nvPr/>
        </p:nvSpPr>
        <p:spPr bwMode="auto">
          <a:xfrm>
            <a:off x="3929165" y="2936966"/>
            <a:ext cx="696907" cy="20603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050" b="1" dirty="0">
                <a:latin typeface="微软雅黑" pitchFamily="34" charset="-122"/>
                <a:ea typeface="微软雅黑" pitchFamily="34" charset="-122"/>
              </a:rPr>
              <a:t>光分路器</a:t>
            </a:r>
          </a:p>
        </p:txBody>
      </p:sp>
      <p:sp>
        <p:nvSpPr>
          <p:cNvPr id="92" name="Text Box 41">
            <a:extLst>
              <a:ext uri="{FF2B5EF4-FFF2-40B4-BE49-F238E27FC236}">
                <a16:creationId xmlns:a16="http://schemas.microsoft.com/office/drawing/2014/main" id="{B3652765-1F4C-EE3D-B95F-C9F183C006F1}"/>
              </a:ext>
            </a:extLst>
          </p:cNvPr>
          <p:cNvSpPr txBox="1">
            <a:spLocks noChangeArrowheads="1"/>
          </p:cNvSpPr>
          <p:nvPr/>
        </p:nvSpPr>
        <p:spPr bwMode="auto">
          <a:xfrm>
            <a:off x="2571730" y="2566198"/>
            <a:ext cx="434373" cy="206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050" b="1" dirty="0">
                <a:latin typeface="微软雅黑" pitchFamily="34" charset="-122"/>
                <a:ea typeface="微软雅黑" pitchFamily="34" charset="-122"/>
              </a:rPr>
              <a:t>头端</a:t>
            </a:r>
          </a:p>
        </p:txBody>
      </p:sp>
    </p:spTree>
    <p:extLst>
      <p:ext uri="{BB962C8B-B14F-4D97-AF65-F5344CB8AC3E}">
        <p14:creationId xmlns:p14="http://schemas.microsoft.com/office/powerpoint/2010/main" val="10923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7"/>
                                        </p:tgtEl>
                                        <p:attrNameLst>
                                          <p:attrName>style.visibility</p:attrName>
                                        </p:attrNameLst>
                                      </p:cBhvr>
                                      <p:to>
                                        <p:strVal val="visible"/>
                                      </p:to>
                                    </p:set>
                                    <p:animEffect transition="in" filter="fade">
                                      <p:cBhvr>
                                        <p:cTn id="7" dur="1000"/>
                                        <p:tgtEl>
                                          <p:spTgt spid="87"/>
                                        </p:tgtEl>
                                      </p:cBhvr>
                                    </p:animEffect>
                                    <p:anim calcmode="lin" valueType="num">
                                      <p:cBhvr>
                                        <p:cTn id="8" dur="1000" fill="hold"/>
                                        <p:tgtEl>
                                          <p:spTgt spid="87"/>
                                        </p:tgtEl>
                                        <p:attrNameLst>
                                          <p:attrName>ppt_x</p:attrName>
                                        </p:attrNameLst>
                                      </p:cBhvr>
                                      <p:tavLst>
                                        <p:tav tm="0">
                                          <p:val>
                                            <p:strVal val="#ppt_x"/>
                                          </p:val>
                                        </p:tav>
                                        <p:tav tm="100000">
                                          <p:val>
                                            <p:strVal val="#ppt_x"/>
                                          </p:val>
                                        </p:tav>
                                      </p:tavLst>
                                    </p:anim>
                                    <p:anim calcmode="lin" valueType="num">
                                      <p:cBhvr>
                                        <p:cTn id="9" dur="1000" fill="hold"/>
                                        <p:tgtEl>
                                          <p:spTgt spid="87"/>
                                        </p:tgtEl>
                                        <p:attrNameLst>
                                          <p:attrName>ppt_y</p:attrName>
                                        </p:attrNameLst>
                                      </p:cBhvr>
                                      <p:tavLst>
                                        <p:tav tm="0">
                                          <p:val>
                                            <p:strVal val="#ppt_y+.1"/>
                                          </p:val>
                                        </p:tav>
                                        <p:tav tm="100000">
                                          <p:val>
                                            <p:strVal val="#ppt_y"/>
                                          </p:val>
                                        </p:tav>
                                      </p:tavLst>
                                    </p:anim>
                                  </p:childTnLst>
                                </p:cTn>
                              </p:par>
                              <p:par>
                                <p:cTn id="10" presetID="35" presetClass="emph" presetSubtype="0" repeatCount="3000" fill="hold" nodeType="withEffect">
                                  <p:stCondLst>
                                    <p:cond delay="0"/>
                                  </p:stCondLst>
                                  <p:childTnLst>
                                    <p:anim calcmode="discrete" valueType="str">
                                      <p:cBhvr>
                                        <p:cTn id="11" dur="1000" fill="hold"/>
                                        <p:tgtEl>
                                          <p:spTgt spid="89"/>
                                        </p:tgtEl>
                                        <p:attrNameLst>
                                          <p:attrName>style.visibility</p:attrName>
                                        </p:attrNameLst>
                                      </p:cBhvr>
                                      <p:tavLst>
                                        <p:tav tm="0">
                                          <p:val>
                                            <p:strVal val="hidden"/>
                                          </p:val>
                                        </p:tav>
                                        <p:tav tm="50000">
                                          <p:val>
                                            <p:strVal val="visible"/>
                                          </p:val>
                                        </p:tav>
                                      </p:tavLst>
                                    </p:anim>
                                  </p:childTnLst>
                                </p:cTn>
                              </p:par>
                            </p:childTnLst>
                          </p:cTn>
                        </p:par>
                        <p:par>
                          <p:cTn id="12" fill="hold">
                            <p:stCondLst>
                              <p:cond delay="3000"/>
                            </p:stCondLst>
                            <p:childTnLst>
                              <p:par>
                                <p:cTn id="13" presetID="35" presetClass="emph" presetSubtype="0" repeatCount="3000" fill="hold" grpId="0" nodeType="afterEffect">
                                  <p:stCondLst>
                                    <p:cond delay="0"/>
                                  </p:stCondLst>
                                  <p:childTnLst>
                                    <p:anim calcmode="discrete" valueType="str">
                                      <p:cBhvr>
                                        <p:cTn id="14" dur="1000" fill="hold"/>
                                        <p:tgtEl>
                                          <p:spTgt spid="20"/>
                                        </p:tgtEl>
                                        <p:attrNameLst>
                                          <p:attrName>style.visibility</p:attrName>
                                        </p:attrNameLst>
                                      </p:cBhvr>
                                      <p:tavLst>
                                        <p:tav tm="0">
                                          <p:val>
                                            <p:strVal val="hidden"/>
                                          </p:val>
                                        </p:tav>
                                        <p:tav tm="50000">
                                          <p:val>
                                            <p:strVal val="visible"/>
                                          </p:val>
                                        </p:tav>
                                      </p:tavLst>
                                    </p:anim>
                                  </p:childTnLst>
                                </p:cTn>
                              </p:par>
                            </p:childTnLst>
                          </p:cTn>
                        </p:par>
                      </p:childTnLst>
                    </p:cTn>
                  </p:par>
                  <p:par>
                    <p:cTn id="15" fill="hold">
                      <p:stCondLst>
                        <p:cond delay="indefinite"/>
                      </p:stCondLst>
                      <p:childTnLst>
                        <p:par>
                          <p:cTn id="16" fill="hold">
                            <p:stCondLst>
                              <p:cond delay="0"/>
                            </p:stCondLst>
                            <p:childTnLst>
                              <p:par>
                                <p:cTn id="17" presetID="35" presetClass="emph" presetSubtype="0" repeatCount="3000" fill="hold" nodeType="clickEffect">
                                  <p:stCondLst>
                                    <p:cond delay="0"/>
                                  </p:stCondLst>
                                  <p:childTnLst>
                                    <p:anim calcmode="discrete" valueType="str">
                                      <p:cBhvr>
                                        <p:cTn id="18" dur="1000" fill="hold"/>
                                        <p:tgtEl>
                                          <p:spTgt spid="86"/>
                                        </p:tgtEl>
                                        <p:attrNameLst>
                                          <p:attrName>style.visibility</p:attrName>
                                        </p:attrNameLst>
                                      </p:cBhvr>
                                      <p:tavLst>
                                        <p:tav tm="0">
                                          <p:val>
                                            <p:strVal val="hidden"/>
                                          </p:val>
                                        </p:tav>
                                        <p:tav tm="50000">
                                          <p:val>
                                            <p:strVal val="visible"/>
                                          </p:val>
                                        </p:tav>
                                      </p:tavLst>
                                    </p:anim>
                                  </p:childTnLst>
                                </p:cTn>
                              </p:par>
                            </p:childTnLst>
                          </p:cTn>
                        </p:par>
                      </p:childTnLst>
                    </p:cTn>
                  </p:par>
                  <p:par>
                    <p:cTn id="19" fill="hold">
                      <p:stCondLst>
                        <p:cond delay="indefinite"/>
                      </p:stCondLst>
                      <p:childTnLst>
                        <p:par>
                          <p:cTn id="20" fill="hold">
                            <p:stCondLst>
                              <p:cond delay="0"/>
                            </p:stCondLst>
                            <p:childTnLst>
                              <p:par>
                                <p:cTn id="21" presetID="53" presetClass="entr" presetSubtype="16" fill="hold" grpId="0" nodeType="clickEffect">
                                  <p:stCondLst>
                                    <p:cond delay="0"/>
                                  </p:stCondLst>
                                  <p:childTnLst>
                                    <p:set>
                                      <p:cBhvr>
                                        <p:cTn id="22" dur="1" fill="hold">
                                          <p:stCondLst>
                                            <p:cond delay="0"/>
                                          </p:stCondLst>
                                        </p:cTn>
                                        <p:tgtEl>
                                          <p:spTgt spid="90"/>
                                        </p:tgtEl>
                                        <p:attrNameLst>
                                          <p:attrName>style.visibility</p:attrName>
                                        </p:attrNameLst>
                                      </p:cBhvr>
                                      <p:to>
                                        <p:strVal val="visible"/>
                                      </p:to>
                                    </p:set>
                                    <p:anim calcmode="lin" valueType="num">
                                      <p:cBhvr>
                                        <p:cTn id="23" dur="500" fill="hold"/>
                                        <p:tgtEl>
                                          <p:spTgt spid="90"/>
                                        </p:tgtEl>
                                        <p:attrNameLst>
                                          <p:attrName>ppt_w</p:attrName>
                                        </p:attrNameLst>
                                      </p:cBhvr>
                                      <p:tavLst>
                                        <p:tav tm="0">
                                          <p:val>
                                            <p:fltVal val="0"/>
                                          </p:val>
                                        </p:tav>
                                        <p:tav tm="100000">
                                          <p:val>
                                            <p:strVal val="#ppt_w"/>
                                          </p:val>
                                        </p:tav>
                                      </p:tavLst>
                                    </p:anim>
                                    <p:anim calcmode="lin" valueType="num">
                                      <p:cBhvr>
                                        <p:cTn id="24" dur="500" fill="hold"/>
                                        <p:tgtEl>
                                          <p:spTgt spid="90"/>
                                        </p:tgtEl>
                                        <p:attrNameLst>
                                          <p:attrName>ppt_h</p:attrName>
                                        </p:attrNameLst>
                                      </p:cBhvr>
                                      <p:tavLst>
                                        <p:tav tm="0">
                                          <p:val>
                                            <p:fltVal val="0"/>
                                          </p:val>
                                        </p:tav>
                                        <p:tav tm="100000">
                                          <p:val>
                                            <p:strVal val="#ppt_h"/>
                                          </p:val>
                                        </p:tav>
                                      </p:tavLst>
                                    </p:anim>
                                    <p:animEffect transition="in" filter="fade">
                                      <p:cBhvr>
                                        <p:cTn id="25" dur="5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87" grpId="0"/>
      <p:bldP spid="90"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52364-E6FB-2788-F8FE-5F8D6021D7B2}"/>
            </a:ext>
          </a:extLst>
        </p:cNvPr>
        <p:cNvGrpSpPr/>
        <p:nvPr/>
      </p:nvGrpSpPr>
      <p:grpSpPr>
        <a:xfrm>
          <a:off x="0" y="0"/>
          <a:ext cx="0" cy="0"/>
          <a:chOff x="0" y="0"/>
          <a:chExt cx="0" cy="0"/>
        </a:xfrm>
      </p:grpSpPr>
      <p:sp>
        <p:nvSpPr>
          <p:cNvPr id="4" name="文本占位符 3">
            <a:extLst>
              <a:ext uri="{FF2B5EF4-FFF2-40B4-BE49-F238E27FC236}">
                <a16:creationId xmlns:a16="http://schemas.microsoft.com/office/drawing/2014/main" id="{BD9ABCFC-ED07-A279-DFB9-0A83DE2A64A6}"/>
              </a:ext>
            </a:extLst>
          </p:cNvPr>
          <p:cNvSpPr>
            <a:spLocks noGrp="1"/>
          </p:cNvSpPr>
          <p:nvPr>
            <p:ph type="body" sz="quarter" idx="11"/>
          </p:nvPr>
        </p:nvSpPr>
        <p:spPr>
          <a:xfrm>
            <a:off x="1332000" y="360000"/>
            <a:ext cx="6480000" cy="354012"/>
          </a:xfrm>
        </p:spPr>
        <p:txBody>
          <a:bodyPr>
            <a:normAutofit fontScale="92500" lnSpcReduction="10000"/>
          </a:bodyPr>
          <a:lstStyle/>
          <a:p>
            <a:r>
              <a:rPr lang="zh-CN" altLang="en-US" dirty="0"/>
              <a:t>光配线网 </a:t>
            </a:r>
            <a:r>
              <a:rPr lang="en-US" altLang="zh-CN" dirty="0"/>
              <a:t>ODN (Optical Distribution Network)</a:t>
            </a:r>
            <a:endParaRPr lang="zh-CN" altLang="en-US" dirty="0"/>
          </a:p>
        </p:txBody>
      </p:sp>
      <p:grpSp>
        <p:nvGrpSpPr>
          <p:cNvPr id="6" name="Group 4">
            <a:extLst>
              <a:ext uri="{FF2B5EF4-FFF2-40B4-BE49-F238E27FC236}">
                <a16:creationId xmlns:a16="http://schemas.microsoft.com/office/drawing/2014/main" id="{2F8850D0-6665-22E6-5BCC-C4A5821BD539}"/>
              </a:ext>
            </a:extLst>
          </p:cNvPr>
          <p:cNvGrpSpPr>
            <a:grpSpLocks/>
          </p:cNvGrpSpPr>
          <p:nvPr/>
        </p:nvGrpSpPr>
        <p:grpSpPr bwMode="auto">
          <a:xfrm>
            <a:off x="5764730" y="1357047"/>
            <a:ext cx="1237913" cy="803275"/>
            <a:chOff x="3781" y="1238"/>
            <a:chExt cx="1095" cy="1103"/>
          </a:xfrm>
        </p:grpSpPr>
        <p:sp>
          <p:nvSpPr>
            <p:cNvPr id="7" name="Line 5">
              <a:extLst>
                <a:ext uri="{FF2B5EF4-FFF2-40B4-BE49-F238E27FC236}">
                  <a16:creationId xmlns:a16="http://schemas.microsoft.com/office/drawing/2014/main" id="{F0D38E3A-41B0-E00D-19AD-129AAED84D6F}"/>
                </a:ext>
              </a:extLst>
            </p:cNvPr>
            <p:cNvSpPr>
              <a:spLocks noChangeShapeType="1"/>
            </p:cNvSpPr>
            <p:nvPr/>
          </p:nvSpPr>
          <p:spPr bwMode="auto">
            <a:xfrm>
              <a:off x="3781" y="1752"/>
              <a:ext cx="109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8" name="Line 6">
              <a:extLst>
                <a:ext uri="{FF2B5EF4-FFF2-40B4-BE49-F238E27FC236}">
                  <a16:creationId xmlns:a16="http://schemas.microsoft.com/office/drawing/2014/main" id="{6A0BF5BC-AADF-493B-CD40-0FE640C82457}"/>
                </a:ext>
              </a:extLst>
            </p:cNvPr>
            <p:cNvSpPr>
              <a:spLocks noChangeShapeType="1"/>
            </p:cNvSpPr>
            <p:nvPr/>
          </p:nvSpPr>
          <p:spPr bwMode="auto">
            <a:xfrm>
              <a:off x="3923" y="2341"/>
              <a:ext cx="95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9" name="Line 7">
              <a:extLst>
                <a:ext uri="{FF2B5EF4-FFF2-40B4-BE49-F238E27FC236}">
                  <a16:creationId xmlns:a16="http://schemas.microsoft.com/office/drawing/2014/main" id="{A2C7FD51-E5C2-164B-640E-60230B71BDFE}"/>
                </a:ext>
              </a:extLst>
            </p:cNvPr>
            <p:cNvSpPr>
              <a:spLocks noChangeShapeType="1"/>
            </p:cNvSpPr>
            <p:nvPr/>
          </p:nvSpPr>
          <p:spPr bwMode="auto">
            <a:xfrm>
              <a:off x="3923" y="1238"/>
              <a:ext cx="95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grpSp>
      <p:sp>
        <p:nvSpPr>
          <p:cNvPr id="11" name="Rectangle 9">
            <a:extLst>
              <a:ext uri="{FF2B5EF4-FFF2-40B4-BE49-F238E27FC236}">
                <a16:creationId xmlns:a16="http://schemas.microsoft.com/office/drawing/2014/main" id="{60368A5B-3ADD-8ACB-E19A-DE35D83637D5}"/>
              </a:ext>
            </a:extLst>
          </p:cNvPr>
          <p:cNvSpPr>
            <a:spLocks noChangeArrowheads="1"/>
          </p:cNvSpPr>
          <p:nvPr/>
        </p:nvSpPr>
        <p:spPr bwMode="auto">
          <a:xfrm>
            <a:off x="4086580" y="1632330"/>
            <a:ext cx="380331" cy="198088"/>
          </a:xfrm>
          <a:prstGeom prst="rect">
            <a:avLst/>
          </a:prstGeom>
          <a:solidFill>
            <a:srgbClr val="00FFCC"/>
          </a:solidFill>
          <a:ln w="19050">
            <a:solidFill>
              <a:schemeClr val="tx1"/>
            </a:solidFill>
            <a:miter lim="800000"/>
            <a:headEnd/>
            <a:tailEnd/>
          </a:ln>
          <a:effectLst/>
        </p:spPr>
        <p:txBody>
          <a:bodyPr wrap="none" anchor="ctr"/>
          <a:lstStyle/>
          <a:p>
            <a:pPr algn="ctr"/>
            <a:r>
              <a:rPr lang="en-US" altLang="zh-CN" sz="1200" b="1" dirty="0">
                <a:latin typeface="微软雅黑" pitchFamily="34" charset="-122"/>
                <a:ea typeface="微软雅黑" pitchFamily="34" charset="-122"/>
              </a:rPr>
              <a:t>1:N</a:t>
            </a:r>
          </a:p>
        </p:txBody>
      </p:sp>
      <p:sp>
        <p:nvSpPr>
          <p:cNvPr id="12" name="Line 12">
            <a:extLst>
              <a:ext uri="{FF2B5EF4-FFF2-40B4-BE49-F238E27FC236}">
                <a16:creationId xmlns:a16="http://schemas.microsoft.com/office/drawing/2014/main" id="{BD3925D3-F7CA-A2E8-62FC-8A3C17F5F98F}"/>
              </a:ext>
            </a:extLst>
          </p:cNvPr>
          <p:cNvSpPr>
            <a:spLocks noChangeShapeType="1"/>
          </p:cNvSpPr>
          <p:nvPr/>
        </p:nvSpPr>
        <p:spPr bwMode="auto">
          <a:xfrm>
            <a:off x="1491642" y="1731374"/>
            <a:ext cx="1439029" cy="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3" name="Text Box 14">
            <a:extLst>
              <a:ext uri="{FF2B5EF4-FFF2-40B4-BE49-F238E27FC236}">
                <a16:creationId xmlns:a16="http://schemas.microsoft.com/office/drawing/2014/main" id="{0455C0C3-6757-CDAA-005B-459ACD58CB16}"/>
              </a:ext>
            </a:extLst>
          </p:cNvPr>
          <p:cNvSpPr txBox="1">
            <a:spLocks noChangeArrowheads="1"/>
          </p:cNvSpPr>
          <p:nvPr/>
        </p:nvSpPr>
        <p:spPr bwMode="auto">
          <a:xfrm>
            <a:off x="1468689" y="1512215"/>
            <a:ext cx="696907" cy="206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050" b="1" dirty="0">
                <a:latin typeface="微软雅黑" pitchFamily="34" charset="-122"/>
                <a:ea typeface="微软雅黑" pitchFamily="34" charset="-122"/>
              </a:rPr>
              <a:t>光纤干线</a:t>
            </a:r>
          </a:p>
        </p:txBody>
      </p:sp>
      <p:sp>
        <p:nvSpPr>
          <p:cNvPr id="14" name="Line 15">
            <a:extLst>
              <a:ext uri="{FF2B5EF4-FFF2-40B4-BE49-F238E27FC236}">
                <a16:creationId xmlns:a16="http://schemas.microsoft.com/office/drawing/2014/main" id="{E22D69FD-B911-15C7-F320-2300669EFA7B}"/>
              </a:ext>
            </a:extLst>
          </p:cNvPr>
          <p:cNvSpPr>
            <a:spLocks noChangeShapeType="1"/>
          </p:cNvSpPr>
          <p:nvPr/>
        </p:nvSpPr>
        <p:spPr bwMode="auto">
          <a:xfrm>
            <a:off x="2947591" y="1731374"/>
            <a:ext cx="1138989" cy="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5" name="Line 16">
            <a:extLst>
              <a:ext uri="{FF2B5EF4-FFF2-40B4-BE49-F238E27FC236}">
                <a16:creationId xmlns:a16="http://schemas.microsoft.com/office/drawing/2014/main" id="{0E6D837C-AD83-9481-F3F4-2FCBAA40F9CB}"/>
              </a:ext>
            </a:extLst>
          </p:cNvPr>
          <p:cNvSpPr>
            <a:spLocks noChangeShapeType="1"/>
          </p:cNvSpPr>
          <p:nvPr/>
        </p:nvSpPr>
        <p:spPr bwMode="auto">
          <a:xfrm flipV="1">
            <a:off x="4466911" y="1323851"/>
            <a:ext cx="1280671" cy="341252"/>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6" name="Line 17">
            <a:extLst>
              <a:ext uri="{FF2B5EF4-FFF2-40B4-BE49-F238E27FC236}">
                <a16:creationId xmlns:a16="http://schemas.microsoft.com/office/drawing/2014/main" id="{E833883B-F1A9-8C41-85D1-80917A442391}"/>
              </a:ext>
            </a:extLst>
          </p:cNvPr>
          <p:cNvSpPr>
            <a:spLocks noChangeShapeType="1"/>
          </p:cNvSpPr>
          <p:nvPr/>
        </p:nvSpPr>
        <p:spPr bwMode="auto">
          <a:xfrm>
            <a:off x="4466911" y="1796918"/>
            <a:ext cx="1280671" cy="363404"/>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7" name="Line 18">
            <a:extLst>
              <a:ext uri="{FF2B5EF4-FFF2-40B4-BE49-F238E27FC236}">
                <a16:creationId xmlns:a16="http://schemas.microsoft.com/office/drawing/2014/main" id="{3101C16C-327E-E6C0-1555-4E85F60BAF81}"/>
              </a:ext>
            </a:extLst>
          </p:cNvPr>
          <p:cNvSpPr>
            <a:spLocks noChangeShapeType="1"/>
          </p:cNvSpPr>
          <p:nvPr/>
        </p:nvSpPr>
        <p:spPr bwMode="auto">
          <a:xfrm>
            <a:off x="4466911" y="1731374"/>
            <a:ext cx="1297819" cy="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8" name="Text Box 19">
            <a:extLst>
              <a:ext uri="{FF2B5EF4-FFF2-40B4-BE49-F238E27FC236}">
                <a16:creationId xmlns:a16="http://schemas.microsoft.com/office/drawing/2014/main" id="{427E07D7-E9C1-AF81-1700-9F9E3CDF1DDE}"/>
              </a:ext>
            </a:extLst>
          </p:cNvPr>
          <p:cNvSpPr txBox="1">
            <a:spLocks noChangeArrowheads="1"/>
          </p:cNvSpPr>
          <p:nvPr/>
        </p:nvSpPr>
        <p:spPr bwMode="auto">
          <a:xfrm rot="5400000">
            <a:off x="5844981" y="1822402"/>
            <a:ext cx="266634" cy="257760"/>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dirty="0">
                <a:latin typeface="微软雅黑" pitchFamily="34" charset="-122"/>
                <a:ea typeface="微软雅黑" pitchFamily="34" charset="-122"/>
                <a:sym typeface="Symbol" pitchFamily="18" charset="2"/>
              </a:rPr>
              <a:t></a:t>
            </a:r>
          </a:p>
        </p:txBody>
      </p:sp>
      <p:sp>
        <p:nvSpPr>
          <p:cNvPr id="20" name="Text Box 21">
            <a:extLst>
              <a:ext uri="{FF2B5EF4-FFF2-40B4-BE49-F238E27FC236}">
                <a16:creationId xmlns:a16="http://schemas.microsoft.com/office/drawing/2014/main" id="{0240B92D-6C01-AA70-FF41-222935AD060D}"/>
              </a:ext>
            </a:extLst>
          </p:cNvPr>
          <p:cNvSpPr txBox="1">
            <a:spLocks noChangeArrowheads="1"/>
          </p:cNvSpPr>
          <p:nvPr/>
        </p:nvSpPr>
        <p:spPr bwMode="auto">
          <a:xfrm>
            <a:off x="5506442" y="1040586"/>
            <a:ext cx="990270"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1050" b="1" dirty="0">
                <a:latin typeface="微软雅黑" pitchFamily="34" charset="-122"/>
                <a:ea typeface="微软雅黑" pitchFamily="34" charset="-122"/>
              </a:rPr>
              <a:t>光网络单元</a:t>
            </a:r>
          </a:p>
        </p:txBody>
      </p:sp>
      <p:sp>
        <p:nvSpPr>
          <p:cNvPr id="21" name="Text Box 23">
            <a:extLst>
              <a:ext uri="{FF2B5EF4-FFF2-40B4-BE49-F238E27FC236}">
                <a16:creationId xmlns:a16="http://schemas.microsoft.com/office/drawing/2014/main" id="{A40A083D-464E-D44E-FB2D-32589776092B}"/>
              </a:ext>
            </a:extLst>
          </p:cNvPr>
          <p:cNvSpPr txBox="1">
            <a:spLocks noChangeArrowheads="1"/>
          </p:cNvSpPr>
          <p:nvPr/>
        </p:nvSpPr>
        <p:spPr bwMode="auto">
          <a:xfrm>
            <a:off x="3162984" y="1515594"/>
            <a:ext cx="523874"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dirty="0">
                <a:ln w="12700">
                  <a:solidFill>
                    <a:sysClr val="windowText" lastClr="000000"/>
                  </a:solidFill>
                </a:ln>
                <a:solidFill>
                  <a:srgbClr val="00FFCC"/>
                </a:solidFill>
                <a:latin typeface="微软雅黑" pitchFamily="34" charset="-122"/>
                <a:ea typeface="微软雅黑" pitchFamily="34" charset="-122"/>
              </a:rPr>
              <a:t>★●</a:t>
            </a:r>
            <a:r>
              <a:rPr lang="en-US" altLang="zh-CN" sz="1200" b="1" dirty="0">
                <a:ln w="12700">
                  <a:solidFill>
                    <a:sysClr val="windowText" lastClr="000000"/>
                  </a:solidFill>
                </a:ln>
                <a:solidFill>
                  <a:srgbClr val="00FFCC"/>
                </a:solidFill>
                <a:latin typeface="微软雅黑" pitchFamily="34" charset="-122"/>
                <a:ea typeface="微软雅黑" pitchFamily="34" charset="-122"/>
                <a:sym typeface="Wingdings" pitchFamily="2" charset="2"/>
              </a:rPr>
              <a:t></a:t>
            </a:r>
          </a:p>
        </p:txBody>
      </p:sp>
      <p:sp>
        <p:nvSpPr>
          <p:cNvPr id="28" name="Line 30">
            <a:extLst>
              <a:ext uri="{FF2B5EF4-FFF2-40B4-BE49-F238E27FC236}">
                <a16:creationId xmlns:a16="http://schemas.microsoft.com/office/drawing/2014/main" id="{62CB77C4-DB39-84DC-A9F2-7D5D869745DC}"/>
              </a:ext>
            </a:extLst>
          </p:cNvPr>
          <p:cNvSpPr>
            <a:spLocks noChangeShapeType="1"/>
          </p:cNvSpPr>
          <p:nvPr/>
        </p:nvSpPr>
        <p:spPr bwMode="auto">
          <a:xfrm>
            <a:off x="3658024" y="1621949"/>
            <a:ext cx="168725"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grpSp>
        <p:nvGrpSpPr>
          <p:cNvPr id="89" name="组合 88">
            <a:extLst>
              <a:ext uri="{FF2B5EF4-FFF2-40B4-BE49-F238E27FC236}">
                <a16:creationId xmlns:a16="http://schemas.microsoft.com/office/drawing/2014/main" id="{CF6ED78C-FB9F-30F7-13CA-D5263AF6D3E5}"/>
              </a:ext>
            </a:extLst>
          </p:cNvPr>
          <p:cNvGrpSpPr/>
          <p:nvPr/>
        </p:nvGrpSpPr>
        <p:grpSpPr>
          <a:xfrm>
            <a:off x="4798086" y="1291836"/>
            <a:ext cx="726165" cy="687205"/>
            <a:chOff x="4798086" y="1291836"/>
            <a:chExt cx="726165" cy="687205"/>
          </a:xfrm>
        </p:grpSpPr>
        <p:sp>
          <p:nvSpPr>
            <p:cNvPr id="22" name="Text Box 24">
              <a:extLst>
                <a:ext uri="{FF2B5EF4-FFF2-40B4-BE49-F238E27FC236}">
                  <a16:creationId xmlns:a16="http://schemas.microsoft.com/office/drawing/2014/main" id="{85E3A692-C86E-FCFA-07F6-DF418DCC31A8}"/>
                </a:ext>
              </a:extLst>
            </p:cNvPr>
            <p:cNvSpPr txBox="1">
              <a:spLocks noChangeArrowheads="1"/>
            </p:cNvSpPr>
            <p:nvPr/>
          </p:nvSpPr>
          <p:spPr bwMode="auto">
            <a:xfrm>
              <a:off x="4843756" y="1525071"/>
              <a:ext cx="523874"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dirty="0">
                  <a:ln w="12700">
                    <a:solidFill>
                      <a:sysClr val="windowText" lastClr="000000"/>
                    </a:solidFill>
                  </a:ln>
                  <a:solidFill>
                    <a:srgbClr val="00FFCC"/>
                  </a:solidFill>
                  <a:latin typeface="微软雅黑" pitchFamily="34" charset="-122"/>
                  <a:ea typeface="微软雅黑" pitchFamily="34" charset="-122"/>
                </a:rPr>
                <a:t>★●</a:t>
              </a:r>
              <a:r>
                <a:rPr lang="en-US" altLang="zh-CN" sz="1200" b="1" dirty="0">
                  <a:ln w="12700">
                    <a:solidFill>
                      <a:sysClr val="windowText" lastClr="000000"/>
                    </a:solidFill>
                  </a:ln>
                  <a:solidFill>
                    <a:srgbClr val="00FFCC"/>
                  </a:solidFill>
                  <a:latin typeface="微软雅黑" pitchFamily="34" charset="-122"/>
                  <a:ea typeface="微软雅黑" pitchFamily="34" charset="-122"/>
                  <a:sym typeface="Wingdings" pitchFamily="2" charset="2"/>
                </a:rPr>
                <a:t></a:t>
              </a:r>
            </a:p>
          </p:txBody>
        </p:sp>
        <p:sp>
          <p:nvSpPr>
            <p:cNvPr id="24" name="Text Box 26">
              <a:extLst>
                <a:ext uri="{FF2B5EF4-FFF2-40B4-BE49-F238E27FC236}">
                  <a16:creationId xmlns:a16="http://schemas.microsoft.com/office/drawing/2014/main" id="{2F7FC5C6-28C6-0261-66AB-681342F3C120}"/>
                </a:ext>
              </a:extLst>
            </p:cNvPr>
            <p:cNvSpPr txBox="1">
              <a:spLocks noChangeArrowheads="1"/>
            </p:cNvSpPr>
            <p:nvPr/>
          </p:nvSpPr>
          <p:spPr bwMode="auto">
            <a:xfrm rot="1462546">
              <a:off x="4815504" y="1747251"/>
              <a:ext cx="523874"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dirty="0">
                  <a:ln w="12700">
                    <a:solidFill>
                      <a:sysClr val="windowText" lastClr="000000"/>
                    </a:solidFill>
                  </a:ln>
                  <a:solidFill>
                    <a:srgbClr val="00FFCC"/>
                  </a:solidFill>
                  <a:latin typeface="微软雅黑" pitchFamily="34" charset="-122"/>
                  <a:ea typeface="微软雅黑" pitchFamily="34" charset="-122"/>
                </a:rPr>
                <a:t>★●</a:t>
              </a:r>
              <a:r>
                <a:rPr lang="en-US" altLang="zh-CN" sz="1200" b="1" dirty="0">
                  <a:ln w="12700">
                    <a:solidFill>
                      <a:sysClr val="windowText" lastClr="000000"/>
                    </a:solidFill>
                  </a:ln>
                  <a:solidFill>
                    <a:srgbClr val="00FFCC"/>
                  </a:solidFill>
                  <a:latin typeface="微软雅黑" pitchFamily="34" charset="-122"/>
                  <a:ea typeface="微软雅黑" pitchFamily="34" charset="-122"/>
                  <a:sym typeface="Wingdings" pitchFamily="2" charset="2"/>
                </a:rPr>
                <a:t></a:t>
              </a:r>
            </a:p>
          </p:txBody>
        </p:sp>
        <p:sp>
          <p:nvSpPr>
            <p:cNvPr id="25" name="Text Box 27">
              <a:extLst>
                <a:ext uri="{FF2B5EF4-FFF2-40B4-BE49-F238E27FC236}">
                  <a16:creationId xmlns:a16="http://schemas.microsoft.com/office/drawing/2014/main" id="{54BCE61C-561A-222A-661D-49971E34FC77}"/>
                </a:ext>
              </a:extLst>
            </p:cNvPr>
            <p:cNvSpPr txBox="1">
              <a:spLocks noChangeArrowheads="1"/>
            </p:cNvSpPr>
            <p:nvPr/>
          </p:nvSpPr>
          <p:spPr bwMode="auto">
            <a:xfrm rot="20338690">
              <a:off x="4798086" y="1291836"/>
              <a:ext cx="523874"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dirty="0">
                  <a:ln w="12700">
                    <a:solidFill>
                      <a:sysClr val="windowText" lastClr="000000"/>
                    </a:solidFill>
                  </a:ln>
                  <a:solidFill>
                    <a:srgbClr val="00FFCC"/>
                  </a:solidFill>
                  <a:latin typeface="微软雅黑" pitchFamily="34" charset="-122"/>
                  <a:ea typeface="微软雅黑" pitchFamily="34" charset="-122"/>
                </a:rPr>
                <a:t>★●</a:t>
              </a:r>
              <a:r>
                <a:rPr lang="en-US" altLang="zh-CN" sz="1200" b="1" dirty="0">
                  <a:ln w="12700">
                    <a:solidFill>
                      <a:sysClr val="windowText" lastClr="000000"/>
                    </a:solidFill>
                  </a:ln>
                  <a:solidFill>
                    <a:srgbClr val="00FFCC"/>
                  </a:solidFill>
                  <a:latin typeface="微软雅黑" pitchFamily="34" charset="-122"/>
                  <a:ea typeface="微软雅黑" pitchFamily="34" charset="-122"/>
                  <a:sym typeface="Wingdings" pitchFamily="2" charset="2"/>
                </a:rPr>
                <a:t></a:t>
              </a:r>
            </a:p>
          </p:txBody>
        </p:sp>
        <p:sp>
          <p:nvSpPr>
            <p:cNvPr id="29" name="Line 31">
              <a:extLst>
                <a:ext uri="{FF2B5EF4-FFF2-40B4-BE49-F238E27FC236}">
                  <a16:creationId xmlns:a16="http://schemas.microsoft.com/office/drawing/2014/main" id="{0B700B1A-DE5B-F0B4-4549-38887A5FE2F5}"/>
                </a:ext>
              </a:extLst>
            </p:cNvPr>
            <p:cNvSpPr>
              <a:spLocks noChangeShapeType="1"/>
            </p:cNvSpPr>
            <p:nvPr/>
          </p:nvSpPr>
          <p:spPr bwMode="auto">
            <a:xfrm rot="20348732">
              <a:off x="5312646" y="1335032"/>
              <a:ext cx="168725"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2" name="Line 34">
              <a:extLst>
                <a:ext uri="{FF2B5EF4-FFF2-40B4-BE49-F238E27FC236}">
                  <a16:creationId xmlns:a16="http://schemas.microsoft.com/office/drawing/2014/main" id="{A724E83F-564B-6C3B-7E62-887261ECA485}"/>
                </a:ext>
              </a:extLst>
            </p:cNvPr>
            <p:cNvSpPr>
              <a:spLocks noChangeShapeType="1"/>
            </p:cNvSpPr>
            <p:nvPr/>
          </p:nvSpPr>
          <p:spPr bwMode="auto">
            <a:xfrm rot="1377025">
              <a:off x="5308623" y="1979041"/>
              <a:ext cx="168726"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3" name="Line 35">
              <a:extLst>
                <a:ext uri="{FF2B5EF4-FFF2-40B4-BE49-F238E27FC236}">
                  <a16:creationId xmlns:a16="http://schemas.microsoft.com/office/drawing/2014/main" id="{AE6C6544-C97D-DB61-EC3D-5FEC2D0F0610}"/>
                </a:ext>
              </a:extLst>
            </p:cNvPr>
            <p:cNvSpPr>
              <a:spLocks noChangeShapeType="1"/>
            </p:cNvSpPr>
            <p:nvPr/>
          </p:nvSpPr>
          <p:spPr bwMode="auto">
            <a:xfrm>
              <a:off x="5355526" y="1632164"/>
              <a:ext cx="168725"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grpSp>
      <p:grpSp>
        <p:nvGrpSpPr>
          <p:cNvPr id="86" name="组合 85">
            <a:extLst>
              <a:ext uri="{FF2B5EF4-FFF2-40B4-BE49-F238E27FC236}">
                <a16:creationId xmlns:a16="http://schemas.microsoft.com/office/drawing/2014/main" id="{D7E471ED-2579-6398-3E15-0EAD8E9F9DB6}"/>
              </a:ext>
            </a:extLst>
          </p:cNvPr>
          <p:cNvGrpSpPr/>
          <p:nvPr/>
        </p:nvGrpSpPr>
        <p:grpSpPr>
          <a:xfrm>
            <a:off x="6496712" y="1160249"/>
            <a:ext cx="425076" cy="1020703"/>
            <a:chOff x="6496712" y="1160249"/>
            <a:chExt cx="425076" cy="1020703"/>
          </a:xfrm>
        </p:grpSpPr>
        <p:sp>
          <p:nvSpPr>
            <p:cNvPr id="23" name="Text Box 25">
              <a:extLst>
                <a:ext uri="{FF2B5EF4-FFF2-40B4-BE49-F238E27FC236}">
                  <a16:creationId xmlns:a16="http://schemas.microsoft.com/office/drawing/2014/main" id="{B2D6FDBE-AB85-DA75-6C0A-FEA1146AB082}"/>
                </a:ext>
              </a:extLst>
            </p:cNvPr>
            <p:cNvSpPr txBox="1">
              <a:spLocks noChangeArrowheads="1"/>
            </p:cNvSpPr>
            <p:nvPr/>
          </p:nvSpPr>
          <p:spPr bwMode="auto">
            <a:xfrm>
              <a:off x="6496712" y="1962796"/>
              <a:ext cx="265816"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dirty="0">
                  <a:ln w="12700">
                    <a:solidFill>
                      <a:sysClr val="windowText" lastClr="000000"/>
                    </a:solidFill>
                  </a:ln>
                  <a:solidFill>
                    <a:srgbClr val="00FFCC"/>
                  </a:solidFill>
                  <a:latin typeface="微软雅黑" pitchFamily="34" charset="-122"/>
                  <a:ea typeface="微软雅黑" pitchFamily="34" charset="-122"/>
                </a:rPr>
                <a:t>●</a:t>
              </a:r>
              <a:endParaRPr lang="en-US" altLang="zh-CN" sz="1200" b="1" dirty="0">
                <a:ln w="12700">
                  <a:solidFill>
                    <a:sysClr val="windowText" lastClr="000000"/>
                  </a:solidFill>
                </a:ln>
                <a:solidFill>
                  <a:srgbClr val="00FFCC"/>
                </a:solidFill>
                <a:latin typeface="微软雅黑" pitchFamily="34" charset="-122"/>
                <a:ea typeface="微软雅黑" pitchFamily="34" charset="-122"/>
                <a:sym typeface="Wingdings" pitchFamily="2" charset="2"/>
              </a:endParaRPr>
            </a:p>
          </p:txBody>
        </p:sp>
        <p:sp>
          <p:nvSpPr>
            <p:cNvPr id="26" name="Text Box 28">
              <a:extLst>
                <a:ext uri="{FF2B5EF4-FFF2-40B4-BE49-F238E27FC236}">
                  <a16:creationId xmlns:a16="http://schemas.microsoft.com/office/drawing/2014/main" id="{C6B60C12-FB9B-9E3A-8D4C-7DFE44E7BECD}"/>
                </a:ext>
              </a:extLst>
            </p:cNvPr>
            <p:cNvSpPr txBox="1">
              <a:spLocks noChangeArrowheads="1"/>
            </p:cNvSpPr>
            <p:nvPr/>
          </p:nvSpPr>
          <p:spPr bwMode="auto">
            <a:xfrm>
              <a:off x="6502306" y="1533120"/>
              <a:ext cx="313549"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a:ln w="12700">
                    <a:solidFill>
                      <a:sysClr val="windowText" lastClr="000000"/>
                    </a:solidFill>
                  </a:ln>
                  <a:solidFill>
                    <a:srgbClr val="00FFCC"/>
                  </a:solidFill>
                  <a:latin typeface="微软雅黑" pitchFamily="34" charset="-122"/>
                  <a:ea typeface="微软雅黑" pitchFamily="34" charset="-122"/>
                  <a:sym typeface="Wingdings" pitchFamily="2" charset="2"/>
                </a:rPr>
                <a:t></a:t>
              </a:r>
            </a:p>
          </p:txBody>
        </p:sp>
        <p:sp>
          <p:nvSpPr>
            <p:cNvPr id="27" name="Text Box 29">
              <a:extLst>
                <a:ext uri="{FF2B5EF4-FFF2-40B4-BE49-F238E27FC236}">
                  <a16:creationId xmlns:a16="http://schemas.microsoft.com/office/drawing/2014/main" id="{570301A2-4F46-1DB4-7E4E-C211515651BD}"/>
                </a:ext>
              </a:extLst>
            </p:cNvPr>
            <p:cNvSpPr txBox="1">
              <a:spLocks noChangeArrowheads="1"/>
            </p:cNvSpPr>
            <p:nvPr/>
          </p:nvSpPr>
          <p:spPr bwMode="auto">
            <a:xfrm>
              <a:off x="6496712" y="1160249"/>
              <a:ext cx="288190"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a:ln w="12700">
                    <a:solidFill>
                      <a:sysClr val="windowText" lastClr="000000"/>
                    </a:solidFill>
                  </a:ln>
                  <a:solidFill>
                    <a:srgbClr val="00FFCC"/>
                  </a:solidFill>
                  <a:latin typeface="微软雅黑" pitchFamily="34" charset="-122"/>
                  <a:ea typeface="微软雅黑" pitchFamily="34" charset="-122"/>
                </a:rPr>
                <a:t>★</a:t>
              </a:r>
              <a:endParaRPr lang="en-US" altLang="zh-CN" sz="1200" b="1">
                <a:ln w="12700">
                  <a:solidFill>
                    <a:sysClr val="windowText" lastClr="000000"/>
                  </a:solidFill>
                </a:ln>
                <a:solidFill>
                  <a:srgbClr val="00FFCC"/>
                </a:solidFill>
                <a:latin typeface="微软雅黑" pitchFamily="34" charset="-122"/>
                <a:ea typeface="微软雅黑" pitchFamily="34" charset="-122"/>
                <a:sym typeface="Wingdings" pitchFamily="2" charset="2"/>
              </a:endParaRPr>
            </a:p>
          </p:txBody>
        </p:sp>
        <p:sp>
          <p:nvSpPr>
            <p:cNvPr id="30" name="Line 32">
              <a:extLst>
                <a:ext uri="{FF2B5EF4-FFF2-40B4-BE49-F238E27FC236}">
                  <a16:creationId xmlns:a16="http://schemas.microsoft.com/office/drawing/2014/main" id="{3EFF14CC-BA77-38C8-DD6C-ECD2979D305A}"/>
                </a:ext>
              </a:extLst>
            </p:cNvPr>
            <p:cNvSpPr>
              <a:spLocks noChangeShapeType="1"/>
            </p:cNvSpPr>
            <p:nvPr/>
          </p:nvSpPr>
          <p:spPr bwMode="auto">
            <a:xfrm>
              <a:off x="6750266" y="2094778"/>
              <a:ext cx="168726"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1" name="Line 33">
              <a:extLst>
                <a:ext uri="{FF2B5EF4-FFF2-40B4-BE49-F238E27FC236}">
                  <a16:creationId xmlns:a16="http://schemas.microsoft.com/office/drawing/2014/main" id="{1567F4D4-AC5C-A57C-4C95-CDC0D164CA13}"/>
                </a:ext>
              </a:extLst>
            </p:cNvPr>
            <p:cNvSpPr>
              <a:spLocks noChangeShapeType="1"/>
            </p:cNvSpPr>
            <p:nvPr/>
          </p:nvSpPr>
          <p:spPr bwMode="auto">
            <a:xfrm>
              <a:off x="6750266" y="1665102"/>
              <a:ext cx="168726"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4" name="Line 36">
              <a:extLst>
                <a:ext uri="{FF2B5EF4-FFF2-40B4-BE49-F238E27FC236}">
                  <a16:creationId xmlns:a16="http://schemas.microsoft.com/office/drawing/2014/main" id="{FC4F640D-FE8D-9DF5-C3B8-6AEA6ADA1842}"/>
                </a:ext>
              </a:extLst>
            </p:cNvPr>
            <p:cNvSpPr>
              <a:spLocks noChangeShapeType="1"/>
            </p:cNvSpPr>
            <p:nvPr/>
          </p:nvSpPr>
          <p:spPr bwMode="auto">
            <a:xfrm>
              <a:off x="6753063" y="1289318"/>
              <a:ext cx="168725"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grpSp>
      <p:sp>
        <p:nvSpPr>
          <p:cNvPr id="35" name="AutoShape 68">
            <a:extLst>
              <a:ext uri="{FF2B5EF4-FFF2-40B4-BE49-F238E27FC236}">
                <a16:creationId xmlns:a16="http://schemas.microsoft.com/office/drawing/2014/main" id="{05166B86-F814-2790-9FE7-C1D05A733710}"/>
              </a:ext>
            </a:extLst>
          </p:cNvPr>
          <p:cNvSpPr>
            <a:spLocks noChangeArrowheads="1"/>
          </p:cNvSpPr>
          <p:nvPr/>
        </p:nvSpPr>
        <p:spPr bwMode="auto">
          <a:xfrm>
            <a:off x="2050986" y="1182194"/>
            <a:ext cx="1416703" cy="193845"/>
          </a:xfrm>
          <a:prstGeom prst="wedgeRoundRectCallout">
            <a:avLst>
              <a:gd name="adj1" fmla="val 45684"/>
              <a:gd name="adj2" fmla="val 158215"/>
              <a:gd name="adj3" fmla="val 16667"/>
            </a:avLst>
          </a:prstGeom>
          <a:solidFill>
            <a:schemeClr val="bg1"/>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sz="1200" b="1">
              <a:solidFill>
                <a:srgbClr val="000099"/>
              </a:solidFill>
              <a:latin typeface="微软雅黑" pitchFamily="34" charset="-122"/>
              <a:ea typeface="微软雅黑" pitchFamily="34" charset="-122"/>
            </a:endParaRPr>
          </a:p>
        </p:txBody>
      </p:sp>
      <p:sp>
        <p:nvSpPr>
          <p:cNvPr id="36" name="Text Box 69">
            <a:extLst>
              <a:ext uri="{FF2B5EF4-FFF2-40B4-BE49-F238E27FC236}">
                <a16:creationId xmlns:a16="http://schemas.microsoft.com/office/drawing/2014/main" id="{DFAB9B51-CDC7-67DF-3EE6-4EA2DAFE6B1D}"/>
              </a:ext>
            </a:extLst>
          </p:cNvPr>
          <p:cNvSpPr txBox="1">
            <a:spLocks noChangeArrowheads="1"/>
          </p:cNvSpPr>
          <p:nvPr/>
        </p:nvSpPr>
        <p:spPr bwMode="auto">
          <a:xfrm>
            <a:off x="2022468" y="1153534"/>
            <a:ext cx="1631468"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1050" b="1" dirty="0">
                <a:solidFill>
                  <a:srgbClr val="0000FF"/>
                </a:solidFill>
                <a:latin typeface="微软雅黑" pitchFamily="34" charset="-122"/>
                <a:ea typeface="微软雅黑" pitchFamily="34" charset="-122"/>
              </a:rPr>
              <a:t>发往特定 </a:t>
            </a:r>
            <a:r>
              <a:rPr lang="en-US" altLang="zh-CN" sz="1050" b="1" dirty="0">
                <a:solidFill>
                  <a:srgbClr val="0000FF"/>
                </a:solidFill>
                <a:latin typeface="微软雅黑" pitchFamily="34" charset="-122"/>
                <a:ea typeface="微软雅黑" pitchFamily="34" charset="-122"/>
              </a:rPr>
              <a:t>ONU </a:t>
            </a:r>
            <a:r>
              <a:rPr lang="zh-CN" altLang="en-US" sz="1050" b="1" dirty="0">
                <a:solidFill>
                  <a:srgbClr val="0000FF"/>
                </a:solidFill>
                <a:latin typeface="微软雅黑" pitchFamily="34" charset="-122"/>
                <a:ea typeface="微软雅黑" pitchFamily="34" charset="-122"/>
              </a:rPr>
              <a:t>的数据</a:t>
            </a:r>
          </a:p>
        </p:txBody>
      </p:sp>
      <p:sp>
        <p:nvSpPr>
          <p:cNvPr id="37" name="Text Box 72">
            <a:extLst>
              <a:ext uri="{FF2B5EF4-FFF2-40B4-BE49-F238E27FC236}">
                <a16:creationId xmlns:a16="http://schemas.microsoft.com/office/drawing/2014/main" id="{969C634C-E993-AE2A-DCEF-FE4FB75B4A8E}"/>
              </a:ext>
            </a:extLst>
          </p:cNvPr>
          <p:cNvSpPr txBox="1">
            <a:spLocks noChangeArrowheads="1"/>
          </p:cNvSpPr>
          <p:nvPr/>
        </p:nvSpPr>
        <p:spPr bwMode="auto">
          <a:xfrm>
            <a:off x="4017306" y="1282331"/>
            <a:ext cx="511098" cy="261910"/>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1200" b="1" dirty="0">
                <a:latin typeface="微软雅黑" pitchFamily="34" charset="-122"/>
                <a:ea typeface="微软雅黑" pitchFamily="34" charset="-122"/>
              </a:rPr>
              <a:t>下行</a:t>
            </a:r>
          </a:p>
        </p:txBody>
      </p:sp>
      <p:sp>
        <p:nvSpPr>
          <p:cNvPr id="38" name="Line 74">
            <a:extLst>
              <a:ext uri="{FF2B5EF4-FFF2-40B4-BE49-F238E27FC236}">
                <a16:creationId xmlns:a16="http://schemas.microsoft.com/office/drawing/2014/main" id="{F01C4627-23D8-3B60-A76B-451038206583}"/>
              </a:ext>
            </a:extLst>
          </p:cNvPr>
          <p:cNvSpPr>
            <a:spLocks noChangeShapeType="1"/>
          </p:cNvSpPr>
          <p:nvPr/>
        </p:nvSpPr>
        <p:spPr bwMode="auto">
          <a:xfrm>
            <a:off x="4083960" y="1533476"/>
            <a:ext cx="422280"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grpSp>
        <p:nvGrpSpPr>
          <p:cNvPr id="39" name="组合 38">
            <a:extLst>
              <a:ext uri="{FF2B5EF4-FFF2-40B4-BE49-F238E27FC236}">
                <a16:creationId xmlns:a16="http://schemas.microsoft.com/office/drawing/2014/main" id="{A7A40D04-A08E-D0B2-966B-AC09AB620403}"/>
              </a:ext>
            </a:extLst>
          </p:cNvPr>
          <p:cNvGrpSpPr/>
          <p:nvPr/>
        </p:nvGrpSpPr>
        <p:grpSpPr>
          <a:xfrm>
            <a:off x="2417038" y="3411582"/>
            <a:ext cx="3995341" cy="274931"/>
            <a:chOff x="1169459" y="5805264"/>
            <a:chExt cx="7371027" cy="599306"/>
          </a:xfrm>
        </p:grpSpPr>
        <p:sp>
          <p:nvSpPr>
            <p:cNvPr id="40" name="Text Box 76">
              <a:extLst>
                <a:ext uri="{FF2B5EF4-FFF2-40B4-BE49-F238E27FC236}">
                  <a16:creationId xmlns:a16="http://schemas.microsoft.com/office/drawing/2014/main" id="{6E249856-7546-1F92-4C3A-2093ACF1A507}"/>
                </a:ext>
              </a:extLst>
            </p:cNvPr>
            <p:cNvSpPr txBox="1">
              <a:spLocks noChangeArrowheads="1"/>
            </p:cNvSpPr>
            <p:nvPr/>
          </p:nvSpPr>
          <p:spPr bwMode="auto">
            <a:xfrm>
              <a:off x="1631722" y="5916327"/>
              <a:ext cx="845411" cy="475544"/>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200" b="1" dirty="0">
                  <a:latin typeface="微软雅黑" pitchFamily="34" charset="-122"/>
                  <a:ea typeface="微软雅黑" pitchFamily="34" charset="-122"/>
                </a:rPr>
                <a:t>局端</a:t>
              </a:r>
            </a:p>
          </p:txBody>
        </p:sp>
        <p:sp>
          <p:nvSpPr>
            <p:cNvPr id="41" name="AutoShape 77">
              <a:extLst>
                <a:ext uri="{FF2B5EF4-FFF2-40B4-BE49-F238E27FC236}">
                  <a16:creationId xmlns:a16="http://schemas.microsoft.com/office/drawing/2014/main" id="{01D5609D-BFB9-AFDE-D990-F12F8480A296}"/>
                </a:ext>
              </a:extLst>
            </p:cNvPr>
            <p:cNvSpPr>
              <a:spLocks/>
            </p:cNvSpPr>
            <p:nvPr/>
          </p:nvSpPr>
          <p:spPr bwMode="auto">
            <a:xfrm rot="-5400000">
              <a:off x="1975909" y="4998814"/>
              <a:ext cx="141287" cy="1754188"/>
            </a:xfrm>
            <a:prstGeom prst="leftBrace">
              <a:avLst>
                <a:gd name="adj1" fmla="val 95506"/>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42" name="AutoShape 78">
              <a:extLst>
                <a:ext uri="{FF2B5EF4-FFF2-40B4-BE49-F238E27FC236}">
                  <a16:creationId xmlns:a16="http://schemas.microsoft.com/office/drawing/2014/main" id="{FF4CADC2-269D-AC3C-B98E-91131CF6812E}"/>
                </a:ext>
              </a:extLst>
            </p:cNvPr>
            <p:cNvSpPr>
              <a:spLocks/>
            </p:cNvSpPr>
            <p:nvPr/>
          </p:nvSpPr>
          <p:spPr bwMode="auto">
            <a:xfrm rot="-5400000">
              <a:off x="4743187" y="4025280"/>
              <a:ext cx="144462" cy="3704431"/>
            </a:xfrm>
            <a:prstGeom prst="leftBrace">
              <a:avLst>
                <a:gd name="adj1" fmla="val 197253"/>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43" name="AutoShape 79">
              <a:extLst>
                <a:ext uri="{FF2B5EF4-FFF2-40B4-BE49-F238E27FC236}">
                  <a16:creationId xmlns:a16="http://schemas.microsoft.com/office/drawing/2014/main" id="{8E448D35-3B98-A1D7-9D95-34E20EB8EC0F}"/>
                </a:ext>
              </a:extLst>
            </p:cNvPr>
            <p:cNvSpPr>
              <a:spLocks/>
            </p:cNvSpPr>
            <p:nvPr/>
          </p:nvSpPr>
          <p:spPr bwMode="auto">
            <a:xfrm rot="-5400000">
              <a:off x="7592748" y="4998814"/>
              <a:ext cx="141287" cy="1754188"/>
            </a:xfrm>
            <a:prstGeom prst="leftBrace">
              <a:avLst>
                <a:gd name="adj1" fmla="val 95506"/>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44" name="Text Box 80">
              <a:extLst>
                <a:ext uri="{FF2B5EF4-FFF2-40B4-BE49-F238E27FC236}">
                  <a16:creationId xmlns:a16="http://schemas.microsoft.com/office/drawing/2014/main" id="{FBC772CE-37C6-1D8A-39A8-471B2A918B9E}"/>
                </a:ext>
              </a:extLst>
            </p:cNvPr>
            <p:cNvSpPr txBox="1">
              <a:spLocks noChangeArrowheads="1"/>
            </p:cNvSpPr>
            <p:nvPr/>
          </p:nvSpPr>
          <p:spPr bwMode="auto">
            <a:xfrm>
              <a:off x="7092061" y="5916327"/>
              <a:ext cx="1109602" cy="475544"/>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200" b="1">
                  <a:latin typeface="微软雅黑" pitchFamily="34" charset="-122"/>
                  <a:ea typeface="微软雅黑" pitchFamily="34" charset="-122"/>
                </a:rPr>
                <a:t>用户端</a:t>
              </a:r>
            </a:p>
          </p:txBody>
        </p:sp>
        <p:sp>
          <p:nvSpPr>
            <p:cNvPr id="45" name="Text Box 81">
              <a:extLst>
                <a:ext uri="{FF2B5EF4-FFF2-40B4-BE49-F238E27FC236}">
                  <a16:creationId xmlns:a16="http://schemas.microsoft.com/office/drawing/2014/main" id="{BE63E3E5-311C-1284-5E25-7C78F436FA94}"/>
                </a:ext>
              </a:extLst>
            </p:cNvPr>
            <p:cNvSpPr txBox="1">
              <a:spLocks noChangeArrowheads="1"/>
            </p:cNvSpPr>
            <p:nvPr/>
          </p:nvSpPr>
          <p:spPr bwMode="auto">
            <a:xfrm>
              <a:off x="3970639" y="5929026"/>
              <a:ext cx="2306717" cy="475544"/>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200" b="1" dirty="0">
                  <a:latin typeface="微软雅黑" pitchFamily="34" charset="-122"/>
                  <a:ea typeface="微软雅黑" pitchFamily="34" charset="-122"/>
                </a:rPr>
                <a:t>光配线网 </a:t>
              </a:r>
              <a:r>
                <a:rPr lang="en-US" altLang="zh-CN" sz="1200" b="1" dirty="0">
                  <a:latin typeface="微软雅黑" pitchFamily="34" charset="-122"/>
                  <a:ea typeface="微软雅黑" pitchFamily="34" charset="-122"/>
                </a:rPr>
                <a:t>(ODN)</a:t>
              </a:r>
            </a:p>
          </p:txBody>
        </p:sp>
      </p:grpSp>
      <p:grpSp>
        <p:nvGrpSpPr>
          <p:cNvPr id="46" name="Group 37">
            <a:extLst>
              <a:ext uri="{FF2B5EF4-FFF2-40B4-BE49-F238E27FC236}">
                <a16:creationId xmlns:a16="http://schemas.microsoft.com/office/drawing/2014/main" id="{99D0395F-713E-BD6F-339B-DC60185E54E3}"/>
              </a:ext>
            </a:extLst>
          </p:cNvPr>
          <p:cNvGrpSpPr>
            <a:grpSpLocks/>
          </p:cNvGrpSpPr>
          <p:nvPr/>
        </p:nvGrpSpPr>
        <p:grpSpPr bwMode="auto">
          <a:xfrm>
            <a:off x="5849701" y="2485333"/>
            <a:ext cx="1152942" cy="803275"/>
            <a:chOff x="3844" y="1238"/>
            <a:chExt cx="1032" cy="1103"/>
          </a:xfrm>
        </p:grpSpPr>
        <p:sp>
          <p:nvSpPr>
            <p:cNvPr id="47" name="Line 38">
              <a:extLst>
                <a:ext uri="{FF2B5EF4-FFF2-40B4-BE49-F238E27FC236}">
                  <a16:creationId xmlns:a16="http://schemas.microsoft.com/office/drawing/2014/main" id="{E94851FF-07B6-E017-7FAB-A0113EE4F21F}"/>
                </a:ext>
              </a:extLst>
            </p:cNvPr>
            <p:cNvSpPr>
              <a:spLocks noChangeShapeType="1"/>
            </p:cNvSpPr>
            <p:nvPr/>
          </p:nvSpPr>
          <p:spPr bwMode="auto">
            <a:xfrm>
              <a:off x="3844" y="1752"/>
              <a:ext cx="1032" cy="0"/>
            </a:xfrm>
            <a:prstGeom prst="line">
              <a:avLst/>
            </a:prstGeom>
            <a:noFill/>
            <a:ln w="127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48" name="Line 39">
              <a:extLst>
                <a:ext uri="{FF2B5EF4-FFF2-40B4-BE49-F238E27FC236}">
                  <a16:creationId xmlns:a16="http://schemas.microsoft.com/office/drawing/2014/main" id="{1EBEFA81-F53D-91FA-DD21-5A6D3E693BA5}"/>
                </a:ext>
              </a:extLst>
            </p:cNvPr>
            <p:cNvSpPr>
              <a:spLocks noChangeShapeType="1"/>
            </p:cNvSpPr>
            <p:nvPr/>
          </p:nvSpPr>
          <p:spPr bwMode="auto">
            <a:xfrm>
              <a:off x="3923" y="2341"/>
              <a:ext cx="953" cy="0"/>
            </a:xfrm>
            <a:prstGeom prst="line">
              <a:avLst/>
            </a:prstGeom>
            <a:noFill/>
            <a:ln w="127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49" name="Line 40">
              <a:extLst>
                <a:ext uri="{FF2B5EF4-FFF2-40B4-BE49-F238E27FC236}">
                  <a16:creationId xmlns:a16="http://schemas.microsoft.com/office/drawing/2014/main" id="{DB8D0415-E565-3BB3-CA2A-5245667C2B92}"/>
                </a:ext>
              </a:extLst>
            </p:cNvPr>
            <p:cNvSpPr>
              <a:spLocks noChangeShapeType="1"/>
            </p:cNvSpPr>
            <p:nvPr/>
          </p:nvSpPr>
          <p:spPr bwMode="auto">
            <a:xfrm>
              <a:off x="3923" y="1238"/>
              <a:ext cx="953" cy="0"/>
            </a:xfrm>
            <a:prstGeom prst="line">
              <a:avLst/>
            </a:prstGeom>
            <a:noFill/>
            <a:ln w="127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grpSp>
      <p:grpSp>
        <p:nvGrpSpPr>
          <p:cNvPr id="2" name="组合 1">
            <a:extLst>
              <a:ext uri="{FF2B5EF4-FFF2-40B4-BE49-F238E27FC236}">
                <a16:creationId xmlns:a16="http://schemas.microsoft.com/office/drawing/2014/main" id="{C66CC899-92E0-7609-A712-239FF77E2787}"/>
              </a:ext>
            </a:extLst>
          </p:cNvPr>
          <p:cNvGrpSpPr/>
          <p:nvPr/>
        </p:nvGrpSpPr>
        <p:grpSpPr>
          <a:xfrm>
            <a:off x="2554811" y="1437913"/>
            <a:ext cx="451292" cy="1334320"/>
            <a:chOff x="2554811" y="1437913"/>
            <a:chExt cx="451292" cy="1334320"/>
          </a:xfrm>
        </p:grpSpPr>
        <p:sp>
          <p:nvSpPr>
            <p:cNvPr id="10" name="Text Box 8">
              <a:extLst>
                <a:ext uri="{FF2B5EF4-FFF2-40B4-BE49-F238E27FC236}">
                  <a16:creationId xmlns:a16="http://schemas.microsoft.com/office/drawing/2014/main" id="{571DE6C3-6FDF-2AE7-4008-12DCB3A8B5B2}"/>
                </a:ext>
              </a:extLst>
            </p:cNvPr>
            <p:cNvSpPr txBox="1">
              <a:spLocks noChangeArrowheads="1"/>
            </p:cNvSpPr>
            <p:nvPr/>
          </p:nvSpPr>
          <p:spPr bwMode="auto">
            <a:xfrm>
              <a:off x="2554811" y="1437913"/>
              <a:ext cx="434373" cy="206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050" b="1" dirty="0">
                  <a:latin typeface="微软雅黑" pitchFamily="34" charset="-122"/>
                  <a:ea typeface="微软雅黑" pitchFamily="34" charset="-122"/>
                </a:rPr>
                <a:t>头端</a:t>
              </a:r>
            </a:p>
          </p:txBody>
        </p:sp>
        <p:sp>
          <p:nvSpPr>
            <p:cNvPr id="50" name="Text Box 41">
              <a:extLst>
                <a:ext uri="{FF2B5EF4-FFF2-40B4-BE49-F238E27FC236}">
                  <a16:creationId xmlns:a16="http://schemas.microsoft.com/office/drawing/2014/main" id="{AE811376-0E3F-7347-8865-6221FC123AF5}"/>
                </a:ext>
              </a:extLst>
            </p:cNvPr>
            <p:cNvSpPr txBox="1">
              <a:spLocks noChangeArrowheads="1"/>
            </p:cNvSpPr>
            <p:nvPr/>
          </p:nvSpPr>
          <p:spPr bwMode="auto">
            <a:xfrm>
              <a:off x="2571730" y="2566198"/>
              <a:ext cx="434373" cy="206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050" b="1" dirty="0">
                  <a:latin typeface="微软雅黑" pitchFamily="34" charset="-122"/>
                  <a:ea typeface="微软雅黑" pitchFamily="34" charset="-122"/>
                </a:rPr>
                <a:t>头端</a:t>
              </a:r>
            </a:p>
          </p:txBody>
        </p:sp>
      </p:grpSp>
      <p:sp>
        <p:nvSpPr>
          <p:cNvPr id="51" name="Rectangle 42">
            <a:extLst>
              <a:ext uri="{FF2B5EF4-FFF2-40B4-BE49-F238E27FC236}">
                <a16:creationId xmlns:a16="http://schemas.microsoft.com/office/drawing/2014/main" id="{D582DA40-28FA-7FB6-4C62-05C321BB3127}"/>
              </a:ext>
            </a:extLst>
          </p:cNvPr>
          <p:cNvSpPr>
            <a:spLocks noChangeArrowheads="1"/>
          </p:cNvSpPr>
          <p:nvPr/>
        </p:nvSpPr>
        <p:spPr bwMode="auto">
          <a:xfrm>
            <a:off x="4103499" y="2760616"/>
            <a:ext cx="380331" cy="198088"/>
          </a:xfrm>
          <a:prstGeom prst="rect">
            <a:avLst/>
          </a:prstGeom>
          <a:solidFill>
            <a:srgbClr val="00FFCC"/>
          </a:solidFill>
          <a:ln w="19050">
            <a:solidFill>
              <a:schemeClr val="tx1"/>
            </a:solidFill>
            <a:miter lim="800000"/>
            <a:headEnd/>
            <a:tailEnd/>
          </a:ln>
          <a:effectLst/>
        </p:spPr>
        <p:txBody>
          <a:bodyPr wrap="none" anchor="ctr"/>
          <a:lstStyle/>
          <a:p>
            <a:pPr algn="ctr"/>
            <a:r>
              <a:rPr lang="en-US" altLang="zh-CN" sz="1200" b="1" dirty="0">
                <a:latin typeface="微软雅黑" pitchFamily="34" charset="-122"/>
                <a:ea typeface="微软雅黑" pitchFamily="34" charset="-122"/>
              </a:rPr>
              <a:t>1:N</a:t>
            </a:r>
          </a:p>
        </p:txBody>
      </p:sp>
      <p:sp>
        <p:nvSpPr>
          <p:cNvPr id="52" name="Line 45">
            <a:extLst>
              <a:ext uri="{FF2B5EF4-FFF2-40B4-BE49-F238E27FC236}">
                <a16:creationId xmlns:a16="http://schemas.microsoft.com/office/drawing/2014/main" id="{1D718DE4-26B3-AEC2-F4D3-143C90C05B1E}"/>
              </a:ext>
            </a:extLst>
          </p:cNvPr>
          <p:cNvSpPr>
            <a:spLocks noChangeShapeType="1"/>
          </p:cNvSpPr>
          <p:nvPr/>
        </p:nvSpPr>
        <p:spPr bwMode="auto">
          <a:xfrm>
            <a:off x="1491642" y="2859660"/>
            <a:ext cx="1455948" cy="0"/>
          </a:xfrm>
          <a:prstGeom prst="line">
            <a:avLst/>
          </a:prstGeom>
          <a:noFill/>
          <a:ln w="381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53" name="Text Box 47">
            <a:extLst>
              <a:ext uri="{FF2B5EF4-FFF2-40B4-BE49-F238E27FC236}">
                <a16:creationId xmlns:a16="http://schemas.microsoft.com/office/drawing/2014/main" id="{AB33885F-CE09-EA6C-C67F-E9E487BE9A33}"/>
              </a:ext>
            </a:extLst>
          </p:cNvPr>
          <p:cNvSpPr txBox="1">
            <a:spLocks noChangeArrowheads="1"/>
          </p:cNvSpPr>
          <p:nvPr/>
        </p:nvSpPr>
        <p:spPr bwMode="auto">
          <a:xfrm>
            <a:off x="1491642" y="2635395"/>
            <a:ext cx="696907" cy="206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050" b="1" dirty="0">
                <a:latin typeface="微软雅黑" pitchFamily="34" charset="-122"/>
                <a:ea typeface="微软雅黑" pitchFamily="34" charset="-122"/>
              </a:rPr>
              <a:t>光纤干线</a:t>
            </a:r>
          </a:p>
        </p:txBody>
      </p:sp>
      <p:sp>
        <p:nvSpPr>
          <p:cNvPr id="54" name="Line 48">
            <a:extLst>
              <a:ext uri="{FF2B5EF4-FFF2-40B4-BE49-F238E27FC236}">
                <a16:creationId xmlns:a16="http://schemas.microsoft.com/office/drawing/2014/main" id="{DD34890D-7EE1-19C1-251A-E05ACD52DED4}"/>
              </a:ext>
            </a:extLst>
          </p:cNvPr>
          <p:cNvSpPr>
            <a:spLocks noChangeShapeType="1"/>
          </p:cNvSpPr>
          <p:nvPr/>
        </p:nvSpPr>
        <p:spPr bwMode="auto">
          <a:xfrm>
            <a:off x="2947591" y="2859660"/>
            <a:ext cx="1155909" cy="0"/>
          </a:xfrm>
          <a:prstGeom prst="line">
            <a:avLst/>
          </a:prstGeom>
          <a:noFill/>
          <a:ln w="381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55" name="Line 49">
            <a:extLst>
              <a:ext uri="{FF2B5EF4-FFF2-40B4-BE49-F238E27FC236}">
                <a16:creationId xmlns:a16="http://schemas.microsoft.com/office/drawing/2014/main" id="{472779B0-E133-98E9-81E0-C8433A5939B3}"/>
              </a:ext>
            </a:extLst>
          </p:cNvPr>
          <p:cNvSpPr>
            <a:spLocks noChangeShapeType="1"/>
          </p:cNvSpPr>
          <p:nvPr/>
        </p:nvSpPr>
        <p:spPr bwMode="auto">
          <a:xfrm flipV="1">
            <a:off x="4483830" y="2447336"/>
            <a:ext cx="1263751" cy="346053"/>
          </a:xfrm>
          <a:prstGeom prst="line">
            <a:avLst/>
          </a:prstGeom>
          <a:noFill/>
          <a:ln w="1905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56" name="Line 50">
            <a:extLst>
              <a:ext uri="{FF2B5EF4-FFF2-40B4-BE49-F238E27FC236}">
                <a16:creationId xmlns:a16="http://schemas.microsoft.com/office/drawing/2014/main" id="{1B0856DD-C2E1-7218-2A67-5F0DDF8E6FE6}"/>
              </a:ext>
            </a:extLst>
          </p:cNvPr>
          <p:cNvSpPr>
            <a:spLocks noChangeShapeType="1"/>
          </p:cNvSpPr>
          <p:nvPr/>
        </p:nvSpPr>
        <p:spPr bwMode="auto">
          <a:xfrm>
            <a:off x="4483830" y="2925204"/>
            <a:ext cx="1263751" cy="363404"/>
          </a:xfrm>
          <a:prstGeom prst="line">
            <a:avLst/>
          </a:prstGeom>
          <a:noFill/>
          <a:ln w="1905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57" name="Line 51">
            <a:extLst>
              <a:ext uri="{FF2B5EF4-FFF2-40B4-BE49-F238E27FC236}">
                <a16:creationId xmlns:a16="http://schemas.microsoft.com/office/drawing/2014/main" id="{C7C218D3-6691-5BCB-AE80-6606E7D46C50}"/>
              </a:ext>
            </a:extLst>
          </p:cNvPr>
          <p:cNvSpPr>
            <a:spLocks noChangeShapeType="1"/>
          </p:cNvSpPr>
          <p:nvPr/>
        </p:nvSpPr>
        <p:spPr bwMode="auto">
          <a:xfrm>
            <a:off x="4483830" y="2859660"/>
            <a:ext cx="1263751" cy="0"/>
          </a:xfrm>
          <a:prstGeom prst="line">
            <a:avLst/>
          </a:prstGeom>
          <a:noFill/>
          <a:ln w="1905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58" name="Text Box 52">
            <a:extLst>
              <a:ext uri="{FF2B5EF4-FFF2-40B4-BE49-F238E27FC236}">
                <a16:creationId xmlns:a16="http://schemas.microsoft.com/office/drawing/2014/main" id="{C3AB2EC7-327E-006B-1FF7-258B3E645E07}"/>
              </a:ext>
            </a:extLst>
          </p:cNvPr>
          <p:cNvSpPr txBox="1">
            <a:spLocks noChangeArrowheads="1"/>
          </p:cNvSpPr>
          <p:nvPr/>
        </p:nvSpPr>
        <p:spPr bwMode="auto">
          <a:xfrm rot="5400000">
            <a:off x="5861901" y="2966009"/>
            <a:ext cx="266634" cy="257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dirty="0">
                <a:latin typeface="微软雅黑" pitchFamily="34" charset="-122"/>
                <a:ea typeface="微软雅黑" pitchFamily="34" charset="-122"/>
                <a:sym typeface="Symbol" pitchFamily="18" charset="2"/>
              </a:rPr>
              <a:t></a:t>
            </a:r>
          </a:p>
        </p:txBody>
      </p:sp>
      <p:grpSp>
        <p:nvGrpSpPr>
          <p:cNvPr id="92" name="组合 91">
            <a:extLst>
              <a:ext uri="{FF2B5EF4-FFF2-40B4-BE49-F238E27FC236}">
                <a16:creationId xmlns:a16="http://schemas.microsoft.com/office/drawing/2014/main" id="{56F436AF-66D0-F6E4-012D-931AB3CCA518}"/>
              </a:ext>
            </a:extLst>
          </p:cNvPr>
          <p:cNvGrpSpPr/>
          <p:nvPr/>
        </p:nvGrpSpPr>
        <p:grpSpPr>
          <a:xfrm>
            <a:off x="3209781" y="2647007"/>
            <a:ext cx="691669" cy="218156"/>
            <a:chOff x="3209781" y="2647007"/>
            <a:chExt cx="691669" cy="218156"/>
          </a:xfrm>
        </p:grpSpPr>
        <p:sp>
          <p:nvSpPr>
            <p:cNvPr id="59" name="Text Box 54">
              <a:extLst>
                <a:ext uri="{FF2B5EF4-FFF2-40B4-BE49-F238E27FC236}">
                  <a16:creationId xmlns:a16="http://schemas.microsoft.com/office/drawing/2014/main" id="{3719543D-5AE6-BC84-1DBF-467222EF52B1}"/>
                </a:ext>
              </a:extLst>
            </p:cNvPr>
            <p:cNvSpPr txBox="1">
              <a:spLocks noChangeArrowheads="1"/>
            </p:cNvSpPr>
            <p:nvPr/>
          </p:nvSpPr>
          <p:spPr bwMode="auto">
            <a:xfrm>
              <a:off x="3377576" y="2647007"/>
              <a:ext cx="523874"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dirty="0">
                  <a:ln w="12700">
                    <a:solidFill>
                      <a:sysClr val="windowText" lastClr="000000"/>
                    </a:solidFill>
                  </a:ln>
                  <a:solidFill>
                    <a:srgbClr val="00FFCC"/>
                  </a:solidFill>
                  <a:latin typeface="微软雅黑" pitchFamily="34" charset="-122"/>
                  <a:ea typeface="微软雅黑" pitchFamily="34" charset="-122"/>
                </a:rPr>
                <a:t>★</a:t>
              </a:r>
              <a:r>
                <a:rPr lang="en-US" altLang="zh-CN" sz="1200" b="1" dirty="0">
                  <a:ln w="12700">
                    <a:solidFill>
                      <a:sysClr val="windowText" lastClr="000000"/>
                    </a:solidFill>
                  </a:ln>
                  <a:solidFill>
                    <a:srgbClr val="00FFCC"/>
                  </a:solidFill>
                  <a:latin typeface="微软雅黑" pitchFamily="34" charset="-122"/>
                  <a:ea typeface="微软雅黑" pitchFamily="34" charset="-122"/>
                  <a:sym typeface="Wingdings" pitchFamily="2" charset="2"/>
                </a:rPr>
                <a:t>●</a:t>
              </a:r>
            </a:p>
          </p:txBody>
        </p:sp>
        <p:sp>
          <p:nvSpPr>
            <p:cNvPr id="66" name="Line 61">
              <a:extLst>
                <a:ext uri="{FF2B5EF4-FFF2-40B4-BE49-F238E27FC236}">
                  <a16:creationId xmlns:a16="http://schemas.microsoft.com/office/drawing/2014/main" id="{B4E82755-D68D-F939-224F-7E6CAE93D9DF}"/>
                </a:ext>
              </a:extLst>
            </p:cNvPr>
            <p:cNvSpPr>
              <a:spLocks noChangeShapeType="1"/>
            </p:cNvSpPr>
            <p:nvPr/>
          </p:nvSpPr>
          <p:spPr bwMode="auto">
            <a:xfrm flipH="1">
              <a:off x="3209781" y="2753362"/>
              <a:ext cx="168726"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grpSp>
      <p:grpSp>
        <p:nvGrpSpPr>
          <p:cNvPr id="93" name="组合 92">
            <a:extLst>
              <a:ext uri="{FF2B5EF4-FFF2-40B4-BE49-F238E27FC236}">
                <a16:creationId xmlns:a16="http://schemas.microsoft.com/office/drawing/2014/main" id="{B4881C24-16F4-2F74-D608-DD11FC55B450}"/>
              </a:ext>
            </a:extLst>
          </p:cNvPr>
          <p:cNvGrpSpPr/>
          <p:nvPr/>
        </p:nvGrpSpPr>
        <p:grpSpPr>
          <a:xfrm>
            <a:off x="4968319" y="2368841"/>
            <a:ext cx="482913" cy="802272"/>
            <a:chOff x="4968319" y="2368841"/>
            <a:chExt cx="482913" cy="802272"/>
          </a:xfrm>
        </p:grpSpPr>
        <p:sp>
          <p:nvSpPr>
            <p:cNvPr id="60" name="Text Box 55">
              <a:extLst>
                <a:ext uri="{FF2B5EF4-FFF2-40B4-BE49-F238E27FC236}">
                  <a16:creationId xmlns:a16="http://schemas.microsoft.com/office/drawing/2014/main" id="{5FECB05C-39C4-C583-1B9E-6B919A9FD297}"/>
                </a:ext>
              </a:extLst>
            </p:cNvPr>
            <p:cNvSpPr txBox="1">
              <a:spLocks noChangeArrowheads="1"/>
            </p:cNvSpPr>
            <p:nvPr/>
          </p:nvSpPr>
          <p:spPr bwMode="auto">
            <a:xfrm>
              <a:off x="5137683" y="2664718"/>
              <a:ext cx="313549"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dirty="0">
                  <a:ln w="12700">
                    <a:solidFill>
                      <a:sysClr val="windowText" lastClr="000000"/>
                    </a:solidFill>
                  </a:ln>
                  <a:solidFill>
                    <a:srgbClr val="00FFCC"/>
                  </a:solidFill>
                  <a:latin typeface="微软雅黑" pitchFamily="34" charset="-122"/>
                  <a:ea typeface="微软雅黑" pitchFamily="34" charset="-122"/>
                  <a:sym typeface="Wingdings" pitchFamily="2" charset="2"/>
                </a:rPr>
                <a:t></a:t>
              </a:r>
            </a:p>
          </p:txBody>
        </p:sp>
        <p:sp>
          <p:nvSpPr>
            <p:cNvPr id="62" name="Text Box 57">
              <a:extLst>
                <a:ext uri="{FF2B5EF4-FFF2-40B4-BE49-F238E27FC236}">
                  <a16:creationId xmlns:a16="http://schemas.microsoft.com/office/drawing/2014/main" id="{59A191A6-646F-DA49-CDD8-DA637143CA3E}"/>
                </a:ext>
              </a:extLst>
            </p:cNvPr>
            <p:cNvSpPr txBox="1">
              <a:spLocks noChangeArrowheads="1"/>
            </p:cNvSpPr>
            <p:nvPr/>
          </p:nvSpPr>
          <p:spPr bwMode="auto">
            <a:xfrm rot="1462546">
              <a:off x="5160302" y="2952957"/>
              <a:ext cx="265816"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dirty="0">
                  <a:ln w="12700">
                    <a:solidFill>
                      <a:sysClr val="windowText" lastClr="000000"/>
                    </a:solidFill>
                  </a:ln>
                  <a:solidFill>
                    <a:srgbClr val="00FFCC"/>
                  </a:solidFill>
                  <a:latin typeface="微软雅黑" pitchFamily="34" charset="-122"/>
                  <a:ea typeface="微软雅黑" pitchFamily="34" charset="-122"/>
                </a:rPr>
                <a:t>●</a:t>
              </a:r>
              <a:endParaRPr lang="en-US" altLang="zh-CN" sz="1200" b="1" dirty="0">
                <a:ln w="12700">
                  <a:solidFill>
                    <a:sysClr val="windowText" lastClr="000000"/>
                  </a:solidFill>
                </a:ln>
                <a:solidFill>
                  <a:srgbClr val="00FFCC"/>
                </a:solidFill>
                <a:latin typeface="微软雅黑" pitchFamily="34" charset="-122"/>
                <a:ea typeface="微软雅黑" pitchFamily="34" charset="-122"/>
                <a:sym typeface="Wingdings" pitchFamily="2" charset="2"/>
              </a:endParaRPr>
            </a:p>
          </p:txBody>
        </p:sp>
        <p:sp>
          <p:nvSpPr>
            <p:cNvPr id="63" name="Text Box 58">
              <a:extLst>
                <a:ext uri="{FF2B5EF4-FFF2-40B4-BE49-F238E27FC236}">
                  <a16:creationId xmlns:a16="http://schemas.microsoft.com/office/drawing/2014/main" id="{5C3D5BFC-9E10-25F5-7B2D-6169D7613429}"/>
                </a:ext>
              </a:extLst>
            </p:cNvPr>
            <p:cNvSpPr txBox="1">
              <a:spLocks noChangeArrowheads="1"/>
            </p:cNvSpPr>
            <p:nvPr/>
          </p:nvSpPr>
          <p:spPr bwMode="auto">
            <a:xfrm rot="20338690">
              <a:off x="5137928" y="2368841"/>
              <a:ext cx="288190"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dirty="0">
                  <a:ln w="12700">
                    <a:solidFill>
                      <a:sysClr val="windowText" lastClr="000000"/>
                    </a:solidFill>
                  </a:ln>
                  <a:solidFill>
                    <a:srgbClr val="00FFCC"/>
                  </a:solidFill>
                  <a:latin typeface="微软雅黑" pitchFamily="34" charset="-122"/>
                  <a:ea typeface="微软雅黑" pitchFamily="34" charset="-122"/>
                </a:rPr>
                <a:t>★</a:t>
              </a:r>
              <a:endParaRPr lang="en-US" altLang="zh-CN" sz="1200" b="1" dirty="0">
                <a:ln w="12700">
                  <a:solidFill>
                    <a:sysClr val="windowText" lastClr="000000"/>
                  </a:solidFill>
                </a:ln>
                <a:solidFill>
                  <a:srgbClr val="00FFCC"/>
                </a:solidFill>
                <a:latin typeface="微软雅黑" pitchFamily="34" charset="-122"/>
                <a:ea typeface="微软雅黑" pitchFamily="34" charset="-122"/>
                <a:sym typeface="Wingdings" pitchFamily="2" charset="2"/>
              </a:endParaRPr>
            </a:p>
          </p:txBody>
        </p:sp>
        <p:sp>
          <p:nvSpPr>
            <p:cNvPr id="67" name="Line 62">
              <a:extLst>
                <a:ext uri="{FF2B5EF4-FFF2-40B4-BE49-F238E27FC236}">
                  <a16:creationId xmlns:a16="http://schemas.microsoft.com/office/drawing/2014/main" id="{820E639E-D803-5215-034E-27A1A2B80DCA}"/>
                </a:ext>
              </a:extLst>
            </p:cNvPr>
            <p:cNvSpPr>
              <a:spLocks noChangeShapeType="1"/>
            </p:cNvSpPr>
            <p:nvPr/>
          </p:nvSpPr>
          <p:spPr bwMode="auto">
            <a:xfrm rot="9548732">
              <a:off x="4991182" y="2569334"/>
              <a:ext cx="168726"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70" name="Line 65">
              <a:extLst>
                <a:ext uri="{FF2B5EF4-FFF2-40B4-BE49-F238E27FC236}">
                  <a16:creationId xmlns:a16="http://schemas.microsoft.com/office/drawing/2014/main" id="{A41CA6EF-981E-0818-65FB-3F1425E52B85}"/>
                </a:ext>
              </a:extLst>
            </p:cNvPr>
            <p:cNvSpPr>
              <a:spLocks noChangeShapeType="1"/>
            </p:cNvSpPr>
            <p:nvPr/>
          </p:nvSpPr>
          <p:spPr bwMode="auto">
            <a:xfrm rot="1366384" flipH="1">
              <a:off x="4968319" y="3008563"/>
              <a:ext cx="168725"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71" name="Line 66">
              <a:extLst>
                <a:ext uri="{FF2B5EF4-FFF2-40B4-BE49-F238E27FC236}">
                  <a16:creationId xmlns:a16="http://schemas.microsoft.com/office/drawing/2014/main" id="{10A31FD6-AF17-892B-6876-B657140B3B93}"/>
                </a:ext>
              </a:extLst>
            </p:cNvPr>
            <p:cNvSpPr>
              <a:spLocks noChangeShapeType="1"/>
            </p:cNvSpPr>
            <p:nvPr/>
          </p:nvSpPr>
          <p:spPr bwMode="auto">
            <a:xfrm flipH="1">
              <a:off x="4992114" y="2776918"/>
              <a:ext cx="168725"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grpSp>
      <p:grpSp>
        <p:nvGrpSpPr>
          <p:cNvPr id="91" name="组合 90">
            <a:extLst>
              <a:ext uri="{FF2B5EF4-FFF2-40B4-BE49-F238E27FC236}">
                <a16:creationId xmlns:a16="http://schemas.microsoft.com/office/drawing/2014/main" id="{CB148FAF-BA16-9CB4-BF9E-7346DD557308}"/>
              </a:ext>
            </a:extLst>
          </p:cNvPr>
          <p:cNvGrpSpPr/>
          <p:nvPr/>
        </p:nvGrpSpPr>
        <p:grpSpPr>
          <a:xfrm>
            <a:off x="6543460" y="2288535"/>
            <a:ext cx="487867" cy="1020702"/>
            <a:chOff x="6543460" y="2288535"/>
            <a:chExt cx="487867" cy="1020702"/>
          </a:xfrm>
        </p:grpSpPr>
        <p:sp>
          <p:nvSpPr>
            <p:cNvPr id="61" name="Text Box 56">
              <a:extLst>
                <a:ext uri="{FF2B5EF4-FFF2-40B4-BE49-F238E27FC236}">
                  <a16:creationId xmlns:a16="http://schemas.microsoft.com/office/drawing/2014/main" id="{44EF244A-B5EC-672F-7E3A-E4685C34116E}"/>
                </a:ext>
              </a:extLst>
            </p:cNvPr>
            <p:cNvSpPr txBox="1">
              <a:spLocks noChangeArrowheads="1"/>
            </p:cNvSpPr>
            <p:nvPr/>
          </p:nvSpPr>
          <p:spPr bwMode="auto">
            <a:xfrm>
              <a:off x="6712185" y="3091081"/>
              <a:ext cx="265816"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a:ln w="12700">
                    <a:solidFill>
                      <a:sysClr val="windowText" lastClr="000000"/>
                    </a:solidFill>
                  </a:ln>
                  <a:solidFill>
                    <a:srgbClr val="00FFCC"/>
                  </a:solidFill>
                  <a:latin typeface="微软雅黑" pitchFamily="34" charset="-122"/>
                  <a:ea typeface="微软雅黑" pitchFamily="34" charset="-122"/>
                </a:rPr>
                <a:t>●</a:t>
              </a:r>
              <a:endParaRPr lang="en-US" altLang="zh-CN" sz="1200" b="1">
                <a:ln w="12700">
                  <a:solidFill>
                    <a:sysClr val="windowText" lastClr="000000"/>
                  </a:solidFill>
                </a:ln>
                <a:solidFill>
                  <a:srgbClr val="00FFCC"/>
                </a:solidFill>
                <a:latin typeface="微软雅黑" pitchFamily="34" charset="-122"/>
                <a:ea typeface="微软雅黑" pitchFamily="34" charset="-122"/>
                <a:sym typeface="Wingdings" pitchFamily="2" charset="2"/>
              </a:endParaRPr>
            </a:p>
          </p:txBody>
        </p:sp>
        <p:sp>
          <p:nvSpPr>
            <p:cNvPr id="64" name="Text Box 59">
              <a:extLst>
                <a:ext uri="{FF2B5EF4-FFF2-40B4-BE49-F238E27FC236}">
                  <a16:creationId xmlns:a16="http://schemas.microsoft.com/office/drawing/2014/main" id="{C7AE8FF6-1782-416C-330D-10B16CEFAB83}"/>
                </a:ext>
              </a:extLst>
            </p:cNvPr>
            <p:cNvSpPr txBox="1">
              <a:spLocks noChangeArrowheads="1"/>
            </p:cNvSpPr>
            <p:nvPr/>
          </p:nvSpPr>
          <p:spPr bwMode="auto">
            <a:xfrm>
              <a:off x="6717778" y="2661406"/>
              <a:ext cx="313549"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a:ln w="12700">
                    <a:solidFill>
                      <a:sysClr val="windowText" lastClr="000000"/>
                    </a:solidFill>
                  </a:ln>
                  <a:solidFill>
                    <a:srgbClr val="00FFCC"/>
                  </a:solidFill>
                  <a:latin typeface="微软雅黑" pitchFamily="34" charset="-122"/>
                  <a:ea typeface="微软雅黑" pitchFamily="34" charset="-122"/>
                  <a:sym typeface="Wingdings" pitchFamily="2" charset="2"/>
                </a:rPr>
                <a:t></a:t>
              </a:r>
            </a:p>
          </p:txBody>
        </p:sp>
        <p:sp>
          <p:nvSpPr>
            <p:cNvPr id="65" name="Text Box 60">
              <a:extLst>
                <a:ext uri="{FF2B5EF4-FFF2-40B4-BE49-F238E27FC236}">
                  <a16:creationId xmlns:a16="http://schemas.microsoft.com/office/drawing/2014/main" id="{890119D4-5CCB-B8CE-7F84-CF4595BD8D17}"/>
                </a:ext>
              </a:extLst>
            </p:cNvPr>
            <p:cNvSpPr txBox="1">
              <a:spLocks noChangeArrowheads="1"/>
            </p:cNvSpPr>
            <p:nvPr/>
          </p:nvSpPr>
          <p:spPr bwMode="auto">
            <a:xfrm>
              <a:off x="6712185" y="2288535"/>
              <a:ext cx="288190" cy="21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200" b="1" dirty="0">
                  <a:ln w="12700">
                    <a:solidFill>
                      <a:sysClr val="windowText" lastClr="000000"/>
                    </a:solidFill>
                  </a:ln>
                  <a:solidFill>
                    <a:srgbClr val="00FFCC"/>
                  </a:solidFill>
                  <a:latin typeface="微软雅黑" pitchFamily="34" charset="-122"/>
                  <a:ea typeface="微软雅黑" pitchFamily="34" charset="-122"/>
                </a:rPr>
                <a:t>★</a:t>
              </a:r>
              <a:endParaRPr lang="en-US" altLang="zh-CN" sz="1200" b="1" dirty="0">
                <a:ln w="12700">
                  <a:solidFill>
                    <a:sysClr val="windowText" lastClr="000000"/>
                  </a:solidFill>
                </a:ln>
                <a:solidFill>
                  <a:srgbClr val="00FFCC"/>
                </a:solidFill>
                <a:latin typeface="微软雅黑" pitchFamily="34" charset="-122"/>
                <a:ea typeface="微软雅黑" pitchFamily="34" charset="-122"/>
                <a:sym typeface="Wingdings" pitchFamily="2" charset="2"/>
              </a:endParaRPr>
            </a:p>
          </p:txBody>
        </p:sp>
        <p:sp>
          <p:nvSpPr>
            <p:cNvPr id="68" name="Line 63">
              <a:extLst>
                <a:ext uri="{FF2B5EF4-FFF2-40B4-BE49-F238E27FC236}">
                  <a16:creationId xmlns:a16="http://schemas.microsoft.com/office/drawing/2014/main" id="{726CF59C-B11A-5B64-FB49-8B9CDDA89AB2}"/>
                </a:ext>
              </a:extLst>
            </p:cNvPr>
            <p:cNvSpPr>
              <a:spLocks noChangeShapeType="1"/>
            </p:cNvSpPr>
            <p:nvPr/>
          </p:nvSpPr>
          <p:spPr bwMode="auto">
            <a:xfrm flipH="1">
              <a:off x="6543460" y="3223063"/>
              <a:ext cx="168725"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69" name="Line 64">
              <a:extLst>
                <a:ext uri="{FF2B5EF4-FFF2-40B4-BE49-F238E27FC236}">
                  <a16:creationId xmlns:a16="http://schemas.microsoft.com/office/drawing/2014/main" id="{A6A21D2B-FF1E-9B75-4592-075C979105CB}"/>
                </a:ext>
              </a:extLst>
            </p:cNvPr>
            <p:cNvSpPr>
              <a:spLocks noChangeShapeType="1"/>
            </p:cNvSpPr>
            <p:nvPr/>
          </p:nvSpPr>
          <p:spPr bwMode="auto">
            <a:xfrm flipH="1">
              <a:off x="6543460" y="2793388"/>
              <a:ext cx="168725"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72" name="Line 67">
              <a:extLst>
                <a:ext uri="{FF2B5EF4-FFF2-40B4-BE49-F238E27FC236}">
                  <a16:creationId xmlns:a16="http://schemas.microsoft.com/office/drawing/2014/main" id="{865DE0DE-64C0-C5A9-1270-3EEC9927ADD1}"/>
                </a:ext>
              </a:extLst>
            </p:cNvPr>
            <p:cNvSpPr>
              <a:spLocks noChangeShapeType="1"/>
            </p:cNvSpPr>
            <p:nvPr/>
          </p:nvSpPr>
          <p:spPr bwMode="auto">
            <a:xfrm flipH="1">
              <a:off x="6546256" y="2417603"/>
              <a:ext cx="168726" cy="0"/>
            </a:xfrm>
            <a:prstGeom prst="line">
              <a:avLst/>
            </a:prstGeom>
            <a:noFill/>
            <a:ln w="19050">
              <a:solidFill>
                <a:srgbClr val="0066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grpSp>
      <p:sp>
        <p:nvSpPr>
          <p:cNvPr id="73" name="AutoShape 70">
            <a:extLst>
              <a:ext uri="{FF2B5EF4-FFF2-40B4-BE49-F238E27FC236}">
                <a16:creationId xmlns:a16="http://schemas.microsoft.com/office/drawing/2014/main" id="{4A346F87-4B04-3447-8DBD-53242ABF14EA}"/>
              </a:ext>
            </a:extLst>
          </p:cNvPr>
          <p:cNvSpPr>
            <a:spLocks noChangeArrowheads="1"/>
          </p:cNvSpPr>
          <p:nvPr/>
        </p:nvSpPr>
        <p:spPr bwMode="auto">
          <a:xfrm>
            <a:off x="2167156" y="2298081"/>
            <a:ext cx="1421951" cy="198895"/>
          </a:xfrm>
          <a:prstGeom prst="wedgeRoundRectCallout">
            <a:avLst>
              <a:gd name="adj1" fmla="val 49806"/>
              <a:gd name="adj2" fmla="val 149652"/>
              <a:gd name="adj3" fmla="val 16667"/>
            </a:avLst>
          </a:prstGeom>
          <a:solidFill>
            <a:schemeClr val="bg1"/>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sz="1200" b="1">
              <a:solidFill>
                <a:srgbClr val="000099"/>
              </a:solidFill>
              <a:latin typeface="微软雅黑" pitchFamily="34" charset="-122"/>
              <a:ea typeface="微软雅黑" pitchFamily="34" charset="-122"/>
            </a:endParaRPr>
          </a:p>
        </p:txBody>
      </p:sp>
      <p:sp>
        <p:nvSpPr>
          <p:cNvPr id="74" name="Text Box 71">
            <a:extLst>
              <a:ext uri="{FF2B5EF4-FFF2-40B4-BE49-F238E27FC236}">
                <a16:creationId xmlns:a16="http://schemas.microsoft.com/office/drawing/2014/main" id="{0E40E92A-275F-B372-0424-5DA29558C230}"/>
              </a:ext>
            </a:extLst>
          </p:cNvPr>
          <p:cNvSpPr txBox="1">
            <a:spLocks noChangeArrowheads="1"/>
          </p:cNvSpPr>
          <p:nvPr/>
        </p:nvSpPr>
        <p:spPr bwMode="auto">
          <a:xfrm>
            <a:off x="2144867" y="2273438"/>
            <a:ext cx="1604064"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1050" b="1" dirty="0">
                <a:solidFill>
                  <a:srgbClr val="CC00CC"/>
                </a:solidFill>
                <a:latin typeface="微软雅黑" pitchFamily="34" charset="-122"/>
                <a:ea typeface="微软雅黑" pitchFamily="34" charset="-122"/>
              </a:rPr>
              <a:t>特定 </a:t>
            </a:r>
            <a:r>
              <a:rPr lang="en-US" altLang="zh-CN" sz="1050" b="1" dirty="0">
                <a:solidFill>
                  <a:srgbClr val="CC00CC"/>
                </a:solidFill>
                <a:latin typeface="微软雅黑" pitchFamily="34" charset="-122"/>
                <a:ea typeface="微软雅黑" pitchFamily="34" charset="-122"/>
              </a:rPr>
              <a:t>ONU </a:t>
            </a:r>
            <a:r>
              <a:rPr lang="zh-CN" altLang="en-US" sz="1050" b="1" dirty="0">
                <a:solidFill>
                  <a:srgbClr val="CC00CC"/>
                </a:solidFill>
                <a:latin typeface="微软雅黑" pitchFamily="34" charset="-122"/>
                <a:ea typeface="微软雅黑" pitchFamily="34" charset="-122"/>
              </a:rPr>
              <a:t>发来的数据</a:t>
            </a:r>
          </a:p>
        </p:txBody>
      </p:sp>
      <p:sp>
        <p:nvSpPr>
          <p:cNvPr id="75" name="Text Box 73">
            <a:extLst>
              <a:ext uri="{FF2B5EF4-FFF2-40B4-BE49-F238E27FC236}">
                <a16:creationId xmlns:a16="http://schemas.microsoft.com/office/drawing/2014/main" id="{E416AAB7-D8CB-21AC-AE9F-BDB2CB24DD45}"/>
              </a:ext>
            </a:extLst>
          </p:cNvPr>
          <p:cNvSpPr txBox="1">
            <a:spLocks noChangeArrowheads="1"/>
          </p:cNvSpPr>
          <p:nvPr/>
        </p:nvSpPr>
        <p:spPr bwMode="auto">
          <a:xfrm>
            <a:off x="4040855" y="2396980"/>
            <a:ext cx="493737" cy="261910"/>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1200" b="1" dirty="0">
                <a:latin typeface="微软雅黑" pitchFamily="34" charset="-122"/>
                <a:ea typeface="微软雅黑" pitchFamily="34" charset="-122"/>
              </a:rPr>
              <a:t>上行</a:t>
            </a:r>
          </a:p>
        </p:txBody>
      </p:sp>
      <p:sp>
        <p:nvSpPr>
          <p:cNvPr id="76" name="Line 75">
            <a:extLst>
              <a:ext uri="{FF2B5EF4-FFF2-40B4-BE49-F238E27FC236}">
                <a16:creationId xmlns:a16="http://schemas.microsoft.com/office/drawing/2014/main" id="{A260BCE5-E0A4-4F91-7F0B-96238BD5CAE5}"/>
              </a:ext>
            </a:extLst>
          </p:cNvPr>
          <p:cNvSpPr>
            <a:spLocks noChangeShapeType="1"/>
          </p:cNvSpPr>
          <p:nvPr/>
        </p:nvSpPr>
        <p:spPr bwMode="auto">
          <a:xfrm flipH="1">
            <a:off x="4061551" y="2667398"/>
            <a:ext cx="422280" cy="0"/>
          </a:xfrm>
          <a:prstGeom prst="line">
            <a:avLst/>
          </a:prstGeom>
          <a:noFill/>
          <a:ln w="28575">
            <a:solidFill>
              <a:srgbClr val="FF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77" name="矩形 76">
            <a:extLst>
              <a:ext uri="{FF2B5EF4-FFF2-40B4-BE49-F238E27FC236}">
                <a16:creationId xmlns:a16="http://schemas.microsoft.com/office/drawing/2014/main" id="{42C0E143-D00C-E2D4-F806-17906F4C498D}"/>
              </a:ext>
            </a:extLst>
          </p:cNvPr>
          <p:cNvSpPr/>
          <p:nvPr/>
        </p:nvSpPr>
        <p:spPr>
          <a:xfrm>
            <a:off x="2461732" y="2994901"/>
            <a:ext cx="1275641" cy="199976"/>
          </a:xfrm>
          <a:prstGeom prst="rect">
            <a:avLst/>
          </a:prstGeom>
        </p:spPr>
        <p:txBody>
          <a:bodyPr wrap="square">
            <a:spAutoFit/>
          </a:bodyPr>
          <a:lstStyle/>
          <a:p>
            <a:r>
              <a:rPr lang="en-US" altLang="zh-CN" sz="1050" b="1" dirty="0">
                <a:latin typeface="微软雅黑" pitchFamily="34" charset="-122"/>
                <a:ea typeface="微软雅黑" pitchFamily="34" charset="-122"/>
              </a:rPr>
              <a:t>OLT</a:t>
            </a:r>
            <a:r>
              <a:rPr lang="zh-CN" altLang="en-US" sz="1050" b="1" dirty="0">
                <a:latin typeface="微软雅黑" pitchFamily="34" charset="-122"/>
                <a:ea typeface="微软雅黑" pitchFamily="34" charset="-122"/>
              </a:rPr>
              <a:t>：</a:t>
            </a:r>
            <a:r>
              <a:rPr lang="zh-CN" altLang="zh-CN" sz="1050" b="1" dirty="0">
                <a:latin typeface="微软雅黑" pitchFamily="34" charset="-122"/>
                <a:ea typeface="微软雅黑" pitchFamily="34" charset="-122"/>
              </a:rPr>
              <a:t>光线路终端</a:t>
            </a:r>
            <a:endParaRPr lang="zh-CN" altLang="en-US" sz="1050" b="1" dirty="0">
              <a:latin typeface="微软雅黑" pitchFamily="34" charset="-122"/>
              <a:ea typeface="微软雅黑" pitchFamily="34" charset="-122"/>
            </a:endParaRPr>
          </a:p>
        </p:txBody>
      </p:sp>
      <p:sp>
        <p:nvSpPr>
          <p:cNvPr id="78" name="Rectangle 46">
            <a:extLst>
              <a:ext uri="{FF2B5EF4-FFF2-40B4-BE49-F238E27FC236}">
                <a16:creationId xmlns:a16="http://schemas.microsoft.com/office/drawing/2014/main" id="{D80E6492-BD26-D562-B5E4-901FBA9A5A50}"/>
              </a:ext>
            </a:extLst>
          </p:cNvPr>
          <p:cNvSpPr>
            <a:spLocks noChangeArrowheads="1"/>
          </p:cNvSpPr>
          <p:nvPr/>
        </p:nvSpPr>
        <p:spPr bwMode="auto">
          <a:xfrm>
            <a:off x="2610585" y="2760616"/>
            <a:ext cx="380331" cy="198088"/>
          </a:xfrm>
          <a:prstGeom prst="rect">
            <a:avLst/>
          </a:prstGeom>
          <a:solidFill>
            <a:srgbClr val="66FF66"/>
          </a:solidFill>
          <a:ln w="12700">
            <a:solidFill>
              <a:schemeClr val="tx1"/>
            </a:solidFill>
            <a:miter lim="800000"/>
            <a:headEnd/>
            <a:tailEnd/>
          </a:ln>
          <a:effectLst/>
        </p:spPr>
        <p:txBody>
          <a:bodyPr wrap="none" anchor="ctr"/>
          <a:lstStyle/>
          <a:p>
            <a:pPr algn="ctr"/>
            <a:r>
              <a:rPr lang="en-US" altLang="zh-CN" sz="1100" b="1" dirty="0">
                <a:latin typeface="微软雅黑" pitchFamily="34" charset="-122"/>
                <a:ea typeface="微软雅黑" pitchFamily="34" charset="-122"/>
              </a:rPr>
              <a:t>OLT</a:t>
            </a:r>
          </a:p>
        </p:txBody>
      </p:sp>
      <p:sp>
        <p:nvSpPr>
          <p:cNvPr id="79" name="Rectangle 13">
            <a:extLst>
              <a:ext uri="{FF2B5EF4-FFF2-40B4-BE49-F238E27FC236}">
                <a16:creationId xmlns:a16="http://schemas.microsoft.com/office/drawing/2014/main" id="{1B72FEA8-CF58-0817-BAB6-9C5E0CE87842}"/>
              </a:ext>
            </a:extLst>
          </p:cNvPr>
          <p:cNvSpPr>
            <a:spLocks noChangeArrowheads="1"/>
          </p:cNvSpPr>
          <p:nvPr/>
        </p:nvSpPr>
        <p:spPr bwMode="auto">
          <a:xfrm>
            <a:off x="2593666" y="1632330"/>
            <a:ext cx="380331" cy="198088"/>
          </a:xfrm>
          <a:prstGeom prst="rect">
            <a:avLst/>
          </a:prstGeom>
          <a:solidFill>
            <a:srgbClr val="66FF66"/>
          </a:solidFill>
          <a:ln w="12700">
            <a:solidFill>
              <a:schemeClr val="tx1"/>
            </a:solidFill>
            <a:miter lim="800000"/>
            <a:headEnd/>
            <a:tailEnd/>
          </a:ln>
          <a:effectLst/>
        </p:spPr>
        <p:txBody>
          <a:bodyPr wrap="none" anchor="ctr"/>
          <a:lstStyle/>
          <a:p>
            <a:pPr algn="ctr"/>
            <a:r>
              <a:rPr lang="en-US" altLang="zh-CN" sz="1100" b="1" dirty="0">
                <a:latin typeface="微软雅黑" pitchFamily="34" charset="-122"/>
                <a:ea typeface="微软雅黑" pitchFamily="34" charset="-122"/>
              </a:rPr>
              <a:t>OLT</a:t>
            </a:r>
          </a:p>
        </p:txBody>
      </p:sp>
      <p:sp>
        <p:nvSpPr>
          <p:cNvPr id="80" name="Rectangle 10">
            <a:extLst>
              <a:ext uri="{FF2B5EF4-FFF2-40B4-BE49-F238E27FC236}">
                <a16:creationId xmlns:a16="http://schemas.microsoft.com/office/drawing/2014/main" id="{7056BBD6-BF5A-C145-884A-4BB68FE1B83C}"/>
              </a:ext>
            </a:extLst>
          </p:cNvPr>
          <p:cNvSpPr>
            <a:spLocks noChangeArrowheads="1"/>
          </p:cNvSpPr>
          <p:nvPr/>
        </p:nvSpPr>
        <p:spPr bwMode="auto">
          <a:xfrm>
            <a:off x="5747582" y="2061278"/>
            <a:ext cx="380331" cy="198088"/>
          </a:xfrm>
          <a:prstGeom prst="rect">
            <a:avLst/>
          </a:prstGeom>
          <a:solidFill>
            <a:srgbClr val="66FF66"/>
          </a:solidFill>
          <a:ln w="12700">
            <a:solidFill>
              <a:schemeClr val="tx1"/>
            </a:solidFill>
            <a:miter lim="800000"/>
            <a:headEnd/>
            <a:tailEnd/>
          </a:ln>
          <a:effectLst/>
        </p:spPr>
        <p:txBody>
          <a:bodyPr wrap="none" anchor="ctr"/>
          <a:lstStyle/>
          <a:p>
            <a:pPr algn="ctr"/>
            <a:r>
              <a:rPr lang="en-US" altLang="zh-CN" sz="1200" b="1" dirty="0">
                <a:latin typeface="微软雅黑" pitchFamily="34" charset="-122"/>
                <a:ea typeface="微软雅黑" pitchFamily="34" charset="-122"/>
              </a:rPr>
              <a:t>ONU</a:t>
            </a:r>
          </a:p>
        </p:txBody>
      </p:sp>
      <p:sp>
        <p:nvSpPr>
          <p:cNvPr id="81" name="Rectangle 11">
            <a:extLst>
              <a:ext uri="{FF2B5EF4-FFF2-40B4-BE49-F238E27FC236}">
                <a16:creationId xmlns:a16="http://schemas.microsoft.com/office/drawing/2014/main" id="{A7457417-C9FA-52A1-A741-896673330165}"/>
              </a:ext>
            </a:extLst>
          </p:cNvPr>
          <p:cNvSpPr>
            <a:spLocks noChangeArrowheads="1"/>
          </p:cNvSpPr>
          <p:nvPr/>
        </p:nvSpPr>
        <p:spPr bwMode="auto">
          <a:xfrm>
            <a:off x="5747582" y="1632330"/>
            <a:ext cx="380331" cy="198088"/>
          </a:xfrm>
          <a:prstGeom prst="rect">
            <a:avLst/>
          </a:prstGeom>
          <a:solidFill>
            <a:srgbClr val="66FF66"/>
          </a:solidFill>
          <a:ln w="12700">
            <a:solidFill>
              <a:schemeClr val="tx1"/>
            </a:solidFill>
            <a:miter lim="800000"/>
            <a:headEnd/>
            <a:tailEnd/>
          </a:ln>
          <a:effectLst/>
        </p:spPr>
        <p:txBody>
          <a:bodyPr wrap="none" anchor="ctr"/>
          <a:lstStyle/>
          <a:p>
            <a:pPr algn="ctr"/>
            <a:r>
              <a:rPr lang="en-US" altLang="zh-CN" sz="1200" b="1">
                <a:latin typeface="微软雅黑" pitchFamily="34" charset="-122"/>
                <a:ea typeface="微软雅黑" pitchFamily="34" charset="-122"/>
              </a:rPr>
              <a:t>ONU</a:t>
            </a:r>
          </a:p>
        </p:txBody>
      </p:sp>
      <p:sp>
        <p:nvSpPr>
          <p:cNvPr id="82" name="Rectangle 22">
            <a:extLst>
              <a:ext uri="{FF2B5EF4-FFF2-40B4-BE49-F238E27FC236}">
                <a16:creationId xmlns:a16="http://schemas.microsoft.com/office/drawing/2014/main" id="{F7F1340F-F0F1-AA23-D8BA-4A5A9930904E}"/>
              </a:ext>
            </a:extLst>
          </p:cNvPr>
          <p:cNvSpPr>
            <a:spLocks noChangeArrowheads="1"/>
          </p:cNvSpPr>
          <p:nvPr/>
        </p:nvSpPr>
        <p:spPr bwMode="auto">
          <a:xfrm>
            <a:off x="5747582" y="1258002"/>
            <a:ext cx="380331" cy="198088"/>
          </a:xfrm>
          <a:prstGeom prst="rect">
            <a:avLst/>
          </a:prstGeom>
          <a:solidFill>
            <a:srgbClr val="66FF66"/>
          </a:solidFill>
          <a:ln w="12700">
            <a:solidFill>
              <a:schemeClr val="tx1"/>
            </a:solidFill>
            <a:miter lim="800000"/>
            <a:headEnd/>
            <a:tailEnd/>
          </a:ln>
          <a:effectLst/>
        </p:spPr>
        <p:txBody>
          <a:bodyPr wrap="none" anchor="ctr"/>
          <a:lstStyle/>
          <a:p>
            <a:pPr algn="ctr"/>
            <a:r>
              <a:rPr lang="en-US" altLang="zh-CN" sz="1200" b="1" dirty="0">
                <a:latin typeface="微软雅黑" pitchFamily="34" charset="-122"/>
                <a:ea typeface="微软雅黑" pitchFamily="34" charset="-122"/>
              </a:rPr>
              <a:t>ONU</a:t>
            </a:r>
          </a:p>
        </p:txBody>
      </p:sp>
      <p:sp>
        <p:nvSpPr>
          <p:cNvPr id="83" name="Rectangle 43">
            <a:extLst>
              <a:ext uri="{FF2B5EF4-FFF2-40B4-BE49-F238E27FC236}">
                <a16:creationId xmlns:a16="http://schemas.microsoft.com/office/drawing/2014/main" id="{7E8DE4AA-3DB3-1DD7-04BC-2B926488D2CE}"/>
              </a:ext>
            </a:extLst>
          </p:cNvPr>
          <p:cNvSpPr>
            <a:spLocks noChangeArrowheads="1"/>
          </p:cNvSpPr>
          <p:nvPr/>
        </p:nvSpPr>
        <p:spPr bwMode="auto">
          <a:xfrm>
            <a:off x="5764501" y="3189563"/>
            <a:ext cx="380331" cy="198088"/>
          </a:xfrm>
          <a:prstGeom prst="rect">
            <a:avLst/>
          </a:prstGeom>
          <a:solidFill>
            <a:srgbClr val="66FF66"/>
          </a:solidFill>
          <a:ln w="12700">
            <a:solidFill>
              <a:schemeClr val="tx1"/>
            </a:solidFill>
            <a:miter lim="800000"/>
            <a:headEnd/>
            <a:tailEnd/>
          </a:ln>
          <a:effectLst/>
        </p:spPr>
        <p:txBody>
          <a:bodyPr wrap="none" anchor="ctr"/>
          <a:lstStyle/>
          <a:p>
            <a:pPr algn="ctr"/>
            <a:r>
              <a:rPr lang="en-US" altLang="zh-CN" sz="1200" b="1" dirty="0">
                <a:latin typeface="微软雅黑" pitchFamily="34" charset="-122"/>
                <a:ea typeface="微软雅黑" pitchFamily="34" charset="-122"/>
              </a:rPr>
              <a:t>ONU</a:t>
            </a:r>
          </a:p>
        </p:txBody>
      </p:sp>
      <p:sp>
        <p:nvSpPr>
          <p:cNvPr id="84" name="Rectangle 44">
            <a:extLst>
              <a:ext uri="{FF2B5EF4-FFF2-40B4-BE49-F238E27FC236}">
                <a16:creationId xmlns:a16="http://schemas.microsoft.com/office/drawing/2014/main" id="{A9E0971E-3F8B-E4E8-B28E-BEDD6EDA3379}"/>
              </a:ext>
            </a:extLst>
          </p:cNvPr>
          <p:cNvSpPr>
            <a:spLocks noChangeArrowheads="1"/>
          </p:cNvSpPr>
          <p:nvPr/>
        </p:nvSpPr>
        <p:spPr bwMode="auto">
          <a:xfrm>
            <a:off x="5764501" y="2760616"/>
            <a:ext cx="380331" cy="198088"/>
          </a:xfrm>
          <a:prstGeom prst="rect">
            <a:avLst/>
          </a:prstGeom>
          <a:solidFill>
            <a:srgbClr val="66FF66"/>
          </a:solidFill>
          <a:ln w="12700">
            <a:solidFill>
              <a:schemeClr val="tx1"/>
            </a:solidFill>
            <a:miter lim="800000"/>
            <a:headEnd/>
            <a:tailEnd/>
          </a:ln>
          <a:effectLst/>
        </p:spPr>
        <p:txBody>
          <a:bodyPr wrap="none" anchor="ctr"/>
          <a:lstStyle/>
          <a:p>
            <a:pPr algn="ctr"/>
            <a:r>
              <a:rPr lang="en-US" altLang="zh-CN" sz="1200" b="1">
                <a:latin typeface="微软雅黑" pitchFamily="34" charset="-122"/>
                <a:ea typeface="微软雅黑" pitchFamily="34" charset="-122"/>
              </a:rPr>
              <a:t>ONU</a:t>
            </a:r>
          </a:p>
        </p:txBody>
      </p:sp>
      <p:sp>
        <p:nvSpPr>
          <p:cNvPr id="85" name="Rectangle 53">
            <a:extLst>
              <a:ext uri="{FF2B5EF4-FFF2-40B4-BE49-F238E27FC236}">
                <a16:creationId xmlns:a16="http://schemas.microsoft.com/office/drawing/2014/main" id="{B2304363-5856-E3B4-4DEB-D338B304E8B9}"/>
              </a:ext>
            </a:extLst>
          </p:cNvPr>
          <p:cNvSpPr>
            <a:spLocks noChangeArrowheads="1"/>
          </p:cNvSpPr>
          <p:nvPr/>
        </p:nvSpPr>
        <p:spPr bwMode="auto">
          <a:xfrm>
            <a:off x="5764501" y="2386288"/>
            <a:ext cx="380331" cy="198088"/>
          </a:xfrm>
          <a:prstGeom prst="rect">
            <a:avLst/>
          </a:prstGeom>
          <a:solidFill>
            <a:srgbClr val="66FF66"/>
          </a:solidFill>
          <a:ln w="12700">
            <a:solidFill>
              <a:schemeClr val="tx1"/>
            </a:solidFill>
            <a:miter lim="800000"/>
            <a:headEnd/>
            <a:tailEnd/>
          </a:ln>
          <a:effectLst/>
        </p:spPr>
        <p:txBody>
          <a:bodyPr wrap="none" anchor="ctr"/>
          <a:lstStyle/>
          <a:p>
            <a:pPr algn="ctr"/>
            <a:r>
              <a:rPr lang="en-US" altLang="zh-CN" sz="1200" b="1">
                <a:latin typeface="微软雅黑" pitchFamily="34" charset="-122"/>
                <a:ea typeface="微软雅黑" pitchFamily="34" charset="-122"/>
              </a:rPr>
              <a:t>ONU</a:t>
            </a:r>
          </a:p>
        </p:txBody>
      </p:sp>
      <p:sp>
        <p:nvSpPr>
          <p:cNvPr id="87" name="矩形 86">
            <a:extLst>
              <a:ext uri="{FF2B5EF4-FFF2-40B4-BE49-F238E27FC236}">
                <a16:creationId xmlns:a16="http://schemas.microsoft.com/office/drawing/2014/main" id="{AB17DB1E-CB0C-13C9-F2F3-8885CF36EFD0}"/>
              </a:ext>
            </a:extLst>
          </p:cNvPr>
          <p:cNvSpPr/>
          <p:nvPr/>
        </p:nvSpPr>
        <p:spPr>
          <a:xfrm>
            <a:off x="728946" y="3826774"/>
            <a:ext cx="7611292" cy="917046"/>
          </a:xfrm>
          <a:prstGeom prst="rect">
            <a:avLst/>
          </a:prstGeom>
        </p:spPr>
        <p:txBody>
          <a:bodyPr wrap="square">
            <a:spAutoFit/>
          </a:bodyPr>
          <a:lstStyle/>
          <a:p>
            <a:pPr>
              <a:lnSpc>
                <a:spcPts val="2200"/>
              </a:lnSpc>
            </a:pPr>
            <a:r>
              <a:rPr lang="zh-CN" altLang="en-US" sz="1600" dirty="0"/>
              <a:t>当</a:t>
            </a:r>
            <a:r>
              <a:rPr lang="en-US" altLang="zh-CN" sz="1600" dirty="0"/>
              <a:t>ONU</a:t>
            </a:r>
            <a:r>
              <a:rPr lang="zh-CN" altLang="en-US" sz="1600" dirty="0"/>
              <a:t>发送上行数据时，先把电信号转换为光信号，光分路器把各</a:t>
            </a:r>
            <a:r>
              <a:rPr lang="en-US" altLang="zh-CN" sz="1600" dirty="0"/>
              <a:t>ONU</a:t>
            </a:r>
            <a:r>
              <a:rPr lang="zh-CN" altLang="en-US" sz="1600" dirty="0"/>
              <a:t>发来的上行数据汇总后，以</a:t>
            </a:r>
            <a:r>
              <a:rPr lang="en-US" altLang="zh-CN" sz="1600" dirty="0"/>
              <a:t>TDMA</a:t>
            </a:r>
            <a:r>
              <a:rPr lang="zh-CN" altLang="en-US" sz="1600" dirty="0"/>
              <a:t>方式发往</a:t>
            </a:r>
            <a:r>
              <a:rPr lang="en-US" altLang="zh-CN" sz="1600" dirty="0"/>
              <a:t>OLT</a:t>
            </a:r>
            <a:r>
              <a:rPr lang="zh-CN" altLang="en-US" sz="1600" dirty="0"/>
              <a:t>，而发送时间和长度都由</a:t>
            </a:r>
            <a:r>
              <a:rPr lang="en-US" altLang="zh-CN" sz="1600" dirty="0"/>
              <a:t>OLT</a:t>
            </a:r>
            <a:r>
              <a:rPr lang="zh-CN" altLang="en-US" sz="1600" dirty="0"/>
              <a:t>集中控制，以便有序地共享光纤主干。</a:t>
            </a:r>
          </a:p>
        </p:txBody>
      </p:sp>
      <p:sp>
        <p:nvSpPr>
          <p:cNvPr id="19" name="Text Box 20">
            <a:extLst>
              <a:ext uri="{FF2B5EF4-FFF2-40B4-BE49-F238E27FC236}">
                <a16:creationId xmlns:a16="http://schemas.microsoft.com/office/drawing/2014/main" id="{EB308570-5640-850B-9E71-7DDD41148AF7}"/>
              </a:ext>
            </a:extLst>
          </p:cNvPr>
          <p:cNvSpPr txBox="1">
            <a:spLocks noChangeArrowheads="1"/>
          </p:cNvSpPr>
          <p:nvPr/>
        </p:nvSpPr>
        <p:spPr bwMode="auto">
          <a:xfrm>
            <a:off x="3928927" y="1812353"/>
            <a:ext cx="696907" cy="20603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050" b="1" dirty="0">
                <a:latin typeface="微软雅黑" pitchFamily="34" charset="-122"/>
                <a:ea typeface="微软雅黑" pitchFamily="34" charset="-122"/>
              </a:rPr>
              <a:t>光分路器</a:t>
            </a:r>
          </a:p>
        </p:txBody>
      </p:sp>
      <p:sp>
        <p:nvSpPr>
          <p:cNvPr id="3" name="Text Box 20">
            <a:extLst>
              <a:ext uri="{FF2B5EF4-FFF2-40B4-BE49-F238E27FC236}">
                <a16:creationId xmlns:a16="http://schemas.microsoft.com/office/drawing/2014/main" id="{BD219296-4220-4CEF-A7C1-0E53641CF023}"/>
              </a:ext>
            </a:extLst>
          </p:cNvPr>
          <p:cNvSpPr txBox="1">
            <a:spLocks noChangeArrowheads="1"/>
          </p:cNvSpPr>
          <p:nvPr/>
        </p:nvSpPr>
        <p:spPr bwMode="auto">
          <a:xfrm>
            <a:off x="3929165" y="2936966"/>
            <a:ext cx="696907" cy="20603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050" b="1" dirty="0">
                <a:latin typeface="微软雅黑" pitchFamily="34" charset="-122"/>
                <a:ea typeface="微软雅黑" pitchFamily="34" charset="-122"/>
              </a:rPr>
              <a:t>光分路器</a:t>
            </a:r>
          </a:p>
        </p:txBody>
      </p:sp>
      <p:sp>
        <p:nvSpPr>
          <p:cNvPr id="90" name="对话气泡: 矩形 89">
            <a:extLst>
              <a:ext uri="{FF2B5EF4-FFF2-40B4-BE49-F238E27FC236}">
                <a16:creationId xmlns:a16="http://schemas.microsoft.com/office/drawing/2014/main" id="{D9BDFB48-8799-A352-C57D-2F5D49465038}"/>
              </a:ext>
            </a:extLst>
          </p:cNvPr>
          <p:cNvSpPr/>
          <p:nvPr/>
        </p:nvSpPr>
        <p:spPr>
          <a:xfrm>
            <a:off x="7011061" y="1548638"/>
            <a:ext cx="1208530" cy="589426"/>
          </a:xfrm>
          <a:prstGeom prst="wedgeRectCallout">
            <a:avLst>
              <a:gd name="adj1" fmla="val -121750"/>
              <a:gd name="adj2" fmla="val 98364"/>
            </a:avLst>
          </a:prstGeom>
        </p:spPr>
        <p:style>
          <a:lnRef idx="1">
            <a:schemeClr val="accent2"/>
          </a:lnRef>
          <a:fillRef idx="2">
            <a:schemeClr val="accent2"/>
          </a:fillRef>
          <a:effectRef idx="1">
            <a:schemeClr val="accent2"/>
          </a:effectRef>
          <a:fontRef idx="minor">
            <a:schemeClr val="dk1"/>
          </a:fontRef>
        </p:style>
        <p:txBody>
          <a:bodyPr rtlCol="0" anchor="ctr"/>
          <a:lstStyle/>
          <a:p>
            <a:r>
              <a:rPr lang="zh-CN" altLang="en-US" sz="1600" b="1" dirty="0">
                <a:latin typeface="黑体" panose="02010609060101010101" pitchFamily="49" charset="-122"/>
                <a:ea typeface="黑体" panose="02010609060101010101" pitchFamily="49" charset="-122"/>
              </a:rPr>
              <a:t>电信号转换为光信号</a:t>
            </a:r>
          </a:p>
        </p:txBody>
      </p:sp>
    </p:spTree>
    <p:extLst>
      <p:ext uri="{BB962C8B-B14F-4D97-AF65-F5344CB8AC3E}">
        <p14:creationId xmlns:p14="http://schemas.microsoft.com/office/powerpoint/2010/main" val="3324537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7"/>
                                        </p:tgtEl>
                                        <p:attrNameLst>
                                          <p:attrName>style.visibility</p:attrName>
                                        </p:attrNameLst>
                                      </p:cBhvr>
                                      <p:to>
                                        <p:strVal val="visible"/>
                                      </p:to>
                                    </p:set>
                                    <p:animEffect transition="in" filter="fade">
                                      <p:cBhvr>
                                        <p:cTn id="7" dur="1000"/>
                                        <p:tgtEl>
                                          <p:spTgt spid="87"/>
                                        </p:tgtEl>
                                      </p:cBhvr>
                                    </p:animEffect>
                                    <p:anim calcmode="lin" valueType="num">
                                      <p:cBhvr>
                                        <p:cTn id="8" dur="1000" fill="hold"/>
                                        <p:tgtEl>
                                          <p:spTgt spid="87"/>
                                        </p:tgtEl>
                                        <p:attrNameLst>
                                          <p:attrName>ppt_x</p:attrName>
                                        </p:attrNameLst>
                                      </p:cBhvr>
                                      <p:tavLst>
                                        <p:tav tm="0">
                                          <p:val>
                                            <p:strVal val="#ppt_x"/>
                                          </p:val>
                                        </p:tav>
                                        <p:tav tm="100000">
                                          <p:val>
                                            <p:strVal val="#ppt_x"/>
                                          </p:val>
                                        </p:tav>
                                      </p:tavLst>
                                    </p:anim>
                                    <p:anim calcmode="lin" valueType="num">
                                      <p:cBhvr>
                                        <p:cTn id="9" dur="1000" fill="hold"/>
                                        <p:tgtEl>
                                          <p:spTgt spid="8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90"/>
                                        </p:tgtEl>
                                        <p:attrNameLst>
                                          <p:attrName>style.visibility</p:attrName>
                                        </p:attrNameLst>
                                      </p:cBhvr>
                                      <p:to>
                                        <p:strVal val="visible"/>
                                      </p:to>
                                    </p:set>
                                    <p:anim calcmode="lin" valueType="num">
                                      <p:cBhvr>
                                        <p:cTn id="14" dur="500" fill="hold"/>
                                        <p:tgtEl>
                                          <p:spTgt spid="90"/>
                                        </p:tgtEl>
                                        <p:attrNameLst>
                                          <p:attrName>ppt_w</p:attrName>
                                        </p:attrNameLst>
                                      </p:cBhvr>
                                      <p:tavLst>
                                        <p:tav tm="0">
                                          <p:val>
                                            <p:fltVal val="0"/>
                                          </p:val>
                                        </p:tav>
                                        <p:tav tm="100000">
                                          <p:val>
                                            <p:strVal val="#ppt_w"/>
                                          </p:val>
                                        </p:tav>
                                      </p:tavLst>
                                    </p:anim>
                                    <p:anim calcmode="lin" valueType="num">
                                      <p:cBhvr>
                                        <p:cTn id="15" dur="500" fill="hold"/>
                                        <p:tgtEl>
                                          <p:spTgt spid="90"/>
                                        </p:tgtEl>
                                        <p:attrNameLst>
                                          <p:attrName>ppt_h</p:attrName>
                                        </p:attrNameLst>
                                      </p:cBhvr>
                                      <p:tavLst>
                                        <p:tav tm="0">
                                          <p:val>
                                            <p:fltVal val="0"/>
                                          </p:val>
                                        </p:tav>
                                        <p:tav tm="100000">
                                          <p:val>
                                            <p:strVal val="#ppt_h"/>
                                          </p:val>
                                        </p:tav>
                                      </p:tavLst>
                                    </p:anim>
                                    <p:animEffect transition="in" filter="fade">
                                      <p:cBhvr>
                                        <p:cTn id="16" dur="500"/>
                                        <p:tgtEl>
                                          <p:spTgt spid="90"/>
                                        </p:tgtEl>
                                      </p:cBhvr>
                                    </p:animEffect>
                                  </p:childTnLst>
                                </p:cTn>
                              </p:par>
                            </p:childTnLst>
                          </p:cTn>
                        </p:par>
                      </p:childTnLst>
                    </p:cTn>
                  </p:par>
                  <p:par>
                    <p:cTn id="17" fill="hold">
                      <p:stCondLst>
                        <p:cond delay="indefinite"/>
                      </p:stCondLst>
                      <p:childTnLst>
                        <p:par>
                          <p:cTn id="18" fill="hold">
                            <p:stCondLst>
                              <p:cond delay="0"/>
                            </p:stCondLst>
                            <p:childTnLst>
                              <p:par>
                                <p:cTn id="19" presetID="35" presetClass="emph" presetSubtype="0" repeatCount="3000" fill="hold" grpId="0" nodeType="clickEffect">
                                  <p:stCondLst>
                                    <p:cond delay="0"/>
                                  </p:stCondLst>
                                  <p:childTnLst>
                                    <p:anim calcmode="discrete" valueType="str">
                                      <p:cBhvr>
                                        <p:cTn id="20" dur="1000" fill="hold"/>
                                        <p:tgtEl>
                                          <p:spTgt spid="3"/>
                                        </p:tgtEl>
                                        <p:attrNameLst>
                                          <p:attrName>style.visibility</p:attrName>
                                        </p:attrNameLst>
                                      </p:cBhvr>
                                      <p:tavLst>
                                        <p:tav tm="0">
                                          <p:val>
                                            <p:strVal val="hidden"/>
                                          </p:val>
                                        </p:tav>
                                        <p:tav tm="50000">
                                          <p:val>
                                            <p:strVal val="visible"/>
                                          </p:val>
                                        </p:tav>
                                      </p:tavLst>
                                    </p:anim>
                                  </p:childTnLst>
                                </p:cTn>
                              </p:par>
                              <p:par>
                                <p:cTn id="21" presetID="35" presetClass="emph" presetSubtype="0" repeatCount="3000" fill="hold" nodeType="withEffect">
                                  <p:stCondLst>
                                    <p:cond delay="0"/>
                                  </p:stCondLst>
                                  <p:childTnLst>
                                    <p:anim calcmode="discrete" valueType="str">
                                      <p:cBhvr>
                                        <p:cTn id="22" dur="1000" fill="hold"/>
                                        <p:tgtEl>
                                          <p:spTgt spid="93"/>
                                        </p:tgtEl>
                                        <p:attrNameLst>
                                          <p:attrName>style.visibility</p:attrName>
                                        </p:attrNameLst>
                                      </p:cBhvr>
                                      <p:tavLst>
                                        <p:tav tm="0">
                                          <p:val>
                                            <p:strVal val="hidden"/>
                                          </p:val>
                                        </p:tav>
                                        <p:tav tm="50000">
                                          <p:val>
                                            <p:strVal val="visible"/>
                                          </p:val>
                                        </p:tav>
                                      </p:tavLst>
                                    </p:anim>
                                  </p:childTnLst>
                                </p:cTn>
                              </p:par>
                            </p:childTnLst>
                          </p:cTn>
                        </p:par>
                      </p:childTnLst>
                    </p:cTn>
                  </p:par>
                  <p:par>
                    <p:cTn id="23" fill="hold">
                      <p:stCondLst>
                        <p:cond delay="indefinite"/>
                      </p:stCondLst>
                      <p:childTnLst>
                        <p:par>
                          <p:cTn id="24" fill="hold">
                            <p:stCondLst>
                              <p:cond delay="0"/>
                            </p:stCondLst>
                            <p:childTnLst>
                              <p:par>
                                <p:cTn id="25" presetID="35" presetClass="emph" presetSubtype="0" repeatCount="3000" fill="hold" nodeType="clickEffect">
                                  <p:stCondLst>
                                    <p:cond delay="0"/>
                                  </p:stCondLst>
                                  <p:childTnLst>
                                    <p:anim calcmode="discrete" valueType="str">
                                      <p:cBhvr>
                                        <p:cTn id="26" dur="1000" fill="hold"/>
                                        <p:tgtEl>
                                          <p:spTgt spid="9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p:bldP spid="3" grpId="0"/>
      <p:bldP spid="90"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466343" y="899999"/>
            <a:ext cx="8129017" cy="3600000"/>
          </a:xfrm>
        </p:spPr>
        <p:txBody>
          <a:bodyPr>
            <a:normAutofit/>
          </a:bodyPr>
          <a:lstStyle/>
          <a:p>
            <a:r>
              <a:rPr lang="zh-CN" altLang="en-US" dirty="0"/>
              <a:t>采用波分复用 </a:t>
            </a:r>
            <a:r>
              <a:rPr lang="en-US" altLang="zh-CN" dirty="0"/>
              <a:t>WDM</a:t>
            </a:r>
            <a:r>
              <a:rPr lang="zh-CN" altLang="en-US" dirty="0"/>
              <a:t>，上行和下行分别使用不同的波长。</a:t>
            </a:r>
            <a:endParaRPr lang="en-US" altLang="zh-CN" dirty="0"/>
          </a:p>
          <a:p>
            <a:r>
              <a:rPr lang="en-US" altLang="zh-CN" dirty="0"/>
              <a:t>2 </a:t>
            </a:r>
            <a:r>
              <a:rPr lang="zh-CN" altLang="en-US" dirty="0"/>
              <a:t>种最流行的无源光网络 </a:t>
            </a:r>
            <a:r>
              <a:rPr lang="en-US" altLang="zh-CN" dirty="0"/>
              <a:t>PON (Passive Optical Network)</a:t>
            </a:r>
            <a:r>
              <a:rPr lang="zh-CN" altLang="en-US" dirty="0"/>
              <a:t>：</a:t>
            </a:r>
            <a:endParaRPr lang="en-US" altLang="zh-CN" dirty="0"/>
          </a:p>
          <a:p>
            <a:pPr lvl="1"/>
            <a:r>
              <a:rPr lang="zh-CN" altLang="en-US" dirty="0"/>
              <a:t>以太网无源光网络 </a:t>
            </a:r>
            <a:r>
              <a:rPr lang="en-US" altLang="zh-CN" dirty="0"/>
              <a:t>EPON (Ethernet PON)</a:t>
            </a:r>
          </a:p>
          <a:p>
            <a:pPr lvl="2"/>
            <a:r>
              <a:rPr lang="zh-CN" altLang="en-US" dirty="0"/>
              <a:t>在链路层使用以太网协议，利用 </a:t>
            </a:r>
            <a:r>
              <a:rPr lang="en-US" altLang="zh-CN" dirty="0"/>
              <a:t>PON </a:t>
            </a:r>
            <a:r>
              <a:rPr lang="zh-CN" altLang="en-US" dirty="0"/>
              <a:t>的拓扑结构实现以太网的接入。</a:t>
            </a:r>
            <a:endParaRPr lang="en-US" altLang="zh-CN" dirty="0"/>
          </a:p>
          <a:p>
            <a:pPr lvl="2"/>
            <a:r>
              <a:rPr lang="zh-CN" altLang="en-US" dirty="0"/>
              <a:t>与现有以太网的兼容性好，并且成本低，扩展性强，管理方便。</a:t>
            </a:r>
            <a:endParaRPr lang="en-US" altLang="zh-CN" dirty="0"/>
          </a:p>
          <a:p>
            <a:pPr lvl="1"/>
            <a:r>
              <a:rPr lang="zh-CN" altLang="en-US" dirty="0"/>
              <a:t>吉比特无源光网络 </a:t>
            </a:r>
            <a:r>
              <a:rPr lang="en-US" altLang="zh-CN" dirty="0"/>
              <a:t>GPON (Gigabit PON)</a:t>
            </a:r>
          </a:p>
          <a:p>
            <a:pPr lvl="2"/>
            <a:r>
              <a:rPr lang="zh-CN" altLang="en-US" dirty="0"/>
              <a:t>可承载多业务，对各种业务类型都能够提供服务质量保证，总体性能比</a:t>
            </a:r>
            <a:r>
              <a:rPr lang="en-US" altLang="zh-CN" dirty="0"/>
              <a:t>EPON</a:t>
            </a:r>
            <a:r>
              <a:rPr lang="zh-CN" altLang="en-US" dirty="0"/>
              <a:t>好。</a:t>
            </a:r>
            <a:endParaRPr lang="en-US" altLang="zh-CN" dirty="0"/>
          </a:p>
          <a:p>
            <a:pPr lvl="2"/>
            <a:r>
              <a:rPr lang="zh-CN" altLang="en-US" dirty="0"/>
              <a:t>目前是我国和欧美各国使用得最多的一种宽带光纤接入技术。</a:t>
            </a:r>
          </a:p>
        </p:txBody>
      </p:sp>
      <p:sp>
        <p:nvSpPr>
          <p:cNvPr id="2" name="文本占位符 1"/>
          <p:cNvSpPr>
            <a:spLocks noGrp="1"/>
          </p:cNvSpPr>
          <p:nvPr>
            <p:ph type="body" sz="quarter" idx="11"/>
          </p:nvPr>
        </p:nvSpPr>
        <p:spPr>
          <a:xfrm>
            <a:off x="1332000" y="360000"/>
            <a:ext cx="6480000" cy="354012"/>
          </a:xfrm>
        </p:spPr>
        <p:txBody>
          <a:bodyPr>
            <a:normAutofit fontScale="92500" lnSpcReduction="10000"/>
          </a:bodyPr>
          <a:lstStyle/>
          <a:p>
            <a:r>
              <a:rPr lang="zh-CN" altLang="en-US" dirty="0"/>
              <a:t>光配线网 </a:t>
            </a:r>
            <a:r>
              <a:rPr lang="en-US" altLang="zh-CN" dirty="0"/>
              <a:t>ODN (Optical Distribution Network)</a:t>
            </a:r>
            <a:endParaRPr lang="zh-CN" altLang="en-US" dirty="0"/>
          </a:p>
        </p:txBody>
      </p:sp>
    </p:spTree>
    <p:extLst>
      <p:ext uri="{BB962C8B-B14F-4D97-AF65-F5344CB8AC3E}">
        <p14:creationId xmlns:p14="http://schemas.microsoft.com/office/powerpoint/2010/main" val="157747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1000"/>
                                        <p:tgtEl>
                                          <p:spTgt spid="3">
                                            <p:txEl>
                                              <p:pRg st="5" end="5"/>
                                            </p:txEl>
                                          </p:spTgt>
                                        </p:tgtEl>
                                      </p:cBhvr>
                                    </p:animEffect>
                                    <p:anim calcmode="lin" valueType="num">
                                      <p:cBhvr>
                                        <p:cTn id="3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1000"/>
                                        <p:tgtEl>
                                          <p:spTgt spid="3">
                                            <p:txEl>
                                              <p:pRg st="6" end="6"/>
                                            </p:txEl>
                                          </p:spTgt>
                                        </p:tgtEl>
                                      </p:cBhvr>
                                    </p:animEffect>
                                    <p:anim calcmode="lin" valueType="num">
                                      <p:cBhvr>
                                        <p:cTn id="3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6" end="6"/>
                                            </p:txEl>
                                          </p:spTgt>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1000"/>
                                        <p:tgtEl>
                                          <p:spTgt spid="3">
                                            <p:txEl>
                                              <p:pRg st="7" end="7"/>
                                            </p:txEl>
                                          </p:spTgt>
                                        </p:tgtEl>
                                      </p:cBhvr>
                                    </p:animEffect>
                                    <p:anim calcmode="lin" valueType="num">
                                      <p:cBhvr>
                                        <p:cTn id="4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sz="quarter" idx="10"/>
          </p:nvPr>
        </p:nvSpPr>
        <p:spPr>
          <a:xfrm>
            <a:off x="466343" y="899999"/>
            <a:ext cx="8129017" cy="3600000"/>
          </a:xfrm>
        </p:spPr>
        <p:txBody>
          <a:bodyPr>
            <a:normAutofit/>
          </a:bodyPr>
          <a:lstStyle/>
          <a:p>
            <a:r>
              <a:rPr lang="zh-CN" altLang="en-US" dirty="0"/>
              <a:t>非对称数字用户线 </a:t>
            </a:r>
            <a:r>
              <a:rPr lang="en-US" altLang="zh-CN" dirty="0"/>
              <a:t>ADSL (Asymmetric Digital Subscriber Line) </a:t>
            </a:r>
            <a:r>
              <a:rPr lang="zh-CN" altLang="en-US" dirty="0"/>
              <a:t>技术：用数字技术对现有的模拟电话用户线进行改造，使它能够承载宽带业务。</a:t>
            </a:r>
            <a:endParaRPr lang="en-US" altLang="zh-CN" dirty="0"/>
          </a:p>
          <a:p>
            <a:r>
              <a:rPr lang="zh-CN" altLang="en-US" dirty="0"/>
              <a:t>标准模拟电话信号的频带被限制在</a:t>
            </a:r>
            <a:r>
              <a:rPr lang="en-US" altLang="zh-CN" dirty="0"/>
              <a:t>300 ~ 3400 Hz</a:t>
            </a:r>
            <a:r>
              <a:rPr lang="zh-CN" altLang="en-US" dirty="0"/>
              <a:t>的范围内，用户线本身实际可通过的信号频率却超过</a:t>
            </a:r>
            <a:r>
              <a:rPr lang="en-US" altLang="zh-CN" dirty="0"/>
              <a:t>1 MHz</a:t>
            </a:r>
            <a:r>
              <a:rPr lang="zh-CN" altLang="en-US" dirty="0"/>
              <a:t>。</a:t>
            </a:r>
            <a:endParaRPr lang="en-US" altLang="zh-CN" dirty="0"/>
          </a:p>
          <a:p>
            <a:r>
              <a:rPr lang="en-US" altLang="zh-CN" dirty="0"/>
              <a:t>ADSL </a:t>
            </a:r>
            <a:r>
              <a:rPr lang="zh-CN" altLang="en-US" dirty="0"/>
              <a:t>技术把 </a:t>
            </a:r>
            <a:r>
              <a:rPr lang="en-US" altLang="zh-CN" dirty="0"/>
              <a:t>0~4 kHz </a:t>
            </a:r>
            <a:r>
              <a:rPr lang="zh-CN" altLang="en-US" dirty="0"/>
              <a:t>低端频谱留给传统电话使用，而把原来没有被利用的高端频谱留给用户上网使用。</a:t>
            </a:r>
          </a:p>
          <a:p>
            <a:r>
              <a:rPr lang="zh-CN" altLang="en-US" dirty="0"/>
              <a:t>非对称：下行（从 </a:t>
            </a:r>
            <a:r>
              <a:rPr lang="en-US" altLang="zh-CN" dirty="0"/>
              <a:t>ISP </a:t>
            </a:r>
            <a:r>
              <a:rPr lang="zh-CN" altLang="en-US" dirty="0"/>
              <a:t>到用户）带宽远大于上行（从用户到 </a:t>
            </a:r>
            <a:r>
              <a:rPr lang="en-US" altLang="zh-CN" dirty="0"/>
              <a:t>ISP</a:t>
            </a:r>
            <a:r>
              <a:rPr lang="zh-CN" altLang="en-US" dirty="0"/>
              <a:t>）带宽。</a:t>
            </a:r>
          </a:p>
        </p:txBody>
      </p:sp>
      <p:sp>
        <p:nvSpPr>
          <p:cNvPr id="4" name="文本占位符 3"/>
          <p:cNvSpPr>
            <a:spLocks noGrp="1"/>
          </p:cNvSpPr>
          <p:nvPr>
            <p:ph type="body" sz="quarter" idx="11"/>
          </p:nvPr>
        </p:nvSpPr>
        <p:spPr>
          <a:xfrm>
            <a:off x="1332000" y="360000"/>
            <a:ext cx="6480000" cy="354012"/>
          </a:xfrm>
        </p:spPr>
        <p:txBody>
          <a:bodyPr>
            <a:normAutofit fontScale="92500" lnSpcReduction="10000"/>
          </a:bodyPr>
          <a:lstStyle/>
          <a:p>
            <a:r>
              <a:rPr lang="en-US" altLang="zh-CN" dirty="0"/>
              <a:t>2.6.2  </a:t>
            </a:r>
            <a:r>
              <a:rPr lang="zh-CN" altLang="en-US" dirty="0"/>
              <a:t>非对称数字用户线 </a:t>
            </a:r>
            <a:r>
              <a:rPr lang="en-US" altLang="zh-CN" dirty="0"/>
              <a:t>ADSL</a:t>
            </a:r>
            <a:endParaRPr lang="zh-CN" altLang="en-US" dirty="0"/>
          </a:p>
        </p:txBody>
      </p:sp>
      <p:sp>
        <p:nvSpPr>
          <p:cNvPr id="2" name="矩形 1">
            <a:extLst>
              <a:ext uri="{FF2B5EF4-FFF2-40B4-BE49-F238E27FC236}">
                <a16:creationId xmlns:a16="http://schemas.microsoft.com/office/drawing/2014/main" id="{95D0A6B2-685F-F15E-2BBA-FA3E4BD911CD}"/>
              </a:ext>
            </a:extLst>
          </p:cNvPr>
          <p:cNvSpPr/>
          <p:nvPr/>
        </p:nvSpPr>
        <p:spPr>
          <a:xfrm>
            <a:off x="2336888" y="1984474"/>
            <a:ext cx="5096234" cy="979069"/>
          </a:xfrm>
          <a:prstGeom prst="rect">
            <a:avLst/>
          </a:prstGeom>
          <a:ln/>
        </p:spPr>
        <p:style>
          <a:lnRef idx="1">
            <a:schemeClr val="accent5"/>
          </a:lnRef>
          <a:fillRef idx="2">
            <a:schemeClr val="accent5"/>
          </a:fillRef>
          <a:effectRef idx="1">
            <a:schemeClr val="accent5"/>
          </a:effectRef>
          <a:fontRef idx="minor">
            <a:schemeClr val="dk1"/>
          </a:fontRef>
        </p:style>
        <p:txBody>
          <a:bodyPr wrap="square" lIns="252000" tIns="180000" rIns="252000" bIns="180000">
            <a:spAutoFit/>
          </a:bodyPr>
          <a:lstStyle/>
          <a:p>
            <a:r>
              <a:rPr lang="en-US" altLang="zh-CN" sz="2000" b="1" dirty="0">
                <a:latin typeface="微软雅黑" panose="020B0503020204020204" pitchFamily="34" charset="-122"/>
                <a:ea typeface="微软雅黑" panose="020B0503020204020204" pitchFamily="34" charset="-122"/>
              </a:rPr>
              <a:t>ADSL </a:t>
            </a:r>
            <a:r>
              <a:rPr lang="zh-CN" altLang="en-US" sz="2000" b="1" dirty="0">
                <a:latin typeface="微软雅黑" panose="020B0503020204020204" pitchFamily="34" charset="-122"/>
                <a:ea typeface="微软雅黑" panose="020B0503020204020204" pitchFamily="34" charset="-122"/>
              </a:rPr>
              <a:t>最大好处：可以利用现有电话网中的用户线（铜线），而不需要重新布线。</a:t>
            </a:r>
          </a:p>
        </p:txBody>
      </p:sp>
    </p:spTree>
    <p:extLst>
      <p:ext uri="{BB962C8B-B14F-4D97-AF65-F5344CB8AC3E}">
        <p14:creationId xmlns:p14="http://schemas.microsoft.com/office/powerpoint/2010/main" val="754429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2BA01-72F3-BB06-B630-69A008D779E0}"/>
            </a:ext>
          </a:extLst>
        </p:cNvPr>
        <p:cNvGrpSpPr/>
        <p:nvPr/>
      </p:nvGrpSpPr>
      <p:grpSpPr>
        <a:xfrm>
          <a:off x="0" y="0"/>
          <a:ext cx="0" cy="0"/>
          <a:chOff x="0" y="0"/>
          <a:chExt cx="0" cy="0"/>
        </a:xfrm>
      </p:grpSpPr>
      <p:sp>
        <p:nvSpPr>
          <p:cNvPr id="4" name="内容占位符 3">
            <a:extLst>
              <a:ext uri="{FF2B5EF4-FFF2-40B4-BE49-F238E27FC236}">
                <a16:creationId xmlns:a16="http://schemas.microsoft.com/office/drawing/2014/main" id="{FA4C43F2-60B8-B384-EDA7-C97A05A34888}"/>
              </a:ext>
            </a:extLst>
          </p:cNvPr>
          <p:cNvSpPr>
            <a:spLocks noGrp="1"/>
          </p:cNvSpPr>
          <p:nvPr>
            <p:ph sz="quarter" idx="10"/>
          </p:nvPr>
        </p:nvSpPr>
        <p:spPr>
          <a:xfrm>
            <a:off x="466343" y="899999"/>
            <a:ext cx="8129017" cy="3600000"/>
          </a:xfrm>
        </p:spPr>
        <p:txBody>
          <a:bodyPr/>
          <a:lstStyle/>
          <a:p>
            <a:r>
              <a:rPr lang="zh-CN" altLang="en-US" dirty="0"/>
              <a:t>采用离散多音调 </a:t>
            </a:r>
            <a:r>
              <a:rPr lang="en-US" altLang="zh-CN" dirty="0"/>
              <a:t>DMT</a:t>
            </a:r>
            <a:r>
              <a:rPr lang="zh-CN" altLang="en-US" dirty="0"/>
              <a:t>（</a:t>
            </a:r>
            <a:r>
              <a:rPr lang="en-US" altLang="zh-CN" dirty="0"/>
              <a:t>Discrete Multi-Tone</a:t>
            </a:r>
            <a:r>
              <a:rPr lang="zh-CN" altLang="en-US" dirty="0"/>
              <a:t>）调制技术。</a:t>
            </a:r>
            <a:endParaRPr lang="en-US" altLang="zh-CN" dirty="0"/>
          </a:p>
          <a:p>
            <a:r>
              <a:rPr lang="en-US" altLang="zh-CN" dirty="0"/>
              <a:t>DMT </a:t>
            </a:r>
            <a:r>
              <a:rPr lang="zh-CN" altLang="en-US" dirty="0"/>
              <a:t>调制技术采用频分复用 </a:t>
            </a:r>
            <a:r>
              <a:rPr lang="en-US" altLang="zh-CN" dirty="0"/>
              <a:t>FDM </a:t>
            </a:r>
            <a:r>
              <a:rPr lang="zh-CN" altLang="en-US" dirty="0"/>
              <a:t>方法。</a:t>
            </a:r>
            <a:endParaRPr lang="en-US" altLang="zh-CN" dirty="0"/>
          </a:p>
          <a:p>
            <a:r>
              <a:rPr lang="zh-CN" altLang="en-US" dirty="0"/>
              <a:t>相当于在一对用户线上使用许多小的调制解调器并行地传送数据。</a:t>
            </a:r>
            <a:endParaRPr lang="en-US" altLang="zh-CN" dirty="0"/>
          </a:p>
          <a:p>
            <a:r>
              <a:rPr lang="en-US" altLang="zh-CN" dirty="0"/>
              <a:t>ADSL </a:t>
            </a:r>
            <a:r>
              <a:rPr lang="zh-CN" altLang="en-US" dirty="0"/>
              <a:t>不能保证固定的数据率。</a:t>
            </a:r>
          </a:p>
        </p:txBody>
      </p:sp>
      <p:sp>
        <p:nvSpPr>
          <p:cNvPr id="5" name="文本占位符 4">
            <a:extLst>
              <a:ext uri="{FF2B5EF4-FFF2-40B4-BE49-F238E27FC236}">
                <a16:creationId xmlns:a16="http://schemas.microsoft.com/office/drawing/2014/main" id="{48545DA2-7572-ED5D-17B9-9DDE8777807F}"/>
              </a:ext>
            </a:extLst>
          </p:cNvPr>
          <p:cNvSpPr>
            <a:spLocks noGrp="1"/>
          </p:cNvSpPr>
          <p:nvPr>
            <p:ph type="body" sz="quarter" idx="11"/>
          </p:nvPr>
        </p:nvSpPr>
        <p:spPr>
          <a:xfrm>
            <a:off x="1332000" y="360000"/>
            <a:ext cx="6480000" cy="354012"/>
          </a:xfrm>
        </p:spPr>
        <p:txBody>
          <a:bodyPr>
            <a:normAutofit fontScale="92500" lnSpcReduction="10000"/>
          </a:bodyPr>
          <a:lstStyle/>
          <a:p>
            <a:r>
              <a:rPr lang="en-US" altLang="zh-CN" dirty="0"/>
              <a:t>ADSL </a:t>
            </a:r>
            <a:r>
              <a:rPr lang="zh-CN" altLang="en-US" dirty="0"/>
              <a:t>调制解调器</a:t>
            </a:r>
          </a:p>
        </p:txBody>
      </p:sp>
      <p:sp>
        <p:nvSpPr>
          <p:cNvPr id="7" name="Rectangle 194">
            <a:extLst>
              <a:ext uri="{FF2B5EF4-FFF2-40B4-BE49-F238E27FC236}">
                <a16:creationId xmlns:a16="http://schemas.microsoft.com/office/drawing/2014/main" id="{46DB01B2-1BA1-42D9-B4B5-F2432ADE58AE}"/>
              </a:ext>
            </a:extLst>
          </p:cNvPr>
          <p:cNvSpPr>
            <a:spLocks noChangeArrowheads="1"/>
          </p:cNvSpPr>
          <p:nvPr/>
        </p:nvSpPr>
        <p:spPr bwMode="auto">
          <a:xfrm>
            <a:off x="2898159" y="3305988"/>
            <a:ext cx="1131058" cy="879608"/>
          </a:xfrm>
          <a:prstGeom prst="rect">
            <a:avLst/>
          </a:prstGeom>
          <a:solidFill>
            <a:srgbClr val="00FF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8" name="Line 196">
            <a:extLst>
              <a:ext uri="{FF2B5EF4-FFF2-40B4-BE49-F238E27FC236}">
                <a16:creationId xmlns:a16="http://schemas.microsoft.com/office/drawing/2014/main" id="{BEF5A352-5F57-DC74-5056-6C4FF51AE2E7}"/>
              </a:ext>
            </a:extLst>
          </p:cNvPr>
          <p:cNvSpPr>
            <a:spLocks noChangeShapeType="1"/>
          </p:cNvSpPr>
          <p:nvPr/>
        </p:nvSpPr>
        <p:spPr bwMode="auto">
          <a:xfrm>
            <a:off x="2898159" y="2805927"/>
            <a:ext cx="3847262" cy="0"/>
          </a:xfrm>
          <a:prstGeom prst="line">
            <a:avLst/>
          </a:prstGeom>
          <a:noFill/>
          <a:ln w="9525">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C00000"/>
              </a:solidFill>
              <a:latin typeface="微软雅黑" pitchFamily="34" charset="-122"/>
              <a:ea typeface="微软雅黑" pitchFamily="34" charset="-122"/>
            </a:endParaRPr>
          </a:p>
        </p:txBody>
      </p:sp>
      <p:sp>
        <p:nvSpPr>
          <p:cNvPr id="9" name="Rectangle 194">
            <a:extLst>
              <a:ext uri="{FF2B5EF4-FFF2-40B4-BE49-F238E27FC236}">
                <a16:creationId xmlns:a16="http://schemas.microsoft.com/office/drawing/2014/main" id="{79F0CCD9-4929-7586-3598-39D33DA62B9E}"/>
              </a:ext>
            </a:extLst>
          </p:cNvPr>
          <p:cNvSpPr>
            <a:spLocks noChangeArrowheads="1"/>
          </p:cNvSpPr>
          <p:nvPr/>
        </p:nvSpPr>
        <p:spPr bwMode="auto">
          <a:xfrm>
            <a:off x="4029217" y="3305034"/>
            <a:ext cx="2777746" cy="879608"/>
          </a:xfrm>
          <a:prstGeom prst="rect">
            <a:avLst/>
          </a:prstGeom>
          <a:solidFill>
            <a:srgbClr val="FF66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0" name="Text Box 80">
            <a:extLst>
              <a:ext uri="{FF2B5EF4-FFF2-40B4-BE49-F238E27FC236}">
                <a16:creationId xmlns:a16="http://schemas.microsoft.com/office/drawing/2014/main" id="{1CA40297-C8C9-309F-338B-2CA5960B1ED3}"/>
              </a:ext>
            </a:extLst>
          </p:cNvPr>
          <p:cNvSpPr txBox="1">
            <a:spLocks noChangeArrowheads="1"/>
          </p:cNvSpPr>
          <p:nvPr/>
        </p:nvSpPr>
        <p:spPr bwMode="auto">
          <a:xfrm>
            <a:off x="3258764" y="3445605"/>
            <a:ext cx="332142" cy="276999"/>
          </a:xfrm>
          <a:prstGeom prst="rect">
            <a:avLst/>
          </a:prstGeom>
          <a:noFill/>
          <a:ln w="1905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a:t>
            </a:r>
          </a:p>
        </p:txBody>
      </p:sp>
      <p:sp>
        <p:nvSpPr>
          <p:cNvPr id="11" name="Text Box 83">
            <a:extLst>
              <a:ext uri="{FF2B5EF4-FFF2-40B4-BE49-F238E27FC236}">
                <a16:creationId xmlns:a16="http://schemas.microsoft.com/office/drawing/2014/main" id="{1C96CAD3-5576-A624-8B43-18590D09B314}"/>
              </a:ext>
            </a:extLst>
          </p:cNvPr>
          <p:cNvSpPr txBox="1">
            <a:spLocks noChangeArrowheads="1"/>
          </p:cNvSpPr>
          <p:nvPr/>
        </p:nvSpPr>
        <p:spPr bwMode="auto">
          <a:xfrm>
            <a:off x="1126005" y="2795312"/>
            <a:ext cx="61282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1200" b="1" dirty="0">
                <a:latin typeface="微软雅黑" pitchFamily="34" charset="-122"/>
                <a:ea typeface="微软雅黑" pitchFamily="34" charset="-122"/>
              </a:rPr>
              <a:t>频谱</a:t>
            </a:r>
          </a:p>
        </p:txBody>
      </p:sp>
      <p:sp>
        <p:nvSpPr>
          <p:cNvPr id="12" name="Line 84">
            <a:extLst>
              <a:ext uri="{FF2B5EF4-FFF2-40B4-BE49-F238E27FC236}">
                <a16:creationId xmlns:a16="http://schemas.microsoft.com/office/drawing/2014/main" id="{960BA210-DA0B-0ED8-9230-FB99ECD1BFB6}"/>
              </a:ext>
            </a:extLst>
          </p:cNvPr>
          <p:cNvSpPr>
            <a:spLocks noChangeShapeType="1"/>
          </p:cNvSpPr>
          <p:nvPr/>
        </p:nvSpPr>
        <p:spPr bwMode="auto">
          <a:xfrm rot="16200000">
            <a:off x="934317" y="3587727"/>
            <a:ext cx="1233105" cy="0"/>
          </a:xfrm>
          <a:prstGeom prst="line">
            <a:avLst/>
          </a:prstGeom>
          <a:noFill/>
          <a:ln w="28575">
            <a:solidFill>
              <a:srgbClr val="0000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3" name="Text Box 85">
            <a:extLst>
              <a:ext uri="{FF2B5EF4-FFF2-40B4-BE49-F238E27FC236}">
                <a16:creationId xmlns:a16="http://schemas.microsoft.com/office/drawing/2014/main" id="{05443002-A80B-968C-01A7-AC2AA0360111}"/>
              </a:ext>
            </a:extLst>
          </p:cNvPr>
          <p:cNvSpPr txBox="1">
            <a:spLocks noChangeArrowheads="1"/>
          </p:cNvSpPr>
          <p:nvPr/>
        </p:nvSpPr>
        <p:spPr bwMode="auto">
          <a:xfrm>
            <a:off x="7097941" y="3897535"/>
            <a:ext cx="107959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1200" b="1" dirty="0">
                <a:latin typeface="微软雅黑" pitchFamily="34" charset="-122"/>
                <a:ea typeface="微软雅黑" pitchFamily="34" charset="-122"/>
              </a:rPr>
              <a:t>频率</a:t>
            </a:r>
            <a:r>
              <a:rPr lang="en-US" altLang="zh-CN" sz="1200" b="1" dirty="0">
                <a:latin typeface="微软雅黑" pitchFamily="34" charset="-122"/>
                <a:ea typeface="微软雅黑" pitchFamily="34" charset="-122"/>
              </a:rPr>
              <a:t>(kHz)</a:t>
            </a:r>
          </a:p>
        </p:txBody>
      </p:sp>
      <p:sp>
        <p:nvSpPr>
          <p:cNvPr id="14" name="Text Box 86">
            <a:extLst>
              <a:ext uri="{FF2B5EF4-FFF2-40B4-BE49-F238E27FC236}">
                <a16:creationId xmlns:a16="http://schemas.microsoft.com/office/drawing/2014/main" id="{7305F6FE-88B0-5185-F7E1-66BA900FBC77}"/>
              </a:ext>
            </a:extLst>
          </p:cNvPr>
          <p:cNvSpPr txBox="1">
            <a:spLocks noChangeArrowheads="1"/>
          </p:cNvSpPr>
          <p:nvPr/>
        </p:nvSpPr>
        <p:spPr bwMode="auto">
          <a:xfrm>
            <a:off x="3927140" y="2664532"/>
            <a:ext cx="1415772" cy="276999"/>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solidFill>
                  <a:srgbClr val="000099"/>
                </a:solidFill>
                <a:latin typeface="微软雅黑" pitchFamily="34" charset="-122"/>
                <a:ea typeface="微软雅黑" pitchFamily="34" charset="-122"/>
              </a:rPr>
              <a:t>ADSL </a:t>
            </a:r>
            <a:r>
              <a:rPr lang="zh-CN" altLang="en-US" sz="1200" b="1" dirty="0">
                <a:solidFill>
                  <a:srgbClr val="000099"/>
                </a:solidFill>
                <a:latin typeface="微软雅黑" pitchFamily="34" charset="-122"/>
                <a:ea typeface="微软雅黑" pitchFamily="34" charset="-122"/>
              </a:rPr>
              <a:t>的数字业务</a:t>
            </a:r>
          </a:p>
        </p:txBody>
      </p:sp>
      <p:sp>
        <p:nvSpPr>
          <p:cNvPr id="15" name="Freeform 87">
            <a:extLst>
              <a:ext uri="{FF2B5EF4-FFF2-40B4-BE49-F238E27FC236}">
                <a16:creationId xmlns:a16="http://schemas.microsoft.com/office/drawing/2014/main" id="{0E962452-8206-A726-892F-99DDD9CF34FF}"/>
              </a:ext>
            </a:extLst>
          </p:cNvPr>
          <p:cNvSpPr>
            <a:spLocks/>
          </p:cNvSpPr>
          <p:nvPr/>
        </p:nvSpPr>
        <p:spPr bwMode="auto">
          <a:xfrm>
            <a:off x="1550869" y="3288495"/>
            <a:ext cx="291082" cy="903381"/>
          </a:xfrm>
          <a:custGeom>
            <a:avLst/>
            <a:gdLst>
              <a:gd name="T0" fmla="*/ 0 w 208"/>
              <a:gd name="T1" fmla="*/ 0 h 1248"/>
              <a:gd name="T2" fmla="*/ 112 w 208"/>
              <a:gd name="T3" fmla="*/ 144 h 1248"/>
              <a:gd name="T4" fmla="*/ 192 w 208"/>
              <a:gd name="T5" fmla="*/ 680 h 1248"/>
              <a:gd name="T6" fmla="*/ 208 w 208"/>
              <a:gd name="T7" fmla="*/ 1248 h 1248"/>
            </a:gdLst>
            <a:ahLst/>
            <a:cxnLst>
              <a:cxn ang="0">
                <a:pos x="T0" y="T1"/>
              </a:cxn>
              <a:cxn ang="0">
                <a:pos x="T2" y="T3"/>
              </a:cxn>
              <a:cxn ang="0">
                <a:pos x="T4" y="T5"/>
              </a:cxn>
              <a:cxn ang="0">
                <a:pos x="T6" y="T7"/>
              </a:cxn>
            </a:cxnLst>
            <a:rect l="0" t="0" r="r" b="b"/>
            <a:pathLst>
              <a:path w="208" h="1248">
                <a:moveTo>
                  <a:pt x="0" y="0"/>
                </a:moveTo>
                <a:cubicBezTo>
                  <a:pt x="19" y="24"/>
                  <a:pt x="80" y="31"/>
                  <a:pt x="112" y="144"/>
                </a:cubicBezTo>
                <a:cubicBezTo>
                  <a:pt x="144" y="257"/>
                  <a:pt x="176" y="496"/>
                  <a:pt x="192" y="680"/>
                </a:cubicBezTo>
                <a:cubicBezTo>
                  <a:pt x="208" y="864"/>
                  <a:pt x="205" y="1130"/>
                  <a:pt x="208" y="1248"/>
                </a:cubicBez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6" name="Text Box 89">
            <a:extLst>
              <a:ext uri="{FF2B5EF4-FFF2-40B4-BE49-F238E27FC236}">
                <a16:creationId xmlns:a16="http://schemas.microsoft.com/office/drawing/2014/main" id="{93184BD0-97B9-E7CF-0A21-65E3E22983BD}"/>
              </a:ext>
            </a:extLst>
          </p:cNvPr>
          <p:cNvSpPr txBox="1">
            <a:spLocks noChangeArrowheads="1"/>
          </p:cNvSpPr>
          <p:nvPr/>
        </p:nvSpPr>
        <p:spPr bwMode="auto">
          <a:xfrm>
            <a:off x="3019007" y="2903706"/>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rgbClr val="0000FF"/>
                </a:solidFill>
                <a:latin typeface="微软雅黑" pitchFamily="34" charset="-122"/>
                <a:ea typeface="微软雅黑" pitchFamily="34" charset="-122"/>
              </a:rPr>
              <a:t>上行信道</a:t>
            </a:r>
          </a:p>
        </p:txBody>
      </p:sp>
      <p:sp>
        <p:nvSpPr>
          <p:cNvPr id="17" name="Text Box 90">
            <a:extLst>
              <a:ext uri="{FF2B5EF4-FFF2-40B4-BE49-F238E27FC236}">
                <a16:creationId xmlns:a16="http://schemas.microsoft.com/office/drawing/2014/main" id="{970FD9A8-0C09-2E54-2AF3-19FF35403C2A}"/>
              </a:ext>
            </a:extLst>
          </p:cNvPr>
          <p:cNvSpPr txBox="1">
            <a:spLocks noChangeArrowheads="1"/>
          </p:cNvSpPr>
          <p:nvPr/>
        </p:nvSpPr>
        <p:spPr bwMode="auto">
          <a:xfrm>
            <a:off x="1640517" y="3058932"/>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solidFill>
                  <a:srgbClr val="0000FF"/>
                </a:solidFill>
                <a:latin typeface="微软雅黑" pitchFamily="34" charset="-122"/>
                <a:ea typeface="微软雅黑" pitchFamily="34" charset="-122"/>
              </a:rPr>
              <a:t>传统电话</a:t>
            </a:r>
          </a:p>
        </p:txBody>
      </p:sp>
      <p:sp>
        <p:nvSpPr>
          <p:cNvPr id="18" name="Line 91">
            <a:extLst>
              <a:ext uri="{FF2B5EF4-FFF2-40B4-BE49-F238E27FC236}">
                <a16:creationId xmlns:a16="http://schemas.microsoft.com/office/drawing/2014/main" id="{80833500-F7E9-DB71-7D19-D3C165907BB0}"/>
              </a:ext>
            </a:extLst>
          </p:cNvPr>
          <p:cNvSpPr>
            <a:spLocks noChangeShapeType="1"/>
          </p:cNvSpPr>
          <p:nvPr/>
        </p:nvSpPr>
        <p:spPr bwMode="auto">
          <a:xfrm flipH="1">
            <a:off x="1762112" y="3313302"/>
            <a:ext cx="307714" cy="205689"/>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9" name="Line 92">
            <a:extLst>
              <a:ext uri="{FF2B5EF4-FFF2-40B4-BE49-F238E27FC236}">
                <a16:creationId xmlns:a16="http://schemas.microsoft.com/office/drawing/2014/main" id="{2A548BEC-24D7-E819-92B8-2D40C45D37A5}"/>
              </a:ext>
            </a:extLst>
          </p:cNvPr>
          <p:cNvSpPr>
            <a:spLocks noChangeShapeType="1"/>
          </p:cNvSpPr>
          <p:nvPr/>
        </p:nvSpPr>
        <p:spPr bwMode="auto">
          <a:xfrm flipV="1">
            <a:off x="1550868" y="4194977"/>
            <a:ext cx="6044960" cy="0"/>
          </a:xfrm>
          <a:prstGeom prst="line">
            <a:avLst/>
          </a:prstGeom>
          <a:noFill/>
          <a:ln w="28575">
            <a:solidFill>
              <a:srgbClr val="0000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20" name="Text Box 93">
            <a:extLst>
              <a:ext uri="{FF2B5EF4-FFF2-40B4-BE49-F238E27FC236}">
                <a16:creationId xmlns:a16="http://schemas.microsoft.com/office/drawing/2014/main" id="{42333F32-4E0A-5893-73EE-9F15407B8FAC}"/>
              </a:ext>
            </a:extLst>
          </p:cNvPr>
          <p:cNvSpPr txBox="1">
            <a:spLocks noChangeArrowheads="1"/>
          </p:cNvSpPr>
          <p:nvPr/>
        </p:nvSpPr>
        <p:spPr bwMode="auto">
          <a:xfrm>
            <a:off x="1313015" y="419807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a:latin typeface="微软雅黑" pitchFamily="34" charset="-122"/>
                <a:ea typeface="微软雅黑" pitchFamily="34" charset="-122"/>
              </a:rPr>
              <a:t>0</a:t>
            </a:r>
          </a:p>
        </p:txBody>
      </p:sp>
      <p:sp>
        <p:nvSpPr>
          <p:cNvPr id="21" name="Text Box 94">
            <a:extLst>
              <a:ext uri="{FF2B5EF4-FFF2-40B4-BE49-F238E27FC236}">
                <a16:creationId xmlns:a16="http://schemas.microsoft.com/office/drawing/2014/main" id="{0A95478C-1494-0C43-E0A8-BAE2792CCA7F}"/>
              </a:ext>
            </a:extLst>
          </p:cNvPr>
          <p:cNvSpPr txBox="1">
            <a:spLocks noChangeArrowheads="1"/>
          </p:cNvSpPr>
          <p:nvPr/>
        </p:nvSpPr>
        <p:spPr bwMode="auto">
          <a:xfrm>
            <a:off x="1693915" y="419807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a:latin typeface="微软雅黑" pitchFamily="34" charset="-122"/>
                <a:ea typeface="微软雅黑" pitchFamily="34" charset="-122"/>
              </a:rPr>
              <a:t>4</a:t>
            </a:r>
          </a:p>
        </p:txBody>
      </p:sp>
      <p:sp>
        <p:nvSpPr>
          <p:cNvPr id="22" name="AutoShape 110">
            <a:extLst>
              <a:ext uri="{FF2B5EF4-FFF2-40B4-BE49-F238E27FC236}">
                <a16:creationId xmlns:a16="http://schemas.microsoft.com/office/drawing/2014/main" id="{AC8BF765-C640-5606-1B2F-BAB9D4B31185}"/>
              </a:ext>
            </a:extLst>
          </p:cNvPr>
          <p:cNvSpPr>
            <a:spLocks/>
          </p:cNvSpPr>
          <p:nvPr/>
        </p:nvSpPr>
        <p:spPr bwMode="auto">
          <a:xfrm rot="5400000" flipV="1">
            <a:off x="3355978" y="2686558"/>
            <a:ext cx="140572" cy="1056209"/>
          </a:xfrm>
          <a:prstGeom prst="leftBrace">
            <a:avLst>
              <a:gd name="adj1" fmla="val 38909"/>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23" name="AutoShape 113">
            <a:extLst>
              <a:ext uri="{FF2B5EF4-FFF2-40B4-BE49-F238E27FC236}">
                <a16:creationId xmlns:a16="http://schemas.microsoft.com/office/drawing/2014/main" id="{B3D90DD1-CE65-5F4B-3E68-04932CCD09D4}"/>
              </a:ext>
            </a:extLst>
          </p:cNvPr>
          <p:cNvSpPr>
            <a:spLocks/>
          </p:cNvSpPr>
          <p:nvPr/>
        </p:nvSpPr>
        <p:spPr bwMode="auto">
          <a:xfrm rot="5400000" flipV="1">
            <a:off x="5356121" y="1893986"/>
            <a:ext cx="140572" cy="2641353"/>
          </a:xfrm>
          <a:prstGeom prst="leftBrace">
            <a:avLst>
              <a:gd name="adj1" fmla="val 97304"/>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24" name="Text Box 114">
            <a:extLst>
              <a:ext uri="{FF2B5EF4-FFF2-40B4-BE49-F238E27FC236}">
                <a16:creationId xmlns:a16="http://schemas.microsoft.com/office/drawing/2014/main" id="{F41C15C7-8286-E65C-F259-BF7E895DAE56}"/>
              </a:ext>
            </a:extLst>
          </p:cNvPr>
          <p:cNvSpPr txBox="1">
            <a:spLocks noChangeArrowheads="1"/>
          </p:cNvSpPr>
          <p:nvPr/>
        </p:nvSpPr>
        <p:spPr bwMode="auto">
          <a:xfrm>
            <a:off x="5013097" y="2903706"/>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rgbClr val="0000FF"/>
                </a:solidFill>
                <a:latin typeface="微软雅黑" pitchFamily="34" charset="-122"/>
                <a:ea typeface="微软雅黑" pitchFamily="34" charset="-122"/>
              </a:rPr>
              <a:t>下行信道</a:t>
            </a:r>
          </a:p>
        </p:txBody>
      </p:sp>
      <p:sp>
        <p:nvSpPr>
          <p:cNvPr id="25" name="Text Box 143">
            <a:extLst>
              <a:ext uri="{FF2B5EF4-FFF2-40B4-BE49-F238E27FC236}">
                <a16:creationId xmlns:a16="http://schemas.microsoft.com/office/drawing/2014/main" id="{DC4A35FE-B916-D3BB-65A4-933F4906D2FD}"/>
              </a:ext>
            </a:extLst>
          </p:cNvPr>
          <p:cNvSpPr txBox="1">
            <a:spLocks noChangeArrowheads="1"/>
          </p:cNvSpPr>
          <p:nvPr/>
        </p:nvSpPr>
        <p:spPr bwMode="auto">
          <a:xfrm>
            <a:off x="5189057" y="3445605"/>
            <a:ext cx="332142" cy="276999"/>
          </a:xfrm>
          <a:prstGeom prst="rect">
            <a:avLst/>
          </a:prstGeom>
          <a:noFill/>
          <a:ln w="1905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a:t>
            </a:r>
          </a:p>
        </p:txBody>
      </p:sp>
      <p:sp>
        <p:nvSpPr>
          <p:cNvPr id="26" name="Freeform 168">
            <a:extLst>
              <a:ext uri="{FF2B5EF4-FFF2-40B4-BE49-F238E27FC236}">
                <a16:creationId xmlns:a16="http://schemas.microsoft.com/office/drawing/2014/main" id="{36719D20-EAD9-6822-8D5A-8104BCB15334}"/>
              </a:ext>
            </a:extLst>
          </p:cNvPr>
          <p:cNvSpPr>
            <a:spLocks/>
          </p:cNvSpPr>
          <p:nvPr/>
        </p:nvSpPr>
        <p:spPr bwMode="auto">
          <a:xfrm>
            <a:off x="6594058" y="3304000"/>
            <a:ext cx="146373" cy="890977"/>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27" name="Freeform 169">
            <a:extLst>
              <a:ext uri="{FF2B5EF4-FFF2-40B4-BE49-F238E27FC236}">
                <a16:creationId xmlns:a16="http://schemas.microsoft.com/office/drawing/2014/main" id="{F4105A69-B6C9-00FF-0F9B-55E6685E487D}"/>
              </a:ext>
            </a:extLst>
          </p:cNvPr>
          <p:cNvSpPr>
            <a:spLocks/>
          </p:cNvSpPr>
          <p:nvPr/>
        </p:nvSpPr>
        <p:spPr bwMode="auto">
          <a:xfrm>
            <a:off x="6444359" y="3305034"/>
            <a:ext cx="146373" cy="890977"/>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28" name="Freeform 170">
            <a:extLst>
              <a:ext uri="{FF2B5EF4-FFF2-40B4-BE49-F238E27FC236}">
                <a16:creationId xmlns:a16="http://schemas.microsoft.com/office/drawing/2014/main" id="{628B67A4-02AE-D08D-CC88-01A11B8BB62E}"/>
              </a:ext>
            </a:extLst>
          </p:cNvPr>
          <p:cNvSpPr>
            <a:spLocks/>
          </p:cNvSpPr>
          <p:nvPr/>
        </p:nvSpPr>
        <p:spPr bwMode="auto">
          <a:xfrm>
            <a:off x="6294660" y="3306067"/>
            <a:ext cx="146373" cy="890977"/>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29" name="Freeform 171">
            <a:extLst>
              <a:ext uri="{FF2B5EF4-FFF2-40B4-BE49-F238E27FC236}">
                <a16:creationId xmlns:a16="http://schemas.microsoft.com/office/drawing/2014/main" id="{4A70B6F6-90D4-749A-9284-095752DE9045}"/>
              </a:ext>
            </a:extLst>
          </p:cNvPr>
          <p:cNvSpPr>
            <a:spLocks/>
          </p:cNvSpPr>
          <p:nvPr/>
        </p:nvSpPr>
        <p:spPr bwMode="auto">
          <a:xfrm>
            <a:off x="6144962" y="3307100"/>
            <a:ext cx="146373" cy="890977"/>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0" name="Freeform 172">
            <a:extLst>
              <a:ext uri="{FF2B5EF4-FFF2-40B4-BE49-F238E27FC236}">
                <a16:creationId xmlns:a16="http://schemas.microsoft.com/office/drawing/2014/main" id="{9490C4D0-D2AE-7054-C139-11CC347F0AC3}"/>
              </a:ext>
            </a:extLst>
          </p:cNvPr>
          <p:cNvSpPr>
            <a:spLocks/>
          </p:cNvSpPr>
          <p:nvPr/>
        </p:nvSpPr>
        <p:spPr bwMode="auto">
          <a:xfrm>
            <a:off x="5995263" y="3308134"/>
            <a:ext cx="146373" cy="890977"/>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1" name="Freeform 173">
            <a:extLst>
              <a:ext uri="{FF2B5EF4-FFF2-40B4-BE49-F238E27FC236}">
                <a16:creationId xmlns:a16="http://schemas.microsoft.com/office/drawing/2014/main" id="{CD62F71F-5CD4-C462-7F49-6813DD96E5EE}"/>
              </a:ext>
            </a:extLst>
          </p:cNvPr>
          <p:cNvSpPr>
            <a:spLocks/>
          </p:cNvSpPr>
          <p:nvPr/>
        </p:nvSpPr>
        <p:spPr bwMode="auto">
          <a:xfrm>
            <a:off x="5845564" y="3309168"/>
            <a:ext cx="146373" cy="890977"/>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2" name="Freeform 174">
            <a:extLst>
              <a:ext uri="{FF2B5EF4-FFF2-40B4-BE49-F238E27FC236}">
                <a16:creationId xmlns:a16="http://schemas.microsoft.com/office/drawing/2014/main" id="{A77605E5-11AD-C1AD-F4FC-E36CB0440496}"/>
              </a:ext>
            </a:extLst>
          </p:cNvPr>
          <p:cNvSpPr>
            <a:spLocks/>
          </p:cNvSpPr>
          <p:nvPr/>
        </p:nvSpPr>
        <p:spPr bwMode="auto">
          <a:xfrm>
            <a:off x="5695865" y="3310201"/>
            <a:ext cx="146373" cy="890977"/>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3" name="Freeform 175">
            <a:extLst>
              <a:ext uri="{FF2B5EF4-FFF2-40B4-BE49-F238E27FC236}">
                <a16:creationId xmlns:a16="http://schemas.microsoft.com/office/drawing/2014/main" id="{D1F7FAF2-5619-7F26-2899-6E639E5FA15D}"/>
              </a:ext>
            </a:extLst>
          </p:cNvPr>
          <p:cNvSpPr>
            <a:spLocks/>
          </p:cNvSpPr>
          <p:nvPr/>
        </p:nvSpPr>
        <p:spPr bwMode="auto">
          <a:xfrm>
            <a:off x="5546166" y="3311235"/>
            <a:ext cx="146373" cy="890977"/>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4" name="Freeform 176">
            <a:extLst>
              <a:ext uri="{FF2B5EF4-FFF2-40B4-BE49-F238E27FC236}">
                <a16:creationId xmlns:a16="http://schemas.microsoft.com/office/drawing/2014/main" id="{08E0D1EB-F095-031F-8803-DE44A3021E3B}"/>
              </a:ext>
            </a:extLst>
          </p:cNvPr>
          <p:cNvSpPr>
            <a:spLocks/>
          </p:cNvSpPr>
          <p:nvPr/>
        </p:nvSpPr>
        <p:spPr bwMode="auto">
          <a:xfrm>
            <a:off x="5010577" y="3305034"/>
            <a:ext cx="146373" cy="890977"/>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5" name="Freeform 177">
            <a:extLst>
              <a:ext uri="{FF2B5EF4-FFF2-40B4-BE49-F238E27FC236}">
                <a16:creationId xmlns:a16="http://schemas.microsoft.com/office/drawing/2014/main" id="{5CC21F03-EDDC-ADEC-3809-744457671D4D}"/>
              </a:ext>
            </a:extLst>
          </p:cNvPr>
          <p:cNvSpPr>
            <a:spLocks/>
          </p:cNvSpPr>
          <p:nvPr/>
        </p:nvSpPr>
        <p:spPr bwMode="auto">
          <a:xfrm>
            <a:off x="4864205" y="3306067"/>
            <a:ext cx="146373" cy="890977"/>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6" name="Freeform 178">
            <a:extLst>
              <a:ext uri="{FF2B5EF4-FFF2-40B4-BE49-F238E27FC236}">
                <a16:creationId xmlns:a16="http://schemas.microsoft.com/office/drawing/2014/main" id="{08E73CDB-F28B-6D53-E742-BA8022DD7D10}"/>
              </a:ext>
            </a:extLst>
          </p:cNvPr>
          <p:cNvSpPr>
            <a:spLocks/>
          </p:cNvSpPr>
          <p:nvPr/>
        </p:nvSpPr>
        <p:spPr bwMode="auto">
          <a:xfrm>
            <a:off x="4717832" y="3307100"/>
            <a:ext cx="146373" cy="890977"/>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7" name="Freeform 179">
            <a:extLst>
              <a:ext uri="{FF2B5EF4-FFF2-40B4-BE49-F238E27FC236}">
                <a16:creationId xmlns:a16="http://schemas.microsoft.com/office/drawing/2014/main" id="{F2E2EAAE-3B63-216F-CBA5-67C5CF14CF92}"/>
              </a:ext>
            </a:extLst>
          </p:cNvPr>
          <p:cNvSpPr>
            <a:spLocks/>
          </p:cNvSpPr>
          <p:nvPr/>
        </p:nvSpPr>
        <p:spPr bwMode="auto">
          <a:xfrm>
            <a:off x="4571460" y="3308134"/>
            <a:ext cx="146373" cy="890977"/>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8" name="Freeform 180">
            <a:extLst>
              <a:ext uri="{FF2B5EF4-FFF2-40B4-BE49-F238E27FC236}">
                <a16:creationId xmlns:a16="http://schemas.microsoft.com/office/drawing/2014/main" id="{53537763-7441-A739-F088-39F725CE7462}"/>
              </a:ext>
            </a:extLst>
          </p:cNvPr>
          <p:cNvSpPr>
            <a:spLocks/>
          </p:cNvSpPr>
          <p:nvPr/>
        </p:nvSpPr>
        <p:spPr bwMode="auto">
          <a:xfrm>
            <a:off x="4425088" y="3309168"/>
            <a:ext cx="146373" cy="890977"/>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9" name="Freeform 181">
            <a:extLst>
              <a:ext uri="{FF2B5EF4-FFF2-40B4-BE49-F238E27FC236}">
                <a16:creationId xmlns:a16="http://schemas.microsoft.com/office/drawing/2014/main" id="{09C6F0CD-0919-6245-8960-09DFB6B84F8F}"/>
              </a:ext>
            </a:extLst>
          </p:cNvPr>
          <p:cNvSpPr>
            <a:spLocks/>
          </p:cNvSpPr>
          <p:nvPr/>
        </p:nvSpPr>
        <p:spPr bwMode="auto">
          <a:xfrm>
            <a:off x="4278716" y="3310201"/>
            <a:ext cx="146373" cy="890977"/>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40" name="Freeform 182">
            <a:extLst>
              <a:ext uri="{FF2B5EF4-FFF2-40B4-BE49-F238E27FC236}">
                <a16:creationId xmlns:a16="http://schemas.microsoft.com/office/drawing/2014/main" id="{46A3BFB0-C58A-D2F9-111E-0C2575AB0110}"/>
              </a:ext>
            </a:extLst>
          </p:cNvPr>
          <p:cNvSpPr>
            <a:spLocks/>
          </p:cNvSpPr>
          <p:nvPr/>
        </p:nvSpPr>
        <p:spPr bwMode="auto">
          <a:xfrm>
            <a:off x="4132343" y="3311235"/>
            <a:ext cx="146373" cy="890977"/>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41" name="Freeform 184">
            <a:extLst>
              <a:ext uri="{FF2B5EF4-FFF2-40B4-BE49-F238E27FC236}">
                <a16:creationId xmlns:a16="http://schemas.microsoft.com/office/drawing/2014/main" id="{9BDEBAA9-BE08-B407-AC49-435DC3A80C2F}"/>
              </a:ext>
            </a:extLst>
          </p:cNvPr>
          <p:cNvSpPr>
            <a:spLocks/>
          </p:cNvSpPr>
          <p:nvPr/>
        </p:nvSpPr>
        <p:spPr bwMode="auto">
          <a:xfrm>
            <a:off x="3839599" y="3313302"/>
            <a:ext cx="146373" cy="890977"/>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42" name="Freeform 185">
            <a:extLst>
              <a:ext uri="{FF2B5EF4-FFF2-40B4-BE49-F238E27FC236}">
                <a16:creationId xmlns:a16="http://schemas.microsoft.com/office/drawing/2014/main" id="{DE1B8C6B-D71F-4434-6977-187663B78AE4}"/>
              </a:ext>
            </a:extLst>
          </p:cNvPr>
          <p:cNvSpPr>
            <a:spLocks/>
          </p:cNvSpPr>
          <p:nvPr/>
        </p:nvSpPr>
        <p:spPr bwMode="auto">
          <a:xfrm>
            <a:off x="3693227" y="3314335"/>
            <a:ext cx="146373" cy="890977"/>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43" name="Freeform 186">
            <a:extLst>
              <a:ext uri="{FF2B5EF4-FFF2-40B4-BE49-F238E27FC236}">
                <a16:creationId xmlns:a16="http://schemas.microsoft.com/office/drawing/2014/main" id="{37F4D988-D519-2007-A89C-10EC079D0518}"/>
              </a:ext>
            </a:extLst>
          </p:cNvPr>
          <p:cNvSpPr>
            <a:spLocks/>
          </p:cNvSpPr>
          <p:nvPr/>
        </p:nvSpPr>
        <p:spPr bwMode="auto">
          <a:xfrm>
            <a:off x="3546854" y="3315369"/>
            <a:ext cx="146373" cy="890977"/>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44" name="Freeform 188">
            <a:extLst>
              <a:ext uri="{FF2B5EF4-FFF2-40B4-BE49-F238E27FC236}">
                <a16:creationId xmlns:a16="http://schemas.microsoft.com/office/drawing/2014/main" id="{471D70C6-7866-1B50-E466-ADAB13B4D00C}"/>
              </a:ext>
            </a:extLst>
          </p:cNvPr>
          <p:cNvSpPr>
            <a:spLocks/>
          </p:cNvSpPr>
          <p:nvPr/>
        </p:nvSpPr>
        <p:spPr bwMode="auto">
          <a:xfrm>
            <a:off x="3190903" y="3317437"/>
            <a:ext cx="146373" cy="890977"/>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45" name="Freeform 189">
            <a:extLst>
              <a:ext uri="{FF2B5EF4-FFF2-40B4-BE49-F238E27FC236}">
                <a16:creationId xmlns:a16="http://schemas.microsoft.com/office/drawing/2014/main" id="{653A70E4-EFCE-3C36-7C47-A15314CBE3A2}"/>
              </a:ext>
            </a:extLst>
          </p:cNvPr>
          <p:cNvSpPr>
            <a:spLocks/>
          </p:cNvSpPr>
          <p:nvPr/>
        </p:nvSpPr>
        <p:spPr bwMode="auto">
          <a:xfrm>
            <a:off x="3044531" y="3318470"/>
            <a:ext cx="146373" cy="890977"/>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46" name="Freeform 190">
            <a:extLst>
              <a:ext uri="{FF2B5EF4-FFF2-40B4-BE49-F238E27FC236}">
                <a16:creationId xmlns:a16="http://schemas.microsoft.com/office/drawing/2014/main" id="{B04DE1C4-1A0B-36D3-C300-F9E441BBB5B5}"/>
              </a:ext>
            </a:extLst>
          </p:cNvPr>
          <p:cNvSpPr>
            <a:spLocks/>
          </p:cNvSpPr>
          <p:nvPr/>
        </p:nvSpPr>
        <p:spPr bwMode="auto">
          <a:xfrm>
            <a:off x="2898159" y="3319504"/>
            <a:ext cx="146373" cy="890977"/>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47" name="Text Box 192">
            <a:extLst>
              <a:ext uri="{FF2B5EF4-FFF2-40B4-BE49-F238E27FC236}">
                <a16:creationId xmlns:a16="http://schemas.microsoft.com/office/drawing/2014/main" id="{F9E82C49-80E5-A832-EEB4-8043D15A0E35}"/>
              </a:ext>
            </a:extLst>
          </p:cNvPr>
          <p:cNvSpPr txBox="1">
            <a:spLocks noChangeArrowheads="1"/>
          </p:cNvSpPr>
          <p:nvPr/>
        </p:nvSpPr>
        <p:spPr bwMode="auto">
          <a:xfrm>
            <a:off x="2603752" y="4210482"/>
            <a:ext cx="49084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a:latin typeface="微软雅黑" pitchFamily="34" charset="-122"/>
                <a:ea typeface="微软雅黑" pitchFamily="34" charset="-122"/>
              </a:rPr>
              <a:t>~40</a:t>
            </a:r>
          </a:p>
        </p:txBody>
      </p:sp>
      <p:sp>
        <p:nvSpPr>
          <p:cNvPr id="48" name="Text Box 193">
            <a:extLst>
              <a:ext uri="{FF2B5EF4-FFF2-40B4-BE49-F238E27FC236}">
                <a16:creationId xmlns:a16="http://schemas.microsoft.com/office/drawing/2014/main" id="{2CC73D53-8F2B-24D4-5269-B288026B27D9}"/>
              </a:ext>
            </a:extLst>
          </p:cNvPr>
          <p:cNvSpPr txBox="1">
            <a:spLocks noChangeArrowheads="1"/>
          </p:cNvSpPr>
          <p:nvPr/>
        </p:nvSpPr>
        <p:spPr bwMode="auto">
          <a:xfrm>
            <a:off x="3728157" y="4210482"/>
            <a:ext cx="58541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~138</a:t>
            </a:r>
          </a:p>
        </p:txBody>
      </p:sp>
      <p:sp>
        <p:nvSpPr>
          <p:cNvPr id="49" name="Text Box 195">
            <a:extLst>
              <a:ext uri="{FF2B5EF4-FFF2-40B4-BE49-F238E27FC236}">
                <a16:creationId xmlns:a16="http://schemas.microsoft.com/office/drawing/2014/main" id="{FF13BE43-66DD-DA50-2E13-BABDFB61F013}"/>
              </a:ext>
            </a:extLst>
          </p:cNvPr>
          <p:cNvSpPr txBox="1">
            <a:spLocks noChangeArrowheads="1"/>
          </p:cNvSpPr>
          <p:nvPr/>
        </p:nvSpPr>
        <p:spPr bwMode="auto">
          <a:xfrm>
            <a:off x="6355683" y="4210482"/>
            <a:ext cx="67999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~1100</a:t>
            </a:r>
          </a:p>
        </p:txBody>
      </p:sp>
      <p:sp>
        <p:nvSpPr>
          <p:cNvPr id="51" name="矩形 50">
            <a:extLst>
              <a:ext uri="{FF2B5EF4-FFF2-40B4-BE49-F238E27FC236}">
                <a16:creationId xmlns:a16="http://schemas.microsoft.com/office/drawing/2014/main" id="{24F73320-569B-20D2-47E9-827A8E892212}"/>
              </a:ext>
            </a:extLst>
          </p:cNvPr>
          <p:cNvSpPr/>
          <p:nvPr/>
        </p:nvSpPr>
        <p:spPr>
          <a:xfrm>
            <a:off x="3373252" y="4478291"/>
            <a:ext cx="218361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itchFamily="34" charset="-122"/>
                <a:ea typeface="微软雅黑" pitchFamily="34" charset="-122"/>
              </a:rPr>
              <a:t>DMT </a:t>
            </a:r>
            <a:r>
              <a:rPr lang="zh-CN" altLang="en-US" sz="1600" b="1" dirty="0">
                <a:latin typeface="微软雅黑" pitchFamily="34" charset="-122"/>
                <a:ea typeface="微软雅黑" pitchFamily="34" charset="-122"/>
              </a:rPr>
              <a:t>技术的频谱分布</a:t>
            </a:r>
          </a:p>
        </p:txBody>
      </p:sp>
    </p:spTree>
    <p:extLst>
      <p:ext uri="{BB962C8B-B14F-4D97-AF65-F5344CB8AC3E}">
        <p14:creationId xmlns:p14="http://schemas.microsoft.com/office/powerpoint/2010/main" val="42557482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sz="quarter" idx="10"/>
          </p:nvPr>
        </p:nvSpPr>
        <p:spPr>
          <a:xfrm>
            <a:off x="466343" y="899999"/>
            <a:ext cx="8129017" cy="3600000"/>
          </a:xfrm>
        </p:spPr>
        <p:txBody>
          <a:bodyPr/>
          <a:lstStyle/>
          <a:p>
            <a:r>
              <a:rPr lang="en-US" altLang="zh-CN" dirty="0"/>
              <a:t>HFC (Hybrid Fiber Coax) </a:t>
            </a:r>
            <a:r>
              <a:rPr lang="zh-CN" altLang="en-US" dirty="0"/>
              <a:t>网基于有线电视网 </a:t>
            </a:r>
            <a:r>
              <a:rPr lang="en-US" altLang="zh-CN" dirty="0"/>
              <a:t>CATV </a:t>
            </a:r>
            <a:r>
              <a:rPr lang="zh-CN" altLang="en-US" dirty="0"/>
              <a:t>网。</a:t>
            </a:r>
            <a:endParaRPr lang="en-US" altLang="zh-CN" dirty="0"/>
          </a:p>
          <a:p>
            <a:r>
              <a:rPr lang="zh-CN" altLang="en-US" dirty="0"/>
              <a:t>改造：把原有线电视网中的同轴电缆主干部分改换为光纤</a:t>
            </a:r>
          </a:p>
          <a:p>
            <a:endParaRPr lang="zh-CN" altLang="en-US" dirty="0"/>
          </a:p>
        </p:txBody>
      </p:sp>
      <p:sp>
        <p:nvSpPr>
          <p:cNvPr id="4" name="文本占位符 3"/>
          <p:cNvSpPr>
            <a:spLocks noGrp="1"/>
          </p:cNvSpPr>
          <p:nvPr>
            <p:ph type="body" sz="quarter" idx="11"/>
          </p:nvPr>
        </p:nvSpPr>
        <p:spPr>
          <a:xfrm>
            <a:off x="1332000" y="360000"/>
            <a:ext cx="6480000" cy="354012"/>
          </a:xfrm>
        </p:spPr>
        <p:txBody>
          <a:bodyPr>
            <a:normAutofit fontScale="92500" lnSpcReduction="10000"/>
          </a:bodyPr>
          <a:lstStyle/>
          <a:p>
            <a:r>
              <a:rPr lang="en-US" altLang="zh-CN" dirty="0"/>
              <a:t>2.6.3  </a:t>
            </a:r>
            <a:r>
              <a:rPr lang="zh-CN" altLang="en-US" dirty="0"/>
              <a:t>光纤同轴混合网（</a:t>
            </a:r>
            <a:r>
              <a:rPr lang="en-US" altLang="zh-CN" dirty="0"/>
              <a:t>HFC </a:t>
            </a:r>
            <a:r>
              <a:rPr lang="zh-CN" altLang="en-US" dirty="0"/>
              <a:t>网）</a:t>
            </a:r>
          </a:p>
        </p:txBody>
      </p:sp>
      <p:sp>
        <p:nvSpPr>
          <p:cNvPr id="7" name="Freeform 173"/>
          <p:cNvSpPr>
            <a:spLocks/>
          </p:cNvSpPr>
          <p:nvPr/>
        </p:nvSpPr>
        <p:spPr bwMode="auto">
          <a:xfrm>
            <a:off x="4737611" y="3356845"/>
            <a:ext cx="47555" cy="177451"/>
          </a:xfrm>
          <a:custGeom>
            <a:avLst/>
            <a:gdLst>
              <a:gd name="T0" fmla="*/ 30 w 56"/>
              <a:gd name="T1" fmla="*/ 0 h 357"/>
              <a:gd name="T2" fmla="*/ 3 w 56"/>
              <a:gd name="T3" fmla="*/ 51 h 357"/>
              <a:gd name="T4" fmla="*/ 9 w 56"/>
              <a:gd name="T5" fmla="*/ 123 h 357"/>
              <a:gd name="T6" fmla="*/ 33 w 56"/>
              <a:gd name="T7" fmla="*/ 189 h 357"/>
              <a:gd name="T8" fmla="*/ 54 w 56"/>
              <a:gd name="T9" fmla="*/ 246 h 357"/>
              <a:gd name="T10" fmla="*/ 48 w 56"/>
              <a:gd name="T11" fmla="*/ 300 h 357"/>
              <a:gd name="T12" fmla="*/ 30 w 56"/>
              <a:gd name="T13" fmla="*/ 357 h 357"/>
            </a:gdLst>
            <a:ahLst/>
            <a:cxnLst>
              <a:cxn ang="0">
                <a:pos x="T0" y="T1"/>
              </a:cxn>
              <a:cxn ang="0">
                <a:pos x="T2" y="T3"/>
              </a:cxn>
              <a:cxn ang="0">
                <a:pos x="T4" y="T5"/>
              </a:cxn>
              <a:cxn ang="0">
                <a:pos x="T6" y="T7"/>
              </a:cxn>
              <a:cxn ang="0">
                <a:pos x="T8" y="T9"/>
              </a:cxn>
              <a:cxn ang="0">
                <a:pos x="T10" y="T11"/>
              </a:cxn>
              <a:cxn ang="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8" name="Freeform 175"/>
          <p:cNvSpPr>
            <a:spLocks/>
          </p:cNvSpPr>
          <p:nvPr/>
        </p:nvSpPr>
        <p:spPr bwMode="auto">
          <a:xfrm>
            <a:off x="5082863" y="3356845"/>
            <a:ext cx="46605" cy="177451"/>
          </a:xfrm>
          <a:custGeom>
            <a:avLst/>
            <a:gdLst>
              <a:gd name="T0" fmla="*/ 30 w 56"/>
              <a:gd name="T1" fmla="*/ 0 h 357"/>
              <a:gd name="T2" fmla="*/ 3 w 56"/>
              <a:gd name="T3" fmla="*/ 51 h 357"/>
              <a:gd name="T4" fmla="*/ 9 w 56"/>
              <a:gd name="T5" fmla="*/ 123 h 357"/>
              <a:gd name="T6" fmla="*/ 33 w 56"/>
              <a:gd name="T7" fmla="*/ 189 h 357"/>
              <a:gd name="T8" fmla="*/ 54 w 56"/>
              <a:gd name="T9" fmla="*/ 246 h 357"/>
              <a:gd name="T10" fmla="*/ 48 w 56"/>
              <a:gd name="T11" fmla="*/ 300 h 357"/>
              <a:gd name="T12" fmla="*/ 30 w 56"/>
              <a:gd name="T13" fmla="*/ 357 h 357"/>
            </a:gdLst>
            <a:ahLst/>
            <a:cxnLst>
              <a:cxn ang="0">
                <a:pos x="T0" y="T1"/>
              </a:cxn>
              <a:cxn ang="0">
                <a:pos x="T2" y="T3"/>
              </a:cxn>
              <a:cxn ang="0">
                <a:pos x="T4" y="T5"/>
              </a:cxn>
              <a:cxn ang="0">
                <a:pos x="T6" y="T7"/>
              </a:cxn>
              <a:cxn ang="0">
                <a:pos x="T8" y="T9"/>
              </a:cxn>
              <a:cxn ang="0">
                <a:pos x="T10" y="T11"/>
              </a:cxn>
              <a:cxn ang="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9" name="Freeform 237"/>
          <p:cNvSpPr>
            <a:spLocks/>
          </p:cNvSpPr>
          <p:nvPr/>
        </p:nvSpPr>
        <p:spPr bwMode="auto">
          <a:xfrm>
            <a:off x="4737611" y="2385965"/>
            <a:ext cx="47555" cy="177451"/>
          </a:xfrm>
          <a:custGeom>
            <a:avLst/>
            <a:gdLst>
              <a:gd name="T0" fmla="*/ 30 w 56"/>
              <a:gd name="T1" fmla="*/ 0 h 357"/>
              <a:gd name="T2" fmla="*/ 3 w 56"/>
              <a:gd name="T3" fmla="*/ 51 h 357"/>
              <a:gd name="T4" fmla="*/ 9 w 56"/>
              <a:gd name="T5" fmla="*/ 123 h 357"/>
              <a:gd name="T6" fmla="*/ 33 w 56"/>
              <a:gd name="T7" fmla="*/ 189 h 357"/>
              <a:gd name="T8" fmla="*/ 54 w 56"/>
              <a:gd name="T9" fmla="*/ 246 h 357"/>
              <a:gd name="T10" fmla="*/ 48 w 56"/>
              <a:gd name="T11" fmla="*/ 300 h 357"/>
              <a:gd name="T12" fmla="*/ 30 w 56"/>
              <a:gd name="T13" fmla="*/ 357 h 357"/>
            </a:gdLst>
            <a:ahLst/>
            <a:cxnLst>
              <a:cxn ang="0">
                <a:pos x="T0" y="T1"/>
              </a:cxn>
              <a:cxn ang="0">
                <a:pos x="T2" y="T3"/>
              </a:cxn>
              <a:cxn ang="0">
                <a:pos x="T4" y="T5"/>
              </a:cxn>
              <a:cxn ang="0">
                <a:pos x="T6" y="T7"/>
              </a:cxn>
              <a:cxn ang="0">
                <a:pos x="T8" y="T9"/>
              </a:cxn>
              <a:cxn ang="0">
                <a:pos x="T10" y="T11"/>
              </a:cxn>
              <a:cxn ang="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10" name="Freeform 238"/>
          <p:cNvSpPr>
            <a:spLocks/>
          </p:cNvSpPr>
          <p:nvPr/>
        </p:nvSpPr>
        <p:spPr bwMode="auto">
          <a:xfrm>
            <a:off x="5428117" y="2385965"/>
            <a:ext cx="46604" cy="177451"/>
          </a:xfrm>
          <a:custGeom>
            <a:avLst/>
            <a:gdLst>
              <a:gd name="T0" fmla="*/ 30 w 56"/>
              <a:gd name="T1" fmla="*/ 0 h 357"/>
              <a:gd name="T2" fmla="*/ 3 w 56"/>
              <a:gd name="T3" fmla="*/ 51 h 357"/>
              <a:gd name="T4" fmla="*/ 9 w 56"/>
              <a:gd name="T5" fmla="*/ 123 h 357"/>
              <a:gd name="T6" fmla="*/ 33 w 56"/>
              <a:gd name="T7" fmla="*/ 189 h 357"/>
              <a:gd name="T8" fmla="*/ 54 w 56"/>
              <a:gd name="T9" fmla="*/ 246 h 357"/>
              <a:gd name="T10" fmla="*/ 48 w 56"/>
              <a:gd name="T11" fmla="*/ 300 h 357"/>
              <a:gd name="T12" fmla="*/ 30 w 56"/>
              <a:gd name="T13" fmla="*/ 357 h 357"/>
            </a:gdLst>
            <a:ahLst/>
            <a:cxnLst>
              <a:cxn ang="0">
                <a:pos x="T0" y="T1"/>
              </a:cxn>
              <a:cxn ang="0">
                <a:pos x="T2" y="T3"/>
              </a:cxn>
              <a:cxn ang="0">
                <a:pos x="T4" y="T5"/>
              </a:cxn>
              <a:cxn ang="0">
                <a:pos x="T6" y="T7"/>
              </a:cxn>
              <a:cxn ang="0">
                <a:pos x="T8" y="T9"/>
              </a:cxn>
              <a:cxn ang="0">
                <a:pos x="T10" y="T11"/>
              </a:cxn>
              <a:cxn ang="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11" name="Freeform 239"/>
          <p:cNvSpPr>
            <a:spLocks/>
          </p:cNvSpPr>
          <p:nvPr/>
        </p:nvSpPr>
        <p:spPr bwMode="auto">
          <a:xfrm>
            <a:off x="5082863" y="2385965"/>
            <a:ext cx="46605" cy="177451"/>
          </a:xfrm>
          <a:custGeom>
            <a:avLst/>
            <a:gdLst>
              <a:gd name="T0" fmla="*/ 30 w 56"/>
              <a:gd name="T1" fmla="*/ 0 h 357"/>
              <a:gd name="T2" fmla="*/ 3 w 56"/>
              <a:gd name="T3" fmla="*/ 51 h 357"/>
              <a:gd name="T4" fmla="*/ 9 w 56"/>
              <a:gd name="T5" fmla="*/ 123 h 357"/>
              <a:gd name="T6" fmla="*/ 33 w 56"/>
              <a:gd name="T7" fmla="*/ 189 h 357"/>
              <a:gd name="T8" fmla="*/ 54 w 56"/>
              <a:gd name="T9" fmla="*/ 246 h 357"/>
              <a:gd name="T10" fmla="*/ 48 w 56"/>
              <a:gd name="T11" fmla="*/ 300 h 357"/>
              <a:gd name="T12" fmla="*/ 30 w 56"/>
              <a:gd name="T13" fmla="*/ 357 h 357"/>
            </a:gdLst>
            <a:ahLst/>
            <a:cxnLst>
              <a:cxn ang="0">
                <a:pos x="T0" y="T1"/>
              </a:cxn>
              <a:cxn ang="0">
                <a:pos x="T2" y="T3"/>
              </a:cxn>
              <a:cxn ang="0">
                <a:pos x="T4" y="T5"/>
              </a:cxn>
              <a:cxn ang="0">
                <a:pos x="T6" y="T7"/>
              </a:cxn>
              <a:cxn ang="0">
                <a:pos x="T8" y="T9"/>
              </a:cxn>
              <a:cxn ang="0">
                <a:pos x="T10" y="T11"/>
              </a:cxn>
              <a:cxn ang="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12" name="Freeform 174"/>
          <p:cNvSpPr>
            <a:spLocks/>
          </p:cNvSpPr>
          <p:nvPr/>
        </p:nvSpPr>
        <p:spPr bwMode="auto">
          <a:xfrm>
            <a:off x="5790488" y="2893841"/>
            <a:ext cx="46605" cy="177451"/>
          </a:xfrm>
          <a:custGeom>
            <a:avLst/>
            <a:gdLst>
              <a:gd name="T0" fmla="*/ 30 w 56"/>
              <a:gd name="T1" fmla="*/ 0 h 357"/>
              <a:gd name="T2" fmla="*/ 3 w 56"/>
              <a:gd name="T3" fmla="*/ 51 h 357"/>
              <a:gd name="T4" fmla="*/ 9 w 56"/>
              <a:gd name="T5" fmla="*/ 123 h 357"/>
              <a:gd name="T6" fmla="*/ 33 w 56"/>
              <a:gd name="T7" fmla="*/ 189 h 357"/>
              <a:gd name="T8" fmla="*/ 54 w 56"/>
              <a:gd name="T9" fmla="*/ 246 h 357"/>
              <a:gd name="T10" fmla="*/ 48 w 56"/>
              <a:gd name="T11" fmla="*/ 300 h 357"/>
              <a:gd name="T12" fmla="*/ 30 w 56"/>
              <a:gd name="T13" fmla="*/ 357 h 357"/>
            </a:gdLst>
            <a:ahLst/>
            <a:cxnLst>
              <a:cxn ang="0">
                <a:pos x="T0" y="T1"/>
              </a:cxn>
              <a:cxn ang="0">
                <a:pos x="T2" y="T3"/>
              </a:cxn>
              <a:cxn ang="0">
                <a:pos x="T4" y="T5"/>
              </a:cxn>
              <a:cxn ang="0">
                <a:pos x="T6" y="T7"/>
              </a:cxn>
              <a:cxn ang="0">
                <a:pos x="T8" y="T9"/>
              </a:cxn>
              <a:cxn ang="0">
                <a:pos x="T10" y="T11"/>
              </a:cxn>
              <a:cxn ang="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13" name="Freeform 244"/>
          <p:cNvSpPr>
            <a:spLocks/>
          </p:cNvSpPr>
          <p:nvPr/>
        </p:nvSpPr>
        <p:spPr bwMode="auto">
          <a:xfrm>
            <a:off x="4737611" y="2894861"/>
            <a:ext cx="47555" cy="177451"/>
          </a:xfrm>
          <a:custGeom>
            <a:avLst/>
            <a:gdLst>
              <a:gd name="T0" fmla="*/ 30 w 56"/>
              <a:gd name="T1" fmla="*/ 0 h 357"/>
              <a:gd name="T2" fmla="*/ 3 w 56"/>
              <a:gd name="T3" fmla="*/ 51 h 357"/>
              <a:gd name="T4" fmla="*/ 9 w 56"/>
              <a:gd name="T5" fmla="*/ 123 h 357"/>
              <a:gd name="T6" fmla="*/ 33 w 56"/>
              <a:gd name="T7" fmla="*/ 189 h 357"/>
              <a:gd name="T8" fmla="*/ 54 w 56"/>
              <a:gd name="T9" fmla="*/ 246 h 357"/>
              <a:gd name="T10" fmla="*/ 48 w 56"/>
              <a:gd name="T11" fmla="*/ 300 h 357"/>
              <a:gd name="T12" fmla="*/ 30 w 56"/>
              <a:gd name="T13" fmla="*/ 357 h 357"/>
            </a:gdLst>
            <a:ahLst/>
            <a:cxnLst>
              <a:cxn ang="0">
                <a:pos x="T0" y="T1"/>
              </a:cxn>
              <a:cxn ang="0">
                <a:pos x="T2" y="T3"/>
              </a:cxn>
              <a:cxn ang="0">
                <a:pos x="T4" y="T5"/>
              </a:cxn>
              <a:cxn ang="0">
                <a:pos x="T6" y="T7"/>
              </a:cxn>
              <a:cxn ang="0">
                <a:pos x="T8" y="T9"/>
              </a:cxn>
              <a:cxn ang="0">
                <a:pos x="T10" y="T11"/>
              </a:cxn>
              <a:cxn ang="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14" name="Freeform 245"/>
          <p:cNvSpPr>
            <a:spLocks/>
          </p:cNvSpPr>
          <p:nvPr/>
        </p:nvSpPr>
        <p:spPr bwMode="auto">
          <a:xfrm>
            <a:off x="5428117" y="2894861"/>
            <a:ext cx="46604" cy="177451"/>
          </a:xfrm>
          <a:custGeom>
            <a:avLst/>
            <a:gdLst>
              <a:gd name="T0" fmla="*/ 30 w 56"/>
              <a:gd name="T1" fmla="*/ 0 h 357"/>
              <a:gd name="T2" fmla="*/ 3 w 56"/>
              <a:gd name="T3" fmla="*/ 51 h 357"/>
              <a:gd name="T4" fmla="*/ 9 w 56"/>
              <a:gd name="T5" fmla="*/ 123 h 357"/>
              <a:gd name="T6" fmla="*/ 33 w 56"/>
              <a:gd name="T7" fmla="*/ 189 h 357"/>
              <a:gd name="T8" fmla="*/ 54 w 56"/>
              <a:gd name="T9" fmla="*/ 246 h 357"/>
              <a:gd name="T10" fmla="*/ 48 w 56"/>
              <a:gd name="T11" fmla="*/ 300 h 357"/>
              <a:gd name="T12" fmla="*/ 30 w 56"/>
              <a:gd name="T13" fmla="*/ 357 h 357"/>
            </a:gdLst>
            <a:ahLst/>
            <a:cxnLst>
              <a:cxn ang="0">
                <a:pos x="T0" y="T1"/>
              </a:cxn>
              <a:cxn ang="0">
                <a:pos x="T2" y="T3"/>
              </a:cxn>
              <a:cxn ang="0">
                <a:pos x="T4" y="T5"/>
              </a:cxn>
              <a:cxn ang="0">
                <a:pos x="T6" y="T7"/>
              </a:cxn>
              <a:cxn ang="0">
                <a:pos x="T8" y="T9"/>
              </a:cxn>
              <a:cxn ang="0">
                <a:pos x="T10" y="T11"/>
              </a:cxn>
              <a:cxn ang="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15" name="Freeform 246"/>
          <p:cNvSpPr>
            <a:spLocks/>
          </p:cNvSpPr>
          <p:nvPr/>
        </p:nvSpPr>
        <p:spPr bwMode="auto">
          <a:xfrm>
            <a:off x="5082863" y="2894861"/>
            <a:ext cx="46605" cy="177451"/>
          </a:xfrm>
          <a:custGeom>
            <a:avLst/>
            <a:gdLst>
              <a:gd name="T0" fmla="*/ 30 w 56"/>
              <a:gd name="T1" fmla="*/ 0 h 357"/>
              <a:gd name="T2" fmla="*/ 3 w 56"/>
              <a:gd name="T3" fmla="*/ 51 h 357"/>
              <a:gd name="T4" fmla="*/ 9 w 56"/>
              <a:gd name="T5" fmla="*/ 123 h 357"/>
              <a:gd name="T6" fmla="*/ 33 w 56"/>
              <a:gd name="T7" fmla="*/ 189 h 357"/>
              <a:gd name="T8" fmla="*/ 54 w 56"/>
              <a:gd name="T9" fmla="*/ 246 h 357"/>
              <a:gd name="T10" fmla="*/ 48 w 56"/>
              <a:gd name="T11" fmla="*/ 300 h 357"/>
              <a:gd name="T12" fmla="*/ 30 w 56"/>
              <a:gd name="T13" fmla="*/ 357 h 357"/>
            </a:gdLst>
            <a:ahLst/>
            <a:cxnLst>
              <a:cxn ang="0">
                <a:pos x="T0" y="T1"/>
              </a:cxn>
              <a:cxn ang="0">
                <a:pos x="T2" y="T3"/>
              </a:cxn>
              <a:cxn ang="0">
                <a:pos x="T4" y="T5"/>
              </a:cxn>
              <a:cxn ang="0">
                <a:pos x="T6" y="T7"/>
              </a:cxn>
              <a:cxn ang="0">
                <a:pos x="T8" y="T9"/>
              </a:cxn>
              <a:cxn ang="0">
                <a:pos x="T10" y="T11"/>
              </a:cxn>
              <a:cxn ang="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16" name="Freeform 249"/>
          <p:cNvSpPr>
            <a:spLocks/>
          </p:cNvSpPr>
          <p:nvPr/>
        </p:nvSpPr>
        <p:spPr bwMode="auto">
          <a:xfrm>
            <a:off x="6135741" y="2893841"/>
            <a:ext cx="46604" cy="177451"/>
          </a:xfrm>
          <a:custGeom>
            <a:avLst/>
            <a:gdLst>
              <a:gd name="T0" fmla="*/ 30 w 56"/>
              <a:gd name="T1" fmla="*/ 0 h 357"/>
              <a:gd name="T2" fmla="*/ 3 w 56"/>
              <a:gd name="T3" fmla="*/ 51 h 357"/>
              <a:gd name="T4" fmla="*/ 9 w 56"/>
              <a:gd name="T5" fmla="*/ 123 h 357"/>
              <a:gd name="T6" fmla="*/ 33 w 56"/>
              <a:gd name="T7" fmla="*/ 189 h 357"/>
              <a:gd name="T8" fmla="*/ 54 w 56"/>
              <a:gd name="T9" fmla="*/ 246 h 357"/>
              <a:gd name="T10" fmla="*/ 48 w 56"/>
              <a:gd name="T11" fmla="*/ 300 h 357"/>
              <a:gd name="T12" fmla="*/ 30 w 56"/>
              <a:gd name="T13" fmla="*/ 357 h 357"/>
            </a:gdLst>
            <a:ahLst/>
            <a:cxnLst>
              <a:cxn ang="0">
                <a:pos x="T0" y="T1"/>
              </a:cxn>
              <a:cxn ang="0">
                <a:pos x="T2" y="T3"/>
              </a:cxn>
              <a:cxn ang="0">
                <a:pos x="T4" y="T5"/>
              </a:cxn>
              <a:cxn ang="0">
                <a:pos x="T6" y="T7"/>
              </a:cxn>
              <a:cxn ang="0">
                <a:pos x="T8" y="T9"/>
              </a:cxn>
              <a:cxn ang="0">
                <a:pos x="T10" y="T11"/>
              </a:cxn>
              <a:cxn ang="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17" name="Line 155"/>
          <p:cNvSpPr>
            <a:spLocks noChangeShapeType="1"/>
          </p:cNvSpPr>
          <p:nvPr/>
        </p:nvSpPr>
        <p:spPr bwMode="auto">
          <a:xfrm>
            <a:off x="3444103" y="3125343"/>
            <a:ext cx="905456" cy="416091"/>
          </a:xfrm>
          <a:prstGeom prst="line">
            <a:avLst/>
          </a:prstGeom>
          <a:noFill/>
          <a:ln w="38100" cmpd="dbl">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18" name="Line 156"/>
          <p:cNvSpPr>
            <a:spLocks noChangeShapeType="1"/>
          </p:cNvSpPr>
          <p:nvPr/>
        </p:nvSpPr>
        <p:spPr bwMode="auto">
          <a:xfrm>
            <a:off x="3486902" y="3079450"/>
            <a:ext cx="862656" cy="0"/>
          </a:xfrm>
          <a:prstGeom prst="line">
            <a:avLst/>
          </a:prstGeom>
          <a:noFill/>
          <a:ln w="38100" cmpd="dbl">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19" name="Line 157"/>
          <p:cNvSpPr>
            <a:spLocks noChangeShapeType="1"/>
          </p:cNvSpPr>
          <p:nvPr/>
        </p:nvSpPr>
        <p:spPr bwMode="auto">
          <a:xfrm flipV="1">
            <a:off x="3486902" y="2570554"/>
            <a:ext cx="862656" cy="461984"/>
          </a:xfrm>
          <a:prstGeom prst="line">
            <a:avLst/>
          </a:prstGeom>
          <a:noFill/>
          <a:ln w="38100" cmpd="dbl">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20" name="Line 158"/>
          <p:cNvSpPr>
            <a:spLocks noChangeShapeType="1"/>
          </p:cNvSpPr>
          <p:nvPr/>
        </p:nvSpPr>
        <p:spPr bwMode="auto">
          <a:xfrm flipH="1" flipV="1">
            <a:off x="2667046" y="3125343"/>
            <a:ext cx="388052" cy="416091"/>
          </a:xfrm>
          <a:prstGeom prst="line">
            <a:avLst/>
          </a:prstGeom>
          <a:noFill/>
          <a:ln w="76200" cmpd="tri">
            <a:solidFill>
              <a:srgbClr val="0066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21" name="Line 159"/>
          <p:cNvSpPr>
            <a:spLocks noChangeShapeType="1"/>
          </p:cNvSpPr>
          <p:nvPr/>
        </p:nvSpPr>
        <p:spPr bwMode="auto">
          <a:xfrm flipV="1">
            <a:off x="2753598" y="2570554"/>
            <a:ext cx="388052" cy="370199"/>
          </a:xfrm>
          <a:prstGeom prst="line">
            <a:avLst/>
          </a:prstGeom>
          <a:noFill/>
          <a:ln w="76200" cmpd="tri">
            <a:solidFill>
              <a:srgbClr val="0066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22" name="Line 160"/>
          <p:cNvSpPr>
            <a:spLocks noChangeShapeType="1"/>
          </p:cNvSpPr>
          <p:nvPr/>
        </p:nvSpPr>
        <p:spPr bwMode="auto">
          <a:xfrm flipV="1">
            <a:off x="2753598" y="3079450"/>
            <a:ext cx="646754" cy="0"/>
          </a:xfrm>
          <a:prstGeom prst="line">
            <a:avLst/>
          </a:prstGeom>
          <a:noFill/>
          <a:ln w="76200" cmpd="tri">
            <a:solidFill>
              <a:srgbClr val="0066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23" name="AutoShape 161"/>
          <p:cNvSpPr>
            <a:spLocks noChangeArrowheads="1"/>
          </p:cNvSpPr>
          <p:nvPr/>
        </p:nvSpPr>
        <p:spPr bwMode="auto">
          <a:xfrm>
            <a:off x="4306758" y="2986645"/>
            <a:ext cx="160737" cy="153995"/>
          </a:xfrm>
          <a:prstGeom prst="cube">
            <a:avLst>
              <a:gd name="adj" fmla="val 25000"/>
            </a:avLst>
          </a:prstGeom>
          <a:solidFill>
            <a:srgbClr val="FF00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24" name="AutoShape 162"/>
          <p:cNvSpPr>
            <a:spLocks noChangeArrowheads="1"/>
          </p:cNvSpPr>
          <p:nvPr/>
        </p:nvSpPr>
        <p:spPr bwMode="auto">
          <a:xfrm>
            <a:off x="4306758" y="3449650"/>
            <a:ext cx="160737" cy="161134"/>
          </a:xfrm>
          <a:prstGeom prst="cube">
            <a:avLst>
              <a:gd name="adj" fmla="val 25000"/>
            </a:avLst>
          </a:prstGeom>
          <a:solidFill>
            <a:srgbClr val="FF00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a:p>
            <a:endParaRPr kumimoji="1" lang="en-US" altLang="zh-CN" sz="1400" b="1" dirty="0">
              <a:solidFill>
                <a:srgbClr val="0000FF"/>
              </a:solidFill>
              <a:latin typeface="微软雅黑" pitchFamily="34" charset="-122"/>
              <a:ea typeface="微软雅黑" pitchFamily="34" charset="-122"/>
            </a:endParaRPr>
          </a:p>
        </p:txBody>
      </p:sp>
      <p:sp>
        <p:nvSpPr>
          <p:cNvPr id="25" name="Text Box 163"/>
          <p:cNvSpPr txBox="1">
            <a:spLocks noChangeArrowheads="1"/>
          </p:cNvSpPr>
          <p:nvPr/>
        </p:nvSpPr>
        <p:spPr bwMode="auto">
          <a:xfrm>
            <a:off x="6049190" y="2092335"/>
            <a:ext cx="94349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kumimoji="1" lang="zh-CN" altLang="en-US" sz="1200" b="1" dirty="0">
                <a:solidFill>
                  <a:srgbClr val="0000FF"/>
                </a:solidFill>
                <a:latin typeface="微软雅黑" pitchFamily="34" charset="-122"/>
                <a:ea typeface="微软雅黑" pitchFamily="34" charset="-122"/>
              </a:rPr>
              <a:t>同轴电缆</a:t>
            </a:r>
          </a:p>
        </p:txBody>
      </p:sp>
      <p:sp>
        <p:nvSpPr>
          <p:cNvPr id="26" name="AutoShape 164"/>
          <p:cNvSpPr>
            <a:spLocks noChangeArrowheads="1"/>
          </p:cNvSpPr>
          <p:nvPr/>
        </p:nvSpPr>
        <p:spPr bwMode="auto">
          <a:xfrm>
            <a:off x="4306758" y="2477749"/>
            <a:ext cx="160737" cy="155014"/>
          </a:xfrm>
          <a:prstGeom prst="cube">
            <a:avLst>
              <a:gd name="adj" fmla="val 25000"/>
            </a:avLst>
          </a:prstGeom>
          <a:solidFill>
            <a:srgbClr val="FF00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27" name="Line 165"/>
          <p:cNvSpPr>
            <a:spLocks noChangeShapeType="1"/>
          </p:cNvSpPr>
          <p:nvPr/>
        </p:nvSpPr>
        <p:spPr bwMode="auto">
          <a:xfrm>
            <a:off x="4478910" y="3541434"/>
            <a:ext cx="1941213"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pic>
        <p:nvPicPr>
          <p:cNvPr id="28" name="Picture 16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52011" y="3218148"/>
            <a:ext cx="241581" cy="153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29" name="Picture 16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03938" y="2755144"/>
            <a:ext cx="241581" cy="153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30" name="Line 168"/>
          <p:cNvSpPr>
            <a:spLocks noChangeShapeType="1"/>
          </p:cNvSpPr>
          <p:nvPr/>
        </p:nvSpPr>
        <p:spPr bwMode="auto">
          <a:xfrm flipH="1">
            <a:off x="6118621" y="2339052"/>
            <a:ext cx="172151" cy="231503"/>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31" name="Line 169"/>
          <p:cNvSpPr>
            <a:spLocks noChangeShapeType="1"/>
          </p:cNvSpPr>
          <p:nvPr/>
        </p:nvSpPr>
        <p:spPr bwMode="auto">
          <a:xfrm>
            <a:off x="2753598" y="2430837"/>
            <a:ext cx="172151" cy="324307"/>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32" name="Text Box 170"/>
          <p:cNvSpPr txBox="1">
            <a:spLocks noChangeArrowheads="1"/>
          </p:cNvSpPr>
          <p:nvPr/>
        </p:nvSpPr>
        <p:spPr bwMode="auto">
          <a:xfrm>
            <a:off x="3427444" y="2355764"/>
            <a:ext cx="57544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kumimoji="1" lang="zh-CN" altLang="en-US" sz="1200" b="1" dirty="0">
                <a:solidFill>
                  <a:srgbClr val="CC00CC"/>
                </a:solidFill>
                <a:latin typeface="微软雅黑" pitchFamily="34" charset="-122"/>
                <a:ea typeface="微软雅黑" pitchFamily="34" charset="-122"/>
              </a:rPr>
              <a:t>光纤</a:t>
            </a:r>
          </a:p>
        </p:txBody>
      </p:sp>
      <p:sp>
        <p:nvSpPr>
          <p:cNvPr id="33" name="Line 171"/>
          <p:cNvSpPr>
            <a:spLocks noChangeShapeType="1"/>
          </p:cNvSpPr>
          <p:nvPr/>
        </p:nvSpPr>
        <p:spPr bwMode="auto">
          <a:xfrm>
            <a:off x="4090857" y="2339052"/>
            <a:ext cx="258701" cy="138697"/>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34" name="Text Box 172"/>
          <p:cNvSpPr txBox="1">
            <a:spLocks noChangeArrowheads="1"/>
          </p:cNvSpPr>
          <p:nvPr/>
        </p:nvSpPr>
        <p:spPr bwMode="auto">
          <a:xfrm>
            <a:off x="3592123" y="2085197"/>
            <a:ext cx="99095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kumimoji="1" lang="zh-CN" altLang="en-US" sz="1200" b="1" dirty="0">
                <a:solidFill>
                  <a:srgbClr val="CC00CC"/>
                </a:solidFill>
                <a:latin typeface="微软雅黑" pitchFamily="34" charset="-122"/>
                <a:ea typeface="微软雅黑" pitchFamily="34" charset="-122"/>
              </a:rPr>
              <a:t>光纤节点</a:t>
            </a:r>
          </a:p>
        </p:txBody>
      </p:sp>
      <p:pic>
        <p:nvPicPr>
          <p:cNvPr id="35" name="Picture 17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96312" y="3218148"/>
            <a:ext cx="241581" cy="153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36" name="AutoShape 178"/>
          <p:cNvSpPr>
            <a:spLocks noChangeArrowheads="1"/>
          </p:cNvSpPr>
          <p:nvPr/>
        </p:nvSpPr>
        <p:spPr bwMode="auto">
          <a:xfrm>
            <a:off x="2415004" y="2885682"/>
            <a:ext cx="402319" cy="310029"/>
          </a:xfrm>
          <a:prstGeom prst="cube">
            <a:avLst>
              <a:gd name="adj" fmla="val 25000"/>
            </a:avLst>
          </a:prstGeom>
          <a:solidFill>
            <a:srgbClr val="0066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37" name="Text Box 179"/>
          <p:cNvSpPr txBox="1">
            <a:spLocks noChangeArrowheads="1"/>
          </p:cNvSpPr>
          <p:nvPr/>
        </p:nvSpPr>
        <p:spPr bwMode="auto">
          <a:xfrm>
            <a:off x="2336416" y="2943181"/>
            <a:ext cx="5912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kumimoji="1" lang="zh-CN" altLang="en-US" sz="1200" b="1" dirty="0">
                <a:solidFill>
                  <a:schemeClr val="bg1"/>
                </a:solidFill>
                <a:latin typeface="微软雅黑" pitchFamily="34" charset="-122"/>
                <a:ea typeface="微软雅黑" pitchFamily="34" charset="-122"/>
              </a:rPr>
              <a:t>头端</a:t>
            </a:r>
          </a:p>
        </p:txBody>
      </p:sp>
      <p:grpSp>
        <p:nvGrpSpPr>
          <p:cNvPr id="38" name="Group 180"/>
          <p:cNvGrpSpPr>
            <a:grpSpLocks noChangeAspect="1"/>
          </p:cNvGrpSpPr>
          <p:nvPr/>
        </p:nvGrpSpPr>
        <p:grpSpPr bwMode="auto">
          <a:xfrm>
            <a:off x="2446396" y="2497429"/>
            <a:ext cx="313966" cy="435844"/>
            <a:chOff x="2248" y="723"/>
            <a:chExt cx="224" cy="290"/>
          </a:xfrm>
          <a:solidFill>
            <a:srgbClr val="00FFCC"/>
          </a:solidFill>
        </p:grpSpPr>
        <p:grpSp>
          <p:nvGrpSpPr>
            <p:cNvPr id="39" name="Group 182"/>
            <p:cNvGrpSpPr>
              <a:grpSpLocks/>
            </p:cNvGrpSpPr>
            <p:nvPr/>
          </p:nvGrpSpPr>
          <p:grpSpPr bwMode="auto">
            <a:xfrm>
              <a:off x="2248" y="734"/>
              <a:ext cx="224" cy="279"/>
              <a:chOff x="2248" y="734"/>
              <a:chExt cx="224" cy="279"/>
            </a:xfrm>
            <a:grpFill/>
          </p:grpSpPr>
          <p:grpSp>
            <p:nvGrpSpPr>
              <p:cNvPr id="55" name="Group 183"/>
              <p:cNvGrpSpPr>
                <a:grpSpLocks/>
              </p:cNvGrpSpPr>
              <p:nvPr/>
            </p:nvGrpSpPr>
            <p:grpSpPr bwMode="auto">
              <a:xfrm>
                <a:off x="2328" y="898"/>
                <a:ext cx="9" cy="37"/>
                <a:chOff x="2328" y="898"/>
                <a:chExt cx="9" cy="37"/>
              </a:xfrm>
              <a:grpFill/>
            </p:grpSpPr>
            <p:sp>
              <p:nvSpPr>
                <p:cNvPr id="89" name="Rectangle 184"/>
                <p:cNvSpPr>
                  <a:spLocks noChangeArrowheads="1"/>
                </p:cNvSpPr>
                <p:nvPr/>
              </p:nvSpPr>
              <p:spPr bwMode="auto">
                <a:xfrm>
                  <a:off x="2328" y="898"/>
                  <a:ext cx="9" cy="37"/>
                </a:xfrm>
                <a:prstGeom prst="rect">
                  <a:avLst/>
                </a:prstGeom>
                <a:grpFill/>
                <a:ln w="1588">
                  <a:solidFill>
                    <a:srgbClr val="000000"/>
                  </a:solidFill>
                  <a:miter lim="800000"/>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90" name="Line 185"/>
                <p:cNvSpPr>
                  <a:spLocks noChangeShapeType="1"/>
                </p:cNvSpPr>
                <p:nvPr/>
              </p:nvSpPr>
              <p:spPr bwMode="auto">
                <a:xfrm>
                  <a:off x="2332" y="898"/>
                  <a:ext cx="1" cy="33"/>
                </a:xfrm>
                <a:prstGeom prst="line">
                  <a:avLst/>
                </a:prstGeom>
                <a:grpFill/>
                <a:ln w="1588">
                  <a:solidFill>
                    <a:srgbClr val="000000"/>
                  </a:solidFill>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grpSp>
          <p:sp>
            <p:nvSpPr>
              <p:cNvPr id="56" name="Rectangle 186"/>
              <p:cNvSpPr>
                <a:spLocks noChangeArrowheads="1"/>
              </p:cNvSpPr>
              <p:nvPr/>
            </p:nvSpPr>
            <p:spPr bwMode="auto">
              <a:xfrm>
                <a:off x="2295" y="876"/>
                <a:ext cx="25" cy="57"/>
              </a:xfrm>
              <a:prstGeom prst="rect">
                <a:avLst/>
              </a:prstGeom>
              <a:grpFill/>
              <a:ln w="1588">
                <a:solidFill>
                  <a:srgbClr val="000000"/>
                </a:solidFill>
                <a:miter lim="800000"/>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57" name="Freeform 187"/>
              <p:cNvSpPr>
                <a:spLocks/>
              </p:cNvSpPr>
              <p:nvPr/>
            </p:nvSpPr>
            <p:spPr bwMode="auto">
              <a:xfrm>
                <a:off x="2385" y="888"/>
                <a:ext cx="16" cy="12"/>
              </a:xfrm>
              <a:custGeom>
                <a:avLst/>
                <a:gdLst>
                  <a:gd name="T0" fmla="*/ 0 w 112"/>
                  <a:gd name="T1" fmla="*/ 0 h 84"/>
                  <a:gd name="T2" fmla="*/ 0 w 112"/>
                  <a:gd name="T3" fmla="*/ 84 h 84"/>
                  <a:gd name="T4" fmla="*/ 112 w 112"/>
                  <a:gd name="T5" fmla="*/ 84 h 84"/>
                  <a:gd name="T6" fmla="*/ 112 w 112"/>
                  <a:gd name="T7" fmla="*/ 17 h 84"/>
                  <a:gd name="T8" fmla="*/ 0 w 112"/>
                  <a:gd name="T9" fmla="*/ 0 h 84"/>
                </a:gdLst>
                <a:ahLst/>
                <a:cxnLst>
                  <a:cxn ang="0">
                    <a:pos x="T0" y="T1"/>
                  </a:cxn>
                  <a:cxn ang="0">
                    <a:pos x="T2" y="T3"/>
                  </a:cxn>
                  <a:cxn ang="0">
                    <a:pos x="T4" y="T5"/>
                  </a:cxn>
                  <a:cxn ang="0">
                    <a:pos x="T6" y="T7"/>
                  </a:cxn>
                  <a:cxn ang="0">
                    <a:pos x="T8" y="T9"/>
                  </a:cxn>
                </a:cxnLst>
                <a:rect l="0" t="0" r="r" b="b"/>
                <a:pathLst>
                  <a:path w="112" h="84">
                    <a:moveTo>
                      <a:pt x="0" y="0"/>
                    </a:moveTo>
                    <a:lnTo>
                      <a:pt x="0" y="84"/>
                    </a:lnTo>
                    <a:lnTo>
                      <a:pt x="112" y="84"/>
                    </a:lnTo>
                    <a:lnTo>
                      <a:pt x="112" y="17"/>
                    </a:lnTo>
                    <a:lnTo>
                      <a:pt x="0" y="0"/>
                    </a:lnTo>
                  </a:path>
                </a:pathLst>
              </a:custGeom>
              <a:grpFill/>
              <a:ln w="1588">
                <a:solidFill>
                  <a:srgbClr val="000000"/>
                </a:solidFill>
                <a:prstDash val="solid"/>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58" name="Freeform 188"/>
              <p:cNvSpPr>
                <a:spLocks/>
              </p:cNvSpPr>
              <p:nvPr/>
            </p:nvSpPr>
            <p:spPr bwMode="auto">
              <a:xfrm>
                <a:off x="2352" y="866"/>
                <a:ext cx="11" cy="11"/>
              </a:xfrm>
              <a:custGeom>
                <a:avLst/>
                <a:gdLst>
                  <a:gd name="T0" fmla="*/ 42 w 77"/>
                  <a:gd name="T1" fmla="*/ 0 h 76"/>
                  <a:gd name="T2" fmla="*/ 0 w 77"/>
                  <a:gd name="T3" fmla="*/ 76 h 76"/>
                  <a:gd name="T4" fmla="*/ 56 w 77"/>
                  <a:gd name="T5" fmla="*/ 70 h 76"/>
                  <a:gd name="T6" fmla="*/ 77 w 77"/>
                  <a:gd name="T7" fmla="*/ 19 h 76"/>
                  <a:gd name="T8" fmla="*/ 42 w 77"/>
                  <a:gd name="T9" fmla="*/ 0 h 76"/>
                </a:gdLst>
                <a:ahLst/>
                <a:cxnLst>
                  <a:cxn ang="0">
                    <a:pos x="T0" y="T1"/>
                  </a:cxn>
                  <a:cxn ang="0">
                    <a:pos x="T2" y="T3"/>
                  </a:cxn>
                  <a:cxn ang="0">
                    <a:pos x="T4" y="T5"/>
                  </a:cxn>
                  <a:cxn ang="0">
                    <a:pos x="T6" y="T7"/>
                  </a:cxn>
                  <a:cxn ang="0">
                    <a:pos x="T8" y="T9"/>
                  </a:cxn>
                </a:cxnLst>
                <a:rect l="0" t="0" r="r" b="b"/>
                <a:pathLst>
                  <a:path w="77" h="76">
                    <a:moveTo>
                      <a:pt x="42" y="0"/>
                    </a:moveTo>
                    <a:lnTo>
                      <a:pt x="0" y="76"/>
                    </a:lnTo>
                    <a:lnTo>
                      <a:pt x="56" y="70"/>
                    </a:lnTo>
                    <a:lnTo>
                      <a:pt x="77" y="19"/>
                    </a:lnTo>
                    <a:lnTo>
                      <a:pt x="42" y="0"/>
                    </a:lnTo>
                    <a:close/>
                  </a:path>
                </a:pathLst>
              </a:custGeom>
              <a:grpFill/>
              <a:ln w="1588">
                <a:solidFill>
                  <a:srgbClr val="000000"/>
                </a:solidFill>
                <a:prstDash val="solid"/>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59" name="Freeform 189"/>
              <p:cNvSpPr>
                <a:spLocks/>
              </p:cNvSpPr>
              <p:nvPr/>
            </p:nvSpPr>
            <p:spPr bwMode="auto">
              <a:xfrm>
                <a:off x="2333" y="938"/>
                <a:ext cx="51" cy="4"/>
              </a:xfrm>
              <a:custGeom>
                <a:avLst/>
                <a:gdLst>
                  <a:gd name="T0" fmla="*/ 0 w 356"/>
                  <a:gd name="T1" fmla="*/ 0 h 26"/>
                  <a:gd name="T2" fmla="*/ 356 w 356"/>
                  <a:gd name="T3" fmla="*/ 0 h 26"/>
                  <a:gd name="T4" fmla="*/ 356 w 356"/>
                  <a:gd name="T5" fmla="*/ 26 h 26"/>
                  <a:gd name="T6" fmla="*/ 5 w 356"/>
                  <a:gd name="T7" fmla="*/ 26 h 26"/>
                  <a:gd name="T8" fmla="*/ 0 w 356"/>
                  <a:gd name="T9" fmla="*/ 0 h 26"/>
                </a:gdLst>
                <a:ahLst/>
                <a:cxnLst>
                  <a:cxn ang="0">
                    <a:pos x="T0" y="T1"/>
                  </a:cxn>
                  <a:cxn ang="0">
                    <a:pos x="T2" y="T3"/>
                  </a:cxn>
                  <a:cxn ang="0">
                    <a:pos x="T4" y="T5"/>
                  </a:cxn>
                  <a:cxn ang="0">
                    <a:pos x="T6" y="T7"/>
                  </a:cxn>
                  <a:cxn ang="0">
                    <a:pos x="T8" y="T9"/>
                  </a:cxn>
                </a:cxnLst>
                <a:rect l="0" t="0" r="r" b="b"/>
                <a:pathLst>
                  <a:path w="356" h="26">
                    <a:moveTo>
                      <a:pt x="0" y="0"/>
                    </a:moveTo>
                    <a:lnTo>
                      <a:pt x="356" y="0"/>
                    </a:lnTo>
                    <a:lnTo>
                      <a:pt x="356" y="26"/>
                    </a:lnTo>
                    <a:lnTo>
                      <a:pt x="5" y="26"/>
                    </a:lnTo>
                    <a:lnTo>
                      <a:pt x="0" y="0"/>
                    </a:lnTo>
                    <a:close/>
                  </a:path>
                </a:pathLst>
              </a:custGeom>
              <a:grpFill/>
              <a:ln w="1588">
                <a:solidFill>
                  <a:srgbClr val="000000"/>
                </a:solidFill>
                <a:prstDash val="solid"/>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60" name="Freeform 190"/>
              <p:cNvSpPr>
                <a:spLocks/>
              </p:cNvSpPr>
              <p:nvPr/>
            </p:nvSpPr>
            <p:spPr bwMode="auto">
              <a:xfrm>
                <a:off x="2294" y="795"/>
                <a:ext cx="22" cy="24"/>
              </a:xfrm>
              <a:custGeom>
                <a:avLst/>
                <a:gdLst>
                  <a:gd name="T0" fmla="*/ 140 w 149"/>
                  <a:gd name="T1" fmla="*/ 0 h 163"/>
                  <a:gd name="T2" fmla="*/ 2 w 149"/>
                  <a:gd name="T3" fmla="*/ 117 h 163"/>
                  <a:gd name="T4" fmla="*/ 0 w 149"/>
                  <a:gd name="T5" fmla="*/ 163 h 163"/>
                  <a:gd name="T6" fmla="*/ 149 w 149"/>
                  <a:gd name="T7" fmla="*/ 54 h 163"/>
                  <a:gd name="T8" fmla="*/ 140 w 149"/>
                  <a:gd name="T9" fmla="*/ 0 h 163"/>
                </a:gdLst>
                <a:ahLst/>
                <a:cxnLst>
                  <a:cxn ang="0">
                    <a:pos x="T0" y="T1"/>
                  </a:cxn>
                  <a:cxn ang="0">
                    <a:pos x="T2" y="T3"/>
                  </a:cxn>
                  <a:cxn ang="0">
                    <a:pos x="T4" y="T5"/>
                  </a:cxn>
                  <a:cxn ang="0">
                    <a:pos x="T6" y="T7"/>
                  </a:cxn>
                  <a:cxn ang="0">
                    <a:pos x="T8" y="T9"/>
                  </a:cxn>
                </a:cxnLst>
                <a:rect l="0" t="0" r="r" b="b"/>
                <a:pathLst>
                  <a:path w="149" h="163">
                    <a:moveTo>
                      <a:pt x="140" y="0"/>
                    </a:moveTo>
                    <a:lnTo>
                      <a:pt x="2" y="117"/>
                    </a:lnTo>
                    <a:lnTo>
                      <a:pt x="0" y="163"/>
                    </a:lnTo>
                    <a:lnTo>
                      <a:pt x="149" y="54"/>
                    </a:lnTo>
                    <a:lnTo>
                      <a:pt x="140" y="0"/>
                    </a:lnTo>
                    <a:close/>
                  </a:path>
                </a:pathLst>
              </a:custGeom>
              <a:grpFill/>
              <a:ln w="1588">
                <a:solidFill>
                  <a:srgbClr val="000000"/>
                </a:solidFill>
                <a:prstDash val="solid"/>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61" name="Freeform 191"/>
              <p:cNvSpPr>
                <a:spLocks/>
              </p:cNvSpPr>
              <p:nvPr/>
            </p:nvSpPr>
            <p:spPr bwMode="auto">
              <a:xfrm>
                <a:off x="2289" y="734"/>
                <a:ext cx="32" cy="199"/>
              </a:xfrm>
              <a:custGeom>
                <a:avLst/>
                <a:gdLst>
                  <a:gd name="T0" fmla="*/ 225 w 225"/>
                  <a:gd name="T1" fmla="*/ 0 h 1395"/>
                  <a:gd name="T2" fmla="*/ 0 w 225"/>
                  <a:gd name="T3" fmla="*/ 82 h 1395"/>
                  <a:gd name="T4" fmla="*/ 0 w 225"/>
                  <a:gd name="T5" fmla="*/ 1395 h 1395"/>
                  <a:gd name="T6" fmla="*/ 42 w 225"/>
                  <a:gd name="T7" fmla="*/ 1395 h 1395"/>
                  <a:gd name="T8" fmla="*/ 42 w 225"/>
                  <a:gd name="T9" fmla="*/ 202 h 1395"/>
                  <a:gd name="T10" fmla="*/ 225 w 225"/>
                  <a:gd name="T11" fmla="*/ 133 h 1395"/>
                  <a:gd name="T12" fmla="*/ 225 w 225"/>
                  <a:gd name="T13" fmla="*/ 0 h 1395"/>
                </a:gdLst>
                <a:ahLst/>
                <a:cxnLst>
                  <a:cxn ang="0">
                    <a:pos x="T0" y="T1"/>
                  </a:cxn>
                  <a:cxn ang="0">
                    <a:pos x="T2" y="T3"/>
                  </a:cxn>
                  <a:cxn ang="0">
                    <a:pos x="T4" y="T5"/>
                  </a:cxn>
                  <a:cxn ang="0">
                    <a:pos x="T6" y="T7"/>
                  </a:cxn>
                  <a:cxn ang="0">
                    <a:pos x="T8" y="T9"/>
                  </a:cxn>
                  <a:cxn ang="0">
                    <a:pos x="T10" y="T11"/>
                  </a:cxn>
                  <a:cxn ang="0">
                    <a:pos x="T12" y="T13"/>
                  </a:cxn>
                </a:cxnLst>
                <a:rect l="0" t="0" r="r" b="b"/>
                <a:pathLst>
                  <a:path w="225" h="1395">
                    <a:moveTo>
                      <a:pt x="225" y="0"/>
                    </a:moveTo>
                    <a:lnTo>
                      <a:pt x="0" y="82"/>
                    </a:lnTo>
                    <a:lnTo>
                      <a:pt x="0" y="1395"/>
                    </a:lnTo>
                    <a:lnTo>
                      <a:pt x="42" y="1395"/>
                    </a:lnTo>
                    <a:lnTo>
                      <a:pt x="42" y="202"/>
                    </a:lnTo>
                    <a:lnTo>
                      <a:pt x="225" y="133"/>
                    </a:lnTo>
                    <a:lnTo>
                      <a:pt x="225" y="0"/>
                    </a:lnTo>
                    <a:close/>
                  </a:path>
                </a:pathLst>
              </a:custGeom>
              <a:grpFill/>
              <a:ln w="1588">
                <a:solidFill>
                  <a:srgbClr val="000000"/>
                </a:solidFill>
                <a:prstDash val="solid"/>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62" name="Freeform 192"/>
              <p:cNvSpPr>
                <a:spLocks/>
              </p:cNvSpPr>
              <p:nvPr/>
            </p:nvSpPr>
            <p:spPr bwMode="auto">
              <a:xfrm>
                <a:off x="2288" y="933"/>
                <a:ext cx="184" cy="44"/>
              </a:xfrm>
              <a:custGeom>
                <a:avLst/>
                <a:gdLst>
                  <a:gd name="T0" fmla="*/ 0 w 1290"/>
                  <a:gd name="T1" fmla="*/ 304 h 304"/>
                  <a:gd name="T2" fmla="*/ 0 w 1290"/>
                  <a:gd name="T3" fmla="*/ 0 h 304"/>
                  <a:gd name="T4" fmla="*/ 281 w 1290"/>
                  <a:gd name="T5" fmla="*/ 0 h 304"/>
                  <a:gd name="T6" fmla="*/ 337 w 1290"/>
                  <a:gd name="T7" fmla="*/ 51 h 304"/>
                  <a:gd name="T8" fmla="*/ 505 w 1290"/>
                  <a:gd name="T9" fmla="*/ 51 h 304"/>
                  <a:gd name="T10" fmla="*/ 561 w 1290"/>
                  <a:gd name="T11" fmla="*/ 102 h 304"/>
                  <a:gd name="T12" fmla="*/ 1122 w 1290"/>
                  <a:gd name="T13" fmla="*/ 102 h 304"/>
                  <a:gd name="T14" fmla="*/ 1122 w 1290"/>
                  <a:gd name="T15" fmla="*/ 203 h 304"/>
                  <a:gd name="T16" fmla="*/ 1290 w 1290"/>
                  <a:gd name="T17" fmla="*/ 203 h 304"/>
                  <a:gd name="T18" fmla="*/ 1290 w 1290"/>
                  <a:gd name="T19" fmla="*/ 304 h 304"/>
                  <a:gd name="T20" fmla="*/ 0 w 1290"/>
                  <a:gd name="T21" fmla="*/ 304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90" h="304">
                    <a:moveTo>
                      <a:pt x="0" y="304"/>
                    </a:moveTo>
                    <a:lnTo>
                      <a:pt x="0" y="0"/>
                    </a:lnTo>
                    <a:lnTo>
                      <a:pt x="281" y="0"/>
                    </a:lnTo>
                    <a:lnTo>
                      <a:pt x="337" y="51"/>
                    </a:lnTo>
                    <a:lnTo>
                      <a:pt x="505" y="51"/>
                    </a:lnTo>
                    <a:lnTo>
                      <a:pt x="561" y="102"/>
                    </a:lnTo>
                    <a:lnTo>
                      <a:pt x="1122" y="102"/>
                    </a:lnTo>
                    <a:lnTo>
                      <a:pt x="1122" y="203"/>
                    </a:lnTo>
                    <a:lnTo>
                      <a:pt x="1290" y="203"/>
                    </a:lnTo>
                    <a:lnTo>
                      <a:pt x="1290" y="304"/>
                    </a:lnTo>
                    <a:lnTo>
                      <a:pt x="0" y="304"/>
                    </a:lnTo>
                    <a:close/>
                  </a:path>
                </a:pathLst>
              </a:custGeom>
              <a:grpFill/>
              <a:ln w="1588">
                <a:solidFill>
                  <a:srgbClr val="000000"/>
                </a:solidFill>
                <a:prstDash val="solid"/>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63" name="Rectangle 193"/>
              <p:cNvSpPr>
                <a:spLocks noChangeArrowheads="1"/>
              </p:cNvSpPr>
              <p:nvPr/>
            </p:nvSpPr>
            <p:spPr bwMode="auto">
              <a:xfrm>
                <a:off x="2288" y="962"/>
                <a:ext cx="136" cy="15"/>
              </a:xfrm>
              <a:prstGeom prst="rect">
                <a:avLst/>
              </a:prstGeom>
              <a:grpFill/>
              <a:ln w="1588">
                <a:solidFill>
                  <a:srgbClr val="000000"/>
                </a:solidFill>
                <a:miter lim="800000"/>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64" name="Line 194"/>
              <p:cNvSpPr>
                <a:spLocks noChangeShapeType="1"/>
              </p:cNvSpPr>
              <p:nvPr/>
            </p:nvSpPr>
            <p:spPr bwMode="auto">
              <a:xfrm>
                <a:off x="2282" y="873"/>
                <a:ext cx="1" cy="25"/>
              </a:xfrm>
              <a:prstGeom prst="line">
                <a:avLst/>
              </a:prstGeom>
              <a:grpFill/>
              <a:ln w="1588">
                <a:solidFill>
                  <a:srgbClr val="000000"/>
                </a:solidFill>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65" name="Freeform 195"/>
              <p:cNvSpPr>
                <a:spLocks/>
              </p:cNvSpPr>
              <p:nvPr/>
            </p:nvSpPr>
            <p:spPr bwMode="auto">
              <a:xfrm>
                <a:off x="2277" y="898"/>
                <a:ext cx="12" cy="13"/>
              </a:xfrm>
              <a:custGeom>
                <a:avLst/>
                <a:gdLst>
                  <a:gd name="T0" fmla="*/ 0 w 84"/>
                  <a:gd name="T1" fmla="*/ 89 h 89"/>
                  <a:gd name="T2" fmla="*/ 0 w 84"/>
                  <a:gd name="T3" fmla="*/ 0 h 89"/>
                  <a:gd name="T4" fmla="*/ 84 w 84"/>
                  <a:gd name="T5" fmla="*/ 0 h 89"/>
                  <a:gd name="T6" fmla="*/ 84 w 84"/>
                  <a:gd name="T7" fmla="*/ 32 h 89"/>
                  <a:gd name="T8" fmla="*/ 28 w 84"/>
                  <a:gd name="T9" fmla="*/ 32 h 89"/>
                  <a:gd name="T10" fmla="*/ 28 w 84"/>
                  <a:gd name="T11" fmla="*/ 89 h 89"/>
                  <a:gd name="T12" fmla="*/ 0 w 84"/>
                  <a:gd name="T13" fmla="*/ 89 h 89"/>
                </a:gdLst>
                <a:ahLst/>
                <a:cxnLst>
                  <a:cxn ang="0">
                    <a:pos x="T0" y="T1"/>
                  </a:cxn>
                  <a:cxn ang="0">
                    <a:pos x="T2" y="T3"/>
                  </a:cxn>
                  <a:cxn ang="0">
                    <a:pos x="T4" y="T5"/>
                  </a:cxn>
                  <a:cxn ang="0">
                    <a:pos x="T6" y="T7"/>
                  </a:cxn>
                  <a:cxn ang="0">
                    <a:pos x="T8" y="T9"/>
                  </a:cxn>
                  <a:cxn ang="0">
                    <a:pos x="T10" y="T11"/>
                  </a:cxn>
                  <a:cxn ang="0">
                    <a:pos x="T12" y="T13"/>
                  </a:cxn>
                </a:cxnLst>
                <a:rect l="0" t="0" r="r" b="b"/>
                <a:pathLst>
                  <a:path w="84" h="89">
                    <a:moveTo>
                      <a:pt x="0" y="89"/>
                    </a:moveTo>
                    <a:lnTo>
                      <a:pt x="0" y="0"/>
                    </a:lnTo>
                    <a:lnTo>
                      <a:pt x="84" y="0"/>
                    </a:lnTo>
                    <a:lnTo>
                      <a:pt x="84" y="32"/>
                    </a:lnTo>
                    <a:lnTo>
                      <a:pt x="28" y="32"/>
                    </a:lnTo>
                    <a:lnTo>
                      <a:pt x="28" y="89"/>
                    </a:lnTo>
                    <a:lnTo>
                      <a:pt x="0" y="89"/>
                    </a:lnTo>
                    <a:close/>
                  </a:path>
                </a:pathLst>
              </a:custGeom>
              <a:grpFill/>
              <a:ln w="1588">
                <a:solidFill>
                  <a:srgbClr val="000000"/>
                </a:solidFill>
                <a:prstDash val="solid"/>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66" name="Freeform 196"/>
              <p:cNvSpPr>
                <a:spLocks/>
              </p:cNvSpPr>
              <p:nvPr/>
            </p:nvSpPr>
            <p:spPr bwMode="auto">
              <a:xfrm>
                <a:off x="2344" y="889"/>
                <a:ext cx="41" cy="53"/>
              </a:xfrm>
              <a:custGeom>
                <a:avLst/>
                <a:gdLst>
                  <a:gd name="T0" fmla="*/ 0 w 287"/>
                  <a:gd name="T1" fmla="*/ 0 h 367"/>
                  <a:gd name="T2" fmla="*/ 287 w 287"/>
                  <a:gd name="T3" fmla="*/ 367 h 367"/>
                  <a:gd name="T4" fmla="*/ 245 w 287"/>
                  <a:gd name="T5" fmla="*/ 360 h 367"/>
                  <a:gd name="T6" fmla="*/ 0 w 287"/>
                  <a:gd name="T7" fmla="*/ 51 h 367"/>
                  <a:gd name="T8" fmla="*/ 0 w 287"/>
                  <a:gd name="T9" fmla="*/ 0 h 367"/>
                </a:gdLst>
                <a:ahLst/>
                <a:cxnLst>
                  <a:cxn ang="0">
                    <a:pos x="T0" y="T1"/>
                  </a:cxn>
                  <a:cxn ang="0">
                    <a:pos x="T2" y="T3"/>
                  </a:cxn>
                  <a:cxn ang="0">
                    <a:pos x="T4" y="T5"/>
                  </a:cxn>
                  <a:cxn ang="0">
                    <a:pos x="T6" y="T7"/>
                  </a:cxn>
                  <a:cxn ang="0">
                    <a:pos x="T8" y="T9"/>
                  </a:cxn>
                </a:cxnLst>
                <a:rect l="0" t="0" r="r" b="b"/>
                <a:pathLst>
                  <a:path w="287" h="367">
                    <a:moveTo>
                      <a:pt x="0" y="0"/>
                    </a:moveTo>
                    <a:lnTo>
                      <a:pt x="287" y="367"/>
                    </a:lnTo>
                    <a:lnTo>
                      <a:pt x="245" y="360"/>
                    </a:lnTo>
                    <a:lnTo>
                      <a:pt x="0" y="51"/>
                    </a:lnTo>
                    <a:lnTo>
                      <a:pt x="0" y="0"/>
                    </a:lnTo>
                    <a:close/>
                  </a:path>
                </a:pathLst>
              </a:custGeom>
              <a:grpFill/>
              <a:ln w="1588">
                <a:solidFill>
                  <a:srgbClr val="000000"/>
                </a:solidFill>
                <a:prstDash val="solid"/>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67" name="Freeform 197"/>
              <p:cNvSpPr>
                <a:spLocks/>
              </p:cNvSpPr>
              <p:nvPr/>
            </p:nvSpPr>
            <p:spPr bwMode="auto">
              <a:xfrm>
                <a:off x="2256" y="919"/>
                <a:ext cx="32" cy="58"/>
              </a:xfrm>
              <a:custGeom>
                <a:avLst/>
                <a:gdLst>
                  <a:gd name="T0" fmla="*/ 168 w 224"/>
                  <a:gd name="T1" fmla="*/ 0 h 405"/>
                  <a:gd name="T2" fmla="*/ 0 w 224"/>
                  <a:gd name="T3" fmla="*/ 152 h 405"/>
                  <a:gd name="T4" fmla="*/ 0 w 224"/>
                  <a:gd name="T5" fmla="*/ 405 h 405"/>
                  <a:gd name="T6" fmla="*/ 224 w 224"/>
                  <a:gd name="T7" fmla="*/ 405 h 405"/>
                  <a:gd name="T8" fmla="*/ 224 w 224"/>
                  <a:gd name="T9" fmla="*/ 101 h 405"/>
                  <a:gd name="T10" fmla="*/ 168 w 224"/>
                  <a:gd name="T11" fmla="*/ 0 h 405"/>
                </a:gdLst>
                <a:ahLst/>
                <a:cxnLst>
                  <a:cxn ang="0">
                    <a:pos x="T0" y="T1"/>
                  </a:cxn>
                  <a:cxn ang="0">
                    <a:pos x="T2" y="T3"/>
                  </a:cxn>
                  <a:cxn ang="0">
                    <a:pos x="T4" y="T5"/>
                  </a:cxn>
                  <a:cxn ang="0">
                    <a:pos x="T6" y="T7"/>
                  </a:cxn>
                  <a:cxn ang="0">
                    <a:pos x="T8" y="T9"/>
                  </a:cxn>
                  <a:cxn ang="0">
                    <a:pos x="T10" y="T11"/>
                  </a:cxn>
                </a:cxnLst>
                <a:rect l="0" t="0" r="r" b="b"/>
                <a:pathLst>
                  <a:path w="224" h="405">
                    <a:moveTo>
                      <a:pt x="168" y="0"/>
                    </a:moveTo>
                    <a:lnTo>
                      <a:pt x="0" y="152"/>
                    </a:lnTo>
                    <a:lnTo>
                      <a:pt x="0" y="405"/>
                    </a:lnTo>
                    <a:lnTo>
                      <a:pt x="224" y="405"/>
                    </a:lnTo>
                    <a:lnTo>
                      <a:pt x="224" y="101"/>
                    </a:lnTo>
                    <a:lnTo>
                      <a:pt x="168" y="0"/>
                    </a:lnTo>
                    <a:close/>
                  </a:path>
                </a:pathLst>
              </a:custGeom>
              <a:grpFill/>
              <a:ln w="1588">
                <a:solidFill>
                  <a:srgbClr val="000000"/>
                </a:solidFill>
                <a:prstDash val="solid"/>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68" name="Rectangle 198"/>
              <p:cNvSpPr>
                <a:spLocks noChangeArrowheads="1"/>
              </p:cNvSpPr>
              <p:nvPr/>
            </p:nvSpPr>
            <p:spPr bwMode="auto">
              <a:xfrm>
                <a:off x="2248" y="1004"/>
                <a:ext cx="224" cy="9"/>
              </a:xfrm>
              <a:prstGeom prst="rect">
                <a:avLst/>
              </a:prstGeom>
              <a:grpFill/>
              <a:ln w="1588">
                <a:solidFill>
                  <a:srgbClr val="000000"/>
                </a:solidFill>
                <a:miter lim="800000"/>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69" name="Rectangle 199"/>
              <p:cNvSpPr>
                <a:spLocks noChangeArrowheads="1"/>
              </p:cNvSpPr>
              <p:nvPr/>
            </p:nvSpPr>
            <p:spPr bwMode="auto">
              <a:xfrm>
                <a:off x="2248" y="991"/>
                <a:ext cx="224" cy="13"/>
              </a:xfrm>
              <a:prstGeom prst="rect">
                <a:avLst/>
              </a:prstGeom>
              <a:grpFill/>
              <a:ln w="1588">
                <a:solidFill>
                  <a:srgbClr val="000000"/>
                </a:solidFill>
                <a:miter lim="800000"/>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70" name="Rectangle 200"/>
              <p:cNvSpPr>
                <a:spLocks noChangeArrowheads="1"/>
              </p:cNvSpPr>
              <p:nvPr/>
            </p:nvSpPr>
            <p:spPr bwMode="auto">
              <a:xfrm>
                <a:off x="2248" y="977"/>
                <a:ext cx="224" cy="14"/>
              </a:xfrm>
              <a:prstGeom prst="rect">
                <a:avLst/>
              </a:prstGeom>
              <a:grpFill/>
              <a:ln w="1588">
                <a:solidFill>
                  <a:srgbClr val="000000"/>
                </a:solidFill>
                <a:miter lim="800000"/>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71" name="Rectangle 201"/>
              <p:cNvSpPr>
                <a:spLocks noChangeArrowheads="1"/>
              </p:cNvSpPr>
              <p:nvPr/>
            </p:nvSpPr>
            <p:spPr bwMode="auto">
              <a:xfrm>
                <a:off x="2442" y="966"/>
                <a:ext cx="24" cy="7"/>
              </a:xfrm>
              <a:prstGeom prst="rect">
                <a:avLst/>
              </a:prstGeom>
              <a:grpFill/>
              <a:ln w="1588">
                <a:solidFill>
                  <a:srgbClr val="000000"/>
                </a:solidFill>
                <a:miter lim="800000"/>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72" name="Oval 202"/>
              <p:cNvSpPr>
                <a:spLocks noChangeArrowheads="1"/>
              </p:cNvSpPr>
              <p:nvPr/>
            </p:nvSpPr>
            <p:spPr bwMode="auto">
              <a:xfrm>
                <a:off x="2271" y="911"/>
                <a:ext cx="18" cy="16"/>
              </a:xfrm>
              <a:prstGeom prst="ellipse">
                <a:avLst/>
              </a:prstGeom>
              <a:grpFill/>
              <a:ln w="1588">
                <a:solidFill>
                  <a:srgbClr val="000000"/>
                </a:solidFill>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73" name="Rectangle 203"/>
              <p:cNvSpPr>
                <a:spLocks noChangeArrowheads="1"/>
              </p:cNvSpPr>
              <p:nvPr/>
            </p:nvSpPr>
            <p:spPr bwMode="auto">
              <a:xfrm>
                <a:off x="2328" y="883"/>
                <a:ext cx="16" cy="14"/>
              </a:xfrm>
              <a:prstGeom prst="rect">
                <a:avLst/>
              </a:prstGeom>
              <a:grpFill/>
              <a:ln w="1588">
                <a:solidFill>
                  <a:srgbClr val="000000"/>
                </a:solidFill>
                <a:miter lim="800000"/>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74" name="Freeform 204"/>
              <p:cNvSpPr>
                <a:spLocks/>
              </p:cNvSpPr>
              <p:nvPr/>
            </p:nvSpPr>
            <p:spPr bwMode="auto">
              <a:xfrm>
                <a:off x="2320" y="876"/>
                <a:ext cx="64" cy="57"/>
              </a:xfrm>
              <a:custGeom>
                <a:avLst/>
                <a:gdLst>
                  <a:gd name="T0" fmla="*/ 56 w 448"/>
                  <a:gd name="T1" fmla="*/ 403 h 403"/>
                  <a:gd name="T2" fmla="*/ 56 w 448"/>
                  <a:gd name="T3" fmla="*/ 50 h 403"/>
                  <a:gd name="T4" fmla="*/ 448 w 448"/>
                  <a:gd name="T5" fmla="*/ 50 h 403"/>
                  <a:gd name="T6" fmla="*/ 448 w 448"/>
                  <a:gd name="T7" fmla="*/ 0 h 403"/>
                  <a:gd name="T8" fmla="*/ 0 w 448"/>
                  <a:gd name="T9" fmla="*/ 0 h 403"/>
                  <a:gd name="T10" fmla="*/ 0 w 448"/>
                  <a:gd name="T11" fmla="*/ 403 h 403"/>
                  <a:gd name="T12" fmla="*/ 56 w 448"/>
                  <a:gd name="T13" fmla="*/ 403 h 403"/>
                </a:gdLst>
                <a:ahLst/>
                <a:cxnLst>
                  <a:cxn ang="0">
                    <a:pos x="T0" y="T1"/>
                  </a:cxn>
                  <a:cxn ang="0">
                    <a:pos x="T2" y="T3"/>
                  </a:cxn>
                  <a:cxn ang="0">
                    <a:pos x="T4" y="T5"/>
                  </a:cxn>
                  <a:cxn ang="0">
                    <a:pos x="T6" y="T7"/>
                  </a:cxn>
                  <a:cxn ang="0">
                    <a:pos x="T8" y="T9"/>
                  </a:cxn>
                  <a:cxn ang="0">
                    <a:pos x="T10" y="T11"/>
                  </a:cxn>
                  <a:cxn ang="0">
                    <a:pos x="T12" y="T13"/>
                  </a:cxn>
                </a:cxnLst>
                <a:rect l="0" t="0" r="r" b="b"/>
                <a:pathLst>
                  <a:path w="448" h="403">
                    <a:moveTo>
                      <a:pt x="56" y="403"/>
                    </a:moveTo>
                    <a:lnTo>
                      <a:pt x="56" y="50"/>
                    </a:lnTo>
                    <a:lnTo>
                      <a:pt x="448" y="50"/>
                    </a:lnTo>
                    <a:lnTo>
                      <a:pt x="448" y="0"/>
                    </a:lnTo>
                    <a:lnTo>
                      <a:pt x="0" y="0"/>
                    </a:lnTo>
                    <a:lnTo>
                      <a:pt x="0" y="403"/>
                    </a:lnTo>
                    <a:lnTo>
                      <a:pt x="56" y="403"/>
                    </a:lnTo>
                    <a:close/>
                  </a:path>
                </a:pathLst>
              </a:custGeom>
              <a:grpFill/>
              <a:ln w="1588">
                <a:solidFill>
                  <a:srgbClr val="000000"/>
                </a:solidFill>
                <a:prstDash val="solid"/>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grpSp>
            <p:nvGrpSpPr>
              <p:cNvPr id="75" name="Group 205"/>
              <p:cNvGrpSpPr>
                <a:grpSpLocks/>
              </p:cNvGrpSpPr>
              <p:nvPr/>
            </p:nvGrpSpPr>
            <p:grpSpPr bwMode="auto">
              <a:xfrm>
                <a:off x="2267" y="821"/>
                <a:ext cx="73" cy="59"/>
                <a:chOff x="2267" y="821"/>
                <a:chExt cx="73" cy="59"/>
              </a:xfrm>
              <a:grpFill/>
            </p:grpSpPr>
            <p:sp>
              <p:nvSpPr>
                <p:cNvPr id="87" name="Oval 206"/>
                <p:cNvSpPr>
                  <a:spLocks noChangeArrowheads="1"/>
                </p:cNvSpPr>
                <p:nvPr/>
              </p:nvSpPr>
              <p:spPr bwMode="auto">
                <a:xfrm>
                  <a:off x="2273" y="821"/>
                  <a:ext cx="67" cy="59"/>
                </a:xfrm>
                <a:prstGeom prst="ellipse">
                  <a:avLst/>
                </a:prstGeom>
                <a:grpFill/>
                <a:ln w="1588">
                  <a:solidFill>
                    <a:srgbClr val="000000"/>
                  </a:solidFill>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88" name="Oval 207"/>
                <p:cNvSpPr>
                  <a:spLocks noChangeArrowheads="1"/>
                </p:cNvSpPr>
                <p:nvPr/>
              </p:nvSpPr>
              <p:spPr bwMode="auto">
                <a:xfrm>
                  <a:off x="2267" y="821"/>
                  <a:ext cx="66" cy="59"/>
                </a:xfrm>
                <a:prstGeom prst="ellipse">
                  <a:avLst/>
                </a:prstGeom>
                <a:grpFill/>
                <a:ln w="1588">
                  <a:solidFill>
                    <a:srgbClr val="000000"/>
                  </a:solidFill>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grpSp>
          <p:grpSp>
            <p:nvGrpSpPr>
              <p:cNvPr id="76" name="Group 208"/>
              <p:cNvGrpSpPr>
                <a:grpSpLocks/>
              </p:cNvGrpSpPr>
              <p:nvPr/>
            </p:nvGrpSpPr>
            <p:grpSpPr bwMode="auto">
              <a:xfrm>
                <a:off x="2296" y="933"/>
                <a:ext cx="24" cy="58"/>
                <a:chOff x="2296" y="933"/>
                <a:chExt cx="24" cy="58"/>
              </a:xfrm>
              <a:grpFill/>
            </p:grpSpPr>
            <p:sp>
              <p:nvSpPr>
                <p:cNvPr id="78" name="Rectangle 209"/>
                <p:cNvSpPr>
                  <a:spLocks noChangeArrowheads="1"/>
                </p:cNvSpPr>
                <p:nvPr/>
              </p:nvSpPr>
              <p:spPr bwMode="auto">
                <a:xfrm>
                  <a:off x="2296" y="933"/>
                  <a:ext cx="24" cy="58"/>
                </a:xfrm>
                <a:prstGeom prst="rect">
                  <a:avLst/>
                </a:prstGeom>
                <a:grpFill/>
                <a:ln w="1588">
                  <a:solidFill>
                    <a:srgbClr val="000000"/>
                  </a:solidFill>
                  <a:miter lim="800000"/>
                  <a:headEnd/>
                  <a:tailEnd/>
                </a:ln>
              </p:spPr>
              <p:txBody>
                <a:bodyPr/>
                <a:lstStyle/>
                <a:p>
                  <a:endParaRPr lang="zh-CN" altLang="en-US" sz="1400" b="1">
                    <a:solidFill>
                      <a:srgbClr val="0000FF"/>
                    </a:solidFill>
                    <a:latin typeface="微软雅黑" pitchFamily="34" charset="-122"/>
                    <a:ea typeface="微软雅黑" pitchFamily="34" charset="-122"/>
                  </a:endParaRPr>
                </a:p>
              </p:txBody>
            </p:sp>
            <p:grpSp>
              <p:nvGrpSpPr>
                <p:cNvPr id="79" name="Group 210"/>
                <p:cNvGrpSpPr>
                  <a:grpSpLocks/>
                </p:cNvGrpSpPr>
                <p:nvPr/>
              </p:nvGrpSpPr>
              <p:grpSpPr bwMode="auto">
                <a:xfrm>
                  <a:off x="2296" y="941"/>
                  <a:ext cx="24" cy="44"/>
                  <a:chOff x="2296" y="941"/>
                  <a:chExt cx="24" cy="44"/>
                </a:xfrm>
                <a:grpFill/>
              </p:grpSpPr>
              <p:sp>
                <p:nvSpPr>
                  <p:cNvPr id="80" name="Line 211"/>
                  <p:cNvSpPr>
                    <a:spLocks noChangeShapeType="1"/>
                  </p:cNvSpPr>
                  <p:nvPr/>
                </p:nvSpPr>
                <p:spPr bwMode="auto">
                  <a:xfrm>
                    <a:off x="2296" y="948"/>
                    <a:ext cx="24" cy="1"/>
                  </a:xfrm>
                  <a:prstGeom prst="line">
                    <a:avLst/>
                  </a:prstGeom>
                  <a:grpFill/>
                  <a:ln w="1588">
                    <a:solidFill>
                      <a:srgbClr val="000000"/>
                    </a:solidFill>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81" name="Line 212"/>
                  <p:cNvSpPr>
                    <a:spLocks noChangeShapeType="1"/>
                  </p:cNvSpPr>
                  <p:nvPr/>
                </p:nvSpPr>
                <p:spPr bwMode="auto">
                  <a:xfrm>
                    <a:off x="2296" y="970"/>
                    <a:ext cx="24" cy="1"/>
                  </a:xfrm>
                  <a:prstGeom prst="line">
                    <a:avLst/>
                  </a:prstGeom>
                  <a:grpFill/>
                  <a:ln w="1588">
                    <a:solidFill>
                      <a:srgbClr val="000000"/>
                    </a:solidFill>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82" name="Line 213"/>
                  <p:cNvSpPr>
                    <a:spLocks noChangeShapeType="1"/>
                  </p:cNvSpPr>
                  <p:nvPr/>
                </p:nvSpPr>
                <p:spPr bwMode="auto">
                  <a:xfrm>
                    <a:off x="2296" y="962"/>
                    <a:ext cx="24" cy="1"/>
                  </a:xfrm>
                  <a:prstGeom prst="line">
                    <a:avLst/>
                  </a:prstGeom>
                  <a:grpFill/>
                  <a:ln w="1588">
                    <a:solidFill>
                      <a:srgbClr val="000000"/>
                    </a:solidFill>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83" name="Line 214"/>
                  <p:cNvSpPr>
                    <a:spLocks noChangeShapeType="1"/>
                  </p:cNvSpPr>
                  <p:nvPr/>
                </p:nvSpPr>
                <p:spPr bwMode="auto">
                  <a:xfrm>
                    <a:off x="2296" y="955"/>
                    <a:ext cx="24" cy="1"/>
                  </a:xfrm>
                  <a:prstGeom prst="line">
                    <a:avLst/>
                  </a:prstGeom>
                  <a:grpFill/>
                  <a:ln w="1588">
                    <a:solidFill>
                      <a:srgbClr val="000000"/>
                    </a:solidFill>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84" name="Line 215"/>
                  <p:cNvSpPr>
                    <a:spLocks noChangeShapeType="1"/>
                  </p:cNvSpPr>
                  <p:nvPr/>
                </p:nvSpPr>
                <p:spPr bwMode="auto">
                  <a:xfrm>
                    <a:off x="2296" y="941"/>
                    <a:ext cx="24" cy="1"/>
                  </a:xfrm>
                  <a:prstGeom prst="line">
                    <a:avLst/>
                  </a:prstGeom>
                  <a:grpFill/>
                  <a:ln w="1588">
                    <a:solidFill>
                      <a:srgbClr val="000000"/>
                    </a:solidFill>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85" name="Line 216"/>
                  <p:cNvSpPr>
                    <a:spLocks noChangeShapeType="1"/>
                  </p:cNvSpPr>
                  <p:nvPr/>
                </p:nvSpPr>
                <p:spPr bwMode="auto">
                  <a:xfrm>
                    <a:off x="2296" y="977"/>
                    <a:ext cx="24" cy="1"/>
                  </a:xfrm>
                  <a:prstGeom prst="line">
                    <a:avLst/>
                  </a:prstGeom>
                  <a:grpFill/>
                  <a:ln w="1588">
                    <a:solidFill>
                      <a:srgbClr val="000000"/>
                    </a:solidFill>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86" name="Line 217"/>
                  <p:cNvSpPr>
                    <a:spLocks noChangeShapeType="1"/>
                  </p:cNvSpPr>
                  <p:nvPr/>
                </p:nvSpPr>
                <p:spPr bwMode="auto">
                  <a:xfrm>
                    <a:off x="2296" y="984"/>
                    <a:ext cx="24" cy="1"/>
                  </a:xfrm>
                  <a:prstGeom prst="line">
                    <a:avLst/>
                  </a:prstGeom>
                  <a:grpFill/>
                  <a:ln w="1588">
                    <a:solidFill>
                      <a:srgbClr val="000000"/>
                    </a:solidFill>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grpSp>
          </p:grpSp>
          <p:sp>
            <p:nvSpPr>
              <p:cNvPr id="77" name="Rectangle 218"/>
              <p:cNvSpPr>
                <a:spLocks noChangeArrowheads="1"/>
              </p:cNvSpPr>
              <p:nvPr/>
            </p:nvSpPr>
            <p:spPr bwMode="auto">
              <a:xfrm>
                <a:off x="2448" y="948"/>
                <a:ext cx="8" cy="14"/>
              </a:xfrm>
              <a:prstGeom prst="rect">
                <a:avLst/>
              </a:prstGeom>
              <a:grpFill/>
              <a:ln w="1588">
                <a:solidFill>
                  <a:srgbClr val="000000"/>
                </a:solidFill>
                <a:miter lim="800000"/>
                <a:headEnd/>
                <a:tailEnd/>
              </a:ln>
            </p:spPr>
            <p:txBody>
              <a:bodyPr/>
              <a:lstStyle/>
              <a:p>
                <a:endParaRPr lang="zh-CN" altLang="en-US" sz="1400" b="1">
                  <a:solidFill>
                    <a:srgbClr val="0000FF"/>
                  </a:solidFill>
                  <a:latin typeface="微软雅黑" pitchFamily="34" charset="-122"/>
                  <a:ea typeface="微软雅黑" pitchFamily="34" charset="-122"/>
                </a:endParaRPr>
              </a:p>
            </p:txBody>
          </p:sp>
        </p:grpSp>
        <p:grpSp>
          <p:nvGrpSpPr>
            <p:cNvPr id="40" name="Group 219"/>
            <p:cNvGrpSpPr>
              <a:grpSpLocks/>
            </p:cNvGrpSpPr>
            <p:nvPr/>
          </p:nvGrpSpPr>
          <p:grpSpPr bwMode="auto">
            <a:xfrm>
              <a:off x="2382" y="788"/>
              <a:ext cx="40" cy="40"/>
              <a:chOff x="2382" y="788"/>
              <a:chExt cx="40" cy="40"/>
            </a:xfrm>
            <a:grpFill/>
          </p:grpSpPr>
          <p:sp>
            <p:nvSpPr>
              <p:cNvPr id="53" name="Freeform 220"/>
              <p:cNvSpPr>
                <a:spLocks/>
              </p:cNvSpPr>
              <p:nvPr/>
            </p:nvSpPr>
            <p:spPr bwMode="auto">
              <a:xfrm>
                <a:off x="2404" y="800"/>
                <a:ext cx="18" cy="28"/>
              </a:xfrm>
              <a:custGeom>
                <a:avLst/>
                <a:gdLst>
                  <a:gd name="T0" fmla="*/ 106 w 127"/>
                  <a:gd name="T1" fmla="*/ 0 h 195"/>
                  <a:gd name="T2" fmla="*/ 0 w 127"/>
                  <a:gd name="T3" fmla="*/ 164 h 195"/>
                  <a:gd name="T4" fmla="*/ 21 w 127"/>
                  <a:gd name="T5" fmla="*/ 195 h 195"/>
                  <a:gd name="T6" fmla="*/ 127 w 127"/>
                  <a:gd name="T7" fmla="*/ 6 h 195"/>
                  <a:gd name="T8" fmla="*/ 106 w 127"/>
                  <a:gd name="T9" fmla="*/ 0 h 195"/>
                </a:gdLst>
                <a:ahLst/>
                <a:cxnLst>
                  <a:cxn ang="0">
                    <a:pos x="T0" y="T1"/>
                  </a:cxn>
                  <a:cxn ang="0">
                    <a:pos x="T2" y="T3"/>
                  </a:cxn>
                  <a:cxn ang="0">
                    <a:pos x="T4" y="T5"/>
                  </a:cxn>
                  <a:cxn ang="0">
                    <a:pos x="T6" y="T7"/>
                  </a:cxn>
                  <a:cxn ang="0">
                    <a:pos x="T8" y="T9"/>
                  </a:cxn>
                </a:cxnLst>
                <a:rect l="0" t="0" r="r" b="b"/>
                <a:pathLst>
                  <a:path w="127" h="195">
                    <a:moveTo>
                      <a:pt x="106" y="0"/>
                    </a:moveTo>
                    <a:lnTo>
                      <a:pt x="0" y="164"/>
                    </a:lnTo>
                    <a:lnTo>
                      <a:pt x="21" y="195"/>
                    </a:lnTo>
                    <a:lnTo>
                      <a:pt x="127" y="6"/>
                    </a:lnTo>
                    <a:lnTo>
                      <a:pt x="106" y="0"/>
                    </a:lnTo>
                    <a:close/>
                  </a:path>
                </a:pathLst>
              </a:custGeom>
              <a:grpFill/>
              <a:ln w="1588">
                <a:solidFill>
                  <a:srgbClr val="000000"/>
                </a:solidFill>
                <a:prstDash val="solid"/>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54" name="Freeform 221"/>
              <p:cNvSpPr>
                <a:spLocks/>
              </p:cNvSpPr>
              <p:nvPr/>
            </p:nvSpPr>
            <p:spPr bwMode="auto">
              <a:xfrm>
                <a:off x="2382" y="788"/>
                <a:ext cx="35" cy="8"/>
              </a:xfrm>
              <a:custGeom>
                <a:avLst/>
                <a:gdLst>
                  <a:gd name="T0" fmla="*/ 238 w 246"/>
                  <a:gd name="T1" fmla="*/ 0 h 57"/>
                  <a:gd name="T2" fmla="*/ 0 w 246"/>
                  <a:gd name="T3" fmla="*/ 31 h 57"/>
                  <a:gd name="T4" fmla="*/ 35 w 246"/>
                  <a:gd name="T5" fmla="*/ 57 h 57"/>
                  <a:gd name="T6" fmla="*/ 246 w 246"/>
                  <a:gd name="T7" fmla="*/ 19 h 57"/>
                  <a:gd name="T8" fmla="*/ 238 w 246"/>
                  <a:gd name="T9" fmla="*/ 0 h 57"/>
                </a:gdLst>
                <a:ahLst/>
                <a:cxnLst>
                  <a:cxn ang="0">
                    <a:pos x="T0" y="T1"/>
                  </a:cxn>
                  <a:cxn ang="0">
                    <a:pos x="T2" y="T3"/>
                  </a:cxn>
                  <a:cxn ang="0">
                    <a:pos x="T4" y="T5"/>
                  </a:cxn>
                  <a:cxn ang="0">
                    <a:pos x="T6" y="T7"/>
                  </a:cxn>
                  <a:cxn ang="0">
                    <a:pos x="T8" y="T9"/>
                  </a:cxn>
                </a:cxnLst>
                <a:rect l="0" t="0" r="r" b="b"/>
                <a:pathLst>
                  <a:path w="246" h="57">
                    <a:moveTo>
                      <a:pt x="238" y="0"/>
                    </a:moveTo>
                    <a:lnTo>
                      <a:pt x="0" y="31"/>
                    </a:lnTo>
                    <a:lnTo>
                      <a:pt x="35" y="57"/>
                    </a:lnTo>
                    <a:lnTo>
                      <a:pt x="246" y="19"/>
                    </a:lnTo>
                    <a:lnTo>
                      <a:pt x="238" y="0"/>
                    </a:lnTo>
                    <a:close/>
                  </a:path>
                </a:pathLst>
              </a:custGeom>
              <a:grpFill/>
              <a:ln w="1588">
                <a:solidFill>
                  <a:srgbClr val="000000"/>
                </a:solidFill>
                <a:prstDash val="solid"/>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grpSp>
        <p:grpSp>
          <p:nvGrpSpPr>
            <p:cNvPr id="41" name="Group 222"/>
            <p:cNvGrpSpPr>
              <a:grpSpLocks/>
            </p:cNvGrpSpPr>
            <p:nvPr/>
          </p:nvGrpSpPr>
          <p:grpSpPr bwMode="auto">
            <a:xfrm>
              <a:off x="2302" y="723"/>
              <a:ext cx="132" cy="186"/>
              <a:chOff x="2302" y="723"/>
              <a:chExt cx="132" cy="186"/>
            </a:xfrm>
            <a:grpFill/>
          </p:grpSpPr>
          <p:sp>
            <p:nvSpPr>
              <p:cNvPr id="51" name="Freeform 223"/>
              <p:cNvSpPr>
                <a:spLocks/>
              </p:cNvSpPr>
              <p:nvPr/>
            </p:nvSpPr>
            <p:spPr bwMode="auto">
              <a:xfrm>
                <a:off x="2302" y="724"/>
                <a:ext cx="132" cy="185"/>
              </a:xfrm>
              <a:custGeom>
                <a:avLst/>
                <a:gdLst>
                  <a:gd name="T0" fmla="*/ 30 w 920"/>
                  <a:gd name="T1" fmla="*/ 47 h 1300"/>
                  <a:gd name="T2" fmla="*/ 16 w 920"/>
                  <a:gd name="T3" fmla="*/ 85 h 1300"/>
                  <a:gd name="T4" fmla="*/ 4 w 920"/>
                  <a:gd name="T5" fmla="*/ 132 h 1300"/>
                  <a:gd name="T6" fmla="*/ 0 w 920"/>
                  <a:gd name="T7" fmla="*/ 183 h 1300"/>
                  <a:gd name="T8" fmla="*/ 0 w 920"/>
                  <a:gd name="T9" fmla="*/ 233 h 1300"/>
                  <a:gd name="T10" fmla="*/ 12 w 920"/>
                  <a:gd name="T11" fmla="*/ 299 h 1300"/>
                  <a:gd name="T12" fmla="*/ 23 w 920"/>
                  <a:gd name="T13" fmla="*/ 381 h 1300"/>
                  <a:gd name="T14" fmla="*/ 44 w 920"/>
                  <a:gd name="T15" fmla="*/ 473 h 1300"/>
                  <a:gd name="T16" fmla="*/ 79 w 920"/>
                  <a:gd name="T17" fmla="*/ 578 h 1300"/>
                  <a:gd name="T18" fmla="*/ 131 w 920"/>
                  <a:gd name="T19" fmla="*/ 679 h 1300"/>
                  <a:gd name="T20" fmla="*/ 215 w 920"/>
                  <a:gd name="T21" fmla="*/ 799 h 1300"/>
                  <a:gd name="T22" fmla="*/ 299 w 920"/>
                  <a:gd name="T23" fmla="*/ 912 h 1300"/>
                  <a:gd name="T24" fmla="*/ 369 w 920"/>
                  <a:gd name="T25" fmla="*/ 988 h 1300"/>
                  <a:gd name="T26" fmla="*/ 467 w 920"/>
                  <a:gd name="T27" fmla="*/ 1079 h 1300"/>
                  <a:gd name="T28" fmla="*/ 569 w 920"/>
                  <a:gd name="T29" fmla="*/ 1155 h 1300"/>
                  <a:gd name="T30" fmla="*/ 660 w 920"/>
                  <a:gd name="T31" fmla="*/ 1215 h 1300"/>
                  <a:gd name="T32" fmla="*/ 726 w 920"/>
                  <a:gd name="T33" fmla="*/ 1253 h 1300"/>
                  <a:gd name="T34" fmla="*/ 793 w 920"/>
                  <a:gd name="T35" fmla="*/ 1281 h 1300"/>
                  <a:gd name="T36" fmla="*/ 846 w 920"/>
                  <a:gd name="T37" fmla="*/ 1300 h 1300"/>
                  <a:gd name="T38" fmla="*/ 888 w 920"/>
                  <a:gd name="T39" fmla="*/ 1300 h 1300"/>
                  <a:gd name="T40" fmla="*/ 920 w 920"/>
                  <a:gd name="T41" fmla="*/ 1284 h 1300"/>
                  <a:gd name="T42" fmla="*/ 61 w 920"/>
                  <a:gd name="T43" fmla="*/ 0 h 1300"/>
                  <a:gd name="T44" fmla="*/ 30 w 920"/>
                  <a:gd name="T45" fmla="*/ 47 h 1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20" h="1300">
                    <a:moveTo>
                      <a:pt x="30" y="47"/>
                    </a:moveTo>
                    <a:lnTo>
                      <a:pt x="16" y="85"/>
                    </a:lnTo>
                    <a:lnTo>
                      <a:pt x="4" y="132"/>
                    </a:lnTo>
                    <a:lnTo>
                      <a:pt x="0" y="183"/>
                    </a:lnTo>
                    <a:lnTo>
                      <a:pt x="0" y="233"/>
                    </a:lnTo>
                    <a:lnTo>
                      <a:pt x="12" y="299"/>
                    </a:lnTo>
                    <a:lnTo>
                      <a:pt x="23" y="381"/>
                    </a:lnTo>
                    <a:lnTo>
                      <a:pt x="44" y="473"/>
                    </a:lnTo>
                    <a:lnTo>
                      <a:pt x="79" y="578"/>
                    </a:lnTo>
                    <a:lnTo>
                      <a:pt x="131" y="679"/>
                    </a:lnTo>
                    <a:lnTo>
                      <a:pt x="215" y="799"/>
                    </a:lnTo>
                    <a:lnTo>
                      <a:pt x="299" y="912"/>
                    </a:lnTo>
                    <a:lnTo>
                      <a:pt x="369" y="988"/>
                    </a:lnTo>
                    <a:lnTo>
                      <a:pt x="467" y="1079"/>
                    </a:lnTo>
                    <a:lnTo>
                      <a:pt x="569" y="1155"/>
                    </a:lnTo>
                    <a:lnTo>
                      <a:pt x="660" y="1215"/>
                    </a:lnTo>
                    <a:lnTo>
                      <a:pt x="726" y="1253"/>
                    </a:lnTo>
                    <a:lnTo>
                      <a:pt x="793" y="1281"/>
                    </a:lnTo>
                    <a:lnTo>
                      <a:pt x="846" y="1300"/>
                    </a:lnTo>
                    <a:lnTo>
                      <a:pt x="888" y="1300"/>
                    </a:lnTo>
                    <a:lnTo>
                      <a:pt x="920" y="1284"/>
                    </a:lnTo>
                    <a:lnTo>
                      <a:pt x="61" y="0"/>
                    </a:lnTo>
                    <a:lnTo>
                      <a:pt x="30" y="47"/>
                    </a:lnTo>
                    <a:close/>
                  </a:path>
                </a:pathLst>
              </a:custGeom>
              <a:grpFill/>
              <a:ln w="1588">
                <a:solidFill>
                  <a:srgbClr val="000000"/>
                </a:solidFill>
                <a:prstDash val="solid"/>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52" name="Freeform 224"/>
              <p:cNvSpPr>
                <a:spLocks/>
              </p:cNvSpPr>
              <p:nvPr/>
            </p:nvSpPr>
            <p:spPr bwMode="auto">
              <a:xfrm>
                <a:off x="2310" y="723"/>
                <a:ext cx="124" cy="184"/>
              </a:xfrm>
              <a:custGeom>
                <a:avLst/>
                <a:gdLst>
                  <a:gd name="T0" fmla="*/ 7 w 866"/>
                  <a:gd name="T1" fmla="*/ 0 h 1288"/>
                  <a:gd name="T2" fmla="*/ 0 w 866"/>
                  <a:gd name="T3" fmla="*/ 26 h 1288"/>
                  <a:gd name="T4" fmla="*/ 0 w 866"/>
                  <a:gd name="T5" fmla="*/ 82 h 1288"/>
                  <a:gd name="T6" fmla="*/ 4 w 866"/>
                  <a:gd name="T7" fmla="*/ 149 h 1288"/>
                  <a:gd name="T8" fmla="*/ 11 w 866"/>
                  <a:gd name="T9" fmla="*/ 202 h 1288"/>
                  <a:gd name="T10" fmla="*/ 21 w 866"/>
                  <a:gd name="T11" fmla="*/ 272 h 1288"/>
                  <a:gd name="T12" fmla="*/ 35 w 866"/>
                  <a:gd name="T13" fmla="*/ 354 h 1288"/>
                  <a:gd name="T14" fmla="*/ 56 w 866"/>
                  <a:gd name="T15" fmla="*/ 439 h 1288"/>
                  <a:gd name="T16" fmla="*/ 98 w 866"/>
                  <a:gd name="T17" fmla="*/ 547 h 1288"/>
                  <a:gd name="T18" fmla="*/ 161 w 866"/>
                  <a:gd name="T19" fmla="*/ 670 h 1288"/>
                  <a:gd name="T20" fmla="*/ 231 w 866"/>
                  <a:gd name="T21" fmla="*/ 771 h 1288"/>
                  <a:gd name="T22" fmla="*/ 315 w 866"/>
                  <a:gd name="T23" fmla="*/ 878 h 1288"/>
                  <a:gd name="T24" fmla="*/ 392 w 866"/>
                  <a:gd name="T25" fmla="*/ 960 h 1288"/>
                  <a:gd name="T26" fmla="*/ 452 w 866"/>
                  <a:gd name="T27" fmla="*/ 1016 h 1288"/>
                  <a:gd name="T28" fmla="*/ 508 w 866"/>
                  <a:gd name="T29" fmla="*/ 1068 h 1288"/>
                  <a:gd name="T30" fmla="*/ 567 w 866"/>
                  <a:gd name="T31" fmla="*/ 1118 h 1288"/>
                  <a:gd name="T32" fmla="*/ 634 w 866"/>
                  <a:gd name="T33" fmla="*/ 1168 h 1288"/>
                  <a:gd name="T34" fmla="*/ 679 w 866"/>
                  <a:gd name="T35" fmla="*/ 1200 h 1288"/>
                  <a:gd name="T36" fmla="*/ 728 w 866"/>
                  <a:gd name="T37" fmla="*/ 1228 h 1288"/>
                  <a:gd name="T38" fmla="*/ 782 w 866"/>
                  <a:gd name="T39" fmla="*/ 1256 h 1288"/>
                  <a:gd name="T40" fmla="*/ 827 w 866"/>
                  <a:gd name="T41" fmla="*/ 1282 h 1288"/>
                  <a:gd name="T42" fmla="*/ 855 w 866"/>
                  <a:gd name="T43" fmla="*/ 1288 h 1288"/>
                  <a:gd name="T44" fmla="*/ 866 w 866"/>
                  <a:gd name="T45" fmla="*/ 1270 h 1288"/>
                  <a:gd name="T46" fmla="*/ 863 w 866"/>
                  <a:gd name="T47" fmla="*/ 1243 h 1288"/>
                  <a:gd name="T48" fmla="*/ 856 w 866"/>
                  <a:gd name="T49" fmla="*/ 1213 h 1288"/>
                  <a:gd name="T50" fmla="*/ 845 w 866"/>
                  <a:gd name="T51" fmla="*/ 1159 h 1288"/>
                  <a:gd name="T52" fmla="*/ 831 w 866"/>
                  <a:gd name="T53" fmla="*/ 1089 h 1288"/>
                  <a:gd name="T54" fmla="*/ 813 w 866"/>
                  <a:gd name="T55" fmla="*/ 1023 h 1288"/>
                  <a:gd name="T56" fmla="*/ 792 w 866"/>
                  <a:gd name="T57" fmla="*/ 947 h 1288"/>
                  <a:gd name="T58" fmla="*/ 764 w 866"/>
                  <a:gd name="T59" fmla="*/ 866 h 1288"/>
                  <a:gd name="T60" fmla="*/ 733 w 866"/>
                  <a:gd name="T61" fmla="*/ 802 h 1288"/>
                  <a:gd name="T62" fmla="*/ 707 w 866"/>
                  <a:gd name="T63" fmla="*/ 746 h 1288"/>
                  <a:gd name="T64" fmla="*/ 666 w 866"/>
                  <a:gd name="T65" fmla="*/ 672 h 1288"/>
                  <a:gd name="T66" fmla="*/ 627 w 866"/>
                  <a:gd name="T67" fmla="*/ 607 h 1288"/>
                  <a:gd name="T68" fmla="*/ 579 w 866"/>
                  <a:gd name="T69" fmla="*/ 537 h 1288"/>
                  <a:gd name="T70" fmla="*/ 504 w 866"/>
                  <a:gd name="T71" fmla="*/ 448 h 1288"/>
                  <a:gd name="T72" fmla="*/ 452 w 866"/>
                  <a:gd name="T73" fmla="*/ 385 h 1288"/>
                  <a:gd name="T74" fmla="*/ 376 w 866"/>
                  <a:gd name="T75" fmla="*/ 299 h 1288"/>
                  <a:gd name="T76" fmla="*/ 305 w 866"/>
                  <a:gd name="T77" fmla="*/ 237 h 1288"/>
                  <a:gd name="T78" fmla="*/ 235 w 866"/>
                  <a:gd name="T79" fmla="*/ 173 h 1288"/>
                  <a:gd name="T80" fmla="*/ 182 w 866"/>
                  <a:gd name="T81" fmla="*/ 127 h 1288"/>
                  <a:gd name="T82" fmla="*/ 126 w 866"/>
                  <a:gd name="T83" fmla="*/ 78 h 1288"/>
                  <a:gd name="T84" fmla="*/ 84 w 866"/>
                  <a:gd name="T85" fmla="*/ 45 h 1288"/>
                  <a:gd name="T86" fmla="*/ 42 w 866"/>
                  <a:gd name="T87" fmla="*/ 13 h 1288"/>
                  <a:gd name="T88" fmla="*/ 7 w 866"/>
                  <a:gd name="T89" fmla="*/ 0 h 1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66" h="1288">
                    <a:moveTo>
                      <a:pt x="7" y="0"/>
                    </a:moveTo>
                    <a:lnTo>
                      <a:pt x="0" y="26"/>
                    </a:lnTo>
                    <a:lnTo>
                      <a:pt x="0" y="82"/>
                    </a:lnTo>
                    <a:lnTo>
                      <a:pt x="4" y="149"/>
                    </a:lnTo>
                    <a:lnTo>
                      <a:pt x="11" y="202"/>
                    </a:lnTo>
                    <a:lnTo>
                      <a:pt x="21" y="272"/>
                    </a:lnTo>
                    <a:lnTo>
                      <a:pt x="35" y="354"/>
                    </a:lnTo>
                    <a:lnTo>
                      <a:pt x="56" y="439"/>
                    </a:lnTo>
                    <a:lnTo>
                      <a:pt x="98" y="547"/>
                    </a:lnTo>
                    <a:lnTo>
                      <a:pt x="161" y="670"/>
                    </a:lnTo>
                    <a:lnTo>
                      <a:pt x="231" y="771"/>
                    </a:lnTo>
                    <a:lnTo>
                      <a:pt x="315" y="878"/>
                    </a:lnTo>
                    <a:lnTo>
                      <a:pt x="392" y="960"/>
                    </a:lnTo>
                    <a:lnTo>
                      <a:pt x="452" y="1016"/>
                    </a:lnTo>
                    <a:lnTo>
                      <a:pt x="508" y="1068"/>
                    </a:lnTo>
                    <a:lnTo>
                      <a:pt x="567" y="1118"/>
                    </a:lnTo>
                    <a:lnTo>
                      <a:pt x="634" y="1168"/>
                    </a:lnTo>
                    <a:lnTo>
                      <a:pt x="679" y="1200"/>
                    </a:lnTo>
                    <a:lnTo>
                      <a:pt x="728" y="1228"/>
                    </a:lnTo>
                    <a:lnTo>
                      <a:pt x="782" y="1256"/>
                    </a:lnTo>
                    <a:lnTo>
                      <a:pt x="827" y="1282"/>
                    </a:lnTo>
                    <a:lnTo>
                      <a:pt x="855" y="1288"/>
                    </a:lnTo>
                    <a:lnTo>
                      <a:pt x="866" y="1270"/>
                    </a:lnTo>
                    <a:lnTo>
                      <a:pt x="863" y="1243"/>
                    </a:lnTo>
                    <a:lnTo>
                      <a:pt x="856" y="1213"/>
                    </a:lnTo>
                    <a:lnTo>
                      <a:pt x="845" y="1159"/>
                    </a:lnTo>
                    <a:lnTo>
                      <a:pt x="831" y="1089"/>
                    </a:lnTo>
                    <a:lnTo>
                      <a:pt x="813" y="1023"/>
                    </a:lnTo>
                    <a:lnTo>
                      <a:pt x="792" y="947"/>
                    </a:lnTo>
                    <a:lnTo>
                      <a:pt x="764" y="866"/>
                    </a:lnTo>
                    <a:lnTo>
                      <a:pt x="733" y="802"/>
                    </a:lnTo>
                    <a:lnTo>
                      <a:pt x="707" y="746"/>
                    </a:lnTo>
                    <a:lnTo>
                      <a:pt x="666" y="672"/>
                    </a:lnTo>
                    <a:lnTo>
                      <a:pt x="627" y="607"/>
                    </a:lnTo>
                    <a:lnTo>
                      <a:pt x="579" y="537"/>
                    </a:lnTo>
                    <a:lnTo>
                      <a:pt x="504" y="448"/>
                    </a:lnTo>
                    <a:lnTo>
                      <a:pt x="452" y="385"/>
                    </a:lnTo>
                    <a:lnTo>
                      <a:pt x="376" y="299"/>
                    </a:lnTo>
                    <a:lnTo>
                      <a:pt x="305" y="237"/>
                    </a:lnTo>
                    <a:lnTo>
                      <a:pt x="235" y="173"/>
                    </a:lnTo>
                    <a:lnTo>
                      <a:pt x="182" y="127"/>
                    </a:lnTo>
                    <a:lnTo>
                      <a:pt x="126" y="78"/>
                    </a:lnTo>
                    <a:lnTo>
                      <a:pt x="84" y="45"/>
                    </a:lnTo>
                    <a:lnTo>
                      <a:pt x="42" y="13"/>
                    </a:lnTo>
                    <a:lnTo>
                      <a:pt x="7" y="0"/>
                    </a:lnTo>
                    <a:close/>
                  </a:path>
                </a:pathLst>
              </a:custGeom>
              <a:grpFill/>
              <a:ln w="1588">
                <a:solidFill>
                  <a:srgbClr val="000000"/>
                </a:solidFill>
                <a:prstDash val="solid"/>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grpSp>
        <p:grpSp>
          <p:nvGrpSpPr>
            <p:cNvPr id="42" name="Group 225"/>
            <p:cNvGrpSpPr>
              <a:grpSpLocks/>
            </p:cNvGrpSpPr>
            <p:nvPr/>
          </p:nvGrpSpPr>
          <p:grpSpPr bwMode="auto">
            <a:xfrm>
              <a:off x="2315" y="770"/>
              <a:ext cx="126" cy="121"/>
              <a:chOff x="2315" y="770"/>
              <a:chExt cx="126" cy="121"/>
            </a:xfrm>
            <a:grpFill/>
          </p:grpSpPr>
          <p:sp>
            <p:nvSpPr>
              <p:cNvPr id="49" name="Freeform 226"/>
              <p:cNvSpPr>
                <a:spLocks/>
              </p:cNvSpPr>
              <p:nvPr/>
            </p:nvSpPr>
            <p:spPr bwMode="auto">
              <a:xfrm>
                <a:off x="2315" y="770"/>
                <a:ext cx="121" cy="8"/>
              </a:xfrm>
              <a:custGeom>
                <a:avLst/>
                <a:gdLst>
                  <a:gd name="T0" fmla="*/ 0 w 851"/>
                  <a:gd name="T1" fmla="*/ 0 h 57"/>
                  <a:gd name="T2" fmla="*/ 851 w 851"/>
                  <a:gd name="T3" fmla="*/ 32 h 57"/>
                  <a:gd name="T4" fmla="*/ 844 w 851"/>
                  <a:gd name="T5" fmla="*/ 57 h 57"/>
                  <a:gd name="T6" fmla="*/ 3 w 851"/>
                  <a:gd name="T7" fmla="*/ 26 h 57"/>
                  <a:gd name="T8" fmla="*/ 0 w 851"/>
                  <a:gd name="T9" fmla="*/ 0 h 57"/>
                </a:gdLst>
                <a:ahLst/>
                <a:cxnLst>
                  <a:cxn ang="0">
                    <a:pos x="T0" y="T1"/>
                  </a:cxn>
                  <a:cxn ang="0">
                    <a:pos x="T2" y="T3"/>
                  </a:cxn>
                  <a:cxn ang="0">
                    <a:pos x="T4" y="T5"/>
                  </a:cxn>
                  <a:cxn ang="0">
                    <a:pos x="T6" y="T7"/>
                  </a:cxn>
                  <a:cxn ang="0">
                    <a:pos x="T8" y="T9"/>
                  </a:cxn>
                </a:cxnLst>
                <a:rect l="0" t="0" r="r" b="b"/>
                <a:pathLst>
                  <a:path w="851" h="57">
                    <a:moveTo>
                      <a:pt x="0" y="0"/>
                    </a:moveTo>
                    <a:lnTo>
                      <a:pt x="851" y="32"/>
                    </a:lnTo>
                    <a:lnTo>
                      <a:pt x="844" y="57"/>
                    </a:lnTo>
                    <a:lnTo>
                      <a:pt x="3" y="26"/>
                    </a:lnTo>
                    <a:lnTo>
                      <a:pt x="0" y="0"/>
                    </a:lnTo>
                    <a:close/>
                  </a:path>
                </a:pathLst>
              </a:custGeom>
              <a:grpFill/>
              <a:ln w="1588">
                <a:solidFill>
                  <a:srgbClr val="000000"/>
                </a:solidFill>
                <a:prstDash val="solid"/>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50" name="Freeform 227"/>
              <p:cNvSpPr>
                <a:spLocks/>
              </p:cNvSpPr>
              <p:nvPr/>
            </p:nvSpPr>
            <p:spPr bwMode="auto">
              <a:xfrm>
                <a:off x="2398" y="794"/>
                <a:ext cx="43" cy="97"/>
              </a:xfrm>
              <a:custGeom>
                <a:avLst/>
                <a:gdLst>
                  <a:gd name="T0" fmla="*/ 267 w 302"/>
                  <a:gd name="T1" fmla="*/ 13 h 673"/>
                  <a:gd name="T2" fmla="*/ 0 w 302"/>
                  <a:gd name="T3" fmla="*/ 657 h 673"/>
                  <a:gd name="T4" fmla="*/ 25 w 302"/>
                  <a:gd name="T5" fmla="*/ 673 h 673"/>
                  <a:gd name="T6" fmla="*/ 302 w 302"/>
                  <a:gd name="T7" fmla="*/ 0 h 673"/>
                  <a:gd name="T8" fmla="*/ 267 w 302"/>
                  <a:gd name="T9" fmla="*/ 13 h 673"/>
                </a:gdLst>
                <a:ahLst/>
                <a:cxnLst>
                  <a:cxn ang="0">
                    <a:pos x="T0" y="T1"/>
                  </a:cxn>
                  <a:cxn ang="0">
                    <a:pos x="T2" y="T3"/>
                  </a:cxn>
                  <a:cxn ang="0">
                    <a:pos x="T4" y="T5"/>
                  </a:cxn>
                  <a:cxn ang="0">
                    <a:pos x="T6" y="T7"/>
                  </a:cxn>
                  <a:cxn ang="0">
                    <a:pos x="T8" y="T9"/>
                  </a:cxn>
                </a:cxnLst>
                <a:rect l="0" t="0" r="r" b="b"/>
                <a:pathLst>
                  <a:path w="302" h="673">
                    <a:moveTo>
                      <a:pt x="267" y="13"/>
                    </a:moveTo>
                    <a:lnTo>
                      <a:pt x="0" y="657"/>
                    </a:lnTo>
                    <a:lnTo>
                      <a:pt x="25" y="673"/>
                    </a:lnTo>
                    <a:lnTo>
                      <a:pt x="302" y="0"/>
                    </a:lnTo>
                    <a:lnTo>
                      <a:pt x="267" y="13"/>
                    </a:lnTo>
                    <a:close/>
                  </a:path>
                </a:pathLst>
              </a:custGeom>
              <a:grpFill/>
              <a:ln w="1588">
                <a:solidFill>
                  <a:srgbClr val="000000"/>
                </a:solidFill>
                <a:prstDash val="solid"/>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grpSp>
        <p:grpSp>
          <p:nvGrpSpPr>
            <p:cNvPr id="43" name="Group 228"/>
            <p:cNvGrpSpPr>
              <a:grpSpLocks/>
            </p:cNvGrpSpPr>
            <p:nvPr/>
          </p:nvGrpSpPr>
          <p:grpSpPr bwMode="auto">
            <a:xfrm>
              <a:off x="2413" y="772"/>
              <a:ext cx="51" cy="30"/>
              <a:chOff x="2413" y="772"/>
              <a:chExt cx="51" cy="30"/>
            </a:xfrm>
            <a:grpFill/>
          </p:grpSpPr>
          <p:sp>
            <p:nvSpPr>
              <p:cNvPr id="44" name="Freeform 229"/>
              <p:cNvSpPr>
                <a:spLocks/>
              </p:cNvSpPr>
              <p:nvPr/>
            </p:nvSpPr>
            <p:spPr bwMode="auto">
              <a:xfrm>
                <a:off x="2413" y="776"/>
                <a:ext cx="36" cy="26"/>
              </a:xfrm>
              <a:custGeom>
                <a:avLst/>
                <a:gdLst>
                  <a:gd name="T0" fmla="*/ 187 w 250"/>
                  <a:gd name="T1" fmla="*/ 0 h 184"/>
                  <a:gd name="T2" fmla="*/ 11 w 250"/>
                  <a:gd name="T3" fmla="*/ 57 h 184"/>
                  <a:gd name="T4" fmla="*/ 4 w 250"/>
                  <a:gd name="T5" fmla="*/ 67 h 184"/>
                  <a:gd name="T6" fmla="*/ 0 w 250"/>
                  <a:gd name="T7" fmla="*/ 86 h 184"/>
                  <a:gd name="T8" fmla="*/ 2 w 250"/>
                  <a:gd name="T9" fmla="*/ 112 h 184"/>
                  <a:gd name="T10" fmla="*/ 5 w 250"/>
                  <a:gd name="T11" fmla="*/ 128 h 184"/>
                  <a:gd name="T12" fmla="*/ 15 w 250"/>
                  <a:gd name="T13" fmla="*/ 151 h 184"/>
                  <a:gd name="T14" fmla="*/ 33 w 250"/>
                  <a:gd name="T15" fmla="*/ 169 h 184"/>
                  <a:gd name="T16" fmla="*/ 57 w 250"/>
                  <a:gd name="T17" fmla="*/ 181 h 184"/>
                  <a:gd name="T18" fmla="*/ 71 w 250"/>
                  <a:gd name="T19" fmla="*/ 184 h 184"/>
                  <a:gd name="T20" fmla="*/ 85 w 250"/>
                  <a:gd name="T21" fmla="*/ 184 h 184"/>
                  <a:gd name="T22" fmla="*/ 250 w 250"/>
                  <a:gd name="T23" fmla="*/ 114 h 184"/>
                  <a:gd name="T24" fmla="*/ 218 w 250"/>
                  <a:gd name="T25" fmla="*/ 92 h 184"/>
                  <a:gd name="T26" fmla="*/ 201 w 250"/>
                  <a:gd name="T27" fmla="*/ 70 h 184"/>
                  <a:gd name="T28" fmla="*/ 187 w 250"/>
                  <a:gd name="T29"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50" h="184">
                    <a:moveTo>
                      <a:pt x="187" y="0"/>
                    </a:moveTo>
                    <a:lnTo>
                      <a:pt x="11" y="57"/>
                    </a:lnTo>
                    <a:lnTo>
                      <a:pt x="4" y="67"/>
                    </a:lnTo>
                    <a:lnTo>
                      <a:pt x="0" y="86"/>
                    </a:lnTo>
                    <a:lnTo>
                      <a:pt x="2" y="112"/>
                    </a:lnTo>
                    <a:lnTo>
                      <a:pt x="5" y="128"/>
                    </a:lnTo>
                    <a:lnTo>
                      <a:pt x="15" y="151"/>
                    </a:lnTo>
                    <a:lnTo>
                      <a:pt x="33" y="169"/>
                    </a:lnTo>
                    <a:lnTo>
                      <a:pt x="57" y="181"/>
                    </a:lnTo>
                    <a:lnTo>
                      <a:pt x="71" y="184"/>
                    </a:lnTo>
                    <a:lnTo>
                      <a:pt x="85" y="184"/>
                    </a:lnTo>
                    <a:lnTo>
                      <a:pt x="250" y="114"/>
                    </a:lnTo>
                    <a:lnTo>
                      <a:pt x="218" y="92"/>
                    </a:lnTo>
                    <a:lnTo>
                      <a:pt x="201" y="70"/>
                    </a:lnTo>
                    <a:lnTo>
                      <a:pt x="187" y="0"/>
                    </a:lnTo>
                    <a:close/>
                  </a:path>
                </a:pathLst>
              </a:custGeom>
              <a:grpFill/>
              <a:ln w="1588">
                <a:solidFill>
                  <a:srgbClr val="000000"/>
                </a:solidFill>
                <a:prstDash val="solid"/>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45" name="Freeform 230"/>
              <p:cNvSpPr>
                <a:spLocks/>
              </p:cNvSpPr>
              <p:nvPr/>
            </p:nvSpPr>
            <p:spPr bwMode="auto">
              <a:xfrm>
                <a:off x="2434" y="772"/>
                <a:ext cx="20" cy="25"/>
              </a:xfrm>
              <a:custGeom>
                <a:avLst/>
                <a:gdLst>
                  <a:gd name="T0" fmla="*/ 81 w 139"/>
                  <a:gd name="T1" fmla="*/ 25 h 173"/>
                  <a:gd name="T2" fmla="*/ 74 w 139"/>
                  <a:gd name="T3" fmla="*/ 15 h 173"/>
                  <a:gd name="T4" fmla="*/ 60 w 139"/>
                  <a:gd name="T5" fmla="*/ 5 h 173"/>
                  <a:gd name="T6" fmla="*/ 36 w 139"/>
                  <a:gd name="T7" fmla="*/ 0 h 173"/>
                  <a:gd name="T8" fmla="*/ 22 w 139"/>
                  <a:gd name="T9" fmla="*/ 2 h 173"/>
                  <a:gd name="T10" fmla="*/ 13 w 139"/>
                  <a:gd name="T11" fmla="*/ 12 h 173"/>
                  <a:gd name="T12" fmla="*/ 4 w 139"/>
                  <a:gd name="T13" fmla="*/ 25 h 173"/>
                  <a:gd name="T14" fmla="*/ 0 w 139"/>
                  <a:gd name="T15" fmla="*/ 46 h 173"/>
                  <a:gd name="T16" fmla="*/ 1 w 139"/>
                  <a:gd name="T17" fmla="*/ 58 h 173"/>
                  <a:gd name="T18" fmla="*/ 3 w 139"/>
                  <a:gd name="T19" fmla="*/ 74 h 173"/>
                  <a:gd name="T20" fmla="*/ 9 w 139"/>
                  <a:gd name="T21" fmla="*/ 97 h 173"/>
                  <a:gd name="T22" fmla="*/ 20 w 139"/>
                  <a:gd name="T23" fmla="*/ 116 h 173"/>
                  <a:gd name="T24" fmla="*/ 31 w 139"/>
                  <a:gd name="T25" fmla="*/ 133 h 173"/>
                  <a:gd name="T26" fmla="*/ 44 w 139"/>
                  <a:gd name="T27" fmla="*/ 147 h 173"/>
                  <a:gd name="T28" fmla="*/ 58 w 139"/>
                  <a:gd name="T29" fmla="*/ 160 h 173"/>
                  <a:gd name="T30" fmla="*/ 76 w 139"/>
                  <a:gd name="T31" fmla="*/ 167 h 173"/>
                  <a:gd name="T32" fmla="*/ 97 w 139"/>
                  <a:gd name="T33" fmla="*/ 173 h 173"/>
                  <a:gd name="T34" fmla="*/ 114 w 139"/>
                  <a:gd name="T35" fmla="*/ 173 h 173"/>
                  <a:gd name="T36" fmla="*/ 130 w 139"/>
                  <a:gd name="T37" fmla="*/ 164 h 173"/>
                  <a:gd name="T38" fmla="*/ 137 w 139"/>
                  <a:gd name="T39" fmla="*/ 151 h 173"/>
                  <a:gd name="T40" fmla="*/ 139 w 139"/>
                  <a:gd name="T41" fmla="*/ 132 h 173"/>
                  <a:gd name="T42" fmla="*/ 134 w 139"/>
                  <a:gd name="T43" fmla="*/ 111 h 173"/>
                  <a:gd name="T44" fmla="*/ 123 w 139"/>
                  <a:gd name="T45" fmla="*/ 82 h 173"/>
                  <a:gd name="T46" fmla="*/ 99 w 139"/>
                  <a:gd name="T47" fmla="*/ 46 h 173"/>
                  <a:gd name="T48" fmla="*/ 81 w 139"/>
                  <a:gd name="T49" fmla="*/ 25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9" h="173">
                    <a:moveTo>
                      <a:pt x="81" y="25"/>
                    </a:moveTo>
                    <a:lnTo>
                      <a:pt x="74" y="15"/>
                    </a:lnTo>
                    <a:lnTo>
                      <a:pt x="60" y="5"/>
                    </a:lnTo>
                    <a:lnTo>
                      <a:pt x="36" y="0"/>
                    </a:lnTo>
                    <a:lnTo>
                      <a:pt x="22" y="2"/>
                    </a:lnTo>
                    <a:lnTo>
                      <a:pt x="13" y="12"/>
                    </a:lnTo>
                    <a:lnTo>
                      <a:pt x="4" y="25"/>
                    </a:lnTo>
                    <a:lnTo>
                      <a:pt x="0" y="46"/>
                    </a:lnTo>
                    <a:lnTo>
                      <a:pt x="1" y="58"/>
                    </a:lnTo>
                    <a:lnTo>
                      <a:pt x="3" y="74"/>
                    </a:lnTo>
                    <a:lnTo>
                      <a:pt x="9" y="97"/>
                    </a:lnTo>
                    <a:lnTo>
                      <a:pt x="20" y="116"/>
                    </a:lnTo>
                    <a:lnTo>
                      <a:pt x="31" y="133"/>
                    </a:lnTo>
                    <a:lnTo>
                      <a:pt x="44" y="147"/>
                    </a:lnTo>
                    <a:lnTo>
                      <a:pt x="58" y="160"/>
                    </a:lnTo>
                    <a:lnTo>
                      <a:pt x="76" y="167"/>
                    </a:lnTo>
                    <a:lnTo>
                      <a:pt x="97" y="173"/>
                    </a:lnTo>
                    <a:lnTo>
                      <a:pt x="114" y="173"/>
                    </a:lnTo>
                    <a:lnTo>
                      <a:pt x="130" y="164"/>
                    </a:lnTo>
                    <a:lnTo>
                      <a:pt x="137" y="151"/>
                    </a:lnTo>
                    <a:lnTo>
                      <a:pt x="139" y="132"/>
                    </a:lnTo>
                    <a:lnTo>
                      <a:pt x="134" y="111"/>
                    </a:lnTo>
                    <a:lnTo>
                      <a:pt x="123" y="82"/>
                    </a:lnTo>
                    <a:lnTo>
                      <a:pt x="99" y="46"/>
                    </a:lnTo>
                    <a:lnTo>
                      <a:pt x="81" y="25"/>
                    </a:lnTo>
                    <a:close/>
                  </a:path>
                </a:pathLst>
              </a:custGeom>
              <a:grpFill/>
              <a:ln w="1588">
                <a:solidFill>
                  <a:srgbClr val="000000"/>
                </a:solidFill>
                <a:prstDash val="solid"/>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46" name="Freeform 231"/>
              <p:cNvSpPr>
                <a:spLocks/>
              </p:cNvSpPr>
              <p:nvPr/>
            </p:nvSpPr>
            <p:spPr bwMode="auto">
              <a:xfrm>
                <a:off x="2439" y="774"/>
                <a:ext cx="25" cy="17"/>
              </a:xfrm>
              <a:custGeom>
                <a:avLst/>
                <a:gdLst>
                  <a:gd name="T0" fmla="*/ 13 w 171"/>
                  <a:gd name="T1" fmla="*/ 27 h 123"/>
                  <a:gd name="T2" fmla="*/ 120 w 171"/>
                  <a:gd name="T3" fmla="*/ 3 h 123"/>
                  <a:gd name="T4" fmla="*/ 146 w 171"/>
                  <a:gd name="T5" fmla="*/ 0 h 123"/>
                  <a:gd name="T6" fmla="*/ 164 w 171"/>
                  <a:gd name="T7" fmla="*/ 3 h 123"/>
                  <a:gd name="T8" fmla="*/ 169 w 171"/>
                  <a:gd name="T9" fmla="*/ 9 h 123"/>
                  <a:gd name="T10" fmla="*/ 171 w 171"/>
                  <a:gd name="T11" fmla="*/ 22 h 123"/>
                  <a:gd name="T12" fmla="*/ 164 w 171"/>
                  <a:gd name="T13" fmla="*/ 41 h 123"/>
                  <a:gd name="T14" fmla="*/ 64 w 171"/>
                  <a:gd name="T15" fmla="*/ 123 h 123"/>
                  <a:gd name="T16" fmla="*/ 50 w 171"/>
                  <a:gd name="T17" fmla="*/ 122 h 123"/>
                  <a:gd name="T18" fmla="*/ 34 w 171"/>
                  <a:gd name="T19" fmla="*/ 116 h 123"/>
                  <a:gd name="T20" fmla="*/ 22 w 171"/>
                  <a:gd name="T21" fmla="*/ 106 h 123"/>
                  <a:gd name="T22" fmla="*/ 8 w 171"/>
                  <a:gd name="T23" fmla="*/ 90 h 123"/>
                  <a:gd name="T24" fmla="*/ 1 w 171"/>
                  <a:gd name="T25" fmla="*/ 74 h 123"/>
                  <a:gd name="T26" fmla="*/ 0 w 171"/>
                  <a:gd name="T27" fmla="*/ 56 h 123"/>
                  <a:gd name="T28" fmla="*/ 5 w 171"/>
                  <a:gd name="T29" fmla="*/ 40 h 123"/>
                  <a:gd name="T30" fmla="*/ 13 w 171"/>
                  <a:gd name="T31" fmla="*/ 27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1" h="123">
                    <a:moveTo>
                      <a:pt x="13" y="27"/>
                    </a:moveTo>
                    <a:lnTo>
                      <a:pt x="120" y="3"/>
                    </a:lnTo>
                    <a:lnTo>
                      <a:pt x="146" y="0"/>
                    </a:lnTo>
                    <a:lnTo>
                      <a:pt x="164" y="3"/>
                    </a:lnTo>
                    <a:lnTo>
                      <a:pt x="169" y="9"/>
                    </a:lnTo>
                    <a:lnTo>
                      <a:pt x="171" y="22"/>
                    </a:lnTo>
                    <a:lnTo>
                      <a:pt x="164" y="41"/>
                    </a:lnTo>
                    <a:lnTo>
                      <a:pt x="64" y="123"/>
                    </a:lnTo>
                    <a:lnTo>
                      <a:pt x="50" y="122"/>
                    </a:lnTo>
                    <a:lnTo>
                      <a:pt x="34" y="116"/>
                    </a:lnTo>
                    <a:lnTo>
                      <a:pt x="22" y="106"/>
                    </a:lnTo>
                    <a:lnTo>
                      <a:pt x="8" y="90"/>
                    </a:lnTo>
                    <a:lnTo>
                      <a:pt x="1" y="74"/>
                    </a:lnTo>
                    <a:lnTo>
                      <a:pt x="0" y="56"/>
                    </a:lnTo>
                    <a:lnTo>
                      <a:pt x="5" y="40"/>
                    </a:lnTo>
                    <a:lnTo>
                      <a:pt x="13" y="27"/>
                    </a:lnTo>
                    <a:close/>
                  </a:path>
                </a:pathLst>
              </a:custGeom>
              <a:grpFill/>
              <a:ln w="1588">
                <a:solidFill>
                  <a:srgbClr val="000000"/>
                </a:solidFill>
                <a:prstDash val="solid"/>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47" name="Freeform 232"/>
              <p:cNvSpPr>
                <a:spLocks/>
              </p:cNvSpPr>
              <p:nvPr/>
            </p:nvSpPr>
            <p:spPr bwMode="auto">
              <a:xfrm>
                <a:off x="2421" y="782"/>
                <a:ext cx="10" cy="18"/>
              </a:xfrm>
              <a:custGeom>
                <a:avLst/>
                <a:gdLst>
                  <a:gd name="T0" fmla="*/ 4 w 73"/>
                  <a:gd name="T1" fmla="*/ 0 h 124"/>
                  <a:gd name="T2" fmla="*/ 0 w 73"/>
                  <a:gd name="T3" fmla="*/ 20 h 124"/>
                  <a:gd name="T4" fmla="*/ 0 w 73"/>
                  <a:gd name="T5" fmla="*/ 37 h 124"/>
                  <a:gd name="T6" fmla="*/ 5 w 73"/>
                  <a:gd name="T7" fmla="*/ 60 h 124"/>
                  <a:gd name="T8" fmla="*/ 11 w 73"/>
                  <a:gd name="T9" fmla="*/ 78 h 124"/>
                  <a:gd name="T10" fmla="*/ 26 w 73"/>
                  <a:gd name="T11" fmla="*/ 96 h 124"/>
                  <a:gd name="T12" fmla="*/ 40 w 73"/>
                  <a:gd name="T13" fmla="*/ 108 h 124"/>
                  <a:gd name="T14" fmla="*/ 51 w 73"/>
                  <a:gd name="T15" fmla="*/ 114 h 124"/>
                  <a:gd name="T16" fmla="*/ 61 w 73"/>
                  <a:gd name="T17" fmla="*/ 118 h 124"/>
                  <a:gd name="T18" fmla="*/ 73 w 73"/>
                  <a:gd name="T19" fmla="*/ 124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3" h="124">
                    <a:moveTo>
                      <a:pt x="4" y="0"/>
                    </a:moveTo>
                    <a:lnTo>
                      <a:pt x="0" y="20"/>
                    </a:lnTo>
                    <a:lnTo>
                      <a:pt x="0" y="37"/>
                    </a:lnTo>
                    <a:lnTo>
                      <a:pt x="5" y="60"/>
                    </a:lnTo>
                    <a:lnTo>
                      <a:pt x="11" y="78"/>
                    </a:lnTo>
                    <a:lnTo>
                      <a:pt x="26" y="96"/>
                    </a:lnTo>
                    <a:lnTo>
                      <a:pt x="40" y="108"/>
                    </a:lnTo>
                    <a:lnTo>
                      <a:pt x="51" y="114"/>
                    </a:lnTo>
                    <a:lnTo>
                      <a:pt x="61" y="118"/>
                    </a:lnTo>
                    <a:lnTo>
                      <a:pt x="73" y="124"/>
                    </a:lnTo>
                  </a:path>
                </a:pathLst>
              </a:custGeom>
              <a:grpFill/>
              <a:ln w="1588">
                <a:solidFill>
                  <a:srgbClr val="000000"/>
                </a:solidFill>
                <a:prstDash val="solid"/>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48" name="Freeform 233"/>
              <p:cNvSpPr>
                <a:spLocks/>
              </p:cNvSpPr>
              <p:nvPr/>
            </p:nvSpPr>
            <p:spPr bwMode="auto">
              <a:xfrm>
                <a:off x="2427" y="780"/>
                <a:ext cx="11" cy="18"/>
              </a:xfrm>
              <a:custGeom>
                <a:avLst/>
                <a:gdLst>
                  <a:gd name="T0" fmla="*/ 5 w 74"/>
                  <a:gd name="T1" fmla="*/ 0 h 124"/>
                  <a:gd name="T2" fmla="*/ 0 w 74"/>
                  <a:gd name="T3" fmla="*/ 20 h 124"/>
                  <a:gd name="T4" fmla="*/ 0 w 74"/>
                  <a:gd name="T5" fmla="*/ 38 h 124"/>
                  <a:gd name="T6" fmla="*/ 6 w 74"/>
                  <a:gd name="T7" fmla="*/ 60 h 124"/>
                  <a:gd name="T8" fmla="*/ 12 w 74"/>
                  <a:gd name="T9" fmla="*/ 79 h 124"/>
                  <a:gd name="T10" fmla="*/ 27 w 74"/>
                  <a:gd name="T11" fmla="*/ 95 h 124"/>
                  <a:gd name="T12" fmla="*/ 41 w 74"/>
                  <a:gd name="T13" fmla="*/ 108 h 124"/>
                  <a:gd name="T14" fmla="*/ 51 w 74"/>
                  <a:gd name="T15" fmla="*/ 114 h 124"/>
                  <a:gd name="T16" fmla="*/ 62 w 74"/>
                  <a:gd name="T17" fmla="*/ 119 h 124"/>
                  <a:gd name="T18" fmla="*/ 74 w 74"/>
                  <a:gd name="T19" fmla="*/ 124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4" h="124">
                    <a:moveTo>
                      <a:pt x="5" y="0"/>
                    </a:moveTo>
                    <a:lnTo>
                      <a:pt x="0" y="20"/>
                    </a:lnTo>
                    <a:lnTo>
                      <a:pt x="0" y="38"/>
                    </a:lnTo>
                    <a:lnTo>
                      <a:pt x="6" y="60"/>
                    </a:lnTo>
                    <a:lnTo>
                      <a:pt x="12" y="79"/>
                    </a:lnTo>
                    <a:lnTo>
                      <a:pt x="27" y="95"/>
                    </a:lnTo>
                    <a:lnTo>
                      <a:pt x="41" y="108"/>
                    </a:lnTo>
                    <a:lnTo>
                      <a:pt x="51" y="114"/>
                    </a:lnTo>
                    <a:lnTo>
                      <a:pt x="62" y="119"/>
                    </a:lnTo>
                    <a:lnTo>
                      <a:pt x="74" y="124"/>
                    </a:lnTo>
                  </a:path>
                </a:pathLst>
              </a:custGeom>
              <a:grpFill/>
              <a:ln w="1588">
                <a:solidFill>
                  <a:srgbClr val="000000"/>
                </a:solidFill>
                <a:prstDash val="solid"/>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grpSp>
      </p:grpSp>
      <p:sp>
        <p:nvSpPr>
          <p:cNvPr id="91" name="Line 234"/>
          <p:cNvSpPr>
            <a:spLocks noChangeShapeType="1"/>
          </p:cNvSpPr>
          <p:nvPr/>
        </p:nvSpPr>
        <p:spPr bwMode="auto">
          <a:xfrm>
            <a:off x="4478910" y="2570554"/>
            <a:ext cx="1941213"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pic>
        <p:nvPicPr>
          <p:cNvPr id="92" name="Picture 23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52011" y="2247267"/>
            <a:ext cx="241581" cy="153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93" name="Picture 23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41565" y="2247267"/>
            <a:ext cx="241581" cy="153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94" name="Picture 24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96312" y="2247267"/>
            <a:ext cx="241581" cy="153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95" name="Line 241"/>
          <p:cNvSpPr>
            <a:spLocks noChangeShapeType="1"/>
          </p:cNvSpPr>
          <p:nvPr/>
        </p:nvSpPr>
        <p:spPr bwMode="auto">
          <a:xfrm>
            <a:off x="4478910" y="3079450"/>
            <a:ext cx="1941213"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pic>
        <p:nvPicPr>
          <p:cNvPr id="96" name="Picture 24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52011" y="2756164"/>
            <a:ext cx="241581" cy="153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97" name="Picture 2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41565" y="2756164"/>
            <a:ext cx="241581" cy="153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98" name="Picture 24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96312" y="2756164"/>
            <a:ext cx="241581" cy="153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99" name="Picture 24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49190" y="2755144"/>
            <a:ext cx="241581" cy="153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00" name="AutoShape 250"/>
          <p:cNvSpPr>
            <a:spLocks noChangeArrowheads="1"/>
          </p:cNvSpPr>
          <p:nvPr/>
        </p:nvSpPr>
        <p:spPr bwMode="auto">
          <a:xfrm>
            <a:off x="3313801" y="2940753"/>
            <a:ext cx="246338" cy="249859"/>
          </a:xfrm>
          <a:prstGeom prst="cube">
            <a:avLst>
              <a:gd name="adj" fmla="val 25000"/>
            </a:avLst>
          </a:prstGeom>
          <a:solidFill>
            <a:srgbClr val="0099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p:txBody>
      </p:sp>
      <p:sp>
        <p:nvSpPr>
          <p:cNvPr id="101" name="AutoShape 251"/>
          <p:cNvSpPr>
            <a:spLocks noChangeArrowheads="1"/>
          </p:cNvSpPr>
          <p:nvPr/>
        </p:nvSpPr>
        <p:spPr bwMode="auto">
          <a:xfrm>
            <a:off x="3012299" y="3402738"/>
            <a:ext cx="246337" cy="249858"/>
          </a:xfrm>
          <a:prstGeom prst="cube">
            <a:avLst>
              <a:gd name="adj" fmla="val 25000"/>
            </a:avLst>
          </a:prstGeom>
          <a:solidFill>
            <a:srgbClr val="0099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p:txBody>
      </p:sp>
      <p:sp>
        <p:nvSpPr>
          <p:cNvPr id="102" name="AutoShape 252"/>
          <p:cNvSpPr>
            <a:spLocks noChangeArrowheads="1"/>
          </p:cNvSpPr>
          <p:nvPr/>
        </p:nvSpPr>
        <p:spPr bwMode="auto">
          <a:xfrm>
            <a:off x="3055099" y="2384945"/>
            <a:ext cx="246338" cy="249858"/>
          </a:xfrm>
          <a:prstGeom prst="cube">
            <a:avLst>
              <a:gd name="adj" fmla="val 25000"/>
            </a:avLst>
          </a:prstGeom>
          <a:solidFill>
            <a:srgbClr val="0099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p:txBody>
      </p:sp>
      <p:sp>
        <p:nvSpPr>
          <p:cNvPr id="103" name="Text Box 253"/>
          <p:cNvSpPr txBox="1">
            <a:spLocks noChangeArrowheads="1"/>
          </p:cNvSpPr>
          <p:nvPr/>
        </p:nvSpPr>
        <p:spPr bwMode="auto">
          <a:xfrm>
            <a:off x="2131612" y="2114762"/>
            <a:ext cx="102695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kumimoji="1" lang="zh-CN" altLang="en-US" sz="1200" b="1" dirty="0">
                <a:solidFill>
                  <a:srgbClr val="CC00CC"/>
                </a:solidFill>
                <a:latin typeface="微软雅黑" pitchFamily="34" charset="-122"/>
                <a:ea typeface="微软雅黑" pitchFamily="34" charset="-122"/>
              </a:rPr>
              <a:t>高带宽光纤</a:t>
            </a:r>
          </a:p>
        </p:txBody>
      </p:sp>
      <p:sp>
        <p:nvSpPr>
          <p:cNvPr id="104" name="Line 254"/>
          <p:cNvSpPr>
            <a:spLocks noChangeShapeType="1"/>
          </p:cNvSpPr>
          <p:nvPr/>
        </p:nvSpPr>
        <p:spPr bwMode="auto">
          <a:xfrm>
            <a:off x="3745604" y="2570554"/>
            <a:ext cx="194027" cy="220284"/>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105" name="Line 255"/>
          <p:cNvSpPr>
            <a:spLocks noChangeShapeType="1"/>
          </p:cNvSpPr>
          <p:nvPr/>
        </p:nvSpPr>
        <p:spPr bwMode="auto">
          <a:xfrm>
            <a:off x="2633758" y="3916288"/>
            <a:ext cx="1715801" cy="0"/>
          </a:xfrm>
          <a:prstGeom prst="line">
            <a:avLst/>
          </a:prstGeom>
          <a:noFill/>
          <a:ln w="19050">
            <a:solidFill>
              <a:srgbClr val="CC00CC"/>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106" name="Line 256"/>
          <p:cNvSpPr>
            <a:spLocks noChangeShapeType="1"/>
          </p:cNvSpPr>
          <p:nvPr/>
        </p:nvSpPr>
        <p:spPr bwMode="auto">
          <a:xfrm>
            <a:off x="4349558" y="3916288"/>
            <a:ext cx="2286466" cy="0"/>
          </a:xfrm>
          <a:prstGeom prst="line">
            <a:avLst/>
          </a:prstGeom>
          <a:noFill/>
          <a:ln w="19050">
            <a:solidFill>
              <a:srgbClr val="0000FF"/>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107" name="Text Box 257"/>
          <p:cNvSpPr txBox="1">
            <a:spLocks noChangeArrowheads="1"/>
          </p:cNvSpPr>
          <p:nvPr/>
        </p:nvSpPr>
        <p:spPr bwMode="auto">
          <a:xfrm>
            <a:off x="5129468" y="3879289"/>
            <a:ext cx="91972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kumimoji="1" lang="zh-CN" altLang="en-US" sz="1200" b="1" dirty="0">
                <a:solidFill>
                  <a:srgbClr val="0000FF"/>
                </a:solidFill>
                <a:latin typeface="微软雅黑" pitchFamily="34" charset="-122"/>
                <a:ea typeface="微软雅黑" pitchFamily="34" charset="-122"/>
              </a:rPr>
              <a:t>同轴电缆</a:t>
            </a:r>
          </a:p>
        </p:txBody>
      </p:sp>
      <p:sp>
        <p:nvSpPr>
          <p:cNvPr id="108" name="Text Box 258"/>
          <p:cNvSpPr txBox="1">
            <a:spLocks noChangeArrowheads="1"/>
          </p:cNvSpPr>
          <p:nvPr/>
        </p:nvSpPr>
        <p:spPr bwMode="auto">
          <a:xfrm>
            <a:off x="3244668" y="3886006"/>
            <a:ext cx="53217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kumimoji="1" lang="zh-CN" altLang="en-US" sz="1200" b="1" dirty="0">
                <a:solidFill>
                  <a:srgbClr val="CC00CC"/>
                </a:solidFill>
                <a:latin typeface="微软雅黑" pitchFamily="34" charset="-122"/>
                <a:ea typeface="微软雅黑" pitchFamily="34" charset="-122"/>
              </a:rPr>
              <a:t>光纤</a:t>
            </a:r>
          </a:p>
        </p:txBody>
      </p:sp>
      <p:sp>
        <p:nvSpPr>
          <p:cNvPr id="109" name="Line 259"/>
          <p:cNvSpPr>
            <a:spLocks noChangeShapeType="1"/>
          </p:cNvSpPr>
          <p:nvPr/>
        </p:nvSpPr>
        <p:spPr bwMode="auto">
          <a:xfrm>
            <a:off x="4349558" y="3823484"/>
            <a:ext cx="0" cy="1856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112" name="矩形 111"/>
          <p:cNvSpPr/>
          <p:nvPr/>
        </p:nvSpPr>
        <p:spPr>
          <a:xfrm>
            <a:off x="3562221" y="4268894"/>
            <a:ext cx="1649811" cy="369332"/>
          </a:xfrm>
          <a:prstGeom prst="rect">
            <a:avLst/>
          </a:prstGeom>
        </p:spPr>
        <p:txBody>
          <a:bodyPr wrap="none">
            <a:spAutoFit/>
          </a:bodyPr>
          <a:lstStyle/>
          <a:p>
            <a:pPr algn="ctr"/>
            <a:r>
              <a:rPr lang="en-US" altLang="zh-CN" b="1" dirty="0">
                <a:latin typeface="微软雅黑" pitchFamily="34" charset="-122"/>
                <a:ea typeface="微软雅黑" pitchFamily="34" charset="-122"/>
              </a:rPr>
              <a:t>HFC </a:t>
            </a:r>
            <a:r>
              <a:rPr lang="zh-CN" altLang="en-US" b="1" dirty="0">
                <a:latin typeface="微软雅黑" pitchFamily="34" charset="-122"/>
                <a:ea typeface="微软雅黑" pitchFamily="34" charset="-122"/>
              </a:rPr>
              <a:t>网的结构</a:t>
            </a:r>
          </a:p>
        </p:txBody>
      </p:sp>
    </p:spTree>
    <p:extLst>
      <p:ext uri="{BB962C8B-B14F-4D97-AF65-F5344CB8AC3E}">
        <p14:creationId xmlns:p14="http://schemas.microsoft.com/office/powerpoint/2010/main" val="1665931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1000"/>
                                        <p:tgtEl>
                                          <p:spTgt spid="5">
                                            <p:txEl>
                                              <p:pRg st="1" end="1"/>
                                            </p:txEl>
                                          </p:spTgt>
                                        </p:tgtEl>
                                      </p:cBhvr>
                                    </p:animEffect>
                                    <p:anim calcmode="lin" valueType="num">
                                      <p:cBhvr>
                                        <p:cTn id="13"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5" presetClass="emph" presetSubtype="0" repeatCount="3000" fill="hold" grpId="0" nodeType="clickEffect">
                                  <p:stCondLst>
                                    <p:cond delay="0"/>
                                  </p:stCondLst>
                                  <p:childTnLst>
                                    <p:anim calcmode="discrete" valueType="str">
                                      <p:cBhvr>
                                        <p:cTn id="18" dur="1000" fill="hold"/>
                                        <p:tgtEl>
                                          <p:spTgt spid="37"/>
                                        </p:tgtEl>
                                        <p:attrNameLst>
                                          <p:attrName>style.visibility</p:attrName>
                                        </p:attrNameLst>
                                      </p:cBhvr>
                                      <p:tavLst>
                                        <p:tav tm="0">
                                          <p:val>
                                            <p:strVal val="hidden"/>
                                          </p:val>
                                        </p:tav>
                                        <p:tav tm="50000">
                                          <p:val>
                                            <p:strVal val="visible"/>
                                          </p:val>
                                        </p:tav>
                                      </p:tavLst>
                                    </p:anim>
                                  </p:childTnLst>
                                </p:cTn>
                              </p:par>
                            </p:childTnLst>
                          </p:cTn>
                        </p:par>
                      </p:childTnLst>
                    </p:cTn>
                  </p:par>
                  <p:par>
                    <p:cTn id="19" fill="hold">
                      <p:stCondLst>
                        <p:cond delay="indefinite"/>
                      </p:stCondLst>
                      <p:childTnLst>
                        <p:par>
                          <p:cTn id="20" fill="hold">
                            <p:stCondLst>
                              <p:cond delay="0"/>
                            </p:stCondLst>
                            <p:childTnLst>
                              <p:par>
                                <p:cTn id="21" presetID="35" presetClass="emph" presetSubtype="0" repeatCount="3000" fill="hold" grpId="0" nodeType="clickEffect">
                                  <p:stCondLst>
                                    <p:cond delay="0"/>
                                  </p:stCondLst>
                                  <p:childTnLst>
                                    <p:anim calcmode="discrete" valueType="str">
                                      <p:cBhvr>
                                        <p:cTn id="22" dur="1000" fill="hold"/>
                                        <p:tgtEl>
                                          <p:spTgt spid="34"/>
                                        </p:tgtEl>
                                        <p:attrNameLst>
                                          <p:attrName>style.visibility</p:attrName>
                                        </p:attrNameLst>
                                      </p:cBhvr>
                                      <p:tavLst>
                                        <p:tav tm="0">
                                          <p:val>
                                            <p:strVal val="hidden"/>
                                          </p:val>
                                        </p:tav>
                                        <p:tav tm="50000">
                                          <p:val>
                                            <p:strVal val="visible"/>
                                          </p:val>
                                        </p:tav>
                                      </p:tavLst>
                                    </p:anim>
                                  </p:childTnLst>
                                </p:cTn>
                              </p:par>
                            </p:childTnLst>
                          </p:cTn>
                        </p:par>
                      </p:childTnLst>
                    </p:cTn>
                  </p:par>
                  <p:par>
                    <p:cTn id="23" fill="hold">
                      <p:stCondLst>
                        <p:cond delay="indefinite"/>
                      </p:stCondLst>
                      <p:childTnLst>
                        <p:par>
                          <p:cTn id="24" fill="hold">
                            <p:stCondLst>
                              <p:cond delay="0"/>
                            </p:stCondLst>
                            <p:childTnLst>
                              <p:par>
                                <p:cTn id="25" presetID="35" presetClass="emph" presetSubtype="0" repeatCount="3000" fill="hold" grpId="0" nodeType="clickEffect">
                                  <p:stCondLst>
                                    <p:cond delay="0"/>
                                  </p:stCondLst>
                                  <p:childTnLst>
                                    <p:anim calcmode="discrete" valueType="str">
                                      <p:cBhvr>
                                        <p:cTn id="26" dur="1000" fill="hold"/>
                                        <p:tgtEl>
                                          <p:spTgt spid="2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25" grpId="0"/>
      <p:bldP spid="34" grpId="0"/>
      <p:bldP spid="37"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1"/>
          </p:nvPr>
        </p:nvSpPr>
        <p:spPr>
          <a:xfrm>
            <a:off x="1332000" y="360000"/>
            <a:ext cx="6480000" cy="354012"/>
          </a:xfrm>
        </p:spPr>
        <p:txBody>
          <a:bodyPr>
            <a:normAutofit fontScale="92500" lnSpcReduction="10000"/>
          </a:bodyPr>
          <a:lstStyle/>
          <a:p>
            <a:r>
              <a:rPr lang="en-US" altLang="zh-CN" dirty="0"/>
              <a:t>HFC </a:t>
            </a:r>
            <a:r>
              <a:rPr lang="zh-CN" altLang="en-US" dirty="0"/>
              <a:t>网具有双向传输功能，扩展了传输频带</a:t>
            </a:r>
          </a:p>
        </p:txBody>
      </p:sp>
      <p:sp>
        <p:nvSpPr>
          <p:cNvPr id="7" name="Line 16"/>
          <p:cNvSpPr>
            <a:spLocks noChangeShapeType="1"/>
          </p:cNvSpPr>
          <p:nvPr/>
        </p:nvSpPr>
        <p:spPr bwMode="auto">
          <a:xfrm>
            <a:off x="2321954" y="1564432"/>
            <a:ext cx="4454728" cy="0"/>
          </a:xfrm>
          <a:prstGeom prst="line">
            <a:avLst/>
          </a:prstGeom>
          <a:noFill/>
          <a:ln w="19050">
            <a:solidFill>
              <a:srgbClr val="0000FF"/>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8" name="Text Box 17"/>
          <p:cNvSpPr txBox="1">
            <a:spLocks noChangeArrowheads="1"/>
          </p:cNvSpPr>
          <p:nvPr/>
        </p:nvSpPr>
        <p:spPr bwMode="auto">
          <a:xfrm>
            <a:off x="3852066" y="1192296"/>
            <a:ext cx="1107997" cy="368746"/>
          </a:xfrm>
          <a:prstGeom prst="rect">
            <a:avLst/>
          </a:prstGeom>
          <a:no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600" b="1" dirty="0">
                <a:solidFill>
                  <a:srgbClr val="CC00CC"/>
                </a:solidFill>
              </a:rPr>
              <a:t>下行信道</a:t>
            </a:r>
          </a:p>
        </p:txBody>
      </p:sp>
      <p:sp>
        <p:nvSpPr>
          <p:cNvPr id="9" name="Rectangle 18"/>
          <p:cNvSpPr>
            <a:spLocks noChangeArrowheads="1"/>
          </p:cNvSpPr>
          <p:nvPr/>
        </p:nvSpPr>
        <p:spPr bwMode="auto">
          <a:xfrm>
            <a:off x="1218318" y="1775070"/>
            <a:ext cx="727624" cy="997544"/>
          </a:xfrm>
          <a:prstGeom prst="rect">
            <a:avLst/>
          </a:prstGeom>
          <a:solidFill>
            <a:srgbClr val="FFFF66"/>
          </a:solidFill>
          <a:ln w="19050">
            <a:solidFill>
              <a:schemeClr val="tx1"/>
            </a:solidFill>
            <a:miter lim="800000"/>
            <a:headEnd/>
            <a:tailEnd/>
          </a:ln>
          <a:effec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10" name="Text Box 19"/>
          <p:cNvSpPr txBox="1">
            <a:spLocks noChangeArrowheads="1"/>
          </p:cNvSpPr>
          <p:nvPr/>
        </p:nvSpPr>
        <p:spPr bwMode="auto">
          <a:xfrm>
            <a:off x="1291193" y="1961860"/>
            <a:ext cx="690297" cy="5355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90000"/>
              </a:lnSpc>
            </a:pPr>
            <a:r>
              <a:rPr kumimoji="1" lang="zh-CN" altLang="en-US" sz="1600" b="1" dirty="0">
                <a:latin typeface="微软雅黑" pitchFamily="34" charset="-122"/>
                <a:ea typeface="微软雅黑" pitchFamily="34" charset="-122"/>
              </a:rPr>
              <a:t>上行</a:t>
            </a:r>
          </a:p>
          <a:p>
            <a:pPr algn="l">
              <a:lnSpc>
                <a:spcPct val="90000"/>
              </a:lnSpc>
            </a:pPr>
            <a:r>
              <a:rPr kumimoji="1" lang="zh-CN" altLang="en-US" sz="1600" b="1" dirty="0">
                <a:latin typeface="微软雅黑" pitchFamily="34" charset="-122"/>
                <a:ea typeface="微软雅黑" pitchFamily="34" charset="-122"/>
              </a:rPr>
              <a:t>信道</a:t>
            </a:r>
          </a:p>
        </p:txBody>
      </p:sp>
      <p:sp>
        <p:nvSpPr>
          <p:cNvPr id="11" name="Text Box 20"/>
          <p:cNvSpPr txBox="1">
            <a:spLocks noChangeArrowheads="1"/>
          </p:cNvSpPr>
          <p:nvPr/>
        </p:nvSpPr>
        <p:spPr bwMode="auto">
          <a:xfrm>
            <a:off x="1074010" y="2791515"/>
            <a:ext cx="620554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400" b="1" dirty="0">
                <a:latin typeface="微软雅黑" pitchFamily="34" charset="-122"/>
                <a:ea typeface="微软雅黑" pitchFamily="34" charset="-122"/>
              </a:rPr>
              <a:t>5          65    87                                                                                 1000</a:t>
            </a:r>
          </a:p>
        </p:txBody>
      </p:sp>
      <p:sp>
        <p:nvSpPr>
          <p:cNvPr id="12" name="Rectangle 21"/>
          <p:cNvSpPr>
            <a:spLocks noChangeArrowheads="1"/>
          </p:cNvSpPr>
          <p:nvPr/>
        </p:nvSpPr>
        <p:spPr bwMode="auto">
          <a:xfrm>
            <a:off x="2310473" y="1775070"/>
            <a:ext cx="4411674" cy="997544"/>
          </a:xfrm>
          <a:prstGeom prst="rect">
            <a:avLst/>
          </a:prstGeom>
          <a:solidFill>
            <a:srgbClr val="00FFFF"/>
          </a:solidFill>
          <a:ln w="19050">
            <a:solidFill>
              <a:schemeClr val="tx1"/>
            </a:solidFill>
            <a:miter lim="800000"/>
            <a:headEnd/>
            <a:tailEnd/>
          </a:ln>
          <a:effec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13" name="Text Box 22"/>
          <p:cNvSpPr txBox="1">
            <a:spLocks noChangeArrowheads="1"/>
          </p:cNvSpPr>
          <p:nvPr/>
        </p:nvSpPr>
        <p:spPr bwMode="auto">
          <a:xfrm>
            <a:off x="2696821" y="2135405"/>
            <a:ext cx="367279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600" b="1" dirty="0">
                <a:latin typeface="微软雅黑" pitchFamily="34" charset="-122"/>
                <a:ea typeface="微软雅黑" pitchFamily="34" charset="-122"/>
              </a:rPr>
              <a:t>调频广播、模拟和数字电视、数据业务</a:t>
            </a:r>
          </a:p>
        </p:txBody>
      </p:sp>
      <p:sp>
        <p:nvSpPr>
          <p:cNvPr id="14" name="Text Box 23"/>
          <p:cNvSpPr txBox="1">
            <a:spLocks noChangeArrowheads="1"/>
          </p:cNvSpPr>
          <p:nvPr/>
        </p:nvSpPr>
        <p:spPr bwMode="auto">
          <a:xfrm>
            <a:off x="7377145" y="2792066"/>
            <a:ext cx="110959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400" b="1" dirty="0">
                <a:latin typeface="微软雅黑" pitchFamily="34" charset="-122"/>
                <a:ea typeface="微软雅黑" pitchFamily="34" charset="-122"/>
              </a:rPr>
              <a:t>频率</a:t>
            </a:r>
            <a:r>
              <a:rPr kumimoji="1" lang="en-US" altLang="zh-CN" sz="1400" b="1" dirty="0">
                <a:latin typeface="微软雅黑" pitchFamily="34" charset="-122"/>
                <a:ea typeface="微软雅黑" pitchFamily="34" charset="-122"/>
              </a:rPr>
              <a:t>(MHz)</a:t>
            </a:r>
          </a:p>
        </p:txBody>
      </p:sp>
      <p:sp>
        <p:nvSpPr>
          <p:cNvPr id="15" name="Line 24"/>
          <p:cNvSpPr>
            <a:spLocks noChangeShapeType="1"/>
          </p:cNvSpPr>
          <p:nvPr/>
        </p:nvSpPr>
        <p:spPr bwMode="auto">
          <a:xfrm>
            <a:off x="855223" y="2772613"/>
            <a:ext cx="6729453" cy="0"/>
          </a:xfrm>
          <a:prstGeom prst="line">
            <a:avLst/>
          </a:prstGeom>
          <a:noFill/>
          <a:ln w="19050">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16" name="矩形 15"/>
          <p:cNvSpPr/>
          <p:nvPr/>
        </p:nvSpPr>
        <p:spPr>
          <a:xfrm>
            <a:off x="2926080" y="3344500"/>
            <a:ext cx="3056891" cy="369332"/>
          </a:xfrm>
          <a:prstGeom prst="rect">
            <a:avLst/>
          </a:prstGeom>
        </p:spPr>
        <p:txBody>
          <a:bodyPr wrap="square">
            <a:spAutoFit/>
          </a:bodyPr>
          <a:lstStyle/>
          <a:p>
            <a:pPr algn="ctr"/>
            <a:r>
              <a:rPr lang="zh-CN" altLang="en-US" b="1" dirty="0">
                <a:latin typeface="微软雅黑" pitchFamily="34" charset="-122"/>
                <a:ea typeface="微软雅黑" pitchFamily="34" charset="-122"/>
              </a:rPr>
              <a:t>我国的 </a:t>
            </a:r>
            <a:r>
              <a:rPr lang="en-US" altLang="zh-CN" b="1" dirty="0">
                <a:latin typeface="微软雅黑" pitchFamily="34" charset="-122"/>
                <a:ea typeface="微软雅黑" pitchFamily="34" charset="-122"/>
              </a:rPr>
              <a:t>HFC </a:t>
            </a:r>
            <a:r>
              <a:rPr lang="zh-CN" altLang="en-US" b="1" dirty="0">
                <a:latin typeface="微软雅黑" pitchFamily="34" charset="-122"/>
                <a:ea typeface="微软雅黑" pitchFamily="34" charset="-122"/>
              </a:rPr>
              <a:t>网的频带划分</a:t>
            </a:r>
          </a:p>
        </p:txBody>
      </p:sp>
    </p:spTree>
    <p:extLst>
      <p:ext uri="{BB962C8B-B14F-4D97-AF65-F5344CB8AC3E}">
        <p14:creationId xmlns:p14="http://schemas.microsoft.com/office/powerpoint/2010/main" val="12114756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466343" y="899999"/>
            <a:ext cx="8129017" cy="3600000"/>
          </a:xfrm>
        </p:spPr>
        <p:txBody>
          <a:bodyPr/>
          <a:lstStyle/>
          <a:p>
            <a:r>
              <a:rPr lang="zh-CN" altLang="en-US" dirty="0"/>
              <a:t>机顶盒（</a:t>
            </a:r>
            <a:r>
              <a:rPr lang="en-US" altLang="zh-CN" dirty="0"/>
              <a:t>set-top box</a:t>
            </a:r>
            <a:r>
              <a:rPr lang="zh-CN" altLang="en-US" dirty="0"/>
              <a:t>）：</a:t>
            </a:r>
            <a:endParaRPr lang="en-US" altLang="zh-CN" dirty="0"/>
          </a:p>
          <a:p>
            <a:pPr lvl="1"/>
            <a:r>
              <a:rPr lang="zh-CN" altLang="en-US" dirty="0"/>
              <a:t>连接在同轴电缆和用户的电视机之间。</a:t>
            </a:r>
            <a:endParaRPr lang="en-US" altLang="zh-CN" dirty="0"/>
          </a:p>
          <a:p>
            <a:pPr lvl="1"/>
            <a:r>
              <a:rPr lang="zh-CN" altLang="en-US" dirty="0"/>
              <a:t>使现有的模拟电视机能够接收数字电视信号。</a:t>
            </a:r>
            <a:endParaRPr lang="en-US" altLang="zh-CN" dirty="0"/>
          </a:p>
          <a:p>
            <a:r>
              <a:rPr lang="zh-CN" altLang="en-US" dirty="0"/>
              <a:t>电缆调制解调器（</a:t>
            </a:r>
            <a:r>
              <a:rPr lang="en-US" altLang="zh-CN" dirty="0"/>
              <a:t>cable modem</a:t>
            </a:r>
            <a:r>
              <a:rPr lang="zh-CN" altLang="en-US" dirty="0"/>
              <a:t>）：</a:t>
            </a:r>
            <a:endParaRPr lang="en-US" altLang="zh-CN" dirty="0"/>
          </a:p>
          <a:p>
            <a:pPr lvl="1"/>
            <a:r>
              <a:rPr lang="zh-CN" altLang="en-US" dirty="0"/>
              <a:t>将用户计算机接入互联网。</a:t>
            </a:r>
            <a:endParaRPr lang="en-US" altLang="zh-CN" dirty="0"/>
          </a:p>
          <a:p>
            <a:pPr lvl="1"/>
            <a:r>
              <a:rPr lang="zh-CN" altLang="en-US" dirty="0"/>
              <a:t>在上行信道中传送交互数字电视所需的一些信息。</a:t>
            </a:r>
            <a:endParaRPr lang="en-US" altLang="zh-CN" dirty="0"/>
          </a:p>
          <a:p>
            <a:pPr lvl="1"/>
            <a:r>
              <a:rPr lang="zh-CN" altLang="en-US" dirty="0"/>
              <a:t>可以是单独设备，也可以内置在机顶盒内。</a:t>
            </a:r>
            <a:endParaRPr lang="en-US" altLang="zh-CN" dirty="0"/>
          </a:p>
          <a:p>
            <a:pPr lvl="1"/>
            <a:endParaRPr lang="zh-CN" altLang="en-US" dirty="0"/>
          </a:p>
        </p:txBody>
      </p:sp>
      <p:sp>
        <p:nvSpPr>
          <p:cNvPr id="2" name="文本占位符 1"/>
          <p:cNvSpPr>
            <a:spLocks noGrp="1"/>
          </p:cNvSpPr>
          <p:nvPr>
            <p:ph type="body" sz="quarter" idx="11"/>
          </p:nvPr>
        </p:nvSpPr>
        <p:spPr>
          <a:xfrm>
            <a:off x="1332000" y="360000"/>
            <a:ext cx="6480000" cy="354012"/>
          </a:xfrm>
        </p:spPr>
        <p:txBody>
          <a:bodyPr>
            <a:normAutofit fontScale="92500" lnSpcReduction="10000"/>
          </a:bodyPr>
          <a:lstStyle/>
          <a:p>
            <a:r>
              <a:rPr lang="zh-CN" altLang="en-US" dirty="0"/>
              <a:t>机顶盒与电缆调制解调器</a:t>
            </a:r>
          </a:p>
        </p:txBody>
      </p:sp>
      <p:sp>
        <p:nvSpPr>
          <p:cNvPr id="5" name="Rectangle 9">
            <a:extLst>
              <a:ext uri="{FF2B5EF4-FFF2-40B4-BE49-F238E27FC236}">
                <a16:creationId xmlns:a16="http://schemas.microsoft.com/office/drawing/2014/main" id="{92418775-24AF-6613-E766-75BA0AF020B3}"/>
              </a:ext>
            </a:extLst>
          </p:cNvPr>
          <p:cNvSpPr>
            <a:spLocks noChangeArrowheads="1"/>
          </p:cNvSpPr>
          <p:nvPr/>
        </p:nvSpPr>
        <p:spPr bwMode="auto">
          <a:xfrm>
            <a:off x="6386750" y="1853417"/>
            <a:ext cx="2305322" cy="927102"/>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itchFamily="34" charset="0"/>
                <a:ea typeface="MS PGothic"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zh-CN" sz="2400" b="0" i="0" u="none" strike="noStrike" kern="0" cap="none" spc="0" normalizeH="0" baseline="0" noProof="0">
              <a:ln>
                <a:noFill/>
              </a:ln>
              <a:solidFill>
                <a:srgbClr val="00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6" name="Line 7">
            <a:extLst>
              <a:ext uri="{FF2B5EF4-FFF2-40B4-BE49-F238E27FC236}">
                <a16:creationId xmlns:a16="http://schemas.microsoft.com/office/drawing/2014/main" id="{EBD6E8E0-A4B9-8C44-2234-4168D089143D}"/>
              </a:ext>
            </a:extLst>
          </p:cNvPr>
          <p:cNvSpPr>
            <a:spLocks noChangeShapeType="1"/>
          </p:cNvSpPr>
          <p:nvPr/>
        </p:nvSpPr>
        <p:spPr bwMode="auto">
          <a:xfrm flipV="1">
            <a:off x="6774370" y="2404867"/>
            <a:ext cx="469225" cy="1588"/>
          </a:xfrm>
          <a:prstGeom prst="line">
            <a:avLst/>
          </a:prstGeom>
          <a:noFill/>
          <a:ln w="9525">
            <a:solidFill>
              <a:sysClr val="windowText" lastClr="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endParaRPr>
          </a:p>
        </p:txBody>
      </p:sp>
      <p:grpSp>
        <p:nvGrpSpPr>
          <p:cNvPr id="7" name="Group 13">
            <a:extLst>
              <a:ext uri="{FF2B5EF4-FFF2-40B4-BE49-F238E27FC236}">
                <a16:creationId xmlns:a16="http://schemas.microsoft.com/office/drawing/2014/main" id="{A42CB2B8-FB66-093F-E12C-D5FDFDE630C0}"/>
              </a:ext>
            </a:extLst>
          </p:cNvPr>
          <p:cNvGrpSpPr>
            <a:grpSpLocks/>
          </p:cNvGrpSpPr>
          <p:nvPr/>
        </p:nvGrpSpPr>
        <p:grpSpPr bwMode="auto">
          <a:xfrm>
            <a:off x="7219113" y="2280967"/>
            <a:ext cx="789522" cy="220797"/>
            <a:chOff x="322" y="890"/>
            <a:chExt cx="872" cy="339"/>
          </a:xfrm>
        </p:grpSpPr>
        <p:sp>
          <p:nvSpPr>
            <p:cNvPr id="16" name="Rectangle 14">
              <a:extLst>
                <a:ext uri="{FF2B5EF4-FFF2-40B4-BE49-F238E27FC236}">
                  <a16:creationId xmlns:a16="http://schemas.microsoft.com/office/drawing/2014/main" id="{FBDEC844-E9F8-75DA-292B-235CA28165AD}"/>
                </a:ext>
              </a:extLst>
            </p:cNvPr>
            <p:cNvSpPr>
              <a:spLocks noChangeArrowheads="1"/>
            </p:cNvSpPr>
            <p:nvPr/>
          </p:nvSpPr>
          <p:spPr bwMode="auto">
            <a:xfrm>
              <a:off x="322" y="1004"/>
              <a:ext cx="872" cy="224"/>
            </a:xfrm>
            <a:prstGeom prst="rect">
              <a:avLst/>
            </a:prstGeom>
            <a:solidFill>
              <a:srgbClr val="FFFF99"/>
            </a:solidFill>
            <a:ln w="9525">
              <a:solidFill>
                <a:sysClr val="windowText" lastClr="000000"/>
              </a:solidFill>
              <a:miter lim="800000"/>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itchFamily="34" charset="0"/>
                  <a:ea typeface="MS PGothic"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zh-CN" sz="2400" b="0" i="0" u="none" strike="noStrike" kern="0" cap="none" spc="0" normalizeH="0" baseline="0" noProof="0">
                <a:ln>
                  <a:noFill/>
                </a:ln>
                <a:solidFill>
                  <a:srgbClr val="00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7" name="Rectangle 15">
              <a:extLst>
                <a:ext uri="{FF2B5EF4-FFF2-40B4-BE49-F238E27FC236}">
                  <a16:creationId xmlns:a16="http://schemas.microsoft.com/office/drawing/2014/main" id="{BDB5A408-F28B-3F82-8B2B-9C497CDE630F}"/>
                </a:ext>
              </a:extLst>
            </p:cNvPr>
            <p:cNvSpPr>
              <a:spLocks noChangeArrowheads="1"/>
            </p:cNvSpPr>
            <p:nvPr/>
          </p:nvSpPr>
          <p:spPr bwMode="auto">
            <a:xfrm>
              <a:off x="394" y="1072"/>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itchFamily="34" charset="0"/>
                  <a:ea typeface="MS PGothic"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zh-CN" sz="2400" b="0" i="0" u="none" strike="noStrike" kern="0" cap="none" spc="0" normalizeH="0" baseline="0" noProof="0">
                <a:ln>
                  <a:noFill/>
                </a:ln>
                <a:solidFill>
                  <a:srgbClr val="00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8" name="Rectangle 16">
              <a:extLst>
                <a:ext uri="{FF2B5EF4-FFF2-40B4-BE49-F238E27FC236}">
                  <a16:creationId xmlns:a16="http://schemas.microsoft.com/office/drawing/2014/main" id="{A2819307-3342-3497-C403-B7244F4FD462}"/>
                </a:ext>
              </a:extLst>
            </p:cNvPr>
            <p:cNvSpPr>
              <a:spLocks noChangeArrowheads="1"/>
            </p:cNvSpPr>
            <p:nvPr/>
          </p:nvSpPr>
          <p:spPr bwMode="auto">
            <a:xfrm>
              <a:off x="466" y="1072"/>
              <a:ext cx="56"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itchFamily="34" charset="0"/>
                  <a:ea typeface="MS PGothic"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zh-CN" sz="2400" b="0" i="0" u="none" strike="noStrike" kern="0" cap="none" spc="0" normalizeH="0" baseline="0" noProof="0">
                <a:ln>
                  <a:noFill/>
                </a:ln>
                <a:solidFill>
                  <a:srgbClr val="00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9" name="Rectangle 17">
              <a:extLst>
                <a:ext uri="{FF2B5EF4-FFF2-40B4-BE49-F238E27FC236}">
                  <a16:creationId xmlns:a16="http://schemas.microsoft.com/office/drawing/2014/main" id="{289C55CE-7FE1-FA05-D08B-A51F98ACC1F1}"/>
                </a:ext>
              </a:extLst>
            </p:cNvPr>
            <p:cNvSpPr>
              <a:spLocks noChangeArrowheads="1"/>
            </p:cNvSpPr>
            <p:nvPr/>
          </p:nvSpPr>
          <p:spPr bwMode="auto">
            <a:xfrm>
              <a:off x="541" y="1070"/>
              <a:ext cx="56"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itchFamily="34" charset="0"/>
                  <a:ea typeface="MS PGothic"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zh-CN" sz="2400" b="0" i="0" u="none" strike="noStrike" kern="0" cap="none" spc="0" normalizeH="0" baseline="0" noProof="0">
                <a:ln>
                  <a:noFill/>
                </a:ln>
                <a:solidFill>
                  <a:srgbClr val="00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20" name="Rectangle 18">
              <a:extLst>
                <a:ext uri="{FF2B5EF4-FFF2-40B4-BE49-F238E27FC236}">
                  <a16:creationId xmlns:a16="http://schemas.microsoft.com/office/drawing/2014/main" id="{2F9DA0D8-6709-731A-1393-05E9346FF518}"/>
                </a:ext>
              </a:extLst>
            </p:cNvPr>
            <p:cNvSpPr>
              <a:spLocks noChangeArrowheads="1"/>
            </p:cNvSpPr>
            <p:nvPr/>
          </p:nvSpPr>
          <p:spPr bwMode="auto">
            <a:xfrm>
              <a:off x="615" y="1070"/>
              <a:ext cx="56"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itchFamily="34" charset="0"/>
                  <a:ea typeface="MS PGothic"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zh-CN" sz="2400" b="0" i="0" u="none" strike="noStrike" kern="0" cap="none" spc="0" normalizeH="0" baseline="0" noProof="0">
                <a:ln>
                  <a:noFill/>
                </a:ln>
                <a:solidFill>
                  <a:srgbClr val="00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21" name="AutoShape 19">
              <a:extLst>
                <a:ext uri="{FF2B5EF4-FFF2-40B4-BE49-F238E27FC236}">
                  <a16:creationId xmlns:a16="http://schemas.microsoft.com/office/drawing/2014/main" id="{96A0B4F6-5989-ED9E-1CBE-D65BDA21DB18}"/>
                </a:ext>
              </a:extLst>
            </p:cNvPr>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99"/>
            </a:solidFill>
            <a:ln w="9525">
              <a:solidFill>
                <a:sysClr val="windowText" lastClr="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endParaRPr>
            </a:p>
          </p:txBody>
        </p:sp>
      </p:grpSp>
      <p:sp>
        <p:nvSpPr>
          <p:cNvPr id="8" name="AutoShape 21">
            <a:extLst>
              <a:ext uri="{FF2B5EF4-FFF2-40B4-BE49-F238E27FC236}">
                <a16:creationId xmlns:a16="http://schemas.microsoft.com/office/drawing/2014/main" id="{883EAC21-FDBF-961A-EE68-0C35DA8C55A9}"/>
              </a:ext>
            </a:extLst>
          </p:cNvPr>
          <p:cNvSpPr>
            <a:spLocks noChangeArrowheads="1"/>
          </p:cNvSpPr>
          <p:nvPr/>
        </p:nvSpPr>
        <p:spPr bwMode="auto">
          <a:xfrm>
            <a:off x="6080734" y="1442254"/>
            <a:ext cx="2915313" cy="468314"/>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itchFamily="34" charset="0"/>
                <a:ea typeface="MS PGothic"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zh-CN"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9" name="Rectangle 22">
            <a:extLst>
              <a:ext uri="{FF2B5EF4-FFF2-40B4-BE49-F238E27FC236}">
                <a16:creationId xmlns:a16="http://schemas.microsoft.com/office/drawing/2014/main" id="{473FFEBF-05FE-D533-F58B-32A87C255089}"/>
              </a:ext>
            </a:extLst>
          </p:cNvPr>
          <p:cNvSpPr>
            <a:spLocks noChangeArrowheads="1"/>
          </p:cNvSpPr>
          <p:nvPr/>
        </p:nvSpPr>
        <p:spPr bwMode="auto">
          <a:xfrm>
            <a:off x="6707046" y="2336018"/>
            <a:ext cx="214212" cy="144462"/>
          </a:xfrm>
          <a:prstGeom prst="rect">
            <a:avLst/>
          </a:prstGeom>
          <a:solidFill>
            <a:srgbClr val="000099"/>
          </a:solidFill>
          <a:ln w="9525">
            <a:solidFill>
              <a:sysClr val="windowText" lastClr="000000"/>
            </a:solidFill>
            <a:miter lim="800000"/>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itchFamily="34" charset="0"/>
                <a:ea typeface="MS PGothic"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zh-CN" sz="2400" b="0" i="0" u="none" strike="noStrike" kern="0" cap="none" spc="0" normalizeH="0" baseline="0" noProof="0">
              <a:ln>
                <a:noFill/>
              </a:ln>
              <a:solidFill>
                <a:srgbClr val="00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0" name="Freeform 23">
            <a:extLst>
              <a:ext uri="{FF2B5EF4-FFF2-40B4-BE49-F238E27FC236}">
                <a16:creationId xmlns:a16="http://schemas.microsoft.com/office/drawing/2014/main" id="{FE279CA8-42D0-DFFE-C3CE-16B079AC4331}"/>
              </a:ext>
            </a:extLst>
          </p:cNvPr>
          <p:cNvSpPr>
            <a:spLocks/>
          </p:cNvSpPr>
          <p:nvPr/>
        </p:nvSpPr>
        <p:spPr bwMode="auto">
          <a:xfrm flipH="1">
            <a:off x="6789785" y="1894615"/>
            <a:ext cx="616112" cy="435241"/>
          </a:xfrm>
          <a:custGeom>
            <a:avLst/>
            <a:gdLst>
              <a:gd name="T0" fmla="*/ 2147483646 w 381"/>
              <a:gd name="T1" fmla="*/ 2147483646 h 274"/>
              <a:gd name="T2" fmla="*/ 2147483646 w 381"/>
              <a:gd name="T3" fmla="*/ 2147483646 h 274"/>
              <a:gd name="T4" fmla="*/ 0 w 381"/>
              <a:gd name="T5" fmla="*/ 0 h 274"/>
              <a:gd name="T6" fmla="*/ 0 60000 65536"/>
              <a:gd name="T7" fmla="*/ 0 60000 65536"/>
              <a:gd name="T8" fmla="*/ 0 60000 65536"/>
            </a:gdLst>
            <a:ahLst/>
            <a:cxnLst>
              <a:cxn ang="T6">
                <a:pos x="T0" y="T1"/>
              </a:cxn>
              <a:cxn ang="T7">
                <a:pos x="T2" y="T3"/>
              </a:cxn>
              <a:cxn ang="T8">
                <a:pos x="T4" y="T5"/>
              </a:cxn>
            </a:cxnLst>
            <a:rect l="0" t="0" r="r" b="b"/>
            <a:pathLst>
              <a:path w="381" h="274">
                <a:moveTo>
                  <a:pt x="381" y="274"/>
                </a:moveTo>
                <a:lnTo>
                  <a:pt x="381" y="130"/>
                </a:lnTo>
                <a:lnTo>
                  <a:pt x="0" y="0"/>
                </a:lnTo>
              </a:path>
            </a:pathLst>
          </a:custGeom>
          <a:noFill/>
          <a:ln w="9525">
            <a:solidFill>
              <a:sysClr val="windowText" lastClr="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endParaRPr>
          </a:p>
        </p:txBody>
      </p:sp>
      <p:sp>
        <p:nvSpPr>
          <p:cNvPr id="11" name="Line 24">
            <a:extLst>
              <a:ext uri="{FF2B5EF4-FFF2-40B4-BE49-F238E27FC236}">
                <a16:creationId xmlns:a16="http://schemas.microsoft.com/office/drawing/2014/main" id="{99FEE30D-4542-D0B2-37DC-6CDA413555B4}"/>
              </a:ext>
            </a:extLst>
          </p:cNvPr>
          <p:cNvSpPr>
            <a:spLocks noChangeShapeType="1"/>
          </p:cNvSpPr>
          <p:nvPr/>
        </p:nvSpPr>
        <p:spPr bwMode="auto">
          <a:xfrm flipH="1">
            <a:off x="8006596" y="2418569"/>
            <a:ext cx="308055" cy="0"/>
          </a:xfrm>
          <a:prstGeom prst="line">
            <a:avLst/>
          </a:prstGeom>
          <a:noFill/>
          <a:ln w="9525">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endParaRPr>
          </a:p>
        </p:txBody>
      </p:sp>
      <p:pic>
        <p:nvPicPr>
          <p:cNvPr id="12" name="Picture 25" descr="tv">
            <a:extLst>
              <a:ext uri="{FF2B5EF4-FFF2-40B4-BE49-F238E27FC236}">
                <a16:creationId xmlns:a16="http://schemas.microsoft.com/office/drawing/2014/main" id="{DEC6665F-6D31-F437-AB30-451FB489AF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16201" y="1558212"/>
            <a:ext cx="971091" cy="675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3" name="Group 181">
            <a:extLst>
              <a:ext uri="{FF2B5EF4-FFF2-40B4-BE49-F238E27FC236}">
                <a16:creationId xmlns:a16="http://schemas.microsoft.com/office/drawing/2014/main" id="{36E61D4B-DFA3-2BCE-4546-89B9032791BC}"/>
              </a:ext>
            </a:extLst>
          </p:cNvPr>
          <p:cNvGrpSpPr>
            <a:grpSpLocks/>
          </p:cNvGrpSpPr>
          <p:nvPr/>
        </p:nvGrpSpPr>
        <p:grpSpPr bwMode="auto">
          <a:xfrm>
            <a:off x="7924858" y="1983485"/>
            <a:ext cx="783401" cy="609973"/>
            <a:chOff x="-44" y="1473"/>
            <a:chExt cx="981" cy="1105"/>
          </a:xfrm>
        </p:grpSpPr>
        <p:pic>
          <p:nvPicPr>
            <p:cNvPr id="14" name="Picture 182" descr="desktop_computer_stylized_medium">
              <a:extLst>
                <a:ext uri="{FF2B5EF4-FFF2-40B4-BE49-F238E27FC236}">
                  <a16:creationId xmlns:a16="http://schemas.microsoft.com/office/drawing/2014/main" id="{C8DA34B6-06F0-4434-5E7E-2953A49A82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Freeform 183">
              <a:extLst>
                <a:ext uri="{FF2B5EF4-FFF2-40B4-BE49-F238E27FC236}">
                  <a16:creationId xmlns:a16="http://schemas.microsoft.com/office/drawing/2014/main" id="{95E9EE1C-4607-88C8-0F7D-3879AD73B9AF}"/>
                </a:ext>
              </a:extLst>
            </p:cNvPr>
            <p:cNvSpPr>
              <a:spLocks/>
            </p:cNvSpPr>
            <p:nvPr/>
          </p:nvSpPr>
          <p:spPr bwMode="auto">
            <a:xfrm flipH="1">
              <a:off x="374" y="1579"/>
              <a:ext cx="477" cy="506"/>
            </a:xfrm>
            <a:custGeom>
              <a:avLst/>
              <a:gdLst>
                <a:gd name="T0" fmla="*/ 0 w 356"/>
                <a:gd name="T1" fmla="*/ 0 h 368"/>
                <a:gd name="T2" fmla="*/ 139825 w 356"/>
                <a:gd name="T3" fmla="*/ 11340 h 368"/>
                <a:gd name="T4" fmla="*/ 165873 w 356"/>
                <a:gd name="T5" fmla="*/ 236254 h 368"/>
                <a:gd name="T6" fmla="*/ 36556 w 356"/>
                <a:gd name="T7" fmla="*/ 295467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ysClr val="window" lastClr="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endParaRPr>
            </a:p>
          </p:txBody>
        </p:sp>
      </p:grpSp>
      <p:sp>
        <p:nvSpPr>
          <p:cNvPr id="22" name="Text Box 41">
            <a:extLst>
              <a:ext uri="{FF2B5EF4-FFF2-40B4-BE49-F238E27FC236}">
                <a16:creationId xmlns:a16="http://schemas.microsoft.com/office/drawing/2014/main" id="{E35649B6-95DA-1095-7A33-C640EFBE69B7}"/>
              </a:ext>
            </a:extLst>
          </p:cNvPr>
          <p:cNvSpPr txBox="1">
            <a:spLocks noChangeArrowheads="1"/>
          </p:cNvSpPr>
          <p:nvPr/>
        </p:nvSpPr>
        <p:spPr bwMode="auto">
          <a:xfrm>
            <a:off x="6435011" y="2517838"/>
            <a:ext cx="723275" cy="26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itchFamily="34" charset="0"/>
                <a:ea typeface="MS PGothic"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eaLnBrk="1" fontAlgn="auto" latinLnBrk="0" hangingPunct="1">
              <a:lnSpc>
                <a:spcPct val="80000"/>
              </a:lnSpc>
              <a:spcBef>
                <a:spcPct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pitchFamily="34" charset="0"/>
              </a:rPr>
              <a:t>机顶盒</a:t>
            </a:r>
            <a:endParaRPr kumimoji="0" lang="en-US" altLang="zh-CN" sz="1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23" name="Text Box 39">
            <a:extLst>
              <a:ext uri="{FF2B5EF4-FFF2-40B4-BE49-F238E27FC236}">
                <a16:creationId xmlns:a16="http://schemas.microsoft.com/office/drawing/2014/main" id="{E0D4449E-FDB1-1EDF-4943-8EA3F7B46920}"/>
              </a:ext>
            </a:extLst>
          </p:cNvPr>
          <p:cNvSpPr txBox="1">
            <a:spLocks noChangeArrowheads="1"/>
          </p:cNvSpPr>
          <p:nvPr/>
        </p:nvSpPr>
        <p:spPr bwMode="auto">
          <a:xfrm>
            <a:off x="7031188" y="2559541"/>
            <a:ext cx="1160208" cy="437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itchFamily="34" charset="0"/>
                <a:ea typeface="MS PGothic"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eaLnBrk="1" fontAlgn="auto" latinLnBrk="0" hangingPunct="1">
              <a:lnSpc>
                <a:spcPct val="80000"/>
              </a:lnSpc>
              <a:spcBef>
                <a:spcPct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pitchFamily="34" charset="0"/>
              </a:rPr>
              <a:t>电缆调制</a:t>
            </a:r>
            <a:endParaRPr kumimoji="0" lang="en-US" altLang="zh-CN" sz="1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pitchFamily="34" charset="0"/>
            </a:endParaRPr>
          </a:p>
          <a:p>
            <a:pPr marL="0" marR="0" lvl="0" indent="0" algn="ctr" defTabSz="914400" eaLnBrk="1" fontAlgn="auto" latinLnBrk="0" hangingPunct="1">
              <a:lnSpc>
                <a:spcPct val="80000"/>
              </a:lnSpc>
              <a:spcBef>
                <a:spcPct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pitchFamily="34" charset="0"/>
              </a:rPr>
              <a:t>解调器</a:t>
            </a:r>
            <a:endParaRPr kumimoji="0" lang="en-US" altLang="zh-CN" sz="1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cxnSp>
        <p:nvCxnSpPr>
          <p:cNvPr id="24" name="直接连接符 23">
            <a:extLst>
              <a:ext uri="{FF2B5EF4-FFF2-40B4-BE49-F238E27FC236}">
                <a16:creationId xmlns:a16="http://schemas.microsoft.com/office/drawing/2014/main" id="{8491A9D7-B943-2A9D-2E00-43C0AC56C88A}"/>
              </a:ext>
            </a:extLst>
          </p:cNvPr>
          <p:cNvCxnSpPr>
            <a:cxnSpLocks/>
            <a:stCxn id="9" idx="1"/>
          </p:cNvCxnSpPr>
          <p:nvPr/>
        </p:nvCxnSpPr>
        <p:spPr>
          <a:xfrm flipH="1">
            <a:off x="5869226" y="2408249"/>
            <a:ext cx="837820" cy="0"/>
          </a:xfrm>
          <a:prstGeom prst="line">
            <a:avLst/>
          </a:prstGeom>
        </p:spPr>
        <p:style>
          <a:lnRef idx="3">
            <a:schemeClr val="accent5"/>
          </a:lnRef>
          <a:fillRef idx="0">
            <a:schemeClr val="accent5"/>
          </a:fillRef>
          <a:effectRef idx="2">
            <a:schemeClr val="accent5"/>
          </a:effectRef>
          <a:fontRef idx="minor">
            <a:schemeClr val="tx1"/>
          </a:fontRef>
        </p:style>
      </p:cxnSp>
      <p:sp>
        <p:nvSpPr>
          <p:cNvPr id="25" name="Text Box 39">
            <a:extLst>
              <a:ext uri="{FF2B5EF4-FFF2-40B4-BE49-F238E27FC236}">
                <a16:creationId xmlns:a16="http://schemas.microsoft.com/office/drawing/2014/main" id="{93824C90-9767-25F3-68E2-B781DDE00391}"/>
              </a:ext>
            </a:extLst>
          </p:cNvPr>
          <p:cNvSpPr txBox="1">
            <a:spLocks noChangeArrowheads="1"/>
          </p:cNvSpPr>
          <p:nvPr/>
        </p:nvSpPr>
        <p:spPr bwMode="auto">
          <a:xfrm>
            <a:off x="5770573" y="2179796"/>
            <a:ext cx="902811" cy="26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itchFamily="34" charset="0"/>
                <a:ea typeface="MS PGothic"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eaLnBrk="1" fontAlgn="auto" latinLnBrk="0" hangingPunct="1">
              <a:lnSpc>
                <a:spcPct val="80000"/>
              </a:lnSpc>
              <a:spcBef>
                <a:spcPct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pitchFamily="34" charset="0"/>
              </a:rPr>
              <a:t>同轴电缆</a:t>
            </a:r>
            <a:endParaRPr kumimoji="0" lang="en-US" altLang="zh-CN" sz="1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Tree>
    <p:extLst>
      <p:ext uri="{BB962C8B-B14F-4D97-AF65-F5344CB8AC3E}">
        <p14:creationId xmlns:p14="http://schemas.microsoft.com/office/powerpoint/2010/main" val="2764362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1000"/>
                                        <p:tgtEl>
                                          <p:spTgt spid="3">
                                            <p:txEl>
                                              <p:pRg st="4" end="4"/>
                                            </p:txEl>
                                          </p:spTgt>
                                        </p:tgtEl>
                                      </p:cBhvr>
                                    </p:animEffect>
                                    <p:anim calcmode="lin" valueType="num">
                                      <p:cBhvr>
                                        <p:cTn id="3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1000"/>
                                        <p:tgtEl>
                                          <p:spTgt spid="3">
                                            <p:txEl>
                                              <p:pRg st="5" end="5"/>
                                            </p:txEl>
                                          </p:spTgt>
                                        </p:tgtEl>
                                      </p:cBhvr>
                                    </p:animEffect>
                                    <p:anim calcmode="lin" valueType="num">
                                      <p:cBhvr>
                                        <p:cTn id="3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Effect transition="in" filter="fade">
                                      <p:cBhvr>
                                        <p:cTn id="39" dur="1000"/>
                                        <p:tgtEl>
                                          <p:spTgt spid="3">
                                            <p:txEl>
                                              <p:pRg st="6" end="6"/>
                                            </p:txEl>
                                          </p:spTgt>
                                        </p:tgtEl>
                                      </p:cBhvr>
                                    </p:animEffect>
                                    <p:anim calcmode="lin" valueType="num">
                                      <p:cBhvr>
                                        <p:cTn id="4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35" presetClass="emph" presetSubtype="0" repeatCount="3000" fill="hold" grpId="0" nodeType="clickEffect">
                                  <p:stCondLst>
                                    <p:cond delay="0"/>
                                  </p:stCondLst>
                                  <p:childTnLst>
                                    <p:anim calcmode="discrete" valueType="str">
                                      <p:cBhvr>
                                        <p:cTn id="45" dur="1000" fill="hold"/>
                                        <p:tgtEl>
                                          <p:spTgt spid="22"/>
                                        </p:tgtEl>
                                        <p:attrNameLst>
                                          <p:attrName>style.visibility</p:attrName>
                                        </p:attrNameLst>
                                      </p:cBhvr>
                                      <p:tavLst>
                                        <p:tav tm="0">
                                          <p:val>
                                            <p:strVal val="hidden"/>
                                          </p:val>
                                        </p:tav>
                                        <p:tav tm="50000">
                                          <p:val>
                                            <p:strVal val="visible"/>
                                          </p:val>
                                        </p:tav>
                                      </p:tavLst>
                                    </p:anim>
                                  </p:childTnLst>
                                </p:cTn>
                              </p:par>
                            </p:childTnLst>
                          </p:cTn>
                        </p:par>
                      </p:childTnLst>
                    </p:cTn>
                  </p:par>
                  <p:par>
                    <p:cTn id="46" fill="hold">
                      <p:stCondLst>
                        <p:cond delay="indefinite"/>
                      </p:stCondLst>
                      <p:childTnLst>
                        <p:par>
                          <p:cTn id="47" fill="hold">
                            <p:stCondLst>
                              <p:cond delay="0"/>
                            </p:stCondLst>
                            <p:childTnLst>
                              <p:par>
                                <p:cTn id="48" presetID="35" presetClass="emph" presetSubtype="0" repeatCount="3000" fill="hold" grpId="0" nodeType="clickEffect">
                                  <p:stCondLst>
                                    <p:cond delay="0"/>
                                  </p:stCondLst>
                                  <p:childTnLst>
                                    <p:anim calcmode="discrete" valueType="str">
                                      <p:cBhvr>
                                        <p:cTn id="49" dur="1000" fill="hold"/>
                                        <p:tgtEl>
                                          <p:spTgt spid="23"/>
                                        </p:tgtEl>
                                        <p:attrNameLst>
                                          <p:attrName>style.visibility</p:attrName>
                                        </p:attrNameLst>
                                      </p:cBhvr>
                                      <p:tavLst>
                                        <p:tav tm="0">
                                          <p:val>
                                            <p:strVal val="hidden"/>
                                          </p:val>
                                        </p:tav>
                                        <p:tav tm="50000">
                                          <p:val>
                                            <p:strVal val="visible"/>
                                          </p:val>
                                        </p:tav>
                                      </p:tavLst>
                                    </p:anim>
                                  </p:childTnLst>
                                </p:cTn>
                              </p:par>
                            </p:childTnLst>
                          </p:cTn>
                        </p:par>
                      </p:childTnLst>
                    </p:cTn>
                  </p:par>
                  <p:par>
                    <p:cTn id="50" fill="hold">
                      <p:stCondLst>
                        <p:cond delay="indefinite"/>
                      </p:stCondLst>
                      <p:childTnLst>
                        <p:par>
                          <p:cTn id="51" fill="hold">
                            <p:stCondLst>
                              <p:cond delay="0"/>
                            </p:stCondLst>
                            <p:childTnLst>
                              <p:par>
                                <p:cTn id="52" presetID="35" presetClass="emph" presetSubtype="0" repeatCount="3000" fill="hold" nodeType="clickEffect">
                                  <p:stCondLst>
                                    <p:cond delay="0"/>
                                  </p:stCondLst>
                                  <p:childTnLst>
                                    <p:anim calcmode="discrete" valueType="str">
                                      <p:cBhvr>
                                        <p:cTn id="53" dur="1000" fill="hold"/>
                                        <p:tgtEl>
                                          <p:spTgt spid="1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22" grpId="0"/>
      <p:bldP spid="23" grpId="0"/>
    </p:bldLst>
  </p:timing>
</p:sld>
</file>

<file path=ppt/tags/tag1.xml><?xml version="1.0" encoding="utf-8"?>
<p:tagLst xmlns:a="http://schemas.openxmlformats.org/drawingml/2006/main" xmlns:r="http://schemas.openxmlformats.org/officeDocument/2006/relationships" xmlns:p="http://schemas.openxmlformats.org/presentationml/2006/main">
  <p:tag name="TIMING" val="|21.6|11.6"/>
</p:tagLst>
</file>

<file path=ppt/tags/tag2.xml><?xml version="1.0" encoding="utf-8"?>
<p:tagLst xmlns:a="http://schemas.openxmlformats.org/drawingml/2006/main" xmlns:r="http://schemas.openxmlformats.org/officeDocument/2006/relationships" xmlns:p="http://schemas.openxmlformats.org/presentationml/2006/main">
  <p:tag name="TIMING" val="|8.8|18.8|8.2|7.9"/>
</p:tagLst>
</file>

<file path=ppt/tags/tag3.xml><?xml version="1.0" encoding="utf-8"?>
<p:tagLst xmlns:a="http://schemas.openxmlformats.org/drawingml/2006/main" xmlns:r="http://schemas.openxmlformats.org/officeDocument/2006/relationships" xmlns:p="http://schemas.openxmlformats.org/presentationml/2006/main">
  <p:tag name="TIMING" val="|30|14.3|7.3|17.4"/>
</p:tagLst>
</file>

<file path=ppt/tags/tag4.xml><?xml version="1.0" encoding="utf-8"?>
<p:tagLst xmlns:a="http://schemas.openxmlformats.org/drawingml/2006/main" xmlns:r="http://schemas.openxmlformats.org/officeDocument/2006/relationships" xmlns:p="http://schemas.openxmlformats.org/presentationml/2006/main">
  <p:tag name="TIMING" val="|2.1|2.6|3.4"/>
</p:tagLst>
</file>

<file path=ppt/tags/tag5.xml><?xml version="1.0" encoding="utf-8"?>
<p:tagLst xmlns:a="http://schemas.openxmlformats.org/drawingml/2006/main" xmlns:r="http://schemas.openxmlformats.org/officeDocument/2006/relationships" xmlns:p="http://schemas.openxmlformats.org/presentationml/2006/main">
  <p:tag name="TIMING" val="|4.3|9.2"/>
</p:tagLst>
</file>

<file path=ppt/tags/tag6.xml><?xml version="1.0" encoding="utf-8"?>
<p:tagLst xmlns:a="http://schemas.openxmlformats.org/drawingml/2006/main" xmlns:r="http://schemas.openxmlformats.org/officeDocument/2006/relationships" xmlns:p="http://schemas.openxmlformats.org/presentationml/2006/main">
  <p:tag name="TIMING" val="|14|15.5|13.2|6.9|5.5"/>
</p:tagLst>
</file>

<file path=ppt/tags/tag7.xml><?xml version="1.0" encoding="utf-8"?>
<p:tagLst xmlns:a="http://schemas.openxmlformats.org/drawingml/2006/main" xmlns:r="http://schemas.openxmlformats.org/officeDocument/2006/relationships" xmlns:p="http://schemas.openxmlformats.org/presentationml/2006/main">
  <p:tag name="TIMING" val="|4.9|21.6|17.9|21"/>
</p:tagLst>
</file>

<file path=ppt/tags/tag8.xml><?xml version="1.0" encoding="utf-8"?>
<p:tagLst xmlns:a="http://schemas.openxmlformats.org/drawingml/2006/main" xmlns:r="http://schemas.openxmlformats.org/officeDocument/2006/relationships" xmlns:p="http://schemas.openxmlformats.org/presentationml/2006/main">
  <p:tag name="TIMING" val="|3.7|12.3|18.3|3.4|17.7"/>
</p:tagLst>
</file>

<file path=ppt/tags/tag9.xml><?xml version="1.0" encoding="utf-8"?>
<p:tagLst xmlns:a="http://schemas.openxmlformats.org/drawingml/2006/main" xmlns:r="http://schemas.openxmlformats.org/officeDocument/2006/relationships" xmlns:p="http://schemas.openxmlformats.org/presentationml/2006/main">
  <p:tag name="TIMING" val="|4.9|6.4"/>
</p:tagLst>
</file>

<file path=ppt/tags/tag10.xml><?xml version="1.0" encoding="utf-8"?>
<p:tagLst xmlns:a="http://schemas.openxmlformats.org/drawingml/2006/main" xmlns:r="http://schemas.openxmlformats.org/officeDocument/2006/relationships" xmlns:p="http://schemas.openxmlformats.org/presentationml/2006/main">
  <p:tag name="TIMING" val="|7.5"/>
</p:tagLst>
</file>

<file path=ppt/tags/tag11.xml><?xml version="1.0" encoding="utf-8"?>
<p:tagLst xmlns:a="http://schemas.openxmlformats.org/drawingml/2006/main" xmlns:r="http://schemas.openxmlformats.org/officeDocument/2006/relationships" xmlns:p="http://schemas.openxmlformats.org/presentationml/2006/main">
  <p:tag name="TIMING" val="|8"/>
</p:tagLst>
</file>

<file path=ppt/tags/tag12.xml><?xml version="1.0" encoding="utf-8"?>
<p:tagLst xmlns:a="http://schemas.openxmlformats.org/drawingml/2006/main" xmlns:r="http://schemas.openxmlformats.org/officeDocument/2006/relationships" xmlns:p="http://schemas.openxmlformats.org/presentationml/2006/main">
  <p:tag name="TIMING" val="|8.9"/>
</p:tagLst>
</file>

<file path=ppt/tags/tag13.xml><?xml version="1.0" encoding="utf-8"?>
<p:tagLst xmlns:a="http://schemas.openxmlformats.org/drawingml/2006/main" xmlns:r="http://schemas.openxmlformats.org/officeDocument/2006/relationships" xmlns:p="http://schemas.openxmlformats.org/presentationml/2006/main">
  <p:tag name="TIMING" val="|3.8|11.8|11.1"/>
</p:tagLst>
</file>

<file path=ppt/tags/tag14.xml><?xml version="1.0" encoding="utf-8"?>
<p:tagLst xmlns:a="http://schemas.openxmlformats.org/drawingml/2006/main" xmlns:r="http://schemas.openxmlformats.org/officeDocument/2006/relationships" xmlns:p="http://schemas.openxmlformats.org/presentationml/2006/main">
  <p:tag name="TIMING" val="|10.6|8|26.7|18.2|16.1"/>
</p:tagLst>
</file>

<file path=ppt/tags/tag15.xml><?xml version="1.0" encoding="utf-8"?>
<p:tagLst xmlns:a="http://schemas.openxmlformats.org/drawingml/2006/main" xmlns:r="http://schemas.openxmlformats.org/officeDocument/2006/relationships" xmlns:p="http://schemas.openxmlformats.org/presentationml/2006/main">
  <p:tag name="TIMING" val="|22.7|11.4"/>
</p:tagLst>
</file>

<file path=ppt/tags/tag16.xml><?xml version="1.0" encoding="utf-8"?>
<p:tagLst xmlns:a="http://schemas.openxmlformats.org/drawingml/2006/main" xmlns:r="http://schemas.openxmlformats.org/officeDocument/2006/relationships" xmlns:p="http://schemas.openxmlformats.org/presentationml/2006/main">
  <p:tag name="TIMING" val="|8.9|15.4"/>
</p:tagLst>
</file>

<file path=ppt/tags/tag17.xml><?xml version="1.0" encoding="utf-8"?>
<p:tagLst xmlns:a="http://schemas.openxmlformats.org/drawingml/2006/main" xmlns:r="http://schemas.openxmlformats.org/officeDocument/2006/relationships" xmlns:p="http://schemas.openxmlformats.org/presentationml/2006/main">
  <p:tag name="TIMING" val="|10.9|29.7|8.3|26"/>
</p:tagLst>
</file>

<file path=ppt/tags/tag18.xml><?xml version="1.0" encoding="utf-8"?>
<p:tagLst xmlns:a="http://schemas.openxmlformats.org/drawingml/2006/main" xmlns:r="http://schemas.openxmlformats.org/officeDocument/2006/relationships" xmlns:p="http://schemas.openxmlformats.org/presentationml/2006/main">
  <p:tag name="TIMING" val="|24.8|6.2|7.2|23.4"/>
</p:tagLst>
</file>

<file path=ppt/tags/tag19.xml><?xml version="1.0" encoding="utf-8"?>
<p:tagLst xmlns:a="http://schemas.openxmlformats.org/drawingml/2006/main" xmlns:r="http://schemas.openxmlformats.org/officeDocument/2006/relationships" xmlns:p="http://schemas.openxmlformats.org/presentationml/2006/main">
  <p:tag name="TIMING" val="|9.4|6.7|2.8|5.9|4|10"/>
</p:tagLst>
</file>

<file path=ppt/tags/tag20.xml><?xml version="1.0" encoding="utf-8"?>
<p:tagLst xmlns:a="http://schemas.openxmlformats.org/drawingml/2006/main" xmlns:r="http://schemas.openxmlformats.org/officeDocument/2006/relationships" xmlns:p="http://schemas.openxmlformats.org/presentationml/2006/main">
  <p:tag name="TIMING" val="|13.8"/>
</p:tagLst>
</file>

<file path=ppt/tags/tag21.xml><?xml version="1.0" encoding="utf-8"?>
<p:tagLst xmlns:a="http://schemas.openxmlformats.org/drawingml/2006/main" xmlns:r="http://schemas.openxmlformats.org/officeDocument/2006/relationships" xmlns:p="http://schemas.openxmlformats.org/presentationml/2006/main">
  <p:tag name="TIMING" val="|6.4|14.6"/>
</p:tagLst>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Montserrat">
      <a:majorFont>
        <a:latin typeface="Montserrat"/>
        <a:ea typeface="微软雅黑"/>
        <a:cs typeface=""/>
      </a:majorFont>
      <a:minorFont>
        <a:latin typeface="Montserrat"/>
        <a:ea typeface="微软雅黑 Light"/>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4496</TotalTime>
  <Words>9736</Words>
  <Application>Microsoft Office PowerPoint</Application>
  <PresentationFormat>全屏显示(16:9)</PresentationFormat>
  <Paragraphs>1325</Paragraphs>
  <Slides>77</Slides>
  <Notes>44</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77</vt:i4>
      </vt:variant>
    </vt:vector>
  </HeadingPairs>
  <TitlesOfParts>
    <vt:vector size="90" baseType="lpstr">
      <vt:lpstr>等线</vt:lpstr>
      <vt:lpstr>黑体</vt:lpstr>
      <vt:lpstr>Arial</vt:lpstr>
      <vt:lpstr>宋体</vt:lpstr>
      <vt:lpstr>Times New Roman</vt:lpstr>
      <vt:lpstr>Arial Rounded MT Bold</vt:lpstr>
      <vt:lpstr>Wingdings</vt:lpstr>
      <vt:lpstr>Symbol</vt:lpstr>
      <vt:lpstr>Montserrat</vt:lpstr>
      <vt:lpstr>Calibri</vt:lpstr>
      <vt:lpstr>微软雅黑</vt:lpstr>
      <vt:lpstr>1_Office 主题​​</vt:lpstr>
      <vt:lpstr>绘图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cn plaman</cp:lastModifiedBy>
  <cp:revision>576</cp:revision>
  <dcterms:created xsi:type="dcterms:W3CDTF">2018-07-18T08:51:30Z</dcterms:created>
  <dcterms:modified xsi:type="dcterms:W3CDTF">2026-09-08T05:01:18Z</dcterms:modified>
</cp:coreProperties>
</file>