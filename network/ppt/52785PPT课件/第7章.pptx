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8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notesSlides/notesSlide17.xml" ContentType="application/vnd.openxmlformats-officedocument.presentationml.notesSlide+xml"/>
  <Override PartName="/ppt/tags/tag11.xml" ContentType="application/vnd.openxmlformats-officedocument.presentationml.tags+xml"/>
  <Override PartName="/ppt/notesSlides/notesSlide18.xml" ContentType="application/vnd.openxmlformats-officedocument.presentationml.notesSlide+xml"/>
  <Override PartName="/ppt/tags/tag12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3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4.xml" ContentType="application/vnd.openxmlformats-officedocument.presentationml.tags+xml"/>
  <Override PartName="/ppt/notesSlides/notesSlide23.xml" ContentType="application/vnd.openxmlformats-officedocument.presentationml.notesSlide+xml"/>
  <Override PartName="/ppt/tags/tag15.xml" ContentType="application/vnd.openxmlformats-officedocument.presentationml.tags+xml"/>
  <Override PartName="/ppt/notesSlides/notesSlide24.xml" ContentType="application/vnd.openxmlformats-officedocument.presentationml.notesSlide+xml"/>
  <Override PartName="/ppt/tags/tag16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7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tags/tag19.xml" ContentType="application/vnd.openxmlformats-officedocument.presentationml.tags+xml"/>
  <Override PartName="/ppt/notesSlides/notesSlide33.xml" ContentType="application/vnd.openxmlformats-officedocument.presentationml.notesSlide+xml"/>
  <Override PartName="/ppt/tags/tag20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1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22.xml" ContentType="application/vnd.openxmlformats-officedocument.presentationml.tags+xml"/>
  <Override PartName="/ppt/notesSlides/notesSlide40.xml" ContentType="application/vnd.openxmlformats-officedocument.presentationml.notesSlide+xml"/>
  <Override PartName="/ppt/tags/tag23.xml" ContentType="application/vnd.openxmlformats-officedocument.presentationml.tags+xml"/>
  <Override PartName="/ppt/notesSlides/notesSlide41.xml" ContentType="application/vnd.openxmlformats-officedocument.presentationml.notesSlide+xml"/>
  <Override PartName="/ppt/tags/tag24.xml" ContentType="application/vnd.openxmlformats-officedocument.presentationml.tags+xml"/>
  <Override PartName="/ppt/notesSlides/notesSlide42.xml" ContentType="application/vnd.openxmlformats-officedocument.presentationml.notesSlide+xml"/>
  <Override PartName="/ppt/tags/tag25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26.xml" ContentType="application/vnd.openxmlformats-officedocument.presentationml.tags+xml"/>
  <Override PartName="/ppt/notesSlides/notesSlide45.xml" ContentType="application/vnd.openxmlformats-officedocument.presentationml.notesSlide+xml"/>
  <Override PartName="/ppt/tags/tag27.xml" ContentType="application/vnd.openxmlformats-officedocument.presentationml.tags+xml"/>
  <Override PartName="/ppt/notesSlides/notesSlide46.xml" ContentType="application/vnd.openxmlformats-officedocument.presentationml.notesSlide+xml"/>
  <Override PartName="/ppt/tags/tag28.xml" ContentType="application/vnd.openxmlformats-officedocument.presentationml.tags+xml"/>
  <Override PartName="/ppt/notesSlides/notesSlide47.xml" ContentType="application/vnd.openxmlformats-officedocument.presentationml.notesSlide+xml"/>
  <Override PartName="/ppt/tags/tag29.xml" ContentType="application/vnd.openxmlformats-officedocument.presentationml.tags+xml"/>
  <Override PartName="/ppt/notesSlides/notesSlide48.xml" ContentType="application/vnd.openxmlformats-officedocument.presentationml.notesSlide+xml"/>
  <Override PartName="/ppt/tags/tag30.xml" ContentType="application/vnd.openxmlformats-officedocument.presentationml.tags+xml"/>
  <Override PartName="/ppt/notesSlides/notesSlide49.xml" ContentType="application/vnd.openxmlformats-officedocument.presentationml.notesSlide+xml"/>
  <Override PartName="/ppt/tags/tag31.xml" ContentType="application/vnd.openxmlformats-officedocument.presentationml.tags+xml"/>
  <Override PartName="/ppt/notesSlides/notesSlide50.xml" ContentType="application/vnd.openxmlformats-officedocument.presentationml.notesSlide+xml"/>
  <Override PartName="/ppt/tags/tag32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tags/tag33.xml" ContentType="application/vnd.openxmlformats-officedocument.presentationml.tags+xml"/>
  <Override PartName="/ppt/notesSlides/notesSlide54.xml" ContentType="application/vnd.openxmlformats-officedocument.presentationml.notesSlide+xml"/>
  <Override PartName="/ppt/tags/tag34.xml" ContentType="application/vnd.openxmlformats-officedocument.presentationml.tags+xml"/>
  <Override PartName="/ppt/notesSlides/notesSlide55.xml" ContentType="application/vnd.openxmlformats-officedocument.presentationml.notesSlide+xml"/>
  <Override PartName="/ppt/tags/tag35.xml" ContentType="application/vnd.openxmlformats-officedocument.presentationml.tags+xml"/>
  <Override PartName="/ppt/notesSlides/notesSlide56.xml" ContentType="application/vnd.openxmlformats-officedocument.presentationml.notesSlide+xml"/>
  <Override PartName="/ppt/tags/tag36.xml" ContentType="application/vnd.openxmlformats-officedocument.presentationml.tags+xml"/>
  <Override PartName="/ppt/notesSlides/notesSlide57.xml" ContentType="application/vnd.openxmlformats-officedocument.presentationml.notesSlide+xml"/>
  <Override PartName="/ppt/tags/tag37.xml" ContentType="application/vnd.openxmlformats-officedocument.presentationml.tags+xml"/>
  <Override PartName="/ppt/notesSlides/notesSlide58.xml" ContentType="application/vnd.openxmlformats-officedocument.presentationml.notesSlide+xml"/>
  <Override PartName="/ppt/tags/tag38.xml" ContentType="application/vnd.openxmlformats-officedocument.presentationml.tags+xml"/>
  <Override PartName="/ppt/notesSlides/notesSlide59.xml" ContentType="application/vnd.openxmlformats-officedocument.presentationml.notesSlide+xml"/>
  <Override PartName="/ppt/tags/tag39.xml" ContentType="application/vnd.openxmlformats-officedocument.presentationml.tags+xml"/>
  <Override PartName="/ppt/notesSlides/notesSlide60.xml" ContentType="application/vnd.openxmlformats-officedocument.presentationml.notesSlide+xml"/>
  <Override PartName="/ppt/tags/tag40.xml" ContentType="application/vnd.openxmlformats-officedocument.presentationml.tags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tags/tag41.xml" ContentType="application/vnd.openxmlformats-officedocument.presentationml.tags+xml"/>
  <Override PartName="/ppt/notesSlides/notesSlide63.xml" ContentType="application/vnd.openxmlformats-officedocument.presentationml.notesSlide+xml"/>
  <Override PartName="/ppt/tags/tag42.xml" ContentType="application/vnd.openxmlformats-officedocument.presentationml.tags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tags/tag43.xml" ContentType="application/vnd.openxmlformats-officedocument.presentationml.tags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tags/tag44.xml" ContentType="application/vnd.openxmlformats-officedocument.presentationml.tags+xml"/>
  <Override PartName="/ppt/notesSlides/notesSlide68.xml" ContentType="application/vnd.openxmlformats-officedocument.presentationml.notesSlide+xml"/>
  <Override PartName="/ppt/tags/tag45.xml" ContentType="application/vnd.openxmlformats-officedocument.presentationml.tags+xml"/>
  <Override PartName="/ppt/notesSlides/notesSlide69.xml" ContentType="application/vnd.openxmlformats-officedocument.presentationml.notesSlide+xml"/>
  <Override PartName="/ppt/tags/tag46.xml" ContentType="application/vnd.openxmlformats-officedocument.presentationml.tags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tags/tag47.xml" ContentType="application/vnd.openxmlformats-officedocument.presentationml.tags+xml"/>
  <Override PartName="/ppt/notesSlides/notesSlide73.xml" ContentType="application/vnd.openxmlformats-officedocument.presentationml.notesSlide+xml"/>
  <Override PartName="/ppt/tags/tag48.xml" ContentType="application/vnd.openxmlformats-officedocument.presentationml.tags+xml"/>
  <Override PartName="/ppt/notesSlides/notesSlide74.xml" ContentType="application/vnd.openxmlformats-officedocument.presentationml.notesSlide+xml"/>
  <Override PartName="/ppt/tags/tag49.xml" ContentType="application/vnd.openxmlformats-officedocument.presentationml.tags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tags/tag50.xml" ContentType="application/vnd.openxmlformats-officedocument.presentationml.tags+xml"/>
  <Override PartName="/ppt/notesSlides/notesSlide77.xml" ContentType="application/vnd.openxmlformats-officedocument.presentationml.notesSlide+xml"/>
  <Override PartName="/ppt/tags/tag51.xml" ContentType="application/vnd.openxmlformats-officedocument.presentationml.tags+xml"/>
  <Override PartName="/ppt/notesSlides/notesSlide78.xml" ContentType="application/vnd.openxmlformats-officedocument.presentationml.notesSlide+xml"/>
  <Override PartName="/ppt/tags/tag52.xml" ContentType="application/vnd.openxmlformats-officedocument.presentationml.tags+xml"/>
  <Override PartName="/ppt/notesSlides/notesSlide79.xml" ContentType="application/vnd.openxmlformats-officedocument.presentationml.notesSlide+xml"/>
  <Override PartName="/ppt/tags/tag53.xml" ContentType="application/vnd.openxmlformats-officedocument.presentationml.tags+xml"/>
  <Override PartName="/ppt/notesSlides/notesSlide80.xml" ContentType="application/vnd.openxmlformats-officedocument.presentationml.notesSlide+xml"/>
  <Override PartName="/ppt/tags/tag54.xml" ContentType="application/vnd.openxmlformats-officedocument.presentationml.tags+xml"/>
  <Override PartName="/ppt/notesSlides/notesSlide81.xml" ContentType="application/vnd.openxmlformats-officedocument.presentationml.notesSlide+xml"/>
  <Override PartName="/ppt/tags/tag55.xml" ContentType="application/vnd.openxmlformats-officedocument.presentationml.tags+xml"/>
  <Override PartName="/ppt/notesSlides/notesSlide82.xml" ContentType="application/vnd.openxmlformats-officedocument.presentationml.notesSlide+xml"/>
  <Override PartName="/ppt/tags/tag56.xml" ContentType="application/vnd.openxmlformats-officedocument.presentationml.tags+xml"/>
  <Override PartName="/ppt/notesSlides/notesSlide83.xml" ContentType="application/vnd.openxmlformats-officedocument.presentationml.notesSlide+xml"/>
  <Override PartName="/ppt/tags/tag57.xml" ContentType="application/vnd.openxmlformats-officedocument.presentationml.tags+xml"/>
  <Override PartName="/ppt/notesSlides/notesSlide84.xml" ContentType="application/vnd.openxmlformats-officedocument.presentationml.notesSlide+xml"/>
  <Override PartName="/ppt/tags/tag58.xml" ContentType="application/vnd.openxmlformats-officedocument.presentationml.tags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tags/tag59.xml" ContentType="application/vnd.openxmlformats-officedocument.presentationml.tags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tags/tag60.xml" ContentType="application/vnd.openxmlformats-officedocument.presentationml.tags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tags/tag61.xml" ContentType="application/vnd.openxmlformats-officedocument.presentationml.tags+xml"/>
  <Override PartName="/ppt/notesSlides/notesSlide97.xml" ContentType="application/vnd.openxmlformats-officedocument.presentationml.notesSlide+xml"/>
  <Override PartName="/ppt/tags/tag62.xml" ContentType="application/vnd.openxmlformats-officedocument.presentationml.tags+xml"/>
  <Override PartName="/ppt/notesSlides/notesSlide98.xml" ContentType="application/vnd.openxmlformats-officedocument.presentationml.notesSlide+xml"/>
  <Override PartName="/ppt/tags/tag63.xml" ContentType="application/vnd.openxmlformats-officedocument.presentationml.tags+xml"/>
  <Override PartName="/ppt/notesSlides/notesSlide99.xml" ContentType="application/vnd.openxmlformats-officedocument.presentationml.notesSlide+xml"/>
  <Override PartName="/ppt/tags/tag64.xml" ContentType="application/vnd.openxmlformats-officedocument.presentationml.tags+xml"/>
  <Override PartName="/ppt/notesSlides/notesSlide100.xml" ContentType="application/vnd.openxmlformats-officedocument.presentationml.notesSlide+xml"/>
  <Override PartName="/ppt/tags/tag65.xml" ContentType="application/vnd.openxmlformats-officedocument.presentationml.tags+xml"/>
  <Override PartName="/ppt/notesSlides/notesSlide101.xml" ContentType="application/vnd.openxmlformats-officedocument.presentationml.notesSlide+xml"/>
  <Override PartName="/ppt/tags/tag66.xml" ContentType="application/vnd.openxmlformats-officedocument.presentationml.tags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tags/tag67.xml" ContentType="application/vnd.openxmlformats-officedocument.presentationml.tags+xml"/>
  <Override PartName="/ppt/notesSlides/notesSlide104.xml" ContentType="application/vnd.openxmlformats-officedocument.presentationml.notesSlide+xml"/>
  <Override PartName="/ppt/tags/tag68.xml" ContentType="application/vnd.openxmlformats-officedocument.presentationml.tags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tags/tag69.xml" ContentType="application/vnd.openxmlformats-officedocument.presentationml.tags+xml"/>
  <Override PartName="/ppt/notesSlides/notesSlide107.xml" ContentType="application/vnd.openxmlformats-officedocument.presentationml.notesSlide+xml"/>
  <Override PartName="/ppt/tags/tag70.xml" ContentType="application/vnd.openxmlformats-officedocument.presentationml.tags+xml"/>
  <Override PartName="/ppt/notesSlides/notesSlide108.xml" ContentType="application/vnd.openxmlformats-officedocument.presentationml.notesSlide+xml"/>
  <Override PartName="/ppt/tags/tag71.xml" ContentType="application/vnd.openxmlformats-officedocument.presentationml.tags+xml"/>
  <Override PartName="/ppt/notesSlides/notesSlide109.xml" ContentType="application/vnd.openxmlformats-officedocument.presentationml.notesSlide+xml"/>
  <Override PartName="/ppt/tags/tag72.xml" ContentType="application/vnd.openxmlformats-officedocument.presentationml.tags+xml"/>
  <Override PartName="/ppt/notesSlides/notesSlide110.xml" ContentType="application/vnd.openxmlformats-officedocument.presentationml.notesSlide+xml"/>
  <Override PartName="/ppt/tags/tag73.xml" ContentType="application/vnd.openxmlformats-officedocument.presentationml.tags+xml"/>
  <Override PartName="/ppt/notesSlides/notesSlide111.xml" ContentType="application/vnd.openxmlformats-officedocument.presentationml.notesSlide+xml"/>
  <Override PartName="/ppt/tags/tag74.xml" ContentType="application/vnd.openxmlformats-officedocument.presentationml.tags+xml"/>
  <Override PartName="/ppt/notesSlides/notesSlide112.xml" ContentType="application/vnd.openxmlformats-officedocument.presentationml.notesSlide+xml"/>
  <Override PartName="/ppt/tags/tag75.xml" ContentType="application/vnd.openxmlformats-officedocument.presentationml.tags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5"/>
  </p:notesMasterIdLst>
  <p:sldIdLst>
    <p:sldId id="257" r:id="rId2"/>
    <p:sldId id="808" r:id="rId3"/>
    <p:sldId id="809" r:id="rId4"/>
    <p:sldId id="805" r:id="rId5"/>
    <p:sldId id="260" r:id="rId6"/>
    <p:sldId id="561" r:id="rId7"/>
    <p:sldId id="560" r:id="rId8"/>
    <p:sldId id="559" r:id="rId9"/>
    <p:sldId id="558" r:id="rId10"/>
    <p:sldId id="806" r:id="rId11"/>
    <p:sldId id="574" r:id="rId12"/>
    <p:sldId id="797" r:id="rId13"/>
    <p:sldId id="798" r:id="rId14"/>
    <p:sldId id="802" r:id="rId15"/>
    <p:sldId id="803" r:id="rId16"/>
    <p:sldId id="570" r:id="rId17"/>
    <p:sldId id="569" r:id="rId18"/>
    <p:sldId id="568" r:id="rId19"/>
    <p:sldId id="567" r:id="rId20"/>
    <p:sldId id="807" r:id="rId21"/>
    <p:sldId id="919" r:id="rId22"/>
    <p:sldId id="810" r:id="rId23"/>
    <p:sldId id="811" r:id="rId24"/>
    <p:sldId id="812" r:id="rId25"/>
    <p:sldId id="813" r:id="rId26"/>
    <p:sldId id="814" r:id="rId27"/>
    <p:sldId id="815" r:id="rId28"/>
    <p:sldId id="816" r:id="rId29"/>
    <p:sldId id="817" r:id="rId30"/>
    <p:sldId id="818" r:id="rId31"/>
    <p:sldId id="819" r:id="rId32"/>
    <p:sldId id="820" r:id="rId33"/>
    <p:sldId id="821" r:id="rId34"/>
    <p:sldId id="822" r:id="rId35"/>
    <p:sldId id="823" r:id="rId36"/>
    <p:sldId id="920" r:id="rId37"/>
    <p:sldId id="824" r:id="rId38"/>
    <p:sldId id="825" r:id="rId39"/>
    <p:sldId id="826" r:id="rId40"/>
    <p:sldId id="827" r:id="rId41"/>
    <p:sldId id="828" r:id="rId42"/>
    <p:sldId id="829" r:id="rId43"/>
    <p:sldId id="830" r:id="rId44"/>
    <p:sldId id="831" r:id="rId45"/>
    <p:sldId id="832" r:id="rId46"/>
    <p:sldId id="833" r:id="rId47"/>
    <p:sldId id="834" r:id="rId48"/>
    <p:sldId id="835" r:id="rId49"/>
    <p:sldId id="836" r:id="rId50"/>
    <p:sldId id="837" r:id="rId51"/>
    <p:sldId id="838" r:id="rId52"/>
    <p:sldId id="839" r:id="rId53"/>
    <p:sldId id="840" r:id="rId54"/>
    <p:sldId id="841" r:id="rId55"/>
    <p:sldId id="842" r:id="rId56"/>
    <p:sldId id="843" r:id="rId57"/>
    <p:sldId id="844" r:id="rId58"/>
    <p:sldId id="845" r:id="rId59"/>
    <p:sldId id="846" r:id="rId60"/>
    <p:sldId id="847" r:id="rId61"/>
    <p:sldId id="848" r:id="rId62"/>
    <p:sldId id="921" r:id="rId63"/>
    <p:sldId id="849" r:id="rId64"/>
    <p:sldId id="850" r:id="rId65"/>
    <p:sldId id="851" r:id="rId66"/>
    <p:sldId id="852" r:id="rId67"/>
    <p:sldId id="853" r:id="rId68"/>
    <p:sldId id="854" r:id="rId69"/>
    <p:sldId id="855" r:id="rId70"/>
    <p:sldId id="856" r:id="rId71"/>
    <p:sldId id="857" r:id="rId72"/>
    <p:sldId id="858" r:id="rId73"/>
    <p:sldId id="859" r:id="rId74"/>
    <p:sldId id="860" r:id="rId75"/>
    <p:sldId id="861" r:id="rId76"/>
    <p:sldId id="862" r:id="rId77"/>
    <p:sldId id="863" r:id="rId78"/>
    <p:sldId id="864" r:id="rId79"/>
    <p:sldId id="865" r:id="rId80"/>
    <p:sldId id="866" r:id="rId81"/>
    <p:sldId id="867" r:id="rId82"/>
    <p:sldId id="868" r:id="rId83"/>
    <p:sldId id="869" r:id="rId84"/>
    <p:sldId id="870" r:id="rId85"/>
    <p:sldId id="922" r:id="rId86"/>
    <p:sldId id="871" r:id="rId87"/>
    <p:sldId id="872" r:id="rId88"/>
    <p:sldId id="873" r:id="rId89"/>
    <p:sldId id="874" r:id="rId90"/>
    <p:sldId id="875" r:id="rId91"/>
    <p:sldId id="876" r:id="rId92"/>
    <p:sldId id="877" r:id="rId93"/>
    <p:sldId id="878" r:id="rId94"/>
    <p:sldId id="879" r:id="rId95"/>
    <p:sldId id="880" r:id="rId96"/>
    <p:sldId id="881" r:id="rId97"/>
    <p:sldId id="882" r:id="rId98"/>
    <p:sldId id="883" r:id="rId99"/>
    <p:sldId id="884" r:id="rId100"/>
    <p:sldId id="885" r:id="rId101"/>
    <p:sldId id="886" r:id="rId102"/>
    <p:sldId id="887" r:id="rId103"/>
    <p:sldId id="888" r:id="rId104"/>
    <p:sldId id="889" r:id="rId105"/>
    <p:sldId id="890" r:id="rId106"/>
    <p:sldId id="891" r:id="rId107"/>
    <p:sldId id="892" r:id="rId108"/>
    <p:sldId id="893" r:id="rId109"/>
    <p:sldId id="894" r:id="rId110"/>
    <p:sldId id="895" r:id="rId111"/>
    <p:sldId id="896" r:id="rId112"/>
    <p:sldId id="897" r:id="rId113"/>
    <p:sldId id="898" r:id="rId114"/>
    <p:sldId id="899" r:id="rId115"/>
    <p:sldId id="900" r:id="rId116"/>
    <p:sldId id="901" r:id="rId117"/>
    <p:sldId id="902" r:id="rId118"/>
    <p:sldId id="903" r:id="rId119"/>
    <p:sldId id="904" r:id="rId120"/>
    <p:sldId id="905" r:id="rId121"/>
    <p:sldId id="906" r:id="rId122"/>
    <p:sldId id="907" r:id="rId123"/>
    <p:sldId id="908" r:id="rId124"/>
    <p:sldId id="909" r:id="rId125"/>
    <p:sldId id="910" r:id="rId126"/>
    <p:sldId id="911" r:id="rId127"/>
    <p:sldId id="912" r:id="rId128"/>
    <p:sldId id="913" r:id="rId129"/>
    <p:sldId id="914" r:id="rId130"/>
    <p:sldId id="915" r:id="rId131"/>
    <p:sldId id="916" r:id="rId132"/>
    <p:sldId id="917" r:id="rId133"/>
    <p:sldId id="918" r:id="rId13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36"/>
      <p:bold r:id="rId137"/>
      <p:italic r:id="rId138"/>
      <p:boldItalic r:id="rId139"/>
    </p:embeddedFont>
    <p:embeddedFont>
      <p:font typeface="Wingdings 2" panose="05020102010507070707" pitchFamily="18" charset="2"/>
      <p:regular r:id="rId140"/>
    </p:embeddedFont>
    <p:embeddedFont>
      <p:font typeface="黑体" panose="02010609060101010101" pitchFamily="49" charset="-122"/>
      <p:regular r:id="rId141"/>
    </p:embeddedFont>
    <p:embeddedFont>
      <p:font typeface="Cambria Math" panose="02040503050406030204" pitchFamily="18" charset="0"/>
      <p:regular r:id="rId142"/>
    </p:embeddedFont>
    <p:embeddedFont>
      <p:font typeface="Comic Sans MS" panose="030F0702030302020204" pitchFamily="66" charset="0"/>
      <p:regular r:id="rId143"/>
      <p:bold r:id="rId144"/>
      <p:italic r:id="rId145"/>
      <p:boldItalic r:id="rId146"/>
    </p:embeddedFont>
    <p:embeddedFont>
      <p:font typeface="ＭＳ Ｐゴシック" panose="020B0600070205080204" pitchFamily="34" charset="-128"/>
      <p:regular r:id="rId147"/>
    </p:embeddedFont>
    <p:embeddedFont>
      <p:font typeface="微软雅黑" panose="020B0503020204020204" pitchFamily="34" charset="-122"/>
      <p:regular r:id="rId148"/>
      <p:bold r:id="rId14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A647DA"/>
    <a:srgbClr val="CC0099"/>
    <a:srgbClr val="FFFF66"/>
    <a:srgbClr val="00FFFF"/>
    <a:srgbClr val="0000CC"/>
    <a:srgbClr val="0000FF"/>
    <a:srgbClr val="FFFF99"/>
    <a:srgbClr val="66FF99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49474" autoAdjust="0"/>
  </p:normalViewPr>
  <p:slideViewPr>
    <p:cSldViewPr snapToGrid="0">
      <p:cViewPr varScale="1">
        <p:scale>
          <a:sx n="68" d="100"/>
          <a:sy n="68" d="100"/>
        </p:scale>
        <p:origin x="1308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font" Target="fonts/font3.fntdata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font" Target="fonts/font9.fntdata"/><Relationship Id="rId149" Type="http://schemas.openxmlformats.org/officeDocument/2006/relationships/font" Target="fonts/font14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font" Target="fonts/font4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font" Target="fonts/font5.fntdata"/><Relationship Id="rId145" Type="http://schemas.openxmlformats.org/officeDocument/2006/relationships/font" Target="fonts/font10.fntdata"/><Relationship Id="rId15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143" Type="http://schemas.openxmlformats.org/officeDocument/2006/relationships/font" Target="fonts/font8.fntdata"/><Relationship Id="rId148" Type="http://schemas.openxmlformats.org/officeDocument/2006/relationships/font" Target="fonts/font13.fntdata"/><Relationship Id="rId15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6.fntdata"/><Relationship Id="rId146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7.fntdata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D98DA0-95B2-47C8-904B-9AC1171377A9}" type="doc">
      <dgm:prSet loTypeId="urn:microsoft.com/office/officeart/2005/8/layout/h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05A68B64-66B2-4FAF-92DD-516FF32B1BCC}">
      <dgm:prSet phldrT="[文本]" custT="1"/>
      <dgm:spPr/>
      <dgm:t>
        <a:bodyPr/>
        <a:lstStyle/>
        <a:p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鉴别与加密不同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A66D2F3-8AA5-4139-8F76-EA56D3788C49}" type="par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7E8B910-8BA6-4472-9776-E857A512BC38}" type="sib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97D4A6-72F3-4CF6-AEA3-2D6BCD98E933}">
      <dgm:prSet phldrT="[文本]" custT="1"/>
      <dgm:spPr/>
      <dgm:t>
        <a:bodyPr/>
        <a:lstStyle/>
        <a:p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鉴别保证报文的完整性，以及验证通信实体的身份。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66684A-032A-4EE5-B123-E63A6AFC542E}" type="par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AEEAF6-2C90-450B-83EB-61A039CB75EF}" type="sib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303DA3-CA59-4DE3-87D8-08ED0B0AE905}">
      <dgm:prSet phldrT="[文本]" custT="1"/>
      <dgm:spPr/>
      <dgm:t>
        <a:bodyPr/>
        <a:lstStyle/>
        <a:p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鉴别与授权不同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3A82F57-0C70-4ABB-BF85-CB7D9C6DEAA5}" type="par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3DAC15-77D8-4571-B151-92735A738E4E}" type="sib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F2F39F-9B4B-44E0-9A3C-3199C8F07F3A}">
      <dgm:prSet phldrT="[文本]" custT="1"/>
      <dgm:spPr/>
      <dgm:t>
        <a:bodyPr/>
        <a:lstStyle/>
        <a:p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授权 </a:t>
          </a:r>
          <a:r>
            <a:rPr lang="en-US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(authorization)</a:t>
          </a:r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涉及的问题是：所进行的动作是否被允许（如是否可以对某文件进行读或写）。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E453C08-46CA-49A8-8B81-DEC0069C6C34}" type="par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4197D5-B346-4C6D-A6FB-82D885410872}" type="sib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73599E9-1D82-46B3-8AC4-6810F11264D0}">
      <dgm:prSet phldrT="[文本]" custT="1"/>
      <dgm:spPr/>
      <dgm:t>
        <a:bodyPr/>
        <a:lstStyle/>
        <a:p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加密保证报文的机密性。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B0F821-B39B-4BD0-BCC5-BAB42CAFE74C}" type="parTrans" cxnId="{5CC6A155-590F-490A-992A-0A4D07E6C1EA}">
      <dgm:prSet/>
      <dgm:spPr/>
      <dgm:t>
        <a:bodyPr/>
        <a:lstStyle/>
        <a:p>
          <a:endParaRPr lang="zh-CN" altLang="en-US"/>
        </a:p>
      </dgm:t>
    </dgm:pt>
    <dgm:pt modelId="{CAEAA676-DF27-4E8B-B908-DA692B49D398}" type="sibTrans" cxnId="{5CC6A155-590F-490A-992A-0A4D07E6C1EA}">
      <dgm:prSet/>
      <dgm:spPr/>
      <dgm:t>
        <a:bodyPr/>
        <a:lstStyle/>
        <a:p>
          <a:endParaRPr lang="zh-CN" altLang="en-US"/>
        </a:p>
      </dgm:t>
    </dgm:pt>
    <dgm:pt modelId="{2459AA72-BC4B-4C5C-B556-E8D74D05A708}" type="pres">
      <dgm:prSet presAssocID="{08D98DA0-95B2-47C8-904B-9AC1171377A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72C95C8-FB31-4DBD-B776-0832795C686C}" type="pres">
      <dgm:prSet presAssocID="{05A68B64-66B2-4FAF-92DD-516FF32B1BCC}" presName="composite" presStyleCnt="0"/>
      <dgm:spPr/>
    </dgm:pt>
    <dgm:pt modelId="{4C2448E9-2FED-4C18-AEB6-80BAC810D979}" type="pres">
      <dgm:prSet presAssocID="{05A68B64-66B2-4FAF-92DD-516FF32B1BC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6ECD96F-8117-4A6D-AE9F-1F60F8B55EE5}" type="pres">
      <dgm:prSet presAssocID="{05A68B64-66B2-4FAF-92DD-516FF32B1BCC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01A89F5-9BE7-45EC-9CC6-C3030B1C2986}" type="pres">
      <dgm:prSet presAssocID="{C7E8B910-8BA6-4472-9776-E857A512BC38}" presName="space" presStyleCnt="0"/>
      <dgm:spPr/>
    </dgm:pt>
    <dgm:pt modelId="{50742E41-305B-4B63-A528-37FA256778AB}" type="pres">
      <dgm:prSet presAssocID="{58303DA3-CA59-4DE3-87D8-08ED0B0AE905}" presName="composite" presStyleCnt="0"/>
      <dgm:spPr/>
    </dgm:pt>
    <dgm:pt modelId="{B9E82E96-11D1-4AE9-AC69-5EA2280CC2A6}" type="pres">
      <dgm:prSet presAssocID="{58303DA3-CA59-4DE3-87D8-08ED0B0AE90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36D80E2-BA89-486A-B948-925364516303}" type="pres">
      <dgm:prSet presAssocID="{58303DA3-CA59-4DE3-87D8-08ED0B0AE905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60FD945-49AB-4CBD-B400-904BEBC42DAF}" srcId="{08D98DA0-95B2-47C8-904B-9AC1171377A9}" destId="{05A68B64-66B2-4FAF-92DD-516FF32B1BCC}" srcOrd="0" destOrd="0" parTransId="{2A66D2F3-8AA5-4139-8F76-EA56D3788C49}" sibTransId="{C7E8B910-8BA6-4472-9776-E857A512BC38}"/>
    <dgm:cxn modelId="{7F2F148C-2A93-4731-BAB5-8EC0BEFC4DE1}" srcId="{05A68B64-66B2-4FAF-92DD-516FF32B1BCC}" destId="{4B97D4A6-72F3-4CF6-AEA3-2D6BCD98E933}" srcOrd="1" destOrd="0" parTransId="{B766684A-032A-4EE5-B123-E63A6AFC542E}" sibTransId="{F4AEEAF6-2C90-450B-83EB-61A039CB75EF}"/>
    <dgm:cxn modelId="{99D999C5-381D-4A6F-8162-32F9E77737FD}" type="presOf" srcId="{A6F2F39F-9B4B-44E0-9A3C-3199C8F07F3A}" destId="{D36D80E2-BA89-486A-B948-925364516303}" srcOrd="0" destOrd="0" presId="urn:microsoft.com/office/officeart/2005/8/layout/hList1"/>
    <dgm:cxn modelId="{391FDBB2-2E69-4101-8AAD-194CB80E5FDA}" type="presOf" srcId="{073599E9-1D82-46B3-8AC4-6810F11264D0}" destId="{46ECD96F-8117-4A6D-AE9F-1F60F8B55EE5}" srcOrd="0" destOrd="0" presId="urn:microsoft.com/office/officeart/2005/8/layout/hList1"/>
    <dgm:cxn modelId="{B3980DAD-2EA2-4F24-ABAB-75CEC8296E52}" type="presOf" srcId="{4B97D4A6-72F3-4CF6-AEA3-2D6BCD98E933}" destId="{46ECD96F-8117-4A6D-AE9F-1F60F8B55EE5}" srcOrd="0" destOrd="1" presId="urn:microsoft.com/office/officeart/2005/8/layout/hList1"/>
    <dgm:cxn modelId="{C6338920-DF49-4EEA-82E5-78F48AEB261A}" type="presOf" srcId="{58303DA3-CA59-4DE3-87D8-08ED0B0AE905}" destId="{B9E82E96-11D1-4AE9-AC69-5EA2280CC2A6}" srcOrd="0" destOrd="0" presId="urn:microsoft.com/office/officeart/2005/8/layout/hList1"/>
    <dgm:cxn modelId="{AC40AEC7-7654-4B7E-8765-D400B8A2A0ED}" srcId="{08D98DA0-95B2-47C8-904B-9AC1171377A9}" destId="{58303DA3-CA59-4DE3-87D8-08ED0B0AE905}" srcOrd="1" destOrd="0" parTransId="{E3A82F57-0C70-4ABB-BF85-CB7D9C6DEAA5}" sibTransId="{F83DAC15-77D8-4571-B151-92735A738E4E}"/>
    <dgm:cxn modelId="{253C445E-DE46-45D7-8BC5-D25AC2BB843A}" srcId="{58303DA3-CA59-4DE3-87D8-08ED0B0AE905}" destId="{A6F2F39F-9B4B-44E0-9A3C-3199C8F07F3A}" srcOrd="0" destOrd="0" parTransId="{DE453C08-46CA-49A8-8B81-DEC0069C6C34}" sibTransId="{414197D5-B346-4C6D-A6FB-82D885410872}"/>
    <dgm:cxn modelId="{383D347D-A841-4089-BA24-0DF594007D2F}" type="presOf" srcId="{08D98DA0-95B2-47C8-904B-9AC1171377A9}" destId="{2459AA72-BC4B-4C5C-B556-E8D74D05A708}" srcOrd="0" destOrd="0" presId="urn:microsoft.com/office/officeart/2005/8/layout/hList1"/>
    <dgm:cxn modelId="{5CC6A155-590F-490A-992A-0A4D07E6C1EA}" srcId="{05A68B64-66B2-4FAF-92DD-516FF32B1BCC}" destId="{073599E9-1D82-46B3-8AC4-6810F11264D0}" srcOrd="0" destOrd="0" parTransId="{1BB0F821-B39B-4BD0-BCC5-BAB42CAFE74C}" sibTransId="{CAEAA676-DF27-4E8B-B908-DA692B49D398}"/>
    <dgm:cxn modelId="{DA8CFD09-0A80-42E9-8897-D820D3FF2B10}" type="presOf" srcId="{05A68B64-66B2-4FAF-92DD-516FF32B1BCC}" destId="{4C2448E9-2FED-4C18-AEB6-80BAC810D979}" srcOrd="0" destOrd="0" presId="urn:microsoft.com/office/officeart/2005/8/layout/hList1"/>
    <dgm:cxn modelId="{57B7E459-D787-43D0-8E2E-AF123331A1C2}" type="presParOf" srcId="{2459AA72-BC4B-4C5C-B556-E8D74D05A708}" destId="{772C95C8-FB31-4DBD-B776-0832795C686C}" srcOrd="0" destOrd="0" presId="urn:microsoft.com/office/officeart/2005/8/layout/hList1"/>
    <dgm:cxn modelId="{0CD98B86-3BFD-4784-B4BB-0D17913F94A5}" type="presParOf" srcId="{772C95C8-FB31-4DBD-B776-0832795C686C}" destId="{4C2448E9-2FED-4C18-AEB6-80BAC810D979}" srcOrd="0" destOrd="0" presId="urn:microsoft.com/office/officeart/2005/8/layout/hList1"/>
    <dgm:cxn modelId="{225700FE-9627-48DC-80CB-39019CD5EFD7}" type="presParOf" srcId="{772C95C8-FB31-4DBD-B776-0832795C686C}" destId="{46ECD96F-8117-4A6D-AE9F-1F60F8B55EE5}" srcOrd="1" destOrd="0" presId="urn:microsoft.com/office/officeart/2005/8/layout/hList1"/>
    <dgm:cxn modelId="{6EA78E51-4593-4B9B-96F4-21F87607F4FE}" type="presParOf" srcId="{2459AA72-BC4B-4C5C-B556-E8D74D05A708}" destId="{C01A89F5-9BE7-45EC-9CC6-C3030B1C2986}" srcOrd="1" destOrd="0" presId="urn:microsoft.com/office/officeart/2005/8/layout/hList1"/>
    <dgm:cxn modelId="{84087F10-732D-488A-932E-BE075FF10291}" type="presParOf" srcId="{2459AA72-BC4B-4C5C-B556-E8D74D05A708}" destId="{50742E41-305B-4B63-A528-37FA256778AB}" srcOrd="2" destOrd="0" presId="urn:microsoft.com/office/officeart/2005/8/layout/hList1"/>
    <dgm:cxn modelId="{A76DBDD5-7C8E-4E9B-BBD4-0CED420DBCE2}" type="presParOf" srcId="{50742E41-305B-4B63-A528-37FA256778AB}" destId="{B9E82E96-11D1-4AE9-AC69-5EA2280CC2A6}" srcOrd="0" destOrd="0" presId="urn:microsoft.com/office/officeart/2005/8/layout/hList1"/>
    <dgm:cxn modelId="{8143D0F1-2A1A-4D2E-A895-B50524989DE7}" type="presParOf" srcId="{50742E41-305B-4B63-A528-37FA256778AB}" destId="{D36D80E2-BA89-486A-B948-92536451630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448E9-2FED-4C18-AEB6-80BAC810D979}">
      <dsp:nvSpPr>
        <dsp:cNvPr id="0" name=""/>
        <dsp:cNvSpPr/>
      </dsp:nvSpPr>
      <dsp:spPr>
        <a:xfrm>
          <a:off x="32" y="15180"/>
          <a:ext cx="3150184" cy="8352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鉴别与加密不同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" y="15180"/>
        <a:ext cx="3150184" cy="835200"/>
      </dsp:txXfrm>
    </dsp:sp>
    <dsp:sp modelId="{46ECD96F-8117-4A6D-AE9F-1F60F8B55EE5}">
      <dsp:nvSpPr>
        <dsp:cNvPr id="0" name=""/>
        <dsp:cNvSpPr/>
      </dsp:nvSpPr>
      <dsp:spPr>
        <a:xfrm>
          <a:off x="32" y="850380"/>
          <a:ext cx="3150184" cy="165429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加密保证报文的机密性。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鉴别保证报文的完整性，以及验证通信实体的身份。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" y="850380"/>
        <a:ext cx="3150184" cy="1654291"/>
      </dsp:txXfrm>
    </dsp:sp>
    <dsp:sp modelId="{B9E82E96-11D1-4AE9-AC69-5EA2280CC2A6}">
      <dsp:nvSpPr>
        <dsp:cNvPr id="0" name=""/>
        <dsp:cNvSpPr/>
      </dsp:nvSpPr>
      <dsp:spPr>
        <a:xfrm>
          <a:off x="3591242" y="15180"/>
          <a:ext cx="3150184" cy="835200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鉴别与授权不同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591242" y="15180"/>
        <a:ext cx="3150184" cy="835200"/>
      </dsp:txXfrm>
    </dsp:sp>
    <dsp:sp modelId="{D36D80E2-BA89-486A-B948-925364516303}">
      <dsp:nvSpPr>
        <dsp:cNvPr id="0" name=""/>
        <dsp:cNvSpPr/>
      </dsp:nvSpPr>
      <dsp:spPr>
        <a:xfrm>
          <a:off x="3591242" y="850380"/>
          <a:ext cx="3150184" cy="1654291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授权 </a:t>
          </a:r>
          <a:r>
            <a:rPr lang="en-US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(authorization)</a:t>
          </a: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涉及的问题是：所进行的动作是否被允许（如是否可以对某文件进行读或写）。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591242" y="850380"/>
        <a:ext cx="3150184" cy="16542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97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194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747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709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565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120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950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278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083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275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701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014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735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148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458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112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2972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098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923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020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8032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92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0393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2401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3429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1394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0239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2171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825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118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947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8581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8632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9508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2733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5915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957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3445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1286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7209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5697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9120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2798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6738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9279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0891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2396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9918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3419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1559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0422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97251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7681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72901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8972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8503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7624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16836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6976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66906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53099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61356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7512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90462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4645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10712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41141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60670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70124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92391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0575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75907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75412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78193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59800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82517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06487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37001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415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85958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26201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4381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40282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44427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85390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00651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72200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35308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34103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73054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61041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4141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09980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24586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69462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41257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22456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10647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8822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35247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03944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11633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80851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80640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29528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2766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23774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16997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40147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51290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74890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46312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85924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90582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817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827" y="149234"/>
            <a:ext cx="358346" cy="458684"/>
          </a:xfrm>
          <a:prstGeom prst="rect">
            <a:avLst/>
          </a:prstGeom>
        </p:spPr>
      </p:pic>
      <p:sp>
        <p:nvSpPr>
          <p:cNvPr id="20" name="Line 3"/>
          <p:cNvSpPr>
            <a:spLocks noChangeShapeType="1"/>
          </p:cNvSpPr>
          <p:nvPr userDrawn="1"/>
        </p:nvSpPr>
        <p:spPr bwMode="auto">
          <a:xfrm>
            <a:off x="0" y="428092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4262908" y="123478"/>
            <a:ext cx="598868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Line 3"/>
          <p:cNvSpPr>
            <a:spLocks noChangeShapeType="1"/>
          </p:cNvSpPr>
          <p:nvPr userDrawn="1"/>
        </p:nvSpPr>
        <p:spPr bwMode="auto">
          <a:xfrm>
            <a:off x="0" y="301530"/>
            <a:ext cx="2835464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3" name="Rectangle 4"/>
          <p:cNvSpPr>
            <a:spLocks noChangeArrowheads="1"/>
          </p:cNvSpPr>
          <p:nvPr userDrawn="1"/>
        </p:nvSpPr>
        <p:spPr bwMode="auto">
          <a:xfrm>
            <a:off x="4810742" y="164227"/>
            <a:ext cx="174550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章 网络安全</a:t>
            </a:r>
            <a:endParaRPr lang="fr-FR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auto">
          <a:xfrm>
            <a:off x="2835464" y="164857"/>
            <a:ext cx="14927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 </a:t>
            </a:r>
            <a:r>
              <a:rPr lang="en-US" altLang="zh-CN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9 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en-US" altLang="zh-CN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fr-FR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/>
          <p:cNvSpPr/>
          <p:nvPr userDrawn="1"/>
        </p:nvSpPr>
        <p:spPr>
          <a:xfrm>
            <a:off x="2793115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sp>
        <p:nvSpPr>
          <p:cNvPr id="26" name="Line 3"/>
          <p:cNvSpPr>
            <a:spLocks noChangeShapeType="1"/>
          </p:cNvSpPr>
          <p:nvPr userDrawn="1"/>
        </p:nvSpPr>
        <p:spPr bwMode="auto">
          <a:xfrm>
            <a:off x="6227629" y="301093"/>
            <a:ext cx="2916371" cy="437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8" name="椭圆 27"/>
          <p:cNvSpPr/>
          <p:nvPr userDrawn="1"/>
        </p:nvSpPr>
        <p:spPr>
          <a:xfrm>
            <a:off x="6142931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612" y="149234"/>
            <a:ext cx="358346" cy="45868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18D8E1A-03C8-3B3E-BD52-8897D9FCB21A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26"/>
          <a:stretch>
            <a:fillRect/>
          </a:stretch>
        </p:blipFill>
        <p:spPr>
          <a:xfrm>
            <a:off x="8208963" y="4530738"/>
            <a:ext cx="545473" cy="531048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2.bin"/><Relationship Id="rId2" Type="http://schemas.openxmlformats.org/officeDocument/2006/relationships/tags" Target="../tags/tag1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4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NULL"/><Relationship Id="rId11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../media/image9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image" Target="../media/image8.png"/><Relationship Id="rId9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10" Type="http://schemas.openxmlformats.org/officeDocument/2006/relationships/image" Target="NULL"/><Relationship Id="rId4" Type="http://schemas.openxmlformats.org/officeDocument/2006/relationships/image" Target="../media/image8.png"/><Relationship Id="rId9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image" Target="../media/image8.png"/><Relationship Id="rId9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9.wmf"/><Relationship Id="rId12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8.png"/><Relationship Id="rId11" Type="http://schemas.openxmlformats.org/officeDocument/2006/relationships/image" Target="NULL"/><Relationship Id="rId5" Type="http://schemas.openxmlformats.org/officeDocument/2006/relationships/image" Target="../media/image7.wmf"/><Relationship Id="rId10" Type="http://schemas.openxmlformats.org/officeDocument/2006/relationships/image" Target="NULL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5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wmf"/><Relationship Id="rId2" Type="http://schemas.openxmlformats.org/officeDocument/2006/relationships/tags" Target="../tags/tag3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notesSlide" Target="../notesSlides/notesSlide5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wmf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8.png"/><Relationship Id="rId4" Type="http://schemas.openxmlformats.org/officeDocument/2006/relationships/image" Target="../media/image19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5" Type="http://schemas.openxmlformats.org/officeDocument/2006/relationships/image" Target="../media/image8.png"/><Relationship Id="rId4" Type="http://schemas.openxmlformats.org/officeDocument/2006/relationships/image" Target="../media/image19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5" Type="http://schemas.openxmlformats.org/officeDocument/2006/relationships/image" Target="../media/image8.png"/><Relationship Id="rId4" Type="http://schemas.openxmlformats.org/officeDocument/2006/relationships/image" Target="../media/image19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5" Type="http://schemas.openxmlformats.org/officeDocument/2006/relationships/image" Target="../media/image8.png"/><Relationship Id="rId4" Type="http://schemas.openxmlformats.org/officeDocument/2006/relationships/image" Target="../media/image19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image" Target="../media/image8.png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6" Type="http://schemas.openxmlformats.org/officeDocument/2006/relationships/image" Target="../media/image8.png"/><Relationship Id="rId5" Type="http://schemas.openxmlformats.org/officeDocument/2006/relationships/image" Target="../media/image19.wmf"/><Relationship Id="rId4" Type="http://schemas.openxmlformats.org/officeDocument/2006/relationships/image" Target="../media/image20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9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6" Type="http://schemas.openxmlformats.org/officeDocument/2006/relationships/image" Target="../media/image8.png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4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4" Type="http://schemas.openxmlformats.org/officeDocument/2006/relationships/image" Target="../media/image25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4" Type="http://schemas.openxmlformats.org/officeDocument/2006/relationships/image" Target="../media/image26.w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Relationship Id="rId4" Type="http://schemas.openxmlformats.org/officeDocument/2006/relationships/image" Target="../media/image26.wmf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7.bin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47473" y="2583673"/>
            <a:ext cx="196138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fr-FR" altLang="zh-CN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谢希仁 </a:t>
            </a:r>
            <a:r>
              <a:rPr lang="zh-CN" altLang="en-US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谢钧 邢长友</a:t>
            </a:r>
            <a:r>
              <a:rPr lang="fr-FR" altLang="zh-CN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 编著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0302" y="2239963"/>
            <a:ext cx="251240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计算机网络（</a:t>
            </a:r>
            <a:r>
              <a:rPr lang="fr-FR" sz="16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第 9 版</a:t>
            </a: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2" y="2955148"/>
            <a:ext cx="11985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535085" y="1861082"/>
            <a:ext cx="3398686" cy="1421337"/>
            <a:chOff x="4535085" y="1664468"/>
            <a:chExt cx="3398686" cy="1421337"/>
          </a:xfrm>
        </p:grpSpPr>
        <p:sp>
          <p:nvSpPr>
            <p:cNvPr id="17" name="矩形 16"/>
            <p:cNvSpPr/>
            <p:nvPr/>
          </p:nvSpPr>
          <p:spPr>
            <a:xfrm>
              <a:off x="4535085" y="2147086"/>
              <a:ext cx="3398686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55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55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络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55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55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</a:t>
              </a:r>
              <a:endParaRPr lang="fr-FR" altLang="zh-CN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565012" y="1664468"/>
              <a:ext cx="1338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fr-FR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 7 章</a:t>
              </a:r>
              <a:endParaRPr lang="fr-FR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736634" y="2645892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736635" y="721414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736635" y="1201535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1736635" y="1685179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1736635" y="2173673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736635" y="3126629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736635" y="3616623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2484345" y="540243"/>
            <a:ext cx="0" cy="3920474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1768382" y="563273"/>
            <a:ext cx="5661539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	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网络安全问题概述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类密码体制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密钥分配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 		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使用的安全协议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网络安全技术：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防火墙与入侵检测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未来的发展方向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一些未来的发展方向</a:t>
            </a:r>
          </a:p>
        </p:txBody>
      </p:sp>
    </p:spTree>
    <p:extLst>
      <p:ext uri="{BB962C8B-B14F-4D97-AF65-F5344CB8AC3E}">
        <p14:creationId xmlns:p14="http://schemas.microsoft.com/office/powerpoint/2010/main" val="47275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2629135" y="2322986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2629135" y="14006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2629135" y="186443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Line 16"/>
          <p:cNvSpPr>
            <a:spLocks noChangeShapeType="1"/>
          </p:cNvSpPr>
          <p:nvPr/>
        </p:nvSpPr>
        <p:spPr bwMode="auto">
          <a:xfrm>
            <a:off x="3637198" y="1329243"/>
            <a:ext cx="0" cy="142446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639730" y="140068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648619" y="149561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网络安全问题概述</a:t>
            </a:r>
            <a:endParaRPr lang="zh-CN" altLang="fr-FR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2700573" y="1276380"/>
            <a:ext cx="57560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面临的安全性威胁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的计算机网络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数据加密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267623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345767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首先应用于研究环境，面向可信的、少量的用户群体，安全问题不是主要的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考虑。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早期绝大多数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协议没有提供必要的安全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机制。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安全的认证机制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：身份欺骗攻击</a:t>
            </a:r>
          </a:p>
          <a:p>
            <a:pPr marL="800100" lvl="1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明文传输，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不提供机密性服务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：数据窃听攻击</a:t>
            </a:r>
          </a:p>
          <a:p>
            <a:pPr marL="800100" lvl="1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缺乏地址验证机制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：源地址欺骗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随着计算机网络的发展，网络中的安全问题也日趋严重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483524" y="594566"/>
            <a:ext cx="41857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计算机网络面临的安全性威胁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514111" y="3754099"/>
            <a:ext cx="6122820" cy="990877"/>
            <a:chOff x="1581847" y="3821835"/>
            <a:chExt cx="6122820" cy="990877"/>
          </a:xfrm>
        </p:grpSpPr>
        <p:sp>
          <p:nvSpPr>
            <p:cNvPr id="10" name="对角圆角矩形 9"/>
            <p:cNvSpPr/>
            <p:nvPr/>
          </p:nvSpPr>
          <p:spPr>
            <a:xfrm>
              <a:off x="1581847" y="3821835"/>
              <a:ext cx="6122819" cy="990877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763947" y="3945385"/>
              <a:ext cx="5940720" cy="7591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600"/>
                </a:lnSpc>
                <a:buClr>
                  <a:srgbClr val="0070C0"/>
                </a:buClr>
              </a:pPr>
              <a:r>
                <a:rPr lang="zh-CN" altLang="en-US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网络自身的脆弱和缺陷是造成网络安全问题的内部根源</a:t>
              </a:r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，攻击者正是利用了这些脆弱性使各种威胁变成现实</a:t>
              </a:r>
              <a:r>
                <a:rPr lang="zh-CN" altLang="en-US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007896" y="37227"/>
            <a:ext cx="213354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计算机网络面临的安全性威胁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201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515534" y="1521074"/>
            <a:ext cx="8129015" cy="256847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46"/>
          <p:cNvSpPr>
            <a:spLocks noChangeArrowheads="1"/>
          </p:cNvSpPr>
          <p:nvPr/>
        </p:nvSpPr>
        <p:spPr bwMode="auto">
          <a:xfrm>
            <a:off x="509474" y="635772"/>
            <a:ext cx="812901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计算机网络上的通信面临以下两大类威胁：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Rectangle 99"/>
          <p:cNvSpPr>
            <a:spLocks noChangeArrowheads="1"/>
          </p:cNvSpPr>
          <p:nvPr/>
        </p:nvSpPr>
        <p:spPr bwMode="auto">
          <a:xfrm>
            <a:off x="733297" y="1867070"/>
            <a:ext cx="7667251" cy="1866235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66"/>
          <p:cNvSpPr>
            <a:spLocks noChangeArrowheads="1"/>
          </p:cNvSpPr>
          <p:nvPr/>
        </p:nvSpPr>
        <p:spPr bwMode="auto">
          <a:xfrm>
            <a:off x="2678706" y="3285902"/>
            <a:ext cx="5709142" cy="434483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val 68"/>
          <p:cNvSpPr>
            <a:spLocks noChangeArrowheads="1"/>
          </p:cNvSpPr>
          <p:nvPr/>
        </p:nvSpPr>
        <p:spPr bwMode="auto">
          <a:xfrm>
            <a:off x="2888223" y="2393829"/>
            <a:ext cx="227122" cy="240805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val 69"/>
          <p:cNvSpPr>
            <a:spLocks noChangeArrowheads="1"/>
          </p:cNvSpPr>
          <p:nvPr/>
        </p:nvSpPr>
        <p:spPr bwMode="auto">
          <a:xfrm>
            <a:off x="4063514" y="2393829"/>
            <a:ext cx="227122" cy="240805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val 71"/>
          <p:cNvSpPr>
            <a:spLocks noChangeArrowheads="1"/>
          </p:cNvSpPr>
          <p:nvPr/>
        </p:nvSpPr>
        <p:spPr bwMode="auto">
          <a:xfrm>
            <a:off x="978206" y="2393829"/>
            <a:ext cx="227122" cy="238068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Oval 72"/>
          <p:cNvSpPr>
            <a:spLocks noChangeArrowheads="1"/>
          </p:cNvSpPr>
          <p:nvPr/>
        </p:nvSpPr>
        <p:spPr bwMode="auto">
          <a:xfrm>
            <a:off x="2154864" y="2393829"/>
            <a:ext cx="227122" cy="238068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73"/>
          <p:cNvSpPr>
            <a:spLocks noChangeShapeType="1"/>
          </p:cNvSpPr>
          <p:nvPr/>
        </p:nvSpPr>
        <p:spPr bwMode="auto">
          <a:xfrm>
            <a:off x="1205328" y="2514232"/>
            <a:ext cx="94953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rc 74"/>
          <p:cNvSpPr/>
          <p:nvPr/>
        </p:nvSpPr>
        <p:spPr bwMode="auto">
          <a:xfrm>
            <a:off x="1205328" y="2514232"/>
            <a:ext cx="489818" cy="340684"/>
          </a:xfrm>
          <a:custGeom>
            <a:avLst/>
            <a:gdLst>
              <a:gd name="G0" fmla="+- 0 0 0"/>
              <a:gd name="G1" fmla="+- 19891 0 0"/>
              <a:gd name="G2" fmla="+- 21600 0 0"/>
              <a:gd name="T0" fmla="*/ 8421 w 21600"/>
              <a:gd name="T1" fmla="*/ 0 h 19891"/>
              <a:gd name="T2" fmla="*/ 21600 w 21600"/>
              <a:gd name="T3" fmla="*/ 19891 h 19891"/>
              <a:gd name="T4" fmla="*/ 0 w 21600"/>
              <a:gd name="T5" fmla="*/ 19891 h 198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9891" fill="none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</a:path>
              <a:path w="21600" h="19891" stroke="0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  <a:lnTo>
                  <a:pt x="0" y="19891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Oval 75"/>
          <p:cNvSpPr>
            <a:spLocks noChangeArrowheads="1"/>
          </p:cNvSpPr>
          <p:nvPr/>
        </p:nvSpPr>
        <p:spPr bwMode="auto">
          <a:xfrm>
            <a:off x="1548749" y="2871334"/>
            <a:ext cx="339315" cy="199758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76"/>
          <p:cNvSpPr txBox="1">
            <a:spLocks noChangeArrowheads="1"/>
          </p:cNvSpPr>
          <p:nvPr/>
        </p:nvSpPr>
        <p:spPr bwMode="auto">
          <a:xfrm>
            <a:off x="1888064" y="2835761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</a:p>
        </p:txBody>
      </p:sp>
      <p:sp>
        <p:nvSpPr>
          <p:cNvPr id="23" name="Oval 77"/>
          <p:cNvSpPr>
            <a:spLocks noChangeArrowheads="1"/>
          </p:cNvSpPr>
          <p:nvPr/>
        </p:nvSpPr>
        <p:spPr bwMode="auto">
          <a:xfrm>
            <a:off x="4784559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val 78"/>
          <p:cNvSpPr>
            <a:spLocks noChangeArrowheads="1"/>
          </p:cNvSpPr>
          <p:nvPr/>
        </p:nvSpPr>
        <p:spPr bwMode="auto">
          <a:xfrm>
            <a:off x="5961217" y="2389725"/>
            <a:ext cx="228491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val 83"/>
          <p:cNvSpPr>
            <a:spLocks noChangeArrowheads="1"/>
          </p:cNvSpPr>
          <p:nvPr/>
        </p:nvSpPr>
        <p:spPr bwMode="auto">
          <a:xfrm>
            <a:off x="6723309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85"/>
          <p:cNvSpPr txBox="1">
            <a:spLocks noChangeArrowheads="1"/>
          </p:cNvSpPr>
          <p:nvPr/>
        </p:nvSpPr>
        <p:spPr bwMode="auto">
          <a:xfrm>
            <a:off x="7776829" y="2690731"/>
            <a:ext cx="5950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</a:p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</a:p>
        </p:txBody>
      </p:sp>
      <p:sp>
        <p:nvSpPr>
          <p:cNvPr id="27" name="Oval 86"/>
          <p:cNvSpPr>
            <a:spLocks noChangeArrowheads="1"/>
          </p:cNvSpPr>
          <p:nvPr/>
        </p:nvSpPr>
        <p:spPr bwMode="auto">
          <a:xfrm>
            <a:off x="7899968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90"/>
          <p:cNvSpPr txBox="1">
            <a:spLocks noChangeArrowheads="1"/>
          </p:cNvSpPr>
          <p:nvPr/>
        </p:nvSpPr>
        <p:spPr bwMode="auto">
          <a:xfrm>
            <a:off x="4805083" y="3313265"/>
            <a:ext cx="13708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  动  攻  击</a:t>
            </a:r>
          </a:p>
        </p:txBody>
      </p:sp>
      <p:sp>
        <p:nvSpPr>
          <p:cNvPr id="29" name="Text Box 91"/>
          <p:cNvSpPr txBox="1">
            <a:spLocks noChangeArrowheads="1"/>
          </p:cNvSpPr>
          <p:nvPr/>
        </p:nvSpPr>
        <p:spPr bwMode="auto">
          <a:xfrm>
            <a:off x="7600329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30" name="Text Box 92"/>
          <p:cNvSpPr txBox="1">
            <a:spLocks noChangeArrowheads="1"/>
          </p:cNvSpPr>
          <p:nvPr/>
        </p:nvSpPr>
        <p:spPr bwMode="auto">
          <a:xfrm>
            <a:off x="6544074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1" name="Text Box 93"/>
          <p:cNvSpPr txBox="1">
            <a:spLocks noChangeArrowheads="1"/>
          </p:cNvSpPr>
          <p:nvPr/>
        </p:nvSpPr>
        <p:spPr bwMode="auto">
          <a:xfrm>
            <a:off x="4710676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2" name="Text Box 94"/>
          <p:cNvSpPr txBox="1">
            <a:spLocks noChangeArrowheads="1"/>
          </p:cNvSpPr>
          <p:nvPr/>
        </p:nvSpPr>
        <p:spPr bwMode="auto">
          <a:xfrm>
            <a:off x="2807500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3" name="Text Box 95"/>
          <p:cNvSpPr txBox="1">
            <a:spLocks noChangeArrowheads="1"/>
          </p:cNvSpPr>
          <p:nvPr/>
        </p:nvSpPr>
        <p:spPr bwMode="auto">
          <a:xfrm>
            <a:off x="833176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4" name="Text Box 96"/>
          <p:cNvSpPr txBox="1">
            <a:spLocks noChangeArrowheads="1"/>
          </p:cNvSpPr>
          <p:nvPr/>
        </p:nvSpPr>
        <p:spPr bwMode="auto">
          <a:xfrm>
            <a:off x="5697154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35" name="Text Box 97"/>
          <p:cNvSpPr txBox="1">
            <a:spLocks noChangeArrowheads="1"/>
          </p:cNvSpPr>
          <p:nvPr/>
        </p:nvSpPr>
        <p:spPr bwMode="auto">
          <a:xfrm>
            <a:off x="3793977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36" name="Text Box 98"/>
          <p:cNvSpPr txBox="1">
            <a:spLocks noChangeArrowheads="1"/>
          </p:cNvSpPr>
          <p:nvPr/>
        </p:nvSpPr>
        <p:spPr bwMode="auto">
          <a:xfrm>
            <a:off x="1890801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40" name="Arc 105"/>
          <p:cNvSpPr/>
          <p:nvPr/>
        </p:nvSpPr>
        <p:spPr bwMode="auto">
          <a:xfrm>
            <a:off x="3097559" y="2496445"/>
            <a:ext cx="491186" cy="37078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106"/>
          <p:cNvSpPr>
            <a:spLocks noChangeArrowheads="1"/>
          </p:cNvSpPr>
          <p:nvPr/>
        </p:nvSpPr>
        <p:spPr bwMode="auto">
          <a:xfrm>
            <a:off x="3440979" y="2867229"/>
            <a:ext cx="340684" cy="198391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rc 107"/>
          <p:cNvSpPr/>
          <p:nvPr/>
        </p:nvSpPr>
        <p:spPr bwMode="auto">
          <a:xfrm flipH="1">
            <a:off x="3629792" y="2507391"/>
            <a:ext cx="417304" cy="369416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Box 108"/>
          <p:cNvSpPr txBox="1">
            <a:spLocks noChangeArrowheads="1"/>
          </p:cNvSpPr>
          <p:nvPr/>
        </p:nvSpPr>
        <p:spPr bwMode="auto">
          <a:xfrm>
            <a:off x="3781664" y="2830288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篡改</a:t>
            </a:r>
          </a:p>
        </p:txBody>
      </p:sp>
      <p:sp>
        <p:nvSpPr>
          <p:cNvPr id="44" name="Arc 109"/>
          <p:cNvSpPr/>
          <p:nvPr/>
        </p:nvSpPr>
        <p:spPr bwMode="auto">
          <a:xfrm flipH="1">
            <a:off x="5515182" y="2504655"/>
            <a:ext cx="417304" cy="369416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Box 110"/>
          <p:cNvSpPr txBox="1">
            <a:spLocks noChangeArrowheads="1"/>
          </p:cNvSpPr>
          <p:nvPr/>
        </p:nvSpPr>
        <p:spPr bwMode="auto">
          <a:xfrm>
            <a:off x="5667053" y="2690731"/>
            <a:ext cx="5950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恶意</a:t>
            </a:r>
          </a:p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46" name="Oval 111"/>
          <p:cNvSpPr>
            <a:spLocks noChangeArrowheads="1"/>
          </p:cNvSpPr>
          <p:nvPr/>
        </p:nvSpPr>
        <p:spPr bwMode="auto">
          <a:xfrm>
            <a:off x="5372888" y="2848074"/>
            <a:ext cx="340684" cy="198391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val 112"/>
          <p:cNvSpPr>
            <a:spLocks noChangeArrowheads="1"/>
          </p:cNvSpPr>
          <p:nvPr/>
        </p:nvSpPr>
        <p:spPr bwMode="auto">
          <a:xfrm>
            <a:off x="6821820" y="2876807"/>
            <a:ext cx="339315" cy="197022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Oval 113"/>
          <p:cNvSpPr>
            <a:spLocks noChangeArrowheads="1"/>
          </p:cNvSpPr>
          <p:nvPr/>
        </p:nvSpPr>
        <p:spPr bwMode="auto">
          <a:xfrm>
            <a:off x="7007896" y="2939745"/>
            <a:ext cx="339315" cy="186076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Oval 87"/>
          <p:cNvSpPr>
            <a:spLocks noChangeArrowheads="1"/>
          </p:cNvSpPr>
          <p:nvPr/>
        </p:nvSpPr>
        <p:spPr bwMode="auto">
          <a:xfrm>
            <a:off x="7193973" y="3001314"/>
            <a:ext cx="339315" cy="197022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Oval 114"/>
          <p:cNvSpPr>
            <a:spLocks noChangeArrowheads="1"/>
          </p:cNvSpPr>
          <p:nvPr/>
        </p:nvSpPr>
        <p:spPr bwMode="auto">
          <a:xfrm>
            <a:off x="7442986" y="3001314"/>
            <a:ext cx="339315" cy="197022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115"/>
          <p:cNvSpPr>
            <a:spLocks noChangeShapeType="1"/>
          </p:cNvSpPr>
          <p:nvPr/>
        </p:nvSpPr>
        <p:spPr bwMode="auto">
          <a:xfrm flipV="1">
            <a:off x="7007896" y="2532019"/>
            <a:ext cx="875653" cy="344788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Line 116"/>
          <p:cNvSpPr>
            <a:spLocks noChangeShapeType="1"/>
          </p:cNvSpPr>
          <p:nvPr/>
        </p:nvSpPr>
        <p:spPr bwMode="auto">
          <a:xfrm flipV="1">
            <a:off x="7239123" y="2577169"/>
            <a:ext cx="664949" cy="370785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117"/>
          <p:cNvSpPr>
            <a:spLocks noChangeShapeType="1"/>
          </p:cNvSpPr>
          <p:nvPr/>
        </p:nvSpPr>
        <p:spPr bwMode="auto">
          <a:xfrm flipV="1">
            <a:off x="7401208" y="2616848"/>
            <a:ext cx="542542" cy="382717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118"/>
          <p:cNvSpPr>
            <a:spLocks noChangeShapeType="1"/>
          </p:cNvSpPr>
          <p:nvPr/>
        </p:nvSpPr>
        <p:spPr bwMode="auto">
          <a:xfrm flipV="1">
            <a:off x="7672845" y="2605902"/>
            <a:ext cx="317424" cy="402253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 bwMode="auto">
          <a:xfrm>
            <a:off x="744114" y="3285902"/>
            <a:ext cx="1947292" cy="438192"/>
          </a:xfrm>
          <a:prstGeom prst="rect">
            <a:avLst/>
          </a:prstGeom>
          <a:solidFill>
            <a:srgbClr val="660066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Box 89"/>
          <p:cNvSpPr txBox="1">
            <a:spLocks noChangeArrowheads="1"/>
          </p:cNvSpPr>
          <p:nvPr/>
        </p:nvSpPr>
        <p:spPr bwMode="auto">
          <a:xfrm>
            <a:off x="1173450" y="3311897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</a:p>
        </p:txBody>
      </p:sp>
      <p:sp>
        <p:nvSpPr>
          <p:cNvPr id="37" name="Line 101"/>
          <p:cNvSpPr>
            <a:spLocks noChangeShapeType="1"/>
          </p:cNvSpPr>
          <p:nvPr/>
        </p:nvSpPr>
        <p:spPr bwMode="auto">
          <a:xfrm>
            <a:off x="2693938" y="1867070"/>
            <a:ext cx="0" cy="1866235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102"/>
          <p:cNvSpPr>
            <a:spLocks noChangeShapeType="1"/>
          </p:cNvSpPr>
          <p:nvPr/>
        </p:nvSpPr>
        <p:spPr bwMode="auto">
          <a:xfrm>
            <a:off x="4575224" y="1867070"/>
            <a:ext cx="0" cy="1418831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103"/>
          <p:cNvSpPr>
            <a:spLocks noChangeShapeType="1"/>
          </p:cNvSpPr>
          <p:nvPr/>
        </p:nvSpPr>
        <p:spPr bwMode="auto">
          <a:xfrm>
            <a:off x="6535864" y="1867070"/>
            <a:ext cx="0" cy="1418831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100"/>
          <p:cNvSpPr>
            <a:spLocks noChangeShapeType="1"/>
          </p:cNvSpPr>
          <p:nvPr/>
        </p:nvSpPr>
        <p:spPr bwMode="auto">
          <a:xfrm>
            <a:off x="733297" y="3285901"/>
            <a:ext cx="7667251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AutoShape 12"/>
          <p:cNvSpPr>
            <a:spLocks noChangeArrowheads="1"/>
          </p:cNvSpPr>
          <p:nvPr/>
        </p:nvSpPr>
        <p:spPr bwMode="auto">
          <a:xfrm>
            <a:off x="511896" y="616707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2483524" y="591243"/>
            <a:ext cx="41857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面临的安全性威胁</a:t>
            </a:r>
          </a:p>
        </p:txBody>
      </p:sp>
      <p:sp>
        <p:nvSpPr>
          <p:cNvPr id="61" name="Rectangle 46"/>
          <p:cNvSpPr>
            <a:spLocks noChangeArrowheads="1"/>
          </p:cNvSpPr>
          <p:nvPr/>
        </p:nvSpPr>
        <p:spPr bwMode="auto">
          <a:xfrm>
            <a:off x="509475" y="1044020"/>
            <a:ext cx="8129015" cy="44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类威胁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7007896" y="37227"/>
            <a:ext cx="213354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计算机网络面临的安全性威胁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969257"/>
            <a:ext cx="8129015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指攻击者从网络上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窃听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他人的通信内容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通常把这类攻击称为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截获。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者只是观察和分析某一个协议数据单元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，以便了解所交换的数据的某种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性质，但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不干扰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信息流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PDU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PDU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首部分析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这种被动攻击又称为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流量分析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(traffic analysis)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532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968688" y="582116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007896" y="37227"/>
            <a:ext cx="213354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计算机网络面临的安全性威胁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532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968688" y="582116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007896" y="37227"/>
            <a:ext cx="213354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计算机网络面临的安全性威胁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517853" y="959200"/>
            <a:ext cx="8312248" cy="3901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会影响网络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中原有的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数据流，常见方式包括：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篡改：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故意篡改网络上传送的报文。这种攻击方式有时也称为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更改报文流。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恶意软件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(malware)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：种类繁多，主要包括：计算机病毒、计算机蠕虫、特洛伊木马、逻辑炸弹、后门入侵、流氓软件、勒索软件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拒绝服务 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(Denial of Service)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：指攻击者向互联网上的某个服务器不停地发送大量分组，使该服务器无法提供正常服务，甚至完全瘫痪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59200"/>
            <a:ext cx="8312248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若从互联网上的成百上千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一个网站，则称为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分布式拒绝服务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(Distributed Denial of Service)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有时也把这种攻击称为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网络带宽攻击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连通性攻击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随着物联网设备的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增多及安全防护能力的薄弱，攻击者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控制大量的物联网设备开展</a:t>
            </a:r>
            <a:r>
              <a:rPr lang="en-US" altLang="zh-CN" sz="20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DDoS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攻击行为。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Mirai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利用物联网设备发起的 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DDoS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攻击峰值达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Tbit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，直接使一家重要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DNS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商 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Dyn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大量服务瘫痪。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007896" y="37227"/>
            <a:ext cx="213354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计算机网络面临的安全性威胁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09475" y="61532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180812" y="582116"/>
            <a:ext cx="27863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分布式拒绝服务 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DDoS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71906"/>
            <a:ext cx="8298888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网络攻击的检测：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主动攻击通常会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影响网络中原有的数据流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采取适当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措施检测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800100" lvl="1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被动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攻击只是被动监听，检测难度非常大。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通信安全的目标：</a:t>
            </a:r>
          </a:p>
          <a:p>
            <a:pPr marL="799465" indent="-457200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防止通过流量分析获取报文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通信特征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防止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恶意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程序对网络的破坏。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更改报文流和拒绝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服务的行为。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网络攻击的应对：</a:t>
            </a:r>
            <a:endParaRPr lang="en-US" altLang="zh-CN" sz="20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被动攻击：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技术。</a:t>
            </a:r>
          </a:p>
          <a:p>
            <a:pPr marL="800100" lvl="1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主动攻击：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技术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技术。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75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42766" y="584320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计算机网络通信安全的目标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007896" y="37227"/>
            <a:ext cx="213354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计算机网络面临的安全性威胁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网络的安全性是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不可判定的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形式化证明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的方法结果最为可信，但由于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网络协议的复杂性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，目前仍难以针对网络协议的安全性给出严格的形式化证明。</a:t>
            </a: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经验分析的方法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可以发现网络协议的部分漏洞，但无法保证能够找出所有漏洞。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252965" y="594566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的计算机网络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安全的计算机网络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091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1734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个安全的计算机网络应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达到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机密性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(Confidentiality)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(Integrity)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可用性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(Availability)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252965" y="594566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的计算机网络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4531485" y="1608931"/>
            <a:ext cx="4282475" cy="1903487"/>
          </a:xfrm>
          <a:prstGeom prst="borderCallout1">
            <a:avLst>
              <a:gd name="adj1" fmla="val 8120"/>
              <a:gd name="adj2" fmla="val -123"/>
              <a:gd name="adj3" fmla="val 8138"/>
              <a:gd name="adj4" fmla="val -11724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确保数据只能被授权的人或系统访问，防止未经授权的访问或泄露。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是网络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安全通信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的要求，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是应对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必须具备的功能。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使用各种密码技术。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安全的计算机网络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1734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个安全的计算机网络应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达到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机密性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(Confidentiality)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(Integrity)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(Availability)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252965" y="594566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的计算机网络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4109013" y="1825177"/>
            <a:ext cx="4815068" cy="1268070"/>
          </a:xfrm>
          <a:prstGeom prst="borderCallout1">
            <a:avLst>
              <a:gd name="adj1" fmla="val 26737"/>
              <a:gd name="adj2" fmla="val 36"/>
              <a:gd name="adj3" fmla="val 27211"/>
              <a:gd name="adj4" fmla="val -13569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确保数据在存储、传输和处理过程中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不被篡改或破坏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，保持数据的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准确性和一致性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在应对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中是必不可少的。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安全的计算机网络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726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1734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个安全的计算机网络应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达到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机密性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(Confidentiality)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(Integrity)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(Availability)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252965" y="594566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的计算机网络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4363656" y="1668379"/>
            <a:ext cx="4467827" cy="1550551"/>
          </a:xfrm>
          <a:prstGeom prst="borderCallout1">
            <a:avLst>
              <a:gd name="adj1" fmla="val 58680"/>
              <a:gd name="adj2" fmla="val -122"/>
              <a:gd name="adj3" fmla="val 59071"/>
              <a:gd name="adj4" fmla="val -15935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确保数据在需要时可以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被授权用户访问和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防止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因系统故障、攻击或其他原因导致的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数据不可用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安全的计算机网络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930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1734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个安全的计算机网络应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达到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机密性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onfidentiality)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ntegrity)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vailability)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252965" y="594566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的计算机网络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509475" y="2947039"/>
            <a:ext cx="8322009" cy="51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以上三个目标通常简称为网络的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CIA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，构成了网络安全的基础。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安全的计算机网络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3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252965" y="594566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的计算机网络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509475" y="1168083"/>
            <a:ext cx="8129015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为了保证网络的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CIA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，常用措施包括：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endParaRPr lang="en-US" altLang="zh-CN" sz="20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各种密码体制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endParaRPr lang="en-US" altLang="zh-CN" sz="20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验证用户的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身份，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确保用户是他们声称的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身份。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</a:t>
            </a:r>
            <a:endParaRPr lang="en-US" altLang="zh-CN" sz="20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决定用户是否有权限访问特定资源或执行特定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安全的计算机网络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617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76818" y="1125121"/>
            <a:ext cx="8129015" cy="328063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495589" y="2461389"/>
            <a:ext cx="1633098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9" name="Group 107"/>
          <p:cNvGrpSpPr/>
          <p:nvPr/>
        </p:nvGrpSpPr>
        <p:grpSpPr bwMode="auto">
          <a:xfrm>
            <a:off x="3690125" y="1989193"/>
            <a:ext cx="1699379" cy="1056126"/>
            <a:chOff x="2248" y="820"/>
            <a:chExt cx="2248" cy="883"/>
          </a:xfrm>
        </p:grpSpPr>
        <p:grpSp>
          <p:nvGrpSpPr>
            <p:cNvPr id="100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30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35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45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47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51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5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9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5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4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4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50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46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36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3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3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4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3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8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1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15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2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9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6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1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5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7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" name="Line 52"/>
          <p:cNvSpPr>
            <a:spLocks noChangeShapeType="1"/>
          </p:cNvSpPr>
          <p:nvPr/>
        </p:nvSpPr>
        <p:spPr bwMode="auto">
          <a:xfrm>
            <a:off x="2705780" y="2453141"/>
            <a:ext cx="1033353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6"/>
          <p:cNvSpPr txBox="1">
            <a:spLocks noChangeArrowheads="1"/>
          </p:cNvSpPr>
          <p:nvPr/>
        </p:nvSpPr>
        <p:spPr bwMode="auto">
          <a:xfrm>
            <a:off x="7171466" y="2371201"/>
            <a:ext cx="7986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Freeform 51"/>
          <p:cNvSpPr/>
          <p:nvPr/>
        </p:nvSpPr>
        <p:spPr bwMode="auto">
          <a:xfrm>
            <a:off x="1769046" y="2126757"/>
            <a:ext cx="259222" cy="336988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65"/>
          <p:cNvSpPr txBox="1">
            <a:spLocks noChangeArrowheads="1"/>
          </p:cNvSpPr>
          <p:nvPr/>
        </p:nvSpPr>
        <p:spPr bwMode="auto">
          <a:xfrm>
            <a:off x="3270474" y="1227729"/>
            <a:ext cx="5437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</a:p>
        </p:txBody>
      </p:sp>
      <p:sp>
        <p:nvSpPr>
          <p:cNvPr id="14" name="Freeform 50"/>
          <p:cNvSpPr/>
          <p:nvPr/>
        </p:nvSpPr>
        <p:spPr bwMode="auto">
          <a:xfrm rot="16200000">
            <a:off x="7146722" y="2166819"/>
            <a:ext cx="162603" cy="426538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68"/>
          <p:cNvSpPr txBox="1">
            <a:spLocks noChangeArrowheads="1"/>
          </p:cNvSpPr>
          <p:nvPr/>
        </p:nvSpPr>
        <p:spPr bwMode="auto">
          <a:xfrm>
            <a:off x="5327456" y="2163284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6" name="Text Box 55"/>
          <p:cNvSpPr txBox="1">
            <a:spLocks noChangeArrowheads="1"/>
          </p:cNvSpPr>
          <p:nvPr/>
        </p:nvSpPr>
        <p:spPr bwMode="auto">
          <a:xfrm>
            <a:off x="1177880" y="2438512"/>
            <a:ext cx="77144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7" name="Text Box 57"/>
          <p:cNvSpPr txBox="1">
            <a:spLocks noChangeArrowheads="1"/>
          </p:cNvSpPr>
          <p:nvPr/>
        </p:nvSpPr>
        <p:spPr bwMode="auto">
          <a:xfrm>
            <a:off x="2979141" y="2163284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8" name="Text Box 58"/>
          <p:cNvSpPr txBox="1">
            <a:spLocks noChangeArrowheads="1"/>
          </p:cNvSpPr>
          <p:nvPr/>
        </p:nvSpPr>
        <p:spPr bwMode="auto">
          <a:xfrm>
            <a:off x="4238520" y="1214500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截取者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3822790" y="1557648"/>
            <a:ext cx="262757" cy="26629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5063521" y="1557648"/>
            <a:ext cx="262756" cy="26629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61"/>
          <p:cNvSpPr>
            <a:spLocks noChangeShapeType="1"/>
          </p:cNvSpPr>
          <p:nvPr/>
        </p:nvSpPr>
        <p:spPr bwMode="auto">
          <a:xfrm>
            <a:off x="3558855" y="1690793"/>
            <a:ext cx="789449" cy="0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62"/>
          <p:cNvSpPr>
            <a:spLocks noChangeShapeType="1"/>
          </p:cNvSpPr>
          <p:nvPr/>
        </p:nvSpPr>
        <p:spPr bwMode="auto">
          <a:xfrm flipV="1">
            <a:off x="3953580" y="1273682"/>
            <a:ext cx="0" cy="417112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63"/>
          <p:cNvSpPr/>
          <p:nvPr/>
        </p:nvSpPr>
        <p:spPr bwMode="auto">
          <a:xfrm>
            <a:off x="4833756" y="1258364"/>
            <a:ext cx="316958" cy="426538"/>
          </a:xfrm>
          <a:custGeom>
            <a:avLst/>
            <a:gdLst>
              <a:gd name="T0" fmla="*/ 0 w 290"/>
              <a:gd name="T1" fmla="*/ 384 h 385"/>
              <a:gd name="T2" fmla="*/ 215 w 290"/>
              <a:gd name="T3" fmla="*/ 384 h 385"/>
              <a:gd name="T4" fmla="*/ 246 w 290"/>
              <a:gd name="T5" fmla="*/ 381 h 385"/>
              <a:gd name="T6" fmla="*/ 276 w 290"/>
              <a:gd name="T7" fmla="*/ 369 h 385"/>
              <a:gd name="T8" fmla="*/ 288 w 290"/>
              <a:gd name="T9" fmla="*/ 336 h 385"/>
              <a:gd name="T10" fmla="*/ 288 w 290"/>
              <a:gd name="T11" fmla="*/ 291 h 385"/>
              <a:gd name="T12" fmla="*/ 288 w 290"/>
              <a:gd name="T13" fmla="*/ 0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0" h="385">
                <a:moveTo>
                  <a:pt x="0" y="384"/>
                </a:moveTo>
                <a:lnTo>
                  <a:pt x="215" y="384"/>
                </a:lnTo>
                <a:cubicBezTo>
                  <a:pt x="256" y="384"/>
                  <a:pt x="257" y="377"/>
                  <a:pt x="246" y="381"/>
                </a:cubicBezTo>
                <a:cubicBezTo>
                  <a:pt x="235" y="385"/>
                  <a:pt x="269" y="377"/>
                  <a:pt x="276" y="369"/>
                </a:cubicBezTo>
                <a:cubicBezTo>
                  <a:pt x="283" y="361"/>
                  <a:pt x="286" y="349"/>
                  <a:pt x="288" y="336"/>
                </a:cubicBezTo>
                <a:cubicBezTo>
                  <a:pt x="290" y="323"/>
                  <a:pt x="288" y="347"/>
                  <a:pt x="288" y="291"/>
                </a:cubicBezTo>
                <a:lnTo>
                  <a:pt x="288" y="0"/>
                </a:lnTo>
              </a:path>
            </a:pathLst>
          </a:custGeom>
          <a:noFill/>
          <a:ln w="19050" cmpd="sng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64"/>
          <p:cNvSpPr/>
          <p:nvPr/>
        </p:nvSpPr>
        <p:spPr bwMode="auto">
          <a:xfrm>
            <a:off x="5255580" y="1254829"/>
            <a:ext cx="318136" cy="428894"/>
          </a:xfrm>
          <a:custGeom>
            <a:avLst/>
            <a:gdLst>
              <a:gd name="T0" fmla="*/ 290 w 290"/>
              <a:gd name="T1" fmla="*/ 384 h 387"/>
              <a:gd name="T2" fmla="*/ 75 w 290"/>
              <a:gd name="T3" fmla="*/ 384 h 387"/>
              <a:gd name="T4" fmla="*/ 45 w 290"/>
              <a:gd name="T5" fmla="*/ 384 h 387"/>
              <a:gd name="T6" fmla="*/ 14 w 290"/>
              <a:gd name="T7" fmla="*/ 369 h 387"/>
              <a:gd name="T8" fmla="*/ 2 w 290"/>
              <a:gd name="T9" fmla="*/ 336 h 387"/>
              <a:gd name="T10" fmla="*/ 2 w 290"/>
              <a:gd name="T11" fmla="*/ 291 h 387"/>
              <a:gd name="T12" fmla="*/ 2 w 290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0" h="387">
                <a:moveTo>
                  <a:pt x="290" y="384"/>
                </a:moveTo>
                <a:lnTo>
                  <a:pt x="75" y="384"/>
                </a:lnTo>
                <a:cubicBezTo>
                  <a:pt x="75" y="384"/>
                  <a:pt x="55" y="387"/>
                  <a:pt x="45" y="384"/>
                </a:cubicBezTo>
                <a:cubicBezTo>
                  <a:pt x="35" y="381"/>
                  <a:pt x="21" y="377"/>
                  <a:pt x="14" y="369"/>
                </a:cubicBezTo>
                <a:cubicBezTo>
                  <a:pt x="7" y="361"/>
                  <a:pt x="4" y="349"/>
                  <a:pt x="2" y="336"/>
                </a:cubicBezTo>
                <a:cubicBezTo>
                  <a:pt x="0" y="323"/>
                  <a:pt x="2" y="347"/>
                  <a:pt x="2" y="291"/>
                </a:cubicBezTo>
                <a:lnTo>
                  <a:pt x="2" y="0"/>
                </a:lnTo>
              </a:path>
            </a:pathLst>
          </a:custGeom>
          <a:noFill/>
          <a:ln w="19050" cmpd="sng">
            <a:solidFill>
              <a:srgbClr val="FF00FF"/>
            </a:solidFill>
            <a:round/>
            <a:headEnd type="triangle" w="med" len="lg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66"/>
          <p:cNvSpPr txBox="1">
            <a:spLocks noChangeArrowheads="1"/>
          </p:cNvSpPr>
          <p:nvPr/>
        </p:nvSpPr>
        <p:spPr bwMode="auto">
          <a:xfrm>
            <a:off x="5357552" y="1227729"/>
            <a:ext cx="5437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篡改</a:t>
            </a:r>
          </a:p>
        </p:txBody>
      </p:sp>
      <p:sp>
        <p:nvSpPr>
          <p:cNvPr id="26" name="Oval 67"/>
          <p:cNvSpPr>
            <a:spLocks noChangeArrowheads="1"/>
          </p:cNvSpPr>
          <p:nvPr/>
        </p:nvSpPr>
        <p:spPr bwMode="auto">
          <a:xfrm>
            <a:off x="3927658" y="1657801"/>
            <a:ext cx="51844" cy="53023"/>
          </a:xfrm>
          <a:prstGeom prst="ellipse">
            <a:avLst/>
          </a:prstGeom>
          <a:solidFill>
            <a:srgbClr val="FF00FF"/>
          </a:solidFill>
          <a:ln w="9525">
            <a:solidFill>
              <a:srgbClr val="FF00FF"/>
            </a:solidFill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Picture 6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18415" y="2907625"/>
            <a:ext cx="373515" cy="168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8" name="Text Box 70"/>
          <p:cNvSpPr txBox="1">
            <a:spLocks noChangeArrowheads="1"/>
          </p:cNvSpPr>
          <p:nvPr/>
        </p:nvSpPr>
        <p:spPr bwMode="auto">
          <a:xfrm>
            <a:off x="1288750" y="1793352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9" name="Text Box 71"/>
          <p:cNvSpPr txBox="1">
            <a:spLocks noChangeArrowheads="1"/>
          </p:cNvSpPr>
          <p:nvPr/>
        </p:nvSpPr>
        <p:spPr bwMode="auto">
          <a:xfrm>
            <a:off x="7606497" y="1793352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2" name="Rectangle 102"/>
          <p:cNvSpPr>
            <a:spLocks noChangeArrowheads="1"/>
          </p:cNvSpPr>
          <p:nvPr/>
        </p:nvSpPr>
        <p:spPr bwMode="auto">
          <a:xfrm>
            <a:off x="2028268" y="2196276"/>
            <a:ext cx="947338" cy="531404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33" name="Rectangle 103"/>
          <p:cNvSpPr>
            <a:spLocks noChangeArrowheads="1"/>
          </p:cNvSpPr>
          <p:nvPr/>
        </p:nvSpPr>
        <p:spPr bwMode="auto">
          <a:xfrm>
            <a:off x="6128687" y="2196276"/>
            <a:ext cx="948516" cy="531404"/>
          </a:xfrm>
          <a:prstGeom prst="rect">
            <a:avLst/>
          </a:prstGeom>
          <a:solidFill>
            <a:srgbClr val="009900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35" name="Text Box 131"/>
          <p:cNvSpPr txBox="1">
            <a:spLocks noChangeArrowheads="1"/>
          </p:cNvSpPr>
          <p:nvPr/>
        </p:nvSpPr>
        <p:spPr bwMode="auto">
          <a:xfrm>
            <a:off x="4209334" y="2328115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pic>
        <p:nvPicPr>
          <p:cNvPr id="36" name="Picture 13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6247351" y="2871666"/>
            <a:ext cx="373515" cy="167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37" name="Line 101"/>
          <p:cNvSpPr>
            <a:spLocks noChangeShapeType="1"/>
          </p:cNvSpPr>
          <p:nvPr/>
        </p:nvSpPr>
        <p:spPr bwMode="auto">
          <a:xfrm rot="16200000">
            <a:off x="4171158" y="1929384"/>
            <a:ext cx="814215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 rot="16200000">
            <a:off x="2024526" y="3229444"/>
            <a:ext cx="94851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29"/>
          <p:cNvSpPr txBox="1">
            <a:spLocks noChangeArrowheads="1"/>
          </p:cNvSpPr>
          <p:nvPr/>
        </p:nvSpPr>
        <p:spPr bwMode="auto">
          <a:xfrm>
            <a:off x="1163907" y="2820434"/>
            <a:ext cx="13843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</a:p>
        </p:txBody>
      </p:sp>
      <p:sp>
        <p:nvSpPr>
          <p:cNvPr id="43" name="Text Box 30"/>
          <p:cNvSpPr txBox="1">
            <a:spLocks noChangeArrowheads="1"/>
          </p:cNvSpPr>
          <p:nvPr/>
        </p:nvSpPr>
        <p:spPr bwMode="auto">
          <a:xfrm>
            <a:off x="6641320" y="2779388"/>
            <a:ext cx="1167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解密密钥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2023496" y="3612385"/>
            <a:ext cx="915525" cy="358197"/>
          </a:xfrm>
          <a:prstGeom prst="rect">
            <a:avLst/>
          </a:prstGeom>
          <a:solidFill>
            <a:srgbClr val="CC0099"/>
          </a:solidFill>
          <a:ln w="12700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密钥源</a:t>
            </a:r>
          </a:p>
        </p:txBody>
      </p:sp>
      <p:pic>
        <p:nvPicPr>
          <p:cNvPr id="163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706" y="1855118"/>
            <a:ext cx="473617" cy="47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078" y="1855118"/>
            <a:ext cx="473617" cy="47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" name="AutoShape 12"/>
          <p:cNvSpPr>
            <a:spLocks noChangeArrowheads="1"/>
          </p:cNvSpPr>
          <p:nvPr/>
        </p:nvSpPr>
        <p:spPr bwMode="auto">
          <a:xfrm>
            <a:off x="511896" y="61844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" name="Rectangle 13"/>
          <p:cNvSpPr>
            <a:spLocks noChangeArrowheads="1"/>
          </p:cNvSpPr>
          <p:nvPr/>
        </p:nvSpPr>
        <p:spPr bwMode="auto">
          <a:xfrm>
            <a:off x="3560741" y="592976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数据加密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162" name="Rectangle 4"/>
          <p:cNvSpPr>
            <a:spLocks noChangeArrowheads="1"/>
          </p:cNvSpPr>
          <p:nvPr/>
        </p:nvSpPr>
        <p:spPr bwMode="auto">
          <a:xfrm>
            <a:off x="7679695" y="37226"/>
            <a:ext cx="146175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数据加密模型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" name="Line 28"/>
          <p:cNvSpPr>
            <a:spLocks noChangeShapeType="1"/>
          </p:cNvSpPr>
          <p:nvPr/>
        </p:nvSpPr>
        <p:spPr bwMode="auto">
          <a:xfrm rot="16200000">
            <a:off x="6212686" y="3108862"/>
            <a:ext cx="764820" cy="245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53782"/>
            <a:ext cx="8312248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加密和解密用的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b="1" i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(key)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是一串秘密的字符串（即比特串）。</a:t>
            </a:r>
          </a:p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明文通过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加密算法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变成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密文</a:t>
            </a:r>
            <a:r>
              <a:rPr lang="en-US" altLang="zh-CN" b="1" i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517853" y="2160075"/>
            <a:ext cx="7631065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接收端利用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解密算法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运算和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</a:t>
            </a:r>
            <a:r>
              <a:rPr lang="zh-CN" altLang="en-US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en-US" altLang="zh-CN" b="1" i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lang="en-US" altLang="zh-CN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解密算法是加密算法的逆运算。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68188" y="1665365"/>
            <a:ext cx="7180730" cy="461665"/>
            <a:chOff x="968188" y="1665365"/>
            <a:chExt cx="7180730" cy="461665"/>
          </a:xfrm>
        </p:grpSpPr>
        <p:sp>
          <p:nvSpPr>
            <p:cNvPr id="11" name="矩形 10"/>
            <p:cNvSpPr/>
            <p:nvPr/>
          </p:nvSpPr>
          <p:spPr>
            <a:xfrm>
              <a:off x="968188" y="1698751"/>
              <a:ext cx="7180730" cy="42827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6603406" y="1665365"/>
              <a:ext cx="12779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latin typeface="+mn-lt"/>
                  <a:ea typeface="+mn-ea"/>
                </a:rPr>
                <a:t>（</a:t>
              </a:r>
              <a:r>
                <a:rPr lang="en-US" altLang="zh-CN" sz="2400" b="1" dirty="0" smtClean="0">
                  <a:latin typeface="+mn-lt"/>
                  <a:ea typeface="+mn-ea"/>
                </a:rPr>
                <a:t>7-1</a:t>
              </a:r>
              <a:r>
                <a:rPr lang="zh-CN" altLang="en-US" sz="2400" b="1" dirty="0">
                  <a:latin typeface="+mn-lt"/>
                  <a:ea typeface="+mn-ea"/>
                </a:rPr>
                <a:t>） 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3556642" y="1665365"/>
              <a:ext cx="1345240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i="1" dirty="0" smtClean="0"/>
                <a:t>Y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 smtClean="0"/>
                <a:t>E</a:t>
              </a:r>
              <a:r>
                <a:rPr lang="en-US" altLang="zh-CN" sz="2400" b="1" i="1" baseline="-25000" dirty="0" smtClean="0"/>
                <a:t>K</a:t>
              </a:r>
              <a:r>
                <a:rPr lang="en-US" altLang="zh-CN" sz="2400" b="1" i="1" dirty="0" smtClean="0"/>
                <a:t>(X) </a:t>
              </a:r>
              <a:endParaRPr lang="zh-CN" altLang="en-US" sz="2400" b="1" i="1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76093" y="2870099"/>
            <a:ext cx="7173330" cy="461665"/>
            <a:chOff x="976093" y="2870099"/>
            <a:chExt cx="7173330" cy="461665"/>
          </a:xfrm>
        </p:grpSpPr>
        <p:sp>
          <p:nvSpPr>
            <p:cNvPr id="19" name="矩形 18"/>
            <p:cNvSpPr/>
            <p:nvPr/>
          </p:nvSpPr>
          <p:spPr>
            <a:xfrm>
              <a:off x="976093" y="2903485"/>
              <a:ext cx="7173330" cy="42827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603406" y="2870099"/>
              <a:ext cx="12779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latin typeface="+mn-lt"/>
                  <a:ea typeface="+mn-ea"/>
                </a:rPr>
                <a:t>（</a:t>
              </a:r>
              <a:r>
                <a:rPr lang="en-US" altLang="zh-CN" sz="2400" b="1" dirty="0" smtClean="0">
                  <a:latin typeface="+mn-lt"/>
                  <a:ea typeface="+mn-ea"/>
                </a:rPr>
                <a:t>7-2</a:t>
              </a:r>
              <a:r>
                <a:rPr lang="zh-CN" altLang="en-US" sz="2400" b="1" dirty="0" smtClean="0">
                  <a:latin typeface="+mn-lt"/>
                  <a:ea typeface="+mn-ea"/>
                </a:rPr>
                <a:t>） </a:t>
              </a:r>
              <a:endParaRPr lang="zh-CN" altLang="en-US" sz="2400" b="1" dirty="0">
                <a:latin typeface="+mn-lt"/>
                <a:ea typeface="+mn-ea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820062" y="2870099"/>
              <a:ext cx="2818399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i="1" dirty="0"/>
                <a:t>D</a:t>
              </a:r>
              <a:r>
                <a:rPr lang="en-US" altLang="zh-CN" sz="2400" b="1" i="1" baseline="-25000" dirty="0"/>
                <a:t>K</a:t>
              </a:r>
              <a:r>
                <a:rPr lang="en-US" altLang="zh-CN" sz="2400" b="1" i="1" dirty="0"/>
                <a:t>(Y</a:t>
              </a:r>
              <a:r>
                <a:rPr lang="en-US" altLang="zh-CN" sz="2400" b="1" i="1" dirty="0" smtClean="0"/>
                <a:t>)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 smtClean="0"/>
                <a:t>D</a:t>
              </a:r>
              <a:r>
                <a:rPr lang="en-US" altLang="zh-CN" sz="2400" b="1" baseline="-25000" dirty="0" smtClean="0"/>
                <a:t>K</a:t>
              </a:r>
              <a:r>
                <a:rPr lang="en-US" altLang="zh-CN" sz="2400" b="1" i="1" dirty="0" smtClean="0"/>
                <a:t>(E</a:t>
              </a:r>
              <a:r>
                <a:rPr lang="en-US" altLang="zh-CN" sz="2400" b="1" i="1" baseline="-25000" dirty="0" smtClean="0"/>
                <a:t>K</a:t>
              </a:r>
              <a:r>
                <a:rPr lang="en-US" altLang="zh-CN" sz="2400" b="1" i="1" dirty="0" smtClean="0"/>
                <a:t>(X))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 smtClean="0"/>
                <a:t>X </a:t>
              </a:r>
              <a:endParaRPr lang="zh-CN" altLang="en-US" sz="2400" b="1" i="1" dirty="0"/>
            </a:p>
          </p:txBody>
        </p:sp>
      </p:grpSp>
      <p:sp>
        <p:nvSpPr>
          <p:cNvPr id="17" name="矩形 16"/>
          <p:cNvSpPr/>
          <p:nvPr/>
        </p:nvSpPr>
        <p:spPr>
          <a:xfrm>
            <a:off x="968188" y="3444198"/>
            <a:ext cx="7180730" cy="1092607"/>
          </a:xfrm>
          <a:prstGeom prst="rect">
            <a:avLst/>
          </a:prstGeom>
          <a:solidFill>
            <a:srgbClr val="0066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Clr>
                <a:srgbClr val="FFFF66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加密密钥和解密密钥可以一样，也可以不一样。</a:t>
            </a:r>
          </a:p>
          <a:p>
            <a:pPr marL="285750" indent="-285750">
              <a:lnSpc>
                <a:spcPts val="2600"/>
              </a:lnSpc>
              <a:buClr>
                <a:srgbClr val="FFFF66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通常由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密钥中心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提供。</a:t>
            </a:r>
          </a:p>
          <a:p>
            <a:pPr marL="285750" indent="-285750">
              <a:lnSpc>
                <a:spcPts val="2600"/>
              </a:lnSpc>
              <a:buClr>
                <a:srgbClr val="FFFF66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当密钥需要向远地传送时，一定要通过另一个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安全信道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509475" y="61502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4231228" y="581816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7679695" y="37226"/>
            <a:ext cx="146175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数据加密模型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86134"/>
            <a:ext cx="8312248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(cryptology)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实现网络安全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的基础，包括密码编码学与密码分析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学两大类：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编码学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(cryptography)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密码体制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的设计学。</a:t>
            </a: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密码分析学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(cryptanalysis)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未知密钥的情况下从密文推演出明文或密钥的技术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1826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846509" y="588615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密码学概念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79695" y="37226"/>
            <a:ext cx="146175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数据加密模型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83949"/>
            <a:ext cx="8312248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如果不论截取者获得了多少密文，但在密文中都没有足够的信息来唯一地确定出对应的明文，则这一密码体制称为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无条件安全的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理论上是不可破的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如果密码体制中的密码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被可使用的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计算资源破译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，则这一密码体制称为在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计算上是安全的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09475" y="619619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46507" y="586408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密码学概念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79695" y="37226"/>
            <a:ext cx="146175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数据加密模型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83949"/>
            <a:ext cx="831224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1949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年，信息论创始人香农论证了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一般经典加密方法得到的密文几乎都是可破的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，导致密码学的研究面临着严重的危机。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世纪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年代起，随着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电子技术、计算技术的迅速发展以及结构代数、可计算性和计算复杂性理论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等学科的研究，密码学又进入了一个新的发展时期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世纪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年代后期，美国的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数据加密标准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 Encryption Standard)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key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crypto-system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的出现，成为近代密码学发展史上的两个重要里程碑。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09475" y="619619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46507" y="586408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密码学概念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79695" y="37226"/>
            <a:ext cx="146175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数据加密模型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050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33294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93937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Line 16"/>
          <p:cNvSpPr>
            <a:spLocks noChangeShapeType="1"/>
          </p:cNvSpPr>
          <p:nvPr/>
        </p:nvSpPr>
        <p:spPr bwMode="auto">
          <a:xfrm>
            <a:off x="3684702" y="1198477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748077" y="1298403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密码体制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钥密码体制</a:t>
            </a:r>
          </a:p>
        </p:txBody>
      </p:sp>
      <p:sp>
        <p:nvSpPr>
          <p:cNvPr id="10" name="Rectangle 27"/>
          <p:cNvSpPr>
            <a:spLocks noChangeArrowheads="1"/>
          </p:cNvSpPr>
          <p:nvPr/>
        </p:nvSpPr>
        <p:spPr bwMode="auto">
          <a:xfrm>
            <a:off x="687234" y="133294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696123" y="142787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</a:t>
            </a:r>
            <a:endParaRPr lang="fr-FR" altLang="zh-CN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两类密码体制</a:t>
            </a:r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>
            <a:off x="3684702" y="2306597"/>
            <a:ext cx="0" cy="13694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84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AutoShape 12"/>
          <p:cNvSpPr>
            <a:spLocks noChangeArrowheads="1"/>
          </p:cNvSpPr>
          <p:nvPr/>
        </p:nvSpPr>
        <p:spPr bwMode="auto">
          <a:xfrm>
            <a:off x="511896" y="616595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Rectangle 13"/>
          <p:cNvSpPr>
            <a:spLocks noChangeArrowheads="1"/>
          </p:cNvSpPr>
          <p:nvPr/>
        </p:nvSpPr>
        <p:spPr bwMode="auto">
          <a:xfrm>
            <a:off x="3207279" y="591131"/>
            <a:ext cx="2738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密钥密码体制 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515534" y="1553941"/>
            <a:ext cx="8129015" cy="240353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Line 53"/>
          <p:cNvSpPr>
            <a:spLocks noChangeShapeType="1"/>
          </p:cNvSpPr>
          <p:nvPr/>
        </p:nvSpPr>
        <p:spPr bwMode="auto">
          <a:xfrm>
            <a:off x="4499643" y="3124731"/>
            <a:ext cx="1843101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Group 107"/>
          <p:cNvGrpSpPr/>
          <p:nvPr/>
        </p:nvGrpSpPr>
        <p:grpSpPr bwMode="auto">
          <a:xfrm>
            <a:off x="3608860" y="2611444"/>
            <a:ext cx="1884855" cy="1171395"/>
            <a:chOff x="2248" y="820"/>
            <a:chExt cx="2248" cy="883"/>
          </a:xfrm>
        </p:grpSpPr>
        <p:grpSp>
          <p:nvGrpSpPr>
            <p:cNvPr id="86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16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21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31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33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37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41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2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3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4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5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38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39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40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34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35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36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32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22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25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6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7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8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9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0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23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7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1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2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4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5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2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4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5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6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7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9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3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89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Rectangle 46"/>
          <p:cNvSpPr>
            <a:spLocks noChangeArrowheads="1"/>
          </p:cNvSpPr>
          <p:nvPr/>
        </p:nvSpPr>
        <p:spPr bwMode="auto">
          <a:xfrm>
            <a:off x="509474" y="1041703"/>
            <a:ext cx="8246820" cy="44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密码体制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52"/>
          <p:cNvSpPr>
            <a:spLocks noChangeShapeType="1"/>
          </p:cNvSpPr>
          <p:nvPr/>
        </p:nvSpPr>
        <p:spPr bwMode="auto">
          <a:xfrm>
            <a:off x="2479678" y="3115423"/>
            <a:ext cx="116623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7497672" y="302367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Freeform 51"/>
          <p:cNvSpPr/>
          <p:nvPr/>
        </p:nvSpPr>
        <p:spPr bwMode="auto">
          <a:xfrm>
            <a:off x="1422488" y="2747069"/>
            <a:ext cx="292556" cy="380322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72"/>
          <p:cNvSpPr/>
          <p:nvPr/>
        </p:nvSpPr>
        <p:spPr bwMode="auto">
          <a:xfrm flipH="1" flipV="1">
            <a:off x="2180474" y="2465151"/>
            <a:ext cx="66490" cy="35239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134"/>
          <p:cNvSpPr/>
          <p:nvPr/>
        </p:nvSpPr>
        <p:spPr bwMode="auto">
          <a:xfrm flipH="1" flipV="1">
            <a:off x="6797535" y="2465151"/>
            <a:ext cx="66490" cy="35239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0"/>
          <p:cNvSpPr/>
          <p:nvPr/>
        </p:nvSpPr>
        <p:spPr bwMode="auto">
          <a:xfrm rot="16200000">
            <a:off x="7491690" y="2792282"/>
            <a:ext cx="183512" cy="481387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68"/>
          <p:cNvSpPr txBox="1">
            <a:spLocks noChangeArrowheads="1"/>
          </p:cNvSpPr>
          <p:nvPr/>
        </p:nvSpPr>
        <p:spPr bwMode="auto">
          <a:xfrm>
            <a:off x="5438482" y="2788293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55303" y="1762727"/>
            <a:ext cx="1337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kumimoji="1" lang="en-US" altLang="zh-CN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sp>
        <p:nvSpPr>
          <p:cNvPr id="15" name="Text Box 55"/>
          <p:cNvSpPr txBox="1">
            <a:spLocks noChangeArrowheads="1"/>
          </p:cNvSpPr>
          <p:nvPr/>
        </p:nvSpPr>
        <p:spPr bwMode="auto">
          <a:xfrm>
            <a:off x="755303" y="3115423"/>
            <a:ext cx="87064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6" name="Text Box 57"/>
          <p:cNvSpPr txBox="1">
            <a:spLocks noChangeArrowheads="1"/>
          </p:cNvSpPr>
          <p:nvPr/>
        </p:nvSpPr>
        <p:spPr bwMode="auto">
          <a:xfrm>
            <a:off x="2788191" y="2788293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17" name="Picture 6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056258" y="1909428"/>
            <a:ext cx="621304" cy="32790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Box 70"/>
          <p:cNvSpPr txBox="1">
            <a:spLocks noChangeArrowheads="1"/>
          </p:cNvSpPr>
          <p:nvPr/>
        </p:nvSpPr>
        <p:spPr bwMode="auto">
          <a:xfrm>
            <a:off x="890566" y="2344142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9" name="Text Box 71"/>
          <p:cNvSpPr txBox="1">
            <a:spLocks noChangeArrowheads="1"/>
          </p:cNvSpPr>
          <p:nvPr/>
        </p:nvSpPr>
        <p:spPr bwMode="auto">
          <a:xfrm>
            <a:off x="8024279" y="2336827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48" name="Rectangle 102"/>
          <p:cNvSpPr>
            <a:spLocks noChangeArrowheads="1"/>
          </p:cNvSpPr>
          <p:nvPr/>
        </p:nvSpPr>
        <p:spPr bwMode="auto">
          <a:xfrm>
            <a:off x="1715044" y="2825527"/>
            <a:ext cx="1069158" cy="599739"/>
          </a:xfrm>
          <a:prstGeom prst="rect">
            <a:avLst/>
          </a:prstGeom>
          <a:solidFill>
            <a:srgbClr val="0000FF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49" name="Rectangle 103"/>
          <p:cNvSpPr>
            <a:spLocks noChangeArrowheads="1"/>
          </p:cNvSpPr>
          <p:nvPr/>
        </p:nvSpPr>
        <p:spPr bwMode="auto">
          <a:xfrm>
            <a:off x="6342744" y="2825527"/>
            <a:ext cx="1070488" cy="599739"/>
          </a:xfrm>
          <a:prstGeom prst="rect">
            <a:avLst/>
          </a:prstGeom>
          <a:solidFill>
            <a:srgbClr val="009900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77" name="Text Box 131"/>
          <p:cNvSpPr txBox="1">
            <a:spLocks noChangeArrowheads="1"/>
          </p:cNvSpPr>
          <p:nvPr/>
        </p:nvSpPr>
        <p:spPr bwMode="auto">
          <a:xfrm>
            <a:off x="4133158" y="2937744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78" name="Text Box 132"/>
          <p:cNvSpPr txBox="1">
            <a:spLocks noChangeArrowheads="1"/>
          </p:cNvSpPr>
          <p:nvPr/>
        </p:nvSpPr>
        <p:spPr bwMode="auto">
          <a:xfrm>
            <a:off x="6945815" y="1762727"/>
            <a:ext cx="1337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解密密钥 </a:t>
            </a:r>
            <a:r>
              <a:rPr kumimoji="1" lang="en-US" altLang="zh-CN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pic>
        <p:nvPicPr>
          <p:cNvPr id="79" name="Picture 13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6458385" y="1910574"/>
            <a:ext cx="621305" cy="32561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80" name="组合 79"/>
          <p:cNvGrpSpPr/>
          <p:nvPr/>
        </p:nvGrpSpPr>
        <p:grpSpPr>
          <a:xfrm>
            <a:off x="2586208" y="1876068"/>
            <a:ext cx="3959703" cy="461665"/>
            <a:chOff x="2674219" y="3348281"/>
            <a:chExt cx="4727052" cy="551131"/>
          </a:xfrm>
        </p:grpSpPr>
        <p:sp>
          <p:nvSpPr>
            <p:cNvPr id="81" name="TextBox 80"/>
            <p:cNvSpPr txBox="1"/>
            <p:nvPr/>
          </p:nvSpPr>
          <p:spPr>
            <a:xfrm>
              <a:off x="4180954" y="3348281"/>
              <a:ext cx="1690134" cy="551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相同密钥</a:t>
              </a:r>
              <a:endPara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左箭头 81"/>
            <p:cNvSpPr/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rgbClr val="99FF66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左箭头 82"/>
            <p:cNvSpPr/>
            <p:nvPr/>
          </p:nvSpPr>
          <p:spPr bwMode="auto">
            <a:xfrm flipH="1">
              <a:off x="6058594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rgbClr val="99FF66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46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874" y="2395536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055" y="2395536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751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428124" y="584622"/>
            <a:ext cx="23038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数据加密标准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5" y="976724"/>
            <a:ext cx="561482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分组密码。</a:t>
            </a:r>
          </a:p>
          <a:p>
            <a:pPr marL="342900" indent="-34290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在进行加密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先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对整个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明文分组，每一组数据长度为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</a:p>
          <a:p>
            <a:pPr marL="342900" indent="-34290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分别对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一组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位的明文进行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加密处理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，产生对应的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密文数据。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一组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的明文均要经过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轮迭代，且每轮所使用的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子密钥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都是由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主密钥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派生得到。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将所有密文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起来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，得到整个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的密文。</a:t>
            </a:r>
          </a:p>
          <a:p>
            <a:pPr marL="342900" indent="-34290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主密钥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位（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实际密钥长度为 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，另外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位用于奇偶校验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，每一轮的子密钥为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48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位。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372833" y="1251493"/>
            <a:ext cx="2493897" cy="3020630"/>
            <a:chOff x="6381210" y="1251493"/>
            <a:chExt cx="2493897" cy="3020630"/>
          </a:xfrm>
        </p:grpSpPr>
        <p:sp>
          <p:nvSpPr>
            <p:cNvPr id="15" name="下箭头 14"/>
            <p:cNvSpPr/>
            <p:nvPr/>
          </p:nvSpPr>
          <p:spPr>
            <a:xfrm>
              <a:off x="6990280" y="3379079"/>
              <a:ext cx="94610" cy="680687"/>
            </a:xfrm>
            <a:prstGeom prst="downArrow">
              <a:avLst/>
            </a:prstGeom>
            <a:solidFill>
              <a:srgbClr val="F0037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下箭头 2"/>
            <p:cNvSpPr/>
            <p:nvPr/>
          </p:nvSpPr>
          <p:spPr>
            <a:xfrm>
              <a:off x="6990279" y="1919822"/>
              <a:ext cx="94901" cy="839340"/>
            </a:xfrm>
            <a:prstGeom prst="downArrow">
              <a:avLst/>
            </a:prstGeom>
            <a:solidFill>
              <a:srgbClr val="F0037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6469591" y="1667684"/>
              <a:ext cx="1136277" cy="27230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初始置换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6469591" y="2102776"/>
              <a:ext cx="1136277" cy="272303"/>
            </a:xfrm>
            <a:prstGeom prst="rect">
              <a:avLst/>
            </a:prstGeom>
            <a:solidFill>
              <a:srgbClr val="B5E3EF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105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05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轮</a:t>
              </a:r>
              <a:endPara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469591" y="2489667"/>
              <a:ext cx="1136277" cy="269494"/>
            </a:xfrm>
            <a:prstGeom prst="rect">
              <a:avLst/>
            </a:prstGeom>
            <a:solidFill>
              <a:srgbClr val="B5E3EF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轮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6469591" y="3155547"/>
              <a:ext cx="1136277" cy="275621"/>
            </a:xfrm>
            <a:prstGeom prst="rect">
              <a:avLst/>
            </a:prstGeom>
            <a:solidFill>
              <a:srgbClr val="B5E3EF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轮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469591" y="3608193"/>
              <a:ext cx="1136277" cy="27562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最终置换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82099" y="2780407"/>
              <a:ext cx="1021327" cy="388620"/>
            </a:xfrm>
            <a:prstGeom prst="rect">
              <a:avLst/>
            </a:prstGeom>
            <a:noFill/>
          </p:spPr>
          <p:txBody>
            <a:bodyPr vert="eaVert" wrap="square" rtlCol="0" anchor="ctr" anchorCtr="1">
              <a:noAutofit/>
            </a:bodyPr>
            <a:lstStyle/>
            <a:p>
              <a:pPr algn="ctr">
                <a:tabLst>
                  <a:tab pos="0" algn="ctr"/>
                </a:tabLst>
              </a:pPr>
              <a:r>
                <a: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下箭头 15"/>
            <p:cNvSpPr/>
            <p:nvPr/>
          </p:nvSpPr>
          <p:spPr>
            <a:xfrm>
              <a:off x="6990569" y="1463116"/>
              <a:ext cx="94320" cy="207607"/>
            </a:xfrm>
            <a:prstGeom prst="downArrow">
              <a:avLst/>
            </a:prstGeom>
            <a:solidFill>
              <a:srgbClr val="F0037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下箭头 16"/>
            <p:cNvSpPr/>
            <p:nvPr/>
          </p:nvSpPr>
          <p:spPr>
            <a:xfrm rot="5400000">
              <a:off x="7852428" y="1942699"/>
              <a:ext cx="87283" cy="565458"/>
            </a:xfrm>
            <a:prstGeom prst="downArrow">
              <a:avLst/>
            </a:prstGeom>
            <a:solidFill>
              <a:srgbClr val="F0037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下箭头 17"/>
            <p:cNvSpPr/>
            <p:nvPr/>
          </p:nvSpPr>
          <p:spPr>
            <a:xfrm rot="5400000">
              <a:off x="7852428" y="2341685"/>
              <a:ext cx="87283" cy="565458"/>
            </a:xfrm>
            <a:prstGeom prst="downArrow">
              <a:avLst/>
            </a:prstGeom>
            <a:solidFill>
              <a:srgbClr val="F0037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下箭头 18"/>
            <p:cNvSpPr/>
            <p:nvPr/>
          </p:nvSpPr>
          <p:spPr>
            <a:xfrm rot="5400000">
              <a:off x="7852428" y="3015640"/>
              <a:ext cx="87283" cy="565458"/>
            </a:xfrm>
            <a:prstGeom prst="downArrow">
              <a:avLst/>
            </a:prstGeom>
            <a:solidFill>
              <a:srgbClr val="F0037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下箭头 19"/>
            <p:cNvSpPr/>
            <p:nvPr/>
          </p:nvSpPr>
          <p:spPr>
            <a:xfrm rot="5400000">
              <a:off x="8405873" y="2656558"/>
              <a:ext cx="66035" cy="139171"/>
            </a:xfrm>
            <a:prstGeom prst="downArrow">
              <a:avLst/>
            </a:prstGeom>
            <a:solidFill>
              <a:srgbClr val="F0037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6381210" y="1564998"/>
              <a:ext cx="2072758" cy="2403947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prstDash val="soli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3175">
                  <a:solidFill>
                    <a:schemeClr val="tx1"/>
                  </a:solidFill>
                  <a:prstDash val="dash"/>
                </a:ln>
                <a:noFill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415083" y="2036982"/>
              <a:ext cx="1302284" cy="150283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3175">
                  <a:solidFill>
                    <a:schemeClr val="tx1"/>
                  </a:solidFill>
                  <a:prstDash val="dash"/>
                </a:ln>
                <a:noFill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430755" y="252609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64</a:t>
              </a:r>
              <a:r>
                <a:rPr lang="zh-CN" altLang="en-US" sz="1000" dirty="0" smtClean="0"/>
                <a:t>位</a:t>
              </a:r>
              <a:endParaRPr lang="en-US" altLang="zh-CN" sz="1000" dirty="0" smtClean="0"/>
            </a:p>
            <a:p>
              <a:r>
                <a:rPr lang="zh-CN" altLang="en-US" sz="1000" dirty="0" smtClean="0"/>
                <a:t>密钥</a:t>
              </a:r>
              <a:endParaRPr lang="zh-CN" altLang="en-US" sz="1000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741420" y="1991128"/>
              <a:ext cx="2952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K</a:t>
              </a:r>
              <a:r>
                <a:rPr lang="en-US" altLang="zh-CN" sz="1000" baseline="-25000" dirty="0" smtClean="0"/>
                <a:t>1</a:t>
              </a:r>
              <a:endParaRPr lang="zh-CN" altLang="en-US" sz="1000" baseline="-250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741420" y="2393998"/>
              <a:ext cx="2952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K</a:t>
              </a:r>
              <a:r>
                <a:rPr lang="en-US" altLang="zh-CN" sz="1000" baseline="-25000" dirty="0" smtClean="0"/>
                <a:t>2</a:t>
              </a:r>
              <a:endParaRPr lang="zh-CN" altLang="en-US" sz="1000" baseline="-25000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719780" y="3054886"/>
              <a:ext cx="33855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K</a:t>
              </a:r>
              <a:r>
                <a:rPr lang="en-US" altLang="zh-CN" sz="1000" baseline="-25000" dirty="0" smtClean="0"/>
                <a:t>16</a:t>
              </a:r>
              <a:endParaRPr lang="zh-CN" altLang="en-US" sz="1000" baseline="-25000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695634" y="4025902"/>
              <a:ext cx="7008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64</a:t>
              </a:r>
              <a:r>
                <a:rPr lang="zh-CN" altLang="en-US" sz="1000" dirty="0" smtClean="0"/>
                <a:t>位</a:t>
              </a:r>
              <a:r>
                <a:rPr lang="zh-CN" altLang="en-US" sz="1000" dirty="0"/>
                <a:t>密文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701455" y="1251493"/>
              <a:ext cx="7008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64</a:t>
              </a:r>
              <a:r>
                <a:rPr lang="zh-CN" altLang="en-US" sz="1000" dirty="0" smtClean="0"/>
                <a:t>位明文</a:t>
              </a:r>
              <a:endParaRPr lang="zh-CN" altLang="en-US" sz="10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735788" y="2813834"/>
              <a:ext cx="338554" cy="18851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>
              <a:defPPr>
                <a:defRPr lang="zh-CN"/>
              </a:defPPr>
              <a:lvl1pPr>
                <a:defRPr sz="1000"/>
              </a:lvl1pPr>
            </a:lstStyle>
            <a:p>
              <a:r>
                <a:rPr lang="en-US" altLang="zh-CN" dirty="0"/>
                <a:t>...</a:t>
              </a:r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8018292" y="2102776"/>
              <a:ext cx="355315" cy="1328392"/>
            </a:xfrm>
            <a:prstGeom prst="rect">
              <a:avLst/>
            </a:prstGeom>
            <a:solidFill>
              <a:srgbClr val="BFE10E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密钥生成器</a:t>
              </a:r>
              <a:endPara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238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74903"/>
            <a:ext cx="813385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取决于对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密钥的保密，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其算法是公开的。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严重问题：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密钥长度较短。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现在已经设计出搜索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密钥的专用芯片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56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已不再认为是安全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的。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678544" y="589121"/>
            <a:ext cx="17908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的机密性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732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79500"/>
            <a:ext cx="8312248" cy="1131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56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位的密钥。</a:t>
            </a:r>
          </a:p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把一个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位明文用一个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en-US" altLang="zh-CN" sz="20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i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用第二个密钥</a:t>
            </a:r>
            <a:r>
              <a:rPr lang="en-US" altLang="zh-CN" sz="20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i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，然后再使用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第三个密钥</a:t>
            </a:r>
            <a:r>
              <a:rPr lang="en-US" altLang="zh-CN" sz="20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i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17852" y="2635168"/>
            <a:ext cx="8133857" cy="170647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Group 4"/>
          <p:cNvGrpSpPr/>
          <p:nvPr/>
        </p:nvGrpSpPr>
        <p:grpSpPr bwMode="auto">
          <a:xfrm>
            <a:off x="772980" y="2788479"/>
            <a:ext cx="3365696" cy="1476619"/>
            <a:chOff x="1450" y="1026"/>
            <a:chExt cx="2448" cy="1074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1860" y="1510"/>
              <a:ext cx="276" cy="263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2503" y="1510"/>
              <a:ext cx="275" cy="263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3145" y="1510"/>
              <a:ext cx="276" cy="263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1524" y="1642"/>
              <a:ext cx="33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2136" y="1642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>
              <a:off x="2778" y="1642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3421" y="1642"/>
              <a:ext cx="36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 rot="5400000">
              <a:off x="1884" y="1397"/>
              <a:ext cx="22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 rot="5400000">
              <a:off x="2526" y="1397"/>
              <a:ext cx="22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 rot="5400000">
              <a:off x="3168" y="1397"/>
              <a:ext cx="22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1904" y="1026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2531" y="1026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3181" y="1026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1450" y="1349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</a:t>
              </a:r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3428" y="1356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密文</a:t>
              </a:r>
            </a:p>
          </p:txBody>
        </p:sp>
        <p:sp>
          <p:nvSpPr>
            <p:cNvPr id="26" name="Text Box 20"/>
            <p:cNvSpPr txBox="1">
              <a:spLocks noChangeArrowheads="1"/>
            </p:cNvSpPr>
            <p:nvPr/>
          </p:nvSpPr>
          <p:spPr bwMode="auto">
            <a:xfrm>
              <a:off x="2397" y="1831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</a:t>
              </a:r>
            </a:p>
          </p:txBody>
        </p:sp>
      </p:grpSp>
      <p:grpSp>
        <p:nvGrpSpPr>
          <p:cNvPr id="27" name="Group 21"/>
          <p:cNvGrpSpPr/>
          <p:nvPr/>
        </p:nvGrpSpPr>
        <p:grpSpPr bwMode="auto">
          <a:xfrm>
            <a:off x="4937586" y="2788489"/>
            <a:ext cx="3379444" cy="1476620"/>
            <a:chOff x="1402" y="2387"/>
            <a:chExt cx="2458" cy="1074"/>
          </a:xfrm>
        </p:grpSpPr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1822" y="2871"/>
              <a:ext cx="276" cy="263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2465" y="2871"/>
              <a:ext cx="275" cy="263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3107" y="2871"/>
              <a:ext cx="276" cy="263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1486" y="3003"/>
              <a:ext cx="33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2098" y="3003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2740" y="3003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3383" y="3003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29"/>
            <p:cNvSpPr/>
            <p:nvPr/>
          </p:nvSpPr>
          <p:spPr bwMode="auto">
            <a:xfrm>
              <a:off x="1961" y="2644"/>
              <a:ext cx="2" cy="227"/>
            </a:xfrm>
            <a:custGeom>
              <a:avLst/>
              <a:gdLst>
                <a:gd name="T0" fmla="*/ 0 w 3"/>
                <a:gd name="T1" fmla="*/ 0 h 249"/>
                <a:gd name="T2" fmla="*/ 3 w 3"/>
                <a:gd name="T3" fmla="*/ 24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9">
                  <a:moveTo>
                    <a:pt x="0" y="0"/>
                  </a:moveTo>
                  <a:lnTo>
                    <a:pt x="3" y="24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30"/>
            <p:cNvSpPr/>
            <p:nvPr/>
          </p:nvSpPr>
          <p:spPr bwMode="auto">
            <a:xfrm>
              <a:off x="2603" y="2644"/>
              <a:ext cx="3" cy="235"/>
            </a:xfrm>
            <a:custGeom>
              <a:avLst/>
              <a:gdLst>
                <a:gd name="T0" fmla="*/ 0 w 3"/>
                <a:gd name="T1" fmla="*/ 0 h 257"/>
                <a:gd name="T2" fmla="*/ 3 w 3"/>
                <a:gd name="T3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57">
                  <a:moveTo>
                    <a:pt x="0" y="0"/>
                  </a:moveTo>
                  <a:lnTo>
                    <a:pt x="3" y="257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1866" y="2387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2494" y="2387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3143" y="2387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34"/>
            <p:cNvSpPr txBox="1">
              <a:spLocks noChangeArrowheads="1"/>
            </p:cNvSpPr>
            <p:nvPr/>
          </p:nvSpPr>
          <p:spPr bwMode="auto">
            <a:xfrm>
              <a:off x="1402" y="2710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密文</a:t>
              </a:r>
            </a:p>
          </p:txBody>
        </p:sp>
        <p:sp>
          <p:nvSpPr>
            <p:cNvPr id="41" name="Text Box 35"/>
            <p:cNvSpPr txBox="1">
              <a:spLocks noChangeArrowheads="1"/>
            </p:cNvSpPr>
            <p:nvPr/>
          </p:nvSpPr>
          <p:spPr bwMode="auto">
            <a:xfrm>
              <a:off x="3390" y="2717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</a:t>
              </a:r>
            </a:p>
          </p:txBody>
        </p:sp>
        <p:sp>
          <p:nvSpPr>
            <p:cNvPr id="42" name="Text Box 36"/>
            <p:cNvSpPr txBox="1">
              <a:spLocks noChangeArrowheads="1"/>
            </p:cNvSpPr>
            <p:nvPr/>
          </p:nvSpPr>
          <p:spPr bwMode="auto">
            <a:xfrm>
              <a:off x="2359" y="3192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解密</a:t>
              </a:r>
            </a:p>
          </p:txBody>
        </p:sp>
        <p:sp>
          <p:nvSpPr>
            <p:cNvPr id="43" name="Freeform 37"/>
            <p:cNvSpPr/>
            <p:nvPr/>
          </p:nvSpPr>
          <p:spPr bwMode="auto">
            <a:xfrm>
              <a:off x="3245" y="2644"/>
              <a:ext cx="3" cy="221"/>
            </a:xfrm>
            <a:custGeom>
              <a:avLst/>
              <a:gdLst>
                <a:gd name="T0" fmla="*/ 0 w 3"/>
                <a:gd name="T1" fmla="*/ 0 h 241"/>
                <a:gd name="T2" fmla="*/ 3 w 3"/>
                <a:gd name="T3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1">
                  <a:moveTo>
                    <a:pt x="0" y="0"/>
                  </a:moveTo>
                  <a:lnTo>
                    <a:pt x="3" y="241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59224" y="2079248"/>
            <a:ext cx="7123481" cy="476295"/>
            <a:chOff x="959224" y="2079248"/>
            <a:chExt cx="7123481" cy="476295"/>
          </a:xfrm>
        </p:grpSpPr>
        <p:sp>
          <p:nvSpPr>
            <p:cNvPr id="5" name="矩形 4"/>
            <p:cNvSpPr/>
            <p:nvPr/>
          </p:nvSpPr>
          <p:spPr>
            <a:xfrm>
              <a:off x="959224" y="2113066"/>
              <a:ext cx="7123481" cy="442477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347" y="2079248"/>
              <a:ext cx="376635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altLang="zh-CN" sz="2400" b="1" i="1" dirty="0">
                  <a:ea typeface="黑体" panose="02010609060101010101" pitchFamily="2" charset="-122"/>
                </a:rPr>
                <a:t>Y</a:t>
              </a:r>
              <a:r>
                <a:rPr lang="en-GB" altLang="zh-CN" sz="2400" b="1" dirty="0">
                  <a:ea typeface="黑体" panose="02010609060101010101" pitchFamily="2" charset="-122"/>
                </a:rPr>
                <a:t> = </a:t>
              </a:r>
              <a:r>
                <a:rPr lang="en-GB" altLang="zh-CN" sz="2400" b="1" dirty="0" smtClean="0">
                  <a:ea typeface="黑体" panose="02010609060101010101" pitchFamily="2" charset="-122"/>
                </a:rPr>
                <a:t>DES</a:t>
              </a:r>
              <a:r>
                <a:rPr lang="en-GB" altLang="zh-CN" sz="2400" b="1" i="1" baseline="-25000" dirty="0" smtClean="0"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 smtClean="0">
                  <a:ea typeface="黑体" panose="02010609060101010101" pitchFamily="2" charset="-122"/>
                </a:rPr>
                <a:t>3</a:t>
              </a:r>
              <a:r>
                <a:rPr lang="en-GB" altLang="zh-CN" sz="2400" b="1" dirty="0" smtClean="0">
                  <a:ea typeface="黑体" panose="02010609060101010101" pitchFamily="2" charset="-122"/>
                </a:rPr>
                <a:t>(DES</a:t>
              </a:r>
              <a:r>
                <a:rPr lang="en-GB" altLang="zh-CN" sz="2400" b="1" baseline="30000" dirty="0" smtClean="0">
                  <a:ea typeface="黑体" panose="02010609060101010101" pitchFamily="2" charset="-122"/>
                </a:rPr>
                <a:t>-1</a:t>
              </a:r>
              <a:r>
                <a:rPr lang="en-GB" altLang="zh-CN" sz="2400" b="1" i="1" baseline="-25000" dirty="0" smtClean="0"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 smtClean="0">
                  <a:ea typeface="黑体" panose="02010609060101010101" pitchFamily="2" charset="-122"/>
                </a:rPr>
                <a:t>2</a:t>
              </a:r>
              <a:r>
                <a:rPr lang="en-GB" altLang="zh-CN" sz="2400" b="1" dirty="0" smtClean="0">
                  <a:ea typeface="黑体" panose="02010609060101010101" pitchFamily="2" charset="-122"/>
                </a:rPr>
                <a:t>(DES</a:t>
              </a:r>
              <a:r>
                <a:rPr lang="en-GB" altLang="zh-CN" sz="2400" b="1" i="1" baseline="-25000" dirty="0" smtClean="0"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 smtClean="0">
                  <a:ea typeface="黑体" panose="02010609060101010101" pitchFamily="2" charset="-122"/>
                </a:rPr>
                <a:t>1</a:t>
              </a:r>
              <a:r>
                <a:rPr lang="en-GB" altLang="zh-CN" sz="2400" b="1" dirty="0" smtClean="0">
                  <a:ea typeface="黑体" panose="02010609060101010101" pitchFamily="2" charset="-122"/>
                </a:rPr>
                <a:t>(</a:t>
              </a:r>
              <a:r>
                <a:rPr lang="en-GB" altLang="zh-CN" sz="2400" b="1" i="1" dirty="0" smtClean="0">
                  <a:ea typeface="黑体" panose="02010609060101010101" pitchFamily="2" charset="-122"/>
                </a:rPr>
                <a:t>X</a:t>
              </a:r>
              <a:r>
                <a:rPr lang="en-GB" altLang="zh-CN" sz="2400" b="1" dirty="0">
                  <a:ea typeface="黑体" panose="02010609060101010101" pitchFamily="2" charset="-122"/>
                </a:rPr>
                <a:t>)))</a:t>
              </a:r>
              <a:endParaRPr lang="zh-CN" altLang="en-US" sz="2400" b="1" dirty="0">
                <a:ea typeface="黑体" panose="0201060906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7351382" y="2093878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endParaRPr lang="zh-CN" altLang="en-US" sz="2400" b="1" dirty="0">
                <a:latin typeface="+mn-lt"/>
                <a:ea typeface="+mn-ea"/>
              </a:endParaRPr>
            </a:p>
          </p:txBody>
        </p:sp>
      </p:grpSp>
      <p:sp>
        <p:nvSpPr>
          <p:cNvPr id="47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3935024" y="589681"/>
            <a:ext cx="12779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</a:t>
            </a:r>
          </a:p>
        </p:txBody>
      </p:sp>
      <p:sp>
        <p:nvSpPr>
          <p:cNvPr id="44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52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74903"/>
            <a:ext cx="813385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年美国标准与技术协会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NIST)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开展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(Advanced Encryption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Standard)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的遴选，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Rijndael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算法被选中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，并于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年正式成为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NIST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的加密标准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2002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为美国政府加密标准。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现在是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ISO/IEC 18033-3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标准。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也是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分组密码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，分组长度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三种加密标准，其密钥分别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位和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256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AES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加密步骤复杂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，运算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速度比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3DES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得多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，安全性也大大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加强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27674" y="589121"/>
            <a:ext cx="22926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高级加密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409793" y="37227"/>
            <a:ext cx="173165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715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5299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560742" y="589835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钥密码体制</a:t>
            </a:r>
          </a:p>
        </p:txBody>
      </p:sp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4" y="1046197"/>
            <a:ext cx="824682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，因此又被称为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非对称密钥密码体制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钥密码体制产生的主要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799465" indent="-45720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密钥分配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问题。</a:t>
            </a:r>
          </a:p>
          <a:p>
            <a:pPr marL="799465" indent="-45720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典型：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RSA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体制，一种基于数论中的大数分解问题的体制。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94762" y="37227"/>
            <a:ext cx="144668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54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AutoShape 5"/>
          <p:cNvSpPr>
            <a:spLocks noChangeArrowheads="1"/>
          </p:cNvSpPr>
          <p:nvPr/>
        </p:nvSpPr>
        <p:spPr bwMode="auto">
          <a:xfrm>
            <a:off x="509475" y="62036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Rectangle 6"/>
          <p:cNvSpPr>
            <a:spLocks noChangeArrowheads="1"/>
          </p:cNvSpPr>
          <p:nvPr/>
        </p:nvSpPr>
        <p:spPr bwMode="auto">
          <a:xfrm>
            <a:off x="3712208" y="587154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517852" y="1088821"/>
            <a:ext cx="8133857" cy="32484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498304" y="1885250"/>
            <a:ext cx="3993860" cy="461665"/>
            <a:chOff x="2674219" y="3390679"/>
            <a:chExt cx="4653925" cy="537966"/>
          </a:xfrm>
        </p:grpSpPr>
        <p:sp>
          <p:nvSpPr>
            <p:cNvPr id="6" name="TextBox 5"/>
            <p:cNvSpPr txBox="1"/>
            <p:nvPr/>
          </p:nvSpPr>
          <p:spPr>
            <a:xfrm>
              <a:off x="4154408" y="3390679"/>
              <a:ext cx="1649758" cy="5379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不同密钥</a:t>
              </a:r>
              <a:endParaRPr lang="zh-CN" altLang="en-US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左箭头 6"/>
            <p:cNvSpPr/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左箭头 7"/>
            <p:cNvSpPr/>
            <p:nvPr/>
          </p:nvSpPr>
          <p:spPr bwMode="auto">
            <a:xfrm flipH="1">
              <a:off x="5985467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accent6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Line 52"/>
          <p:cNvSpPr>
            <a:spLocks noChangeShapeType="1"/>
          </p:cNvSpPr>
          <p:nvPr/>
        </p:nvSpPr>
        <p:spPr bwMode="auto">
          <a:xfrm>
            <a:off x="2389167" y="3430887"/>
            <a:ext cx="1194777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53"/>
          <p:cNvSpPr>
            <a:spLocks noChangeShapeType="1"/>
          </p:cNvSpPr>
          <p:nvPr/>
        </p:nvSpPr>
        <p:spPr bwMode="auto">
          <a:xfrm>
            <a:off x="4458569" y="3440423"/>
            <a:ext cx="188821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56"/>
          <p:cNvSpPr txBox="1">
            <a:spLocks noChangeArrowheads="1"/>
          </p:cNvSpPr>
          <p:nvPr/>
        </p:nvSpPr>
        <p:spPr bwMode="auto">
          <a:xfrm>
            <a:off x="7624932" y="3441996"/>
            <a:ext cx="7745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3" name="Freeform 51"/>
          <p:cNvSpPr/>
          <p:nvPr/>
        </p:nvSpPr>
        <p:spPr bwMode="auto">
          <a:xfrm>
            <a:off x="1182513" y="3053517"/>
            <a:ext cx="423306" cy="389631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72"/>
          <p:cNvSpPr/>
          <p:nvPr/>
        </p:nvSpPr>
        <p:spPr bwMode="auto">
          <a:xfrm flipH="1" flipV="1">
            <a:off x="2082638" y="2397291"/>
            <a:ext cx="68117" cy="728430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34"/>
          <p:cNvSpPr/>
          <p:nvPr/>
        </p:nvSpPr>
        <p:spPr bwMode="auto">
          <a:xfrm flipV="1">
            <a:off x="6880817" y="2397291"/>
            <a:ext cx="39235" cy="728430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50"/>
          <p:cNvSpPr/>
          <p:nvPr/>
        </p:nvSpPr>
        <p:spPr bwMode="auto">
          <a:xfrm rot="16200000">
            <a:off x="7523844" y="3099836"/>
            <a:ext cx="188004" cy="493169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68"/>
          <p:cNvSpPr txBox="1">
            <a:spLocks noChangeArrowheads="1"/>
          </p:cNvSpPr>
          <p:nvPr/>
        </p:nvSpPr>
        <p:spPr bwMode="auto">
          <a:xfrm>
            <a:off x="5470416" y="3095750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8" name="Text Box 54"/>
          <p:cNvSpPr txBox="1">
            <a:spLocks noChangeArrowheads="1"/>
          </p:cNvSpPr>
          <p:nvPr/>
        </p:nvSpPr>
        <p:spPr bwMode="auto">
          <a:xfrm>
            <a:off x="1511923" y="1312506"/>
            <a:ext cx="14334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9" name="Text Box 55"/>
          <p:cNvSpPr txBox="1">
            <a:spLocks noChangeArrowheads="1"/>
          </p:cNvSpPr>
          <p:nvPr/>
        </p:nvSpPr>
        <p:spPr bwMode="auto">
          <a:xfrm>
            <a:off x="586779" y="3430887"/>
            <a:ext cx="89195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2755264" y="3095750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21" name="Picture 6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866629" y="1883045"/>
            <a:ext cx="636511" cy="33593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Text Box 70"/>
          <p:cNvSpPr txBox="1">
            <a:spLocks noChangeArrowheads="1"/>
          </p:cNvSpPr>
          <p:nvPr/>
        </p:nvSpPr>
        <p:spPr bwMode="auto">
          <a:xfrm>
            <a:off x="659876" y="2662316"/>
            <a:ext cx="349163" cy="34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3" name="Text Box 71"/>
          <p:cNvSpPr txBox="1">
            <a:spLocks noChangeArrowheads="1"/>
          </p:cNvSpPr>
          <p:nvPr/>
        </p:nvSpPr>
        <p:spPr bwMode="auto">
          <a:xfrm>
            <a:off x="8054300" y="2625741"/>
            <a:ext cx="335937" cy="34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26" name="Rectangle 102"/>
          <p:cNvSpPr>
            <a:spLocks noChangeArrowheads="1"/>
          </p:cNvSpPr>
          <p:nvPr/>
        </p:nvSpPr>
        <p:spPr bwMode="auto">
          <a:xfrm>
            <a:off x="1605819" y="3133895"/>
            <a:ext cx="1095325" cy="614417"/>
          </a:xfrm>
          <a:prstGeom prst="rect">
            <a:avLst/>
          </a:prstGeom>
          <a:solidFill>
            <a:srgbClr val="0000FF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27" name="Rectangle 103"/>
          <p:cNvSpPr>
            <a:spLocks noChangeArrowheads="1"/>
          </p:cNvSpPr>
          <p:nvPr/>
        </p:nvSpPr>
        <p:spPr bwMode="auto">
          <a:xfrm>
            <a:off x="6346779" y="3133895"/>
            <a:ext cx="1096687" cy="614417"/>
          </a:xfrm>
          <a:prstGeom prst="rect">
            <a:avLst/>
          </a:prstGeom>
          <a:solidFill>
            <a:srgbClr val="009900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31" name="Text Box 132"/>
          <p:cNvSpPr txBox="1">
            <a:spLocks noChangeArrowheads="1"/>
          </p:cNvSpPr>
          <p:nvPr/>
        </p:nvSpPr>
        <p:spPr bwMode="auto">
          <a:xfrm>
            <a:off x="6915587" y="252734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endParaRPr kumimoji="1" lang="en-US" altLang="zh-CN" sz="14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>
            <a:off x="6170163" y="1312506"/>
            <a:ext cx="14221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Text Box 132"/>
          <p:cNvSpPr txBox="1">
            <a:spLocks noChangeArrowheads="1"/>
          </p:cNvSpPr>
          <p:nvPr/>
        </p:nvSpPr>
        <p:spPr bwMode="auto">
          <a:xfrm>
            <a:off x="1569984" y="254483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</a:t>
            </a:r>
            <a:endParaRPr kumimoji="1" lang="en-US" altLang="zh-CN" sz="14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7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58" y="2723829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928" y="2693220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" name="Group 107"/>
          <p:cNvGrpSpPr/>
          <p:nvPr/>
        </p:nvGrpSpPr>
        <p:grpSpPr bwMode="auto">
          <a:xfrm>
            <a:off x="3568554" y="2928454"/>
            <a:ext cx="1884855" cy="1171395"/>
            <a:chOff x="2248" y="820"/>
            <a:chExt cx="2248" cy="883"/>
          </a:xfrm>
        </p:grpSpPr>
        <p:grpSp>
          <p:nvGrpSpPr>
            <p:cNvPr id="90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20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25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35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37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41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4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9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4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4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44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3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3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0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36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26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2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3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4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2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5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6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4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5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7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2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9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9" name="Text Box 131"/>
          <p:cNvSpPr txBox="1">
            <a:spLocks noChangeArrowheads="1"/>
          </p:cNvSpPr>
          <p:nvPr/>
        </p:nvSpPr>
        <p:spPr bwMode="auto">
          <a:xfrm>
            <a:off x="4044475" y="3264384"/>
            <a:ext cx="904650" cy="380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pic>
        <p:nvPicPr>
          <p:cNvPr id="152" name="Picture 5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56638" y="1865115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" name="Rectangle 4"/>
          <p:cNvSpPr>
            <a:spLocks noChangeArrowheads="1"/>
          </p:cNvSpPr>
          <p:nvPr/>
        </p:nvSpPr>
        <p:spPr bwMode="auto">
          <a:xfrm>
            <a:off x="7694762" y="37227"/>
            <a:ext cx="144668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534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51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289015" y="581922"/>
            <a:ext cx="25699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加密密钥与解密密钥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7852" y="981021"/>
            <a:ext cx="813385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key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，即公钥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公开。</a:t>
            </a: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secret key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，即私钥或秘钥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需要保密。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加密算法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和解密算法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虽然私钥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由公钥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决定的，但却不能根据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计算出</a:t>
            </a:r>
            <a:r>
              <a:rPr lang="zh-CN" altLang="en-US" sz="20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694762" y="37227"/>
            <a:ext cx="144668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286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2055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545496" y="587346"/>
            <a:ext cx="20569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公钥算法的特点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9141"/>
            <a:ext cx="812063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对明文 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），然后发送给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接收者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用自己的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i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运算），即可恢复出明文：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43272" y="2967502"/>
            <a:ext cx="7189695" cy="406687"/>
            <a:chOff x="943274" y="4111016"/>
            <a:chExt cx="7189695" cy="406687"/>
          </a:xfrm>
        </p:grpSpPr>
        <p:sp>
          <p:nvSpPr>
            <p:cNvPr id="5" name="矩形 4"/>
            <p:cNvSpPr/>
            <p:nvPr/>
          </p:nvSpPr>
          <p:spPr>
            <a:xfrm>
              <a:off x="943274" y="4111016"/>
              <a:ext cx="7189695" cy="40635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542635" y="4117593"/>
              <a:ext cx="1096774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 smtClean="0">
                  <a:latin typeface="+mn-lt"/>
                  <a:ea typeface="+mn-ea"/>
                </a:rPr>
                <a:t>（</a:t>
              </a:r>
              <a:r>
                <a:rPr lang="en-US" altLang="zh-CN" sz="2000" b="1" dirty="0" smtClean="0">
                  <a:latin typeface="+mn-lt"/>
                  <a:ea typeface="+mn-ea"/>
                </a:rPr>
                <a:t>7-4</a:t>
              </a:r>
              <a:r>
                <a:rPr lang="zh-CN" altLang="en-US" sz="2000" b="1" dirty="0" smtClean="0">
                  <a:latin typeface="+mn-lt"/>
                  <a:ea typeface="+mn-ea"/>
                </a:rPr>
                <a:t>） </a:t>
              </a:r>
              <a:endParaRPr lang="zh-CN" altLang="en-US" sz="2000" b="1" dirty="0">
                <a:latin typeface="+mn-lt"/>
                <a:ea typeface="+mn-ea"/>
              </a:endParaRP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/>
            </p:nvPr>
          </p:nvGraphicFramePr>
          <p:xfrm>
            <a:off x="2827020" y="4133480"/>
            <a:ext cx="264414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" name="公式" r:id="rId5" imgW="1917360" imgH="241200" progId="Equation.3">
                    <p:embed/>
                  </p:oleObj>
                </mc:Choice>
                <mc:Fallback>
                  <p:oleObj name="公式" r:id="rId5" imgW="1917360" imgH="241200" progId="Equation.3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020" y="4133480"/>
                          <a:ext cx="264414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943273" y="1673730"/>
            <a:ext cx="7189695" cy="415925"/>
            <a:chOff x="932329" y="3163634"/>
            <a:chExt cx="7189695" cy="415925"/>
          </a:xfrm>
        </p:grpSpPr>
        <p:sp>
          <p:nvSpPr>
            <p:cNvPr id="12" name="矩形 11"/>
            <p:cNvSpPr/>
            <p:nvPr/>
          </p:nvSpPr>
          <p:spPr>
            <a:xfrm>
              <a:off x="932329" y="3167060"/>
              <a:ext cx="7189695" cy="40353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560565" y="3163634"/>
              <a:ext cx="1096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 smtClean="0">
                  <a:latin typeface="+mn-lt"/>
                  <a:ea typeface="+mn-ea"/>
                </a:rPr>
                <a:t>（</a:t>
              </a:r>
              <a:r>
                <a:rPr lang="en-US" altLang="zh-CN" sz="2000" b="1" dirty="0" smtClean="0">
                  <a:latin typeface="+mn-lt"/>
                  <a:ea typeface="+mn-ea"/>
                </a:rPr>
                <a:t>7-3</a:t>
              </a:r>
              <a:r>
                <a:rPr lang="zh-CN" altLang="en-US" sz="2000" b="1" dirty="0" smtClean="0">
                  <a:latin typeface="+mn-lt"/>
                  <a:ea typeface="+mn-ea"/>
                </a:rPr>
                <a:t>） </a:t>
              </a:r>
              <a:endParaRPr lang="zh-CN" altLang="en-US" sz="2000" b="1" dirty="0">
                <a:latin typeface="+mn-lt"/>
                <a:ea typeface="+mn-ea"/>
              </a:endParaRP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/>
            </p:nvPr>
          </p:nvGraphicFramePr>
          <p:xfrm>
            <a:off x="2920946" y="3180923"/>
            <a:ext cx="1363755" cy="398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公式" r:id="rId7" imgW="825480" imgH="241200" progId="Equation.3">
                    <p:embed/>
                  </p:oleObj>
                </mc:Choice>
                <mc:Fallback>
                  <p:oleObj name="公式" r:id="rId7" imgW="825480" imgH="241200" progId="Equation.3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0946" y="3180923"/>
                          <a:ext cx="1363755" cy="3986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7694762" y="37227"/>
            <a:ext cx="144668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72437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2055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545496" y="587346"/>
            <a:ext cx="20569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公钥算法的特点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9141"/>
            <a:ext cx="8120638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不可能推导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计算上不可能的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密钥是公开的，但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和解密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运算可以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对调，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即加密和解密是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的：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这一特征可以用于进行报文鉴别。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2329" y="2306256"/>
            <a:ext cx="7189695" cy="406960"/>
            <a:chOff x="932329" y="2288326"/>
            <a:chExt cx="7189695" cy="406960"/>
          </a:xfrm>
        </p:grpSpPr>
        <p:sp>
          <p:nvSpPr>
            <p:cNvPr id="12" name="矩形 11"/>
            <p:cNvSpPr/>
            <p:nvPr/>
          </p:nvSpPr>
          <p:spPr>
            <a:xfrm>
              <a:off x="932329" y="2291752"/>
              <a:ext cx="7189695" cy="40353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560565" y="2288326"/>
              <a:ext cx="1096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 smtClean="0">
                  <a:latin typeface="+mn-lt"/>
                  <a:ea typeface="+mn-ea"/>
                </a:rPr>
                <a:t>（</a:t>
              </a:r>
              <a:r>
                <a:rPr lang="en-US" altLang="zh-CN" sz="2000" b="1" dirty="0" smtClean="0">
                  <a:latin typeface="+mn-lt"/>
                  <a:ea typeface="+mn-ea"/>
                </a:rPr>
                <a:t>7-5</a:t>
              </a:r>
              <a:r>
                <a:rPr lang="zh-CN" altLang="en-US" sz="2000" b="1" dirty="0" smtClean="0">
                  <a:latin typeface="+mn-lt"/>
                  <a:ea typeface="+mn-ea"/>
                </a:rPr>
                <a:t>） </a:t>
              </a:r>
              <a:endParaRPr lang="zh-CN" altLang="en-US" sz="2000" b="1" dirty="0">
                <a:latin typeface="+mn-lt"/>
                <a:ea typeface="+mn-ea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/>
            </p:nvPr>
          </p:nvGraphicFramePr>
          <p:xfrm>
            <a:off x="2705100" y="2306170"/>
            <a:ext cx="19812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公式" r:id="rId4" imgW="1269720" imgH="241200" progId="Equation.3">
                    <p:embed/>
                  </p:oleObj>
                </mc:Choice>
                <mc:Fallback>
                  <p:oleObj name="公式" r:id="rId4" imgW="1269720" imgH="241200" progId="Equation.3">
                    <p:embed/>
                    <p:pic>
                      <p:nvPicPr>
                        <p:cNvPr id="2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5100" y="2306170"/>
                          <a:ext cx="198120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943274" y="3180349"/>
            <a:ext cx="7189695" cy="409448"/>
            <a:chOff x="943274" y="3171384"/>
            <a:chExt cx="7189695" cy="409448"/>
          </a:xfrm>
        </p:grpSpPr>
        <p:sp>
          <p:nvSpPr>
            <p:cNvPr id="5" name="矩形 4"/>
            <p:cNvSpPr/>
            <p:nvPr/>
          </p:nvSpPr>
          <p:spPr>
            <a:xfrm>
              <a:off x="943274" y="3171384"/>
              <a:ext cx="7189695" cy="40635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542635" y="3177961"/>
              <a:ext cx="1096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 smtClean="0">
                  <a:latin typeface="+mn-lt"/>
                  <a:ea typeface="+mn-ea"/>
                </a:rPr>
                <a:t>（</a:t>
              </a:r>
              <a:r>
                <a:rPr lang="en-US" altLang="zh-CN" sz="2000" b="1" dirty="0" smtClean="0">
                  <a:latin typeface="+mn-lt"/>
                  <a:ea typeface="+mn-ea"/>
                </a:rPr>
                <a:t>7-6</a:t>
              </a:r>
              <a:r>
                <a:rPr lang="zh-CN" altLang="en-US" sz="2000" b="1" dirty="0" smtClean="0">
                  <a:latin typeface="+mn-lt"/>
                  <a:ea typeface="+mn-ea"/>
                </a:rPr>
                <a:t>） </a:t>
              </a:r>
              <a:endParaRPr lang="zh-CN" altLang="en-US" sz="2000" b="1" dirty="0">
                <a:latin typeface="+mn-lt"/>
                <a:ea typeface="+mn-ea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/>
            </p:nvPr>
          </p:nvGraphicFramePr>
          <p:xfrm>
            <a:off x="2514600" y="3183650"/>
            <a:ext cx="3522514" cy="397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公式" r:id="rId6" imgW="2311200" imgH="241200" progId="Equation.3">
                    <p:embed/>
                  </p:oleObj>
                </mc:Choice>
                <mc:Fallback>
                  <p:oleObj name="公式" r:id="rId6" imgW="2311200" imgH="241200" progId="Equation.3">
                    <p:embed/>
                    <p:pic>
                      <p:nvPicPr>
                        <p:cNvPr id="3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600" y="3183650"/>
                          <a:ext cx="3522514" cy="397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7694762" y="37227"/>
            <a:ext cx="144668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327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138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42766" y="588172"/>
            <a:ext cx="32624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公开密钥与对称密钥的区别</a:t>
            </a:r>
          </a:p>
        </p:txBody>
      </p:sp>
      <p:sp>
        <p:nvSpPr>
          <p:cNvPr id="90" name="Rectangle 46"/>
          <p:cNvSpPr>
            <a:spLocks noChangeArrowheads="1"/>
          </p:cNvSpPr>
          <p:nvPr/>
        </p:nvSpPr>
        <p:spPr bwMode="auto">
          <a:xfrm>
            <a:off x="517852" y="989205"/>
            <a:ext cx="813385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密钥：</a:t>
            </a: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通信信道上可以进行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一对一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保密通信仅限于持有此密钥的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双方。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使用公开密钥：</a:t>
            </a: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在通信信道上可以是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多对一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例如：很多顾客都向同一个网站发送各自的信用卡信息。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94762" y="37227"/>
            <a:ext cx="144668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297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07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04294" y="587543"/>
            <a:ext cx="33393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公开密钥与对称密钥的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 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4504"/>
            <a:ext cx="813385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公钥加密算法的开销较大，不会导致对称密码体制被弃用。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550" y="1175420"/>
            <a:ext cx="7166610" cy="8266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任何加密方法的安全性取决于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密钥的长度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以及攻破密文所需的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计算量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94762" y="37227"/>
            <a:ext cx="144668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15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07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04294" y="587543"/>
            <a:ext cx="33393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公开密钥与对称密钥的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 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4504"/>
            <a:ext cx="813385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通常情况下，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DES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AES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这样的对称密钥算法要比公开密钥算法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RSA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的运算速度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快几个数量级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在实际通信过程中，通常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先用公钥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密码体制建立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安全连接，然后再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协商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基于对称密码体制的会话密钥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，这里会话密钥专门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用来加密数据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双方都拿到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了会话密钥，就可以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利用对称密钥进行安全通信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1086608" y="3641363"/>
            <a:ext cx="7166610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RSA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这种开销大但适用性高的算法协商会话密钥，随后用开销较低的对称密钥来进行实际通信。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94762" y="37227"/>
            <a:ext cx="144668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077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07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04294" y="587543"/>
            <a:ext cx="33393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公开密钥与对称密钥的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 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4504"/>
            <a:ext cx="522894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事实上，公钥密码体制的应用范围非常广泛，除了用于数据加密外，在其他多个领域还发挥了重要作用。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身份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认证</a:t>
            </a: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数字签名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消息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对称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协商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随后我们会分别对这些内容进行探讨。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94762" y="37227"/>
            <a:ext cx="144668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公钥密码体制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399" y="1075017"/>
            <a:ext cx="3469877" cy="33207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817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33294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93937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Line 16"/>
          <p:cNvSpPr>
            <a:spLocks noChangeShapeType="1"/>
          </p:cNvSpPr>
          <p:nvPr/>
        </p:nvSpPr>
        <p:spPr bwMode="auto">
          <a:xfrm>
            <a:off x="3684702" y="1198477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748077" y="1298403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密码体制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钥密码体制</a:t>
            </a:r>
          </a:p>
        </p:txBody>
      </p:sp>
      <p:sp>
        <p:nvSpPr>
          <p:cNvPr id="10" name="Rectangle 27"/>
          <p:cNvSpPr>
            <a:spLocks noChangeArrowheads="1"/>
          </p:cNvSpPr>
          <p:nvPr/>
        </p:nvSpPr>
        <p:spPr bwMode="auto">
          <a:xfrm>
            <a:off x="687234" y="133294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696123" y="142787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</a:t>
            </a:r>
            <a:endParaRPr lang="fr-FR" altLang="zh-CN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两类密码体制</a:t>
            </a:r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>
            <a:off x="3684702" y="2306597"/>
            <a:ext cx="0" cy="13694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96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1895" y="1023789"/>
            <a:ext cx="6225335" cy="3029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authentication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又称为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认证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，是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网络安全中一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个十分重要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的问题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鉴别包括：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实体鉴别：验证通信的对方的确是自己所要通信的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实体可以是发信的人，也可以是一个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进程，因此也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常称为端点鉴别。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鉴别：报文未被他人篡改过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511896" y="6229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822832" y="597457"/>
            <a:ext cx="1507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 </a:t>
            </a:r>
          </a:p>
        </p:txBody>
      </p:sp>
      <p:sp>
        <p:nvSpPr>
          <p:cNvPr id="4" name="矩形 3"/>
          <p:cNvSpPr/>
          <p:nvPr/>
        </p:nvSpPr>
        <p:spPr>
          <a:xfrm>
            <a:off x="926274" y="4163182"/>
            <a:ext cx="6741460" cy="369332"/>
          </a:xfrm>
          <a:prstGeom prst="rect">
            <a:avLst/>
          </a:prstGeom>
          <a:solidFill>
            <a:srgbClr val="66CCFF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通常用报文鉴别来概括：鉴别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报文的发送者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，鉴别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报文的完整性。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E8E5351-9AD4-834D-8CEE-AD5E09FB2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101" y="1061858"/>
            <a:ext cx="2316802" cy="260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530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511896" y="6229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822832" y="597457"/>
            <a:ext cx="1507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 </a:t>
            </a:r>
          </a:p>
        </p:txBody>
      </p:sp>
      <p:graphicFrame>
        <p:nvGraphicFramePr>
          <p:cNvPr id="3" name="图示 2"/>
          <p:cNvGraphicFramePr/>
          <p:nvPr>
            <p:extLst/>
          </p:nvPr>
        </p:nvGraphicFramePr>
        <p:xfrm>
          <a:off x="1205674" y="1182572"/>
          <a:ext cx="6741460" cy="251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402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数字签名进行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 Box 57"/>
              <p:cNvSpPr txBox="1">
                <a:spLocks noChangeArrowheads="1"/>
              </p:cNvSpPr>
              <p:nvPr/>
            </p:nvSpPr>
            <p:spPr bwMode="auto">
              <a:xfrm>
                <a:off x="2733541" y="2859848"/>
                <a:ext cx="1035925" cy="8627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密文 </a:t>
                </a:r>
                <a:r>
                  <a:rPr kumimoji="1" lang="en-US" altLang="zh-CN" sz="1600" b="1" i="1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 =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1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3541" y="2859848"/>
                <a:ext cx="1035925" cy="862737"/>
              </a:xfrm>
              <a:prstGeom prst="rect">
                <a:avLst/>
              </a:prstGeom>
              <a:blipFill>
                <a:blip r:embed="rId6"/>
                <a:stretch>
                  <a:fillRect l="-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084939" y="1229648"/>
            <a:ext cx="1717122" cy="1756768"/>
            <a:chOff x="6084939" y="1229648"/>
            <a:chExt cx="1717122" cy="1756768"/>
          </a:xfrm>
        </p:grpSpPr>
        <p:sp>
          <p:nvSpPr>
            <p:cNvPr id="76" name="Freeform 134"/>
            <p:cNvSpPr/>
            <p:nvPr/>
          </p:nvSpPr>
          <p:spPr bwMode="auto">
            <a:xfrm flipV="1">
              <a:off x="7065416" y="2270318"/>
              <a:ext cx="38570" cy="716098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Text Box 54"/>
            <p:cNvSpPr txBox="1">
              <a:spLocks noChangeArrowheads="1"/>
            </p:cNvSpPr>
            <p:nvPr/>
          </p:nvSpPr>
          <p:spPr bwMode="auto">
            <a:xfrm>
              <a:off x="6346213" y="1229648"/>
              <a:ext cx="145584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kern="0" dirty="0" smtClean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kumimoji="1" lang="zh-CN" altLang="en-US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 </a:t>
              </a:r>
              <a:r>
                <a:rPr kumimoji="1" lang="en-US" altLang="zh-CN" sz="16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600" b="1" i="1" u="none" strike="noStrike" kern="0" cap="none" spc="0" normalizeH="0" baseline="-25000" noProof="0" dirty="0" smtClean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pic>
          <p:nvPicPr>
            <p:cNvPr id="82" name="Picture 69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6726348" y="1768073"/>
              <a:ext cx="625735" cy="330247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88" name="Text Box 132"/>
            <p:cNvSpPr txBox="1">
              <a:spLocks noChangeArrowheads="1"/>
            </p:cNvSpPr>
            <p:nvPr/>
          </p:nvSpPr>
          <p:spPr bwMode="auto">
            <a:xfrm>
              <a:off x="6084939" y="2410065"/>
              <a:ext cx="10054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kern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核实签名</a:t>
              </a:r>
              <a:endPara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1522732" y="1229648"/>
            <a:ext cx="1444626" cy="1756768"/>
            <a:chOff x="1522732" y="1229648"/>
            <a:chExt cx="1444626" cy="1756768"/>
          </a:xfrm>
        </p:grpSpPr>
        <p:sp>
          <p:nvSpPr>
            <p:cNvPr id="75" name="Freeform 72"/>
            <p:cNvSpPr/>
            <p:nvPr/>
          </p:nvSpPr>
          <p:spPr bwMode="auto">
            <a:xfrm flipH="1" flipV="1">
              <a:off x="2142271" y="2270318"/>
              <a:ext cx="66964" cy="716098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 Box 54"/>
            <p:cNvSpPr txBox="1">
              <a:spLocks noChangeArrowheads="1"/>
            </p:cNvSpPr>
            <p:nvPr/>
          </p:nvSpPr>
          <p:spPr bwMode="auto">
            <a:xfrm>
              <a:off x="1522732" y="1229648"/>
              <a:ext cx="144462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kern="0" dirty="0" smtClean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kumimoji="1" lang="zh-CN" altLang="en-US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的私钥 </a:t>
              </a:r>
              <a:r>
                <a:rPr kumimoji="1" lang="en-US" altLang="zh-CN" sz="16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kumimoji="1" lang="en-US" altLang="zh-CN" sz="1600" b="1" i="1" u="none" strike="noStrike" kern="0" cap="none" spc="0" normalizeH="0" baseline="-25000" noProof="0" dirty="0" smtClean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0" name="Text Box 132"/>
            <p:cNvSpPr txBox="1">
              <a:spLocks noChangeArrowheads="1"/>
            </p:cNvSpPr>
            <p:nvPr/>
          </p:nvSpPr>
          <p:spPr bwMode="auto">
            <a:xfrm>
              <a:off x="1625785" y="2385079"/>
              <a:ext cx="59503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签名</a:t>
              </a:r>
              <a:endParaRPr kumimoji="1" lang="en-US" altLang="zh-CN" sz="1600" b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3" name="Picture 50"/>
            <p:cNvPicPr>
              <a:picLocks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885008" y="1750281"/>
              <a:ext cx="612499" cy="3451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016678" y="1112107"/>
                <a:ext cx="3857413" cy="1220847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zh-CN" altLang="en-US" sz="1400" b="1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鉴别发送者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1400" b="1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200"/>
                  </a:lnSpc>
                </a:pP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除 </a:t>
                </a:r>
                <a:r>
                  <a:rPr lang="en-US" altLang="zh-CN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</a:t>
                </a:r>
                <a:r>
                  <a:rPr lang="zh-CN" altLang="en-US" sz="1400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没有别人持有</a:t>
                </a:r>
                <a:r>
                  <a:rPr lang="en-US" altLang="zh-CN" sz="1400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1400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的私钥</a:t>
                </a:r>
                <a:r>
                  <a:rPr lang="en-US" altLang="zh-CN" sz="1400" b="1" i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SK</a:t>
                </a:r>
                <a:r>
                  <a:rPr lang="en-US" altLang="zh-CN" sz="1400" b="1" i="1" baseline="-25000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，所以没有别人能产生密文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𝐒𝐊</m:t>
                            </m:r>
                          </m:e>
                          <m:sub>
                            <m:r>
                              <a:rPr lang="en-US" altLang="zh-CN" sz="1400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14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𝑿</m:t>
                        </m:r>
                      </m:e>
                    </m:d>
                  </m:oMath>
                </a14:m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。这样，</a:t>
                </a:r>
                <a:r>
                  <a:rPr lang="en-US" altLang="zh-CN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400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确信报文 </a:t>
                </a:r>
                <a:r>
                  <a:rPr lang="en-US" altLang="zh-CN" sz="1400" b="1" i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</a:t>
                </a:r>
                <a:r>
                  <a:rPr lang="zh-CN" altLang="en-US" sz="1400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:r>
                  <a:rPr lang="en-US" altLang="zh-CN" sz="1400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1400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签名发送的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1400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鉴别了报文的发送者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400" b="1" dirty="0" smtClean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678" y="1112107"/>
                <a:ext cx="3857413" cy="1220847"/>
              </a:xfrm>
              <a:prstGeom prst="rect">
                <a:avLst/>
              </a:prstGeom>
              <a:blipFill>
                <a:blip r:embed="rId10"/>
                <a:stretch>
                  <a:fillRect l="-315" r="-1575" b="-1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Box 57"/>
              <p:cNvSpPr txBox="1">
                <a:spLocks noChangeArrowheads="1"/>
              </p:cNvSpPr>
              <p:nvPr/>
            </p:nvSpPr>
            <p:spPr bwMode="auto">
              <a:xfrm>
                <a:off x="5525090" y="2882612"/>
                <a:ext cx="1035925" cy="8627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密文 </a:t>
                </a:r>
                <a:r>
                  <a:rPr kumimoji="1" lang="en-US" altLang="zh-CN" sz="1600" b="1" i="1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 =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5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5090" y="2882612"/>
                <a:ext cx="1035925" cy="862737"/>
              </a:xfrm>
              <a:prstGeom prst="rect">
                <a:avLst/>
              </a:prstGeom>
              <a:blipFill>
                <a:blip r:embed="rId11"/>
                <a:stretch>
                  <a:fillRect l="-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4479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2" grpId="0" animBg="1"/>
      <p:bldP spid="9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数字签名进行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 smtClean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i="1" u="none" strike="noStrike" kern="0" cap="none" spc="0" normalizeH="0" baseline="-2500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 smtClean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i="1" u="none" strike="noStrike" kern="0" cap="none" spc="0" normalizeH="0" baseline="-2500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983207" y="1051300"/>
            <a:ext cx="3859855" cy="1374735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r>
              <a:rPr lang="zh-CN" altLang="en-US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报文：</a:t>
            </a:r>
            <a:endParaRPr lang="en-US" altLang="zh-CN" sz="14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000"/>
              </a:lnSpc>
            </a:pPr>
            <a:r>
              <a:rPr lang="zh-CN" altLang="en-US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由于攻击者无法得到并使用 </a:t>
            </a:r>
            <a:r>
              <a:rPr lang="en-US" altLang="zh-CN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 </a:t>
            </a:r>
            <a:r>
              <a:rPr lang="en-US" altLang="zh-CN" sz="1400" b="1" i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i="1" baseline="-25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对报文 </a:t>
            </a:r>
            <a:r>
              <a:rPr lang="en-US" altLang="zh-CN" sz="1400" b="1" i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，当报文被篡改后，</a:t>
            </a:r>
            <a:r>
              <a:rPr lang="en-US" altLang="zh-CN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收到的报文</a:t>
            </a:r>
            <a:r>
              <a:rPr lang="zh-CN" altLang="en-US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会得出不可读的</a:t>
            </a:r>
            <a:r>
              <a:rPr lang="zh-CN" altLang="en-US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明文，进而检测出报文篡改情况。</a:t>
            </a:r>
            <a:endParaRPr lang="en-US" altLang="zh-CN" sz="14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Box 57"/>
              <p:cNvSpPr txBox="1">
                <a:spLocks noChangeArrowheads="1"/>
              </p:cNvSpPr>
              <p:nvPr/>
            </p:nvSpPr>
            <p:spPr bwMode="auto">
              <a:xfrm>
                <a:off x="2733541" y="2859848"/>
                <a:ext cx="1035925" cy="8627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密文 </a:t>
                </a:r>
                <a:r>
                  <a:rPr kumimoji="1" lang="en-US" altLang="zh-CN" sz="1600" b="1" i="1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 =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5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3541" y="2859848"/>
                <a:ext cx="1035925" cy="862737"/>
              </a:xfrm>
              <a:prstGeom prst="rect">
                <a:avLst/>
              </a:prstGeom>
              <a:blipFill>
                <a:blip r:embed="rId8"/>
                <a:stretch>
                  <a:fillRect l="-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 Box 57"/>
              <p:cNvSpPr txBox="1">
                <a:spLocks noChangeArrowheads="1"/>
              </p:cNvSpPr>
              <p:nvPr/>
            </p:nvSpPr>
            <p:spPr bwMode="auto">
              <a:xfrm>
                <a:off x="5525090" y="2882612"/>
                <a:ext cx="1035925" cy="8627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密文 </a:t>
                </a:r>
                <a:r>
                  <a:rPr kumimoji="1" lang="en-US" altLang="zh-CN" sz="1600" b="1" i="1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 =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7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5090" y="2882612"/>
                <a:ext cx="1035925" cy="862737"/>
              </a:xfrm>
              <a:prstGeom prst="rect">
                <a:avLst/>
              </a:prstGeom>
              <a:blipFill>
                <a:blip r:embed="rId9"/>
                <a:stretch>
                  <a:fillRect l="-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57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数字签名进行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 smtClean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i="1" u="none" strike="noStrike" kern="0" cap="none" spc="0" normalizeH="0" baseline="-2500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 smtClean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i="1" u="none" strike="noStrike" kern="0" cap="none" spc="0" normalizeH="0" baseline="-2500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983207" y="1051300"/>
                <a:ext cx="3848269" cy="1118255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400" b="1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不可否认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1400" b="1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en-US" altLang="zh-CN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抵赖曾发送报文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 </a:t>
                </a:r>
                <a:r>
                  <a:rPr lang="en-US" altLang="zh-CN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可把 </a:t>
                </a:r>
                <a:r>
                  <a:rPr lang="en-US" altLang="zh-CN" sz="1400" b="1" i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sSub>
                          <m:sSubPr>
                            <m:ctrlPr>
                              <a:rPr lang="en-US" altLang="zh-CN" sz="1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𝐒𝐊</m:t>
                            </m:r>
                          </m:e>
                          <m:sub>
                            <m:r>
                              <a:rPr lang="en-US" altLang="zh-CN" sz="14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𝑿</m:t>
                        </m:r>
                      </m:e>
                    </m:d>
                  </m:oMath>
                </a14:m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出示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给进行公证的第三者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。第三者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很容易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 </a:t>
                </a:r>
                <a:r>
                  <a:rPr lang="en-US" altLang="zh-CN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</a:t>
                </a:r>
                <a:r>
                  <a:rPr lang="en-US" altLang="zh-CN" sz="1400" b="1" baseline="-25000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去证实 </a:t>
                </a:r>
                <a:r>
                  <a:rPr lang="en-US" altLang="zh-CN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确实发送 </a:t>
                </a:r>
                <a:r>
                  <a:rPr lang="en-US" altLang="zh-CN" sz="1400" b="1" i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  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 </a:t>
                </a:r>
                <a:r>
                  <a:rPr lang="en-US" altLang="zh-CN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400" b="1" dirty="0" smtClean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400" b="1" dirty="0" smtClean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207" y="1051300"/>
                <a:ext cx="3848269" cy="1118255"/>
              </a:xfrm>
              <a:prstGeom prst="rect">
                <a:avLst/>
              </a:prstGeom>
              <a:blipFill>
                <a:blip r:embed="rId8"/>
                <a:stretch>
                  <a:fillRect l="-315" b="-21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Box 57"/>
              <p:cNvSpPr txBox="1">
                <a:spLocks noChangeArrowheads="1"/>
              </p:cNvSpPr>
              <p:nvPr/>
            </p:nvSpPr>
            <p:spPr bwMode="auto">
              <a:xfrm>
                <a:off x="2733541" y="2859848"/>
                <a:ext cx="1035925" cy="8627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密文 </a:t>
                </a:r>
                <a:r>
                  <a:rPr kumimoji="1" lang="en-US" altLang="zh-CN" sz="1600" b="1" i="1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 =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5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3541" y="2859848"/>
                <a:ext cx="1035925" cy="862737"/>
              </a:xfrm>
              <a:prstGeom prst="rect">
                <a:avLst/>
              </a:prstGeom>
              <a:blipFill>
                <a:blip r:embed="rId9"/>
                <a:stretch>
                  <a:fillRect l="-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 Box 57"/>
              <p:cNvSpPr txBox="1">
                <a:spLocks noChangeArrowheads="1"/>
              </p:cNvSpPr>
              <p:nvPr/>
            </p:nvSpPr>
            <p:spPr bwMode="auto">
              <a:xfrm>
                <a:off x="5525090" y="2882612"/>
                <a:ext cx="1035925" cy="8627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密文 </a:t>
                </a:r>
                <a:r>
                  <a:rPr kumimoji="1" lang="en-US" altLang="zh-CN" sz="1600" b="1" i="1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 =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7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5090" y="2882612"/>
                <a:ext cx="1035925" cy="862737"/>
              </a:xfrm>
              <a:prstGeom prst="rect">
                <a:avLst/>
              </a:prstGeom>
              <a:blipFill>
                <a:blip r:embed="rId10"/>
                <a:stretch>
                  <a:fillRect l="-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36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数字签名进行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 smtClean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i="1" u="none" strike="noStrike" kern="0" cap="none" spc="0" normalizeH="0" baseline="-25000" noProof="0" dirty="0" smtClean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 smtClean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A30A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rgbClr val="CA30A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i="1" u="none" strike="noStrike" kern="0" cap="none" spc="0" normalizeH="0" baseline="-25000" noProof="0" dirty="0" smtClean="0">
                <a:ln>
                  <a:noFill/>
                </a:ln>
                <a:solidFill>
                  <a:srgbClr val="CA30A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983208" y="1051300"/>
            <a:ext cx="3566170" cy="122084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的三个功能：</a:t>
            </a:r>
          </a:p>
          <a:p>
            <a:pPr marL="268288" indent="-268288">
              <a:lnSpc>
                <a:spcPts val="22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实体鉴别：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证明来源。</a:t>
            </a:r>
            <a:endParaRPr lang="en-US" altLang="zh-CN" sz="1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8288" indent="-268288">
              <a:lnSpc>
                <a:spcPts val="2200"/>
              </a:lnSpc>
              <a:buFont typeface="+mj-lt"/>
              <a:buAutoNum type="arabicPeriod"/>
            </a:pPr>
            <a:r>
              <a:rPr lang="zh-CN" altLang="en-US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报文完整性鉴别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防篡改，保证完整性。</a:t>
            </a:r>
          </a:p>
          <a:p>
            <a:pPr marL="268288" indent="-268288">
              <a:lnSpc>
                <a:spcPts val="22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不可否认：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防抵赖</a:t>
            </a:r>
            <a:r>
              <a:rPr lang="zh-CN" altLang="en-US" sz="14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75753" y="4224395"/>
            <a:ext cx="480416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关键：没有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其他人能够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持有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钥 </a:t>
            </a:r>
            <a:r>
              <a:rPr lang="en-US" altLang="zh-CN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i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4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Box 57"/>
              <p:cNvSpPr txBox="1">
                <a:spLocks noChangeArrowheads="1"/>
              </p:cNvSpPr>
              <p:nvPr/>
            </p:nvSpPr>
            <p:spPr bwMode="auto">
              <a:xfrm>
                <a:off x="2733541" y="2859848"/>
                <a:ext cx="1035925" cy="8627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密文 </a:t>
                </a:r>
                <a:r>
                  <a:rPr kumimoji="1" lang="en-US" altLang="zh-CN" sz="1600" b="1" i="1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 =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5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3541" y="2859848"/>
                <a:ext cx="1035925" cy="862737"/>
              </a:xfrm>
              <a:prstGeom prst="rect">
                <a:avLst/>
              </a:prstGeom>
              <a:blipFill>
                <a:blip r:embed="rId8"/>
                <a:stretch>
                  <a:fillRect l="-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 Box 57"/>
              <p:cNvSpPr txBox="1">
                <a:spLocks noChangeArrowheads="1"/>
              </p:cNvSpPr>
              <p:nvPr/>
            </p:nvSpPr>
            <p:spPr bwMode="auto">
              <a:xfrm>
                <a:off x="5525090" y="2882612"/>
                <a:ext cx="1035925" cy="8627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密文 </a:t>
                </a:r>
                <a:r>
                  <a:rPr kumimoji="1" lang="en-US" altLang="zh-CN" sz="1600" b="1" i="1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 =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7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5090" y="2882612"/>
                <a:ext cx="1035925" cy="862737"/>
              </a:xfrm>
              <a:prstGeom prst="rect">
                <a:avLst/>
              </a:prstGeom>
              <a:blipFill>
                <a:blip r:embed="rId9"/>
                <a:stretch>
                  <a:fillRect l="-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26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071006" y="588442"/>
            <a:ext cx="30059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可保证机密性的数字签名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283306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6" name="Group 107"/>
          <p:cNvGrpSpPr/>
          <p:nvPr/>
        </p:nvGrpSpPr>
        <p:grpSpPr bwMode="auto">
          <a:xfrm>
            <a:off x="3664453" y="1878030"/>
            <a:ext cx="1945424" cy="1033091"/>
            <a:chOff x="2248" y="820"/>
            <a:chExt cx="2248" cy="883"/>
          </a:xfrm>
        </p:grpSpPr>
        <p:grpSp>
          <p:nvGrpSpPr>
            <p:cNvPr id="97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27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32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42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44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48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52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3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4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5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6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49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0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1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45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6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7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43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33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36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7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8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9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0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1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34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5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8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12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23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5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6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3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15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6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7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0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4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0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63" name="Rectangle 38"/>
          <p:cNvSpPr>
            <a:spLocks noChangeArrowheads="1"/>
          </p:cNvSpPr>
          <p:nvPr/>
        </p:nvSpPr>
        <p:spPr bwMode="auto">
          <a:xfrm>
            <a:off x="2888296" y="2274205"/>
            <a:ext cx="705990" cy="457413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64" name="Line 39"/>
          <p:cNvSpPr>
            <a:spLocks noChangeShapeType="1"/>
          </p:cNvSpPr>
          <p:nvPr/>
        </p:nvSpPr>
        <p:spPr bwMode="auto">
          <a:xfrm>
            <a:off x="2137480" y="2501661"/>
            <a:ext cx="75683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Rectangle 40"/>
          <p:cNvSpPr>
            <a:spLocks noChangeArrowheads="1"/>
          </p:cNvSpPr>
          <p:nvPr/>
        </p:nvSpPr>
        <p:spPr bwMode="auto">
          <a:xfrm>
            <a:off x="1442714" y="2280454"/>
            <a:ext cx="705990" cy="457413"/>
          </a:xfrm>
          <a:prstGeom prst="rect">
            <a:avLst/>
          </a:prstGeom>
          <a:solidFill>
            <a:srgbClr val="0000FF"/>
          </a:solidFill>
          <a:ln w="12700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66" name="Text Box 41"/>
          <p:cNvSpPr txBox="1">
            <a:spLocks noChangeArrowheads="1"/>
          </p:cNvSpPr>
          <p:nvPr/>
        </p:nvSpPr>
        <p:spPr bwMode="auto">
          <a:xfrm>
            <a:off x="575461" y="2501662"/>
            <a:ext cx="7216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67" name="Text Box 42"/>
          <p:cNvSpPr txBox="1">
            <a:spLocks noChangeArrowheads="1"/>
          </p:cNvSpPr>
          <p:nvPr/>
        </p:nvSpPr>
        <p:spPr bwMode="auto">
          <a:xfrm>
            <a:off x="7769962" y="2501662"/>
            <a:ext cx="7745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69" name="Text Box 44"/>
          <p:cNvSpPr txBox="1">
            <a:spLocks noChangeArrowheads="1"/>
          </p:cNvSpPr>
          <p:nvPr/>
        </p:nvSpPr>
        <p:spPr bwMode="auto">
          <a:xfrm>
            <a:off x="766362" y="1645574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70" name="Text Box 45"/>
          <p:cNvSpPr txBox="1">
            <a:spLocks noChangeArrowheads="1"/>
          </p:cNvSpPr>
          <p:nvPr/>
        </p:nvSpPr>
        <p:spPr bwMode="auto">
          <a:xfrm>
            <a:off x="7875358" y="1650573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74" name="Freeform 51"/>
          <p:cNvSpPr/>
          <p:nvPr/>
        </p:nvSpPr>
        <p:spPr bwMode="auto">
          <a:xfrm rot="16200000">
            <a:off x="7759862" y="2086689"/>
            <a:ext cx="177466" cy="667477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Freeform 52"/>
          <p:cNvSpPr/>
          <p:nvPr/>
        </p:nvSpPr>
        <p:spPr bwMode="auto">
          <a:xfrm>
            <a:off x="955909" y="2220464"/>
            <a:ext cx="492823" cy="28994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Text Box 107"/>
          <p:cNvSpPr txBox="1">
            <a:spLocks noChangeArrowheads="1"/>
          </p:cNvSpPr>
          <p:nvPr/>
        </p:nvSpPr>
        <p:spPr bwMode="auto">
          <a:xfrm>
            <a:off x="4184196" y="1530595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</a:t>
            </a:r>
            <a:r>
              <a:rPr kumimoji="1"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Rectangle 110"/>
          <p:cNvSpPr>
            <a:spLocks noChangeArrowheads="1"/>
          </p:cNvSpPr>
          <p:nvPr/>
        </p:nvSpPr>
        <p:spPr bwMode="auto">
          <a:xfrm>
            <a:off x="7098965" y="2274205"/>
            <a:ext cx="705990" cy="457413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80" name="Rectangle 115"/>
          <p:cNvSpPr>
            <a:spLocks noChangeArrowheads="1"/>
          </p:cNvSpPr>
          <p:nvPr/>
        </p:nvSpPr>
        <p:spPr bwMode="auto">
          <a:xfrm>
            <a:off x="5655688" y="2274205"/>
            <a:ext cx="705990" cy="457413"/>
          </a:xfrm>
          <a:prstGeom prst="rect">
            <a:avLst/>
          </a:prstGeom>
          <a:solidFill>
            <a:srgbClr val="0000FF"/>
          </a:solidFill>
          <a:ln w="12700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81" name="Line 116"/>
          <p:cNvSpPr>
            <a:spLocks noChangeShapeType="1"/>
          </p:cNvSpPr>
          <p:nvPr/>
        </p:nvSpPr>
        <p:spPr bwMode="auto">
          <a:xfrm>
            <a:off x="6361678" y="2500459"/>
            <a:ext cx="737287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894315" y="2950659"/>
            <a:ext cx="3348219" cy="338554"/>
            <a:chOff x="2894315" y="2950659"/>
            <a:chExt cx="3348219" cy="338554"/>
          </a:xfrm>
        </p:grpSpPr>
        <p:sp>
          <p:nvSpPr>
            <p:cNvPr id="184" name="Line 119"/>
            <p:cNvSpPr>
              <a:spLocks noChangeShapeType="1"/>
            </p:cNvSpPr>
            <p:nvPr/>
          </p:nvSpPr>
          <p:spPr bwMode="auto">
            <a:xfrm>
              <a:off x="2894315" y="3140622"/>
              <a:ext cx="33482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Text Box 120"/>
            <p:cNvSpPr txBox="1">
              <a:spLocks noChangeArrowheads="1"/>
            </p:cNvSpPr>
            <p:nvPr/>
          </p:nvSpPr>
          <p:spPr bwMode="auto">
            <a:xfrm>
              <a:off x="3969807" y="2950659"/>
              <a:ext cx="1210588" cy="338554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zh-CN" altLang="en-US" sz="1600" dirty="0"/>
                <a:t>加密与解密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507108" y="3301814"/>
            <a:ext cx="6262854" cy="338554"/>
            <a:chOff x="1507108" y="3301814"/>
            <a:chExt cx="6262854" cy="338554"/>
          </a:xfrm>
        </p:grpSpPr>
        <p:sp>
          <p:nvSpPr>
            <p:cNvPr id="186" name="Line 121"/>
            <p:cNvSpPr>
              <a:spLocks noChangeShapeType="1"/>
            </p:cNvSpPr>
            <p:nvPr/>
          </p:nvSpPr>
          <p:spPr bwMode="auto">
            <a:xfrm>
              <a:off x="1507108" y="3471781"/>
              <a:ext cx="62628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Text Box 122"/>
            <p:cNvSpPr txBox="1">
              <a:spLocks noChangeArrowheads="1"/>
            </p:cNvSpPr>
            <p:nvPr/>
          </p:nvSpPr>
          <p:spPr bwMode="auto">
            <a:xfrm>
              <a:off x="3813224" y="3301814"/>
              <a:ext cx="1620957" cy="338554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zh-CN" altLang="en-US" sz="1600" dirty="0"/>
                <a:t>签名与核实签名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508013" y="1129256"/>
            <a:ext cx="1433406" cy="1172443"/>
            <a:chOff x="2508013" y="1129256"/>
            <a:chExt cx="1433406" cy="1172443"/>
          </a:xfrm>
        </p:grpSpPr>
        <p:pic>
          <p:nvPicPr>
            <p:cNvPr id="94" name="Picture 3" descr="C:\Users\Administrator\Desktop\图片1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65330" y="1470706"/>
              <a:ext cx="352055" cy="348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1" name="Text Box 128"/>
            <p:cNvSpPr txBox="1">
              <a:spLocks noChangeArrowheads="1"/>
            </p:cNvSpPr>
            <p:nvPr/>
          </p:nvSpPr>
          <p:spPr bwMode="auto">
            <a:xfrm>
              <a:off x="2632644" y="1878030"/>
              <a:ext cx="5966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 </a:t>
              </a:r>
            </a:p>
          </p:txBody>
        </p:sp>
        <p:sp>
          <p:nvSpPr>
            <p:cNvPr id="182" name="Freeform 117"/>
            <p:cNvSpPr/>
            <p:nvPr/>
          </p:nvSpPr>
          <p:spPr bwMode="auto">
            <a:xfrm>
              <a:off x="3159682" y="1841786"/>
              <a:ext cx="8124" cy="459913"/>
            </a:xfrm>
            <a:custGeom>
              <a:avLst/>
              <a:gdLst>
                <a:gd name="T0" fmla="*/ 0 w 6"/>
                <a:gd name="T1" fmla="*/ 0 h 368"/>
                <a:gd name="T2" fmla="*/ 6 w 6"/>
                <a:gd name="T3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368">
                  <a:moveTo>
                    <a:pt x="0" y="0"/>
                  </a:moveTo>
                  <a:lnTo>
                    <a:pt x="6" y="368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Text Box 126"/>
            <p:cNvSpPr txBox="1">
              <a:spLocks noChangeArrowheads="1"/>
            </p:cNvSpPr>
            <p:nvPr/>
          </p:nvSpPr>
          <p:spPr bwMode="auto">
            <a:xfrm>
              <a:off x="2508013" y="1129256"/>
              <a:ext cx="1433406" cy="344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kumimoji="1" lang="en-US" altLang="zh-CN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kumimoji="1"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 </a:t>
              </a:r>
              <a:r>
                <a:rPr kumimoji="1" lang="en-US" altLang="zh-CN" sz="1600" b="1" i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600" b="1" i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511413" y="1129256"/>
            <a:ext cx="1647527" cy="1144949"/>
            <a:chOff x="6511413" y="1129256"/>
            <a:chExt cx="1647527" cy="1144949"/>
          </a:xfrm>
        </p:grpSpPr>
        <p:sp>
          <p:nvSpPr>
            <p:cNvPr id="159" name="Text Box 109"/>
            <p:cNvSpPr txBox="1">
              <a:spLocks noChangeArrowheads="1"/>
            </p:cNvSpPr>
            <p:nvPr/>
          </p:nvSpPr>
          <p:spPr bwMode="auto">
            <a:xfrm>
              <a:off x="6511413" y="1876780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核实签名</a:t>
              </a:r>
            </a:p>
          </p:txBody>
        </p:sp>
        <p:pic>
          <p:nvPicPr>
            <p:cNvPr id="168" name="Picture 43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217253" y="1538928"/>
              <a:ext cx="322439" cy="173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73" name="Freeform 49"/>
            <p:cNvSpPr/>
            <p:nvPr/>
          </p:nvSpPr>
          <p:spPr bwMode="auto">
            <a:xfrm>
              <a:off x="7390658" y="1801795"/>
              <a:ext cx="10831" cy="472410"/>
            </a:xfrm>
            <a:custGeom>
              <a:avLst/>
              <a:gdLst>
                <a:gd name="T0" fmla="*/ 0 w 8"/>
                <a:gd name="T1" fmla="*/ 0 h 378"/>
                <a:gd name="T2" fmla="*/ 8 w 8"/>
                <a:gd name="T3" fmla="*/ 378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378">
                  <a:moveTo>
                    <a:pt x="0" y="0"/>
                  </a:moveTo>
                  <a:lnTo>
                    <a:pt x="8" y="378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Text Box 127"/>
            <p:cNvSpPr txBox="1">
              <a:spLocks noChangeArrowheads="1"/>
            </p:cNvSpPr>
            <p:nvPr/>
          </p:nvSpPr>
          <p:spPr bwMode="auto">
            <a:xfrm>
              <a:off x="6703092" y="1129256"/>
              <a:ext cx="1455848" cy="362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zh-CN" sz="1600" b="1" dirty="0">
                  <a:solidFill>
                    <a:srgbClr val="CA3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kumimoji="1" lang="zh-CN" altLang="en-US" sz="1600" b="1" dirty="0">
                  <a:solidFill>
                    <a:srgbClr val="CA3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 </a:t>
              </a:r>
              <a:r>
                <a:rPr kumimoji="1" lang="en-US" altLang="zh-CN" sz="1600" b="1" i="1" dirty="0">
                  <a:solidFill>
                    <a:srgbClr val="CA3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600" b="1" i="1" baseline="-25000" dirty="0">
                  <a:solidFill>
                    <a:srgbClr val="CA3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sp>
        <p:nvSpPr>
          <p:cNvPr id="191" name="Text Box 130"/>
          <p:cNvSpPr txBox="1">
            <a:spLocks noChangeArrowheads="1"/>
          </p:cNvSpPr>
          <p:nvPr/>
        </p:nvSpPr>
        <p:spPr bwMode="auto">
          <a:xfrm>
            <a:off x="4347061" y="195995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密文</a:t>
            </a:r>
            <a:endParaRPr kumimoji="1" lang="zh-CN" altLang="en-US" sz="14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2" name="Picture 200" descr="jisuanji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02" y="1921487"/>
            <a:ext cx="404225" cy="4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Picture 200" descr="jisuanji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332" y="1924854"/>
            <a:ext cx="404225" cy="4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" name="Line 114"/>
          <p:cNvSpPr>
            <a:spLocks noChangeShapeType="1"/>
          </p:cNvSpPr>
          <p:nvPr/>
        </p:nvSpPr>
        <p:spPr bwMode="auto">
          <a:xfrm>
            <a:off x="3594285" y="2501661"/>
            <a:ext cx="2079606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73261" y="1129256"/>
            <a:ext cx="1444626" cy="1158696"/>
            <a:chOff x="1073261" y="1129256"/>
            <a:chExt cx="1444626" cy="1158696"/>
          </a:xfrm>
        </p:grpSpPr>
        <p:sp>
          <p:nvSpPr>
            <p:cNvPr id="162" name="Text Box 108"/>
            <p:cNvSpPr txBox="1">
              <a:spLocks noChangeArrowheads="1"/>
            </p:cNvSpPr>
            <p:nvPr/>
          </p:nvSpPr>
          <p:spPr bwMode="auto">
            <a:xfrm>
              <a:off x="1207736" y="1878030"/>
              <a:ext cx="5966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签名 </a:t>
              </a:r>
            </a:p>
          </p:txBody>
        </p:sp>
        <p:sp>
          <p:nvSpPr>
            <p:cNvPr id="171" name="Text Box 47"/>
            <p:cNvSpPr txBox="1">
              <a:spLocks noChangeArrowheads="1"/>
            </p:cNvSpPr>
            <p:nvPr/>
          </p:nvSpPr>
          <p:spPr bwMode="auto">
            <a:xfrm>
              <a:off x="1073261" y="1129256"/>
              <a:ext cx="1444626" cy="362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zh-CN" sz="1600" b="1" dirty="0">
                  <a:solidFill>
                    <a:srgbClr val="CA3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kumimoji="1" lang="zh-CN" altLang="en-US" sz="1600" b="1" dirty="0">
                  <a:solidFill>
                    <a:srgbClr val="CA3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的私钥 </a:t>
              </a:r>
              <a:r>
                <a:rPr kumimoji="1" lang="en-US" altLang="zh-CN" sz="1600" b="1" i="1" dirty="0">
                  <a:solidFill>
                    <a:srgbClr val="CA3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kumimoji="1" lang="en-US" altLang="zh-CN" sz="1600" b="1" i="1" baseline="-25000" dirty="0">
                  <a:solidFill>
                    <a:srgbClr val="CA3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72" name="Freeform 48"/>
            <p:cNvSpPr/>
            <p:nvPr/>
          </p:nvSpPr>
          <p:spPr bwMode="auto">
            <a:xfrm>
              <a:off x="1733053" y="1801795"/>
              <a:ext cx="2708" cy="486157"/>
            </a:xfrm>
            <a:custGeom>
              <a:avLst/>
              <a:gdLst>
                <a:gd name="T0" fmla="*/ 0 w 2"/>
                <a:gd name="T1" fmla="*/ 0 h 389"/>
                <a:gd name="T2" fmla="*/ 2 w 2"/>
                <a:gd name="T3" fmla="*/ 389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389">
                  <a:moveTo>
                    <a:pt x="0" y="0"/>
                  </a:moveTo>
                  <a:lnTo>
                    <a:pt x="2" y="38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95" name="Picture 50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54425" y="1531281"/>
              <a:ext cx="319674" cy="1802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组合 7"/>
          <p:cNvGrpSpPr/>
          <p:nvPr/>
        </p:nvGrpSpPr>
        <p:grpSpPr>
          <a:xfrm>
            <a:off x="5160323" y="1129256"/>
            <a:ext cx="1422184" cy="1158696"/>
            <a:chOff x="5160323" y="1129256"/>
            <a:chExt cx="1422184" cy="1158696"/>
          </a:xfrm>
        </p:grpSpPr>
        <p:sp>
          <p:nvSpPr>
            <p:cNvPr id="160" name="Text Box 129"/>
            <p:cNvSpPr txBox="1">
              <a:spLocks noChangeArrowheads="1"/>
            </p:cNvSpPr>
            <p:nvPr/>
          </p:nvSpPr>
          <p:spPr bwMode="auto">
            <a:xfrm>
              <a:off x="5410867" y="1878030"/>
              <a:ext cx="5966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解密 </a:t>
              </a:r>
            </a:p>
          </p:txBody>
        </p:sp>
        <p:sp>
          <p:nvSpPr>
            <p:cNvPr id="179" name="Text Box 113"/>
            <p:cNvSpPr txBox="1">
              <a:spLocks noChangeArrowheads="1"/>
            </p:cNvSpPr>
            <p:nvPr/>
          </p:nvSpPr>
          <p:spPr bwMode="auto">
            <a:xfrm>
              <a:off x="5160323" y="1129256"/>
              <a:ext cx="1422184" cy="344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kumimoji="1" lang="en-US" altLang="zh-CN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kumimoji="1"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的私钥 </a:t>
              </a:r>
              <a:r>
                <a:rPr kumimoji="1" lang="en-US" altLang="zh-CN" sz="1600" b="1" i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kumimoji="1" lang="en-US" altLang="zh-CN" sz="1600" b="1" i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183" name="Freeform 118"/>
            <p:cNvSpPr/>
            <p:nvPr/>
          </p:nvSpPr>
          <p:spPr bwMode="auto">
            <a:xfrm>
              <a:off x="5923012" y="1801795"/>
              <a:ext cx="2708" cy="486157"/>
            </a:xfrm>
            <a:custGeom>
              <a:avLst/>
              <a:gdLst>
                <a:gd name="T0" fmla="*/ 0 w 2"/>
                <a:gd name="T1" fmla="*/ 0 h 389"/>
                <a:gd name="T2" fmla="*/ 2 w 2"/>
                <a:gd name="T3" fmla="*/ 389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389">
                  <a:moveTo>
                    <a:pt x="0" y="0"/>
                  </a:moveTo>
                  <a:lnTo>
                    <a:pt x="2" y="38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732093" y="1461555"/>
              <a:ext cx="352055" cy="357633"/>
              <a:chOff x="5732093" y="1694638"/>
              <a:chExt cx="352055" cy="357633"/>
            </a:xfrm>
          </p:grpSpPr>
          <p:pic>
            <p:nvPicPr>
              <p:cNvPr id="197" name="Picture 3" descr="C:\Users\Administrator\Desktop\图片1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732093" y="1703789"/>
                <a:ext cx="352055" cy="348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8" name="矩形 197"/>
              <p:cNvSpPr/>
              <p:nvPr/>
            </p:nvSpPr>
            <p:spPr>
              <a:xfrm>
                <a:off x="5783979" y="1694638"/>
                <a:ext cx="246379" cy="340240"/>
              </a:xfrm>
              <a:prstGeom prst="rect">
                <a:avLst/>
              </a:prstGeom>
              <a:noFill/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" name="矩形 6"/>
          <p:cNvSpPr/>
          <p:nvPr/>
        </p:nvSpPr>
        <p:spPr>
          <a:xfrm>
            <a:off x="891541" y="3849558"/>
            <a:ext cx="7329094" cy="724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SzPct val="90000"/>
              <a:buFont typeface="Wingdings" panose="05000000000000000000" pitchFamily="2" charset="2"/>
              <a:buChar char="l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先后进行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 </a:t>
            </a:r>
            <a:r>
              <a:rPr lang="en-US" altLang="zh-CN" sz="1600" b="1" i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 </a:t>
            </a:r>
            <a:r>
              <a:rPr lang="en-US" altLang="zh-CN" sz="1600" b="1" i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，运算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量太大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，花费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非常多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时间。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600"/>
              </a:lnSpc>
              <a:buSzPct val="90000"/>
              <a:buFont typeface="Wingdings" panose="05000000000000000000" pitchFamily="2" charset="2"/>
              <a:buChar char="l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数字签名必须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使用公钥密码，但一定要设法减小公钥密码算法的开销。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100418" y="2194758"/>
                <a:ext cx="898323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418" y="2194758"/>
                <a:ext cx="898323" cy="3262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/>
              <p:cNvSpPr/>
              <p:nvPr/>
            </p:nvSpPr>
            <p:spPr>
              <a:xfrm>
                <a:off x="6314573" y="2194758"/>
                <a:ext cx="898323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矩形 1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573" y="2194758"/>
                <a:ext cx="898323" cy="3262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矩形 195"/>
              <p:cNvSpPr/>
              <p:nvPr/>
            </p:nvSpPr>
            <p:spPr>
              <a:xfrm>
                <a:off x="3935325" y="2202084"/>
                <a:ext cx="1393330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sz="1400" b="1" i="0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𝐏𝐊</m:t>
                          </m:r>
                          <m:r>
                            <a:rPr lang="en-US" altLang="zh-CN" sz="1400" b="1" i="0" baseline="-4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4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6" name="矩形 1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325" y="2202084"/>
                <a:ext cx="1393330" cy="326243"/>
              </a:xfrm>
              <a:prstGeom prst="rect">
                <a:avLst/>
              </a:prstGeom>
              <a:blipFill>
                <a:blip r:embed="rId12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556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83139"/>
            <a:ext cx="8207807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直接使用公钥机制对原始报文进行鉴别的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计算成本太高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考虑为每个报文生成一个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长度固定，且便于计算的指纹特征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能够代表原始报文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一旦原始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报文发生变化，指纹也应该发生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哈希函数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计算机领域中广泛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使用，具有计算复杂度低等优点。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对于报文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，利用哈希函数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计算得到一个固定长度的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消息摘要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H(X)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一旦原始报文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被篡改，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H(X)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也会发生变化。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712208" y="588442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密码哈希函数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76711DE-5BCA-8145-BDA5-E821E6B7FBF9}"/>
              </a:ext>
            </a:extLst>
          </p:cNvPr>
          <p:cNvGrpSpPr/>
          <p:nvPr/>
        </p:nvGrpSpPr>
        <p:grpSpPr>
          <a:xfrm>
            <a:off x="2654159" y="3857447"/>
            <a:ext cx="4575174" cy="1008822"/>
            <a:chOff x="6463887" y="636104"/>
            <a:chExt cx="4575174" cy="1008822"/>
          </a:xfrm>
        </p:grpSpPr>
        <p:grpSp>
          <p:nvGrpSpPr>
            <p:cNvPr id="9" name="Group 3">
              <a:extLst>
                <a:ext uri="{FF2B5EF4-FFF2-40B4-BE49-F238E27FC236}">
                  <a16:creationId xmlns:a16="http://schemas.microsoft.com/office/drawing/2014/main" id="{8EDFE7CF-2327-6543-8885-7E6CEA2AE74D}"/>
                </a:ext>
              </a:extLst>
            </p:cNvPr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15" name="Picture 15">
                <a:extLst>
                  <a:ext uri="{FF2B5EF4-FFF2-40B4-BE49-F238E27FC236}">
                    <a16:creationId xmlns:a16="http://schemas.microsoft.com/office/drawing/2014/main" id="{8F172699-9F33-624E-8D39-A7D9A08A6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</p:spPr>
          </p:pic>
          <p:sp>
            <p:nvSpPr>
              <p:cNvPr id="16" name="Text Box 7">
                <a:extLst>
                  <a:ext uri="{FF2B5EF4-FFF2-40B4-BE49-F238E27FC236}">
                    <a16:creationId xmlns:a16="http://schemas.microsoft.com/office/drawing/2014/main" id="{486B9566-CED3-D045-B265-EC988F3660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147" y="4139580"/>
                <a:ext cx="1343025" cy="7997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charset="0"/>
                  </a:rPr>
                  <a:t>原始</a:t>
                </a:r>
                <a:endParaRPr lang="en-US" altLang="zh-CN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charset="0"/>
                  </a:rPr>
                  <a:t>报文</a:t>
                </a:r>
                <a:r>
                  <a:rPr lang="en-US" altLang="zh-CN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charset="0"/>
                  </a:rPr>
                  <a:t>X</a:t>
                </a:r>
                <a:endParaRPr 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charset="0"/>
                </a:endParaRPr>
              </a:p>
            </p:txBody>
          </p:sp>
        </p:grp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5199ACEC-B6E5-AA4B-809E-E39426DE3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0D215AFC-9F10-E34D-9606-16C9F04FD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0926" y="802999"/>
              <a:ext cx="90762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charset="0"/>
                </a:rPr>
                <a:t>哈希</a:t>
              </a:r>
              <a:endPara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endParaRPr>
            </a:p>
            <a:p>
              <a:pPr algn="ctr">
                <a:defRPr/>
              </a:pPr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charset="0"/>
                </a:rPr>
                <a:t>函数</a:t>
              </a:r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charset="0"/>
                </a:rPr>
                <a:t>H</a:t>
              </a:r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4352C06B-013A-3C40-A71C-475F92FB7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2390" y="116177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40C2249D-AF39-5D43-890D-EB074882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2180" y="993141"/>
              <a:ext cx="116688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charset="0"/>
                </a:rPr>
                <a:t>H(m)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9AD0E0FC-0316-CA4F-8777-C03580EC3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18790" y="119490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7555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83139"/>
            <a:ext cx="8207807" cy="3007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符合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密码学要求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又常称为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cryptographic hash function)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密码哈希函数 </a:t>
            </a:r>
            <a:r>
              <a:rPr lang="en-US" altLang="zh-CN" sz="20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H(X)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以下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五个特点：</a:t>
            </a: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28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值的长度是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与输入长度无关的固定值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，且相对较短。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28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单向函数，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不能逆向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变换，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不可逆性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，又称为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抗原像性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28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难以找到产生相同哈希值的不同原始报文，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抗第二原像性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28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很强的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抗碰撞性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，避免不同的输入产生相同的输出。</a:t>
            </a:r>
          </a:p>
          <a:p>
            <a:pPr marL="715963" lvl="1" indent="-341313" eaLnBrk="0" hangingPunct="0">
              <a:lnSpc>
                <a:spcPts val="28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雪崩效应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，仅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改动输入的一个比特，输出也会相差极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712208" y="588442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密码哈希函数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791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504633" y="61910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622624" y="581976"/>
            <a:ext cx="55819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是一种单向函数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(one-way function)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09474" y="974215"/>
            <a:ext cx="8129015" cy="302404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 rot="10800000">
            <a:off x="2718455" y="2400484"/>
            <a:ext cx="3976798" cy="144369"/>
          </a:xfrm>
          <a:prstGeom prst="rightArrow">
            <a:avLst>
              <a:gd name="adj1" fmla="val 50000"/>
              <a:gd name="adj2" fmla="val 119191"/>
            </a:avLst>
          </a:prstGeom>
          <a:solidFill>
            <a:srgbClr val="0000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669591" y="1924296"/>
            <a:ext cx="3944978" cy="318149"/>
            <a:chOff x="2669591" y="1924296"/>
            <a:chExt cx="3944978" cy="318149"/>
          </a:xfrm>
        </p:grpSpPr>
        <p:sp>
          <p:nvSpPr>
            <p:cNvPr id="26" name="右箭头 25"/>
            <p:cNvSpPr/>
            <p:nvPr/>
          </p:nvSpPr>
          <p:spPr>
            <a:xfrm>
              <a:off x="2669591" y="2013373"/>
              <a:ext cx="1074978" cy="132592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右箭头 26"/>
            <p:cNvSpPr/>
            <p:nvPr/>
          </p:nvSpPr>
          <p:spPr>
            <a:xfrm>
              <a:off x="5434700" y="2027449"/>
              <a:ext cx="1179869" cy="135628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66444" y="1924296"/>
              <a:ext cx="1807636" cy="318149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哈希函数运算 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522677" y="1954062"/>
            <a:ext cx="2467222" cy="1241717"/>
            <a:chOff x="3522677" y="1954062"/>
            <a:chExt cx="2467222" cy="1241717"/>
          </a:xfrm>
        </p:grpSpPr>
        <p:sp>
          <p:nvSpPr>
            <p:cNvPr id="33" name="TextBox 15"/>
            <p:cNvSpPr txBox="1"/>
            <p:nvPr/>
          </p:nvSpPr>
          <p:spPr>
            <a:xfrm>
              <a:off x="3522677" y="2611004"/>
              <a:ext cx="24672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从哈希值找出输入报文 </a:t>
              </a:r>
              <a:r>
                <a:rPr lang="en-US" altLang="zh-CN" sz="16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X 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的逆向变换是不可能的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34" name="TextBox 18"/>
            <p:cNvSpPr txBox="1"/>
            <p:nvPr/>
          </p:nvSpPr>
          <p:spPr>
            <a:xfrm>
              <a:off x="4354963" y="1954062"/>
              <a:ext cx="56457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4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/>
                </a:rPr>
                <a:t></a:t>
              </a:r>
              <a:endParaRPr lang="zh-CN" altLang="en-US" sz="5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429863" y="1265869"/>
            <a:ext cx="2059716" cy="1412400"/>
            <a:chOff x="6429863" y="1265869"/>
            <a:chExt cx="2059716" cy="1412400"/>
          </a:xfrm>
        </p:grpSpPr>
        <p:sp>
          <p:nvSpPr>
            <p:cNvPr id="30" name="TextBox 12"/>
            <p:cNvSpPr txBox="1"/>
            <p:nvPr/>
          </p:nvSpPr>
          <p:spPr>
            <a:xfrm>
              <a:off x="6429863" y="1265869"/>
              <a:ext cx="205971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输出固定长度</a:t>
              </a:r>
              <a:endPara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的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哈希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值 </a:t>
              </a:r>
              <a:r>
                <a:rPr lang="en-US" altLang="zh-CN" sz="16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H</a:t>
              </a:r>
              <a:r>
                <a:rPr lang="en-US" altLang="zh-CN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(</a:t>
              </a:r>
              <a:r>
                <a:rPr lang="en-US" altLang="zh-CN" sz="16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X</a:t>
              </a:r>
              <a:r>
                <a:rPr lang="en-US" altLang="zh-CN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)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25" name="流程图: 文档 24"/>
            <p:cNvSpPr/>
            <p:nvPr/>
          </p:nvSpPr>
          <p:spPr>
            <a:xfrm>
              <a:off x="6623598" y="1916527"/>
              <a:ext cx="1579109" cy="761742"/>
            </a:xfrm>
            <a:prstGeom prst="flowChartDocument">
              <a:avLst/>
            </a:prstGeom>
            <a:solidFill>
              <a:srgbClr val="99FF99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10010…1011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6148" y="1192271"/>
            <a:ext cx="1948078" cy="2503002"/>
            <a:chOff x="906148" y="1192271"/>
            <a:chExt cx="1948078" cy="2503002"/>
          </a:xfrm>
        </p:grpSpPr>
        <p:sp>
          <p:nvSpPr>
            <p:cNvPr id="28" name="流程图: 文档 27"/>
            <p:cNvSpPr/>
            <p:nvPr/>
          </p:nvSpPr>
          <p:spPr>
            <a:xfrm>
              <a:off x="1123857" y="1500946"/>
              <a:ext cx="1576667" cy="2194327"/>
            </a:xfrm>
            <a:prstGeom prst="flowChartDocumen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2"/>
            <p:cNvSpPr txBox="1"/>
            <p:nvPr/>
          </p:nvSpPr>
          <p:spPr>
            <a:xfrm>
              <a:off x="906148" y="1192271"/>
              <a:ext cx="19480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任意长度的报文 </a:t>
              </a:r>
              <a:r>
                <a:rPr lang="en-US" altLang="zh-CN" sz="16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X</a:t>
              </a:r>
              <a:endParaRPr lang="zh-CN" altLang="en-US" sz="1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29" name="TextBox 8"/>
            <p:cNvSpPr txBox="1"/>
            <p:nvPr/>
          </p:nvSpPr>
          <p:spPr>
            <a:xfrm>
              <a:off x="1131839" y="1503877"/>
              <a:ext cx="160499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这是要发送的不需要加密的报文，长度不限，</a:t>
              </a: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</a:t>
              </a:r>
            </a:p>
            <a:p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……………………………,</a:t>
              </a:r>
            </a:p>
            <a:p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…………………………….</a:t>
              </a:r>
            </a:p>
            <a:p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…………………………….</a:t>
              </a:r>
            </a:p>
          </p:txBody>
        </p:sp>
      </p:grp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605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41963"/>
            <a:ext cx="812901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Message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Digest 5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报文摘要的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Secure Hash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Algorithm</a:t>
            </a:r>
          </a:p>
          <a:p>
            <a:pPr marL="800100" lvl="1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1995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年发布，比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更安全，但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计算效率比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慢。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随后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SHA-3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陆续发布。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1910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81976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实用的代表性密码哈希函数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273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2161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84486"/>
            <a:ext cx="14013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3932"/>
            <a:ext cx="812901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的设计者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Rivest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曾提出一个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猜想：</a:t>
            </a: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足够复杂的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方法，使报文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摘要代码中的每一位都与原来报文中的每一位有关。</a:t>
            </a:r>
          </a:p>
        </p:txBody>
      </p:sp>
      <p:sp>
        <p:nvSpPr>
          <p:cNvPr id="2" name="矩形 1"/>
          <p:cNvSpPr/>
          <p:nvPr/>
        </p:nvSpPr>
        <p:spPr>
          <a:xfrm>
            <a:off x="936372" y="1489377"/>
            <a:ext cx="7270378" cy="8775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lvl="1">
              <a:lnSpc>
                <a:spcPts val="3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根据给定的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报文摘要代码，要找出一个与原来报文有相同报文摘要的另一报文，其难度在计算上几乎是不可能的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05894" y="3298633"/>
            <a:ext cx="7234518" cy="14260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2004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年，中国学者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王小云发表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了轰动世界的密码学论文，证明可以可以找出一对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报文，且它们具有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摘要，意味着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具备抗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碰撞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性，从而动摇了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的安全性。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随后，又有许多学者开发了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的攻击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最终被安全哈希算法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所取代。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806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79248"/>
            <a:ext cx="2627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安全哈希算法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5606"/>
            <a:ext cx="812901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安全哈希算法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(Secure Hash Algorithm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：由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美国标准与技术协会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NIST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提出的一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个哈希算法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系列。</a:t>
            </a: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相似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其哈希值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的长度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 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是先把输入报文划分为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许多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长的数据块，然后经过复杂运算后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得出哈希值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400" y="2979662"/>
            <a:ext cx="7091082" cy="11695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后来也被证明其实际安全性并未达到设计要求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，谷歌与荷兰的研究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团队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2017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年联合宣布成功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攻破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抗碰撞性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。许多组织都已停用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794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79248"/>
            <a:ext cx="2627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5606"/>
            <a:ext cx="812901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已被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SHA-2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SHA-3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所替代。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SHA-2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的多种变型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0" hangingPunct="0">
              <a:lnSpc>
                <a:spcPts val="2800"/>
              </a:lnSpc>
              <a:buClr>
                <a:srgbClr val="0070C0"/>
              </a:buClr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SHA-224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SHA-256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SHA-384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SHA-512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SHA-3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的多种变型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0" hangingPunct="0">
              <a:lnSpc>
                <a:spcPts val="2800"/>
              </a:lnSpc>
              <a:buClr>
                <a:srgbClr val="0070C0"/>
              </a:buClr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SHA3-224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SHA3-256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SHA3-384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SHA3-512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SHA-3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SHA-2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742576" y="3501283"/>
            <a:ext cx="5979459" cy="7227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目前，</a:t>
            </a:r>
            <a:r>
              <a:rPr lang="zh-CN" altLang="en-US" b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密码学家尚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无法把一个任意已知的</a:t>
            </a:r>
            <a:r>
              <a:rPr lang="zh-CN" altLang="en-US" b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b="1" i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，篡改为具有</a:t>
            </a:r>
            <a:r>
              <a:rPr lang="zh-CN" altLang="en-US" b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同样 </a:t>
            </a:r>
            <a:r>
              <a:rPr lang="en-US" altLang="zh-CN" b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b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b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</a:t>
            </a:r>
            <a:r>
              <a:rPr lang="zh-CN" altLang="en-US" b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的另一</a:t>
            </a:r>
            <a:r>
              <a:rPr lang="zh-CN" altLang="en-US" b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b="1" i="1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994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832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788076" y="585114"/>
            <a:ext cx="3571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用报文鉴别码实现报文鉴别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961046"/>
            <a:ext cx="8473161" cy="464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哈希函数问题：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防篡改，但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不能防伪造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真正实现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报文鉴别。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17852" y="1384379"/>
            <a:ext cx="8133857" cy="301729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5" name="组合 84"/>
          <p:cNvGrpSpPr/>
          <p:nvPr/>
        </p:nvGrpSpPr>
        <p:grpSpPr>
          <a:xfrm>
            <a:off x="4573166" y="2581858"/>
            <a:ext cx="1334311" cy="273985"/>
            <a:chOff x="4573166" y="2581858"/>
            <a:chExt cx="1334311" cy="273985"/>
          </a:xfrm>
        </p:grpSpPr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5503043" y="2627522"/>
              <a:ext cx="40443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en-US" altLang="zh-CN" sz="11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4573166" y="2764515"/>
              <a:ext cx="9298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 flipV="1">
              <a:off x="4583214" y="258185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4773998" y="1723203"/>
            <a:ext cx="1133479" cy="639299"/>
            <a:chOff x="4773998" y="1723203"/>
            <a:chExt cx="1133479" cy="639299"/>
          </a:xfrm>
        </p:grpSpPr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5504476" y="1896895"/>
              <a:ext cx="403001" cy="22832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H'(X</a:t>
              </a: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kumimoji="1" lang="en-US" altLang="zh-CN" sz="11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5039856" y="1766561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  <p:sp>
          <p:nvSpPr>
            <p:cNvPr id="41" name="AutoShape 26"/>
            <p:cNvSpPr/>
            <p:nvPr/>
          </p:nvSpPr>
          <p:spPr bwMode="auto">
            <a:xfrm>
              <a:off x="4773998" y="1723203"/>
              <a:ext cx="129357" cy="639299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994192" y="2033888"/>
              <a:ext cx="4109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633436" y="2170880"/>
            <a:ext cx="681627" cy="410978"/>
            <a:chOff x="5633436" y="2170880"/>
            <a:chExt cx="681627" cy="410978"/>
          </a:xfrm>
        </p:grpSpPr>
        <p:sp>
          <p:nvSpPr>
            <p:cNvPr id="43" name="AutoShape 28"/>
            <p:cNvSpPr>
              <a:spLocks noChangeArrowheads="1"/>
            </p:cNvSpPr>
            <p:nvPr/>
          </p:nvSpPr>
          <p:spPr bwMode="auto">
            <a:xfrm>
              <a:off x="5633436" y="2170880"/>
              <a:ext cx="136993" cy="410978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FF00"/>
            </a:solidFill>
            <a:ln w="635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Box 29"/>
            <p:cNvSpPr txBox="1">
              <a:spLocks noChangeArrowheads="1"/>
            </p:cNvSpPr>
            <p:nvPr/>
          </p:nvSpPr>
          <p:spPr bwMode="auto">
            <a:xfrm>
              <a:off x="5771324" y="2193712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319689" y="1844382"/>
            <a:ext cx="791008" cy="481090"/>
            <a:chOff x="4641155" y="1412783"/>
            <a:chExt cx="1319957" cy="802796"/>
          </a:xfrm>
        </p:grpSpPr>
        <p:sp>
          <p:nvSpPr>
            <p:cNvPr id="30" name="右箭头 29"/>
            <p:cNvSpPr/>
            <p:nvPr/>
          </p:nvSpPr>
          <p:spPr bwMode="auto">
            <a:xfrm>
              <a:off x="4641155" y="1744885"/>
              <a:ext cx="1319957" cy="470694"/>
            </a:xfrm>
            <a:prstGeom prst="rightArrow">
              <a:avLst/>
            </a:prstGeom>
            <a:solidFill>
              <a:srgbClr val="99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100" b="0" i="0" u="none" strike="noStrike" cap="none" normalizeH="0" baseline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Box 28"/>
            <p:cNvSpPr txBox="1"/>
            <p:nvPr/>
          </p:nvSpPr>
          <p:spPr>
            <a:xfrm>
              <a:off x="4808985" y="1412783"/>
              <a:ext cx="907339" cy="513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endParaRPr lang="zh-CN" altLang="en-US" sz="1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749867" y="1714238"/>
            <a:ext cx="365314" cy="639299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88150" y="1714238"/>
            <a:ext cx="365314" cy="870478"/>
            <a:chOff x="3730055" y="1669413"/>
            <a:chExt cx="365314" cy="870478"/>
          </a:xfrm>
        </p:grpSpPr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3730055" y="1669413"/>
              <a:ext cx="365314" cy="639299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24" name="Rectangle 14" descr="浅色竖线"/>
            <p:cNvSpPr>
              <a:spLocks noChangeArrowheads="1"/>
            </p:cNvSpPr>
            <p:nvPr/>
          </p:nvSpPr>
          <p:spPr bwMode="auto">
            <a:xfrm>
              <a:off x="3730055" y="2311570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zh-CN" altLang="en-US" sz="1100" b="1" i="1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115181" y="2581858"/>
            <a:ext cx="765674" cy="182657"/>
            <a:chOff x="2115181" y="2581858"/>
            <a:chExt cx="765674" cy="182657"/>
          </a:xfrm>
        </p:grpSpPr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2115181" y="2764515"/>
              <a:ext cx="7656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16"/>
            <p:cNvSpPr>
              <a:spLocks noChangeShapeType="1"/>
            </p:cNvSpPr>
            <p:nvPr/>
          </p:nvSpPr>
          <p:spPr bwMode="auto">
            <a:xfrm flipV="1">
              <a:off x="2879772" y="258185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655926" y="2328446"/>
            <a:ext cx="459255" cy="527397"/>
            <a:chOff x="1655926" y="2328446"/>
            <a:chExt cx="459255" cy="527397"/>
          </a:xfrm>
        </p:grpSpPr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1749867" y="2627522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en-US" altLang="zh-CN" sz="11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1932524" y="2353537"/>
              <a:ext cx="0" cy="27398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655926" y="2328446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383455" y="1714238"/>
            <a:ext cx="365314" cy="870478"/>
            <a:chOff x="3730055" y="1669413"/>
            <a:chExt cx="365314" cy="870478"/>
          </a:xfrm>
        </p:grpSpPr>
        <p:sp>
          <p:nvSpPr>
            <p:cNvPr id="48" name="Rectangle 13"/>
            <p:cNvSpPr>
              <a:spLocks noChangeArrowheads="1"/>
            </p:cNvSpPr>
            <p:nvPr/>
          </p:nvSpPr>
          <p:spPr bwMode="auto">
            <a:xfrm>
              <a:off x="3730055" y="1669413"/>
              <a:ext cx="365314" cy="639299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49" name="Rectangle 14" descr="浅色竖线"/>
            <p:cNvSpPr>
              <a:spLocks noChangeArrowheads="1"/>
            </p:cNvSpPr>
            <p:nvPr/>
          </p:nvSpPr>
          <p:spPr bwMode="auto">
            <a:xfrm>
              <a:off x="3730055" y="2311570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zh-CN" altLang="en-US" sz="1100" b="1" i="1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左大括号 2"/>
          <p:cNvSpPr/>
          <p:nvPr/>
        </p:nvSpPr>
        <p:spPr>
          <a:xfrm>
            <a:off x="6297134" y="2033888"/>
            <a:ext cx="144192" cy="629230"/>
          </a:xfrm>
          <a:prstGeom prst="leftBrace">
            <a:avLst>
              <a:gd name="adj1" fmla="val 16475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51373" y="1728367"/>
            <a:ext cx="158713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H’(X) </a:t>
            </a:r>
            <a:r>
              <a:rPr kumimoji="1" lang="en-US" altLang="zh-CN" sz="16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H(X)</a:t>
            </a:r>
            <a:r>
              <a:rPr kumimoji="1" lang="zh-CN" altLang="en-US" sz="1400" b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1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过来的。</a:t>
            </a:r>
            <a:endParaRPr kumimoji="1" lang="en-US" altLang="zh-CN" sz="1400" b="1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451373" y="2361174"/>
            <a:ext cx="1759428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H’(X) </a:t>
            </a:r>
            <a:r>
              <a:rPr kumimoji="1" lang="en-US" altLang="zh-CN" sz="1600" b="1" kern="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 </a:t>
            </a:r>
            <a:r>
              <a:rPr kumimoji="1" lang="en-US" altLang="zh-CN" sz="1600" b="1" i="1" kern="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H(X)</a:t>
            </a:r>
            <a:r>
              <a:rPr kumimoji="1" lang="zh-CN" altLang="en-US" sz="1400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</a:t>
            </a:r>
            <a:r>
              <a:rPr kumimoji="1" lang="zh-CN" altLang="en-US" sz="1400" b="1" kern="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1400" b="1" kern="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kumimoji="1" lang="zh-CN" altLang="en-US" sz="14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过来的。</a:t>
            </a:r>
            <a:endParaRPr kumimoji="1" lang="en-US" altLang="zh-CN" sz="1400" b="1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3319689" y="3277537"/>
            <a:ext cx="791008" cy="481090"/>
            <a:chOff x="4641155" y="1412783"/>
            <a:chExt cx="1319957" cy="802796"/>
          </a:xfrm>
        </p:grpSpPr>
        <p:sp>
          <p:nvSpPr>
            <p:cNvPr id="63" name="右箭头 62"/>
            <p:cNvSpPr/>
            <p:nvPr/>
          </p:nvSpPr>
          <p:spPr bwMode="auto">
            <a:xfrm>
              <a:off x="4641155" y="1744885"/>
              <a:ext cx="1319957" cy="470694"/>
            </a:xfrm>
            <a:prstGeom prst="rightArrow">
              <a:avLst/>
            </a:prstGeom>
            <a:solidFill>
              <a:srgbClr val="99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100" b="0" i="0" u="none" strike="noStrike" cap="none" normalizeH="0" baseline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Box 28"/>
            <p:cNvSpPr txBox="1"/>
            <p:nvPr/>
          </p:nvSpPr>
          <p:spPr>
            <a:xfrm>
              <a:off x="4808985" y="1412783"/>
              <a:ext cx="907339" cy="513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endParaRPr lang="zh-CN" altLang="en-US" sz="1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655926" y="3147393"/>
            <a:ext cx="1397538" cy="1141605"/>
            <a:chOff x="1655926" y="3048778"/>
            <a:chExt cx="1397538" cy="1141605"/>
          </a:xfrm>
        </p:grpSpPr>
        <p:sp>
          <p:nvSpPr>
            <p:cNvPr id="65" name="Rectangle 5"/>
            <p:cNvSpPr>
              <a:spLocks noChangeArrowheads="1"/>
            </p:cNvSpPr>
            <p:nvPr/>
          </p:nvSpPr>
          <p:spPr bwMode="auto">
            <a:xfrm>
              <a:off x="1749867" y="3048778"/>
              <a:ext cx="365314" cy="639299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  <a:ex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kumimoji="1" lang="en-US" altLang="zh-CN" sz="16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"/>
            <p:cNvSpPr>
              <a:spLocks noChangeArrowheads="1"/>
            </p:cNvSpPr>
            <p:nvPr/>
          </p:nvSpPr>
          <p:spPr bwMode="auto">
            <a:xfrm>
              <a:off x="1749867" y="3962062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H(M)</a:t>
              </a:r>
              <a:endParaRPr kumimoji="1" lang="en-US" altLang="zh-CN" sz="11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8"/>
            <p:cNvSpPr>
              <a:spLocks noChangeShapeType="1"/>
            </p:cNvSpPr>
            <p:nvPr/>
          </p:nvSpPr>
          <p:spPr bwMode="auto">
            <a:xfrm>
              <a:off x="1932524" y="3688077"/>
              <a:ext cx="0" cy="27398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2688150" y="3048778"/>
              <a:ext cx="365314" cy="870478"/>
              <a:chOff x="3730055" y="1669413"/>
              <a:chExt cx="365314" cy="870478"/>
            </a:xfrm>
          </p:grpSpPr>
          <p:sp>
            <p:nvSpPr>
              <p:cNvPr id="69" name="Rectangle 13"/>
              <p:cNvSpPr>
                <a:spLocks noChangeArrowheads="1"/>
              </p:cNvSpPr>
              <p:nvPr/>
            </p:nvSpPr>
            <p:spPr bwMode="auto">
              <a:xfrm>
                <a:off x="3730055" y="1669413"/>
                <a:ext cx="365314" cy="639299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endParaRPr kumimoji="1" lang="en-US" altLang="zh-CN" sz="1600" b="1" i="1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730055" y="2311570"/>
                <a:ext cx="365314" cy="22832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1100" b="1" i="1" kern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H(M)</a:t>
                </a:r>
                <a:endParaRPr kumimoji="1" lang="zh-CN" altLang="en-US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1" name="Line 15"/>
            <p:cNvSpPr>
              <a:spLocks noChangeShapeType="1"/>
            </p:cNvSpPr>
            <p:nvPr/>
          </p:nvSpPr>
          <p:spPr bwMode="auto">
            <a:xfrm>
              <a:off x="2115181" y="4099055"/>
              <a:ext cx="7656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 flipV="1">
              <a:off x="2879772" y="391639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1655926" y="3662986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4383455" y="3147393"/>
            <a:ext cx="1931608" cy="1141605"/>
            <a:chOff x="4383455" y="3048778"/>
            <a:chExt cx="1931608" cy="1141605"/>
          </a:xfrm>
        </p:grpSpPr>
        <p:sp>
          <p:nvSpPr>
            <p:cNvPr id="53" name="Rectangle 20"/>
            <p:cNvSpPr>
              <a:spLocks noChangeArrowheads="1"/>
            </p:cNvSpPr>
            <p:nvPr/>
          </p:nvSpPr>
          <p:spPr bwMode="auto">
            <a:xfrm>
              <a:off x="5447251" y="3962062"/>
              <a:ext cx="460226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H(M)</a:t>
              </a:r>
              <a:endParaRPr kumimoji="1" lang="en-US" altLang="zh-CN" sz="11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4573166" y="4099055"/>
              <a:ext cx="87408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 flipV="1">
              <a:off x="4583214" y="391639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Rectangle 24"/>
            <p:cNvSpPr>
              <a:spLocks noChangeArrowheads="1"/>
            </p:cNvSpPr>
            <p:nvPr/>
          </p:nvSpPr>
          <p:spPr bwMode="auto">
            <a:xfrm>
              <a:off x="5447251" y="3231435"/>
              <a:ext cx="460226" cy="22832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H'(M)</a:t>
              </a:r>
              <a:endParaRPr kumimoji="1" lang="en-US" altLang="zh-CN" sz="11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 Box 25"/>
            <p:cNvSpPr txBox="1">
              <a:spLocks noChangeArrowheads="1"/>
            </p:cNvSpPr>
            <p:nvPr/>
          </p:nvSpPr>
          <p:spPr bwMode="auto">
            <a:xfrm>
              <a:off x="5039856" y="3101101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  <p:sp>
          <p:nvSpPr>
            <p:cNvPr id="58" name="AutoShape 26"/>
            <p:cNvSpPr/>
            <p:nvPr/>
          </p:nvSpPr>
          <p:spPr bwMode="auto">
            <a:xfrm>
              <a:off x="4773998" y="3057743"/>
              <a:ext cx="129357" cy="639299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27"/>
            <p:cNvSpPr>
              <a:spLocks noChangeShapeType="1"/>
            </p:cNvSpPr>
            <p:nvPr/>
          </p:nvSpPr>
          <p:spPr bwMode="auto">
            <a:xfrm>
              <a:off x="4994192" y="3368428"/>
              <a:ext cx="4109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AutoShape 28"/>
            <p:cNvSpPr>
              <a:spLocks noChangeArrowheads="1"/>
            </p:cNvSpPr>
            <p:nvPr/>
          </p:nvSpPr>
          <p:spPr bwMode="auto">
            <a:xfrm>
              <a:off x="5618196" y="3505420"/>
              <a:ext cx="136993" cy="410978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FF00"/>
            </a:solidFill>
            <a:ln w="635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 Box 29"/>
            <p:cNvSpPr txBox="1">
              <a:spLocks noChangeArrowheads="1"/>
            </p:cNvSpPr>
            <p:nvPr/>
          </p:nvSpPr>
          <p:spPr bwMode="auto">
            <a:xfrm>
              <a:off x="5771324" y="3528252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u="none" strike="noStrike" kern="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383455" y="3048778"/>
              <a:ext cx="365314" cy="870478"/>
              <a:chOff x="3730055" y="1669413"/>
              <a:chExt cx="365314" cy="870478"/>
            </a:xfrm>
          </p:grpSpPr>
          <p:sp>
            <p:nvSpPr>
              <p:cNvPr id="75" name="Rectangle 13"/>
              <p:cNvSpPr>
                <a:spLocks noChangeArrowheads="1"/>
              </p:cNvSpPr>
              <p:nvPr/>
            </p:nvSpPr>
            <p:spPr bwMode="auto">
              <a:xfrm>
                <a:off x="3730055" y="1669413"/>
                <a:ext cx="365314" cy="639299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1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</a:p>
            </p:txBody>
          </p:sp>
          <p:sp>
            <p:nvSpPr>
              <p:cNvPr id="76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730055" y="2311570"/>
                <a:ext cx="365314" cy="22832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1100" b="1" i="1" kern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H(M)</a:t>
                </a:r>
                <a:endParaRPr kumimoji="1" lang="zh-CN" altLang="en-US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8" name="文本框 77"/>
          <p:cNvSpPr txBox="1"/>
          <p:nvPr/>
        </p:nvSpPr>
        <p:spPr>
          <a:xfrm>
            <a:off x="6451373" y="3482168"/>
            <a:ext cx="158713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H’(M) </a:t>
            </a:r>
            <a:r>
              <a:rPr kumimoji="1" lang="en-US" altLang="zh-CN" sz="16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H(M)</a:t>
            </a:r>
            <a:r>
              <a:rPr kumimoji="1" lang="zh-CN" altLang="en-US" sz="1400" b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1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过来的。</a:t>
            </a:r>
            <a:endParaRPr kumimoji="1" lang="en-US" altLang="zh-CN" sz="1400" b="1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Text Box 9"/>
          <p:cNvSpPr txBox="1">
            <a:spLocks noChangeArrowheads="1"/>
          </p:cNvSpPr>
          <p:nvPr/>
        </p:nvSpPr>
        <p:spPr bwMode="auto">
          <a:xfrm>
            <a:off x="825009" y="1833870"/>
            <a:ext cx="8575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kumimoji="1" lang="zh-CN" altLang="en-US" sz="1600" b="1" kern="0" noProof="0" dirty="0" smtClean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Box 9"/>
          <p:cNvSpPr txBox="1">
            <a:spLocks noChangeArrowheads="1"/>
          </p:cNvSpPr>
          <p:nvPr/>
        </p:nvSpPr>
        <p:spPr bwMode="auto">
          <a:xfrm>
            <a:off x="825009" y="3222470"/>
            <a:ext cx="8189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1" lang="en-US" altLang="zh-CN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伪造</a:t>
            </a:r>
            <a:r>
              <a:rPr kumimoji="1" lang="zh-CN" altLang="en-US" sz="16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endParaRPr kumimoji="1" lang="en-US" altLang="zh-CN" sz="1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025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animBg="1"/>
      <p:bldP spid="4" grpId="0"/>
      <p:bldP spid="50" grpId="0"/>
      <p:bldP spid="78" grpId="0"/>
      <p:bldP spid="7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81553"/>
            <a:ext cx="8129016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解决思路：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采用报文鉴别码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双方共享的密钥 </a:t>
            </a:r>
            <a:r>
              <a:rPr lang="en-US" altLang="zh-CN" sz="20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20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，然后进行哈希运算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哈希运算得出的结果为固定长度的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H(X + K)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报文鉴别码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(Message Authentication Code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832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788076" y="585114"/>
            <a:ext cx="3571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用报文鉴别码实现报文鉴别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36243" y="3085988"/>
            <a:ext cx="7815985" cy="84765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 anchorCtr="0">
            <a:noAutofit/>
          </a:bodyPr>
          <a:lstStyle/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需要指出的是，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共享密钥</a:t>
            </a:r>
            <a:r>
              <a:rPr lang="en-US" altLang="zh-CN" sz="20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并没有出现在网上传送的扩展的报文中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337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04632" y="999404"/>
            <a:ext cx="8133857" cy="26117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28264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用报文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r>
              <a:rPr lang="zh-CN" altLang="en-US" sz="2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码鉴别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 Box 48"/>
          <p:cNvSpPr txBox="1">
            <a:spLocks noChangeArrowheads="1"/>
          </p:cNvSpPr>
          <p:nvPr/>
        </p:nvSpPr>
        <p:spPr bwMode="auto">
          <a:xfrm>
            <a:off x="902799" y="1304735"/>
            <a:ext cx="3193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grpSp>
        <p:nvGrpSpPr>
          <p:cNvPr id="93" name="Group 103"/>
          <p:cNvGrpSpPr>
            <a:grpSpLocks/>
          </p:cNvGrpSpPr>
          <p:nvPr/>
        </p:nvGrpSpPr>
        <p:grpSpPr bwMode="auto">
          <a:xfrm>
            <a:off x="1126156" y="1341762"/>
            <a:ext cx="425887" cy="369843"/>
            <a:chOff x="921" y="2412"/>
            <a:chExt cx="284" cy="265"/>
          </a:xfrm>
        </p:grpSpPr>
        <p:grpSp>
          <p:nvGrpSpPr>
            <p:cNvPr id="94" name="Group 10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08" name="Freeform 10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10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Rectangle 10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Rectangle 11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Rectangle 11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Line 11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6" name="Group 11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17" name="Freeform 11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7" name="Rectangle 11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95" name="Group 11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96" name="Freeform 11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Freeform 12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Rectangle 12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Rectangle 12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Rectangle 12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12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4" name="Group 12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05" name="Freeform 12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6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7" name="Rectangle 12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58" name="Rectangle 165"/>
          <p:cNvSpPr>
            <a:spLocks noChangeArrowheads="1"/>
          </p:cNvSpPr>
          <p:nvPr/>
        </p:nvSpPr>
        <p:spPr bwMode="auto">
          <a:xfrm>
            <a:off x="840892" y="1792106"/>
            <a:ext cx="972307" cy="2123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63" name="Text Box 175"/>
          <p:cNvSpPr txBox="1">
            <a:spLocks noChangeArrowheads="1"/>
          </p:cNvSpPr>
          <p:nvPr/>
        </p:nvSpPr>
        <p:spPr bwMode="auto">
          <a:xfrm>
            <a:off x="6467968" y="1304735"/>
            <a:ext cx="3080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grpSp>
        <p:nvGrpSpPr>
          <p:cNvPr id="164" name="Group 176"/>
          <p:cNvGrpSpPr>
            <a:grpSpLocks/>
          </p:cNvGrpSpPr>
          <p:nvPr/>
        </p:nvGrpSpPr>
        <p:grpSpPr bwMode="auto">
          <a:xfrm>
            <a:off x="6673395" y="1341762"/>
            <a:ext cx="425887" cy="369843"/>
            <a:chOff x="921" y="2412"/>
            <a:chExt cx="284" cy="265"/>
          </a:xfrm>
        </p:grpSpPr>
        <p:grpSp>
          <p:nvGrpSpPr>
            <p:cNvPr id="165" name="Group 177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79" name="Freeform 178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Freeform 17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80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8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Rectangle 182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Rectangle 183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Rectangle 184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Line 185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7" name="Group 186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88" name="Freeform 187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9" name="Freeform 18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0" name="Rectangle 189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66" name="Group 190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167" name="Freeform 191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Freeform 19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93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9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Rectangle 195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Rectangle 196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197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Line 198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5" name="Group 199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76" name="Freeform 200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7" name="Freeform 20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8" name="Rectangle 202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6" name="组合 5"/>
          <p:cNvGrpSpPr/>
          <p:nvPr/>
        </p:nvGrpSpPr>
        <p:grpSpPr>
          <a:xfrm>
            <a:off x="728394" y="1975278"/>
            <a:ext cx="2758124" cy="1415296"/>
            <a:chOff x="728394" y="1975278"/>
            <a:chExt cx="2758124" cy="1415296"/>
          </a:xfrm>
        </p:grpSpPr>
        <p:sp>
          <p:nvSpPr>
            <p:cNvPr id="90" name="Line 203"/>
            <p:cNvSpPr>
              <a:spLocks noChangeShapeType="1"/>
            </p:cNvSpPr>
            <p:nvPr/>
          </p:nvSpPr>
          <p:spPr bwMode="auto">
            <a:xfrm rot="5400000">
              <a:off x="712008" y="2357284"/>
              <a:ext cx="765352" cy="1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Rectangle 171"/>
            <p:cNvSpPr>
              <a:spLocks noChangeArrowheads="1"/>
            </p:cNvSpPr>
            <p:nvPr/>
          </p:nvSpPr>
          <p:spPr bwMode="auto">
            <a:xfrm>
              <a:off x="2891309" y="2788464"/>
              <a:ext cx="425887" cy="2123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197" name="Text Box 213"/>
            <p:cNvSpPr txBox="1">
              <a:spLocks noChangeArrowheads="1"/>
            </p:cNvSpPr>
            <p:nvPr/>
          </p:nvSpPr>
          <p:spPr bwMode="auto">
            <a:xfrm>
              <a:off x="2692520" y="3041761"/>
              <a:ext cx="793998" cy="348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2000"/>
                </a:lnSpc>
              </a:pP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 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219"/>
            <p:cNvSpPr>
              <a:spLocks noChangeShapeType="1"/>
            </p:cNvSpPr>
            <p:nvPr/>
          </p:nvSpPr>
          <p:spPr bwMode="auto">
            <a:xfrm rot="10800000" flipH="1">
              <a:off x="1814539" y="2901634"/>
              <a:ext cx="10839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Rectangle 165"/>
            <p:cNvSpPr>
              <a:spLocks noChangeArrowheads="1"/>
            </p:cNvSpPr>
            <p:nvPr/>
          </p:nvSpPr>
          <p:spPr bwMode="auto">
            <a:xfrm>
              <a:off x="840893" y="2738296"/>
              <a:ext cx="968176" cy="5191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endPara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TextBox 105"/>
            <p:cNvSpPr txBox="1">
              <a:spLocks noChangeArrowheads="1"/>
            </p:cNvSpPr>
            <p:nvPr/>
          </p:nvSpPr>
          <p:spPr bwMode="auto">
            <a:xfrm>
              <a:off x="728394" y="2825053"/>
              <a:ext cx="1179951" cy="292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哈希函数运算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221"/>
            <p:cNvSpPr>
              <a:spLocks noChangeShapeType="1"/>
            </p:cNvSpPr>
            <p:nvPr/>
          </p:nvSpPr>
          <p:spPr bwMode="auto">
            <a:xfrm rot="16200000" flipH="1">
              <a:off x="1412339" y="2590861"/>
              <a:ext cx="302174" cy="66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矩形 223"/>
            <p:cNvSpPr/>
            <p:nvPr/>
          </p:nvSpPr>
          <p:spPr bwMode="auto">
            <a:xfrm>
              <a:off x="1222364" y="2263389"/>
              <a:ext cx="586704" cy="20935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Text Box 172"/>
            <p:cNvSpPr txBox="1">
              <a:spLocks noChangeArrowheads="1"/>
            </p:cNvSpPr>
            <p:nvPr/>
          </p:nvSpPr>
          <p:spPr bwMode="auto">
            <a:xfrm>
              <a:off x="1167460" y="2219115"/>
              <a:ext cx="678073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2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61791" y="2593839"/>
            <a:ext cx="1009807" cy="718810"/>
            <a:chOff x="6461791" y="2593839"/>
            <a:chExt cx="1009807" cy="718810"/>
          </a:xfrm>
        </p:grpSpPr>
        <p:sp>
          <p:nvSpPr>
            <p:cNvPr id="86" name="菱形 105"/>
            <p:cNvSpPr>
              <a:spLocks noChangeArrowheads="1"/>
            </p:cNvSpPr>
            <p:nvPr/>
          </p:nvSpPr>
          <p:spPr bwMode="auto">
            <a:xfrm>
              <a:off x="6781875" y="2837804"/>
              <a:ext cx="364280" cy="474845"/>
            </a:xfrm>
            <a:prstGeom prst="diamond">
              <a:avLst/>
            </a:prstGeom>
            <a:solidFill>
              <a:srgbClr val="00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Text Box 213"/>
            <p:cNvSpPr txBox="1">
              <a:spLocks noChangeArrowheads="1"/>
            </p:cNvSpPr>
            <p:nvPr/>
          </p:nvSpPr>
          <p:spPr bwMode="auto">
            <a:xfrm>
              <a:off x="6666699" y="2943972"/>
              <a:ext cx="522313" cy="271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400"/>
                </a:lnSpc>
              </a:pP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=</a:t>
              </a:r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Line 221"/>
            <p:cNvSpPr>
              <a:spLocks noChangeShapeType="1"/>
            </p:cNvSpPr>
            <p:nvPr/>
          </p:nvSpPr>
          <p:spPr bwMode="auto">
            <a:xfrm flipH="1">
              <a:off x="7118032" y="3081642"/>
              <a:ext cx="3535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Line 221"/>
            <p:cNvSpPr>
              <a:spLocks noChangeShapeType="1"/>
            </p:cNvSpPr>
            <p:nvPr/>
          </p:nvSpPr>
          <p:spPr bwMode="auto">
            <a:xfrm rot="10800000" flipH="1">
              <a:off x="6461791" y="3068808"/>
              <a:ext cx="3120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Text Box 204"/>
            <p:cNvSpPr txBox="1">
              <a:spLocks noChangeArrowheads="1"/>
            </p:cNvSpPr>
            <p:nvPr/>
          </p:nvSpPr>
          <p:spPr bwMode="auto">
            <a:xfrm>
              <a:off x="6730296" y="2593839"/>
              <a:ext cx="492443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700"/>
                </a:lnSpc>
              </a:pPr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</p:grpSp>
      <p:sp>
        <p:nvSpPr>
          <p:cNvPr id="45" name="矩形 44"/>
          <p:cNvSpPr/>
          <p:nvPr/>
        </p:nvSpPr>
        <p:spPr>
          <a:xfrm>
            <a:off x="2027956" y="4217949"/>
            <a:ext cx="5283073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zh-CN" sz="20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这样的报文鉴别码称为</a:t>
            </a:r>
            <a:r>
              <a:rPr lang="zh-CN" altLang="zh-CN" sz="2000" b="1" kern="5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数字签名</a:t>
            </a:r>
            <a:r>
              <a:rPr lang="zh-CN" altLang="zh-CN" sz="20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zh-CN" altLang="zh-CN" sz="2000" b="1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数字指纹。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96844" y="3566932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只要入侵者不掌握密钥 </a:t>
            </a:r>
            <a:r>
              <a:rPr lang="en-US" altLang="zh-CN" sz="1600" b="1" i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600" b="1" kern="5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，就无法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伪造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1600" b="1" kern="5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报文（因为无法伪造 </a:t>
            </a:r>
            <a:r>
              <a:rPr lang="en-US" altLang="zh-CN" sz="1600" b="1" kern="5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1600" b="1" kern="5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b="1" kern="5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endParaRPr lang="en-US" altLang="zh-CN" sz="1600" b="1" kern="500" dirty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鉴别过程并没有执行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加密算法，消耗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的计算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资源少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13199" y="1278376"/>
            <a:ext cx="4191902" cy="1560256"/>
            <a:chOff x="1813199" y="1278376"/>
            <a:chExt cx="4191902" cy="1560256"/>
          </a:xfrm>
        </p:grpSpPr>
        <p:cxnSp>
          <p:nvCxnSpPr>
            <p:cNvPr id="88" name="直接连接符 104"/>
            <p:cNvCxnSpPr>
              <a:cxnSpLocks noChangeShapeType="1"/>
            </p:cNvCxnSpPr>
            <p:nvPr/>
          </p:nvCxnSpPr>
          <p:spPr bwMode="auto">
            <a:xfrm>
              <a:off x="3514067" y="2142913"/>
              <a:ext cx="1398194" cy="0"/>
            </a:xfrm>
            <a:prstGeom prst="line">
              <a:avLst/>
            </a:prstGeom>
            <a:noFill/>
            <a:ln w="12700" algn="ctr">
              <a:solidFill>
                <a:srgbClr val="0000CC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89" name="Object 228"/>
            <p:cNvGraphicFramePr>
              <a:graphicFrameLocks noChangeAspect="1"/>
            </p:cNvGraphicFramePr>
            <p:nvPr>
              <p:extLst/>
            </p:nvPr>
          </p:nvGraphicFramePr>
          <p:xfrm>
            <a:off x="4730120" y="1517933"/>
            <a:ext cx="1274981" cy="669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VISIO" r:id="rId5" imgW="1687068" imgH="964692" progId="">
                    <p:embed/>
                  </p:oleObj>
                </mc:Choice>
                <mc:Fallback>
                  <p:oleObj name="VISIO" r:id="rId5" imgW="1687068" imgH="964692" progId="">
                    <p:embed/>
                    <p:pic>
                      <p:nvPicPr>
                        <p:cNvPr id="89" name="Object 2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120" y="1517933"/>
                          <a:ext cx="1274981" cy="669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25400" dir="54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Line 9"/>
            <p:cNvSpPr>
              <a:spLocks noChangeShapeType="1"/>
            </p:cNvSpPr>
            <p:nvPr/>
          </p:nvSpPr>
          <p:spPr bwMode="auto">
            <a:xfrm>
              <a:off x="1813199" y="1894775"/>
              <a:ext cx="11544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Text Box 167"/>
            <p:cNvSpPr txBox="1">
              <a:spLocks noChangeArrowheads="1"/>
            </p:cNvSpPr>
            <p:nvPr/>
          </p:nvSpPr>
          <p:spPr bwMode="auto">
            <a:xfrm>
              <a:off x="2898450" y="1707870"/>
              <a:ext cx="3401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 dirty="0">
                  <a:solidFill>
                    <a:srgbClr val="C00000"/>
                  </a:solidFill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</a:t>
              </a:r>
            </a:p>
          </p:txBody>
        </p:sp>
        <p:sp>
          <p:nvSpPr>
            <p:cNvPr id="161" name="Rectangle 173"/>
            <p:cNvSpPr>
              <a:spLocks noChangeArrowheads="1"/>
            </p:cNvSpPr>
            <p:nvPr/>
          </p:nvSpPr>
          <p:spPr bwMode="auto">
            <a:xfrm>
              <a:off x="3939953" y="1792106"/>
              <a:ext cx="972307" cy="212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62" name="Rectangle 174"/>
            <p:cNvSpPr>
              <a:spLocks noChangeArrowheads="1"/>
            </p:cNvSpPr>
            <p:nvPr/>
          </p:nvSpPr>
          <p:spPr bwMode="auto">
            <a:xfrm>
              <a:off x="3514067" y="1792106"/>
              <a:ext cx="425887" cy="2123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194" name="Text Box 208"/>
            <p:cNvSpPr txBox="1">
              <a:spLocks noChangeArrowheads="1"/>
            </p:cNvSpPr>
            <p:nvPr/>
          </p:nvSpPr>
          <p:spPr bwMode="auto">
            <a:xfrm>
              <a:off x="5097080" y="1621769"/>
              <a:ext cx="6018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 </a:t>
              </a:r>
            </a:p>
          </p:txBody>
        </p:sp>
        <p:sp>
          <p:nvSpPr>
            <p:cNvPr id="198" name="Line 216"/>
            <p:cNvSpPr>
              <a:spLocks noChangeShapeType="1"/>
            </p:cNvSpPr>
            <p:nvPr/>
          </p:nvSpPr>
          <p:spPr bwMode="auto">
            <a:xfrm flipV="1">
              <a:off x="3214071" y="1907609"/>
              <a:ext cx="3040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Line 217"/>
            <p:cNvSpPr>
              <a:spLocks noChangeShapeType="1"/>
            </p:cNvSpPr>
            <p:nvPr/>
          </p:nvSpPr>
          <p:spPr bwMode="auto">
            <a:xfrm rot="16200000" flipV="1">
              <a:off x="2666009" y="2415122"/>
              <a:ext cx="847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AutoShape 227"/>
            <p:cNvSpPr>
              <a:spLocks noChangeArrowheads="1"/>
            </p:cNvSpPr>
            <p:nvPr/>
          </p:nvSpPr>
          <p:spPr bwMode="auto">
            <a:xfrm>
              <a:off x="4953778" y="1835274"/>
              <a:ext cx="1032574" cy="100336"/>
            </a:xfrm>
            <a:prstGeom prst="rightArrow">
              <a:avLst>
                <a:gd name="adj1" fmla="val 50000"/>
                <a:gd name="adj2" fmla="val 133456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Text Box 229"/>
            <p:cNvSpPr txBox="1">
              <a:spLocks noChangeArrowheads="1"/>
            </p:cNvSpPr>
            <p:nvPr/>
          </p:nvSpPr>
          <p:spPr bwMode="auto">
            <a:xfrm>
              <a:off x="5013892" y="1278376"/>
              <a:ext cx="7232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</a:t>
              </a:r>
            </a:p>
          </p:txBody>
        </p:sp>
        <p:sp>
          <p:nvSpPr>
            <p:cNvPr id="206" name="Text Box 224"/>
            <p:cNvSpPr txBox="1">
              <a:spLocks noChangeArrowheads="1"/>
            </p:cNvSpPr>
            <p:nvPr/>
          </p:nvSpPr>
          <p:spPr bwMode="auto">
            <a:xfrm>
              <a:off x="2816863" y="1556072"/>
              <a:ext cx="52210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</a:t>
              </a:r>
            </a:p>
          </p:txBody>
        </p:sp>
        <p:sp>
          <p:nvSpPr>
            <p:cNvPr id="207" name="矩形 105"/>
            <p:cNvSpPr>
              <a:spLocks noChangeArrowheads="1"/>
            </p:cNvSpPr>
            <p:nvPr/>
          </p:nvSpPr>
          <p:spPr bwMode="auto">
            <a:xfrm>
              <a:off x="3757813" y="2044845"/>
              <a:ext cx="881237" cy="214003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Text Box 224"/>
            <p:cNvSpPr txBox="1">
              <a:spLocks noChangeArrowheads="1"/>
            </p:cNvSpPr>
            <p:nvPr/>
          </p:nvSpPr>
          <p:spPr bwMode="auto">
            <a:xfrm>
              <a:off x="3729569" y="2008280"/>
              <a:ext cx="9990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扩展的报文</a:t>
              </a:r>
            </a:p>
          </p:txBody>
        </p:sp>
        <p:sp>
          <p:nvSpPr>
            <p:cNvPr id="219" name="Text Box 211"/>
            <p:cNvSpPr txBox="1">
              <a:spLocks noChangeArrowheads="1"/>
            </p:cNvSpPr>
            <p:nvPr/>
          </p:nvSpPr>
          <p:spPr bwMode="auto">
            <a:xfrm>
              <a:off x="4738156" y="2451290"/>
              <a:ext cx="954107" cy="276999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不安全信道</a:t>
              </a:r>
            </a:p>
          </p:txBody>
        </p:sp>
        <p:sp>
          <p:nvSpPr>
            <p:cNvPr id="220" name="Line 232"/>
            <p:cNvSpPr>
              <a:spLocks noChangeShapeType="1"/>
            </p:cNvSpPr>
            <p:nvPr/>
          </p:nvSpPr>
          <p:spPr bwMode="auto">
            <a:xfrm flipV="1">
              <a:off x="5224310" y="1922776"/>
              <a:ext cx="182140" cy="528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Text Box 213"/>
            <p:cNvSpPr txBox="1">
              <a:spLocks noChangeArrowheads="1"/>
            </p:cNvSpPr>
            <p:nvPr/>
          </p:nvSpPr>
          <p:spPr bwMode="auto">
            <a:xfrm>
              <a:off x="3307690" y="1451563"/>
              <a:ext cx="793998" cy="348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2000"/>
                </a:lnSpc>
              </a:pP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 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781269" y="1432536"/>
            <a:ext cx="2655244" cy="2059741"/>
            <a:chOff x="5781269" y="1432536"/>
            <a:chExt cx="2655244" cy="2059741"/>
          </a:xfrm>
        </p:grpSpPr>
        <p:sp>
          <p:nvSpPr>
            <p:cNvPr id="87" name="矩形 116"/>
            <p:cNvSpPr>
              <a:spLocks noChangeArrowheads="1"/>
            </p:cNvSpPr>
            <p:nvPr/>
          </p:nvSpPr>
          <p:spPr bwMode="auto">
            <a:xfrm>
              <a:off x="7678664" y="1561223"/>
              <a:ext cx="564680" cy="20732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Text Box 204"/>
            <p:cNvSpPr txBox="1">
              <a:spLocks noChangeArrowheads="1"/>
            </p:cNvSpPr>
            <p:nvPr/>
          </p:nvSpPr>
          <p:spPr bwMode="auto">
            <a:xfrm>
              <a:off x="6219384" y="2223782"/>
              <a:ext cx="492443" cy="292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700"/>
                </a:lnSpc>
              </a:pPr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分离</a:t>
              </a:r>
            </a:p>
          </p:txBody>
        </p:sp>
        <p:sp>
          <p:nvSpPr>
            <p:cNvPr id="192" name="Rectangle 205"/>
            <p:cNvSpPr>
              <a:spLocks noChangeArrowheads="1"/>
            </p:cNvSpPr>
            <p:nvPr/>
          </p:nvSpPr>
          <p:spPr bwMode="auto">
            <a:xfrm>
              <a:off x="6455095" y="1778106"/>
              <a:ext cx="972307" cy="2030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93" name="Rectangle 206"/>
            <p:cNvSpPr>
              <a:spLocks noChangeArrowheads="1"/>
            </p:cNvSpPr>
            <p:nvPr/>
          </p:nvSpPr>
          <p:spPr bwMode="auto">
            <a:xfrm>
              <a:off x="6025191" y="1778106"/>
              <a:ext cx="425887" cy="2018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196" name="Rectangle 212"/>
            <p:cNvSpPr>
              <a:spLocks noChangeArrowheads="1"/>
            </p:cNvSpPr>
            <p:nvPr/>
          </p:nvSpPr>
          <p:spPr bwMode="auto">
            <a:xfrm>
              <a:off x="7471598" y="2943972"/>
              <a:ext cx="771746" cy="2711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i="1" dirty="0" smtClean="0">
                  <a:ea typeface="微软雅黑" panose="020B0503020204020204" pitchFamily="34" charset="-122"/>
                  <a:cs typeface="Times New Roman" panose="02020603050405020304" pitchFamily="18" charset="0"/>
                </a:rPr>
                <a:t>’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X,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205" name="Line 222"/>
            <p:cNvSpPr>
              <a:spLocks noChangeShapeType="1"/>
            </p:cNvSpPr>
            <p:nvPr/>
          </p:nvSpPr>
          <p:spPr bwMode="auto">
            <a:xfrm rot="16200000" flipH="1">
              <a:off x="5772428" y="2464876"/>
              <a:ext cx="9581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Rectangle 206"/>
            <p:cNvSpPr>
              <a:spLocks noChangeArrowheads="1"/>
            </p:cNvSpPr>
            <p:nvPr/>
          </p:nvSpPr>
          <p:spPr bwMode="auto">
            <a:xfrm>
              <a:off x="6022512" y="2973140"/>
              <a:ext cx="425887" cy="2018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212" name="Text Box 172"/>
            <p:cNvSpPr txBox="1">
              <a:spLocks noChangeArrowheads="1"/>
            </p:cNvSpPr>
            <p:nvPr/>
          </p:nvSpPr>
          <p:spPr bwMode="auto">
            <a:xfrm>
              <a:off x="7585964" y="1501990"/>
              <a:ext cx="718120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2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3" name="组合 113"/>
            <p:cNvGrpSpPr>
              <a:grpSpLocks/>
            </p:cNvGrpSpPr>
            <p:nvPr/>
          </p:nvGrpSpPr>
          <p:grpSpPr bwMode="auto">
            <a:xfrm>
              <a:off x="7328516" y="2147067"/>
              <a:ext cx="1107997" cy="518400"/>
              <a:chOff x="3580214" y="4066386"/>
              <a:chExt cx="1315349" cy="582322"/>
            </a:xfrm>
          </p:grpSpPr>
          <p:sp>
            <p:nvSpPr>
              <p:cNvPr id="214" name="矩形 112"/>
              <p:cNvSpPr>
                <a:spLocks noChangeArrowheads="1"/>
              </p:cNvSpPr>
              <p:nvPr/>
            </p:nvSpPr>
            <p:spPr bwMode="auto">
              <a:xfrm>
                <a:off x="3635896" y="4066386"/>
                <a:ext cx="1149628" cy="58232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Text Box 223"/>
              <p:cNvSpPr txBox="1">
                <a:spLocks noChangeArrowheads="1"/>
              </p:cNvSpPr>
              <p:nvPr/>
            </p:nvSpPr>
            <p:spPr bwMode="auto">
              <a:xfrm>
                <a:off x="3580214" y="4187508"/>
                <a:ext cx="1315349" cy="3285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哈希函数运算</a:t>
                </a:r>
                <a:endPara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216" name="肘形连接符 118"/>
            <p:cNvCxnSpPr>
              <a:cxnSpLocks noChangeShapeType="1"/>
            </p:cNvCxnSpPr>
            <p:nvPr/>
          </p:nvCxnSpPr>
          <p:spPr bwMode="auto">
            <a:xfrm rot="16200000" flipH="1">
              <a:off x="7405829" y="1891199"/>
              <a:ext cx="298426" cy="247244"/>
            </a:xfrm>
            <a:prstGeom prst="bentConnector3">
              <a:avLst>
                <a:gd name="adj1" fmla="val -1068"/>
              </a:avLst>
            </a:prstGeom>
            <a:noFill/>
            <a:ln w="2857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8" name="Line 221"/>
            <p:cNvSpPr>
              <a:spLocks noChangeShapeType="1"/>
            </p:cNvSpPr>
            <p:nvPr/>
          </p:nvSpPr>
          <p:spPr bwMode="auto">
            <a:xfrm rot="16200000" flipH="1" flipV="1">
              <a:off x="7764079" y="1955443"/>
              <a:ext cx="3873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TextBox 103"/>
            <p:cNvSpPr txBox="1">
              <a:spLocks noChangeArrowheads="1"/>
            </p:cNvSpPr>
            <p:nvPr/>
          </p:nvSpPr>
          <p:spPr bwMode="auto">
            <a:xfrm rot="16200000">
              <a:off x="6265527" y="1961476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221"/>
            <p:cNvSpPr>
              <a:spLocks noChangeShapeType="1"/>
            </p:cNvSpPr>
            <p:nvPr/>
          </p:nvSpPr>
          <p:spPr bwMode="auto">
            <a:xfrm rot="16200000" flipH="1">
              <a:off x="7710823" y="2813045"/>
              <a:ext cx="264840" cy="40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9" name="直接连接符 109"/>
            <p:cNvCxnSpPr>
              <a:cxnSpLocks noChangeShapeType="1"/>
            </p:cNvCxnSpPr>
            <p:nvPr/>
          </p:nvCxnSpPr>
          <p:spPr bwMode="auto">
            <a:xfrm>
              <a:off x="6461791" y="1716946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Text Box 213"/>
            <p:cNvSpPr txBox="1">
              <a:spLocks noChangeArrowheads="1"/>
            </p:cNvSpPr>
            <p:nvPr/>
          </p:nvSpPr>
          <p:spPr bwMode="auto">
            <a:xfrm>
              <a:off x="5846584" y="3143464"/>
              <a:ext cx="793998" cy="348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2000"/>
                </a:lnSpc>
              </a:pP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 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Text Box 213"/>
            <p:cNvSpPr txBox="1">
              <a:spLocks noChangeArrowheads="1"/>
            </p:cNvSpPr>
            <p:nvPr/>
          </p:nvSpPr>
          <p:spPr bwMode="auto">
            <a:xfrm>
              <a:off x="5781269" y="1432536"/>
              <a:ext cx="793998" cy="348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2000"/>
                </a:lnSpc>
              </a:pP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 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2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4363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35189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数字签名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对报文进行鉴别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88623" y="1932769"/>
            <a:ext cx="8102267" cy="223537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矩形 155"/>
          <p:cNvSpPr/>
          <p:nvPr/>
        </p:nvSpPr>
        <p:spPr>
          <a:xfrm>
            <a:off x="714096" y="4135254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没有对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报文进行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加密，而是对很短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的哈希 </a:t>
            </a:r>
            <a:r>
              <a:rPr lang="en-US" altLang="zh-CN" sz="1600" b="1" i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 </a:t>
            </a:r>
            <a:r>
              <a:rPr lang="en-US" altLang="zh-CN" sz="1600" b="1" i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运算。</a:t>
            </a:r>
            <a:endParaRPr lang="en-US" altLang="zh-CN" sz="1600" b="1" kern="500" dirty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入侵者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 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私钥，因此不可能伪造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出 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发出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的报文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b="1" kern="500" dirty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7" name="Rectangle 46"/>
          <p:cNvSpPr>
            <a:spLocks noChangeArrowheads="1"/>
          </p:cNvSpPr>
          <p:nvPr/>
        </p:nvSpPr>
        <p:spPr bwMode="auto">
          <a:xfrm>
            <a:off x="509474" y="936728"/>
            <a:ext cx="8129016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如何分发共享密钥 </a:t>
            </a:r>
            <a:r>
              <a:rPr lang="en-US" altLang="zh-CN" sz="20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 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采用安全有效的密钥方法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：采用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钥系统。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Text Box 48"/>
          <p:cNvSpPr txBox="1">
            <a:spLocks noChangeArrowheads="1"/>
          </p:cNvSpPr>
          <p:nvPr/>
        </p:nvSpPr>
        <p:spPr bwMode="auto">
          <a:xfrm>
            <a:off x="1015374" y="2142295"/>
            <a:ext cx="300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grpSp>
        <p:nvGrpSpPr>
          <p:cNvPr id="165" name="Group 103"/>
          <p:cNvGrpSpPr>
            <a:grpSpLocks/>
          </p:cNvGrpSpPr>
          <p:nvPr/>
        </p:nvGrpSpPr>
        <p:grpSpPr bwMode="auto">
          <a:xfrm>
            <a:off x="1213627" y="2143482"/>
            <a:ext cx="450317" cy="376225"/>
            <a:chOff x="921" y="2412"/>
            <a:chExt cx="284" cy="265"/>
          </a:xfrm>
        </p:grpSpPr>
        <p:grpSp>
          <p:nvGrpSpPr>
            <p:cNvPr id="166" name="Group 10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80" name="Freeform 10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0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Rectangle 10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Rectangle 11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Rectangle 11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11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8" name="Group 11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89" name="Freeform 11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0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Rectangle 11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67" name="Group 11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168" name="Freeform 11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2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Rectangle 12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12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Rectangle 12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12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6" name="Group 12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77" name="Freeform 12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8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92" name="Rectangle 165"/>
          <p:cNvSpPr>
            <a:spLocks noChangeArrowheads="1"/>
          </p:cNvSpPr>
          <p:nvPr/>
        </p:nvSpPr>
        <p:spPr bwMode="auto">
          <a:xfrm>
            <a:off x="911999" y="2601597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85525" y="2787930"/>
            <a:ext cx="1036067" cy="1366505"/>
            <a:chOff x="685525" y="2787930"/>
            <a:chExt cx="1036067" cy="1366505"/>
          </a:xfrm>
        </p:grpSpPr>
        <p:sp>
          <p:nvSpPr>
            <p:cNvPr id="161" name="Line 203"/>
            <p:cNvSpPr>
              <a:spLocks noChangeShapeType="1"/>
            </p:cNvSpPr>
            <p:nvPr/>
          </p:nvSpPr>
          <p:spPr bwMode="auto">
            <a:xfrm rot="5400000">
              <a:off x="982321" y="3218903"/>
              <a:ext cx="874691" cy="127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Rectangle 169"/>
            <p:cNvSpPr>
              <a:spLocks noChangeArrowheads="1"/>
            </p:cNvSpPr>
            <p:nvPr/>
          </p:nvSpPr>
          <p:spPr bwMode="auto">
            <a:xfrm>
              <a:off x="1169727" y="3666181"/>
              <a:ext cx="448901" cy="21600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GB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en-GB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GB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Text Box 204"/>
            <p:cNvSpPr txBox="1">
              <a:spLocks noChangeArrowheads="1"/>
            </p:cNvSpPr>
            <p:nvPr/>
          </p:nvSpPr>
          <p:spPr bwMode="auto">
            <a:xfrm>
              <a:off x="1075261" y="3877436"/>
              <a:ext cx="64633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哈希值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Text Box 213"/>
            <p:cNvSpPr txBox="1">
              <a:spLocks noChangeArrowheads="1"/>
            </p:cNvSpPr>
            <p:nvPr/>
          </p:nvSpPr>
          <p:spPr bwMode="auto">
            <a:xfrm>
              <a:off x="685525" y="3003932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哈希函数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628540" y="3090570"/>
            <a:ext cx="1910292" cy="1077577"/>
            <a:chOff x="1628540" y="3090570"/>
            <a:chExt cx="1910292" cy="1077577"/>
          </a:xfrm>
        </p:grpSpPr>
        <p:sp>
          <p:nvSpPr>
            <p:cNvPr id="158" name="Line 219"/>
            <p:cNvSpPr>
              <a:spLocks noChangeShapeType="1"/>
            </p:cNvSpPr>
            <p:nvPr/>
          </p:nvSpPr>
          <p:spPr bwMode="auto">
            <a:xfrm rot="10800000" flipH="1">
              <a:off x="2412650" y="3779587"/>
              <a:ext cx="692470" cy="40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170"/>
            <p:cNvSpPr>
              <a:spLocks noChangeArrowheads="1"/>
            </p:cNvSpPr>
            <p:nvPr/>
          </p:nvSpPr>
          <p:spPr bwMode="auto">
            <a:xfrm>
              <a:off x="2054784" y="3649566"/>
              <a:ext cx="591926" cy="269409"/>
            </a:xfrm>
            <a:prstGeom prst="rect">
              <a:avLst/>
            </a:prstGeom>
            <a:solidFill>
              <a:srgbClr val="66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90099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 </a:t>
              </a:r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Rectangle 171"/>
            <p:cNvSpPr>
              <a:spLocks noChangeArrowheads="1"/>
            </p:cNvSpPr>
            <p:nvPr/>
          </p:nvSpPr>
          <p:spPr bwMode="auto">
            <a:xfrm>
              <a:off x="3097026" y="3666181"/>
              <a:ext cx="427139" cy="25279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lang="en-US" altLang="zh-CN" sz="1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Text Box 172"/>
            <p:cNvSpPr txBox="1">
              <a:spLocks noChangeArrowheads="1"/>
            </p:cNvSpPr>
            <p:nvPr/>
          </p:nvSpPr>
          <p:spPr bwMode="auto">
            <a:xfrm>
              <a:off x="1876357" y="3090570"/>
              <a:ext cx="761747" cy="29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的私钥</a:t>
              </a:r>
              <a:endParaRPr lang="zh-CN" altLang="en-US" sz="1200" b="1" i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Text Box 211"/>
            <p:cNvSpPr txBox="1">
              <a:spLocks noChangeArrowheads="1"/>
            </p:cNvSpPr>
            <p:nvPr/>
          </p:nvSpPr>
          <p:spPr bwMode="auto">
            <a:xfrm>
              <a:off x="3046389" y="3891148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签名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Line 214"/>
            <p:cNvSpPr>
              <a:spLocks noChangeShapeType="1"/>
            </p:cNvSpPr>
            <p:nvPr/>
          </p:nvSpPr>
          <p:spPr bwMode="auto">
            <a:xfrm rot="5400000" flipV="1">
              <a:off x="2199251" y="3495278"/>
              <a:ext cx="3228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Line 218"/>
            <p:cNvSpPr>
              <a:spLocks noChangeShapeType="1"/>
            </p:cNvSpPr>
            <p:nvPr/>
          </p:nvSpPr>
          <p:spPr bwMode="auto">
            <a:xfrm rot="10800000" flipH="1" flipV="1">
              <a:off x="1628540" y="3772996"/>
              <a:ext cx="4262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78" name="Picture 5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582114" y="3161100"/>
              <a:ext cx="306201" cy="177011"/>
            </a:xfrm>
            <a:prstGeom prst="rect">
              <a:avLst/>
            </a:prstGeom>
            <a:noFill/>
            <a:ln w="12699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0" name="Text Box 175"/>
          <p:cNvSpPr txBox="1">
            <a:spLocks noChangeArrowheads="1"/>
          </p:cNvSpPr>
          <p:nvPr/>
        </p:nvSpPr>
        <p:spPr bwMode="auto">
          <a:xfrm>
            <a:off x="6852849" y="1961420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grpSp>
        <p:nvGrpSpPr>
          <p:cNvPr id="201" name="Group 176"/>
          <p:cNvGrpSpPr>
            <a:grpSpLocks/>
          </p:cNvGrpSpPr>
          <p:nvPr/>
        </p:nvGrpSpPr>
        <p:grpSpPr bwMode="auto">
          <a:xfrm>
            <a:off x="7051101" y="1962607"/>
            <a:ext cx="450317" cy="376225"/>
            <a:chOff x="921" y="2412"/>
            <a:chExt cx="284" cy="265"/>
          </a:xfrm>
        </p:grpSpPr>
        <p:grpSp>
          <p:nvGrpSpPr>
            <p:cNvPr id="202" name="Group 177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6" name="Freeform 178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Freeform 17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180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18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Rectangle 182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Rectangle 183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Rectangle 184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Line 185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4" name="Group 186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25" name="Freeform 187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6" name="Freeform 18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Rectangle 189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03" name="Group 190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4" name="Freeform 191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19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193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19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Rectangle 195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Rectangle 196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Rectangle 197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Line 198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2" name="Group 199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3" name="Freeform 200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4" name="Freeform 20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10" name="组合 9"/>
          <p:cNvGrpSpPr/>
          <p:nvPr/>
        </p:nvGrpSpPr>
        <p:grpSpPr>
          <a:xfrm>
            <a:off x="6716825" y="3298539"/>
            <a:ext cx="1013711" cy="727250"/>
            <a:chOff x="6716825" y="3298539"/>
            <a:chExt cx="1013711" cy="727250"/>
          </a:xfrm>
        </p:grpSpPr>
        <p:sp>
          <p:nvSpPr>
            <p:cNvPr id="281" name="菱形 105"/>
            <p:cNvSpPr>
              <a:spLocks noChangeArrowheads="1"/>
            </p:cNvSpPr>
            <p:nvPr/>
          </p:nvSpPr>
          <p:spPr bwMode="auto">
            <a:xfrm>
              <a:off x="7059112" y="3542751"/>
              <a:ext cx="385176" cy="483038"/>
            </a:xfrm>
            <a:prstGeom prst="diamond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Text Box 213"/>
            <p:cNvSpPr txBox="1">
              <a:spLocks noChangeArrowheads="1"/>
            </p:cNvSpPr>
            <p:nvPr/>
          </p:nvSpPr>
          <p:spPr bwMode="auto">
            <a:xfrm>
              <a:off x="7065465" y="3650752"/>
              <a:ext cx="404324" cy="271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400"/>
                </a:lnSpc>
              </a:pP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=?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Text Box 204"/>
            <p:cNvSpPr txBox="1">
              <a:spLocks noChangeArrowheads="1"/>
            </p:cNvSpPr>
            <p:nvPr/>
          </p:nvSpPr>
          <p:spPr bwMode="auto">
            <a:xfrm>
              <a:off x="7001042" y="3298539"/>
              <a:ext cx="492443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700"/>
                </a:lnSpc>
              </a:pPr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  <p:sp>
          <p:nvSpPr>
            <p:cNvPr id="285" name="Line 214"/>
            <p:cNvSpPr>
              <a:spLocks noChangeShapeType="1"/>
            </p:cNvSpPr>
            <p:nvPr/>
          </p:nvSpPr>
          <p:spPr bwMode="auto">
            <a:xfrm rot="10800000" flipH="1">
              <a:off x="6716825" y="3793171"/>
              <a:ext cx="349045" cy="150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Line 214"/>
            <p:cNvSpPr>
              <a:spLocks noChangeShapeType="1"/>
            </p:cNvSpPr>
            <p:nvPr/>
          </p:nvSpPr>
          <p:spPr bwMode="auto">
            <a:xfrm rot="10800000">
              <a:off x="7444288" y="3793171"/>
              <a:ext cx="286248" cy="71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161268" y="2363267"/>
            <a:ext cx="1297133" cy="1779300"/>
            <a:chOff x="7161268" y="2363267"/>
            <a:chExt cx="1297133" cy="1779300"/>
          </a:xfrm>
        </p:grpSpPr>
        <p:sp>
          <p:nvSpPr>
            <p:cNvPr id="259" name="Rectangle 212"/>
            <p:cNvSpPr>
              <a:spLocks noChangeArrowheads="1"/>
            </p:cNvSpPr>
            <p:nvPr/>
          </p:nvSpPr>
          <p:spPr bwMode="auto">
            <a:xfrm>
              <a:off x="7719208" y="3666181"/>
              <a:ext cx="450317" cy="21600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i="1" dirty="0" smtClean="0">
                  <a:ea typeface="微软雅黑" panose="020B0503020204020204" pitchFamily="34" charset="-122"/>
                  <a:cs typeface="Times New Roman" panose="02020603050405020304" pitchFamily="18" charset="0"/>
                </a:rPr>
                <a:t>’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Text Box 223"/>
            <p:cNvSpPr txBox="1">
              <a:spLocks noChangeArrowheads="1"/>
            </p:cNvSpPr>
            <p:nvPr/>
          </p:nvSpPr>
          <p:spPr bwMode="auto">
            <a:xfrm>
              <a:off x="7200075" y="2854392"/>
              <a:ext cx="8002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哈希函数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</a:t>
              </a:r>
            </a:p>
          </p:txBody>
        </p:sp>
        <p:cxnSp>
          <p:nvCxnSpPr>
            <p:cNvPr id="280" name="肘形连接符 106"/>
            <p:cNvCxnSpPr>
              <a:cxnSpLocks noChangeShapeType="1"/>
              <a:stCxn id="122" idx="2"/>
              <a:endCxn id="259" idx="0"/>
            </p:cNvCxnSpPr>
            <p:nvPr/>
          </p:nvCxnSpPr>
          <p:spPr bwMode="auto">
            <a:xfrm>
              <a:off x="7944361" y="2579270"/>
              <a:ext cx="6" cy="1086911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6" name="Text Box 204"/>
            <p:cNvSpPr txBox="1">
              <a:spLocks noChangeArrowheads="1"/>
            </p:cNvSpPr>
            <p:nvPr/>
          </p:nvSpPr>
          <p:spPr bwMode="auto">
            <a:xfrm>
              <a:off x="7646690" y="3865568"/>
              <a:ext cx="64633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哈希值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9"/>
            <p:cNvSpPr>
              <a:spLocks noChangeShapeType="1"/>
            </p:cNvSpPr>
            <p:nvPr/>
          </p:nvSpPr>
          <p:spPr bwMode="auto">
            <a:xfrm flipV="1">
              <a:off x="7161268" y="2475571"/>
              <a:ext cx="485422" cy="43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Rectangle 173"/>
            <p:cNvSpPr>
              <a:spLocks noChangeArrowheads="1"/>
            </p:cNvSpPr>
            <p:nvPr/>
          </p:nvSpPr>
          <p:spPr bwMode="auto">
            <a:xfrm>
              <a:off x="7430320" y="2363267"/>
              <a:ext cx="1028081" cy="21600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78408" y="2660414"/>
            <a:ext cx="1738547" cy="1482153"/>
            <a:chOff x="5078408" y="2660414"/>
            <a:chExt cx="1738547" cy="1482153"/>
          </a:xfrm>
        </p:grpSpPr>
        <p:pic>
          <p:nvPicPr>
            <p:cNvPr id="163" name="Picture 4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741683" y="3181275"/>
              <a:ext cx="306201" cy="177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7" name="Rectangle 210"/>
            <p:cNvSpPr>
              <a:spLocks noChangeArrowheads="1"/>
            </p:cNvSpPr>
            <p:nvPr/>
          </p:nvSpPr>
          <p:spPr bwMode="auto">
            <a:xfrm>
              <a:off x="6266508" y="3666181"/>
              <a:ext cx="450317" cy="21600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GB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en-GB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GB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Text Box 215"/>
            <p:cNvSpPr txBox="1">
              <a:spLocks noChangeArrowheads="1"/>
            </p:cNvSpPr>
            <p:nvPr/>
          </p:nvSpPr>
          <p:spPr bwMode="auto">
            <a:xfrm>
              <a:off x="5078408" y="3143977"/>
              <a:ext cx="761747" cy="29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1200" b="1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1200" b="1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</a:t>
              </a:r>
              <a:endParaRPr lang="zh-CN" altLang="en-US" sz="1200" b="1" i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Line 220"/>
            <p:cNvSpPr>
              <a:spLocks noChangeShapeType="1"/>
            </p:cNvSpPr>
            <p:nvPr/>
          </p:nvSpPr>
          <p:spPr bwMode="auto">
            <a:xfrm>
              <a:off x="5945055" y="3301825"/>
              <a:ext cx="300211" cy="35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Line 221"/>
            <p:cNvSpPr>
              <a:spLocks noChangeShapeType="1"/>
            </p:cNvSpPr>
            <p:nvPr/>
          </p:nvSpPr>
          <p:spPr bwMode="auto">
            <a:xfrm rot="16200000" flipH="1">
              <a:off x="6355403" y="3522002"/>
              <a:ext cx="319257" cy="70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Rectangle 170"/>
            <p:cNvSpPr>
              <a:spLocks noChangeArrowheads="1"/>
            </p:cNvSpPr>
            <p:nvPr/>
          </p:nvSpPr>
          <p:spPr bwMode="auto">
            <a:xfrm>
              <a:off x="6236770" y="3165340"/>
              <a:ext cx="574933" cy="268223"/>
            </a:xfrm>
            <a:prstGeom prst="rect">
              <a:avLst/>
            </a:prstGeom>
            <a:solidFill>
              <a:srgbClr val="66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90099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</a:t>
              </a:r>
            </a:p>
          </p:txBody>
        </p:sp>
        <p:sp>
          <p:nvSpPr>
            <p:cNvPr id="287" name="Text Box 204"/>
            <p:cNvSpPr txBox="1">
              <a:spLocks noChangeArrowheads="1"/>
            </p:cNvSpPr>
            <p:nvPr/>
          </p:nvSpPr>
          <p:spPr bwMode="auto">
            <a:xfrm>
              <a:off x="6170624" y="3865568"/>
              <a:ext cx="64633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哈希值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Line 222"/>
            <p:cNvSpPr>
              <a:spLocks noChangeShapeType="1"/>
            </p:cNvSpPr>
            <p:nvPr/>
          </p:nvSpPr>
          <p:spPr bwMode="auto">
            <a:xfrm rot="16200000" flipH="1">
              <a:off x="6280329" y="2915633"/>
              <a:ext cx="510862" cy="4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889840" y="2176881"/>
            <a:ext cx="5359128" cy="1489300"/>
            <a:chOff x="1889840" y="2176881"/>
            <a:chExt cx="5359128" cy="1489300"/>
          </a:xfrm>
        </p:grpSpPr>
        <p:graphicFrame>
          <p:nvGraphicFramePr>
            <p:cNvPr id="160" name="Object 228"/>
            <p:cNvGraphicFramePr>
              <a:graphicFrameLocks noChangeAspect="1"/>
            </p:cNvGraphicFramePr>
            <p:nvPr>
              <p:extLst/>
            </p:nvPr>
          </p:nvGraphicFramePr>
          <p:xfrm>
            <a:off x="4765244" y="2376100"/>
            <a:ext cx="1348118" cy="681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VISIO" r:id="rId6" imgW="1687068" imgH="964692" progId="">
                    <p:embed/>
                  </p:oleObj>
                </mc:Choice>
                <mc:Fallback>
                  <p:oleObj name="VISIO" r:id="rId6" imgW="1687068" imgH="964692" progId="">
                    <p:embed/>
                    <p:pic>
                      <p:nvPicPr>
                        <p:cNvPr id="160" name="Object 2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5244" y="2376100"/>
                          <a:ext cx="1348118" cy="681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25400" dir="54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2" name="Line 9"/>
            <p:cNvSpPr>
              <a:spLocks noChangeShapeType="1"/>
            </p:cNvSpPr>
            <p:nvPr/>
          </p:nvSpPr>
          <p:spPr bwMode="auto">
            <a:xfrm>
              <a:off x="1889840" y="2706038"/>
              <a:ext cx="12206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流程图: 可选过程 1"/>
            <p:cNvSpPr/>
            <p:nvPr/>
          </p:nvSpPr>
          <p:spPr>
            <a:xfrm>
              <a:off x="3518710" y="2399199"/>
              <a:ext cx="1145657" cy="584638"/>
            </a:xfrm>
            <a:prstGeom prst="flowChartAlternateProcess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Text Box 208"/>
            <p:cNvSpPr txBox="1">
              <a:spLocks noChangeArrowheads="1"/>
            </p:cNvSpPr>
            <p:nvPr/>
          </p:nvSpPr>
          <p:spPr bwMode="auto">
            <a:xfrm>
              <a:off x="5237739" y="2437285"/>
              <a:ext cx="53893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 </a:t>
              </a:r>
            </a:p>
          </p:txBody>
        </p:sp>
        <p:sp>
          <p:nvSpPr>
            <p:cNvPr id="264" name="Line 217"/>
            <p:cNvSpPr>
              <a:spLocks noChangeShapeType="1"/>
            </p:cNvSpPr>
            <p:nvPr/>
          </p:nvSpPr>
          <p:spPr bwMode="auto">
            <a:xfrm rot="16200000" flipV="1">
              <a:off x="2858796" y="3235363"/>
              <a:ext cx="8616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AutoShape 227"/>
            <p:cNvSpPr>
              <a:spLocks noChangeArrowheads="1"/>
            </p:cNvSpPr>
            <p:nvPr/>
          </p:nvSpPr>
          <p:spPr bwMode="auto">
            <a:xfrm>
              <a:off x="4694574" y="2665996"/>
              <a:ext cx="1398964" cy="81581"/>
            </a:xfrm>
            <a:prstGeom prst="rightArrow">
              <a:avLst>
                <a:gd name="adj1" fmla="val 50000"/>
                <a:gd name="adj2" fmla="val 133456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Text Box 229"/>
            <p:cNvSpPr txBox="1">
              <a:spLocks noChangeArrowheads="1"/>
            </p:cNvSpPr>
            <p:nvPr/>
          </p:nvSpPr>
          <p:spPr bwMode="auto">
            <a:xfrm>
              <a:off x="5149165" y="2176881"/>
              <a:ext cx="64633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椭圆 108"/>
            <p:cNvSpPr>
              <a:spLocks noChangeArrowheads="1"/>
            </p:cNvSpPr>
            <p:nvPr/>
          </p:nvSpPr>
          <p:spPr bwMode="auto">
            <a:xfrm>
              <a:off x="3021014" y="2522686"/>
              <a:ext cx="486750" cy="327617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</a:p>
          </p:txBody>
        </p:sp>
        <p:sp>
          <p:nvSpPr>
            <p:cNvPr id="199" name="Rectangle 174"/>
            <p:cNvSpPr>
              <a:spLocks noChangeArrowheads="1"/>
            </p:cNvSpPr>
            <p:nvPr/>
          </p:nvSpPr>
          <p:spPr bwMode="auto">
            <a:xfrm>
              <a:off x="4101751" y="2722178"/>
              <a:ext cx="450317" cy="21600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lang="en-US" altLang="zh-CN" sz="1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Text Box 211"/>
            <p:cNvSpPr txBox="1">
              <a:spLocks noChangeArrowheads="1"/>
            </p:cNvSpPr>
            <p:nvPr/>
          </p:nvSpPr>
          <p:spPr bwMode="auto">
            <a:xfrm>
              <a:off x="3660991" y="2707385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签名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Rectangle 173"/>
            <p:cNvSpPr>
              <a:spLocks noChangeArrowheads="1"/>
            </p:cNvSpPr>
            <p:nvPr/>
          </p:nvSpPr>
          <p:spPr bwMode="auto">
            <a:xfrm>
              <a:off x="3548854" y="2449993"/>
              <a:ext cx="1028081" cy="21600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18" name="流程图: 可选过程 117"/>
            <p:cNvSpPr/>
            <p:nvPr/>
          </p:nvSpPr>
          <p:spPr>
            <a:xfrm>
              <a:off x="6103311" y="2321221"/>
              <a:ext cx="1145657" cy="584638"/>
            </a:xfrm>
            <a:prstGeom prst="flowChartAlternateProcess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Text Box 211"/>
            <p:cNvSpPr txBox="1">
              <a:spLocks noChangeArrowheads="1"/>
            </p:cNvSpPr>
            <p:nvPr/>
          </p:nvSpPr>
          <p:spPr bwMode="auto">
            <a:xfrm>
              <a:off x="6748009" y="2629407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签名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Rectangle 173"/>
            <p:cNvSpPr>
              <a:spLocks noChangeArrowheads="1"/>
            </p:cNvSpPr>
            <p:nvPr/>
          </p:nvSpPr>
          <p:spPr bwMode="auto">
            <a:xfrm>
              <a:off x="6133455" y="2372015"/>
              <a:ext cx="1028081" cy="21600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21" name="Rectangle 174"/>
            <p:cNvSpPr>
              <a:spLocks noChangeArrowheads="1"/>
            </p:cNvSpPr>
            <p:nvPr/>
          </p:nvSpPr>
          <p:spPr bwMode="auto">
            <a:xfrm>
              <a:off x="6325270" y="2653478"/>
              <a:ext cx="450317" cy="21600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lang="en-US" altLang="zh-CN" sz="1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1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0221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35189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数字签名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对报文进行鉴别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536223" y="1932769"/>
            <a:ext cx="8133857" cy="223537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矩形 155"/>
          <p:cNvSpPr/>
          <p:nvPr/>
        </p:nvSpPr>
        <p:spPr>
          <a:xfrm>
            <a:off x="714096" y="4135254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没有对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报文进行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加密，而是对很短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的哈希 </a:t>
            </a:r>
            <a:r>
              <a:rPr lang="en-US" altLang="zh-CN" sz="1600" b="1" i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 </a:t>
            </a:r>
            <a:r>
              <a:rPr lang="en-US" altLang="zh-CN" sz="1600" b="1" i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运算，计算效率高。</a:t>
            </a:r>
            <a:endParaRPr lang="en-US" altLang="zh-CN" sz="1600" b="1" kern="500" dirty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入侵者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 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私钥，因此不可能伪造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出 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发出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的报文</a:t>
            </a:r>
            <a:r>
              <a:rPr lang="zh-CN" altLang="en-US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b="1" kern="500" dirty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7" name="Rectangle 46"/>
          <p:cNvSpPr>
            <a:spLocks noChangeArrowheads="1"/>
          </p:cNvSpPr>
          <p:nvPr/>
        </p:nvSpPr>
        <p:spPr bwMode="auto">
          <a:xfrm>
            <a:off x="509474" y="936728"/>
            <a:ext cx="8129016" cy="1019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如何分发共享密钥 </a:t>
            </a:r>
            <a:r>
              <a:rPr lang="en-US" altLang="zh-CN" sz="20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 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采用安全有效的密钥方法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：采用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公钥系统。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Line 219"/>
          <p:cNvSpPr>
            <a:spLocks noChangeShapeType="1"/>
          </p:cNvSpPr>
          <p:nvPr/>
        </p:nvSpPr>
        <p:spPr bwMode="auto">
          <a:xfrm rot="10800000" flipH="1">
            <a:off x="2260250" y="3779587"/>
            <a:ext cx="692470" cy="40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0" name="Object 228"/>
          <p:cNvGraphicFramePr>
            <a:graphicFrameLocks noChangeAspect="1"/>
          </p:cNvGraphicFramePr>
          <p:nvPr>
            <p:extLst/>
          </p:nvPr>
        </p:nvGraphicFramePr>
        <p:xfrm>
          <a:off x="4871924" y="2376100"/>
          <a:ext cx="1348118" cy="681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VISIO" r:id="rId4" imgW="1687068" imgH="964692" progId="">
                  <p:embed/>
                </p:oleObj>
              </mc:Choice>
              <mc:Fallback>
                <p:oleObj name="VISIO" r:id="rId4" imgW="1687068" imgH="964692" progId="">
                  <p:embed/>
                  <p:pic>
                    <p:nvPicPr>
                      <p:cNvPr id="160" name="Object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924" y="2376100"/>
                        <a:ext cx="1348118" cy="681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Line 203"/>
          <p:cNvSpPr>
            <a:spLocks noChangeShapeType="1"/>
          </p:cNvSpPr>
          <p:nvPr/>
        </p:nvSpPr>
        <p:spPr bwMode="auto">
          <a:xfrm rot="5400000">
            <a:off x="829921" y="3218903"/>
            <a:ext cx="874691" cy="127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Line 9"/>
          <p:cNvSpPr>
            <a:spLocks noChangeShapeType="1"/>
          </p:cNvSpPr>
          <p:nvPr/>
        </p:nvSpPr>
        <p:spPr bwMode="auto">
          <a:xfrm>
            <a:off x="1737440" y="2706038"/>
            <a:ext cx="12206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3" name="Picture 47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848363" y="3181275"/>
            <a:ext cx="306201" cy="17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 Box 48"/>
          <p:cNvSpPr txBox="1">
            <a:spLocks noChangeArrowheads="1"/>
          </p:cNvSpPr>
          <p:nvPr/>
        </p:nvSpPr>
        <p:spPr bwMode="auto">
          <a:xfrm>
            <a:off x="862974" y="2142295"/>
            <a:ext cx="300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grpSp>
        <p:nvGrpSpPr>
          <p:cNvPr id="165" name="Group 103"/>
          <p:cNvGrpSpPr>
            <a:grpSpLocks/>
          </p:cNvGrpSpPr>
          <p:nvPr/>
        </p:nvGrpSpPr>
        <p:grpSpPr bwMode="auto">
          <a:xfrm>
            <a:off x="1061227" y="2143482"/>
            <a:ext cx="450317" cy="376225"/>
            <a:chOff x="921" y="2412"/>
            <a:chExt cx="284" cy="265"/>
          </a:xfrm>
        </p:grpSpPr>
        <p:grpSp>
          <p:nvGrpSpPr>
            <p:cNvPr id="166" name="Group 10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80" name="Freeform 10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0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Rectangle 10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Rectangle 11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Rectangle 11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11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8" name="Group 11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89" name="Freeform 11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0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Rectangle 11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67" name="Group 11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168" name="Freeform 11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2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Rectangle 12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12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Rectangle 12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12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6" name="Group 12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77" name="Freeform 12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8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92" name="Rectangle 165"/>
          <p:cNvSpPr>
            <a:spLocks noChangeArrowheads="1"/>
          </p:cNvSpPr>
          <p:nvPr/>
        </p:nvSpPr>
        <p:spPr bwMode="auto">
          <a:xfrm>
            <a:off x="759599" y="2601597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94" name="Rectangle 169"/>
          <p:cNvSpPr>
            <a:spLocks noChangeArrowheads="1"/>
          </p:cNvSpPr>
          <p:nvPr/>
        </p:nvSpPr>
        <p:spPr bwMode="auto">
          <a:xfrm>
            <a:off x="1017327" y="3666181"/>
            <a:ext cx="448901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Rectangle 170"/>
          <p:cNvSpPr>
            <a:spLocks noChangeArrowheads="1"/>
          </p:cNvSpPr>
          <p:nvPr/>
        </p:nvSpPr>
        <p:spPr bwMode="auto">
          <a:xfrm>
            <a:off x="1902384" y="3649566"/>
            <a:ext cx="591926" cy="269409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Rectangle 171"/>
          <p:cNvSpPr>
            <a:spLocks noChangeArrowheads="1"/>
          </p:cNvSpPr>
          <p:nvPr/>
        </p:nvSpPr>
        <p:spPr bwMode="auto">
          <a:xfrm>
            <a:off x="2944626" y="3666181"/>
            <a:ext cx="427139" cy="2527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1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" name="Text Box 172"/>
          <p:cNvSpPr txBox="1">
            <a:spLocks noChangeArrowheads="1"/>
          </p:cNvSpPr>
          <p:nvPr/>
        </p:nvSpPr>
        <p:spPr bwMode="auto">
          <a:xfrm>
            <a:off x="1723957" y="3090570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</a:t>
            </a:r>
            <a:endParaRPr lang="zh-CN" altLang="en-US" sz="1200" b="1" i="1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8" name="Text Box 204"/>
          <p:cNvSpPr txBox="1">
            <a:spLocks noChangeArrowheads="1"/>
          </p:cNvSpPr>
          <p:nvPr/>
        </p:nvSpPr>
        <p:spPr bwMode="auto">
          <a:xfrm>
            <a:off x="922861" y="3877436"/>
            <a:ext cx="646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哈希值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流程图: 可选过程 1"/>
          <p:cNvSpPr/>
          <p:nvPr/>
        </p:nvSpPr>
        <p:spPr>
          <a:xfrm>
            <a:off x="3686350" y="2399199"/>
            <a:ext cx="1145657" cy="584638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Text Box 208"/>
          <p:cNvSpPr txBox="1">
            <a:spLocks noChangeArrowheads="1"/>
          </p:cNvSpPr>
          <p:nvPr/>
        </p:nvSpPr>
        <p:spPr bwMode="auto">
          <a:xfrm>
            <a:off x="5344419" y="2437285"/>
            <a:ext cx="5389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 </a:t>
            </a:r>
          </a:p>
        </p:txBody>
      </p:sp>
      <p:sp>
        <p:nvSpPr>
          <p:cNvPr id="257" name="Rectangle 210"/>
          <p:cNvSpPr>
            <a:spLocks noChangeArrowheads="1"/>
          </p:cNvSpPr>
          <p:nvPr/>
        </p:nvSpPr>
        <p:spPr bwMode="auto">
          <a:xfrm>
            <a:off x="6373188" y="3666181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Text Box 211"/>
          <p:cNvSpPr txBox="1">
            <a:spLocks noChangeArrowheads="1"/>
          </p:cNvSpPr>
          <p:nvPr/>
        </p:nvSpPr>
        <p:spPr bwMode="auto">
          <a:xfrm>
            <a:off x="2893989" y="3891148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Rectangle 212"/>
          <p:cNvSpPr>
            <a:spLocks noChangeArrowheads="1"/>
          </p:cNvSpPr>
          <p:nvPr/>
        </p:nvSpPr>
        <p:spPr bwMode="auto">
          <a:xfrm>
            <a:off x="7825888" y="3666181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i="1" dirty="0" smtClean="0">
                <a:ea typeface="微软雅黑" panose="020B0503020204020204" pitchFamily="34" charset="-122"/>
                <a:cs typeface="Times New Roman" panose="02020603050405020304" pitchFamily="18" charset="0"/>
              </a:rPr>
              <a:t>’</a:t>
            </a:r>
            <a:r>
              <a: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Text Box 213"/>
          <p:cNvSpPr txBox="1">
            <a:spLocks noChangeArrowheads="1"/>
          </p:cNvSpPr>
          <p:nvPr/>
        </p:nvSpPr>
        <p:spPr bwMode="auto">
          <a:xfrm>
            <a:off x="533125" y="3003932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哈希函数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1" name="Line 214"/>
          <p:cNvSpPr>
            <a:spLocks noChangeShapeType="1"/>
          </p:cNvSpPr>
          <p:nvPr/>
        </p:nvSpPr>
        <p:spPr bwMode="auto">
          <a:xfrm rot="5400000" flipV="1">
            <a:off x="2046851" y="3495278"/>
            <a:ext cx="3228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Text Box 215"/>
          <p:cNvSpPr txBox="1">
            <a:spLocks noChangeArrowheads="1"/>
          </p:cNvSpPr>
          <p:nvPr/>
        </p:nvSpPr>
        <p:spPr bwMode="auto">
          <a:xfrm>
            <a:off x="5185088" y="3143977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zh-CN" altLang="en-US" sz="1200" b="1" i="1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Line 216"/>
          <p:cNvSpPr>
            <a:spLocks noChangeShapeType="1"/>
          </p:cNvSpPr>
          <p:nvPr/>
        </p:nvSpPr>
        <p:spPr bwMode="auto">
          <a:xfrm flipV="1">
            <a:off x="3359342" y="2719093"/>
            <a:ext cx="32145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Line 217"/>
          <p:cNvSpPr>
            <a:spLocks noChangeShapeType="1"/>
          </p:cNvSpPr>
          <p:nvPr/>
        </p:nvSpPr>
        <p:spPr bwMode="auto">
          <a:xfrm rot="16200000" flipV="1">
            <a:off x="2706396" y="3235363"/>
            <a:ext cx="861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Line 218"/>
          <p:cNvSpPr>
            <a:spLocks noChangeShapeType="1"/>
          </p:cNvSpPr>
          <p:nvPr/>
        </p:nvSpPr>
        <p:spPr bwMode="auto">
          <a:xfrm rot="10800000" flipH="1" flipV="1">
            <a:off x="1476140" y="3772996"/>
            <a:ext cx="42624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Line 220"/>
          <p:cNvSpPr>
            <a:spLocks noChangeShapeType="1"/>
          </p:cNvSpPr>
          <p:nvPr/>
        </p:nvSpPr>
        <p:spPr bwMode="auto">
          <a:xfrm>
            <a:off x="6051735" y="3301825"/>
            <a:ext cx="300211" cy="356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Line 221"/>
          <p:cNvSpPr>
            <a:spLocks noChangeShapeType="1"/>
          </p:cNvSpPr>
          <p:nvPr/>
        </p:nvSpPr>
        <p:spPr bwMode="auto">
          <a:xfrm rot="16200000" flipH="1">
            <a:off x="6462083" y="3522002"/>
            <a:ext cx="319257" cy="70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Text Box 223"/>
          <p:cNvSpPr txBox="1">
            <a:spLocks noChangeArrowheads="1"/>
          </p:cNvSpPr>
          <p:nvPr/>
        </p:nvSpPr>
        <p:spPr bwMode="auto">
          <a:xfrm>
            <a:off x="7306755" y="2854392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哈希函数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9" name="AutoShape 227"/>
          <p:cNvSpPr>
            <a:spLocks noChangeArrowheads="1"/>
          </p:cNvSpPr>
          <p:nvPr/>
        </p:nvSpPr>
        <p:spPr bwMode="auto">
          <a:xfrm>
            <a:off x="4801254" y="2665996"/>
            <a:ext cx="1398964" cy="81581"/>
          </a:xfrm>
          <a:prstGeom prst="rightArrow">
            <a:avLst>
              <a:gd name="adj1" fmla="val 50000"/>
              <a:gd name="adj2" fmla="val 133456"/>
            </a:avLst>
          </a:prstGeom>
          <a:solidFill>
            <a:srgbClr val="CC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0" name="Text Box 229"/>
          <p:cNvSpPr txBox="1">
            <a:spLocks noChangeArrowheads="1"/>
          </p:cNvSpPr>
          <p:nvPr/>
        </p:nvSpPr>
        <p:spPr bwMode="auto">
          <a:xfrm>
            <a:off x="5255845" y="2176881"/>
            <a:ext cx="646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3" name="Rectangle 170"/>
          <p:cNvSpPr>
            <a:spLocks noChangeArrowheads="1"/>
          </p:cNvSpPr>
          <p:nvPr/>
        </p:nvSpPr>
        <p:spPr bwMode="auto">
          <a:xfrm>
            <a:off x="6343450" y="3165340"/>
            <a:ext cx="574933" cy="268223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pic>
        <p:nvPicPr>
          <p:cNvPr id="278" name="Picture 50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29714" y="3161100"/>
            <a:ext cx="306201" cy="177011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0" name="肘形连接符 106"/>
          <p:cNvCxnSpPr>
            <a:cxnSpLocks noChangeShapeType="1"/>
            <a:stCxn id="122" idx="2"/>
            <a:endCxn id="259" idx="0"/>
          </p:cNvCxnSpPr>
          <p:nvPr/>
        </p:nvCxnSpPr>
        <p:spPr bwMode="auto">
          <a:xfrm>
            <a:off x="8051041" y="2579270"/>
            <a:ext cx="6" cy="1086911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1" name="菱形 105"/>
          <p:cNvSpPr>
            <a:spLocks noChangeArrowheads="1"/>
          </p:cNvSpPr>
          <p:nvPr/>
        </p:nvSpPr>
        <p:spPr bwMode="auto">
          <a:xfrm>
            <a:off x="7165792" y="3542751"/>
            <a:ext cx="385176" cy="483038"/>
          </a:xfrm>
          <a:prstGeom prst="diamond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2" name="Text Box 213"/>
          <p:cNvSpPr txBox="1">
            <a:spLocks noChangeArrowheads="1"/>
          </p:cNvSpPr>
          <p:nvPr/>
        </p:nvSpPr>
        <p:spPr bwMode="auto">
          <a:xfrm>
            <a:off x="7172145" y="3650752"/>
            <a:ext cx="404324" cy="27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400"/>
              </a:lnSpc>
            </a:pPr>
            <a:r>
              <a: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=?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3" name="Text Box 204"/>
          <p:cNvSpPr txBox="1">
            <a:spLocks noChangeArrowheads="1"/>
          </p:cNvSpPr>
          <p:nvPr/>
        </p:nvSpPr>
        <p:spPr bwMode="auto">
          <a:xfrm>
            <a:off x="7107722" y="3298539"/>
            <a:ext cx="49244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</a:p>
        </p:txBody>
      </p:sp>
      <p:sp>
        <p:nvSpPr>
          <p:cNvPr id="284" name="Line 214"/>
          <p:cNvSpPr>
            <a:spLocks noChangeShapeType="1"/>
          </p:cNvSpPr>
          <p:nvPr/>
        </p:nvSpPr>
        <p:spPr bwMode="auto">
          <a:xfrm rot="10800000">
            <a:off x="7550968" y="3793171"/>
            <a:ext cx="286248" cy="7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Line 214"/>
          <p:cNvSpPr>
            <a:spLocks noChangeShapeType="1"/>
          </p:cNvSpPr>
          <p:nvPr/>
        </p:nvSpPr>
        <p:spPr bwMode="auto">
          <a:xfrm rot="10800000" flipH="1">
            <a:off x="6823505" y="3793171"/>
            <a:ext cx="349045" cy="1509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Text Box 204"/>
          <p:cNvSpPr txBox="1">
            <a:spLocks noChangeArrowheads="1"/>
          </p:cNvSpPr>
          <p:nvPr/>
        </p:nvSpPr>
        <p:spPr bwMode="auto">
          <a:xfrm>
            <a:off x="7753370" y="3865568"/>
            <a:ext cx="646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哈希值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" name="Text Box 204"/>
          <p:cNvSpPr txBox="1">
            <a:spLocks noChangeArrowheads="1"/>
          </p:cNvSpPr>
          <p:nvPr/>
        </p:nvSpPr>
        <p:spPr bwMode="auto">
          <a:xfrm>
            <a:off x="6277304" y="3865568"/>
            <a:ext cx="646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哈希值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椭圆 108"/>
          <p:cNvSpPr>
            <a:spLocks noChangeArrowheads="1"/>
          </p:cNvSpPr>
          <p:nvPr/>
        </p:nvSpPr>
        <p:spPr bwMode="auto">
          <a:xfrm>
            <a:off x="2868614" y="2522686"/>
            <a:ext cx="486750" cy="327617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</a:p>
        </p:txBody>
      </p:sp>
      <p:sp>
        <p:nvSpPr>
          <p:cNvPr id="199" name="Rectangle 174"/>
          <p:cNvSpPr>
            <a:spLocks noChangeArrowheads="1"/>
          </p:cNvSpPr>
          <p:nvPr/>
        </p:nvSpPr>
        <p:spPr bwMode="auto">
          <a:xfrm>
            <a:off x="4269391" y="2722178"/>
            <a:ext cx="450317" cy="21600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1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Text Box 211"/>
          <p:cNvSpPr txBox="1">
            <a:spLocks noChangeArrowheads="1"/>
          </p:cNvSpPr>
          <p:nvPr/>
        </p:nvSpPr>
        <p:spPr bwMode="auto">
          <a:xfrm>
            <a:off x="3828631" y="2707385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Rectangle 173"/>
          <p:cNvSpPr>
            <a:spLocks noChangeArrowheads="1"/>
          </p:cNvSpPr>
          <p:nvPr/>
        </p:nvSpPr>
        <p:spPr bwMode="auto">
          <a:xfrm>
            <a:off x="3716494" y="2449993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18" name="流程图: 可选过程 117"/>
          <p:cNvSpPr/>
          <p:nvPr/>
        </p:nvSpPr>
        <p:spPr>
          <a:xfrm>
            <a:off x="6209991" y="2321221"/>
            <a:ext cx="1145657" cy="584638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Text Box 211"/>
          <p:cNvSpPr txBox="1">
            <a:spLocks noChangeArrowheads="1"/>
          </p:cNvSpPr>
          <p:nvPr/>
        </p:nvSpPr>
        <p:spPr bwMode="auto">
          <a:xfrm>
            <a:off x="6854689" y="2629407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Rectangle 173"/>
          <p:cNvSpPr>
            <a:spLocks noChangeArrowheads="1"/>
          </p:cNvSpPr>
          <p:nvPr/>
        </p:nvSpPr>
        <p:spPr bwMode="auto">
          <a:xfrm>
            <a:off x="6240135" y="2372015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200" name="Text Box 175"/>
          <p:cNvSpPr txBox="1">
            <a:spLocks noChangeArrowheads="1"/>
          </p:cNvSpPr>
          <p:nvPr/>
        </p:nvSpPr>
        <p:spPr bwMode="auto">
          <a:xfrm>
            <a:off x="6959529" y="1961420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grpSp>
        <p:nvGrpSpPr>
          <p:cNvPr id="201" name="Group 176"/>
          <p:cNvGrpSpPr>
            <a:grpSpLocks/>
          </p:cNvGrpSpPr>
          <p:nvPr/>
        </p:nvGrpSpPr>
        <p:grpSpPr bwMode="auto">
          <a:xfrm>
            <a:off x="7157781" y="1962607"/>
            <a:ext cx="450317" cy="376225"/>
            <a:chOff x="921" y="2412"/>
            <a:chExt cx="284" cy="265"/>
          </a:xfrm>
        </p:grpSpPr>
        <p:grpSp>
          <p:nvGrpSpPr>
            <p:cNvPr id="202" name="Group 177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6" name="Freeform 178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Freeform 17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180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18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Rectangle 182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Rectangle 183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Rectangle 184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Line 185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4" name="Group 186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25" name="Freeform 187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6" name="Freeform 18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Rectangle 189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03" name="Group 190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4" name="Freeform 191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19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193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19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Rectangle 195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Rectangle 196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Rectangle 197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Line 198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2" name="Group 199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3" name="Freeform 200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4" name="Freeform 20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23" name="Line 9"/>
          <p:cNvSpPr>
            <a:spLocks noChangeShapeType="1"/>
          </p:cNvSpPr>
          <p:nvPr/>
        </p:nvSpPr>
        <p:spPr bwMode="auto">
          <a:xfrm flipV="1">
            <a:off x="7267948" y="2475571"/>
            <a:ext cx="485422" cy="438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Rectangle 173"/>
          <p:cNvSpPr>
            <a:spLocks noChangeArrowheads="1"/>
          </p:cNvSpPr>
          <p:nvPr/>
        </p:nvSpPr>
        <p:spPr bwMode="auto">
          <a:xfrm>
            <a:off x="7537000" y="2363267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274" name="Line 222"/>
          <p:cNvSpPr>
            <a:spLocks noChangeShapeType="1"/>
          </p:cNvSpPr>
          <p:nvPr/>
        </p:nvSpPr>
        <p:spPr bwMode="auto">
          <a:xfrm rot="16200000" flipH="1">
            <a:off x="6387009" y="2915633"/>
            <a:ext cx="510862" cy="42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Rectangle 174"/>
          <p:cNvSpPr>
            <a:spLocks noChangeArrowheads="1"/>
          </p:cNvSpPr>
          <p:nvPr/>
        </p:nvSpPr>
        <p:spPr bwMode="auto">
          <a:xfrm>
            <a:off x="6431950" y="2653478"/>
            <a:ext cx="450317" cy="21600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1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报文鉴别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1558497" y="2857500"/>
            <a:ext cx="5929420" cy="1169551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所得到的扩展报文：不可伪造，不可否认。</a:t>
            </a:r>
            <a:endParaRPr lang="en-US" altLang="zh-CN" b="1" kern="500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简称为</a:t>
            </a:r>
            <a:r>
              <a:rPr lang="zh-CN" altLang="en-US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：“</a:t>
            </a:r>
            <a:r>
              <a:rPr lang="en-US" altLang="zh-CN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自己的私钥进行签名，</a:t>
            </a:r>
            <a:r>
              <a:rPr lang="en-US" altLang="zh-CN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 </a:t>
            </a:r>
            <a:r>
              <a:rPr lang="en-US" altLang="zh-CN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公钥进行鉴别”</a:t>
            </a:r>
            <a:r>
              <a:rPr lang="zh-CN" altLang="en-US" b="1" kern="5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735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1962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822832" y="594156"/>
            <a:ext cx="1507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1054041"/>
            <a:ext cx="8129016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实体鉴别与报文鉴别不同。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收到的报文都要鉴别报文的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发送者。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实体鉴别：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系统接入的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全部持续时间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和自己通信的对方实体只需验证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实体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007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509475" y="61362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3160774" y="580410"/>
            <a:ext cx="28264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最简单的实体鉴别过程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7852" y="974624"/>
            <a:ext cx="8133857" cy="51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sz="20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实体鉴别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17852" y="1452467"/>
            <a:ext cx="8133857" cy="152652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1902880" y="2522923"/>
            <a:ext cx="525462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386697" y="1593591"/>
            <a:ext cx="3401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 b="1" dirty="0">
                <a:latin typeface="+mn-lt"/>
                <a:ea typeface="黑体" panose="02010609060101010101" pitchFamily="2" charset="-122"/>
              </a:rPr>
              <a:t>A</a:t>
            </a:r>
          </a:p>
        </p:txBody>
      </p:sp>
      <p:sp>
        <p:nvSpPr>
          <p:cNvPr id="13" name="Text Box 35"/>
          <p:cNvSpPr txBox="1">
            <a:spLocks noChangeArrowheads="1"/>
          </p:cNvSpPr>
          <p:nvPr/>
        </p:nvSpPr>
        <p:spPr bwMode="auto">
          <a:xfrm>
            <a:off x="7377769" y="1575777"/>
            <a:ext cx="3289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 b="1" dirty="0">
                <a:latin typeface="+mn-lt"/>
                <a:ea typeface="黑体" panose="02010609060101010101" pitchFamily="2" charset="-122"/>
              </a:rPr>
              <a:t>B</a:t>
            </a:r>
          </a:p>
        </p:txBody>
      </p:sp>
      <p:sp>
        <p:nvSpPr>
          <p:cNvPr id="15" name="Line 63"/>
          <p:cNvSpPr>
            <a:spLocks noChangeShapeType="1"/>
          </p:cNvSpPr>
          <p:nvPr/>
        </p:nvSpPr>
        <p:spPr bwMode="auto">
          <a:xfrm rot="16200000" flipH="1">
            <a:off x="1595737" y="2520892"/>
            <a:ext cx="626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6" name="Line 64"/>
          <p:cNvSpPr>
            <a:spLocks noChangeShapeType="1"/>
          </p:cNvSpPr>
          <p:nvPr/>
        </p:nvSpPr>
        <p:spPr bwMode="auto">
          <a:xfrm rot="16200000" flipH="1">
            <a:off x="6867763" y="2527835"/>
            <a:ext cx="62615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7" name="Rectangle 65"/>
          <p:cNvSpPr>
            <a:spLocks noChangeArrowheads="1"/>
          </p:cNvSpPr>
          <p:nvPr/>
        </p:nvSpPr>
        <p:spPr bwMode="auto">
          <a:xfrm>
            <a:off x="3683954" y="2302239"/>
            <a:ext cx="1932957" cy="446647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口令</a:t>
            </a:r>
          </a:p>
        </p:txBody>
      </p:sp>
      <p:pic>
        <p:nvPicPr>
          <p:cNvPr id="18" name="Picture 66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3" y="1932254"/>
            <a:ext cx="360736" cy="497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9" name="Text Box 67"/>
          <p:cNvSpPr txBox="1">
            <a:spLocks noChangeArrowheads="1"/>
          </p:cNvSpPr>
          <p:nvPr/>
        </p:nvSpPr>
        <p:spPr bwMode="auto">
          <a:xfrm>
            <a:off x="2964880" y="1878821"/>
            <a:ext cx="5261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1" i="1" dirty="0">
                <a:latin typeface="+mn-lt"/>
                <a:ea typeface="黑体" panose="02010609060101010101" pitchFamily="2" charset="-122"/>
              </a:rPr>
              <a:t>K</a:t>
            </a:r>
            <a:r>
              <a:rPr lang="en-US" altLang="zh-CN" sz="2000" b="1" baseline="-25000" dirty="0">
                <a:latin typeface="+mn-lt"/>
                <a:ea typeface="黑体" panose="02010609060101010101" pitchFamily="2" charset="-122"/>
              </a:rPr>
              <a:t>AB</a:t>
            </a:r>
          </a:p>
        </p:txBody>
      </p:sp>
      <p:pic>
        <p:nvPicPr>
          <p:cNvPr id="72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230" y="1676274"/>
            <a:ext cx="510846" cy="51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301" y="1676031"/>
            <a:ext cx="510846" cy="51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81325" y="3026368"/>
            <a:ext cx="6991253" cy="1323439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明显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漏洞：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抵抗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重放攻击。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重放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攻击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replay attack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：入侵者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破译报文，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而是直接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把由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的报文发送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给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误认为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就是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伪装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许多本来应当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发给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报文。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实体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54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509475" y="609658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2114819" y="576447"/>
            <a:ext cx="4918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对称密钥场景下使用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不重数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进行身份鉴别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17852" y="997627"/>
            <a:ext cx="8133857" cy="321283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475495" y="1520409"/>
            <a:ext cx="2042931" cy="260981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不重数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nonce) 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：是一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个不重复使用的大随机数，即“一次一数”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不重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数不能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重复使用，所以 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在进行重放攻击时无法重复使用所截获的不重数。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96591" y="1150851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524860" y="1171941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16200000" flipH="1" flipV="1">
            <a:off x="269004" y="2818769"/>
            <a:ext cx="24953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4999384" y="2810859"/>
            <a:ext cx="25111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80"/>
          <p:cNvGrpSpPr/>
          <p:nvPr/>
        </p:nvGrpSpPr>
        <p:grpSpPr bwMode="auto">
          <a:xfrm>
            <a:off x="1510621" y="1617225"/>
            <a:ext cx="4725179" cy="336708"/>
            <a:chOff x="1036" y="1899"/>
            <a:chExt cx="3900" cy="388"/>
          </a:xfrm>
        </p:grpSpPr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67" name="Group 82"/>
          <p:cNvGrpSpPr/>
          <p:nvPr/>
        </p:nvGrpSpPr>
        <p:grpSpPr bwMode="auto">
          <a:xfrm>
            <a:off x="1547749" y="3286552"/>
            <a:ext cx="4648849" cy="600519"/>
            <a:chOff x="1062" y="3289"/>
            <a:chExt cx="3837" cy="692"/>
          </a:xfrm>
        </p:grpSpPr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70" name="Picture 7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2348" y="3289"/>
              <a:ext cx="467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</p:grpSp>
      <p:grpSp>
        <p:nvGrpSpPr>
          <p:cNvPr id="72" name="Group 81"/>
          <p:cNvGrpSpPr/>
          <p:nvPr/>
        </p:nvGrpSpPr>
        <p:grpSpPr bwMode="auto">
          <a:xfrm>
            <a:off x="1534898" y="2322427"/>
            <a:ext cx="4681562" cy="787097"/>
            <a:chOff x="1053" y="2434"/>
            <a:chExt cx="3864" cy="907"/>
          </a:xfrm>
        </p:grpSpPr>
        <p:sp>
          <p:nvSpPr>
            <p:cNvPr id="73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kumimoji="1" lang="zh-CN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609" cy="4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 b="1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endPara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7" name="Picture 75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8" name="Text Box 76"/>
            <p:cNvSpPr txBox="1">
              <a:spLocks noChangeArrowheads="1"/>
            </p:cNvSpPr>
            <p:nvPr/>
          </p:nvSpPr>
          <p:spPr bwMode="auto">
            <a:xfrm>
              <a:off x="2750" y="2532"/>
              <a:ext cx="467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</p:grpSp>
      <p:sp>
        <p:nvSpPr>
          <p:cNvPr id="79" name="Text Box 78"/>
          <p:cNvSpPr txBox="1">
            <a:spLocks noChangeArrowheads="1"/>
          </p:cNvSpPr>
          <p:nvPr/>
        </p:nvSpPr>
        <p:spPr bwMode="auto">
          <a:xfrm>
            <a:off x="915168" y="3468546"/>
            <a:ext cx="563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1" y="1100722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47" y="1099492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实体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900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509475" y="60965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2173331" y="576444"/>
            <a:ext cx="48013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公钥场景下利用不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数进行实体身份鉴别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17852" y="1000529"/>
            <a:ext cx="8133857" cy="321283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351929" y="1722115"/>
            <a:ext cx="2194036" cy="1502976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在使用公钥密码体制时，可以对不重数进行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签名实现身份鉴别。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使用公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钥核实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签名。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96591" y="1153753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524860" y="1174843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16200000" flipH="1" flipV="1">
            <a:off x="269004" y="2821671"/>
            <a:ext cx="24953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4999384" y="2813761"/>
            <a:ext cx="25111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80"/>
          <p:cNvGrpSpPr/>
          <p:nvPr/>
        </p:nvGrpSpPr>
        <p:grpSpPr bwMode="auto">
          <a:xfrm>
            <a:off x="1510621" y="1620127"/>
            <a:ext cx="4725179" cy="336708"/>
            <a:chOff x="1036" y="1899"/>
            <a:chExt cx="3900" cy="388"/>
          </a:xfrm>
        </p:grpSpPr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67" name="Group 82"/>
          <p:cNvGrpSpPr/>
          <p:nvPr/>
        </p:nvGrpSpPr>
        <p:grpSpPr bwMode="auto">
          <a:xfrm>
            <a:off x="1547749" y="3289454"/>
            <a:ext cx="4648849" cy="600519"/>
            <a:chOff x="1062" y="3289"/>
            <a:chExt cx="3837" cy="692"/>
          </a:xfrm>
        </p:grpSpPr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70" name="Picture 7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2348" y="3289"/>
              <a:ext cx="495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b="1" baseline="-25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Group 81"/>
          <p:cNvGrpSpPr/>
          <p:nvPr/>
        </p:nvGrpSpPr>
        <p:grpSpPr bwMode="auto">
          <a:xfrm>
            <a:off x="1534898" y="2325329"/>
            <a:ext cx="4681562" cy="787097"/>
            <a:chOff x="1053" y="2434"/>
            <a:chExt cx="3864" cy="907"/>
          </a:xfrm>
        </p:grpSpPr>
        <p:sp>
          <p:nvSpPr>
            <p:cNvPr id="73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kumimoji="1" lang="zh-CN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609" cy="4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 b="1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endPara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7" name="Picture 75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8" name="Text Box 76"/>
            <p:cNvSpPr txBox="1">
              <a:spLocks noChangeArrowheads="1"/>
            </p:cNvSpPr>
            <p:nvPr/>
          </p:nvSpPr>
          <p:spPr bwMode="auto">
            <a:xfrm>
              <a:off x="2750" y="2532"/>
              <a:ext cx="487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b="1" baseline="-25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9" name="Text Box 78"/>
          <p:cNvSpPr txBox="1">
            <a:spLocks noChangeArrowheads="1"/>
          </p:cNvSpPr>
          <p:nvPr/>
        </p:nvSpPr>
        <p:spPr bwMode="auto">
          <a:xfrm>
            <a:off x="915168" y="3471448"/>
            <a:ext cx="563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1" y="110362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47" y="110239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实体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104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880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968691" y="575593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假冒攻击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94768"/>
            <a:ext cx="8218067" cy="343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冒充是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，发送报文给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，说：“我是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A”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选择一个不重数 </a:t>
            </a:r>
            <a:r>
              <a:rPr lang="en-US" altLang="zh-CN" sz="19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，发送给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，但被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用自己的私钥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冒充</a:t>
            </a:r>
            <a:r>
              <a:rPr lang="zh-CN" altLang="en-US" sz="19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9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私钥，对 </a:t>
            </a:r>
            <a:r>
              <a:rPr lang="en-US" altLang="zh-CN" sz="19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加密，并发送给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发送报文，要求对方把解密用的公钥发送过来，但这报文也被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把自己的公钥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冒充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的公钥发送给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用收到的公钥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对收到的加密的 </a:t>
            </a:r>
            <a:r>
              <a:rPr lang="en-US" altLang="zh-CN" sz="19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进行解密，其结果当然正确。于是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相信通信的对方是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，接着就向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发送许多敏感数据，但都被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截获了</a:t>
            </a:r>
            <a:r>
              <a:rPr lang="zh-CN" altLang="en-US" sz="19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实体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420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AutoShape 5"/>
          <p:cNvSpPr>
            <a:spLocks noChangeArrowheads="1"/>
          </p:cNvSpPr>
          <p:nvPr/>
        </p:nvSpPr>
        <p:spPr bwMode="auto">
          <a:xfrm>
            <a:off x="509475" y="61218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7" name="Rectangle 6"/>
          <p:cNvSpPr>
            <a:spLocks noChangeArrowheads="1"/>
          </p:cNvSpPr>
          <p:nvPr/>
        </p:nvSpPr>
        <p:spPr bwMode="auto">
          <a:xfrm>
            <a:off x="3801975" y="578974"/>
            <a:ext cx="15440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中间人攻击 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1013346"/>
            <a:ext cx="8133857" cy="293445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82254" y="3988273"/>
            <a:ext cx="6982691" cy="369332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以及认证公钥的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真实性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一个非常重要的问题。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971433" y="1036048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917971" y="1036048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5400000">
            <a:off x="704576" y="2659514"/>
            <a:ext cx="224003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6246702" y="2636371"/>
            <a:ext cx="2221691" cy="55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553"/>
          <p:cNvGrpSpPr/>
          <p:nvPr/>
        </p:nvGrpSpPr>
        <p:grpSpPr bwMode="auto">
          <a:xfrm>
            <a:off x="1817970" y="1508922"/>
            <a:ext cx="2772273" cy="272107"/>
            <a:chOff x="428" y="1792"/>
            <a:chExt cx="2511" cy="267"/>
          </a:xfrm>
        </p:grpSpPr>
        <p:sp>
          <p:nvSpPr>
            <p:cNvPr id="65" name="Line 6"/>
            <p:cNvSpPr>
              <a:spLocks noChangeShapeType="1"/>
            </p:cNvSpPr>
            <p:nvPr/>
          </p:nvSpPr>
          <p:spPr bwMode="auto">
            <a:xfrm>
              <a:off x="428" y="1927"/>
              <a:ext cx="2511" cy="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6"/>
            <p:cNvSpPr>
              <a:spLocks noChangeArrowheads="1"/>
            </p:cNvSpPr>
            <p:nvPr/>
          </p:nvSpPr>
          <p:spPr bwMode="auto">
            <a:xfrm>
              <a:off x="1031" y="1792"/>
              <a:ext cx="568" cy="267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我是 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400" b="1" i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7" name="Group 67"/>
          <p:cNvGrpSpPr/>
          <p:nvPr/>
        </p:nvGrpSpPr>
        <p:grpSpPr bwMode="auto">
          <a:xfrm>
            <a:off x="4305398" y="1114522"/>
            <a:ext cx="512280" cy="413765"/>
            <a:chOff x="624" y="2968"/>
            <a:chExt cx="1331" cy="920"/>
          </a:xfrm>
        </p:grpSpPr>
        <p:sp>
          <p:nvSpPr>
            <p:cNvPr id="68" name="Freeform 68"/>
            <p:cNvSpPr/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992 w 1426"/>
                <a:gd name="T1" fmla="*/ 2292 h 2309"/>
                <a:gd name="T2" fmla="*/ 964 w 1426"/>
                <a:gd name="T3" fmla="*/ 2309 h 2309"/>
                <a:gd name="T4" fmla="*/ 0 w 1426"/>
                <a:gd name="T5" fmla="*/ 1462 h 2309"/>
                <a:gd name="T6" fmla="*/ 326 w 1426"/>
                <a:gd name="T7" fmla="*/ 59 h 2309"/>
                <a:gd name="T8" fmla="*/ 369 w 1426"/>
                <a:gd name="T9" fmla="*/ 18 h 2309"/>
                <a:gd name="T10" fmla="*/ 414 w 1426"/>
                <a:gd name="T11" fmla="*/ 0 h 2309"/>
                <a:gd name="T12" fmla="*/ 457 w 1426"/>
                <a:gd name="T13" fmla="*/ 9 h 2309"/>
                <a:gd name="T14" fmla="*/ 1381 w 1426"/>
                <a:gd name="T15" fmla="*/ 400 h 2309"/>
                <a:gd name="T16" fmla="*/ 1411 w 1426"/>
                <a:gd name="T17" fmla="*/ 421 h 2309"/>
                <a:gd name="T18" fmla="*/ 1422 w 1426"/>
                <a:gd name="T19" fmla="*/ 425 h 2309"/>
                <a:gd name="T20" fmla="*/ 1426 w 1426"/>
                <a:gd name="T21" fmla="*/ 445 h 2309"/>
                <a:gd name="T22" fmla="*/ 1017 w 1426"/>
                <a:gd name="T23" fmla="*/ 2306 h 2309"/>
                <a:gd name="T24" fmla="*/ 992 w 1426"/>
                <a:gd name="T25" fmla="*/ 2292 h 2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69"/>
            <p:cNvSpPr/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573 w 573"/>
                <a:gd name="T1" fmla="*/ 86 h 1980"/>
                <a:gd name="T2" fmla="*/ 568 w 573"/>
                <a:gd name="T3" fmla="*/ 132 h 1980"/>
                <a:gd name="T4" fmla="*/ 155 w 573"/>
                <a:gd name="T5" fmla="*/ 1923 h 1980"/>
                <a:gd name="T6" fmla="*/ 151 w 573"/>
                <a:gd name="T7" fmla="*/ 1955 h 1980"/>
                <a:gd name="T8" fmla="*/ 140 w 573"/>
                <a:gd name="T9" fmla="*/ 1972 h 1980"/>
                <a:gd name="T10" fmla="*/ 125 w 573"/>
                <a:gd name="T11" fmla="*/ 1980 h 1980"/>
                <a:gd name="T12" fmla="*/ 111 w 573"/>
                <a:gd name="T13" fmla="*/ 1975 h 1980"/>
                <a:gd name="T14" fmla="*/ 86 w 573"/>
                <a:gd name="T15" fmla="*/ 1955 h 1980"/>
                <a:gd name="T16" fmla="*/ 0 w 573"/>
                <a:gd name="T17" fmla="*/ 1880 h 1980"/>
                <a:gd name="T18" fmla="*/ 425 w 573"/>
                <a:gd name="T19" fmla="*/ 39 h 1980"/>
                <a:gd name="T20" fmla="*/ 420 w 573"/>
                <a:gd name="T21" fmla="*/ 27 h 1980"/>
                <a:gd name="T22" fmla="*/ 396 w 573"/>
                <a:gd name="T23" fmla="*/ 0 h 1980"/>
                <a:gd name="T24" fmla="*/ 445 w 573"/>
                <a:gd name="T25" fmla="*/ 20 h 1980"/>
                <a:gd name="T26" fmla="*/ 541 w 573"/>
                <a:gd name="T27" fmla="*/ 61 h 1980"/>
                <a:gd name="T28" fmla="*/ 559 w 573"/>
                <a:gd name="T29" fmla="*/ 75 h 1980"/>
                <a:gd name="T30" fmla="*/ 573 w 573"/>
                <a:gd name="T31" fmla="*/ 8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70"/>
            <p:cNvSpPr/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31 w 1045"/>
                <a:gd name="T3" fmla="*/ 1 h 441"/>
                <a:gd name="T4" fmla="*/ 62 w 1045"/>
                <a:gd name="T5" fmla="*/ 10 h 441"/>
                <a:gd name="T6" fmla="*/ 1005 w 1045"/>
                <a:gd name="T7" fmla="*/ 409 h 441"/>
                <a:gd name="T8" fmla="*/ 1037 w 1045"/>
                <a:gd name="T9" fmla="*/ 427 h 441"/>
                <a:gd name="T10" fmla="*/ 1045 w 1045"/>
                <a:gd name="T11" fmla="*/ 441 h 441"/>
                <a:gd name="T12" fmla="*/ 0 w 1045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71"/>
            <p:cNvSpPr/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619 w 955"/>
                <a:gd name="T1" fmla="*/ 1719 h 1719"/>
                <a:gd name="T2" fmla="*/ 0 w 955"/>
                <a:gd name="T3" fmla="*/ 1212 h 1719"/>
                <a:gd name="T4" fmla="*/ 290 w 955"/>
                <a:gd name="T5" fmla="*/ 0 h 1719"/>
                <a:gd name="T6" fmla="*/ 955 w 955"/>
                <a:gd name="T7" fmla="*/ 313 h 1719"/>
                <a:gd name="T8" fmla="*/ 619 w 955"/>
                <a:gd name="T9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Freeform 72"/>
            <p:cNvSpPr/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546 w 862"/>
                <a:gd name="T1" fmla="*/ 1587 h 1587"/>
                <a:gd name="T2" fmla="*/ 0 w 862"/>
                <a:gd name="T3" fmla="*/ 1134 h 1587"/>
                <a:gd name="T4" fmla="*/ 272 w 862"/>
                <a:gd name="T5" fmla="*/ 0 h 1587"/>
                <a:gd name="T6" fmla="*/ 862 w 862"/>
                <a:gd name="T7" fmla="*/ 268 h 1587"/>
                <a:gd name="T8" fmla="*/ 546 w 862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73"/>
            <p:cNvSpPr/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393 w 408"/>
                <a:gd name="T1" fmla="*/ 0 h 1480"/>
                <a:gd name="T2" fmla="*/ 370 w 408"/>
                <a:gd name="T3" fmla="*/ 11 h 1480"/>
                <a:gd name="T4" fmla="*/ 356 w 408"/>
                <a:gd name="T5" fmla="*/ 19 h 1480"/>
                <a:gd name="T6" fmla="*/ 338 w 408"/>
                <a:gd name="T7" fmla="*/ 37 h 1480"/>
                <a:gd name="T8" fmla="*/ 325 w 408"/>
                <a:gd name="T9" fmla="*/ 59 h 1480"/>
                <a:gd name="T10" fmla="*/ 320 w 408"/>
                <a:gd name="T11" fmla="*/ 77 h 1480"/>
                <a:gd name="T12" fmla="*/ 0 w 408"/>
                <a:gd name="T13" fmla="*/ 1459 h 1480"/>
                <a:gd name="T14" fmla="*/ 12 w 408"/>
                <a:gd name="T15" fmla="*/ 1480 h 1480"/>
                <a:gd name="T16" fmla="*/ 337 w 408"/>
                <a:gd name="T17" fmla="*/ 77 h 1480"/>
                <a:gd name="T18" fmla="*/ 346 w 408"/>
                <a:gd name="T19" fmla="*/ 57 h 1480"/>
                <a:gd name="T20" fmla="*/ 355 w 408"/>
                <a:gd name="T21" fmla="*/ 43 h 1480"/>
                <a:gd name="T22" fmla="*/ 368 w 408"/>
                <a:gd name="T23" fmla="*/ 30 h 1480"/>
                <a:gd name="T24" fmla="*/ 384 w 408"/>
                <a:gd name="T25" fmla="*/ 19 h 1480"/>
                <a:gd name="T26" fmla="*/ 400 w 408"/>
                <a:gd name="T27" fmla="*/ 12 h 1480"/>
                <a:gd name="T28" fmla="*/ 408 w 408"/>
                <a:gd name="T29" fmla="*/ 5 h 1480"/>
                <a:gd name="T30" fmla="*/ 393 w 408"/>
                <a:gd name="T31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Freeform 74"/>
            <p:cNvSpPr/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065 w 1065"/>
                <a:gd name="T1" fmla="*/ 963 h 963"/>
                <a:gd name="T2" fmla="*/ 1047 w 1065"/>
                <a:gd name="T3" fmla="*/ 833 h 963"/>
                <a:gd name="T4" fmla="*/ 1015 w 1065"/>
                <a:gd name="T5" fmla="*/ 776 h 963"/>
                <a:gd name="T6" fmla="*/ 137 w 1065"/>
                <a:gd name="T7" fmla="*/ 3 h 963"/>
                <a:gd name="T8" fmla="*/ 96 w 1065"/>
                <a:gd name="T9" fmla="*/ 0 h 963"/>
                <a:gd name="T10" fmla="*/ 59 w 1065"/>
                <a:gd name="T11" fmla="*/ 3 h 963"/>
                <a:gd name="T12" fmla="*/ 32 w 1065"/>
                <a:gd name="T13" fmla="*/ 42 h 963"/>
                <a:gd name="T14" fmla="*/ 0 w 1065"/>
                <a:gd name="T15" fmla="*/ 145 h 963"/>
                <a:gd name="T16" fmla="*/ 865 w 1065"/>
                <a:gd name="T17" fmla="*/ 954 h 963"/>
                <a:gd name="T18" fmla="*/ 1065 w 1065"/>
                <a:gd name="T19" fmla="*/ 963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75"/>
            <p:cNvSpPr/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121 w 1969"/>
                <a:gd name="T3" fmla="*/ 24 h 862"/>
                <a:gd name="T4" fmla="*/ 1969 w 1969"/>
                <a:gd name="T5" fmla="*/ 814 h 862"/>
                <a:gd name="T6" fmla="*/ 478 w 1969"/>
                <a:gd name="T7" fmla="*/ 862 h 862"/>
                <a:gd name="T8" fmla="*/ 0 w 1969"/>
                <a:gd name="T9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76"/>
            <p:cNvSpPr/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54 w 1777"/>
                <a:gd name="T1" fmla="*/ 52 h 297"/>
                <a:gd name="T2" fmla="*/ 0 w 1777"/>
                <a:gd name="T3" fmla="*/ 297 h 297"/>
                <a:gd name="T4" fmla="*/ 1759 w 1777"/>
                <a:gd name="T5" fmla="*/ 257 h 297"/>
                <a:gd name="T6" fmla="*/ 1777 w 1777"/>
                <a:gd name="T7" fmla="*/ 173 h 297"/>
                <a:gd name="T8" fmla="*/ 1773 w 1777"/>
                <a:gd name="T9" fmla="*/ 74 h 297"/>
                <a:gd name="T10" fmla="*/ 1768 w 1777"/>
                <a:gd name="T11" fmla="*/ 0 h 297"/>
                <a:gd name="T12" fmla="*/ 54 w 1777"/>
                <a:gd name="T13" fmla="*/ 5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77"/>
            <p:cNvSpPr/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37 w 513"/>
                <a:gd name="T1" fmla="*/ 0 h 1106"/>
                <a:gd name="T2" fmla="*/ 0 w 513"/>
                <a:gd name="T3" fmla="*/ 200 h 1106"/>
                <a:gd name="T4" fmla="*/ 457 w 513"/>
                <a:gd name="T5" fmla="*/ 1106 h 1106"/>
                <a:gd name="T6" fmla="*/ 513 w 513"/>
                <a:gd name="T7" fmla="*/ 862 h 1106"/>
                <a:gd name="T8" fmla="*/ 37 w 513"/>
                <a:gd name="T9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78"/>
            <p:cNvSpPr/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2 w 262"/>
                <a:gd name="T1" fmla="*/ 25 h 25"/>
                <a:gd name="T2" fmla="*/ 0 w 262"/>
                <a:gd name="T3" fmla="*/ 0 h 25"/>
                <a:gd name="T4" fmla="*/ 249 w 262"/>
                <a:gd name="T5" fmla="*/ 0 h 25"/>
                <a:gd name="T6" fmla="*/ 262 w 262"/>
                <a:gd name="T7" fmla="*/ 19 h 25"/>
                <a:gd name="T8" fmla="*/ 2 w 26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79"/>
            <p:cNvSpPr/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557 w 561"/>
                <a:gd name="T1" fmla="*/ 801 h 836"/>
                <a:gd name="T2" fmla="*/ 0 w 561"/>
                <a:gd name="T3" fmla="*/ 0 h 836"/>
                <a:gd name="T4" fmla="*/ 561 w 561"/>
                <a:gd name="T5" fmla="*/ 836 h 836"/>
                <a:gd name="T6" fmla="*/ 557 w 561"/>
                <a:gd name="T7" fmla="*/ 80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0" name="Group 80"/>
            <p:cNvGrpSpPr/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06" name="Group 81"/>
              <p:cNvGrpSpPr/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17" name="Freeform 82"/>
                <p:cNvSpPr/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3 w 22"/>
                    <a:gd name="T1" fmla="*/ 67 h 67"/>
                    <a:gd name="T2" fmla="*/ 0 w 22"/>
                    <a:gd name="T3" fmla="*/ 26 h 67"/>
                    <a:gd name="T4" fmla="*/ 9 w 22"/>
                    <a:gd name="T5" fmla="*/ 0 h 67"/>
                    <a:gd name="T6" fmla="*/ 22 w 22"/>
                    <a:gd name="T7" fmla="*/ 30 h 67"/>
                    <a:gd name="T8" fmla="*/ 13 w 2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8" name="Freeform 83"/>
                <p:cNvSpPr/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2 w 73"/>
                    <a:gd name="T1" fmla="*/ 0 h 29"/>
                    <a:gd name="T2" fmla="*/ 50 w 73"/>
                    <a:gd name="T3" fmla="*/ 0 h 29"/>
                    <a:gd name="T4" fmla="*/ 52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6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9" name="Freeform 84"/>
                <p:cNvSpPr/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7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7" name="Group 85"/>
              <p:cNvGrpSpPr/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14" name="Freeform 86"/>
                <p:cNvSpPr/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5" name="Freeform 87"/>
                <p:cNvSpPr/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49 w 74"/>
                    <a:gd name="T3" fmla="*/ 0 h 29"/>
                    <a:gd name="T4" fmla="*/ 50 w 74"/>
                    <a:gd name="T5" fmla="*/ 2 h 29"/>
                    <a:gd name="T6" fmla="*/ 56 w 74"/>
                    <a:gd name="T7" fmla="*/ 11 h 29"/>
                    <a:gd name="T8" fmla="*/ 74 w 74"/>
                    <a:gd name="T9" fmla="*/ 29 h 29"/>
                    <a:gd name="T10" fmla="*/ 18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6" name="Freeform 88"/>
                <p:cNvSpPr/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8" name="Freeform 89"/>
              <p:cNvSpPr/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90"/>
              <p:cNvSpPr/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15 w 24"/>
                  <a:gd name="T1" fmla="*/ 68 h 68"/>
                  <a:gd name="T2" fmla="*/ 0 w 24"/>
                  <a:gd name="T3" fmla="*/ 27 h 68"/>
                  <a:gd name="T4" fmla="*/ 11 w 24"/>
                  <a:gd name="T5" fmla="*/ 0 h 68"/>
                  <a:gd name="T6" fmla="*/ 24 w 24"/>
                  <a:gd name="T7" fmla="*/ 31 h 68"/>
                  <a:gd name="T8" fmla="*/ 15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91"/>
              <p:cNvSpPr/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49 w 70"/>
                  <a:gd name="T3" fmla="*/ 0 h 30"/>
                  <a:gd name="T4" fmla="*/ 50 w 70"/>
                  <a:gd name="T5" fmla="*/ 3 h 30"/>
                  <a:gd name="T6" fmla="*/ 54 w 70"/>
                  <a:gd name="T7" fmla="*/ 13 h 30"/>
                  <a:gd name="T8" fmla="*/ 70 w 70"/>
                  <a:gd name="T9" fmla="*/ 30 h 30"/>
                  <a:gd name="T10" fmla="*/ 16 w 70"/>
                  <a:gd name="T11" fmla="*/ 30 h 30"/>
                  <a:gd name="T12" fmla="*/ 7 w 70"/>
                  <a:gd name="T13" fmla="*/ 21 h 30"/>
                  <a:gd name="T14" fmla="*/ 0 w 70"/>
                  <a:gd name="T15" fmla="*/ 7 h 30"/>
                  <a:gd name="T16" fmla="*/ 0 w 70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92"/>
              <p:cNvSpPr/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36 h 36"/>
                  <a:gd name="T2" fmla="*/ 1 w 83"/>
                  <a:gd name="T3" fmla="*/ 19 h 36"/>
                  <a:gd name="T4" fmla="*/ 7 w 83"/>
                  <a:gd name="T5" fmla="*/ 8 h 36"/>
                  <a:gd name="T6" fmla="*/ 10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2" name="Group 93"/>
              <p:cNvGrpSpPr/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11" name="Freeform 94"/>
                <p:cNvSpPr/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4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4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2" name="Freeform 95"/>
                <p:cNvSpPr/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2 w 73"/>
                    <a:gd name="T1" fmla="*/ 0 h 30"/>
                    <a:gd name="T2" fmla="*/ 49 w 73"/>
                    <a:gd name="T3" fmla="*/ 0 h 30"/>
                    <a:gd name="T4" fmla="*/ 50 w 73"/>
                    <a:gd name="T5" fmla="*/ 3 h 30"/>
                    <a:gd name="T6" fmla="*/ 57 w 73"/>
                    <a:gd name="T7" fmla="*/ 12 h 30"/>
                    <a:gd name="T8" fmla="*/ 73 w 73"/>
                    <a:gd name="T9" fmla="*/ 30 h 30"/>
                    <a:gd name="T10" fmla="*/ 19 w 73"/>
                    <a:gd name="T11" fmla="*/ 30 h 30"/>
                    <a:gd name="T12" fmla="*/ 10 w 73"/>
                    <a:gd name="T13" fmla="*/ 21 h 30"/>
                    <a:gd name="T14" fmla="*/ 0 w 73"/>
                    <a:gd name="T15" fmla="*/ 7 h 30"/>
                    <a:gd name="T16" fmla="*/ 2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3" name="Freeform 96"/>
                <p:cNvSpPr/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3" name="Group 97"/>
              <p:cNvGrpSpPr/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08" name="Freeform 98"/>
                <p:cNvSpPr/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9" name="Freeform 99"/>
                <p:cNvSpPr/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3 w 74"/>
                    <a:gd name="T1" fmla="*/ 0 h 30"/>
                    <a:gd name="T2" fmla="*/ 49 w 74"/>
                    <a:gd name="T3" fmla="*/ 0 h 30"/>
                    <a:gd name="T4" fmla="*/ 52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10 w 74"/>
                    <a:gd name="T13" fmla="*/ 21 h 30"/>
                    <a:gd name="T14" fmla="*/ 0 w 74"/>
                    <a:gd name="T15" fmla="*/ 6 h 30"/>
                    <a:gd name="T16" fmla="*/ 3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0" name="Freeform 100"/>
                <p:cNvSpPr/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6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4" name="Group 101"/>
              <p:cNvGrpSpPr/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05" name="Freeform 102"/>
                <p:cNvSpPr/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9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6" name="Freeform 103"/>
                <p:cNvSpPr/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2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9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2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7" name="Freeform 104"/>
                <p:cNvSpPr/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5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5" name="Group 105"/>
              <p:cNvGrpSpPr/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02" name="Freeform 106"/>
                <p:cNvSpPr/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0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3" name="Freeform 107"/>
                <p:cNvSpPr/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2 w 75"/>
                    <a:gd name="T3" fmla="*/ 0 h 30"/>
                    <a:gd name="T4" fmla="*/ 53 w 75"/>
                    <a:gd name="T5" fmla="*/ 3 h 30"/>
                    <a:gd name="T6" fmla="*/ 57 w 75"/>
                    <a:gd name="T7" fmla="*/ 12 h 30"/>
                    <a:gd name="T8" fmla="*/ 75 w 75"/>
                    <a:gd name="T9" fmla="*/ 30 h 30"/>
                    <a:gd name="T10" fmla="*/ 19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6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4" name="Freeform 108"/>
                <p:cNvSpPr/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6" name="Group 109"/>
              <p:cNvGrpSpPr/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482" name="Group 110"/>
                <p:cNvGrpSpPr/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499" name="Freeform 111"/>
                  <p:cNvSpPr/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0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0" name="Freeform 112"/>
                  <p:cNvSpPr/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3 h 29"/>
                      <a:gd name="T6" fmla="*/ 57 w 75"/>
                      <a:gd name="T7" fmla="*/ 12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1" name="Freeform 113"/>
                  <p:cNvSpPr/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37 h 37"/>
                      <a:gd name="T2" fmla="*/ 2 w 82"/>
                      <a:gd name="T3" fmla="*/ 22 h 37"/>
                      <a:gd name="T4" fmla="*/ 7 w 82"/>
                      <a:gd name="T5" fmla="*/ 7 h 37"/>
                      <a:gd name="T6" fmla="*/ 13 w 82"/>
                      <a:gd name="T7" fmla="*/ 0 h 37"/>
                      <a:gd name="T8" fmla="*/ 69 w 82"/>
                      <a:gd name="T9" fmla="*/ 0 h 37"/>
                      <a:gd name="T10" fmla="*/ 82 w 82"/>
                      <a:gd name="T11" fmla="*/ 37 h 37"/>
                      <a:gd name="T12" fmla="*/ 0 w 82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3" name="Group 114"/>
                <p:cNvGrpSpPr/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496" name="Freeform 115"/>
                  <p:cNvSpPr/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7" name="Freeform 116"/>
                  <p:cNvSpPr/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3 w 75"/>
                      <a:gd name="T5" fmla="*/ 3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8" name="Freeform 117"/>
                  <p:cNvSpPr/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4" name="Group 118"/>
                <p:cNvGrpSpPr/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493" name="Freeform 119"/>
                  <p:cNvSpPr/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4" name="Freeform 120"/>
                  <p:cNvSpPr/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7 w 73"/>
                      <a:gd name="T7" fmla="*/ 11 h 29"/>
                      <a:gd name="T8" fmla="*/ 73 w 73"/>
                      <a:gd name="T9" fmla="*/ 29 h 29"/>
                      <a:gd name="T10" fmla="*/ 19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5" name="Freeform 121"/>
                  <p:cNvSpPr/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20 h 36"/>
                      <a:gd name="T4" fmla="*/ 7 w 83"/>
                      <a:gd name="T5" fmla="*/ 8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5" name="Group 122"/>
                <p:cNvGrpSpPr/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490" name="Freeform 123"/>
                  <p:cNvSpPr/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1" name="Freeform 124"/>
                  <p:cNvSpPr/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3 w 74"/>
                      <a:gd name="T1" fmla="*/ 0 h 29"/>
                      <a:gd name="T2" fmla="*/ 49 w 74"/>
                      <a:gd name="T3" fmla="*/ 0 h 29"/>
                      <a:gd name="T4" fmla="*/ 53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3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2" name="Freeform 125"/>
                  <p:cNvSpPr/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1 w 83"/>
                      <a:gd name="T3" fmla="*/ 19 h 35"/>
                      <a:gd name="T4" fmla="*/ 6 w 83"/>
                      <a:gd name="T5" fmla="*/ 7 h 35"/>
                      <a:gd name="T6" fmla="*/ 10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6" name="Group 126"/>
                <p:cNvGrpSpPr/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487" name="Freeform 127"/>
                  <p:cNvSpPr/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8" name="Freeform 128"/>
                  <p:cNvSpPr/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0 w 74"/>
                      <a:gd name="T13" fmla="*/ 20 h 29"/>
                      <a:gd name="T14" fmla="*/ 0 w 74"/>
                      <a:gd name="T15" fmla="*/ 5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9" name="Freeform 129"/>
                  <p:cNvSpPr/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5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17" name="Group 130"/>
              <p:cNvGrpSpPr/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62" name="Group 131"/>
                <p:cNvGrpSpPr/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479" name="Freeform 132"/>
                  <p:cNvSpPr/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0" name="Freeform 133"/>
                  <p:cNvSpPr/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1" name="Freeform 134"/>
                  <p:cNvSpPr/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3" name="Group 135"/>
                <p:cNvGrpSpPr/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476" name="Freeform 136"/>
                  <p:cNvSpPr/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1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7" name="Freeform 137"/>
                  <p:cNvSpPr/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8" name="Freeform 138"/>
                  <p:cNvSpPr/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37 h 37"/>
                      <a:gd name="T2" fmla="*/ 4 w 83"/>
                      <a:gd name="T3" fmla="*/ 19 h 37"/>
                      <a:gd name="T4" fmla="*/ 8 w 83"/>
                      <a:gd name="T5" fmla="*/ 8 h 37"/>
                      <a:gd name="T6" fmla="*/ 13 w 83"/>
                      <a:gd name="T7" fmla="*/ 0 h 37"/>
                      <a:gd name="T8" fmla="*/ 68 w 83"/>
                      <a:gd name="T9" fmla="*/ 0 h 37"/>
                      <a:gd name="T10" fmla="*/ 83 w 83"/>
                      <a:gd name="T11" fmla="*/ 37 h 37"/>
                      <a:gd name="T12" fmla="*/ 0 w 83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4" name="Group 139"/>
                <p:cNvGrpSpPr/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473" name="Freeform 140"/>
                  <p:cNvSpPr/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4" name="Freeform 141"/>
                  <p:cNvSpPr/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3 h 31"/>
                      <a:gd name="T6" fmla="*/ 56 w 75"/>
                      <a:gd name="T7" fmla="*/ 12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5" name="Freeform 142"/>
                  <p:cNvSpPr/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8 w 82"/>
                      <a:gd name="T5" fmla="*/ 7 h 35"/>
                      <a:gd name="T6" fmla="*/ 12 w 82"/>
                      <a:gd name="T7" fmla="*/ 0 h 35"/>
                      <a:gd name="T8" fmla="*/ 69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5" name="Group 143"/>
                <p:cNvGrpSpPr/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470" name="Freeform 144"/>
                  <p:cNvSpPr/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13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3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1" name="Freeform 145"/>
                  <p:cNvSpPr/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2" name="Freeform 146"/>
                  <p:cNvSpPr/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3 w 83"/>
                      <a:gd name="T7" fmla="*/ 0 h 36"/>
                      <a:gd name="T8" fmla="*/ 70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6" name="Group 147"/>
                <p:cNvGrpSpPr/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67" name="Freeform 148"/>
                  <p:cNvSpPr/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68" name="Freeform 149"/>
                  <p:cNvSpPr/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3 w 75"/>
                      <a:gd name="T1" fmla="*/ 0 h 29"/>
                      <a:gd name="T2" fmla="*/ 51 w 75"/>
                      <a:gd name="T3" fmla="*/ 0 h 29"/>
                      <a:gd name="T4" fmla="*/ 53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3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69" name="Freeform 150"/>
                  <p:cNvSpPr/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6 w 82"/>
                      <a:gd name="T5" fmla="*/ 8 h 36"/>
                      <a:gd name="T6" fmla="*/ 10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18" name="Group 151"/>
              <p:cNvGrpSpPr/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59" name="Freeform 152"/>
                <p:cNvSpPr/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0" name="Freeform 153"/>
                <p:cNvSpPr/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2 w 73"/>
                    <a:gd name="T1" fmla="*/ 0 h 31"/>
                    <a:gd name="T2" fmla="*/ 49 w 73"/>
                    <a:gd name="T3" fmla="*/ 0 h 31"/>
                    <a:gd name="T4" fmla="*/ 50 w 73"/>
                    <a:gd name="T5" fmla="*/ 4 h 31"/>
                    <a:gd name="T6" fmla="*/ 57 w 73"/>
                    <a:gd name="T7" fmla="*/ 13 h 31"/>
                    <a:gd name="T8" fmla="*/ 73 w 73"/>
                    <a:gd name="T9" fmla="*/ 31 h 31"/>
                    <a:gd name="T10" fmla="*/ 17 w 73"/>
                    <a:gd name="T11" fmla="*/ 31 h 31"/>
                    <a:gd name="T12" fmla="*/ 10 w 73"/>
                    <a:gd name="T13" fmla="*/ 22 h 31"/>
                    <a:gd name="T14" fmla="*/ 0 w 73"/>
                    <a:gd name="T15" fmla="*/ 6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1" name="Freeform 154"/>
                <p:cNvSpPr/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6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9" name="Group 155"/>
              <p:cNvGrpSpPr/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56" name="Freeform 156"/>
                <p:cNvSpPr/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7" name="Freeform 157"/>
                <p:cNvSpPr/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0 w 75"/>
                    <a:gd name="T3" fmla="*/ 0 h 30"/>
                    <a:gd name="T4" fmla="*/ 51 w 75"/>
                    <a:gd name="T5" fmla="*/ 3 h 30"/>
                    <a:gd name="T6" fmla="*/ 58 w 75"/>
                    <a:gd name="T7" fmla="*/ 12 h 30"/>
                    <a:gd name="T8" fmla="*/ 75 w 75"/>
                    <a:gd name="T9" fmla="*/ 30 h 30"/>
                    <a:gd name="T10" fmla="*/ 18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7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8" name="Freeform 158"/>
                <p:cNvSpPr/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0" name="Group 159"/>
              <p:cNvGrpSpPr/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53" name="Freeform 160"/>
                <p:cNvSpPr/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0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4" name="Freeform 161"/>
                <p:cNvSpPr/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2 w 74"/>
                    <a:gd name="T1" fmla="*/ 0 h 31"/>
                    <a:gd name="T2" fmla="*/ 50 w 74"/>
                    <a:gd name="T3" fmla="*/ 0 h 31"/>
                    <a:gd name="T4" fmla="*/ 52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9 w 74"/>
                    <a:gd name="T11" fmla="*/ 31 h 31"/>
                    <a:gd name="T12" fmla="*/ 11 w 74"/>
                    <a:gd name="T13" fmla="*/ 20 h 31"/>
                    <a:gd name="T14" fmla="*/ 0 w 74"/>
                    <a:gd name="T15" fmla="*/ 6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5" name="Freeform 162"/>
                <p:cNvSpPr/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3 w 81"/>
                    <a:gd name="T3" fmla="*/ 20 h 36"/>
                    <a:gd name="T4" fmla="*/ 6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1" name="Freeform 163"/>
              <p:cNvSpPr/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4 w 23"/>
                  <a:gd name="T1" fmla="*/ 68 h 68"/>
                  <a:gd name="T2" fmla="*/ 0 w 23"/>
                  <a:gd name="T3" fmla="*/ 27 h 68"/>
                  <a:gd name="T4" fmla="*/ 9 w 23"/>
                  <a:gd name="T5" fmla="*/ 0 h 68"/>
                  <a:gd name="T6" fmla="*/ 23 w 23"/>
                  <a:gd name="T7" fmla="*/ 31 h 68"/>
                  <a:gd name="T8" fmla="*/ 14 w 23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Freeform 164"/>
              <p:cNvSpPr/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49 w 71"/>
                  <a:gd name="T3" fmla="*/ 0 h 27"/>
                  <a:gd name="T4" fmla="*/ 51 w 71"/>
                  <a:gd name="T5" fmla="*/ 2 h 27"/>
                  <a:gd name="T6" fmla="*/ 55 w 71"/>
                  <a:gd name="T7" fmla="*/ 12 h 27"/>
                  <a:gd name="T8" fmla="*/ 71 w 71"/>
                  <a:gd name="T9" fmla="*/ 27 h 27"/>
                  <a:gd name="T10" fmla="*/ 17 w 71"/>
                  <a:gd name="T11" fmla="*/ 27 h 27"/>
                  <a:gd name="T12" fmla="*/ 8 w 71"/>
                  <a:gd name="T13" fmla="*/ 20 h 27"/>
                  <a:gd name="T14" fmla="*/ 0 w 71"/>
                  <a:gd name="T15" fmla="*/ 6 h 27"/>
                  <a:gd name="T16" fmla="*/ 0 w 71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Freeform 165"/>
              <p:cNvSpPr/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36 h 36"/>
                  <a:gd name="T2" fmla="*/ 2 w 82"/>
                  <a:gd name="T3" fmla="*/ 21 h 36"/>
                  <a:gd name="T4" fmla="*/ 6 w 82"/>
                  <a:gd name="T5" fmla="*/ 8 h 36"/>
                  <a:gd name="T6" fmla="*/ 11 w 82"/>
                  <a:gd name="T7" fmla="*/ 0 h 36"/>
                  <a:gd name="T8" fmla="*/ 68 w 82"/>
                  <a:gd name="T9" fmla="*/ 0 h 36"/>
                  <a:gd name="T10" fmla="*/ 82 w 82"/>
                  <a:gd name="T11" fmla="*/ 36 h 36"/>
                  <a:gd name="T12" fmla="*/ 0 w 8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4" name="Group 166"/>
              <p:cNvGrpSpPr/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50" name="Freeform 167"/>
                <p:cNvSpPr/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1" name="Freeform 168"/>
                <p:cNvSpPr/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2" name="Freeform 169"/>
                <p:cNvSpPr/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5" name="Group 170"/>
              <p:cNvGrpSpPr/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47" name="Freeform 171"/>
                <p:cNvSpPr/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8" name="Freeform 172"/>
                <p:cNvSpPr/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9" name="Freeform 173"/>
                <p:cNvSpPr/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6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6" name="Group 174"/>
              <p:cNvGrpSpPr/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44" name="Freeform 175"/>
                <p:cNvSpPr/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5 h 68"/>
                    <a:gd name="T4" fmla="*/ 9 w 23"/>
                    <a:gd name="T5" fmla="*/ 0 h 68"/>
                    <a:gd name="T6" fmla="*/ 23 w 23"/>
                    <a:gd name="T7" fmla="*/ 30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5" name="Freeform 176"/>
                <p:cNvSpPr/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50 w 73"/>
                    <a:gd name="T3" fmla="*/ 0 h 29"/>
                    <a:gd name="T4" fmla="*/ 51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10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6" name="Freeform 177"/>
                <p:cNvSpPr/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19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7" name="Group 178"/>
              <p:cNvGrpSpPr/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41" name="Freeform 179"/>
                <p:cNvSpPr/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2" name="Freeform 180"/>
                <p:cNvSpPr/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3" name="Freeform 181"/>
                <p:cNvSpPr/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6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8" name="Group 182"/>
              <p:cNvGrpSpPr/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21" name="Group 183"/>
                <p:cNvGrpSpPr/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38" name="Freeform 184"/>
                  <p:cNvSpPr/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3 w 23"/>
                      <a:gd name="T1" fmla="*/ 70 h 70"/>
                      <a:gd name="T2" fmla="*/ 0 w 23"/>
                      <a:gd name="T3" fmla="*/ 27 h 70"/>
                      <a:gd name="T4" fmla="*/ 9 w 23"/>
                      <a:gd name="T5" fmla="*/ 0 h 70"/>
                      <a:gd name="T6" fmla="*/ 23 w 23"/>
                      <a:gd name="T7" fmla="*/ 31 h 70"/>
                      <a:gd name="T8" fmla="*/ 13 w 23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9" name="Freeform 185"/>
                  <p:cNvSpPr/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50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40" name="Freeform 186"/>
                  <p:cNvSpPr/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38 h 38"/>
                      <a:gd name="T2" fmla="*/ 1 w 83"/>
                      <a:gd name="T3" fmla="*/ 22 h 38"/>
                      <a:gd name="T4" fmla="*/ 8 w 83"/>
                      <a:gd name="T5" fmla="*/ 8 h 38"/>
                      <a:gd name="T6" fmla="*/ 12 w 83"/>
                      <a:gd name="T7" fmla="*/ 0 h 38"/>
                      <a:gd name="T8" fmla="*/ 68 w 83"/>
                      <a:gd name="T9" fmla="*/ 0 h 38"/>
                      <a:gd name="T10" fmla="*/ 83 w 83"/>
                      <a:gd name="T11" fmla="*/ 38 h 38"/>
                      <a:gd name="T12" fmla="*/ 0 w 83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2" name="Group 187"/>
                <p:cNvGrpSpPr/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35" name="Freeform 188"/>
                  <p:cNvSpPr/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6" name="Freeform 189"/>
                  <p:cNvSpPr/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2 w 75"/>
                      <a:gd name="T1" fmla="*/ 0 h 32"/>
                      <a:gd name="T2" fmla="*/ 50 w 75"/>
                      <a:gd name="T3" fmla="*/ 0 h 32"/>
                      <a:gd name="T4" fmla="*/ 52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2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7" name="Freeform 190"/>
                  <p:cNvSpPr/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1 h 36"/>
                      <a:gd name="T4" fmla="*/ 5 w 81"/>
                      <a:gd name="T5" fmla="*/ 8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3" name="Group 191"/>
                <p:cNvGrpSpPr/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32" name="Freeform 192"/>
                  <p:cNvSpPr/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3" name="Freeform 193"/>
                  <p:cNvSpPr/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4" name="Freeform 194"/>
                  <p:cNvSpPr/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4" name="Group 195"/>
                <p:cNvGrpSpPr/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29" name="Freeform 196"/>
                  <p:cNvSpPr/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0" name="Freeform 197"/>
                  <p:cNvSpPr/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48 w 73"/>
                      <a:gd name="T3" fmla="*/ 0 h 30"/>
                      <a:gd name="T4" fmla="*/ 52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5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1" name="Freeform 198"/>
                  <p:cNvSpPr/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5" name="Group 199"/>
                <p:cNvGrpSpPr/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26" name="Freeform 200"/>
                  <p:cNvSpPr/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11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7" name="Freeform 201"/>
                  <p:cNvSpPr/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8" name="Freeform 202"/>
                  <p:cNvSpPr/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29" name="Group 203"/>
              <p:cNvGrpSpPr/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01" name="Group 204"/>
                <p:cNvGrpSpPr/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18" name="Freeform 205"/>
                  <p:cNvSpPr/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9" name="Freeform 206"/>
                  <p:cNvSpPr/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0" name="Freeform 207"/>
                  <p:cNvSpPr/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2" name="Group 208"/>
                <p:cNvGrpSpPr/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15" name="Freeform 209"/>
                  <p:cNvSpPr/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13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1 h 70"/>
                      <a:gd name="T8" fmla="*/ 13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6" name="Freeform 210"/>
                  <p:cNvSpPr/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3 h 30"/>
                      <a:gd name="T6" fmla="*/ 56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1 w 74"/>
                      <a:gd name="T13" fmla="*/ 20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7" name="Freeform 211"/>
                  <p:cNvSpPr/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1 h 38"/>
                      <a:gd name="T4" fmla="*/ 7 w 82"/>
                      <a:gd name="T5" fmla="*/ 8 h 38"/>
                      <a:gd name="T6" fmla="*/ 11 w 82"/>
                      <a:gd name="T7" fmla="*/ 0 h 38"/>
                      <a:gd name="T8" fmla="*/ 68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3" name="Group 212"/>
                <p:cNvGrpSpPr/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12" name="Freeform 213"/>
                  <p:cNvSpPr/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3" name="Freeform 214"/>
                  <p:cNvSpPr/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4" name="Freeform 215"/>
                  <p:cNvSpPr/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6 w 81"/>
                      <a:gd name="T5" fmla="*/ 7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4" name="Group 216"/>
                <p:cNvGrpSpPr/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09" name="Freeform 217"/>
                  <p:cNvSpPr/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0" name="Freeform 218"/>
                  <p:cNvSpPr/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1" name="Freeform 219"/>
                  <p:cNvSpPr/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5" name="Group 220"/>
                <p:cNvGrpSpPr/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06" name="Freeform 221"/>
                  <p:cNvSpPr/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07" name="Freeform 222"/>
                  <p:cNvSpPr/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2 w 74"/>
                      <a:gd name="T5" fmla="*/ 3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08" name="Freeform 223"/>
                  <p:cNvSpPr/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30" name="Group 224"/>
              <p:cNvGrpSpPr/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398" name="Freeform 225"/>
                <p:cNvSpPr/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2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9" name="Freeform 226"/>
                <p:cNvSpPr/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2 w 73"/>
                    <a:gd name="T1" fmla="*/ 0 h 31"/>
                    <a:gd name="T2" fmla="*/ 48 w 73"/>
                    <a:gd name="T3" fmla="*/ 0 h 31"/>
                    <a:gd name="T4" fmla="*/ 51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0" name="Freeform 227"/>
                <p:cNvSpPr/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1" name="Group 228"/>
              <p:cNvGrpSpPr/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395" name="Freeform 229"/>
                <p:cNvSpPr/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6" name="Freeform 230"/>
                <p:cNvSpPr/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2 w 74"/>
                    <a:gd name="T1" fmla="*/ 0 h 31"/>
                    <a:gd name="T2" fmla="*/ 49 w 74"/>
                    <a:gd name="T3" fmla="*/ 0 h 31"/>
                    <a:gd name="T4" fmla="*/ 51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7" name="Freeform 231"/>
                <p:cNvSpPr/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2" name="Group 232"/>
              <p:cNvGrpSpPr/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392" name="Freeform 233"/>
                <p:cNvSpPr/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2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3" name="Freeform 234"/>
                <p:cNvSpPr/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2 w 74"/>
                    <a:gd name="T1" fmla="*/ 0 h 31"/>
                    <a:gd name="T2" fmla="*/ 51 w 74"/>
                    <a:gd name="T3" fmla="*/ 0 h 31"/>
                    <a:gd name="T4" fmla="*/ 52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4" name="Freeform 235"/>
                <p:cNvSpPr/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7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3" name="Freeform 236"/>
              <p:cNvSpPr/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3 w 24"/>
                  <a:gd name="T1" fmla="*/ 68 h 68"/>
                  <a:gd name="T2" fmla="*/ 0 w 24"/>
                  <a:gd name="T3" fmla="*/ 27 h 68"/>
                  <a:gd name="T4" fmla="*/ 9 w 24"/>
                  <a:gd name="T5" fmla="*/ 0 h 68"/>
                  <a:gd name="T6" fmla="*/ 24 w 24"/>
                  <a:gd name="T7" fmla="*/ 31 h 68"/>
                  <a:gd name="T8" fmla="*/ 13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237"/>
              <p:cNvSpPr/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50 w 72"/>
                  <a:gd name="T3" fmla="*/ 0 h 31"/>
                  <a:gd name="T4" fmla="*/ 51 w 72"/>
                  <a:gd name="T5" fmla="*/ 4 h 31"/>
                  <a:gd name="T6" fmla="*/ 57 w 72"/>
                  <a:gd name="T7" fmla="*/ 13 h 31"/>
                  <a:gd name="T8" fmla="*/ 72 w 72"/>
                  <a:gd name="T9" fmla="*/ 31 h 31"/>
                  <a:gd name="T10" fmla="*/ 18 w 72"/>
                  <a:gd name="T11" fmla="*/ 31 h 31"/>
                  <a:gd name="T12" fmla="*/ 9 w 72"/>
                  <a:gd name="T13" fmla="*/ 22 h 31"/>
                  <a:gd name="T14" fmla="*/ 0 w 72"/>
                  <a:gd name="T15" fmla="*/ 7 h 31"/>
                  <a:gd name="T16" fmla="*/ 1 w 72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 238"/>
              <p:cNvSpPr/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36 h 36"/>
                  <a:gd name="T2" fmla="*/ 3 w 83"/>
                  <a:gd name="T3" fmla="*/ 21 h 36"/>
                  <a:gd name="T4" fmla="*/ 7 w 83"/>
                  <a:gd name="T5" fmla="*/ 8 h 36"/>
                  <a:gd name="T6" fmla="*/ 12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6" name="Group 239"/>
              <p:cNvGrpSpPr/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389" name="Freeform 240"/>
                <p:cNvSpPr/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0" name="Freeform 241"/>
                <p:cNvSpPr/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6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1" name="Freeform 242"/>
                <p:cNvSpPr/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7" name="Group 243"/>
              <p:cNvGrpSpPr/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386" name="Freeform 244"/>
                <p:cNvSpPr/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7" name="Freeform 245"/>
                <p:cNvSpPr/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7 w 72"/>
                    <a:gd name="T7" fmla="*/ 11 h 29"/>
                    <a:gd name="T8" fmla="*/ 72 w 72"/>
                    <a:gd name="T9" fmla="*/ 29 h 29"/>
                    <a:gd name="T10" fmla="*/ 18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5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8" name="Freeform 246"/>
                <p:cNvSpPr/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3 w 83"/>
                    <a:gd name="T3" fmla="*/ 19 h 35"/>
                    <a:gd name="T4" fmla="*/ 7 w 83"/>
                    <a:gd name="T5" fmla="*/ 7 h 35"/>
                    <a:gd name="T6" fmla="*/ 12 w 83"/>
                    <a:gd name="T7" fmla="*/ 0 h 35"/>
                    <a:gd name="T8" fmla="*/ 67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8" name="Group 247"/>
              <p:cNvGrpSpPr/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383" name="Freeform 248"/>
                <p:cNvSpPr/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0 w 25"/>
                    <a:gd name="T5" fmla="*/ 0 h 68"/>
                    <a:gd name="T6" fmla="*/ 25 w 25"/>
                    <a:gd name="T7" fmla="*/ 30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4" name="Freeform 249"/>
                <p:cNvSpPr/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5" name="Freeform 250"/>
                <p:cNvSpPr/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6 w 82"/>
                    <a:gd name="T5" fmla="*/ 7 h 36"/>
                    <a:gd name="T6" fmla="*/ 10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9" name="Group 251"/>
              <p:cNvGrpSpPr/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380" name="Freeform 252"/>
                <p:cNvSpPr/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1" name="Freeform 253"/>
                <p:cNvSpPr/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2" name="Freeform 254"/>
                <p:cNvSpPr/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5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0" name="Group 255"/>
              <p:cNvGrpSpPr/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60" name="Group 256"/>
                <p:cNvGrpSpPr/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377" name="Freeform 257"/>
                  <p:cNvSpPr/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7 h 70"/>
                      <a:gd name="T4" fmla="*/ 10 w 25"/>
                      <a:gd name="T5" fmla="*/ 0 h 70"/>
                      <a:gd name="T6" fmla="*/ 25 w 25"/>
                      <a:gd name="T7" fmla="*/ 31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8" name="Freeform 258"/>
                  <p:cNvSpPr/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9" name="Freeform 259"/>
                  <p:cNvSpPr/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8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1" name="Group 260"/>
                <p:cNvGrpSpPr/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374" name="Freeform 261"/>
                  <p:cNvSpPr/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5" name="Freeform 262"/>
                  <p:cNvSpPr/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50 w 73"/>
                      <a:gd name="T3" fmla="*/ 0 h 32"/>
                      <a:gd name="T4" fmla="*/ 51 w 73"/>
                      <a:gd name="T5" fmla="*/ 3 h 32"/>
                      <a:gd name="T6" fmla="*/ 56 w 73"/>
                      <a:gd name="T7" fmla="*/ 15 h 32"/>
                      <a:gd name="T8" fmla="*/ 73 w 73"/>
                      <a:gd name="T9" fmla="*/ 32 h 32"/>
                      <a:gd name="T10" fmla="*/ 18 w 73"/>
                      <a:gd name="T11" fmla="*/ 32 h 32"/>
                      <a:gd name="T12" fmla="*/ 9 w 73"/>
                      <a:gd name="T13" fmla="*/ 22 h 32"/>
                      <a:gd name="T14" fmla="*/ 0 w 73"/>
                      <a:gd name="T15" fmla="*/ 7 h 32"/>
                      <a:gd name="T16" fmla="*/ 1 w 73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6" name="Freeform 263"/>
                  <p:cNvSpPr/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2" name="Group 264"/>
                <p:cNvGrpSpPr/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371" name="Freeform 265"/>
                  <p:cNvSpPr/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2" name="Freeform 266"/>
                  <p:cNvSpPr/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3" name="Freeform 267"/>
                  <p:cNvSpPr/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3" name="Group 268"/>
                <p:cNvGrpSpPr/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68" name="Freeform 269"/>
                  <p:cNvSpPr/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9" name="Freeform 270"/>
                  <p:cNvSpPr/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0" name="Freeform 271"/>
                  <p:cNvSpPr/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4" name="Group 272"/>
                <p:cNvGrpSpPr/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65" name="Freeform 273"/>
                  <p:cNvSpPr/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6 w 25"/>
                      <a:gd name="T1" fmla="*/ 67 h 67"/>
                      <a:gd name="T2" fmla="*/ 0 w 25"/>
                      <a:gd name="T3" fmla="*/ 26 h 67"/>
                      <a:gd name="T4" fmla="*/ 12 w 25"/>
                      <a:gd name="T5" fmla="*/ 0 h 67"/>
                      <a:gd name="T6" fmla="*/ 25 w 25"/>
                      <a:gd name="T7" fmla="*/ 30 h 67"/>
                      <a:gd name="T8" fmla="*/ 16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6" name="Freeform 274"/>
                  <p:cNvSpPr/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8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7" name="Freeform 275"/>
                  <p:cNvSpPr/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1" name="Group 276"/>
              <p:cNvGrpSpPr/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40" name="Group 277"/>
                <p:cNvGrpSpPr/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57" name="Freeform 278"/>
                  <p:cNvSpPr/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8" name="Freeform 279"/>
                  <p:cNvSpPr/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9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9" name="Freeform 280"/>
                  <p:cNvSpPr/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1" name="Group 281"/>
                <p:cNvGrpSpPr/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54" name="Freeform 282"/>
                  <p:cNvSpPr/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5" name="Freeform 283"/>
                  <p:cNvSpPr/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6" name="Freeform 284"/>
                  <p:cNvSpPr/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38 h 38"/>
                      <a:gd name="T2" fmla="*/ 2 w 81"/>
                      <a:gd name="T3" fmla="*/ 21 h 38"/>
                      <a:gd name="T4" fmla="*/ 8 w 81"/>
                      <a:gd name="T5" fmla="*/ 8 h 38"/>
                      <a:gd name="T6" fmla="*/ 12 w 81"/>
                      <a:gd name="T7" fmla="*/ 0 h 38"/>
                      <a:gd name="T8" fmla="*/ 68 w 81"/>
                      <a:gd name="T9" fmla="*/ 0 h 38"/>
                      <a:gd name="T10" fmla="*/ 81 w 81"/>
                      <a:gd name="T11" fmla="*/ 38 h 38"/>
                      <a:gd name="T12" fmla="*/ 0 w 81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2" name="Group 285"/>
                <p:cNvGrpSpPr/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51" name="Freeform 286"/>
                  <p:cNvSpPr/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2" name="Freeform 287"/>
                  <p:cNvSpPr/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3" name="Freeform 288"/>
                  <p:cNvSpPr/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8 w 83"/>
                      <a:gd name="T5" fmla="*/ 7 h 36"/>
                      <a:gd name="T6" fmla="*/ 13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3" name="Group 289"/>
                <p:cNvGrpSpPr/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48" name="Freeform 290"/>
                  <p:cNvSpPr/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9" name="Freeform 291"/>
                  <p:cNvSpPr/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0 w 75"/>
                      <a:gd name="T13" fmla="*/ 21 h 30"/>
                      <a:gd name="T14" fmla="*/ 0 w 75"/>
                      <a:gd name="T15" fmla="*/ 7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0" name="Freeform 292"/>
                  <p:cNvSpPr/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4" name="Group 293"/>
                <p:cNvGrpSpPr/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45" name="Freeform 294"/>
                  <p:cNvSpPr/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6" name="Freeform 295"/>
                  <p:cNvSpPr/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3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7" name="Freeform 296"/>
                  <p:cNvSpPr/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2" name="Group 297"/>
              <p:cNvGrpSpPr/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37" name="Freeform 298"/>
                <p:cNvSpPr/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1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8" name="Freeform 299"/>
                <p:cNvSpPr/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48 w 73"/>
                    <a:gd name="T3" fmla="*/ 0 h 31"/>
                    <a:gd name="T4" fmla="*/ 50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1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9" name="Freeform 300"/>
                <p:cNvSpPr/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6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3" name="Group 301"/>
              <p:cNvGrpSpPr/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34" name="Freeform 302"/>
                <p:cNvSpPr/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10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5" name="Freeform 303"/>
                <p:cNvSpPr/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4 w 75"/>
                    <a:gd name="T1" fmla="*/ 0 h 31"/>
                    <a:gd name="T2" fmla="*/ 52 w 75"/>
                    <a:gd name="T3" fmla="*/ 0 h 31"/>
                    <a:gd name="T4" fmla="*/ 53 w 75"/>
                    <a:gd name="T5" fmla="*/ 4 h 31"/>
                    <a:gd name="T6" fmla="*/ 60 w 75"/>
                    <a:gd name="T7" fmla="*/ 13 h 31"/>
                    <a:gd name="T8" fmla="*/ 75 w 75"/>
                    <a:gd name="T9" fmla="*/ 31 h 31"/>
                    <a:gd name="T10" fmla="*/ 19 w 75"/>
                    <a:gd name="T11" fmla="*/ 31 h 31"/>
                    <a:gd name="T12" fmla="*/ 12 w 75"/>
                    <a:gd name="T13" fmla="*/ 22 h 31"/>
                    <a:gd name="T14" fmla="*/ 0 w 75"/>
                    <a:gd name="T15" fmla="*/ 7 h 31"/>
                    <a:gd name="T16" fmla="*/ 4 w 75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6" name="Freeform 304"/>
                <p:cNvSpPr/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4" name="Group 305"/>
              <p:cNvGrpSpPr/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31" name="Freeform 306"/>
                <p:cNvSpPr/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2" name="Freeform 307"/>
                <p:cNvSpPr/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2 w 73"/>
                    <a:gd name="T1" fmla="*/ 0 h 29"/>
                    <a:gd name="T2" fmla="*/ 49 w 73"/>
                    <a:gd name="T3" fmla="*/ 0 h 29"/>
                    <a:gd name="T4" fmla="*/ 50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5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3" name="Freeform 308"/>
                <p:cNvSpPr/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2 w 83"/>
                    <a:gd name="T3" fmla="*/ 19 h 35"/>
                    <a:gd name="T4" fmla="*/ 7 w 83"/>
                    <a:gd name="T5" fmla="*/ 7 h 35"/>
                    <a:gd name="T6" fmla="*/ 11 w 83"/>
                    <a:gd name="T7" fmla="*/ 0 h 35"/>
                    <a:gd name="T8" fmla="*/ 68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5" name="Group 309"/>
              <p:cNvGrpSpPr/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28" name="Freeform 310"/>
                <p:cNvSpPr/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5 h 68"/>
                    <a:gd name="T4" fmla="*/ 9 w 25"/>
                    <a:gd name="T5" fmla="*/ 0 h 68"/>
                    <a:gd name="T6" fmla="*/ 25 w 25"/>
                    <a:gd name="T7" fmla="*/ 30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9" name="Freeform 311"/>
                <p:cNvSpPr/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0" name="Freeform 312"/>
                <p:cNvSpPr/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6" name="Group 313"/>
              <p:cNvGrpSpPr/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25" name="Freeform 314"/>
                <p:cNvSpPr/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6 h 68"/>
                    <a:gd name="T4" fmla="*/ 9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6" name="Freeform 315"/>
                <p:cNvSpPr/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1 w 74"/>
                    <a:gd name="T1" fmla="*/ 0 h 29"/>
                    <a:gd name="T2" fmla="*/ 50 w 74"/>
                    <a:gd name="T3" fmla="*/ 0 h 29"/>
                    <a:gd name="T4" fmla="*/ 51 w 74"/>
                    <a:gd name="T5" fmla="*/ 2 h 29"/>
                    <a:gd name="T6" fmla="*/ 55 w 74"/>
                    <a:gd name="T7" fmla="*/ 11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11 w 74"/>
                    <a:gd name="T13" fmla="*/ 20 h 29"/>
                    <a:gd name="T14" fmla="*/ 0 w 74"/>
                    <a:gd name="T15" fmla="*/ 5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7" name="Freeform 316"/>
                <p:cNvSpPr/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6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7" name="Group 317"/>
              <p:cNvGrpSpPr/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05" name="Group 318"/>
                <p:cNvGrpSpPr/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22" name="Freeform 319"/>
                  <p:cNvSpPr/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3" name="Freeform 320"/>
                  <p:cNvSpPr/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1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4" name="Freeform 321"/>
                  <p:cNvSpPr/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7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6" name="Group 322"/>
                <p:cNvGrpSpPr/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19" name="Freeform 323"/>
                  <p:cNvSpPr/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0" name="Freeform 324"/>
                  <p:cNvSpPr/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3 w 75"/>
                      <a:gd name="T1" fmla="*/ 0 h 32"/>
                      <a:gd name="T2" fmla="*/ 52 w 75"/>
                      <a:gd name="T3" fmla="*/ 0 h 32"/>
                      <a:gd name="T4" fmla="*/ 53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3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1" name="Freeform 325"/>
                  <p:cNvSpPr/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1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7" name="Group 326"/>
                <p:cNvGrpSpPr/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16" name="Freeform 327"/>
                  <p:cNvSpPr/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7" name="Freeform 328"/>
                  <p:cNvSpPr/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8" name="Freeform 329"/>
                  <p:cNvSpPr/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8" name="Group 330"/>
                <p:cNvGrpSpPr/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13" name="Freeform 331"/>
                  <p:cNvSpPr/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4" name="Freeform 332"/>
                  <p:cNvSpPr/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5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5" name="Freeform 333"/>
                  <p:cNvSpPr/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9" name="Group 334"/>
                <p:cNvGrpSpPr/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10" name="Freeform 335"/>
                  <p:cNvSpPr/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15 w 25"/>
                      <a:gd name="T1" fmla="*/ 67 h 67"/>
                      <a:gd name="T2" fmla="*/ 0 w 25"/>
                      <a:gd name="T3" fmla="*/ 26 h 67"/>
                      <a:gd name="T4" fmla="*/ 10 w 25"/>
                      <a:gd name="T5" fmla="*/ 0 h 67"/>
                      <a:gd name="T6" fmla="*/ 25 w 25"/>
                      <a:gd name="T7" fmla="*/ 30 h 67"/>
                      <a:gd name="T8" fmla="*/ 15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1" name="Freeform 336"/>
                  <p:cNvSpPr/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2" name="Freeform 337"/>
                  <p:cNvSpPr/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8" name="Group 338"/>
              <p:cNvGrpSpPr/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285" name="Group 339"/>
                <p:cNvGrpSpPr/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02" name="Freeform 340"/>
                  <p:cNvSpPr/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3" name="Freeform 341"/>
                  <p:cNvSpPr/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4" name="Freeform 342"/>
                  <p:cNvSpPr/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6" name="Group 343"/>
                <p:cNvGrpSpPr/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299" name="Freeform 344"/>
                  <p:cNvSpPr/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0" name="Freeform 345"/>
                  <p:cNvSpPr/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0 w 75"/>
                      <a:gd name="T3" fmla="*/ 0 h 30"/>
                      <a:gd name="T4" fmla="*/ 52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1" name="Freeform 346"/>
                  <p:cNvSpPr/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4 w 82"/>
                      <a:gd name="T3" fmla="*/ 21 h 38"/>
                      <a:gd name="T4" fmla="*/ 8 w 82"/>
                      <a:gd name="T5" fmla="*/ 8 h 38"/>
                      <a:gd name="T6" fmla="*/ 13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7" name="Group 347"/>
                <p:cNvGrpSpPr/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296" name="Freeform 348"/>
                  <p:cNvSpPr/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4 w 24"/>
                      <a:gd name="T1" fmla="*/ 70 h 70"/>
                      <a:gd name="T2" fmla="*/ 0 w 24"/>
                      <a:gd name="T3" fmla="*/ 29 h 70"/>
                      <a:gd name="T4" fmla="*/ 10 w 24"/>
                      <a:gd name="T5" fmla="*/ 0 h 70"/>
                      <a:gd name="T6" fmla="*/ 24 w 24"/>
                      <a:gd name="T7" fmla="*/ 33 h 70"/>
                      <a:gd name="T8" fmla="*/ 14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7" name="Freeform 349"/>
                  <p:cNvSpPr/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8" name="Freeform 350"/>
                  <p:cNvSpPr/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8 w 83"/>
                      <a:gd name="T5" fmla="*/ 7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8" name="Group 351"/>
                <p:cNvGrpSpPr/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293" name="Freeform 352"/>
                  <p:cNvSpPr/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4" name="Freeform 353"/>
                  <p:cNvSpPr/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6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9 w 75"/>
                      <a:gd name="T13" fmla="*/ 21 h 30"/>
                      <a:gd name="T14" fmla="*/ 0 w 75"/>
                      <a:gd name="T15" fmla="*/ 7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5" name="Freeform 354"/>
                  <p:cNvSpPr/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5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9" name="Group 355"/>
                <p:cNvGrpSpPr/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290" name="Freeform 356"/>
                  <p:cNvSpPr/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0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1" name="Freeform 357"/>
                  <p:cNvSpPr/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3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8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2" name="Freeform 358"/>
                  <p:cNvSpPr/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9" name="Group 359"/>
              <p:cNvGrpSpPr/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282" name="Freeform 360"/>
                <p:cNvSpPr/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1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3" name="Freeform 361"/>
                <p:cNvSpPr/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49 w 72"/>
                    <a:gd name="T3" fmla="*/ 0 h 31"/>
                    <a:gd name="T4" fmla="*/ 50 w 72"/>
                    <a:gd name="T5" fmla="*/ 4 h 31"/>
                    <a:gd name="T6" fmla="*/ 56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4" name="Freeform 362"/>
                <p:cNvSpPr/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0" name="Group 363"/>
              <p:cNvGrpSpPr/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279" name="Freeform 364"/>
                <p:cNvSpPr/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22 w 38"/>
                    <a:gd name="T1" fmla="*/ 69 h 69"/>
                    <a:gd name="T2" fmla="*/ 0 w 38"/>
                    <a:gd name="T3" fmla="*/ 34 h 69"/>
                    <a:gd name="T4" fmla="*/ 11 w 38"/>
                    <a:gd name="T5" fmla="*/ 0 h 69"/>
                    <a:gd name="T6" fmla="*/ 38 w 38"/>
                    <a:gd name="T7" fmla="*/ 34 h 69"/>
                    <a:gd name="T8" fmla="*/ 22 w 38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0" name="Freeform 365"/>
                <p:cNvSpPr/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40 w 64"/>
                    <a:gd name="T3" fmla="*/ 0 h 35"/>
                    <a:gd name="T4" fmla="*/ 64 w 64"/>
                    <a:gd name="T5" fmla="*/ 35 h 35"/>
                    <a:gd name="T6" fmla="*/ 23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1" name="Freeform 366"/>
                <p:cNvSpPr/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31 h 31"/>
                    <a:gd name="T2" fmla="*/ 13 w 65"/>
                    <a:gd name="T3" fmla="*/ 0 h 31"/>
                    <a:gd name="T4" fmla="*/ 54 w 65"/>
                    <a:gd name="T5" fmla="*/ 0 h 31"/>
                    <a:gd name="T6" fmla="*/ 65 w 65"/>
                    <a:gd name="T7" fmla="*/ 31 h 31"/>
                    <a:gd name="T8" fmla="*/ 0 w 65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1" name="Group 367"/>
              <p:cNvGrpSpPr/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276" name="Freeform 368"/>
                <p:cNvSpPr/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4 h 68"/>
                    <a:gd name="T4" fmla="*/ 11 w 39"/>
                    <a:gd name="T5" fmla="*/ 0 h 68"/>
                    <a:gd name="T6" fmla="*/ 39 w 39"/>
                    <a:gd name="T7" fmla="*/ 34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7" name="Freeform 369"/>
                <p:cNvSpPr/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8" name="Freeform 370"/>
                <p:cNvSpPr/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2" name="Group 371"/>
              <p:cNvGrpSpPr/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273" name="Freeform 372"/>
                <p:cNvSpPr/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4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4" name="Freeform 373"/>
                <p:cNvSpPr/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39 w 63"/>
                    <a:gd name="T3" fmla="*/ 0 h 33"/>
                    <a:gd name="T4" fmla="*/ 63 w 63"/>
                    <a:gd name="T5" fmla="*/ 33 h 33"/>
                    <a:gd name="T6" fmla="*/ 24 w 63"/>
                    <a:gd name="T7" fmla="*/ 33 h 33"/>
                    <a:gd name="T8" fmla="*/ 0 w 63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5" name="Freeform 374"/>
                <p:cNvSpPr/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3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3" name="Group 375"/>
              <p:cNvGrpSpPr/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270" name="Freeform 376"/>
                <p:cNvSpPr/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22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2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1" name="Freeform 377"/>
                <p:cNvSpPr/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41 w 65"/>
                    <a:gd name="T3" fmla="*/ 0 h 35"/>
                    <a:gd name="T4" fmla="*/ 65 w 65"/>
                    <a:gd name="T5" fmla="*/ 35 h 35"/>
                    <a:gd name="T6" fmla="*/ 25 w 65"/>
                    <a:gd name="T7" fmla="*/ 35 h 35"/>
                    <a:gd name="T8" fmla="*/ 0 w 65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2" name="Freeform 378"/>
                <p:cNvSpPr/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3 w 65"/>
                    <a:gd name="T3" fmla="*/ 0 h 28"/>
                    <a:gd name="T4" fmla="*/ 54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4" name="Group 379"/>
              <p:cNvGrpSpPr/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54" name="Group 380"/>
                <p:cNvGrpSpPr/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67" name="Freeform 381"/>
                  <p:cNvSpPr/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2 h 68"/>
                      <a:gd name="T4" fmla="*/ 11 w 38"/>
                      <a:gd name="T5" fmla="*/ 0 h 68"/>
                      <a:gd name="T6" fmla="*/ 38 w 38"/>
                      <a:gd name="T7" fmla="*/ 32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8" name="Freeform 382"/>
                  <p:cNvSpPr/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42 w 66"/>
                      <a:gd name="T3" fmla="*/ 0 h 32"/>
                      <a:gd name="T4" fmla="*/ 66 w 66"/>
                      <a:gd name="T5" fmla="*/ 32 h 32"/>
                      <a:gd name="T6" fmla="*/ 25 w 66"/>
                      <a:gd name="T7" fmla="*/ 32 h 32"/>
                      <a:gd name="T8" fmla="*/ 0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9" name="Freeform 383"/>
                  <p:cNvSpPr/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4 w 65"/>
                      <a:gd name="T3" fmla="*/ 0 h 31"/>
                      <a:gd name="T4" fmla="*/ 55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5" name="Group 384"/>
                <p:cNvGrpSpPr/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64" name="Freeform 385"/>
                  <p:cNvSpPr/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3 h 69"/>
                      <a:gd name="T4" fmla="*/ 12 w 40"/>
                      <a:gd name="T5" fmla="*/ 0 h 69"/>
                      <a:gd name="T6" fmla="*/ 40 w 40"/>
                      <a:gd name="T7" fmla="*/ 33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5" name="Freeform 386"/>
                  <p:cNvSpPr/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41 w 66"/>
                      <a:gd name="T3" fmla="*/ 0 h 35"/>
                      <a:gd name="T4" fmla="*/ 66 w 66"/>
                      <a:gd name="T5" fmla="*/ 35 h 35"/>
                      <a:gd name="T6" fmla="*/ 24 w 66"/>
                      <a:gd name="T7" fmla="*/ 35 h 35"/>
                      <a:gd name="T8" fmla="*/ 0 w 66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6" name="Freeform 387"/>
                  <p:cNvSpPr/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3 w 66"/>
                      <a:gd name="T3" fmla="*/ 0 h 30"/>
                      <a:gd name="T4" fmla="*/ 55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6" name="Group 388"/>
                <p:cNvGrpSpPr/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61" name="Freeform 389"/>
                  <p:cNvSpPr/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5 h 68"/>
                      <a:gd name="T4" fmla="*/ 12 w 40"/>
                      <a:gd name="T5" fmla="*/ 0 h 68"/>
                      <a:gd name="T6" fmla="*/ 40 w 40"/>
                      <a:gd name="T7" fmla="*/ 35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2" name="Freeform 390"/>
                  <p:cNvSpPr/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2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3" name="Freeform 391"/>
                  <p:cNvSpPr/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2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7" name="Group 392"/>
                <p:cNvGrpSpPr/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58" name="Freeform 393"/>
                  <p:cNvSpPr/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3 h 68"/>
                      <a:gd name="T4" fmla="*/ 12 w 39"/>
                      <a:gd name="T5" fmla="*/ 0 h 68"/>
                      <a:gd name="T6" fmla="*/ 39 w 39"/>
                      <a:gd name="T7" fmla="*/ 33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9" name="Freeform 394"/>
                  <p:cNvSpPr/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5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0" name="Freeform 395"/>
                  <p:cNvSpPr/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4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5" name="Group 396"/>
              <p:cNvGrpSpPr/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38" name="Group 397"/>
                <p:cNvGrpSpPr/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51" name="Freeform 398"/>
                  <p:cNvSpPr/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3 h 68"/>
                      <a:gd name="T4" fmla="*/ 10 w 38"/>
                      <a:gd name="T5" fmla="*/ 0 h 68"/>
                      <a:gd name="T6" fmla="*/ 38 w 38"/>
                      <a:gd name="T7" fmla="*/ 33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2" name="Freeform 399"/>
                  <p:cNvSpPr/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0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3" name="Freeform 400"/>
                  <p:cNvSpPr/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3 w 66"/>
                      <a:gd name="T3" fmla="*/ 0 h 28"/>
                      <a:gd name="T4" fmla="*/ 55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39" name="Group 401"/>
                <p:cNvGrpSpPr/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48" name="Freeform 402"/>
                  <p:cNvSpPr/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4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9" name="Freeform 403"/>
                  <p:cNvSpPr/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41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0" name="Freeform 404"/>
                  <p:cNvSpPr/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2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40" name="Group 405"/>
                <p:cNvGrpSpPr/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45" name="Freeform 406"/>
                  <p:cNvSpPr/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22 w 39"/>
                      <a:gd name="T1" fmla="*/ 70 h 70"/>
                      <a:gd name="T2" fmla="*/ 0 w 39"/>
                      <a:gd name="T3" fmla="*/ 34 h 70"/>
                      <a:gd name="T4" fmla="*/ 12 w 39"/>
                      <a:gd name="T5" fmla="*/ 0 h 70"/>
                      <a:gd name="T6" fmla="*/ 39 w 39"/>
                      <a:gd name="T7" fmla="*/ 34 h 70"/>
                      <a:gd name="T8" fmla="*/ 22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6" name="Freeform 407"/>
                  <p:cNvSpPr/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7" name="Freeform 408"/>
                  <p:cNvSpPr/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41" name="Group 409"/>
                <p:cNvGrpSpPr/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42" name="Freeform 410"/>
                  <p:cNvSpPr/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24 w 41"/>
                      <a:gd name="T1" fmla="*/ 70 h 70"/>
                      <a:gd name="T2" fmla="*/ 0 w 41"/>
                      <a:gd name="T3" fmla="*/ 35 h 70"/>
                      <a:gd name="T4" fmla="*/ 13 w 41"/>
                      <a:gd name="T5" fmla="*/ 0 h 70"/>
                      <a:gd name="T6" fmla="*/ 41 w 41"/>
                      <a:gd name="T7" fmla="*/ 35 h 70"/>
                      <a:gd name="T8" fmla="*/ 24 w 41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3" name="Freeform 411"/>
                  <p:cNvSpPr/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41 w 65"/>
                      <a:gd name="T3" fmla="*/ 0 h 34"/>
                      <a:gd name="T4" fmla="*/ 65 w 65"/>
                      <a:gd name="T5" fmla="*/ 34 h 34"/>
                      <a:gd name="T6" fmla="*/ 24 w 65"/>
                      <a:gd name="T7" fmla="*/ 34 h 34"/>
                      <a:gd name="T8" fmla="*/ 0 w 65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4" name="Freeform 412"/>
                  <p:cNvSpPr/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2 w 66"/>
                      <a:gd name="T3" fmla="*/ 0 h 28"/>
                      <a:gd name="T4" fmla="*/ 54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6" name="Group 413"/>
              <p:cNvGrpSpPr/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35" name="Freeform 414"/>
                <p:cNvSpPr/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23 w 39"/>
                    <a:gd name="T1" fmla="*/ 70 h 70"/>
                    <a:gd name="T2" fmla="*/ 0 w 39"/>
                    <a:gd name="T3" fmla="*/ 34 h 70"/>
                    <a:gd name="T4" fmla="*/ 13 w 39"/>
                    <a:gd name="T5" fmla="*/ 0 h 70"/>
                    <a:gd name="T6" fmla="*/ 39 w 39"/>
                    <a:gd name="T7" fmla="*/ 34 h 70"/>
                    <a:gd name="T8" fmla="*/ 23 w 39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6" name="Freeform 415"/>
                <p:cNvSpPr/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41 w 63"/>
                    <a:gd name="T3" fmla="*/ 0 h 35"/>
                    <a:gd name="T4" fmla="*/ 63 w 63"/>
                    <a:gd name="T5" fmla="*/ 35 h 35"/>
                    <a:gd name="T6" fmla="*/ 24 w 63"/>
                    <a:gd name="T7" fmla="*/ 35 h 35"/>
                    <a:gd name="T8" fmla="*/ 0 w 63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7" name="Freeform 416"/>
                <p:cNvSpPr/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30 h 30"/>
                    <a:gd name="T2" fmla="*/ 13 w 64"/>
                    <a:gd name="T3" fmla="*/ 0 h 30"/>
                    <a:gd name="T4" fmla="*/ 52 w 64"/>
                    <a:gd name="T5" fmla="*/ 0 h 30"/>
                    <a:gd name="T6" fmla="*/ 64 w 64"/>
                    <a:gd name="T7" fmla="*/ 30 h 30"/>
                    <a:gd name="T8" fmla="*/ 0 w 64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7" name="Group 417"/>
              <p:cNvGrpSpPr/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32" name="Freeform 418"/>
                <p:cNvSpPr/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22 w 39"/>
                    <a:gd name="T1" fmla="*/ 69 h 69"/>
                    <a:gd name="T2" fmla="*/ 0 w 39"/>
                    <a:gd name="T3" fmla="*/ 34 h 69"/>
                    <a:gd name="T4" fmla="*/ 12 w 39"/>
                    <a:gd name="T5" fmla="*/ 0 h 69"/>
                    <a:gd name="T6" fmla="*/ 39 w 39"/>
                    <a:gd name="T7" fmla="*/ 34 h 69"/>
                    <a:gd name="T8" fmla="*/ 22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3" name="Freeform 419"/>
                <p:cNvSpPr/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39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4" name="Freeform 420"/>
                <p:cNvSpPr/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30 h 30"/>
                    <a:gd name="T2" fmla="*/ 11 w 65"/>
                    <a:gd name="T3" fmla="*/ 0 h 30"/>
                    <a:gd name="T4" fmla="*/ 53 w 65"/>
                    <a:gd name="T5" fmla="*/ 0 h 30"/>
                    <a:gd name="T6" fmla="*/ 65 w 65"/>
                    <a:gd name="T7" fmla="*/ 30 h 30"/>
                    <a:gd name="T8" fmla="*/ 0 w 65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8" name="Group 421"/>
              <p:cNvGrpSpPr/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29" name="Freeform 422"/>
                <p:cNvSpPr/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3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0" name="Freeform 423"/>
                <p:cNvSpPr/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40 w 63"/>
                    <a:gd name="T3" fmla="*/ 0 h 32"/>
                    <a:gd name="T4" fmla="*/ 63 w 63"/>
                    <a:gd name="T5" fmla="*/ 32 h 32"/>
                    <a:gd name="T6" fmla="*/ 23 w 63"/>
                    <a:gd name="T7" fmla="*/ 32 h 32"/>
                    <a:gd name="T8" fmla="*/ 0 w 63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1" name="Freeform 424"/>
                <p:cNvSpPr/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31 h 31"/>
                    <a:gd name="T2" fmla="*/ 12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9" name="Group 425"/>
              <p:cNvGrpSpPr/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26" name="Freeform 426"/>
                <p:cNvSpPr/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24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4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Freeform 427"/>
                <p:cNvSpPr/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8" name="Freeform 428"/>
                <p:cNvSpPr/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2 w 65"/>
                    <a:gd name="T3" fmla="*/ 0 h 28"/>
                    <a:gd name="T4" fmla="*/ 53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0" name="Group 429"/>
              <p:cNvGrpSpPr/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23" name="Freeform 430"/>
                <p:cNvSpPr/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23 w 40"/>
                    <a:gd name="T1" fmla="*/ 69 h 69"/>
                    <a:gd name="T2" fmla="*/ 0 w 40"/>
                    <a:gd name="T3" fmla="*/ 34 h 69"/>
                    <a:gd name="T4" fmla="*/ 12 w 40"/>
                    <a:gd name="T5" fmla="*/ 0 h 69"/>
                    <a:gd name="T6" fmla="*/ 40 w 40"/>
                    <a:gd name="T7" fmla="*/ 34 h 69"/>
                    <a:gd name="T8" fmla="*/ 23 w 40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4" name="Freeform 431"/>
                <p:cNvSpPr/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42 w 64"/>
                    <a:gd name="T3" fmla="*/ 0 h 35"/>
                    <a:gd name="T4" fmla="*/ 64 w 64"/>
                    <a:gd name="T5" fmla="*/ 35 h 35"/>
                    <a:gd name="T6" fmla="*/ 25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5" name="Freeform 432"/>
                <p:cNvSpPr/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5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1" name="Group 433"/>
              <p:cNvGrpSpPr/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20" name="Freeform 434"/>
                <p:cNvSpPr/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5 h 68"/>
                    <a:gd name="T4" fmla="*/ 12 w 39"/>
                    <a:gd name="T5" fmla="*/ 0 h 68"/>
                    <a:gd name="T6" fmla="*/ 39 w 39"/>
                    <a:gd name="T7" fmla="*/ 35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1" name="Freeform 435"/>
                <p:cNvSpPr/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39 w 64"/>
                    <a:gd name="T3" fmla="*/ 0 h 35"/>
                    <a:gd name="T4" fmla="*/ 64 w 64"/>
                    <a:gd name="T5" fmla="*/ 35 h 35"/>
                    <a:gd name="T6" fmla="*/ 24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2" name="Freeform 436"/>
                <p:cNvSpPr/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29 h 29"/>
                    <a:gd name="T2" fmla="*/ 12 w 66"/>
                    <a:gd name="T3" fmla="*/ 0 h 29"/>
                    <a:gd name="T4" fmla="*/ 54 w 66"/>
                    <a:gd name="T5" fmla="*/ 0 h 29"/>
                    <a:gd name="T6" fmla="*/ 66 w 66"/>
                    <a:gd name="T7" fmla="*/ 29 h 29"/>
                    <a:gd name="T8" fmla="*/ 0 w 66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2" name="Group 437"/>
              <p:cNvGrpSpPr/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17" name="Freeform 438"/>
                <p:cNvSpPr/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23 w 39"/>
                    <a:gd name="T1" fmla="*/ 69 h 69"/>
                    <a:gd name="T2" fmla="*/ 0 w 39"/>
                    <a:gd name="T3" fmla="*/ 33 h 69"/>
                    <a:gd name="T4" fmla="*/ 12 w 39"/>
                    <a:gd name="T5" fmla="*/ 0 h 69"/>
                    <a:gd name="T6" fmla="*/ 39 w 39"/>
                    <a:gd name="T7" fmla="*/ 33 h 69"/>
                    <a:gd name="T8" fmla="*/ 23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8" name="Freeform 439"/>
                <p:cNvSpPr/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41 w 64"/>
                    <a:gd name="T3" fmla="*/ 0 h 33"/>
                    <a:gd name="T4" fmla="*/ 64 w 64"/>
                    <a:gd name="T5" fmla="*/ 33 h 33"/>
                    <a:gd name="T6" fmla="*/ 23 w 64"/>
                    <a:gd name="T7" fmla="*/ 33 h 33"/>
                    <a:gd name="T8" fmla="*/ 0 w 64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9" name="Freeform 440"/>
                <p:cNvSpPr/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31 h 31"/>
                    <a:gd name="T2" fmla="*/ 11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3" name="Freeform 441"/>
              <p:cNvSpPr/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7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Freeform 442"/>
              <p:cNvSpPr/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443"/>
              <p:cNvSpPr/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27 w 78"/>
                  <a:gd name="T3" fmla="*/ 36 h 36"/>
                  <a:gd name="T4" fmla="*/ 78 w 78"/>
                  <a:gd name="T5" fmla="*/ 36 h 36"/>
                  <a:gd name="T6" fmla="*/ 49 w 78"/>
                  <a:gd name="T7" fmla="*/ 0 h 36"/>
                  <a:gd name="T8" fmla="*/ 0 w 7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Freeform 444"/>
              <p:cNvSpPr/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Freeform 445"/>
              <p:cNvSpPr/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Freeform 446"/>
              <p:cNvSpPr/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28 w 79"/>
                  <a:gd name="T3" fmla="*/ 35 h 35"/>
                  <a:gd name="T4" fmla="*/ 79 w 79"/>
                  <a:gd name="T5" fmla="*/ 35 h 35"/>
                  <a:gd name="T6" fmla="*/ 50 w 79"/>
                  <a:gd name="T7" fmla="*/ 0 h 35"/>
                  <a:gd name="T8" fmla="*/ 0 w 7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447"/>
              <p:cNvSpPr/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8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448"/>
              <p:cNvSpPr/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449"/>
              <p:cNvSpPr/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Freeform 450"/>
              <p:cNvSpPr/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Freeform 451"/>
              <p:cNvSpPr/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28 w 81"/>
                  <a:gd name="T3" fmla="*/ 36 h 36"/>
                  <a:gd name="T4" fmla="*/ 81 w 81"/>
                  <a:gd name="T5" fmla="*/ 36 h 36"/>
                  <a:gd name="T6" fmla="*/ 52 w 81"/>
                  <a:gd name="T7" fmla="*/ 0 h 36"/>
                  <a:gd name="T8" fmla="*/ 0 w 8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4" name="Group 452"/>
              <p:cNvGrpSpPr/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14" name="Freeform 453"/>
                <p:cNvSpPr/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10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Freeform 454"/>
                <p:cNvSpPr/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50 w 73"/>
                    <a:gd name="T3" fmla="*/ 0 h 30"/>
                    <a:gd name="T4" fmla="*/ 52 w 73"/>
                    <a:gd name="T5" fmla="*/ 4 h 30"/>
                    <a:gd name="T6" fmla="*/ 56 w 73"/>
                    <a:gd name="T7" fmla="*/ 12 h 30"/>
                    <a:gd name="T8" fmla="*/ 73 w 73"/>
                    <a:gd name="T9" fmla="*/ 30 h 30"/>
                    <a:gd name="T10" fmla="*/ 18 w 73"/>
                    <a:gd name="T11" fmla="*/ 30 h 30"/>
                    <a:gd name="T12" fmla="*/ 9 w 73"/>
                    <a:gd name="T13" fmla="*/ 21 h 30"/>
                    <a:gd name="T14" fmla="*/ 0 w 73"/>
                    <a:gd name="T15" fmla="*/ 6 h 30"/>
                    <a:gd name="T16" fmla="*/ 1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6" name="Freeform 455"/>
                <p:cNvSpPr/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6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5" name="Group 456"/>
              <p:cNvGrpSpPr/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11" name="Freeform 457"/>
                <p:cNvSpPr/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5 w 24"/>
                    <a:gd name="T1" fmla="*/ 67 h 67"/>
                    <a:gd name="T2" fmla="*/ 0 w 24"/>
                    <a:gd name="T3" fmla="*/ 26 h 67"/>
                    <a:gd name="T4" fmla="*/ 9 w 24"/>
                    <a:gd name="T5" fmla="*/ 0 h 67"/>
                    <a:gd name="T6" fmla="*/ 24 w 24"/>
                    <a:gd name="T7" fmla="*/ 30 h 67"/>
                    <a:gd name="T8" fmla="*/ 15 w 24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2" name="Freeform 458"/>
                <p:cNvSpPr/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2 w 74"/>
                    <a:gd name="T1" fmla="*/ 0 h 29"/>
                    <a:gd name="T2" fmla="*/ 50 w 74"/>
                    <a:gd name="T3" fmla="*/ 0 h 29"/>
                    <a:gd name="T4" fmla="*/ 52 w 74"/>
                    <a:gd name="T5" fmla="*/ 2 h 29"/>
                    <a:gd name="T6" fmla="*/ 57 w 74"/>
                    <a:gd name="T7" fmla="*/ 13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2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3" name="Freeform 459"/>
                <p:cNvSpPr/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35 h 35"/>
                    <a:gd name="T2" fmla="*/ 1 w 81"/>
                    <a:gd name="T3" fmla="*/ 19 h 35"/>
                    <a:gd name="T4" fmla="*/ 5 w 81"/>
                    <a:gd name="T5" fmla="*/ 7 h 35"/>
                    <a:gd name="T6" fmla="*/ 10 w 81"/>
                    <a:gd name="T7" fmla="*/ 0 h 35"/>
                    <a:gd name="T8" fmla="*/ 67 w 81"/>
                    <a:gd name="T9" fmla="*/ 0 h 35"/>
                    <a:gd name="T10" fmla="*/ 81 w 81"/>
                    <a:gd name="T11" fmla="*/ 35 h 35"/>
                    <a:gd name="T12" fmla="*/ 0 w 8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6" name="Group 460"/>
              <p:cNvGrpSpPr/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08" name="Freeform 461"/>
                <p:cNvSpPr/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9" name="Freeform 462"/>
                <p:cNvSpPr/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50 w 72"/>
                    <a:gd name="T3" fmla="*/ 0 h 30"/>
                    <a:gd name="T4" fmla="*/ 51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8 w 72"/>
                    <a:gd name="T11" fmla="*/ 30 h 30"/>
                    <a:gd name="T12" fmla="*/ 9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0" name="Freeform 463"/>
                <p:cNvSpPr/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7" name="Group 464"/>
              <p:cNvGrpSpPr/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05" name="Freeform 465"/>
                <p:cNvSpPr/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6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6" name="Freeform 466"/>
                <p:cNvSpPr/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48 w 72"/>
                    <a:gd name="T3" fmla="*/ 0 h 30"/>
                    <a:gd name="T4" fmla="*/ 50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7 w 72"/>
                    <a:gd name="T11" fmla="*/ 30 h 30"/>
                    <a:gd name="T12" fmla="*/ 8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7" name="Freeform 467"/>
                <p:cNvSpPr/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8" name="Group 468"/>
              <p:cNvGrpSpPr/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02" name="Freeform 469"/>
                <p:cNvSpPr/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71 w 182"/>
                    <a:gd name="T1" fmla="*/ 314 h 314"/>
                    <a:gd name="T2" fmla="*/ 0 w 182"/>
                    <a:gd name="T3" fmla="*/ 27 h 314"/>
                    <a:gd name="T4" fmla="*/ 13 w 182"/>
                    <a:gd name="T5" fmla="*/ 0 h 314"/>
                    <a:gd name="T6" fmla="*/ 182 w 182"/>
                    <a:gd name="T7" fmla="*/ 278 h 314"/>
                    <a:gd name="T8" fmla="*/ 171 w 182"/>
                    <a:gd name="T9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3" name="Freeform 470"/>
                <p:cNvSpPr/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56 w 235"/>
                    <a:gd name="T3" fmla="*/ 0 h 281"/>
                    <a:gd name="T4" fmla="*/ 58 w 235"/>
                    <a:gd name="T5" fmla="*/ 0 h 281"/>
                    <a:gd name="T6" fmla="*/ 65 w 235"/>
                    <a:gd name="T7" fmla="*/ 10 h 281"/>
                    <a:gd name="T8" fmla="*/ 235 w 235"/>
                    <a:gd name="T9" fmla="*/ 281 h 281"/>
                    <a:gd name="T10" fmla="*/ 165 w 235"/>
                    <a:gd name="T11" fmla="*/ 277 h 281"/>
                    <a:gd name="T12" fmla="*/ 9 w 235"/>
                    <a:gd name="T13" fmla="*/ 19 h 281"/>
                    <a:gd name="T14" fmla="*/ 0 w 235"/>
                    <a:gd name="T15" fmla="*/ 4 h 281"/>
                    <a:gd name="T16" fmla="*/ 1 w 235"/>
                    <a:gd name="T17" fmla="*/ 0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4" name="Freeform 471"/>
                <p:cNvSpPr/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36 h 36"/>
                    <a:gd name="T2" fmla="*/ 2 w 95"/>
                    <a:gd name="T3" fmla="*/ 19 h 36"/>
                    <a:gd name="T4" fmla="*/ 8 w 95"/>
                    <a:gd name="T5" fmla="*/ 7 h 36"/>
                    <a:gd name="T6" fmla="*/ 12 w 95"/>
                    <a:gd name="T7" fmla="*/ 0 h 36"/>
                    <a:gd name="T8" fmla="*/ 76 w 95"/>
                    <a:gd name="T9" fmla="*/ 0 h 36"/>
                    <a:gd name="T10" fmla="*/ 95 w 95"/>
                    <a:gd name="T11" fmla="*/ 36 h 36"/>
                    <a:gd name="T12" fmla="*/ 0 w 95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9" name="Group 472"/>
              <p:cNvGrpSpPr/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199" name="Freeform 473"/>
                <p:cNvSpPr/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0" name="Freeform 474"/>
                <p:cNvSpPr/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1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Freeform 475"/>
                <p:cNvSpPr/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34 h 34"/>
                    <a:gd name="T2" fmla="*/ 1 w 81"/>
                    <a:gd name="T3" fmla="*/ 19 h 34"/>
                    <a:gd name="T4" fmla="*/ 5 w 81"/>
                    <a:gd name="T5" fmla="*/ 6 h 34"/>
                    <a:gd name="T6" fmla="*/ 10 w 81"/>
                    <a:gd name="T7" fmla="*/ 0 h 34"/>
                    <a:gd name="T8" fmla="*/ 67 w 81"/>
                    <a:gd name="T9" fmla="*/ 0 h 34"/>
                    <a:gd name="T10" fmla="*/ 81 w 81"/>
                    <a:gd name="T11" fmla="*/ 34 h 34"/>
                    <a:gd name="T12" fmla="*/ 0 w 81"/>
                    <a:gd name="T13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0" name="Group 476"/>
              <p:cNvGrpSpPr/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196" name="Freeform 477"/>
                <p:cNvSpPr/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7" name="Freeform 478"/>
                <p:cNvSpPr/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50 w 72"/>
                    <a:gd name="T3" fmla="*/ 0 h 29"/>
                    <a:gd name="T4" fmla="*/ 51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8" name="Freeform 479"/>
                <p:cNvSpPr/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1" name="Group 480"/>
              <p:cNvGrpSpPr/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193" name="Freeform 481"/>
                <p:cNvSpPr/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3 w 22"/>
                    <a:gd name="T1" fmla="*/ 69 h 69"/>
                    <a:gd name="T2" fmla="*/ 0 w 22"/>
                    <a:gd name="T3" fmla="*/ 27 h 69"/>
                    <a:gd name="T4" fmla="*/ 9 w 22"/>
                    <a:gd name="T5" fmla="*/ 0 h 69"/>
                    <a:gd name="T6" fmla="*/ 22 w 22"/>
                    <a:gd name="T7" fmla="*/ 32 h 69"/>
                    <a:gd name="T8" fmla="*/ 13 w 2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4" name="Freeform 482"/>
                <p:cNvSpPr/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3 w 74"/>
                    <a:gd name="T1" fmla="*/ 0 h 31"/>
                    <a:gd name="T2" fmla="*/ 51 w 74"/>
                    <a:gd name="T3" fmla="*/ 0 h 31"/>
                    <a:gd name="T4" fmla="*/ 53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9 w 74"/>
                    <a:gd name="T13" fmla="*/ 22 h 31"/>
                    <a:gd name="T14" fmla="*/ 0 w 74"/>
                    <a:gd name="T15" fmla="*/ 6 h 31"/>
                    <a:gd name="T16" fmla="*/ 3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5" name="Freeform 483"/>
                <p:cNvSpPr/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19 h 36"/>
                    <a:gd name="T4" fmla="*/ 7 w 83"/>
                    <a:gd name="T5" fmla="*/ 6 h 36"/>
                    <a:gd name="T6" fmla="*/ 11 w 83"/>
                    <a:gd name="T7" fmla="*/ 0 h 36"/>
                    <a:gd name="T8" fmla="*/ 68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2" name="Group 484"/>
              <p:cNvGrpSpPr/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190" name="Freeform 485"/>
                <p:cNvSpPr/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9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Freeform 486"/>
                <p:cNvSpPr/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2 w 74"/>
                    <a:gd name="T5" fmla="*/ 4 h 30"/>
                    <a:gd name="T6" fmla="*/ 57 w 74"/>
                    <a:gd name="T7" fmla="*/ 13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2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2" name="Freeform 487"/>
                <p:cNvSpPr/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6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3" name="Group 488"/>
              <p:cNvGrpSpPr/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187" name="Freeform 489"/>
                <p:cNvSpPr/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8" name="Freeform 490"/>
                <p:cNvSpPr/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49 w 74"/>
                    <a:gd name="T3" fmla="*/ 0 h 30"/>
                    <a:gd name="T4" fmla="*/ 50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8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5 h 30"/>
                    <a:gd name="T16" fmla="*/ 1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9" name="Freeform 491"/>
                <p:cNvSpPr/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4" name="Freeform 492"/>
              <p:cNvSpPr/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40 w 51"/>
                  <a:gd name="T1" fmla="*/ 128 h 128"/>
                  <a:gd name="T2" fmla="*/ 0 w 51"/>
                  <a:gd name="T3" fmla="*/ 29 h 128"/>
                  <a:gd name="T4" fmla="*/ 0 w 51"/>
                  <a:gd name="T5" fmla="*/ 20 h 128"/>
                  <a:gd name="T6" fmla="*/ 2 w 51"/>
                  <a:gd name="T7" fmla="*/ 11 h 128"/>
                  <a:gd name="T8" fmla="*/ 10 w 51"/>
                  <a:gd name="T9" fmla="*/ 0 h 128"/>
                  <a:gd name="T10" fmla="*/ 51 w 51"/>
                  <a:gd name="T11" fmla="*/ 91 h 128"/>
                  <a:gd name="T12" fmla="*/ 40 w 51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Freeform 493"/>
              <p:cNvSpPr/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64 w 183"/>
                  <a:gd name="T3" fmla="*/ 0 h 85"/>
                  <a:gd name="T4" fmla="*/ 67 w 183"/>
                  <a:gd name="T5" fmla="*/ 13 h 85"/>
                  <a:gd name="T6" fmla="*/ 75 w 183"/>
                  <a:gd name="T7" fmla="*/ 28 h 85"/>
                  <a:gd name="T8" fmla="*/ 84 w 183"/>
                  <a:gd name="T9" fmla="*/ 42 h 85"/>
                  <a:gd name="T10" fmla="*/ 158 w 183"/>
                  <a:gd name="T11" fmla="*/ 42 h 85"/>
                  <a:gd name="T12" fmla="*/ 163 w 183"/>
                  <a:gd name="T13" fmla="*/ 55 h 85"/>
                  <a:gd name="T14" fmla="*/ 172 w 183"/>
                  <a:gd name="T15" fmla="*/ 67 h 85"/>
                  <a:gd name="T16" fmla="*/ 183 w 183"/>
                  <a:gd name="T17" fmla="*/ 85 h 85"/>
                  <a:gd name="T18" fmla="*/ 64 w 183"/>
                  <a:gd name="T19" fmla="*/ 85 h 85"/>
                  <a:gd name="T20" fmla="*/ 41 w 183"/>
                  <a:gd name="T21" fmla="*/ 85 h 85"/>
                  <a:gd name="T22" fmla="*/ 0 w 183"/>
                  <a:gd name="T2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494"/>
              <p:cNvSpPr/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36 h 36"/>
                  <a:gd name="T2" fmla="*/ 1 w 160"/>
                  <a:gd name="T3" fmla="*/ 20 h 36"/>
                  <a:gd name="T4" fmla="*/ 7 w 160"/>
                  <a:gd name="T5" fmla="*/ 8 h 36"/>
                  <a:gd name="T6" fmla="*/ 10 w 160"/>
                  <a:gd name="T7" fmla="*/ 0 h 36"/>
                  <a:gd name="T8" fmla="*/ 150 w 160"/>
                  <a:gd name="T9" fmla="*/ 0 h 36"/>
                  <a:gd name="T10" fmla="*/ 160 w 160"/>
                  <a:gd name="T11" fmla="*/ 36 h 36"/>
                  <a:gd name="T12" fmla="*/ 0 w 160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Group 495"/>
            <p:cNvGrpSpPr/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02" name="Freeform 496"/>
              <p:cNvSpPr/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35 w 825"/>
                  <a:gd name="T1" fmla="*/ 13 h 151"/>
                  <a:gd name="T2" fmla="*/ 17 w 825"/>
                  <a:gd name="T3" fmla="*/ 27 h 151"/>
                  <a:gd name="T4" fmla="*/ 9 w 825"/>
                  <a:gd name="T5" fmla="*/ 48 h 151"/>
                  <a:gd name="T6" fmla="*/ 0 w 825"/>
                  <a:gd name="T7" fmla="*/ 97 h 151"/>
                  <a:gd name="T8" fmla="*/ 4 w 825"/>
                  <a:gd name="T9" fmla="*/ 124 h 151"/>
                  <a:gd name="T10" fmla="*/ 13 w 825"/>
                  <a:gd name="T11" fmla="*/ 138 h 151"/>
                  <a:gd name="T12" fmla="*/ 26 w 825"/>
                  <a:gd name="T13" fmla="*/ 151 h 151"/>
                  <a:gd name="T14" fmla="*/ 783 w 825"/>
                  <a:gd name="T15" fmla="*/ 142 h 151"/>
                  <a:gd name="T16" fmla="*/ 807 w 825"/>
                  <a:gd name="T17" fmla="*/ 128 h 151"/>
                  <a:gd name="T18" fmla="*/ 816 w 825"/>
                  <a:gd name="T19" fmla="*/ 107 h 151"/>
                  <a:gd name="T20" fmla="*/ 825 w 825"/>
                  <a:gd name="T21" fmla="*/ 61 h 151"/>
                  <a:gd name="T22" fmla="*/ 821 w 825"/>
                  <a:gd name="T23" fmla="*/ 27 h 151"/>
                  <a:gd name="T24" fmla="*/ 806 w 825"/>
                  <a:gd name="T25" fmla="*/ 9 h 151"/>
                  <a:gd name="T26" fmla="*/ 785 w 825"/>
                  <a:gd name="T27" fmla="*/ 0 h 151"/>
                  <a:gd name="T28" fmla="*/ 35 w 825"/>
                  <a:gd name="T29" fmla="*/ 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Freeform 497"/>
              <p:cNvSpPr/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4 w 658"/>
                  <a:gd name="T1" fmla="*/ 23 h 79"/>
                  <a:gd name="T2" fmla="*/ 0 w 658"/>
                  <a:gd name="T3" fmla="*/ 50 h 79"/>
                  <a:gd name="T4" fmla="*/ 153 w 658"/>
                  <a:gd name="T5" fmla="*/ 50 h 79"/>
                  <a:gd name="T6" fmla="*/ 153 w 658"/>
                  <a:gd name="T7" fmla="*/ 79 h 79"/>
                  <a:gd name="T8" fmla="*/ 500 w 658"/>
                  <a:gd name="T9" fmla="*/ 73 h 79"/>
                  <a:gd name="T10" fmla="*/ 500 w 658"/>
                  <a:gd name="T11" fmla="*/ 50 h 79"/>
                  <a:gd name="T12" fmla="*/ 656 w 658"/>
                  <a:gd name="T13" fmla="*/ 50 h 79"/>
                  <a:gd name="T14" fmla="*/ 658 w 658"/>
                  <a:gd name="T15" fmla="*/ 23 h 79"/>
                  <a:gd name="T16" fmla="*/ 504 w 658"/>
                  <a:gd name="T17" fmla="*/ 23 h 79"/>
                  <a:gd name="T18" fmla="*/ 504 w 658"/>
                  <a:gd name="T19" fmla="*/ 0 h 79"/>
                  <a:gd name="T20" fmla="*/ 153 w 658"/>
                  <a:gd name="T21" fmla="*/ 8 h 79"/>
                  <a:gd name="T22" fmla="*/ 153 w 658"/>
                  <a:gd name="T23" fmla="*/ 23 h 79"/>
                  <a:gd name="T24" fmla="*/ 4 w 658"/>
                  <a:gd name="T25" fmla="*/ 2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Rectangle 498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Rectangle 499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500"/>
            <p:cNvGrpSpPr/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83" name="Freeform 501"/>
              <p:cNvSpPr/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26 w 191"/>
                  <a:gd name="T1" fmla="*/ 9 h 200"/>
                  <a:gd name="T2" fmla="*/ 93 w 191"/>
                  <a:gd name="T3" fmla="*/ 0 h 200"/>
                  <a:gd name="T4" fmla="*/ 59 w 191"/>
                  <a:gd name="T5" fmla="*/ 5 h 200"/>
                  <a:gd name="T6" fmla="*/ 32 w 191"/>
                  <a:gd name="T7" fmla="*/ 17 h 200"/>
                  <a:gd name="T8" fmla="*/ 9 w 191"/>
                  <a:gd name="T9" fmla="*/ 45 h 200"/>
                  <a:gd name="T10" fmla="*/ 0 w 191"/>
                  <a:gd name="T11" fmla="*/ 94 h 200"/>
                  <a:gd name="T12" fmla="*/ 0 w 191"/>
                  <a:gd name="T13" fmla="*/ 137 h 200"/>
                  <a:gd name="T14" fmla="*/ 0 w 191"/>
                  <a:gd name="T15" fmla="*/ 200 h 200"/>
                  <a:gd name="T16" fmla="*/ 191 w 191"/>
                  <a:gd name="T17" fmla="*/ 200 h 200"/>
                  <a:gd name="T18" fmla="*/ 181 w 191"/>
                  <a:gd name="T19" fmla="*/ 81 h 200"/>
                  <a:gd name="T20" fmla="*/ 157 w 191"/>
                  <a:gd name="T21" fmla="*/ 30 h 200"/>
                  <a:gd name="T22" fmla="*/ 126 w 191"/>
                  <a:gd name="T23" fmla="*/ 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502"/>
              <p:cNvSpPr/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860 w 860"/>
                  <a:gd name="T3" fmla="*/ 764 h 791"/>
                  <a:gd name="T4" fmla="*/ 849 w 860"/>
                  <a:gd name="T5" fmla="*/ 777 h 791"/>
                  <a:gd name="T6" fmla="*/ 838 w 860"/>
                  <a:gd name="T7" fmla="*/ 791 h 791"/>
                  <a:gd name="T8" fmla="*/ 0 w 860"/>
                  <a:gd name="T9" fmla="*/ 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Freeform 503"/>
              <p:cNvSpPr/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4 w 281"/>
                  <a:gd name="T1" fmla="*/ 95 h 366"/>
                  <a:gd name="T2" fmla="*/ 24 w 281"/>
                  <a:gd name="T3" fmla="*/ 62 h 366"/>
                  <a:gd name="T4" fmla="*/ 54 w 281"/>
                  <a:gd name="T5" fmla="*/ 43 h 366"/>
                  <a:gd name="T6" fmla="*/ 78 w 281"/>
                  <a:gd name="T7" fmla="*/ 42 h 366"/>
                  <a:gd name="T8" fmla="*/ 128 w 281"/>
                  <a:gd name="T9" fmla="*/ 43 h 366"/>
                  <a:gd name="T10" fmla="*/ 132 w 281"/>
                  <a:gd name="T11" fmla="*/ 0 h 366"/>
                  <a:gd name="T12" fmla="*/ 281 w 281"/>
                  <a:gd name="T13" fmla="*/ 130 h 366"/>
                  <a:gd name="T14" fmla="*/ 272 w 281"/>
                  <a:gd name="T15" fmla="*/ 179 h 366"/>
                  <a:gd name="T16" fmla="*/ 228 w 281"/>
                  <a:gd name="T17" fmla="*/ 170 h 366"/>
                  <a:gd name="T18" fmla="*/ 191 w 281"/>
                  <a:gd name="T19" fmla="*/ 184 h 366"/>
                  <a:gd name="T20" fmla="*/ 158 w 281"/>
                  <a:gd name="T21" fmla="*/ 210 h 366"/>
                  <a:gd name="T22" fmla="*/ 150 w 281"/>
                  <a:gd name="T23" fmla="*/ 232 h 366"/>
                  <a:gd name="T24" fmla="*/ 149 w 281"/>
                  <a:gd name="T25" fmla="*/ 295 h 366"/>
                  <a:gd name="T26" fmla="*/ 149 w 281"/>
                  <a:gd name="T27" fmla="*/ 338 h 366"/>
                  <a:gd name="T28" fmla="*/ 150 w 281"/>
                  <a:gd name="T29" fmla="*/ 366 h 366"/>
                  <a:gd name="T30" fmla="*/ 0 w 281"/>
                  <a:gd name="T31" fmla="*/ 229 h 366"/>
                  <a:gd name="T32" fmla="*/ 0 w 281"/>
                  <a:gd name="T33" fmla="*/ 139 h 366"/>
                  <a:gd name="T34" fmla="*/ 4 w 281"/>
                  <a:gd name="T35" fmla="*/ 9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504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505"/>
              <p:cNvSpPr/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0 w 222"/>
                  <a:gd name="T1" fmla="*/ 98 h 289"/>
                  <a:gd name="T2" fmla="*/ 27 w 222"/>
                  <a:gd name="T3" fmla="*/ 64 h 289"/>
                  <a:gd name="T4" fmla="*/ 53 w 222"/>
                  <a:gd name="T5" fmla="*/ 45 h 289"/>
                  <a:gd name="T6" fmla="*/ 81 w 222"/>
                  <a:gd name="T7" fmla="*/ 41 h 289"/>
                  <a:gd name="T8" fmla="*/ 131 w 222"/>
                  <a:gd name="T9" fmla="*/ 42 h 289"/>
                  <a:gd name="T10" fmla="*/ 135 w 222"/>
                  <a:gd name="T11" fmla="*/ 0 h 289"/>
                  <a:gd name="T12" fmla="*/ 222 w 222"/>
                  <a:gd name="T13" fmla="*/ 80 h 289"/>
                  <a:gd name="T14" fmla="*/ 218 w 222"/>
                  <a:gd name="T15" fmla="*/ 120 h 289"/>
                  <a:gd name="T16" fmla="*/ 190 w 222"/>
                  <a:gd name="T17" fmla="*/ 118 h 289"/>
                  <a:gd name="T18" fmla="*/ 168 w 222"/>
                  <a:gd name="T19" fmla="*/ 116 h 289"/>
                  <a:gd name="T20" fmla="*/ 135 w 222"/>
                  <a:gd name="T21" fmla="*/ 125 h 289"/>
                  <a:gd name="T22" fmla="*/ 118 w 222"/>
                  <a:gd name="T23" fmla="*/ 137 h 289"/>
                  <a:gd name="T24" fmla="*/ 102 w 222"/>
                  <a:gd name="T25" fmla="*/ 161 h 289"/>
                  <a:gd name="T26" fmla="*/ 98 w 222"/>
                  <a:gd name="T27" fmla="*/ 192 h 289"/>
                  <a:gd name="T28" fmla="*/ 93 w 222"/>
                  <a:gd name="T29" fmla="*/ 289 h 289"/>
                  <a:gd name="T30" fmla="*/ 0 w 222"/>
                  <a:gd name="T31" fmla="*/ 197 h 289"/>
                  <a:gd name="T32" fmla="*/ 4 w 222"/>
                  <a:gd name="T33" fmla="*/ 138 h 289"/>
                  <a:gd name="T34" fmla="*/ 10 w 222"/>
                  <a:gd name="T35" fmla="*/ 9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Freeform 506"/>
              <p:cNvSpPr/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28 w 128"/>
                  <a:gd name="T1" fmla="*/ 5 h 186"/>
                  <a:gd name="T2" fmla="*/ 59 w 128"/>
                  <a:gd name="T3" fmla="*/ 0 h 186"/>
                  <a:gd name="T4" fmla="*/ 30 w 128"/>
                  <a:gd name="T5" fmla="*/ 14 h 186"/>
                  <a:gd name="T6" fmla="*/ 9 w 128"/>
                  <a:gd name="T7" fmla="*/ 40 h 186"/>
                  <a:gd name="T8" fmla="*/ 0 w 128"/>
                  <a:gd name="T9" fmla="*/ 89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Freeform 507"/>
              <p:cNvSpPr/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26 w 126"/>
                  <a:gd name="T1" fmla="*/ 3 h 185"/>
                  <a:gd name="T2" fmla="*/ 59 w 126"/>
                  <a:gd name="T3" fmla="*/ 0 h 185"/>
                  <a:gd name="T4" fmla="*/ 24 w 126"/>
                  <a:gd name="T5" fmla="*/ 15 h 185"/>
                  <a:gd name="T6" fmla="*/ 9 w 126"/>
                  <a:gd name="T7" fmla="*/ 39 h 185"/>
                  <a:gd name="T8" fmla="*/ 0 w 126"/>
                  <a:gd name="T9" fmla="*/ 88 h 185"/>
                  <a:gd name="T10" fmla="*/ 0 w 126"/>
                  <a:gd name="T11" fmla="*/ 185 h 185"/>
                  <a:gd name="T12" fmla="*/ 0 w 126"/>
                  <a:gd name="T13" fmla="*/ 18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508"/>
              <p:cNvSpPr/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27 w 127"/>
                  <a:gd name="T1" fmla="*/ 5 h 185"/>
                  <a:gd name="T2" fmla="*/ 59 w 127"/>
                  <a:gd name="T3" fmla="*/ 0 h 185"/>
                  <a:gd name="T4" fmla="*/ 30 w 127"/>
                  <a:gd name="T5" fmla="*/ 14 h 185"/>
                  <a:gd name="T6" fmla="*/ 9 w 127"/>
                  <a:gd name="T7" fmla="*/ 39 h 185"/>
                  <a:gd name="T8" fmla="*/ 0 w 127"/>
                  <a:gd name="T9" fmla="*/ 88 h 185"/>
                  <a:gd name="T10" fmla="*/ 0 w 127"/>
                  <a:gd name="T11" fmla="*/ 185 h 185"/>
                  <a:gd name="T12" fmla="*/ 0 w 127"/>
                  <a:gd name="T13" fmla="*/ 18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Freeform 509"/>
              <p:cNvSpPr/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2 w 127"/>
                  <a:gd name="T5" fmla="*/ 10 h 186"/>
                  <a:gd name="T6" fmla="*/ 9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Freeform 510"/>
              <p:cNvSpPr/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28 w 128"/>
                  <a:gd name="T1" fmla="*/ 4 h 186"/>
                  <a:gd name="T2" fmla="*/ 59 w 128"/>
                  <a:gd name="T3" fmla="*/ 0 h 186"/>
                  <a:gd name="T4" fmla="*/ 32 w 128"/>
                  <a:gd name="T5" fmla="*/ 13 h 186"/>
                  <a:gd name="T6" fmla="*/ 9 w 128"/>
                  <a:gd name="T7" fmla="*/ 40 h 186"/>
                  <a:gd name="T8" fmla="*/ 0 w 128"/>
                  <a:gd name="T9" fmla="*/ 88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511"/>
              <p:cNvSpPr/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26 w 126"/>
                  <a:gd name="T1" fmla="*/ 4 h 186"/>
                  <a:gd name="T2" fmla="*/ 58 w 126"/>
                  <a:gd name="T3" fmla="*/ 0 h 186"/>
                  <a:gd name="T4" fmla="*/ 31 w 126"/>
                  <a:gd name="T5" fmla="*/ 14 h 186"/>
                  <a:gd name="T6" fmla="*/ 8 w 126"/>
                  <a:gd name="T7" fmla="*/ 40 h 186"/>
                  <a:gd name="T8" fmla="*/ 0 w 126"/>
                  <a:gd name="T9" fmla="*/ 89 h 186"/>
                  <a:gd name="T10" fmla="*/ 0 w 126"/>
                  <a:gd name="T11" fmla="*/ 186 h 186"/>
                  <a:gd name="T12" fmla="*/ 0 w 126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Freeform 512"/>
              <p:cNvSpPr/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3 w 127"/>
                  <a:gd name="T5" fmla="*/ 16 h 186"/>
                  <a:gd name="T6" fmla="*/ 9 w 127"/>
                  <a:gd name="T7" fmla="*/ 40 h 186"/>
                  <a:gd name="T8" fmla="*/ 0 w 127"/>
                  <a:gd name="T9" fmla="*/ 89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Freeform 513"/>
              <p:cNvSpPr/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27 w 127"/>
                  <a:gd name="T1" fmla="*/ 4 h 186"/>
                  <a:gd name="T2" fmla="*/ 59 w 127"/>
                  <a:gd name="T3" fmla="*/ 0 h 186"/>
                  <a:gd name="T4" fmla="*/ 32 w 127"/>
                  <a:gd name="T5" fmla="*/ 13 h 186"/>
                  <a:gd name="T6" fmla="*/ 10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Freeform 514"/>
              <p:cNvSpPr/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89 w 96"/>
                  <a:gd name="T3" fmla="*/ 74 h 74"/>
                  <a:gd name="T4" fmla="*/ 96 w 96"/>
                  <a:gd name="T5" fmla="*/ 74 h 74"/>
                  <a:gd name="T6" fmla="*/ 93 w 96"/>
                  <a:gd name="T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515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516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Freeform 517"/>
              <p:cNvSpPr/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25 h 25"/>
                  <a:gd name="T2" fmla="*/ 6 w 188"/>
                  <a:gd name="T3" fmla="*/ 0 h 25"/>
                  <a:gd name="T4" fmla="*/ 175 w 188"/>
                  <a:gd name="T5" fmla="*/ 0 h 25"/>
                  <a:gd name="T6" fmla="*/ 188 w 188"/>
                  <a:gd name="T7" fmla="*/ 19 h 25"/>
                  <a:gd name="T8" fmla="*/ 0 w 188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Oval 518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519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20" name="Text Box 520"/>
          <p:cNvSpPr txBox="1">
            <a:spLocks noChangeArrowheads="1"/>
          </p:cNvSpPr>
          <p:nvPr/>
        </p:nvSpPr>
        <p:spPr bwMode="auto">
          <a:xfrm>
            <a:off x="3613344" y="1040591"/>
            <a:ext cx="9989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中间人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521" name="Line 521"/>
          <p:cNvSpPr>
            <a:spLocks noChangeShapeType="1"/>
          </p:cNvSpPr>
          <p:nvPr/>
        </p:nvSpPr>
        <p:spPr bwMode="auto">
          <a:xfrm rot="5400000">
            <a:off x="3486361" y="2631998"/>
            <a:ext cx="220334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2" name="Group 554"/>
          <p:cNvGrpSpPr/>
          <p:nvPr/>
        </p:nvGrpSpPr>
        <p:grpSpPr bwMode="auto">
          <a:xfrm>
            <a:off x="4590243" y="1569050"/>
            <a:ext cx="2773377" cy="272106"/>
            <a:chOff x="2939" y="1851"/>
            <a:chExt cx="2512" cy="267"/>
          </a:xfrm>
        </p:grpSpPr>
        <p:sp>
          <p:nvSpPr>
            <p:cNvPr id="523" name="Line 522"/>
            <p:cNvSpPr>
              <a:spLocks noChangeShapeType="1"/>
            </p:cNvSpPr>
            <p:nvPr/>
          </p:nvSpPr>
          <p:spPr bwMode="auto">
            <a:xfrm>
              <a:off x="2939" y="1987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4" name="Rectangle 523"/>
            <p:cNvSpPr>
              <a:spLocks noChangeArrowheads="1"/>
            </p:cNvSpPr>
            <p:nvPr/>
          </p:nvSpPr>
          <p:spPr bwMode="auto">
            <a:xfrm>
              <a:off x="3506" y="1851"/>
              <a:ext cx="619" cy="267"/>
            </a:xfrm>
            <a:prstGeom prst="rect">
              <a:avLst/>
            </a:prstGeom>
            <a:solidFill>
              <a:srgbClr val="0000FF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我是 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525" name="Group 555"/>
          <p:cNvGrpSpPr/>
          <p:nvPr/>
        </p:nvGrpSpPr>
        <p:grpSpPr bwMode="auto">
          <a:xfrm>
            <a:off x="4572578" y="1902304"/>
            <a:ext cx="2773377" cy="272107"/>
            <a:chOff x="2923" y="2178"/>
            <a:chExt cx="2512" cy="267"/>
          </a:xfrm>
        </p:grpSpPr>
        <p:sp>
          <p:nvSpPr>
            <p:cNvPr id="526" name="Line 524"/>
            <p:cNvSpPr>
              <a:spLocks noChangeShapeType="1"/>
            </p:cNvSpPr>
            <p:nvPr/>
          </p:nvSpPr>
          <p:spPr bwMode="auto">
            <a:xfrm flipH="1">
              <a:off x="2923" y="2314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7" name="Rectangle 525"/>
            <p:cNvSpPr>
              <a:spLocks noChangeArrowheads="1"/>
            </p:cNvSpPr>
            <p:nvPr/>
          </p:nvSpPr>
          <p:spPr bwMode="auto">
            <a:xfrm>
              <a:off x="4383" y="2178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rgbClr val="009900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528" name="Group 558"/>
          <p:cNvGrpSpPr/>
          <p:nvPr/>
        </p:nvGrpSpPr>
        <p:grpSpPr bwMode="auto">
          <a:xfrm>
            <a:off x="4572578" y="2068422"/>
            <a:ext cx="2773377" cy="469816"/>
            <a:chOff x="2923" y="2341"/>
            <a:chExt cx="2512" cy="461"/>
          </a:xfrm>
        </p:grpSpPr>
        <p:sp>
          <p:nvSpPr>
            <p:cNvPr id="529" name="Line 526"/>
            <p:cNvSpPr>
              <a:spLocks noChangeShapeType="1"/>
            </p:cNvSpPr>
            <p:nvPr/>
          </p:nvSpPr>
          <p:spPr bwMode="auto">
            <a:xfrm>
              <a:off x="2923" y="2671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0" name="Rectangle 527"/>
            <p:cNvSpPr>
              <a:spLocks noChangeArrowheads="1"/>
            </p:cNvSpPr>
            <p:nvPr/>
          </p:nvSpPr>
          <p:spPr bwMode="auto">
            <a:xfrm>
              <a:off x="3567" y="2534"/>
              <a:ext cx="567" cy="268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531" name="Picture 52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" y="2386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32" name="Text Box 529"/>
            <p:cNvSpPr txBox="1">
              <a:spLocks noChangeArrowheads="1"/>
            </p:cNvSpPr>
            <p:nvPr/>
          </p:nvSpPr>
          <p:spPr bwMode="auto">
            <a:xfrm>
              <a:off x="3010" y="2341"/>
              <a:ext cx="450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533" name="Group 559"/>
          <p:cNvGrpSpPr/>
          <p:nvPr/>
        </p:nvGrpSpPr>
        <p:grpSpPr bwMode="auto">
          <a:xfrm>
            <a:off x="4590243" y="2567792"/>
            <a:ext cx="2773377" cy="272106"/>
            <a:chOff x="2939" y="2831"/>
            <a:chExt cx="2512" cy="267"/>
          </a:xfrm>
        </p:grpSpPr>
        <p:sp>
          <p:nvSpPr>
            <p:cNvPr id="534" name="Line 5"/>
            <p:cNvSpPr>
              <a:spLocks noChangeShapeType="1"/>
            </p:cNvSpPr>
            <p:nvPr/>
          </p:nvSpPr>
          <p:spPr bwMode="auto">
            <a:xfrm flipH="1">
              <a:off x="2939" y="2950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5" name="Rectangle 530"/>
            <p:cNvSpPr>
              <a:spLocks noChangeArrowheads="1"/>
            </p:cNvSpPr>
            <p:nvPr/>
          </p:nvSpPr>
          <p:spPr bwMode="auto">
            <a:xfrm>
              <a:off x="4281" y="2831"/>
              <a:ext cx="980" cy="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请把公钥发来</a:t>
              </a:r>
              <a:endParaRPr kumimoji="1" lang="zh-CN" altLang="en-US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6" name="Group 563"/>
          <p:cNvGrpSpPr/>
          <p:nvPr/>
        </p:nvGrpSpPr>
        <p:grpSpPr bwMode="auto">
          <a:xfrm>
            <a:off x="4590243" y="2860281"/>
            <a:ext cx="2773377" cy="272107"/>
            <a:chOff x="2939" y="3118"/>
            <a:chExt cx="2512" cy="267"/>
          </a:xfrm>
        </p:grpSpPr>
        <p:sp>
          <p:nvSpPr>
            <p:cNvPr id="537" name="Line 531"/>
            <p:cNvSpPr>
              <a:spLocks noChangeShapeType="1"/>
            </p:cNvSpPr>
            <p:nvPr/>
          </p:nvSpPr>
          <p:spPr bwMode="auto">
            <a:xfrm>
              <a:off x="2939" y="3264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8" name="Rectangle 532"/>
            <p:cNvSpPr>
              <a:spLocks noChangeArrowheads="1"/>
            </p:cNvSpPr>
            <p:nvPr/>
          </p:nvSpPr>
          <p:spPr bwMode="auto">
            <a:xfrm>
              <a:off x="3559" y="3118"/>
              <a:ext cx="567" cy="26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4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539" name="Group 556"/>
          <p:cNvGrpSpPr/>
          <p:nvPr/>
        </p:nvGrpSpPr>
        <p:grpSpPr bwMode="auto">
          <a:xfrm>
            <a:off x="1801409" y="1993006"/>
            <a:ext cx="2773377" cy="272106"/>
            <a:chOff x="413" y="2267"/>
            <a:chExt cx="2512" cy="267"/>
          </a:xfrm>
        </p:grpSpPr>
        <p:sp>
          <p:nvSpPr>
            <p:cNvPr id="540" name="Line 533"/>
            <p:cNvSpPr>
              <a:spLocks noChangeShapeType="1"/>
            </p:cNvSpPr>
            <p:nvPr/>
          </p:nvSpPr>
          <p:spPr bwMode="auto">
            <a:xfrm flipH="1">
              <a:off x="413" y="2386"/>
              <a:ext cx="2512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1" name="Rectangle 534"/>
            <p:cNvSpPr>
              <a:spLocks noChangeArrowheads="1"/>
            </p:cNvSpPr>
            <p:nvPr/>
          </p:nvSpPr>
          <p:spPr bwMode="auto">
            <a:xfrm>
              <a:off x="2011" y="2267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542" name="Group 557"/>
          <p:cNvGrpSpPr/>
          <p:nvPr/>
        </p:nvGrpSpPr>
        <p:grpSpPr bwMode="auto">
          <a:xfrm>
            <a:off x="1817970" y="2156068"/>
            <a:ext cx="2772273" cy="474913"/>
            <a:chOff x="428" y="2427"/>
            <a:chExt cx="2511" cy="466"/>
          </a:xfrm>
        </p:grpSpPr>
        <p:sp>
          <p:nvSpPr>
            <p:cNvPr id="543" name="Line 535"/>
            <p:cNvSpPr>
              <a:spLocks noChangeShapeType="1"/>
            </p:cNvSpPr>
            <p:nvPr/>
          </p:nvSpPr>
          <p:spPr bwMode="auto">
            <a:xfrm>
              <a:off x="428" y="2762"/>
              <a:ext cx="2511" cy="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4" name="Rectangle 536"/>
            <p:cNvSpPr>
              <a:spLocks noChangeArrowheads="1"/>
            </p:cNvSpPr>
            <p:nvPr/>
          </p:nvSpPr>
          <p:spPr bwMode="auto">
            <a:xfrm>
              <a:off x="1071" y="2626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545" name="Picture 5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" y="2478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46" name="Text Box 538"/>
            <p:cNvSpPr txBox="1">
              <a:spLocks noChangeArrowheads="1"/>
            </p:cNvSpPr>
            <p:nvPr/>
          </p:nvSpPr>
          <p:spPr bwMode="auto">
            <a:xfrm>
              <a:off x="503" y="2427"/>
              <a:ext cx="459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547" name="Group 560"/>
          <p:cNvGrpSpPr/>
          <p:nvPr/>
        </p:nvGrpSpPr>
        <p:grpSpPr bwMode="auto">
          <a:xfrm>
            <a:off x="1817970" y="2689068"/>
            <a:ext cx="2772273" cy="272107"/>
            <a:chOff x="428" y="2950"/>
            <a:chExt cx="2511" cy="267"/>
          </a:xfrm>
        </p:grpSpPr>
        <p:sp>
          <p:nvSpPr>
            <p:cNvPr id="548" name="Line 539"/>
            <p:cNvSpPr>
              <a:spLocks noChangeShapeType="1"/>
            </p:cNvSpPr>
            <p:nvPr/>
          </p:nvSpPr>
          <p:spPr bwMode="auto">
            <a:xfrm flipH="1">
              <a:off x="428" y="3069"/>
              <a:ext cx="2511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9" name="Rectangle 540"/>
            <p:cNvSpPr>
              <a:spLocks noChangeArrowheads="1"/>
            </p:cNvSpPr>
            <p:nvPr/>
          </p:nvSpPr>
          <p:spPr bwMode="auto">
            <a:xfrm>
              <a:off x="1769" y="2950"/>
              <a:ext cx="980" cy="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请把公钥发来</a:t>
              </a:r>
              <a:endParaRPr kumimoji="1" lang="zh-CN" altLang="en-US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0" name="Group 562"/>
          <p:cNvGrpSpPr/>
          <p:nvPr/>
        </p:nvGrpSpPr>
        <p:grpSpPr bwMode="auto">
          <a:xfrm>
            <a:off x="1817970" y="2993786"/>
            <a:ext cx="2772273" cy="272106"/>
            <a:chOff x="428" y="3249"/>
            <a:chExt cx="2511" cy="267"/>
          </a:xfrm>
        </p:grpSpPr>
        <p:sp>
          <p:nvSpPr>
            <p:cNvPr id="551" name="Line 541"/>
            <p:cNvSpPr>
              <a:spLocks noChangeShapeType="1"/>
            </p:cNvSpPr>
            <p:nvPr/>
          </p:nvSpPr>
          <p:spPr bwMode="auto">
            <a:xfrm>
              <a:off x="428" y="3382"/>
              <a:ext cx="2511" cy="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2" name="Rectangle 542"/>
            <p:cNvSpPr>
              <a:spLocks noChangeArrowheads="1"/>
            </p:cNvSpPr>
            <p:nvPr/>
          </p:nvSpPr>
          <p:spPr bwMode="auto">
            <a:xfrm>
              <a:off x="1047" y="3249"/>
              <a:ext cx="568" cy="267"/>
            </a:xfrm>
            <a:prstGeom prst="rect">
              <a:avLst/>
            </a:prstGeom>
            <a:solidFill>
              <a:srgbClr val="009900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4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553" name="Group 565"/>
          <p:cNvGrpSpPr/>
          <p:nvPr/>
        </p:nvGrpSpPr>
        <p:grpSpPr bwMode="auto">
          <a:xfrm>
            <a:off x="4590243" y="3085510"/>
            <a:ext cx="2773377" cy="521792"/>
            <a:chOff x="2939" y="3339"/>
            <a:chExt cx="2512" cy="512"/>
          </a:xfrm>
        </p:grpSpPr>
        <p:sp>
          <p:nvSpPr>
            <p:cNvPr id="554" name="Line 543"/>
            <p:cNvSpPr>
              <a:spLocks noChangeShapeType="1"/>
            </p:cNvSpPr>
            <p:nvPr/>
          </p:nvSpPr>
          <p:spPr bwMode="auto">
            <a:xfrm flipH="1">
              <a:off x="2939" y="3711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5" name="Rectangle 544"/>
            <p:cNvSpPr>
              <a:spLocks noChangeArrowheads="1"/>
            </p:cNvSpPr>
            <p:nvPr/>
          </p:nvSpPr>
          <p:spPr bwMode="auto">
            <a:xfrm>
              <a:off x="4669" y="3584"/>
              <a:ext cx="567" cy="26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  <a:endPara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56" name="Picture 545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" y="3427"/>
              <a:ext cx="227" cy="25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57" name="Text Box 546"/>
            <p:cNvSpPr txBox="1">
              <a:spLocks noChangeArrowheads="1"/>
            </p:cNvSpPr>
            <p:nvPr/>
          </p:nvSpPr>
          <p:spPr bwMode="auto">
            <a:xfrm>
              <a:off x="4226" y="3339"/>
              <a:ext cx="418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558" name="Group 564"/>
          <p:cNvGrpSpPr/>
          <p:nvPr/>
        </p:nvGrpSpPr>
        <p:grpSpPr bwMode="auto">
          <a:xfrm>
            <a:off x="1817970" y="3208825"/>
            <a:ext cx="2772273" cy="510582"/>
            <a:chOff x="428" y="3460"/>
            <a:chExt cx="2511" cy="501"/>
          </a:xfrm>
        </p:grpSpPr>
        <p:sp>
          <p:nvSpPr>
            <p:cNvPr id="559" name="Line 547"/>
            <p:cNvSpPr>
              <a:spLocks noChangeShapeType="1"/>
            </p:cNvSpPr>
            <p:nvPr/>
          </p:nvSpPr>
          <p:spPr bwMode="auto">
            <a:xfrm flipH="1">
              <a:off x="428" y="3830"/>
              <a:ext cx="2511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0" name="Rectangle 548"/>
            <p:cNvSpPr>
              <a:spLocks noChangeArrowheads="1"/>
            </p:cNvSpPr>
            <p:nvPr/>
          </p:nvSpPr>
          <p:spPr bwMode="auto">
            <a:xfrm>
              <a:off x="2166" y="3694"/>
              <a:ext cx="568" cy="267"/>
            </a:xfrm>
            <a:prstGeom prst="rect">
              <a:avLst/>
            </a:prstGeom>
            <a:solidFill>
              <a:srgbClr val="FFFF66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</a:p>
          </p:txBody>
        </p:sp>
        <p:pic>
          <p:nvPicPr>
            <p:cNvPr id="561" name="Picture 5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3546"/>
              <a:ext cx="226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62" name="Text Box 550"/>
            <p:cNvSpPr txBox="1">
              <a:spLocks noChangeArrowheads="1"/>
            </p:cNvSpPr>
            <p:nvPr/>
          </p:nvSpPr>
          <p:spPr bwMode="auto">
            <a:xfrm>
              <a:off x="1688" y="3460"/>
              <a:ext cx="426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sp>
        <p:nvSpPr>
          <p:cNvPr id="563" name="Text Box 551"/>
          <p:cNvSpPr txBox="1">
            <a:spLocks noChangeArrowheads="1"/>
          </p:cNvSpPr>
          <p:nvPr/>
        </p:nvSpPr>
        <p:spPr bwMode="auto">
          <a:xfrm>
            <a:off x="1385565" y="3478890"/>
            <a:ext cx="4924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pic>
        <p:nvPicPr>
          <p:cNvPr id="565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260" y="104091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6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158" y="105073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8" name="Rectangle 4"/>
          <p:cNvSpPr>
            <a:spLocks noChangeArrowheads="1"/>
          </p:cNvSpPr>
          <p:nvPr/>
        </p:nvSpPr>
        <p:spPr bwMode="auto">
          <a:xfrm>
            <a:off x="7942726" y="37227"/>
            <a:ext cx="11987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实体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295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2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2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2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676639" y="259945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3605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9669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687234" y="13605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696123" y="1455480"/>
            <a:ext cx="16276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7.4</a:t>
            </a:r>
            <a:endParaRPr lang="fr-FR" altLang="zh-CN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密钥分配</a:t>
            </a:r>
          </a:p>
        </p:txBody>
      </p:sp>
      <p:sp>
        <p:nvSpPr>
          <p:cNvPr id="10" name="Line 16"/>
          <p:cNvSpPr>
            <a:spLocks noChangeShapeType="1"/>
          </p:cNvSpPr>
          <p:nvPr/>
        </p:nvSpPr>
        <p:spPr bwMode="auto">
          <a:xfrm>
            <a:off x="3684701" y="1234332"/>
            <a:ext cx="23699" cy="1695326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748077" y="1337581"/>
            <a:ext cx="559434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7.4.1  			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对称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密钥的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分配</a:t>
            </a:r>
            <a:endParaRPr lang="en-US" altLang="zh-CN" sz="2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7.4.2  				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公钥的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分配</a:t>
            </a:r>
            <a:endParaRPr lang="en-US" altLang="zh-CN" sz="2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7.4.3                                            DH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密钥交换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960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45144" y="1004355"/>
            <a:ext cx="816855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安全性：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完全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密钥的安全保护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上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密钥管理包括：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密钥的产生、分配、注入、验证和使用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密钥分配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是密钥管理中最大的问题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密钥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必须通过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最安全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的通路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进行分配。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网外分配方式：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派非常可靠的信使携带密钥分配给互相通信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的用户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网内分配方式：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密钥自动分配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45144" y="611484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864116" y="569213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密钥分配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873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10292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943585" y="584828"/>
            <a:ext cx="3265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7.4.1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37400"/>
            <a:ext cx="8236703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常用方式：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设立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密钥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分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中心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(Key Distribution Center)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任务：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给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需要进行秘密通信的用户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临时分配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一个会话密钥（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仅使用一次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都是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的登记用户，并已经在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的服务器上安装了各自和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进行通信的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主密钥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master key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主密钥可简称为密钥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0720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AutoShape 5"/>
          <p:cNvSpPr>
            <a:spLocks noChangeArrowheads="1"/>
          </p:cNvSpPr>
          <p:nvPr/>
        </p:nvSpPr>
        <p:spPr bwMode="auto">
          <a:xfrm>
            <a:off x="509475" y="6066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Rectangle 6"/>
          <p:cNvSpPr>
            <a:spLocks noChangeArrowheads="1"/>
          </p:cNvSpPr>
          <p:nvPr/>
        </p:nvSpPr>
        <p:spPr bwMode="auto">
          <a:xfrm>
            <a:off x="2789681" y="573436"/>
            <a:ext cx="35686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对会话密钥 </a:t>
            </a:r>
            <a:r>
              <a:rPr lang="en-US" altLang="zh-CN" sz="2000" b="1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i="1" baseline="-25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分配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996030"/>
            <a:ext cx="8133857" cy="324252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066024" y="1619037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62" name="Line 65"/>
          <p:cNvSpPr>
            <a:spLocks noChangeShapeType="1"/>
          </p:cNvSpPr>
          <p:nvPr/>
        </p:nvSpPr>
        <p:spPr bwMode="auto">
          <a:xfrm rot="5400000">
            <a:off x="558823" y="3135717"/>
            <a:ext cx="1919794" cy="1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6"/>
          <p:cNvSpPr>
            <a:spLocks noChangeShapeType="1"/>
          </p:cNvSpPr>
          <p:nvPr/>
        </p:nvSpPr>
        <p:spPr bwMode="auto">
          <a:xfrm rot="5400000">
            <a:off x="6771538" y="3164496"/>
            <a:ext cx="2002442" cy="51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Line 74"/>
          <p:cNvSpPr>
            <a:spLocks noChangeShapeType="1"/>
          </p:cNvSpPr>
          <p:nvPr/>
        </p:nvSpPr>
        <p:spPr bwMode="auto">
          <a:xfrm rot="16200000" flipH="1">
            <a:off x="3958850" y="2427157"/>
            <a:ext cx="1526626" cy="51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3302391" y="1061892"/>
            <a:ext cx="118815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</a:p>
          <a:p>
            <a:pPr algn="r"/>
            <a:r>
              <a:rPr kumimoji="1"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分发中心</a:t>
            </a:r>
            <a:endParaRPr kumimoji="1"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kumimoji="1"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KDC</a:t>
            </a:r>
          </a:p>
        </p:txBody>
      </p:sp>
      <p:grpSp>
        <p:nvGrpSpPr>
          <p:cNvPr id="66" name="Group 101"/>
          <p:cNvGrpSpPr>
            <a:grpSpLocks/>
          </p:cNvGrpSpPr>
          <p:nvPr/>
        </p:nvGrpSpPr>
        <p:grpSpPr bwMode="auto">
          <a:xfrm>
            <a:off x="1527035" y="3370131"/>
            <a:ext cx="6215027" cy="654100"/>
            <a:chOff x="466" y="3117"/>
            <a:chExt cx="4859" cy="554"/>
          </a:xfrm>
        </p:grpSpPr>
        <p:sp>
          <p:nvSpPr>
            <p:cNvPr id="67" name="Line 5"/>
            <p:cNvSpPr>
              <a:spLocks noChangeShapeType="1"/>
            </p:cNvSpPr>
            <p:nvPr/>
          </p:nvSpPr>
          <p:spPr bwMode="auto">
            <a:xfrm>
              <a:off x="466" y="3540"/>
              <a:ext cx="4859" cy="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Rectangle 6"/>
            <p:cNvSpPr>
              <a:spLocks noChangeArrowheads="1"/>
            </p:cNvSpPr>
            <p:nvPr/>
          </p:nvSpPr>
          <p:spPr bwMode="auto">
            <a:xfrm>
              <a:off x="2356" y="3410"/>
              <a:ext cx="670" cy="261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K</a:t>
              </a:r>
              <a:r>
                <a:rPr kumimoji="1"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69" name="Text Box 71"/>
            <p:cNvSpPr txBox="1">
              <a:spLocks noChangeArrowheads="1"/>
            </p:cNvSpPr>
            <p:nvPr/>
          </p:nvSpPr>
          <p:spPr bwMode="auto">
            <a:xfrm>
              <a:off x="1943" y="3117"/>
              <a:ext cx="30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70" name="Text Box 78"/>
            <p:cNvSpPr txBox="1">
              <a:spLocks noChangeArrowheads="1"/>
            </p:cNvSpPr>
            <p:nvPr/>
          </p:nvSpPr>
          <p:spPr bwMode="auto">
            <a:xfrm>
              <a:off x="499" y="3207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</a:t>
              </a:r>
            </a:p>
          </p:txBody>
        </p:sp>
        <p:pic>
          <p:nvPicPr>
            <p:cNvPr id="71" name="Picture 81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2" y="3182"/>
              <a:ext cx="259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pic>
        <p:nvPicPr>
          <p:cNvPr id="72" name="Picture 82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094" y="1377135"/>
            <a:ext cx="497560" cy="80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Rectangle 83"/>
          <p:cNvSpPr>
            <a:spLocks noChangeArrowheads="1"/>
          </p:cNvSpPr>
          <p:nvPr/>
        </p:nvSpPr>
        <p:spPr bwMode="auto">
          <a:xfrm>
            <a:off x="5639261" y="1289765"/>
            <a:ext cx="1528495" cy="1531348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84"/>
          <p:cNvSpPr>
            <a:spLocks noChangeArrowheads="1"/>
          </p:cNvSpPr>
          <p:nvPr/>
        </p:nvSpPr>
        <p:spPr bwMode="auto">
          <a:xfrm>
            <a:off x="5831202" y="1583755"/>
            <a:ext cx="1166517" cy="114644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Line 85"/>
          <p:cNvSpPr>
            <a:spLocks noChangeShapeType="1"/>
          </p:cNvSpPr>
          <p:nvPr/>
        </p:nvSpPr>
        <p:spPr bwMode="auto">
          <a:xfrm>
            <a:off x="5831202" y="1844686"/>
            <a:ext cx="11524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Line 86"/>
          <p:cNvSpPr>
            <a:spLocks noChangeShapeType="1"/>
          </p:cNvSpPr>
          <p:nvPr/>
        </p:nvSpPr>
        <p:spPr bwMode="auto">
          <a:xfrm flipV="1">
            <a:off x="5831203" y="2353562"/>
            <a:ext cx="1172911" cy="8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Line 87"/>
          <p:cNvSpPr>
            <a:spLocks noChangeShapeType="1"/>
          </p:cNvSpPr>
          <p:nvPr/>
        </p:nvSpPr>
        <p:spPr bwMode="auto">
          <a:xfrm rot="16200000" flipH="1">
            <a:off x="5688488" y="2147974"/>
            <a:ext cx="1148806" cy="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88"/>
          <p:cNvSpPr txBox="1">
            <a:spLocks noChangeArrowheads="1"/>
          </p:cNvSpPr>
          <p:nvPr/>
        </p:nvSpPr>
        <p:spPr bwMode="auto">
          <a:xfrm rot="16200000">
            <a:off x="5684879" y="2289125"/>
            <a:ext cx="5309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79" name="Text Box 89"/>
          <p:cNvSpPr txBox="1">
            <a:spLocks noChangeArrowheads="1"/>
          </p:cNvSpPr>
          <p:nvPr/>
        </p:nvSpPr>
        <p:spPr bwMode="auto">
          <a:xfrm rot="16200000">
            <a:off x="6275632" y="2289125"/>
            <a:ext cx="5309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80" name="Text Box 90"/>
          <p:cNvSpPr txBox="1">
            <a:spLocks noChangeArrowheads="1"/>
          </p:cNvSpPr>
          <p:nvPr/>
        </p:nvSpPr>
        <p:spPr bwMode="auto">
          <a:xfrm>
            <a:off x="5606006" y="1277957"/>
            <a:ext cx="15617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用户专用主密钥</a:t>
            </a:r>
          </a:p>
        </p:txBody>
      </p:sp>
      <p:sp>
        <p:nvSpPr>
          <p:cNvPr id="82" name="Rectangle 92"/>
          <p:cNvSpPr>
            <a:spLocks noChangeArrowheads="1"/>
          </p:cNvSpPr>
          <p:nvPr/>
        </p:nvSpPr>
        <p:spPr bwMode="auto">
          <a:xfrm>
            <a:off x="4678675" y="1808084"/>
            <a:ext cx="122791" cy="184187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Freeform 93"/>
          <p:cNvSpPr>
            <a:spLocks/>
          </p:cNvSpPr>
          <p:nvPr/>
        </p:nvSpPr>
        <p:spPr bwMode="auto">
          <a:xfrm>
            <a:off x="4800188" y="1294487"/>
            <a:ext cx="835236" cy="1526626"/>
          </a:xfrm>
          <a:custGeom>
            <a:avLst/>
            <a:gdLst>
              <a:gd name="T0" fmla="*/ 0 w 618"/>
              <a:gd name="T1" fmla="*/ 381 h 1125"/>
              <a:gd name="T2" fmla="*/ 615 w 618"/>
              <a:gd name="T3" fmla="*/ 0 h 1125"/>
              <a:gd name="T4" fmla="*/ 618 w 618"/>
              <a:gd name="T5" fmla="*/ 1125 h 1125"/>
              <a:gd name="T6" fmla="*/ 6 w 618"/>
              <a:gd name="T7" fmla="*/ 519 h 1125"/>
              <a:gd name="T8" fmla="*/ 0 w 618"/>
              <a:gd name="T9" fmla="*/ 381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8" h="1125">
                <a:moveTo>
                  <a:pt x="0" y="381"/>
                </a:moveTo>
                <a:lnTo>
                  <a:pt x="615" y="0"/>
                </a:lnTo>
                <a:lnTo>
                  <a:pt x="618" y="1125"/>
                </a:lnTo>
                <a:lnTo>
                  <a:pt x="6" y="519"/>
                </a:lnTo>
                <a:lnTo>
                  <a:pt x="0" y="381"/>
                </a:lnTo>
                <a:close/>
              </a:path>
            </a:pathLst>
          </a:custGeom>
          <a:gradFill rotWithShape="1">
            <a:gsLst>
              <a:gs pos="0">
                <a:srgbClr val="0000FF"/>
              </a:gs>
              <a:gs pos="100000">
                <a:srgbClr val="33CCFF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Line 94"/>
          <p:cNvSpPr>
            <a:spLocks noChangeShapeType="1"/>
          </p:cNvSpPr>
          <p:nvPr/>
        </p:nvSpPr>
        <p:spPr bwMode="auto">
          <a:xfrm>
            <a:off x="5836318" y="2096171"/>
            <a:ext cx="11677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Group 100"/>
          <p:cNvGrpSpPr>
            <a:grpSpLocks/>
          </p:cNvGrpSpPr>
          <p:nvPr/>
        </p:nvGrpSpPr>
        <p:grpSpPr bwMode="auto">
          <a:xfrm>
            <a:off x="1518080" y="2484618"/>
            <a:ext cx="3198968" cy="824118"/>
            <a:chOff x="459" y="2367"/>
            <a:chExt cx="2501" cy="698"/>
          </a:xfrm>
        </p:grpSpPr>
        <p:sp>
          <p:nvSpPr>
            <p:cNvPr id="86" name="Line 67"/>
            <p:cNvSpPr>
              <a:spLocks noChangeShapeType="1"/>
            </p:cNvSpPr>
            <p:nvPr/>
          </p:nvSpPr>
          <p:spPr bwMode="auto">
            <a:xfrm flipH="1">
              <a:off x="459" y="2789"/>
              <a:ext cx="2501" cy="1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Rectangle 68"/>
            <p:cNvSpPr>
              <a:spLocks noChangeArrowheads="1"/>
            </p:cNvSpPr>
            <p:nvPr/>
          </p:nvSpPr>
          <p:spPr bwMode="auto">
            <a:xfrm>
              <a:off x="1158" y="2527"/>
              <a:ext cx="1324" cy="538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Rectangle 69"/>
            <p:cNvSpPr>
              <a:spLocks noChangeArrowheads="1"/>
            </p:cNvSpPr>
            <p:nvPr/>
          </p:nvSpPr>
          <p:spPr bwMode="auto">
            <a:xfrm>
              <a:off x="1733" y="2778"/>
              <a:ext cx="670" cy="261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K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89" name="Text Box 70"/>
            <p:cNvSpPr txBox="1">
              <a:spLocks noChangeArrowheads="1"/>
            </p:cNvSpPr>
            <p:nvPr/>
          </p:nvSpPr>
          <p:spPr bwMode="auto">
            <a:xfrm>
              <a:off x="1158" y="2752"/>
              <a:ext cx="37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90" name="Picture 7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" y="2577"/>
              <a:ext cx="25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1349" y="2491"/>
              <a:ext cx="30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92" name="Text Box 77"/>
            <p:cNvSpPr txBox="1">
              <a:spLocks noChangeArrowheads="1"/>
            </p:cNvSpPr>
            <p:nvPr/>
          </p:nvSpPr>
          <p:spPr bwMode="auto">
            <a:xfrm>
              <a:off x="2583" y="2436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3" name="Picture 7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" y="2367"/>
              <a:ext cx="25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4" name="Text Box 80"/>
            <p:cNvSpPr txBox="1">
              <a:spLocks noChangeArrowheads="1"/>
            </p:cNvSpPr>
            <p:nvPr/>
          </p:nvSpPr>
          <p:spPr bwMode="auto">
            <a:xfrm>
              <a:off x="726" y="2367"/>
              <a:ext cx="432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5" name="Text Box 95"/>
            <p:cNvSpPr txBox="1">
              <a:spLocks noChangeArrowheads="1"/>
            </p:cNvSpPr>
            <p:nvPr/>
          </p:nvSpPr>
          <p:spPr bwMode="auto">
            <a:xfrm>
              <a:off x="1446" y="2752"/>
              <a:ext cx="184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endPara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6" name="Text Box 96"/>
          <p:cNvSpPr txBox="1">
            <a:spLocks noChangeArrowheads="1"/>
          </p:cNvSpPr>
          <p:nvPr/>
        </p:nvSpPr>
        <p:spPr bwMode="auto">
          <a:xfrm>
            <a:off x="1002612" y="374795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grpSp>
        <p:nvGrpSpPr>
          <p:cNvPr id="97" name="Group 99"/>
          <p:cNvGrpSpPr>
            <a:grpSpLocks/>
          </p:cNvGrpSpPr>
          <p:nvPr/>
        </p:nvGrpSpPr>
        <p:grpSpPr bwMode="auto">
          <a:xfrm>
            <a:off x="1515522" y="1972201"/>
            <a:ext cx="3224549" cy="534850"/>
            <a:chOff x="457" y="1933"/>
            <a:chExt cx="2521" cy="453"/>
          </a:xfrm>
        </p:grpSpPr>
        <p:sp>
          <p:nvSpPr>
            <p:cNvPr id="98" name="Line 7"/>
            <p:cNvSpPr>
              <a:spLocks noChangeShapeType="1"/>
            </p:cNvSpPr>
            <p:nvPr/>
          </p:nvSpPr>
          <p:spPr bwMode="auto">
            <a:xfrm>
              <a:off x="457" y="2260"/>
              <a:ext cx="2521" cy="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Text Box 76"/>
            <p:cNvSpPr txBox="1">
              <a:spLocks noChangeArrowheads="1"/>
            </p:cNvSpPr>
            <p:nvPr/>
          </p:nvSpPr>
          <p:spPr bwMode="auto">
            <a:xfrm>
              <a:off x="516" y="1933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  <p:sp>
          <p:nvSpPr>
            <p:cNvPr id="100" name="Rectangle 97"/>
            <p:cNvSpPr>
              <a:spLocks noChangeArrowheads="1"/>
            </p:cNvSpPr>
            <p:nvPr/>
          </p:nvSpPr>
          <p:spPr bwMode="auto">
            <a:xfrm>
              <a:off x="1235" y="2126"/>
              <a:ext cx="619" cy="260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A, B</a:t>
              </a:r>
              <a:endParaRPr kumimoji="1"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2" name="Picture 200" descr="jisuanji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13" y="1672833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00" descr="jisuanji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55" y="1685491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Text Box 8"/>
          <p:cNvSpPr txBox="1">
            <a:spLocks noChangeArrowheads="1"/>
          </p:cNvSpPr>
          <p:nvPr/>
        </p:nvSpPr>
        <p:spPr bwMode="auto">
          <a:xfrm>
            <a:off x="7918647" y="1640929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Text Box 91"/>
          <p:cNvSpPr txBox="1">
            <a:spLocks noChangeArrowheads="1"/>
          </p:cNvSpPr>
          <p:nvPr/>
        </p:nvSpPr>
        <p:spPr bwMode="auto">
          <a:xfrm>
            <a:off x="5791253" y="1551203"/>
            <a:ext cx="1247457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 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主密钥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</a:t>
            </a:r>
            <a:r>
              <a:rPr kumimoji="1"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14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B  </a:t>
            </a:r>
            <a:r>
              <a:rPr kumimoji="1" lang="en-US" altLang="zh-CN" sz="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1"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23658" y="3196833"/>
            <a:ext cx="1102837" cy="409469"/>
            <a:chOff x="2250553" y="3223728"/>
            <a:chExt cx="1102837" cy="409469"/>
          </a:xfrm>
        </p:grpSpPr>
        <p:sp>
          <p:nvSpPr>
            <p:cNvPr id="50" name="矩形 49"/>
            <p:cNvSpPr/>
            <p:nvPr/>
          </p:nvSpPr>
          <p:spPr>
            <a:xfrm>
              <a:off x="2250553" y="3356198"/>
              <a:ext cx="110283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b="1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pitchFamily="18" charset="2"/>
                </a:rPr>
                <a:t>票据 </a:t>
              </a:r>
              <a:r>
                <a:rPr lang="en-US" altLang="zh-CN" sz="1200" b="1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pitchFamily="18" charset="2"/>
                </a:rPr>
                <a:t>(ticket)</a:t>
              </a:r>
              <a:endPara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>
            <a:xfrm flipV="1">
              <a:off x="3147622" y="3223728"/>
              <a:ext cx="123752" cy="17592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896390" y="4262152"/>
            <a:ext cx="7270457" cy="338554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网络上传送密钥时，都是经过加密的。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解密用的密钥都不在网上传送。</a:t>
            </a:r>
          </a:p>
        </p:txBody>
      </p:sp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619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0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825748" y="579292"/>
            <a:ext cx="3496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对会话密钥 </a:t>
            </a:r>
            <a:r>
              <a:rPr lang="en-US" altLang="zh-CN" sz="2000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r>
              <a:rPr lang="en-US" altLang="zh-CN" sz="2000" b="1" i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的分配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5634"/>
            <a:ext cx="812953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防止重放攻击，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还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可在报文中加入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时间戳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会话密钥 </a:t>
            </a:r>
            <a:r>
              <a:rPr lang="en-US" altLang="zh-CN" sz="2000" b="1" i="1" dirty="0" smtClean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 smtClean="0">
                <a:latin typeface="微软雅黑" pitchFamily="34" charset="-122"/>
                <a:ea typeface="微软雅黑" pitchFamily="34" charset="-122"/>
              </a:rPr>
              <a:t>AB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一次性的，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因此机密性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较高。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配给用户的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密钥 </a:t>
            </a:r>
            <a:r>
              <a:rPr lang="en-US" altLang="zh-CN" sz="2000" b="1" i="1" dirty="0" smtClean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i="1" dirty="0" smtClean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，应定期更换，以减少攻击者破译密钥的机会。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</p:spTree>
    <p:extLst>
      <p:ext uri="{BB962C8B-B14F-4D97-AF65-F5344CB8AC3E}">
        <p14:creationId xmlns:p14="http://schemas.microsoft.com/office/powerpoint/2010/main" val="351961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509475" y="966945"/>
            <a:ext cx="8129015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目前最出名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Kerberos V5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既是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鉴别协议，同时也是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，是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互联网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建议标准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DES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更加安全的高级加密标准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AES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进行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加密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两个服务器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鉴别服务器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(Authentication Server)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票据授予服务器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TGS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(Ticket-Granting Server)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只用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于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客户与服务器之间的鉴别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，不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用于人对人的鉴别。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30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49349" y="579093"/>
            <a:ext cx="36492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对称密钥分配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协议：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Kerberos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81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2573" y="943705"/>
            <a:ext cx="8128800" cy="35678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1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6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2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0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09"/>
            <a:ext cx="992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Kerberos</a:t>
            </a:r>
          </a:p>
        </p:txBody>
      </p:sp>
      <p:grpSp>
        <p:nvGrpSpPr>
          <p:cNvPr id="5" name="Group 95"/>
          <p:cNvGrpSpPr>
            <a:grpSpLocks/>
          </p:cNvGrpSpPr>
          <p:nvPr/>
        </p:nvGrpSpPr>
        <p:grpSpPr bwMode="auto">
          <a:xfrm>
            <a:off x="2085303" y="1520633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8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2093494" y="1826465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39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22624" y="570283"/>
            <a:ext cx="2520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Kerberos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3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Picture 51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42" name="Picture 5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44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7542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</a:p>
          </p:txBody>
        </p:sp>
        <p:sp>
          <p:nvSpPr>
            <p:cNvPr id="45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65192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TGS</a:t>
              </a:r>
            </a:p>
          </p:txBody>
        </p:sp>
      </p:grpSp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762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2573" y="943705"/>
            <a:ext cx="8128800" cy="35678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1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6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2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0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09"/>
            <a:ext cx="992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Kerberos</a:t>
            </a:r>
          </a:p>
        </p:txBody>
      </p:sp>
      <p:grpSp>
        <p:nvGrpSpPr>
          <p:cNvPr id="5" name="Group 95"/>
          <p:cNvGrpSpPr>
            <a:grpSpLocks/>
          </p:cNvGrpSpPr>
          <p:nvPr/>
        </p:nvGrpSpPr>
        <p:grpSpPr bwMode="auto">
          <a:xfrm>
            <a:off x="2085303" y="1520633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8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2093494" y="1826465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39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22624" y="570283"/>
            <a:ext cx="2520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Kerberos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50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1" name="Picture 5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52" name="Picture 5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7542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</a:p>
          </p:txBody>
        </p:sp>
        <p:sp>
          <p:nvSpPr>
            <p:cNvPr id="54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65192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TGS</a:t>
              </a:r>
            </a:p>
          </p:txBody>
        </p:sp>
      </p:grpSp>
      <p:sp>
        <p:nvSpPr>
          <p:cNvPr id="47" name="矩形 46"/>
          <p:cNvSpPr/>
          <p:nvPr/>
        </p:nvSpPr>
        <p:spPr>
          <a:xfrm>
            <a:off x="1268634" y="2502477"/>
            <a:ext cx="4572000" cy="707886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2"/>
            </a:solidFill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并不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保存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密钥 </a:t>
            </a:r>
            <a:r>
              <a:rPr lang="en-US" altLang="zh-CN" sz="1600" b="1" i="1" dirty="0" smtClean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600" b="1" baseline="-250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需键入正确口令，利用适当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算法生成密钥 </a:t>
            </a:r>
            <a:r>
              <a:rPr lang="en-US" altLang="zh-CN" sz="1600" b="1" i="1" dirty="0" smtClean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600" b="1" baseline="-250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这个口令随即被销毁。</a:t>
            </a:r>
          </a:p>
        </p:txBody>
      </p:sp>
      <p:sp>
        <p:nvSpPr>
          <p:cNvPr id="41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</p:spTree>
    <p:extLst>
      <p:ext uri="{BB962C8B-B14F-4D97-AF65-F5344CB8AC3E}">
        <p14:creationId xmlns:p14="http://schemas.microsoft.com/office/powerpoint/2010/main" val="322175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2573" y="943706"/>
            <a:ext cx="8128800" cy="35678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2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90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7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3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1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10"/>
            <a:ext cx="992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Kerberos</a:t>
            </a:r>
          </a:p>
        </p:txBody>
      </p:sp>
      <p:grpSp>
        <p:nvGrpSpPr>
          <p:cNvPr id="37" name="Group 95"/>
          <p:cNvGrpSpPr>
            <a:grpSpLocks/>
          </p:cNvGrpSpPr>
          <p:nvPr/>
        </p:nvGrpSpPr>
        <p:grpSpPr bwMode="auto">
          <a:xfrm>
            <a:off x="2085303" y="1520634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</p:grpSp>
      <p:grpSp>
        <p:nvGrpSpPr>
          <p:cNvPr id="46" name="Group 99"/>
          <p:cNvGrpSpPr>
            <a:grpSpLocks/>
          </p:cNvGrpSpPr>
          <p:nvPr/>
        </p:nvGrpSpPr>
        <p:grpSpPr bwMode="auto">
          <a:xfrm>
            <a:off x="2093495" y="3444707"/>
            <a:ext cx="4979865" cy="525971"/>
            <a:chOff x="-68" y="2993"/>
            <a:chExt cx="5471" cy="626"/>
          </a:xfrm>
        </p:grpSpPr>
        <p:sp>
          <p:nvSpPr>
            <p:cNvPr id="47" name="Line 74"/>
            <p:cNvSpPr>
              <a:spLocks noChangeShapeType="1"/>
            </p:cNvSpPr>
            <p:nvPr/>
          </p:nvSpPr>
          <p:spPr bwMode="auto">
            <a:xfrm flipV="1">
              <a:off x="-68" y="3324"/>
              <a:ext cx="5471" cy="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Rectangle 75"/>
            <p:cNvSpPr>
              <a:spLocks noChangeArrowheads="1"/>
            </p:cNvSpPr>
            <p:nvPr/>
          </p:nvSpPr>
          <p:spPr bwMode="auto">
            <a:xfrm>
              <a:off x="1526" y="3111"/>
              <a:ext cx="2290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Rectangle 76"/>
            <p:cNvSpPr>
              <a:spLocks noChangeArrowheads="1"/>
            </p:cNvSpPr>
            <p:nvPr/>
          </p:nvSpPr>
          <p:spPr bwMode="auto">
            <a:xfrm>
              <a:off x="2114" y="3324"/>
              <a:ext cx="275" cy="19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1100" b="1" i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 Box 77"/>
            <p:cNvSpPr txBox="1">
              <a:spLocks noChangeArrowheads="1"/>
            </p:cNvSpPr>
            <p:nvPr/>
          </p:nvSpPr>
          <p:spPr bwMode="auto">
            <a:xfrm>
              <a:off x="1572" y="3077"/>
              <a:ext cx="458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51" name="Picture 7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" y="3132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2" name="Text Box 79"/>
            <p:cNvSpPr txBox="1">
              <a:spLocks noChangeArrowheads="1"/>
            </p:cNvSpPr>
            <p:nvPr/>
          </p:nvSpPr>
          <p:spPr bwMode="auto">
            <a:xfrm>
              <a:off x="2363" y="3308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  <p:sp>
          <p:nvSpPr>
            <p:cNvPr id="53" name="Text Box 80"/>
            <p:cNvSpPr txBox="1">
              <a:spLocks noChangeArrowheads="1"/>
            </p:cNvSpPr>
            <p:nvPr/>
          </p:nvSpPr>
          <p:spPr bwMode="auto">
            <a:xfrm>
              <a:off x="-1" y="299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</a:t>
              </a:r>
            </a:p>
          </p:txBody>
        </p:sp>
        <p:sp>
          <p:nvSpPr>
            <p:cNvPr id="54" name="Rectangle 81"/>
            <p:cNvSpPr>
              <a:spLocks noChangeArrowheads="1"/>
            </p:cNvSpPr>
            <p:nvPr/>
          </p:nvSpPr>
          <p:spPr bwMode="auto">
            <a:xfrm>
              <a:off x="3013" y="3324"/>
              <a:ext cx="605" cy="19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55" name="Text Box 82"/>
            <p:cNvSpPr txBox="1">
              <a:spLocks noChangeArrowheads="1"/>
            </p:cNvSpPr>
            <p:nvPr/>
          </p:nvSpPr>
          <p:spPr bwMode="auto">
            <a:xfrm>
              <a:off x="2496" y="3081"/>
              <a:ext cx="38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56" name="Picture 8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" y="3127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grpSp>
        <p:nvGrpSpPr>
          <p:cNvPr id="57" name="Group 100"/>
          <p:cNvGrpSpPr>
            <a:grpSpLocks/>
          </p:cNvGrpSpPr>
          <p:nvPr/>
        </p:nvGrpSpPr>
        <p:grpSpPr bwMode="auto">
          <a:xfrm>
            <a:off x="2093495" y="3932865"/>
            <a:ext cx="4958924" cy="481439"/>
            <a:chOff x="-68" y="3574"/>
            <a:chExt cx="5448" cy="573"/>
          </a:xfrm>
        </p:grpSpPr>
        <p:sp>
          <p:nvSpPr>
            <p:cNvPr id="58" name="Line 5"/>
            <p:cNvSpPr>
              <a:spLocks noChangeShapeType="1"/>
            </p:cNvSpPr>
            <p:nvPr/>
          </p:nvSpPr>
          <p:spPr bwMode="auto">
            <a:xfrm flipH="1" flipV="1">
              <a:off x="-68" y="3899"/>
              <a:ext cx="5445" cy="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84"/>
            <p:cNvSpPr>
              <a:spLocks noChangeArrowheads="1"/>
            </p:cNvSpPr>
            <p:nvPr/>
          </p:nvSpPr>
          <p:spPr bwMode="auto">
            <a:xfrm>
              <a:off x="2044" y="3687"/>
              <a:ext cx="1341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Rectangle 85"/>
            <p:cNvSpPr>
              <a:spLocks noChangeArrowheads="1"/>
            </p:cNvSpPr>
            <p:nvPr/>
          </p:nvSpPr>
          <p:spPr bwMode="auto">
            <a:xfrm>
              <a:off x="2659" y="3900"/>
              <a:ext cx="557" cy="19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+ 1</a:t>
              </a:r>
              <a:endParaRPr kumimoji="1" lang="en-US" altLang="zh-CN" sz="11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 Box 86"/>
            <p:cNvSpPr txBox="1">
              <a:spLocks noChangeArrowheads="1"/>
            </p:cNvSpPr>
            <p:nvPr/>
          </p:nvSpPr>
          <p:spPr bwMode="auto">
            <a:xfrm>
              <a:off x="2116" y="3653"/>
              <a:ext cx="458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62" name="Picture 8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1" y="3707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3" name="Text Box 88"/>
            <p:cNvSpPr txBox="1">
              <a:spLocks noChangeArrowheads="1"/>
            </p:cNvSpPr>
            <p:nvPr/>
          </p:nvSpPr>
          <p:spPr bwMode="auto">
            <a:xfrm>
              <a:off x="4952" y="3574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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9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5" name="Group 97"/>
          <p:cNvGrpSpPr>
            <a:grpSpLocks/>
          </p:cNvGrpSpPr>
          <p:nvPr/>
        </p:nvGrpSpPr>
        <p:grpSpPr bwMode="auto">
          <a:xfrm>
            <a:off x="2085303" y="2447376"/>
            <a:ext cx="3229494" cy="527650"/>
            <a:chOff x="-77" y="1806"/>
            <a:chExt cx="3548" cy="628"/>
          </a:xfrm>
        </p:grpSpPr>
        <p:sp>
          <p:nvSpPr>
            <p:cNvPr id="66" name="Line 6"/>
            <p:cNvSpPr>
              <a:spLocks noChangeShapeType="1"/>
            </p:cNvSpPr>
            <p:nvPr/>
          </p:nvSpPr>
          <p:spPr bwMode="auto">
            <a:xfrm flipV="1">
              <a:off x="-77" y="2152"/>
              <a:ext cx="354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Rectangle 7"/>
            <p:cNvSpPr>
              <a:spLocks noChangeArrowheads="1"/>
            </p:cNvSpPr>
            <p:nvPr/>
          </p:nvSpPr>
          <p:spPr bwMode="auto">
            <a:xfrm>
              <a:off x="692" y="1925"/>
              <a:ext cx="2021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Box 48"/>
            <p:cNvSpPr txBox="1">
              <a:spLocks noChangeArrowheads="1"/>
            </p:cNvSpPr>
            <p:nvPr/>
          </p:nvSpPr>
          <p:spPr bwMode="auto">
            <a:xfrm>
              <a:off x="-18" y="1806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</a:t>
              </a:r>
            </a:p>
          </p:txBody>
        </p:sp>
        <p:sp>
          <p:nvSpPr>
            <p:cNvPr id="69" name="Rectangle 59"/>
            <p:cNvSpPr>
              <a:spLocks noChangeArrowheads="1"/>
            </p:cNvSpPr>
            <p:nvPr/>
          </p:nvSpPr>
          <p:spPr bwMode="auto">
            <a:xfrm>
              <a:off x="2092" y="2140"/>
              <a:ext cx="567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70" name="Picture 6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9" y="1943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Rectangle 61"/>
            <p:cNvSpPr>
              <a:spLocks noChangeArrowheads="1"/>
            </p:cNvSpPr>
            <p:nvPr/>
          </p:nvSpPr>
          <p:spPr bwMode="auto">
            <a:xfrm>
              <a:off x="1106" y="2139"/>
              <a:ext cx="275" cy="19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1100" b="1" i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Text Box 62"/>
            <p:cNvSpPr txBox="1">
              <a:spLocks noChangeArrowheads="1"/>
            </p:cNvSpPr>
            <p:nvPr/>
          </p:nvSpPr>
          <p:spPr bwMode="auto">
            <a:xfrm>
              <a:off x="639" y="189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73" name="Picture 6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" y="1946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4" name="Text Box 64"/>
            <p:cNvSpPr txBox="1">
              <a:spLocks noChangeArrowheads="1"/>
            </p:cNvSpPr>
            <p:nvPr/>
          </p:nvSpPr>
          <p:spPr bwMode="auto">
            <a:xfrm>
              <a:off x="1354" y="2123"/>
              <a:ext cx="44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B,</a:t>
              </a:r>
            </a:p>
          </p:txBody>
        </p:sp>
        <p:sp>
          <p:nvSpPr>
            <p:cNvPr id="75" name="Text Box 90"/>
            <p:cNvSpPr txBox="1">
              <a:spLocks noChangeArrowheads="1"/>
            </p:cNvSpPr>
            <p:nvPr/>
          </p:nvSpPr>
          <p:spPr bwMode="auto">
            <a:xfrm>
              <a:off x="1510" y="1892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</p:grpSp>
      <p:grpSp>
        <p:nvGrpSpPr>
          <p:cNvPr id="76" name="Group 98"/>
          <p:cNvGrpSpPr>
            <a:grpSpLocks/>
          </p:cNvGrpSpPr>
          <p:nvPr/>
        </p:nvGrpSpPr>
        <p:grpSpPr bwMode="auto">
          <a:xfrm>
            <a:off x="2093495" y="2947304"/>
            <a:ext cx="3221296" cy="519249"/>
            <a:chOff x="-68" y="2401"/>
            <a:chExt cx="3539" cy="618"/>
          </a:xfrm>
        </p:grpSpPr>
        <p:sp>
          <p:nvSpPr>
            <p:cNvPr id="77" name="Line 65"/>
            <p:cNvSpPr>
              <a:spLocks noChangeShapeType="1"/>
            </p:cNvSpPr>
            <p:nvPr/>
          </p:nvSpPr>
          <p:spPr bwMode="auto">
            <a:xfrm flipH="1" flipV="1">
              <a:off x="-68" y="2744"/>
              <a:ext cx="3539" cy="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66"/>
            <p:cNvSpPr>
              <a:spLocks noChangeArrowheads="1"/>
            </p:cNvSpPr>
            <p:nvPr/>
          </p:nvSpPr>
          <p:spPr bwMode="auto">
            <a:xfrm>
              <a:off x="639" y="2518"/>
              <a:ext cx="2236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67"/>
            <p:cNvSpPr>
              <a:spLocks noChangeArrowheads="1"/>
            </p:cNvSpPr>
            <p:nvPr/>
          </p:nvSpPr>
          <p:spPr bwMode="auto">
            <a:xfrm>
              <a:off x="2174" y="2732"/>
              <a:ext cx="628" cy="19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80" name="Text Box 68"/>
            <p:cNvSpPr txBox="1">
              <a:spLocks noChangeArrowheads="1"/>
            </p:cNvSpPr>
            <p:nvPr/>
          </p:nvSpPr>
          <p:spPr bwMode="auto">
            <a:xfrm>
              <a:off x="1663" y="2485"/>
              <a:ext cx="38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81" name="Picture 6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9" y="2535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2" name="Text Box 70"/>
            <p:cNvSpPr txBox="1">
              <a:spLocks noChangeArrowheads="1"/>
            </p:cNvSpPr>
            <p:nvPr/>
          </p:nvSpPr>
          <p:spPr bwMode="auto">
            <a:xfrm>
              <a:off x="1694" y="2708"/>
              <a:ext cx="24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</a:p>
          </p:txBody>
        </p:sp>
        <p:sp>
          <p:nvSpPr>
            <p:cNvPr id="83" name="Text Box 71"/>
            <p:cNvSpPr txBox="1">
              <a:spLocks noChangeArrowheads="1"/>
            </p:cNvSpPr>
            <p:nvPr/>
          </p:nvSpPr>
          <p:spPr bwMode="auto">
            <a:xfrm>
              <a:off x="3037" y="2401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</a:t>
              </a:r>
            </a:p>
          </p:txBody>
        </p:sp>
        <p:sp>
          <p:nvSpPr>
            <p:cNvPr id="84" name="Rectangle 72"/>
            <p:cNvSpPr>
              <a:spLocks noChangeArrowheads="1"/>
            </p:cNvSpPr>
            <p:nvPr/>
          </p:nvSpPr>
          <p:spPr bwMode="auto">
            <a:xfrm>
              <a:off x="1136" y="2732"/>
              <a:ext cx="601" cy="197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85" name="Picture 7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" y="2538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6" name="Text Box 92"/>
            <p:cNvSpPr txBox="1">
              <a:spLocks noChangeArrowheads="1"/>
            </p:cNvSpPr>
            <p:nvPr/>
          </p:nvSpPr>
          <p:spPr bwMode="auto">
            <a:xfrm>
              <a:off x="598" y="2485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</p:grpSp>
      <p:grpSp>
        <p:nvGrpSpPr>
          <p:cNvPr id="87" name="Group 96"/>
          <p:cNvGrpSpPr>
            <a:grpSpLocks/>
          </p:cNvGrpSpPr>
          <p:nvPr/>
        </p:nvGrpSpPr>
        <p:grpSpPr bwMode="auto">
          <a:xfrm>
            <a:off x="2093494" y="1826466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40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矩形 4"/>
          <p:cNvSpPr>
            <a:spLocks noChangeArrowheads="1"/>
          </p:cNvSpPr>
          <p:nvPr/>
        </p:nvSpPr>
        <p:spPr bwMode="auto">
          <a:xfrm>
            <a:off x="622624" y="570283"/>
            <a:ext cx="2520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Kerberos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103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4" name="Picture 51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05" name="Picture 52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7542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</a:p>
          </p:txBody>
        </p:sp>
        <p:sp>
          <p:nvSpPr>
            <p:cNvPr id="107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65192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TGS</a:t>
              </a:r>
            </a:p>
          </p:txBody>
        </p:sp>
      </p:grpSp>
      <p:sp>
        <p:nvSpPr>
          <p:cNvPr id="108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977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10879" y="579356"/>
            <a:ext cx="37262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Kerberos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要求“松散的”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同步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73587"/>
            <a:ext cx="812901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Kerberos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要求所有使用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Kerberos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的主机必须在时钟上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进行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松散的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同步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松散的同步：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要求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所有主机的时钟误差不能太大，例如，不能超过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分钟的数量级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。这个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要求是为了防止重放攻击。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</p:spTree>
    <p:extLst>
      <p:ext uri="{BB962C8B-B14F-4D97-AF65-F5344CB8AC3E}">
        <p14:creationId xmlns:p14="http://schemas.microsoft.com/office/powerpoint/2010/main" val="373391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2"/>
          <p:cNvSpPr>
            <a:spLocks noChangeArrowheads="1"/>
          </p:cNvSpPr>
          <p:nvPr/>
        </p:nvSpPr>
        <p:spPr bwMode="auto">
          <a:xfrm>
            <a:off x="511896" y="608698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3251362" y="583234"/>
            <a:ext cx="2650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7.4.2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1036511"/>
            <a:ext cx="8131439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在公钥密码体制中，如果每个用户都具有其他用户的公钥，就可实现安全通信。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但用户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的公钥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不能由用户自己随意在网上发布，因为：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无法防止假冒和欺骗。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使用者也无法确定公钥的真正拥有者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eaLnBrk="0" hangingPunct="0">
              <a:lnSpc>
                <a:spcPts val="3300"/>
              </a:lnSpc>
              <a:buClr>
                <a:srgbClr val="0070C0"/>
              </a:buClr>
              <a:buSzPct val="85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方法：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借助可信任的第三方机构。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233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可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信任的第三方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机构。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负责给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拥有公钥的实体发一个具有数字签名的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数字证书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(digital certificate)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，有时也可简称为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数字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证书就是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对公钥与其对应的实体（人或机器）进行绑定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(binding)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一个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证明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，因此常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公钥证书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一般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政府或知名公司出资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建立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154509" y="579356"/>
            <a:ext cx="48389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认证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中心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(Certification Authority)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299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2433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1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每个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证书中写有公钥及其拥有者的标识信息（例如：人名、地址、电子邮件地址或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地址等）。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1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更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重要的</a:t>
            </a: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是：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证书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有 </a:t>
            </a:r>
            <a:r>
              <a:rPr lang="en-US" altLang="zh-CN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自己私钥的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数字签名。</a:t>
            </a:r>
            <a:endParaRPr lang="en-US" altLang="zh-CN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1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把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数字签名和未签名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证书放在一起，就最后构成了已签名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证书。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1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证书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被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进行了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数字签名，是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不可伪造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的。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35822" y="579356"/>
            <a:ext cx="36763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数字证书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digital certificate)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014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任何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用户都可从可信任的地方（如代表政府的报纸）获得认证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中心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公钥，以验证证书的真伪。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数字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证书是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公开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的，不需要加密。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35822" y="579356"/>
            <a:ext cx="36763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数字证书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digital certificate)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</p:spTree>
    <p:extLst>
      <p:ext uri="{BB962C8B-B14F-4D97-AF65-F5344CB8AC3E}">
        <p14:creationId xmlns:p14="http://schemas.microsoft.com/office/powerpoint/2010/main" val="136644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93258" y="3691916"/>
            <a:ext cx="804523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buClr>
                <a:srgbClr val="0070C0"/>
              </a:buClr>
            </a:pPr>
            <a:r>
              <a:rPr lang="zh-CN" altLang="en-US" sz="16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核实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拿到 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数字证书后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，使用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数字证书上给出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公钥，对数字证书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中 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数字签名</a:t>
            </a:r>
            <a:r>
              <a:rPr lang="zh-CN" altLang="en-US" sz="1600" b="1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进行 </a:t>
            </a:r>
            <a:r>
              <a:rPr lang="en-US" altLang="zh-CN" sz="1600" b="1" i="1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en-US" altLang="zh-CN" sz="1600" b="1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运算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，得出一个数值。再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对 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数字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证书 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(CA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数字签名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除外的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部分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  进行哈希运算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，又得出一个数值。比较这两个数值。若一致，则数字证书是真的。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70283"/>
            <a:ext cx="41040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数字证书的产生过程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12573" y="943706"/>
            <a:ext cx="8128800" cy="272285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42303" y="1105959"/>
            <a:ext cx="7447274" cy="2364678"/>
            <a:chOff x="1303191" y="1210699"/>
            <a:chExt cx="7419043" cy="2059516"/>
          </a:xfrm>
        </p:grpSpPr>
        <p:sp>
          <p:nvSpPr>
            <p:cNvPr id="27" name="矩形 47"/>
            <p:cNvSpPr>
              <a:spLocks noChangeArrowheads="1"/>
            </p:cNvSpPr>
            <p:nvPr/>
          </p:nvSpPr>
          <p:spPr bwMode="auto">
            <a:xfrm>
              <a:off x="6632386" y="1681816"/>
              <a:ext cx="1800225" cy="1295400"/>
            </a:xfrm>
            <a:prstGeom prst="rect">
              <a:avLst/>
            </a:prstGeom>
            <a:solidFill>
              <a:srgbClr val="00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62"/>
            <p:cNvSpPr>
              <a:spLocks noChangeArrowheads="1"/>
            </p:cNvSpPr>
            <p:nvPr/>
          </p:nvSpPr>
          <p:spPr bwMode="auto">
            <a:xfrm>
              <a:off x="1877823" y="1470679"/>
              <a:ext cx="1657350" cy="76358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64"/>
            <p:cNvCxnSpPr>
              <a:cxnSpLocks noChangeShapeType="1"/>
            </p:cNvCxnSpPr>
            <p:nvPr/>
          </p:nvCxnSpPr>
          <p:spPr bwMode="auto">
            <a:xfrm flipV="1">
              <a:off x="1884173" y="1938991"/>
              <a:ext cx="16414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372249" y="1210699"/>
              <a:ext cx="2661355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未签名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 </a:t>
              </a:r>
              <a:r>
                <a:rPr lang="en-US" altLang="zh-CN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的数字证书</a:t>
              </a:r>
            </a:p>
          </p:txBody>
        </p:sp>
        <p:sp>
          <p:nvSpPr>
            <p:cNvPr id="13" name="TextBox 8"/>
            <p:cNvSpPr txBox="1">
              <a:spLocks noChangeArrowheads="1"/>
            </p:cNvSpPr>
            <p:nvPr/>
          </p:nvSpPr>
          <p:spPr bwMode="auto">
            <a:xfrm>
              <a:off x="1820673" y="1436272"/>
              <a:ext cx="1695450" cy="851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证书拥有者：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  <a:p>
              <a:pPr eaLnBrk="1" hangingPunct="1">
                <a:lnSpc>
                  <a:spcPts val="2200"/>
                </a:lnSpc>
                <a:spcAft>
                  <a:spcPts val="300"/>
                </a:spcAft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ts val="22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证书签发者：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64"/>
            <p:cNvSpPr txBox="1"/>
            <p:nvPr/>
          </p:nvSpPr>
          <p:spPr>
            <a:xfrm>
              <a:off x="6705411" y="2567641"/>
              <a:ext cx="1657350" cy="29486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的数字签名</a:t>
              </a:r>
            </a:p>
          </p:txBody>
        </p:sp>
        <p:sp>
          <p:nvSpPr>
            <p:cNvPr id="15" name="TextBox 8"/>
            <p:cNvSpPr txBox="1">
              <a:spLocks noChangeArrowheads="1"/>
            </p:cNvSpPr>
            <p:nvPr/>
          </p:nvSpPr>
          <p:spPr bwMode="auto">
            <a:xfrm>
              <a:off x="1303191" y="2280304"/>
              <a:ext cx="1441407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哈希函数运算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Box 68"/>
            <p:cNvSpPr txBox="1">
              <a:spLocks noChangeArrowheads="1"/>
            </p:cNvSpPr>
            <p:nvPr/>
          </p:nvSpPr>
          <p:spPr bwMode="auto">
            <a:xfrm>
              <a:off x="7065773" y="1897716"/>
              <a:ext cx="863600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169"/>
            <p:cNvSpPr>
              <a:spLocks noChangeArrowheads="1"/>
            </p:cNvSpPr>
            <p:nvPr/>
          </p:nvSpPr>
          <p:spPr bwMode="auto">
            <a:xfrm>
              <a:off x="2412811" y="2680354"/>
              <a:ext cx="563562" cy="28892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GB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en-GB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GB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6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72"/>
            <p:cNvSpPr txBox="1">
              <a:spLocks noChangeArrowheads="1"/>
            </p:cNvSpPr>
            <p:nvPr/>
          </p:nvSpPr>
          <p:spPr bwMode="auto">
            <a:xfrm>
              <a:off x="2960498" y="2405876"/>
              <a:ext cx="1317625" cy="460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用私钥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 </a:t>
              </a:r>
              <a:r>
                <a:rPr lang="en-US" altLang="zh-CN" sz="1400" b="1" i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</a:t>
              </a:r>
            </a:p>
          </p:txBody>
        </p:sp>
        <p:sp>
          <p:nvSpPr>
            <p:cNvPr id="19" name="Text Box 204"/>
            <p:cNvSpPr txBox="1">
              <a:spLocks noChangeArrowheads="1"/>
            </p:cNvSpPr>
            <p:nvPr/>
          </p:nvSpPr>
          <p:spPr bwMode="auto">
            <a:xfrm>
              <a:off x="1860992" y="2975351"/>
              <a:ext cx="1614812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长度哈希值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62"/>
            <p:cNvSpPr>
              <a:spLocks noChangeArrowheads="1"/>
            </p:cNvSpPr>
            <p:nvPr/>
          </p:nvSpPr>
          <p:spPr bwMode="auto">
            <a:xfrm>
              <a:off x="6703823" y="1731029"/>
              <a:ext cx="165735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" name="直接连接符 64"/>
            <p:cNvCxnSpPr>
              <a:cxnSpLocks noChangeShapeType="1"/>
            </p:cNvCxnSpPr>
            <p:nvPr/>
          </p:nvCxnSpPr>
          <p:spPr bwMode="auto">
            <a:xfrm flipV="1">
              <a:off x="6697473" y="2227916"/>
              <a:ext cx="16414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TextBox 8"/>
            <p:cNvSpPr txBox="1">
              <a:spLocks noChangeArrowheads="1"/>
            </p:cNvSpPr>
            <p:nvPr/>
          </p:nvSpPr>
          <p:spPr bwMode="auto">
            <a:xfrm>
              <a:off x="6664136" y="1727854"/>
              <a:ext cx="1695450" cy="770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证书拥有者：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  <a:p>
              <a:pPr eaLnBrk="1" hangingPunct="1">
                <a:lnSpc>
                  <a:spcPts val="2000"/>
                </a:lnSpc>
                <a:spcAft>
                  <a:spcPts val="300"/>
                </a:spcAft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ts val="2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证书签发者：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14"/>
            <p:cNvSpPr>
              <a:spLocks noChangeShapeType="1"/>
            </p:cNvSpPr>
            <p:nvPr/>
          </p:nvSpPr>
          <p:spPr bwMode="auto">
            <a:xfrm>
              <a:off x="3543111" y="1856441"/>
              <a:ext cx="3151187" cy="277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Box 41"/>
            <p:cNvSpPr txBox="1"/>
            <p:nvPr/>
          </p:nvSpPr>
          <p:spPr>
            <a:xfrm>
              <a:off x="4281298" y="2685116"/>
              <a:ext cx="1657350" cy="29486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的数字签名</a:t>
              </a:r>
            </a:p>
          </p:txBody>
        </p:sp>
        <p:sp>
          <p:nvSpPr>
            <p:cNvPr id="25" name="Line 214"/>
            <p:cNvSpPr>
              <a:spLocks noChangeShapeType="1"/>
            </p:cNvSpPr>
            <p:nvPr/>
          </p:nvSpPr>
          <p:spPr bwMode="auto">
            <a:xfrm>
              <a:off x="2960498" y="2829579"/>
              <a:ext cx="1312863" cy="3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6362909" y="1390527"/>
              <a:ext cx="2359325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已签名的 </a:t>
              </a:r>
              <a:r>
                <a:rPr lang="en-US" altLang="zh-CN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的数字证书</a:t>
              </a:r>
            </a:p>
          </p:txBody>
        </p:sp>
        <p:sp>
          <p:nvSpPr>
            <p:cNvPr id="28" name="Line 214"/>
            <p:cNvSpPr>
              <a:spLocks noChangeShapeType="1"/>
            </p:cNvSpPr>
            <p:nvPr/>
          </p:nvSpPr>
          <p:spPr bwMode="auto">
            <a:xfrm rot="5400000">
              <a:off x="2475517" y="2462073"/>
              <a:ext cx="4270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14"/>
            <p:cNvSpPr>
              <a:spLocks noChangeShapeType="1"/>
            </p:cNvSpPr>
            <p:nvPr/>
          </p:nvSpPr>
          <p:spPr bwMode="auto">
            <a:xfrm flipV="1">
              <a:off x="5946586" y="2734329"/>
              <a:ext cx="760412" cy="112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</p:spTree>
    <p:extLst>
      <p:ext uri="{BB962C8B-B14F-4D97-AF65-F5344CB8AC3E}">
        <p14:creationId xmlns:p14="http://schemas.microsoft.com/office/powerpoint/2010/main" val="384699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446720" y="1013106"/>
            <a:ext cx="3538736" cy="364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为了使</a:t>
            </a: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发布的数字证书在各行各业中能够通用，数字证书的</a:t>
            </a:r>
            <a:r>
              <a:rPr lang="zh-CN" altLang="en-US" sz="1700" b="1" dirty="0" smtClean="0">
                <a:latin typeface="微软雅黑" pitchFamily="34" charset="-122"/>
                <a:ea typeface="微软雅黑" pitchFamily="34" charset="-122"/>
              </a:rPr>
              <a:t>格式必须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标准化</a:t>
            </a:r>
            <a:r>
              <a:rPr lang="zh-CN" altLang="en-US" sz="17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7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5600" indent="-34200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 smtClean="0">
                <a:latin typeface="微软雅黑" pitchFamily="34" charset="-122"/>
                <a:ea typeface="微软雅黑" pitchFamily="34" charset="-122"/>
              </a:rPr>
              <a:t>ITU-T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制定了 </a:t>
            </a:r>
            <a:r>
              <a:rPr lang="en-US" altLang="zh-CN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协议标准</a:t>
            </a:r>
            <a:r>
              <a:rPr lang="zh-CN" altLang="en-US" sz="1700" b="1" dirty="0" smtClean="0">
                <a:latin typeface="微软雅黑" pitchFamily="34" charset="-122"/>
                <a:ea typeface="微软雅黑" pitchFamily="34" charset="-122"/>
              </a:rPr>
              <a:t>，描述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证书的结构</a:t>
            </a:r>
            <a:r>
              <a:rPr lang="zh-CN" altLang="en-US" sz="17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7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5600" indent="-34200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 smtClean="0">
                <a:latin typeface="微软雅黑" pitchFamily="34" charset="-122"/>
                <a:ea typeface="微软雅黑" pitchFamily="34" charset="-122"/>
              </a:rPr>
              <a:t>IETF </a:t>
            </a:r>
            <a:r>
              <a:rPr lang="zh-CN" altLang="en-US" sz="1700" b="1" dirty="0" smtClean="0">
                <a:latin typeface="微软雅黑" pitchFamily="34" charset="-122"/>
                <a:ea typeface="微软雅黑" pitchFamily="34" charset="-122"/>
              </a:rPr>
              <a:t>采用 </a:t>
            </a:r>
            <a:r>
              <a:rPr lang="en-US" altLang="zh-CN" sz="1700" b="1" dirty="0" smtClean="0"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V3 </a:t>
            </a:r>
            <a:r>
              <a:rPr lang="zh-CN" altLang="en-US" sz="1700" b="1" dirty="0" smtClean="0">
                <a:latin typeface="微软雅黑" pitchFamily="34" charset="-122"/>
                <a:ea typeface="微软雅黑" pitchFamily="34" charset="-122"/>
              </a:rPr>
              <a:t>作为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互联网的</a:t>
            </a:r>
            <a:r>
              <a:rPr lang="zh-CN" altLang="en-US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r>
              <a:rPr lang="zh-CN" altLang="en-US" sz="17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标准</a:t>
            </a:r>
            <a:r>
              <a:rPr lang="zh-CN" altLang="en-US" sz="17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7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5600" indent="-34200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 smtClean="0"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是互联网</a:t>
            </a:r>
            <a:r>
              <a:rPr lang="zh-CN" altLang="en-US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公钥基础</a:t>
            </a:r>
            <a:r>
              <a:rPr lang="zh-CN" altLang="en-US" sz="17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结构 </a:t>
            </a:r>
            <a:r>
              <a:rPr lang="en-US" altLang="zh-CN" sz="17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PKI </a:t>
            </a: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(Public Key </a:t>
            </a:r>
            <a:r>
              <a:rPr lang="en-US" altLang="zh-CN" sz="1700" b="1" dirty="0" smtClean="0">
                <a:latin typeface="微软雅黑" pitchFamily="34" charset="-122"/>
                <a:ea typeface="微软雅黑" pitchFamily="34" charset="-122"/>
              </a:rPr>
              <a:t>Infrastructure)</a:t>
            </a:r>
            <a:r>
              <a:rPr lang="zh-CN" altLang="en-US" sz="1700" b="1" dirty="0" smtClean="0">
                <a:latin typeface="微软雅黑" pitchFamily="34" charset="-122"/>
                <a:ea typeface="微软雅黑" pitchFamily="34" charset="-122"/>
              </a:rPr>
              <a:t>的核心标准。</a:t>
            </a:r>
            <a:endParaRPr lang="zh-CN" altLang="en-US" sz="17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" name="Group 60"/>
          <p:cNvGraphicFramePr>
            <a:graphicFrameLocks/>
          </p:cNvGraphicFramePr>
          <p:nvPr>
            <p:extLst/>
          </p:nvPr>
        </p:nvGraphicFramePr>
        <p:xfrm>
          <a:off x="3985456" y="1095026"/>
          <a:ext cx="4890981" cy="3219062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467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3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版本号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区分 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X.509 </a:t>
                      </a: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不同版本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序列号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CA </a:t>
                      </a: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发放，唯一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签名算法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签署证书所使用的算法和参数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发行者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签发者的唯一标识符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有效期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包括起始时间和终止时间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主体名 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</a:t>
                      </a: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或主题名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公钥和数字证书拥有者的唯一标识符</a:t>
                      </a:r>
                      <a:endParaRPr kumimoji="0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公钥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数字证书拥有者的公钥和使用算法的标识符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发行者 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ID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任选，唯一，标识发行者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主体 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ID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任选，唯一，标识证书持有者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扩展域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扩充信息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认证机构签名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用 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CA </a:t>
                      </a: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私钥对证书签名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20247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X.509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数字证书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674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38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问题：谁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运行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？世界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上需要多少个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？ 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使用一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个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签发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全世界所有的证书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?</a:t>
            </a:r>
          </a:p>
          <a:p>
            <a:pPr marL="800100" lvl="1" indent="-342900" eaLnBrk="0" hangingPunct="0">
              <a:lnSpc>
                <a:spcPts val="29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流量压力，单点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失效。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由一个组织运行多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个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?</a:t>
            </a:r>
          </a:p>
          <a:p>
            <a:pPr marL="800100" lvl="1" indent="-342900" eaLnBrk="0" hangingPunct="0">
              <a:lnSpc>
                <a:spcPts val="29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密钥泄露，信任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问题。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分布式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公钥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基础结构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PKI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(Public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Key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Infrastructure)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eaLnBrk="0" hangingPunct="0">
              <a:lnSpc>
                <a:spcPts val="29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提供公钥加密和数字签名服务的系统或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平台。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eaLnBrk="0" hangingPunct="0">
              <a:lnSpc>
                <a:spcPts val="29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包含不同组织运行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每个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拥有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自己的私钥，负责为一部分用户签发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证书。</a:t>
            </a:r>
          </a:p>
          <a:p>
            <a:pPr marL="800100" lvl="1" indent="-342900" eaLnBrk="0" hangingPunct="0">
              <a:lnSpc>
                <a:spcPts val="29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用户自已决定使用哪一个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.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99250" y="579356"/>
            <a:ext cx="2749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如何管理公钥和证书？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135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4105835" y="952671"/>
            <a:ext cx="4532655" cy="315376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446718" y="1013106"/>
            <a:ext cx="3818051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提出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把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多级认证中心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链接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起来的，构成一个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树状的认证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系统。</a:t>
            </a:r>
            <a:endParaRPr lang="en-US" altLang="zh-CN" sz="2000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末端是用户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最高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的认证中心都称为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根认证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中心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Root CA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，是公认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可信的认证中心（或无条件信任的），且其公钥是公开的。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认证系统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714350" y="1090660"/>
            <a:ext cx="3167063" cy="2687638"/>
            <a:chOff x="4913035" y="1089352"/>
            <a:chExt cx="3167063" cy="2687638"/>
          </a:xfrm>
        </p:grpSpPr>
        <p:sp>
          <p:nvSpPr>
            <p:cNvPr id="6" name="Rectangle 173"/>
            <p:cNvSpPr>
              <a:spLocks noChangeArrowheads="1"/>
            </p:cNvSpPr>
            <p:nvPr/>
          </p:nvSpPr>
          <p:spPr bwMode="auto">
            <a:xfrm>
              <a:off x="6271935" y="1089352"/>
              <a:ext cx="766763" cy="39687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根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endPara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173"/>
            <p:cNvSpPr>
              <a:spLocks noChangeArrowheads="1"/>
            </p:cNvSpPr>
            <p:nvPr/>
          </p:nvSpPr>
          <p:spPr bwMode="auto">
            <a:xfrm>
              <a:off x="5597248" y="1846590"/>
              <a:ext cx="9112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1" name="Rectangle 173"/>
            <p:cNvSpPr>
              <a:spLocks noChangeArrowheads="1"/>
            </p:cNvSpPr>
            <p:nvPr/>
          </p:nvSpPr>
          <p:spPr bwMode="auto">
            <a:xfrm>
              <a:off x="6929160" y="1846590"/>
              <a:ext cx="9112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2" name="Rectangle 173"/>
            <p:cNvSpPr>
              <a:spLocks noChangeArrowheads="1"/>
            </p:cNvSpPr>
            <p:nvPr/>
          </p:nvSpPr>
          <p:spPr bwMode="auto">
            <a:xfrm>
              <a:off x="5327373" y="2781627"/>
              <a:ext cx="5048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3" name="Rectangle 173"/>
            <p:cNvSpPr>
              <a:spLocks noChangeArrowheads="1"/>
            </p:cNvSpPr>
            <p:nvPr/>
          </p:nvSpPr>
          <p:spPr bwMode="auto">
            <a:xfrm>
              <a:off x="6063973" y="2781627"/>
              <a:ext cx="503237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4" name="Rectangle 173"/>
            <p:cNvSpPr>
              <a:spLocks noChangeArrowheads="1"/>
            </p:cNvSpPr>
            <p:nvPr/>
          </p:nvSpPr>
          <p:spPr bwMode="auto">
            <a:xfrm>
              <a:off x="6800573" y="2781627"/>
              <a:ext cx="503237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cxnSp>
          <p:nvCxnSpPr>
            <p:cNvPr id="15" name="直接箭头连接符 12"/>
            <p:cNvCxnSpPr>
              <a:cxnSpLocks noChangeShapeType="1"/>
              <a:endCxn id="10" idx="0"/>
            </p:cNvCxnSpPr>
            <p:nvPr/>
          </p:nvCxnSpPr>
          <p:spPr bwMode="auto">
            <a:xfrm flipH="1">
              <a:off x="6052860" y="1486227"/>
              <a:ext cx="409575" cy="36036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箭头连接符 13"/>
            <p:cNvCxnSpPr>
              <a:cxnSpLocks noChangeShapeType="1"/>
              <a:endCxn id="11" idx="0"/>
            </p:cNvCxnSpPr>
            <p:nvPr/>
          </p:nvCxnSpPr>
          <p:spPr bwMode="auto">
            <a:xfrm>
              <a:off x="6749773" y="1486227"/>
              <a:ext cx="635000" cy="36036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箭头连接符 16"/>
            <p:cNvCxnSpPr>
              <a:cxnSpLocks noChangeShapeType="1"/>
              <a:endCxn id="26" idx="0"/>
            </p:cNvCxnSpPr>
            <p:nvPr/>
          </p:nvCxnSpPr>
          <p:spPr bwMode="auto">
            <a:xfrm>
              <a:off x="7576860" y="2278390"/>
              <a:ext cx="252413" cy="5746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箭头连接符 22"/>
            <p:cNvCxnSpPr>
              <a:cxnSpLocks noChangeShapeType="1"/>
              <a:endCxn id="12" idx="0"/>
            </p:cNvCxnSpPr>
            <p:nvPr/>
          </p:nvCxnSpPr>
          <p:spPr bwMode="auto">
            <a:xfrm flipH="1">
              <a:off x="5579785" y="2278390"/>
              <a:ext cx="233363" cy="5032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箭头连接符 31"/>
            <p:cNvCxnSpPr>
              <a:cxnSpLocks noChangeShapeType="1"/>
            </p:cNvCxnSpPr>
            <p:nvPr/>
          </p:nvCxnSpPr>
          <p:spPr bwMode="auto">
            <a:xfrm>
              <a:off x="6246535" y="2278390"/>
              <a:ext cx="90488" cy="5238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箭头连接符 33"/>
            <p:cNvCxnSpPr>
              <a:cxnSpLocks noChangeShapeType="1"/>
            </p:cNvCxnSpPr>
            <p:nvPr/>
          </p:nvCxnSpPr>
          <p:spPr bwMode="auto">
            <a:xfrm flipH="1">
              <a:off x="7065685" y="2278390"/>
              <a:ext cx="150813" cy="51276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箭头连接符 22"/>
            <p:cNvCxnSpPr>
              <a:cxnSpLocks noChangeShapeType="1"/>
            </p:cNvCxnSpPr>
            <p:nvPr/>
          </p:nvCxnSpPr>
          <p:spPr bwMode="auto">
            <a:xfrm>
              <a:off x="5670273" y="3215015"/>
              <a:ext cx="144462" cy="2873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22"/>
            <p:cNvCxnSpPr>
              <a:cxnSpLocks noChangeShapeType="1"/>
              <a:endCxn id="29" idx="0"/>
            </p:cNvCxnSpPr>
            <p:nvPr/>
          </p:nvCxnSpPr>
          <p:spPr bwMode="auto">
            <a:xfrm>
              <a:off x="6292573" y="3207077"/>
              <a:ext cx="92075" cy="27622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直接箭头连接符 22"/>
            <p:cNvCxnSpPr>
              <a:cxnSpLocks noChangeShapeType="1"/>
            </p:cNvCxnSpPr>
            <p:nvPr/>
          </p:nvCxnSpPr>
          <p:spPr bwMode="auto">
            <a:xfrm>
              <a:off x="7038698" y="3186440"/>
              <a:ext cx="0" cy="31591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22"/>
            <p:cNvCxnSpPr>
              <a:cxnSpLocks noChangeShapeType="1"/>
              <a:endCxn id="25" idx="0"/>
            </p:cNvCxnSpPr>
            <p:nvPr/>
          </p:nvCxnSpPr>
          <p:spPr bwMode="auto">
            <a:xfrm flipH="1">
              <a:off x="5163860" y="3215015"/>
              <a:ext cx="290513" cy="26828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73"/>
            <p:cNvSpPr>
              <a:spLocks noChangeArrowheads="1"/>
            </p:cNvSpPr>
            <p:nvPr/>
          </p:nvSpPr>
          <p:spPr bwMode="auto">
            <a:xfrm>
              <a:off x="4913035" y="3483302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6" name="Rectangle 173"/>
            <p:cNvSpPr>
              <a:spLocks noChangeArrowheads="1"/>
            </p:cNvSpPr>
            <p:nvPr/>
          </p:nvSpPr>
          <p:spPr bwMode="auto">
            <a:xfrm>
              <a:off x="7576860" y="2853065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27" name="Rectangle 173"/>
            <p:cNvSpPr>
              <a:spLocks noChangeArrowheads="1"/>
            </p:cNvSpPr>
            <p:nvPr/>
          </p:nvSpPr>
          <p:spPr bwMode="auto">
            <a:xfrm>
              <a:off x="6794223" y="3488065"/>
              <a:ext cx="503237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28" name="Rectangle 173"/>
            <p:cNvSpPr>
              <a:spLocks noChangeArrowheads="1"/>
            </p:cNvSpPr>
            <p:nvPr/>
          </p:nvSpPr>
          <p:spPr bwMode="auto">
            <a:xfrm>
              <a:off x="5522635" y="3483302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9" name="Rectangle 173"/>
            <p:cNvSpPr>
              <a:spLocks noChangeArrowheads="1"/>
            </p:cNvSpPr>
            <p:nvPr/>
          </p:nvSpPr>
          <p:spPr bwMode="auto">
            <a:xfrm>
              <a:off x="6133823" y="3483302"/>
              <a:ext cx="503237" cy="28733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4437530" y="4116180"/>
            <a:ext cx="3684845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可以有不止一个</a:t>
            </a:r>
            <a:r>
              <a:rPr lang="zh-CN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zh-CN" altLang="zh-CN" sz="1600" b="1" kern="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b="1" kern="5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200"/>
              </a:lnSpc>
            </a:pPr>
            <a:r>
              <a:rPr lang="zh-CN" altLang="zh-CN" sz="1600" b="1" kern="5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从根</a:t>
            </a:r>
            <a:r>
              <a:rPr lang="en-US" altLang="zh-CN" sz="1600" b="1" kern="5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5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zh-CN" sz="1600" b="1" kern="5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向下</a:t>
            </a:r>
            <a:r>
              <a:rPr lang="zh-CN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的所有链接都称为</a:t>
            </a:r>
            <a:r>
              <a:rPr lang="zh-CN" altLang="zh-CN" sz="1600" b="1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信任</a:t>
            </a:r>
            <a:r>
              <a:rPr lang="zh-CN" altLang="zh-CN" sz="1600" b="1" kern="5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链</a:t>
            </a:r>
            <a:r>
              <a:rPr lang="zh-CN" altLang="zh-CN" sz="1600" b="1" kern="5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  <p:cxnSp>
        <p:nvCxnSpPr>
          <p:cNvPr id="7" name="直接箭头连接符 6"/>
          <p:cNvCxnSpPr>
            <a:endCxn id="11" idx="0"/>
          </p:cNvCxnSpPr>
          <p:nvPr/>
        </p:nvCxnSpPr>
        <p:spPr>
          <a:xfrm>
            <a:off x="6566963" y="1487535"/>
            <a:ext cx="619125" cy="3603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26" idx="0"/>
          </p:cNvCxnSpPr>
          <p:nvPr/>
        </p:nvCxnSpPr>
        <p:spPr>
          <a:xfrm>
            <a:off x="7401194" y="2272721"/>
            <a:ext cx="228600" cy="5816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076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504633" y="952671"/>
            <a:ext cx="8133857" cy="291111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872834" y="3857240"/>
            <a:ext cx="7287979" cy="759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600" eaLnBrk="0" hangingPunct="0">
              <a:lnSpc>
                <a:spcPts val="2600"/>
              </a:lnSpc>
              <a:buClr>
                <a:srgbClr val="0070C0"/>
              </a:buClr>
            </a:pP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与信任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链对应的是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链</a:t>
            </a: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600" eaLnBrk="0" hangingPunct="0">
              <a:lnSpc>
                <a:spcPts val="26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最顶层的根证书的数字签名是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签名的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即自己的私钥给自己签名）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证书链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5909007" y="3327016"/>
            <a:ext cx="1295400" cy="284162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8"/>
          <p:cNvSpPr txBox="1">
            <a:spLocks noChangeArrowheads="1"/>
          </p:cNvSpPr>
          <p:nvPr/>
        </p:nvSpPr>
        <p:spPr bwMode="auto">
          <a:xfrm>
            <a:off x="2033165" y="1060264"/>
            <a:ext cx="9366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根证书</a:t>
            </a:r>
          </a:p>
        </p:txBody>
      </p:sp>
      <p:sp>
        <p:nvSpPr>
          <p:cNvPr id="34" name="TextBox 63"/>
          <p:cNvSpPr txBox="1">
            <a:spLocks noChangeArrowheads="1"/>
          </p:cNvSpPr>
          <p:nvPr/>
        </p:nvSpPr>
        <p:spPr bwMode="auto">
          <a:xfrm>
            <a:off x="3020143" y="2857116"/>
            <a:ext cx="543739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35" name="TextBox 8"/>
          <p:cNvSpPr txBox="1">
            <a:spLocks noChangeArrowheads="1"/>
          </p:cNvSpPr>
          <p:nvPr/>
        </p:nvSpPr>
        <p:spPr bwMode="auto">
          <a:xfrm>
            <a:off x="5247019" y="1669666"/>
            <a:ext cx="9223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签发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66"/>
          <p:cNvSpPr txBox="1">
            <a:spLocks noChangeArrowheads="1"/>
          </p:cNvSpPr>
          <p:nvPr/>
        </p:nvSpPr>
        <p:spPr bwMode="auto">
          <a:xfrm>
            <a:off x="5877256" y="3322253"/>
            <a:ext cx="13668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68"/>
          <p:cNvSpPr txBox="1">
            <a:spLocks noChangeArrowheads="1"/>
          </p:cNvSpPr>
          <p:nvPr/>
        </p:nvSpPr>
        <p:spPr bwMode="auto">
          <a:xfrm>
            <a:off x="6270957" y="2657091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62"/>
          <p:cNvSpPr>
            <a:spLocks noChangeArrowheads="1"/>
          </p:cNvSpPr>
          <p:nvPr/>
        </p:nvSpPr>
        <p:spPr bwMode="auto">
          <a:xfrm>
            <a:off x="5909007" y="2490403"/>
            <a:ext cx="1290637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64"/>
          <p:cNvCxnSpPr>
            <a:cxnSpLocks noChangeShapeType="1"/>
          </p:cNvCxnSpPr>
          <p:nvPr/>
        </p:nvCxnSpPr>
        <p:spPr bwMode="auto">
          <a:xfrm>
            <a:off x="5902657" y="2987291"/>
            <a:ext cx="12922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8"/>
          <p:cNvSpPr txBox="1">
            <a:spLocks noChangeArrowheads="1"/>
          </p:cNvSpPr>
          <p:nvPr/>
        </p:nvSpPr>
        <p:spPr bwMode="auto">
          <a:xfrm>
            <a:off x="5842424" y="2487228"/>
            <a:ext cx="14652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用户名：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</a:p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签发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7"/>
          <p:cNvSpPr>
            <a:spLocks noChangeArrowheads="1"/>
          </p:cNvSpPr>
          <p:nvPr/>
        </p:nvSpPr>
        <p:spPr bwMode="auto">
          <a:xfrm>
            <a:off x="5867732" y="2441191"/>
            <a:ext cx="1376362" cy="12096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73"/>
          <p:cNvSpPr txBox="1"/>
          <p:nvPr/>
        </p:nvSpPr>
        <p:spPr>
          <a:xfrm>
            <a:off x="3626182" y="2666616"/>
            <a:ext cx="1552575" cy="307777"/>
          </a:xfrm>
          <a:prstGeom prst="rect">
            <a:avLst/>
          </a:prstGeom>
          <a:solidFill>
            <a:srgbClr val="66FF66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</a:p>
        </p:txBody>
      </p:sp>
      <p:sp>
        <p:nvSpPr>
          <p:cNvPr id="44" name="TextBox 68"/>
          <p:cNvSpPr txBox="1">
            <a:spLocks noChangeArrowheads="1"/>
          </p:cNvSpPr>
          <p:nvPr/>
        </p:nvSpPr>
        <p:spPr bwMode="auto">
          <a:xfrm>
            <a:off x="3986544" y="2033203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62"/>
          <p:cNvSpPr>
            <a:spLocks noChangeArrowheads="1"/>
          </p:cNvSpPr>
          <p:nvPr/>
        </p:nvSpPr>
        <p:spPr bwMode="auto">
          <a:xfrm>
            <a:off x="3624594" y="1866516"/>
            <a:ext cx="1547813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64"/>
          <p:cNvCxnSpPr>
            <a:cxnSpLocks noChangeShapeType="1"/>
          </p:cNvCxnSpPr>
          <p:nvPr/>
        </p:nvCxnSpPr>
        <p:spPr bwMode="auto">
          <a:xfrm flipV="1">
            <a:off x="3627769" y="2395153"/>
            <a:ext cx="1547813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8"/>
          <p:cNvSpPr txBox="1">
            <a:spLocks noChangeArrowheads="1"/>
          </p:cNvSpPr>
          <p:nvPr/>
        </p:nvSpPr>
        <p:spPr bwMode="auto">
          <a:xfrm>
            <a:off x="3584907" y="1863341"/>
            <a:ext cx="1633537" cy="823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签发</a:t>
            </a:r>
            <a:endParaRPr lang="zh-CN" altLang="en-US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3581732" y="1817303"/>
            <a:ext cx="1636712" cy="12207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59"/>
          <p:cNvSpPr txBox="1"/>
          <p:nvPr/>
        </p:nvSpPr>
        <p:spPr>
          <a:xfrm>
            <a:off x="1764044" y="1893503"/>
            <a:ext cx="1192213" cy="307777"/>
          </a:xfrm>
          <a:prstGeom prst="rect">
            <a:avLst/>
          </a:prstGeom>
          <a:solidFill>
            <a:srgbClr val="66FF66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</a:p>
        </p:txBody>
      </p:sp>
      <p:sp>
        <p:nvSpPr>
          <p:cNvPr id="50" name="TextBox 68"/>
          <p:cNvSpPr txBox="1">
            <a:spLocks noChangeArrowheads="1"/>
          </p:cNvSpPr>
          <p:nvPr/>
        </p:nvSpPr>
        <p:spPr bwMode="auto">
          <a:xfrm>
            <a:off x="2124407" y="1547428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62"/>
          <p:cNvSpPr>
            <a:spLocks noChangeArrowheads="1"/>
          </p:cNvSpPr>
          <p:nvPr/>
        </p:nvSpPr>
        <p:spPr bwMode="auto">
          <a:xfrm>
            <a:off x="1762457" y="1380741"/>
            <a:ext cx="1193800" cy="4810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8"/>
          <p:cNvSpPr txBox="1">
            <a:spLocks noChangeArrowheads="1"/>
          </p:cNvSpPr>
          <p:nvPr/>
        </p:nvSpPr>
        <p:spPr bwMode="auto">
          <a:xfrm>
            <a:off x="1646569" y="1355341"/>
            <a:ext cx="1417638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</a:p>
          <a:p>
            <a:pPr algn="ctr" eaLnBrk="1" hangingPunct="1">
              <a:lnSpc>
                <a:spcPts val="17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47"/>
          <p:cNvSpPr>
            <a:spLocks noChangeArrowheads="1"/>
          </p:cNvSpPr>
          <p:nvPr/>
        </p:nvSpPr>
        <p:spPr bwMode="auto">
          <a:xfrm>
            <a:off x="1719594" y="1331528"/>
            <a:ext cx="1285875" cy="9366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连接符 67"/>
          <p:cNvCxnSpPr>
            <a:cxnSpLocks noChangeShapeType="1"/>
          </p:cNvCxnSpPr>
          <p:nvPr/>
        </p:nvCxnSpPr>
        <p:spPr bwMode="auto">
          <a:xfrm>
            <a:off x="1771982" y="1618866"/>
            <a:ext cx="1177925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0"/>
          <p:cNvCxnSpPr>
            <a:cxnSpLocks noChangeShapeType="1"/>
          </p:cNvCxnSpPr>
          <p:nvPr/>
        </p:nvCxnSpPr>
        <p:spPr bwMode="auto">
          <a:xfrm flipV="1">
            <a:off x="3634119" y="2134803"/>
            <a:ext cx="1531938" cy="95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72"/>
          <p:cNvCxnSpPr>
            <a:cxnSpLocks noChangeShapeType="1"/>
          </p:cNvCxnSpPr>
          <p:nvPr/>
        </p:nvCxnSpPr>
        <p:spPr bwMode="auto">
          <a:xfrm>
            <a:off x="5910594" y="2726941"/>
            <a:ext cx="1284288" cy="47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TextBox 8"/>
          <p:cNvSpPr txBox="1">
            <a:spLocks noChangeArrowheads="1"/>
          </p:cNvSpPr>
          <p:nvPr/>
        </p:nvSpPr>
        <p:spPr bwMode="auto">
          <a:xfrm>
            <a:off x="5894953" y="2152266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的证书</a:t>
            </a:r>
          </a:p>
        </p:txBody>
      </p:sp>
      <p:sp>
        <p:nvSpPr>
          <p:cNvPr id="58" name="TextBox 8"/>
          <p:cNvSpPr txBox="1">
            <a:spLocks noChangeArrowheads="1"/>
          </p:cNvSpPr>
          <p:nvPr/>
        </p:nvSpPr>
        <p:spPr bwMode="auto">
          <a:xfrm>
            <a:off x="3616712" y="1518942"/>
            <a:ext cx="18002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的证书</a:t>
            </a:r>
          </a:p>
        </p:txBody>
      </p:sp>
      <p:sp>
        <p:nvSpPr>
          <p:cNvPr id="59" name="任意多边形 89"/>
          <p:cNvSpPr>
            <a:spLocks/>
          </p:cNvSpPr>
          <p:nvPr/>
        </p:nvSpPr>
        <p:spPr bwMode="auto">
          <a:xfrm>
            <a:off x="2949907" y="1739516"/>
            <a:ext cx="712787" cy="1104900"/>
          </a:xfrm>
          <a:custGeom>
            <a:avLst/>
            <a:gdLst>
              <a:gd name="T0" fmla="*/ 0 w 670560"/>
              <a:gd name="T1" fmla="*/ 0 h 1004389"/>
              <a:gd name="T2" fmla="*/ 137036 w 670560"/>
              <a:gd name="T3" fmla="*/ 0 h 1004389"/>
              <a:gd name="T4" fmla="*/ 140741 w 670560"/>
              <a:gd name="T5" fmla="*/ 1467343 h 1004389"/>
              <a:gd name="T6" fmla="*/ 855551 w 670560"/>
              <a:gd name="T7" fmla="*/ 1471597 h 1004389"/>
              <a:gd name="T8" fmla="*/ 0 60000 65536"/>
              <a:gd name="T9" fmla="*/ 0 60000 65536"/>
              <a:gd name="T10" fmla="*/ 0 60000 65536"/>
              <a:gd name="T11" fmla="*/ 0 60000 65536"/>
              <a:gd name="T12" fmla="*/ 0 w 670560"/>
              <a:gd name="T13" fmla="*/ 0 h 1004389"/>
              <a:gd name="T14" fmla="*/ 670560 w 670560"/>
              <a:gd name="T15" fmla="*/ 1004389 h 10043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0560" h="1004389">
                <a:moveTo>
                  <a:pt x="0" y="0"/>
                </a:moveTo>
                <a:lnTo>
                  <a:pt x="107406" y="0"/>
                </a:lnTo>
                <a:cubicBezTo>
                  <a:pt x="108374" y="333829"/>
                  <a:pt x="109341" y="667657"/>
                  <a:pt x="110309" y="1001486"/>
                </a:cubicBezTo>
                <a:lnTo>
                  <a:pt x="670560" y="1004389"/>
                </a:ln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任意多边形 90"/>
          <p:cNvSpPr>
            <a:spLocks/>
          </p:cNvSpPr>
          <p:nvPr/>
        </p:nvSpPr>
        <p:spPr bwMode="auto">
          <a:xfrm>
            <a:off x="5173994" y="2261803"/>
            <a:ext cx="771525" cy="1206500"/>
          </a:xfrm>
          <a:custGeom>
            <a:avLst/>
            <a:gdLst>
              <a:gd name="T0" fmla="*/ 0 w 670560"/>
              <a:gd name="T1" fmla="*/ 0 h 1004389"/>
              <a:gd name="T2" fmla="*/ 188205 w 670560"/>
              <a:gd name="T3" fmla="*/ 0 h 1004389"/>
              <a:gd name="T4" fmla="*/ 193293 w 670560"/>
              <a:gd name="T5" fmla="*/ 2085870 h 1004389"/>
              <a:gd name="T6" fmla="*/ 1175012 w 670560"/>
              <a:gd name="T7" fmla="*/ 2091915 h 1004389"/>
              <a:gd name="T8" fmla="*/ 0 60000 65536"/>
              <a:gd name="T9" fmla="*/ 0 60000 65536"/>
              <a:gd name="T10" fmla="*/ 0 60000 65536"/>
              <a:gd name="T11" fmla="*/ 0 60000 65536"/>
              <a:gd name="T12" fmla="*/ 0 w 670560"/>
              <a:gd name="T13" fmla="*/ 0 h 1004389"/>
              <a:gd name="T14" fmla="*/ 670560 w 670560"/>
              <a:gd name="T15" fmla="*/ 1004389 h 10043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0560" h="1004389">
                <a:moveTo>
                  <a:pt x="0" y="0"/>
                </a:moveTo>
                <a:lnTo>
                  <a:pt x="107406" y="0"/>
                </a:lnTo>
                <a:cubicBezTo>
                  <a:pt x="108374" y="333829"/>
                  <a:pt x="109341" y="667657"/>
                  <a:pt x="110309" y="1001486"/>
                </a:cubicBezTo>
                <a:lnTo>
                  <a:pt x="670560" y="1004389"/>
                </a:ln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3"/>
          <p:cNvSpPr txBox="1">
            <a:spLocks noChangeArrowheads="1"/>
          </p:cNvSpPr>
          <p:nvPr/>
        </p:nvSpPr>
        <p:spPr bwMode="auto">
          <a:xfrm>
            <a:off x="5344243" y="3469891"/>
            <a:ext cx="543739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62" name="任意多边形 94"/>
          <p:cNvSpPr>
            <a:spLocks/>
          </p:cNvSpPr>
          <p:nvPr/>
        </p:nvSpPr>
        <p:spPr bwMode="auto">
          <a:xfrm>
            <a:off x="5172407" y="2006216"/>
            <a:ext cx="722312" cy="1127125"/>
          </a:xfrm>
          <a:custGeom>
            <a:avLst/>
            <a:gdLst>
              <a:gd name="T0" fmla="*/ 0 w 766293"/>
              <a:gd name="T1" fmla="*/ 0 h 1126902"/>
              <a:gd name="T2" fmla="*/ 737949 w 766293"/>
              <a:gd name="T3" fmla="*/ 0 h 1126902"/>
              <a:gd name="T4" fmla="*/ 727556 w 766293"/>
              <a:gd name="T5" fmla="*/ 1127571 h 1126902"/>
              <a:gd name="T6" fmla="*/ 1236845 w 766293"/>
              <a:gd name="T7" fmla="*/ 1127571 h 1126902"/>
              <a:gd name="T8" fmla="*/ 0 60000 65536"/>
              <a:gd name="T9" fmla="*/ 0 60000 65536"/>
              <a:gd name="T10" fmla="*/ 0 60000 65536"/>
              <a:gd name="T11" fmla="*/ 0 60000 65536"/>
              <a:gd name="T12" fmla="*/ 0 w 766293"/>
              <a:gd name="T13" fmla="*/ 0 h 1126902"/>
              <a:gd name="T14" fmla="*/ 766293 w 766293"/>
              <a:gd name="T15" fmla="*/ 1126902 h 11269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6293" h="1126902">
                <a:moveTo>
                  <a:pt x="0" y="0"/>
                </a:moveTo>
                <a:lnTo>
                  <a:pt x="457200" y="0"/>
                </a:lnTo>
                <a:cubicBezTo>
                  <a:pt x="455054" y="375634"/>
                  <a:pt x="452907" y="751268"/>
                  <a:pt x="450761" y="1126902"/>
                </a:cubicBezTo>
                <a:lnTo>
                  <a:pt x="766293" y="1126902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任意多边形 97"/>
          <p:cNvSpPr>
            <a:spLocks/>
          </p:cNvSpPr>
          <p:nvPr/>
        </p:nvSpPr>
        <p:spPr bwMode="auto">
          <a:xfrm>
            <a:off x="2956257" y="1504566"/>
            <a:ext cx="671512" cy="998537"/>
          </a:xfrm>
          <a:custGeom>
            <a:avLst/>
            <a:gdLst>
              <a:gd name="T0" fmla="*/ 0 w 798490"/>
              <a:gd name="T1" fmla="*/ 0 h 907960"/>
              <a:gd name="T2" fmla="*/ 487025 w 798490"/>
              <a:gd name="T3" fmla="*/ 0 h 907960"/>
              <a:gd name="T4" fmla="*/ 493982 w 798490"/>
              <a:gd name="T5" fmla="*/ 1327614 h 907960"/>
              <a:gd name="T6" fmla="*/ 862729 w 798490"/>
              <a:gd name="T7" fmla="*/ 1327614 h 907960"/>
              <a:gd name="T8" fmla="*/ 0 60000 65536"/>
              <a:gd name="T9" fmla="*/ 0 60000 65536"/>
              <a:gd name="T10" fmla="*/ 0 60000 65536"/>
              <a:gd name="T11" fmla="*/ 0 60000 65536"/>
              <a:gd name="T12" fmla="*/ 0 w 798490"/>
              <a:gd name="T13" fmla="*/ 0 h 907960"/>
              <a:gd name="T14" fmla="*/ 798490 w 798490"/>
              <a:gd name="T15" fmla="*/ 907960 h 907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8490" h="907960">
                <a:moveTo>
                  <a:pt x="0" y="0"/>
                </a:moveTo>
                <a:lnTo>
                  <a:pt x="450761" y="0"/>
                </a:lnTo>
                <a:cubicBezTo>
                  <a:pt x="452907" y="302653"/>
                  <a:pt x="455054" y="605307"/>
                  <a:pt x="457200" y="907960"/>
                </a:cubicBezTo>
                <a:lnTo>
                  <a:pt x="798490" y="90796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8"/>
          <p:cNvSpPr txBox="1">
            <a:spLocks noChangeArrowheads="1"/>
          </p:cNvSpPr>
          <p:nvPr/>
        </p:nvSpPr>
        <p:spPr bwMode="auto">
          <a:xfrm>
            <a:off x="2984832" y="1175953"/>
            <a:ext cx="9239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签发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</p:spTree>
    <p:extLst>
      <p:ext uri="{BB962C8B-B14F-4D97-AF65-F5344CB8AC3E}">
        <p14:creationId xmlns:p14="http://schemas.microsoft.com/office/powerpoint/2010/main" val="129758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27206"/>
            <a:ext cx="8242640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证书不是永久有效，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它可以过期，也可以被撤销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每一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个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应当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有一个公布于众的、用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本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私钥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签名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撤销名单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，并定期更新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很多原因导致证书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被撤销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，例如：</a:t>
            </a: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用户私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钥被盗或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遗失。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用户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不再被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该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认证。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签署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用户证书的私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钥被泄漏。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7028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证书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撤销与更新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474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45144" y="1004355"/>
            <a:ext cx="8168550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DH 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密钥交换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DHKE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</a:rPr>
              <a:t>Diffie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-Hellman Key Exchange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，即迪菲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赫尔曼密钥交换，利用数学上的单向函数，可以在不安全的信道上，在不使用密钥分发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中心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条件下，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双方安全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地产生出一个共享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密钥。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DH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密钥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交换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广泛用于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等协议中。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45144" y="611484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52384" y="569213"/>
            <a:ext cx="28392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7.4.3  DH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密钥交换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DH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密钥交换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970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圆角矩形 68"/>
          <p:cNvSpPr/>
          <p:nvPr/>
        </p:nvSpPr>
        <p:spPr>
          <a:xfrm>
            <a:off x="0" y="572992"/>
            <a:ext cx="9109064" cy="465594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9EAF8CEA-1389-4D6A-A663-D3E5B75D65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3157" y="2559275"/>
            <a:ext cx="533401" cy="1166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7" name="Line 2">
            <a:extLst>
              <a:ext uri="{FF2B5EF4-FFF2-40B4-BE49-F238E27FC236}">
                <a16:creationId xmlns:a16="http://schemas.microsoft.com/office/drawing/2014/main" id="{AE67C218-AB55-4849-9532-5F435FB04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3028143"/>
            <a:ext cx="0" cy="3810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B0BF9D68-4D49-480F-8630-77FA650541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94743"/>
            <a:ext cx="3810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9A50035A-2B25-4E70-9A2E-75CBD0A2D116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32943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7">
            <a:extLst>
              <a:ext uri="{FF2B5EF4-FFF2-40B4-BE49-F238E27FC236}">
                <a16:creationId xmlns:a16="http://schemas.microsoft.com/office/drawing/2014/main" id="{692F3CD1-9D73-4500-A725-03B8AF2FC14E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72992"/>
            <a:ext cx="3810000" cy="1524000"/>
            <a:chOff x="1536" y="576"/>
            <a:chExt cx="2400" cy="960"/>
          </a:xfrm>
        </p:grpSpPr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53F4EFCA-212B-4369-91A7-57B994837A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576"/>
              <a:ext cx="2400" cy="960"/>
              <a:chOff x="1536" y="576"/>
              <a:chExt cx="2400" cy="960"/>
            </a:xfrm>
          </p:grpSpPr>
          <p:pic>
            <p:nvPicPr>
              <p:cNvPr id="14" name="Picture 9">
                <a:extLst>
                  <a:ext uri="{FF2B5EF4-FFF2-40B4-BE49-F238E27FC236}">
                    <a16:creationId xmlns:a16="http://schemas.microsoft.com/office/drawing/2014/main" id="{A83957B2-612A-4A3F-9652-47EB335F0990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6" y="576"/>
                <a:ext cx="2400" cy="9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5" name="Picture 10">
                <a:extLst>
                  <a:ext uri="{FF2B5EF4-FFF2-40B4-BE49-F238E27FC236}">
                    <a16:creationId xmlns:a16="http://schemas.microsoft.com/office/drawing/2014/main" id="{AB51BF20-14EB-4C1E-ACBD-F4CE57502075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6" y="960"/>
                <a:ext cx="38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6" name="Picture 11">
                <a:extLst>
                  <a:ext uri="{FF2B5EF4-FFF2-40B4-BE49-F238E27FC236}">
                    <a16:creationId xmlns:a16="http://schemas.microsoft.com/office/drawing/2014/main" id="{F74F8CA1-AAB4-42A7-AD43-43C7C557039F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52" y="960"/>
                <a:ext cx="38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77A32B8F-5275-45C9-9BF8-EC5BAEA32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0" y="971"/>
              <a:ext cx="76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1600" dirty="0"/>
                <a:t>互联网</a:t>
              </a:r>
              <a:endParaRPr lang="en-US" altLang="zh-CN" sz="1600" dirty="0"/>
            </a:p>
          </p:txBody>
        </p:sp>
      </p:grpSp>
      <p:sp>
        <p:nvSpPr>
          <p:cNvPr id="18" name="Text Box 14">
            <a:extLst>
              <a:ext uri="{FF2B5EF4-FFF2-40B4-BE49-F238E27FC236}">
                <a16:creationId xmlns:a16="http://schemas.microsoft.com/office/drawing/2014/main" id="{3573877B-5066-4B5B-B5E7-C0EC3A16D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313488"/>
            <a:ext cx="5638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 smtClean="0"/>
              <a:t>A</a:t>
            </a:r>
            <a:r>
              <a:rPr lang="zh-CN" altLang="en-US" sz="1200" dirty="0" smtClean="0"/>
              <a:t>和</a:t>
            </a:r>
            <a:r>
              <a:rPr lang="en-US" altLang="zh-CN" sz="1200" dirty="0" smtClean="0"/>
              <a:t>B</a:t>
            </a:r>
            <a:r>
              <a:rPr lang="zh-CN" altLang="en-US" sz="1200" dirty="0" smtClean="0"/>
              <a:t>共同约定两个公开的数，                                     </a:t>
            </a:r>
            <a:r>
              <a:rPr lang="zh-CN" altLang="en-US" sz="1200" dirty="0"/>
              <a:t>非常大的</a:t>
            </a:r>
            <a:r>
              <a:rPr lang="zh-CN" altLang="en-US" sz="1200" dirty="0" smtClean="0"/>
              <a:t>素数</a:t>
            </a:r>
            <a:r>
              <a:rPr lang="en-US" altLang="zh-CN" sz="1800" i="1" dirty="0" smtClean="0">
                <a:solidFill>
                  <a:schemeClr val="hlink"/>
                </a:solidFill>
              </a:rPr>
              <a:t>p</a:t>
            </a:r>
            <a:r>
              <a:rPr lang="zh-CN" altLang="en-US" sz="1200" dirty="0" smtClean="0"/>
              <a:t>和一个小整数</a:t>
            </a:r>
            <a:r>
              <a:rPr lang="en-US" altLang="zh-CN" sz="1800" i="1" dirty="0">
                <a:solidFill>
                  <a:schemeClr val="hlink"/>
                </a:solidFill>
              </a:rPr>
              <a:t>g</a:t>
            </a: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C847C427-030F-4959-A7E2-9B42EA9E6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3637743"/>
            <a:ext cx="6324600" cy="0"/>
          </a:xfrm>
          <a:prstGeom prst="line">
            <a:avLst/>
          </a:prstGeom>
          <a:noFill/>
          <a:ln w="38100">
            <a:solidFill>
              <a:srgbClr val="996633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000795C5-A80B-4A2D-BCC5-01412B659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3028143"/>
            <a:ext cx="609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2FE336AC-0053-4959-89A8-E7C02F053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028143"/>
            <a:ext cx="4572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F4051D9D-13FB-4543-9A5A-BF775C217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494743"/>
            <a:ext cx="0" cy="5334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2C6AB7BA-588B-4FD5-A56D-AF90C4785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502" y="2342343"/>
            <a:ext cx="1620098" cy="3385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/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sz="1600" dirty="0" smtClean="0"/>
              <a:t>计算 </a:t>
            </a:r>
            <a:r>
              <a:rPr lang="en-US" altLang="zh-CN" sz="1600" i="1" dirty="0" smtClean="0"/>
              <a:t>X </a:t>
            </a:r>
            <a:r>
              <a:rPr lang="en-US" altLang="zh-CN" sz="1600" dirty="0" smtClean="0"/>
              <a:t>= </a:t>
            </a:r>
            <a:r>
              <a:rPr lang="en-US" altLang="zh-CN" sz="1600" i="1" dirty="0" err="1" smtClean="0"/>
              <a:t>g</a:t>
            </a:r>
            <a:r>
              <a:rPr lang="en-US" altLang="zh-CN" sz="1600" i="1" baseline="30000" dirty="0" err="1" smtClean="0">
                <a:solidFill>
                  <a:schemeClr val="tx2"/>
                </a:solidFill>
              </a:rPr>
              <a:t>a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mod </a:t>
            </a:r>
            <a:r>
              <a:rPr lang="en-US" altLang="zh-CN" sz="1600" i="1" dirty="0" smtClean="0"/>
              <a:t>p</a:t>
            </a:r>
            <a:endParaRPr lang="en-US" altLang="zh-CN" sz="1600" b="1" i="1" dirty="0">
              <a:solidFill>
                <a:schemeClr val="hlink"/>
              </a:solidFill>
            </a:endParaRPr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049B340B-24ED-43C8-9F84-83B39B65C4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3157" y="2189943"/>
            <a:ext cx="0" cy="3810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" name="Line 22">
            <a:extLst>
              <a:ext uri="{FF2B5EF4-FFF2-40B4-BE49-F238E27FC236}">
                <a16:creationId xmlns:a16="http://schemas.microsoft.com/office/drawing/2014/main" id="{27E3FE96-76C9-42B7-96DD-529B2287D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199" y="1563592"/>
            <a:ext cx="1523999" cy="93750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7" name="Line 23">
            <a:extLst>
              <a:ext uri="{FF2B5EF4-FFF2-40B4-BE49-F238E27FC236}">
                <a16:creationId xmlns:a16="http://schemas.microsoft.com/office/drawing/2014/main" id="{3442585E-1976-476F-8672-379F8B06B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2494743"/>
            <a:ext cx="0" cy="7620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" name="Line 24">
            <a:extLst>
              <a:ext uri="{FF2B5EF4-FFF2-40B4-BE49-F238E27FC236}">
                <a16:creationId xmlns:a16="http://schemas.microsoft.com/office/drawing/2014/main" id="{A5B50349-AD4A-4DDE-80B8-E7FF8415A4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1563592"/>
            <a:ext cx="685800" cy="609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grpSp>
        <p:nvGrpSpPr>
          <p:cNvPr id="29" name="Group 25">
            <a:extLst>
              <a:ext uri="{FF2B5EF4-FFF2-40B4-BE49-F238E27FC236}">
                <a16:creationId xmlns:a16="http://schemas.microsoft.com/office/drawing/2014/main" id="{65073E55-9F99-43BE-9DE1-7C733BBDE248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563594"/>
            <a:ext cx="2971800" cy="338138"/>
            <a:chOff x="1872" y="1056"/>
            <a:chExt cx="1728" cy="21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92235AC3-40E1-4283-9887-8E84A59EF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056"/>
              <a:ext cx="1728" cy="0"/>
            </a:xfrm>
            <a:prstGeom prst="line">
              <a:avLst/>
            </a:prstGeom>
            <a:grp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Text Box 27">
              <a:extLst>
                <a:ext uri="{FF2B5EF4-FFF2-40B4-BE49-F238E27FC236}">
                  <a16:creationId xmlns:a16="http://schemas.microsoft.com/office/drawing/2014/main" id="{1192934B-A486-42FA-A0DB-57C05F42F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056"/>
              <a:ext cx="1104" cy="213"/>
            </a:xfrm>
            <a:prstGeom prst="rect">
              <a:avLst/>
            </a:prstGeom>
            <a:grp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1600" dirty="0" smtClean="0"/>
                <a:t>发送</a:t>
              </a:r>
              <a:r>
                <a:rPr lang="en-US" altLang="zh-CN" sz="1600" i="1" dirty="0" smtClean="0"/>
                <a:t>X </a:t>
              </a:r>
              <a:r>
                <a:rPr lang="en-US" altLang="zh-CN" sz="1600" dirty="0" smtClean="0"/>
                <a:t>= </a:t>
              </a:r>
              <a:r>
                <a:rPr lang="en-US" altLang="zh-CN" sz="1600" i="1" dirty="0" err="1" smtClean="0"/>
                <a:t>g</a:t>
              </a:r>
              <a:r>
                <a:rPr lang="en-US" altLang="zh-CN" sz="1600" i="1" baseline="30000" dirty="0" err="1" smtClean="0"/>
                <a:t>a</a:t>
              </a:r>
              <a:r>
                <a:rPr lang="en-US" altLang="zh-CN" sz="1600" dirty="0" smtClean="0"/>
                <a:t> </a:t>
              </a:r>
              <a:r>
                <a:rPr lang="en-US" altLang="zh-CN" sz="1600" dirty="0"/>
                <a:t>mod </a:t>
              </a:r>
              <a:r>
                <a:rPr lang="en-US" altLang="zh-CN" sz="1600" i="1" dirty="0" smtClean="0"/>
                <a:t>p</a:t>
              </a:r>
              <a:endParaRPr lang="en-US" altLang="zh-CN" sz="1600" b="1" i="1" dirty="0">
                <a:solidFill>
                  <a:schemeClr val="hlink"/>
                </a:solidFill>
              </a:endParaRPr>
            </a:p>
          </p:txBody>
        </p:sp>
      </p:grpSp>
      <p:pic>
        <p:nvPicPr>
          <p:cNvPr id="32" name="Picture 28">
            <a:extLst>
              <a:ext uri="{FF2B5EF4-FFF2-40B4-BE49-F238E27FC236}">
                <a16:creationId xmlns:a16="http://schemas.microsoft.com/office/drawing/2014/main" id="{DB102DAD-C5B2-4150-9A75-6A38BFDF01D3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256743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Line 29">
            <a:extLst>
              <a:ext uri="{FF2B5EF4-FFF2-40B4-BE49-F238E27FC236}">
                <a16:creationId xmlns:a16="http://schemas.microsoft.com/office/drawing/2014/main" id="{3489D903-11A1-47BF-8B66-02A29387A4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3866343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" name="Line 30">
            <a:extLst>
              <a:ext uri="{FF2B5EF4-FFF2-40B4-BE49-F238E27FC236}">
                <a16:creationId xmlns:a16="http://schemas.microsoft.com/office/drawing/2014/main" id="{EF10E9BF-3187-430A-901F-FAE1B8F42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4247343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" name="Text Box 31">
            <a:extLst>
              <a:ext uri="{FF2B5EF4-FFF2-40B4-BE49-F238E27FC236}">
                <a16:creationId xmlns:a16="http://schemas.microsoft.com/office/drawing/2014/main" id="{3E2ECCEC-89A0-4E67-ABD6-50BB467FA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018743"/>
            <a:ext cx="1600200" cy="3385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r>
              <a:rPr lang="zh-CN" altLang="en-US" sz="1200" dirty="0"/>
              <a:t>选择一个大</a:t>
            </a:r>
            <a:r>
              <a:rPr lang="zh-CN" altLang="en-US" sz="1200" dirty="0" smtClean="0"/>
              <a:t>整数 </a:t>
            </a:r>
            <a:r>
              <a:rPr lang="en-US" altLang="zh-CN" sz="1600" b="1" i="1" dirty="0">
                <a:solidFill>
                  <a:schemeClr val="hlink"/>
                </a:solidFill>
              </a:rPr>
              <a:t>b</a:t>
            </a:r>
          </a:p>
        </p:txBody>
      </p:sp>
      <p:sp>
        <p:nvSpPr>
          <p:cNvPr id="36" name="Line 32">
            <a:extLst>
              <a:ext uri="{FF2B5EF4-FFF2-40B4-BE49-F238E27FC236}">
                <a16:creationId xmlns:a16="http://schemas.microsoft.com/office/drawing/2014/main" id="{45BA5E75-2D2C-4A87-8C88-5801820D3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4247343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" name="Line 33">
            <a:extLst>
              <a:ext uri="{FF2B5EF4-FFF2-40B4-BE49-F238E27FC236}">
                <a16:creationId xmlns:a16="http://schemas.microsoft.com/office/drawing/2014/main" id="{46248B5E-7A30-4F7B-B022-40682DA18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247343"/>
            <a:ext cx="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8" name="Text Box 34">
            <a:extLst>
              <a:ext uri="{FF2B5EF4-FFF2-40B4-BE49-F238E27FC236}">
                <a16:creationId xmlns:a16="http://schemas.microsoft.com/office/drawing/2014/main" id="{1FDB8978-2A36-420A-801D-30B45EEDC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875743"/>
            <a:ext cx="1600200" cy="3385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pPr algn="ctr"/>
            <a:r>
              <a:rPr lang="zh-CN" altLang="en-US" sz="1200" dirty="0"/>
              <a:t>选择</a:t>
            </a:r>
            <a:r>
              <a:rPr lang="zh-CN" altLang="en-US" sz="1200" dirty="0" smtClean="0"/>
              <a:t>一个大整数 </a:t>
            </a:r>
            <a:r>
              <a:rPr lang="en-US" altLang="zh-CN" sz="1600" b="1" i="1" dirty="0">
                <a:solidFill>
                  <a:schemeClr val="hlink"/>
                </a:solidFill>
              </a:rPr>
              <a:t>a</a:t>
            </a:r>
          </a:p>
        </p:txBody>
      </p:sp>
      <p:sp>
        <p:nvSpPr>
          <p:cNvPr id="39" name="Text Box 35">
            <a:extLst>
              <a:ext uri="{FF2B5EF4-FFF2-40B4-BE49-F238E27FC236}">
                <a16:creationId xmlns:a16="http://schemas.microsoft.com/office/drawing/2014/main" id="{53FFBFA6-C1E1-4690-8B91-ABB4E83EE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552143"/>
            <a:ext cx="2057400" cy="3385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pPr algn="ctr"/>
            <a:r>
              <a:rPr lang="zh-CN" altLang="en-US" sz="1600" dirty="0" smtClean="0"/>
              <a:t>计算 </a:t>
            </a:r>
            <a:r>
              <a:rPr lang="en-US" altLang="zh-CN" sz="1600" i="1" dirty="0" smtClean="0"/>
              <a:t>Y</a:t>
            </a:r>
            <a:r>
              <a:rPr lang="en-US" altLang="zh-CN" sz="1600" dirty="0" smtClean="0"/>
              <a:t> = </a:t>
            </a:r>
            <a:r>
              <a:rPr lang="en-US" altLang="zh-CN" sz="1600" i="1" dirty="0" err="1" smtClean="0"/>
              <a:t>g</a:t>
            </a:r>
            <a:r>
              <a:rPr lang="en-US" altLang="zh-CN" sz="1600" i="1" baseline="30000" dirty="0" err="1" smtClean="0"/>
              <a:t>b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mod </a:t>
            </a:r>
            <a:r>
              <a:rPr lang="en-US" altLang="zh-CN" sz="1600" i="1" dirty="0" smtClean="0"/>
              <a:t>p</a:t>
            </a:r>
            <a:endParaRPr lang="en-US" altLang="zh-CN" sz="1600" b="1" i="1" dirty="0">
              <a:solidFill>
                <a:schemeClr val="hlink"/>
              </a:solidFill>
            </a:endParaRPr>
          </a:p>
        </p:txBody>
      </p:sp>
      <p:sp>
        <p:nvSpPr>
          <p:cNvPr id="40" name="Line 36">
            <a:extLst>
              <a:ext uri="{FF2B5EF4-FFF2-40B4-BE49-F238E27FC236}">
                <a16:creationId xmlns:a16="http://schemas.microsoft.com/office/drawing/2014/main" id="{4331C5F0-38DD-4248-97BF-FEB9BF99BC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780743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" name="Line 37">
            <a:extLst>
              <a:ext uri="{FF2B5EF4-FFF2-40B4-BE49-F238E27FC236}">
                <a16:creationId xmlns:a16="http://schemas.microsoft.com/office/drawing/2014/main" id="{B3377742-F480-4414-A8CA-D680071B26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4704543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2" name="Line 38">
            <a:extLst>
              <a:ext uri="{FF2B5EF4-FFF2-40B4-BE49-F238E27FC236}">
                <a16:creationId xmlns:a16="http://schemas.microsoft.com/office/drawing/2014/main" id="{D6C40C7A-A322-4A28-A8C8-2AC1E14BF4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1182592"/>
            <a:ext cx="1143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43" name="Group 39">
            <a:extLst>
              <a:ext uri="{FF2B5EF4-FFF2-40B4-BE49-F238E27FC236}">
                <a16:creationId xmlns:a16="http://schemas.microsoft.com/office/drawing/2014/main" id="{FF04F741-AD1A-4312-8204-E67F0D586FF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801592"/>
            <a:ext cx="2895600" cy="381000"/>
            <a:chOff x="1968" y="576"/>
            <a:chExt cx="1632" cy="24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4" name="Line 40">
              <a:extLst>
                <a:ext uri="{FF2B5EF4-FFF2-40B4-BE49-F238E27FC236}">
                  <a16:creationId xmlns:a16="http://schemas.microsoft.com/office/drawing/2014/main" id="{0E4FE590-2981-4584-A1E2-2561C74BC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816"/>
              <a:ext cx="1632" cy="0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5" name="Text Box 41">
              <a:extLst>
                <a:ext uri="{FF2B5EF4-FFF2-40B4-BE49-F238E27FC236}">
                  <a16:creationId xmlns:a16="http://schemas.microsoft.com/office/drawing/2014/main" id="{3584CE3E-30B0-4EBE-AFE9-D13E337F4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576"/>
              <a:ext cx="1102" cy="213"/>
            </a:xfrm>
            <a:prstGeom prst="rect">
              <a:avLst/>
            </a:prstGeom>
            <a:grp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1600" dirty="0"/>
                <a:t>发送</a:t>
              </a:r>
              <a:r>
                <a:rPr lang="en-US" altLang="zh-CN" sz="1600" i="1" dirty="0" smtClean="0"/>
                <a:t>Y </a:t>
              </a:r>
              <a:r>
                <a:rPr lang="en-US" altLang="zh-CN" sz="1600" dirty="0" smtClean="0"/>
                <a:t>= </a:t>
              </a:r>
              <a:r>
                <a:rPr lang="en-US" altLang="zh-CN" sz="1600" i="1" dirty="0" err="1" smtClean="0"/>
                <a:t>g</a:t>
              </a:r>
              <a:r>
                <a:rPr lang="en-US" altLang="zh-CN" sz="1600" i="1" baseline="30000" dirty="0" err="1" smtClean="0"/>
                <a:t>b</a:t>
              </a:r>
              <a:r>
                <a:rPr lang="en-US" altLang="zh-CN" sz="1600" baseline="30000" dirty="0" smtClean="0"/>
                <a:t> </a:t>
              </a:r>
              <a:r>
                <a:rPr lang="en-US" altLang="zh-CN" sz="1600" dirty="0"/>
                <a:t>mod </a:t>
              </a:r>
              <a:r>
                <a:rPr lang="en-US" altLang="zh-CN" sz="1600" i="1" dirty="0" smtClean="0"/>
                <a:t>p</a:t>
              </a:r>
              <a:endParaRPr lang="en-US" altLang="zh-CN" sz="1600" b="1" i="1" dirty="0">
                <a:solidFill>
                  <a:schemeClr val="hlink"/>
                </a:solidFill>
              </a:endParaRPr>
            </a:p>
          </p:txBody>
        </p:sp>
      </p:grpSp>
      <p:sp>
        <p:nvSpPr>
          <p:cNvPr id="46" name="Line 42">
            <a:extLst>
              <a:ext uri="{FF2B5EF4-FFF2-40B4-BE49-F238E27FC236}">
                <a16:creationId xmlns:a16="http://schemas.microsoft.com/office/drawing/2014/main" id="{1182E9ED-BC06-4A23-8DB5-AA673504D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1182592"/>
            <a:ext cx="1523997" cy="146455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47" name="Line 43">
            <a:extLst>
              <a:ext uri="{FF2B5EF4-FFF2-40B4-BE49-F238E27FC236}">
                <a16:creationId xmlns:a16="http://schemas.microsoft.com/office/drawing/2014/main" id="{98AABE17-347D-4422-AC4A-DF9B42DCE9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1182592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" name="Line 44">
            <a:extLst>
              <a:ext uri="{FF2B5EF4-FFF2-40B4-BE49-F238E27FC236}">
                <a16:creationId xmlns:a16="http://schemas.microsoft.com/office/drawing/2014/main" id="{C7C1A47A-C9C4-41B7-801D-F1A1F5BA54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" y="1182592"/>
            <a:ext cx="1676400" cy="1676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" name="Line 45">
            <a:extLst>
              <a:ext uri="{FF2B5EF4-FFF2-40B4-BE49-F238E27FC236}">
                <a16:creationId xmlns:a16="http://schemas.microsoft.com/office/drawing/2014/main" id="{269DD3F2-0941-469A-A757-0D98DD595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636" y="2875743"/>
            <a:ext cx="8964" cy="838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50" name="Line 46">
            <a:extLst>
              <a:ext uri="{FF2B5EF4-FFF2-40B4-BE49-F238E27FC236}">
                <a16:creationId xmlns:a16="http://schemas.microsoft.com/office/drawing/2014/main" id="{0E0C4192-C20F-4C29-A21A-E24866283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3713943"/>
            <a:ext cx="60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" name="Line 47">
            <a:extLst>
              <a:ext uri="{FF2B5EF4-FFF2-40B4-BE49-F238E27FC236}">
                <a16:creationId xmlns:a16="http://schemas.microsoft.com/office/drawing/2014/main" id="{C7C33F3F-FCE8-40E6-B34A-271D4A031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942543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" name="Line 48">
            <a:extLst>
              <a:ext uri="{FF2B5EF4-FFF2-40B4-BE49-F238E27FC236}">
                <a16:creationId xmlns:a16="http://schemas.microsoft.com/office/drawing/2014/main" id="{BFD09835-2D79-4ED6-B3AB-D6B16563E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399743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" name="Text Box 49">
            <a:extLst>
              <a:ext uri="{FF2B5EF4-FFF2-40B4-BE49-F238E27FC236}">
                <a16:creationId xmlns:a16="http://schemas.microsoft.com/office/drawing/2014/main" id="{054B9C3D-E2DE-4B18-849F-9805CE7E5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918" y="4171143"/>
            <a:ext cx="2519082" cy="3385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r>
              <a:rPr lang="en-US" altLang="zh-CN" sz="1600" b="1" i="1" dirty="0" smtClean="0">
                <a:solidFill>
                  <a:schemeClr val="tx2"/>
                </a:solidFill>
              </a:rPr>
              <a:t>K</a:t>
            </a:r>
            <a:r>
              <a:rPr lang="en-US" altLang="zh-CN" sz="1600" b="1" i="1" baseline="-25000" dirty="0" smtClean="0">
                <a:solidFill>
                  <a:schemeClr val="tx2"/>
                </a:solidFill>
              </a:rPr>
              <a:t>A </a:t>
            </a:r>
            <a:r>
              <a:rPr lang="en-US" altLang="zh-CN" sz="1600" b="1" dirty="0" smtClean="0">
                <a:solidFill>
                  <a:schemeClr val="tx2"/>
                </a:solidFill>
              </a:rPr>
              <a:t>= </a:t>
            </a:r>
            <a:r>
              <a:rPr lang="en-US" altLang="zh-CN" sz="1600" b="1" i="1" dirty="0" err="1" smtClean="0">
                <a:solidFill>
                  <a:schemeClr val="tx2"/>
                </a:solidFill>
              </a:rPr>
              <a:t>Y</a:t>
            </a:r>
            <a:r>
              <a:rPr lang="en-US" altLang="zh-CN" sz="1600" b="1" i="1" baseline="30000" dirty="0" err="1" smtClean="0">
                <a:solidFill>
                  <a:schemeClr val="tx2"/>
                </a:solidFill>
              </a:rPr>
              <a:t>a</a:t>
            </a:r>
            <a:r>
              <a:rPr lang="en-US" altLang="zh-CN" sz="1600" b="1" baseline="30000" dirty="0" smtClean="0">
                <a:solidFill>
                  <a:schemeClr val="tx2"/>
                </a:solidFill>
              </a:rPr>
              <a:t> </a:t>
            </a:r>
            <a:r>
              <a:rPr lang="en-US" altLang="zh-CN" sz="1600" b="1" dirty="0">
                <a:solidFill>
                  <a:schemeClr val="tx2"/>
                </a:solidFill>
              </a:rPr>
              <a:t>mod </a:t>
            </a:r>
            <a:r>
              <a:rPr lang="en-US" altLang="zh-CN" sz="1600" b="1" i="1" dirty="0" smtClean="0">
                <a:solidFill>
                  <a:schemeClr val="tx2"/>
                </a:solidFill>
              </a:rPr>
              <a:t>p </a:t>
            </a:r>
            <a:r>
              <a:rPr lang="en-US" altLang="zh-CN" sz="1600" b="1" dirty="0" smtClean="0">
                <a:solidFill>
                  <a:schemeClr val="tx2"/>
                </a:solidFill>
              </a:rPr>
              <a:t>= </a:t>
            </a:r>
            <a:r>
              <a:rPr lang="en-US" altLang="zh-CN" sz="1600" b="1" i="1" dirty="0" smtClean="0">
                <a:solidFill>
                  <a:schemeClr val="tx2"/>
                </a:solidFill>
              </a:rPr>
              <a:t>g</a:t>
            </a:r>
            <a:r>
              <a:rPr lang="en-US" altLang="zh-CN" sz="1600" b="1" i="1" baseline="30000" dirty="0" smtClean="0">
                <a:solidFill>
                  <a:schemeClr val="tx2"/>
                </a:solidFill>
              </a:rPr>
              <a:t>ab</a:t>
            </a:r>
            <a:r>
              <a:rPr lang="en-US" altLang="zh-CN" sz="1600" b="1" dirty="0" smtClean="0">
                <a:solidFill>
                  <a:schemeClr val="tx2"/>
                </a:solidFill>
              </a:rPr>
              <a:t> </a:t>
            </a:r>
            <a:r>
              <a:rPr lang="en-US" altLang="zh-CN" sz="1600" b="1" dirty="0">
                <a:solidFill>
                  <a:schemeClr val="tx2"/>
                </a:solidFill>
              </a:rPr>
              <a:t>mod </a:t>
            </a:r>
            <a:r>
              <a:rPr lang="en-US" altLang="zh-CN" sz="1600" b="1" i="1" dirty="0" smtClean="0">
                <a:solidFill>
                  <a:schemeClr val="tx2"/>
                </a:solidFill>
              </a:rPr>
              <a:t>p</a:t>
            </a:r>
            <a:endParaRPr lang="zh-CN" altLang="en-US" sz="1600" b="1" i="1" dirty="0">
              <a:solidFill>
                <a:schemeClr val="tx2"/>
              </a:solidFill>
            </a:endParaRPr>
          </a:p>
        </p:txBody>
      </p:sp>
      <p:sp>
        <p:nvSpPr>
          <p:cNvPr id="54" name="Line 50">
            <a:extLst>
              <a:ext uri="{FF2B5EF4-FFF2-40B4-BE49-F238E27FC236}">
                <a16:creationId xmlns:a16="http://schemas.microsoft.com/office/drawing/2014/main" id="{2D5A7C94-5EE1-4DF5-AE11-0E3F7A1581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9600" y="2616663"/>
            <a:ext cx="0" cy="7620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5" name="Line 51">
            <a:extLst>
              <a:ext uri="{FF2B5EF4-FFF2-40B4-BE49-F238E27FC236}">
                <a16:creationId xmlns:a16="http://schemas.microsoft.com/office/drawing/2014/main" id="{01FD8098-4BA9-4FBC-8D45-F877280EF5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19998" y="2597851"/>
            <a:ext cx="609602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56" name="Text Box 52">
            <a:extLst>
              <a:ext uri="{FF2B5EF4-FFF2-40B4-BE49-F238E27FC236}">
                <a16:creationId xmlns:a16="http://schemas.microsoft.com/office/drawing/2014/main" id="{696D6352-FB3D-4AAF-A4D4-8AA045A85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43" y="2418543"/>
            <a:ext cx="2381255" cy="3385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r>
              <a:rPr lang="en-US" altLang="zh-CN" sz="1600" b="1" i="1" dirty="0" smtClean="0">
                <a:solidFill>
                  <a:schemeClr val="tx2"/>
                </a:solidFill>
              </a:rPr>
              <a:t>K</a:t>
            </a:r>
            <a:r>
              <a:rPr lang="en-US" altLang="zh-CN" sz="1600" b="1" i="1" baseline="-25000" dirty="0" smtClean="0">
                <a:solidFill>
                  <a:schemeClr val="tx2"/>
                </a:solidFill>
              </a:rPr>
              <a:t>B</a:t>
            </a:r>
            <a:r>
              <a:rPr lang="en-US" altLang="zh-CN" sz="1600" b="1" baseline="-25000" dirty="0" smtClean="0">
                <a:solidFill>
                  <a:schemeClr val="tx2"/>
                </a:solidFill>
              </a:rPr>
              <a:t> </a:t>
            </a:r>
            <a:r>
              <a:rPr lang="en-US" altLang="zh-CN" sz="1600" b="1" dirty="0" smtClean="0">
                <a:solidFill>
                  <a:schemeClr val="tx2"/>
                </a:solidFill>
              </a:rPr>
              <a:t>= </a:t>
            </a:r>
            <a:r>
              <a:rPr lang="en-US" altLang="zh-CN" sz="1600" b="1" i="1" dirty="0" err="1" smtClean="0">
                <a:solidFill>
                  <a:schemeClr val="tx2"/>
                </a:solidFill>
              </a:rPr>
              <a:t>X</a:t>
            </a:r>
            <a:r>
              <a:rPr lang="en-US" altLang="zh-CN" sz="1600" b="1" i="1" baseline="30000" dirty="0" err="1" smtClean="0">
                <a:solidFill>
                  <a:schemeClr val="tx2"/>
                </a:solidFill>
              </a:rPr>
              <a:t>b</a:t>
            </a:r>
            <a:r>
              <a:rPr lang="en-US" altLang="zh-CN" sz="1600" b="1" baseline="30000" dirty="0" smtClean="0">
                <a:solidFill>
                  <a:schemeClr val="tx2"/>
                </a:solidFill>
              </a:rPr>
              <a:t> </a:t>
            </a:r>
            <a:r>
              <a:rPr lang="en-US" altLang="zh-CN" sz="1600" b="1" dirty="0">
                <a:solidFill>
                  <a:schemeClr val="tx2"/>
                </a:solidFill>
              </a:rPr>
              <a:t>mod </a:t>
            </a:r>
            <a:r>
              <a:rPr lang="en-US" altLang="zh-CN" sz="1600" b="1" i="1" dirty="0" smtClean="0">
                <a:solidFill>
                  <a:schemeClr val="tx2"/>
                </a:solidFill>
              </a:rPr>
              <a:t>p </a:t>
            </a:r>
            <a:r>
              <a:rPr lang="en-US" altLang="zh-CN" sz="1600" b="1" dirty="0" smtClean="0">
                <a:solidFill>
                  <a:schemeClr val="tx2"/>
                </a:solidFill>
              </a:rPr>
              <a:t>= </a:t>
            </a:r>
            <a:r>
              <a:rPr lang="en-US" altLang="zh-CN" sz="1600" b="1" i="1" dirty="0" smtClean="0">
                <a:solidFill>
                  <a:schemeClr val="tx2"/>
                </a:solidFill>
              </a:rPr>
              <a:t>g</a:t>
            </a:r>
            <a:r>
              <a:rPr lang="en-US" altLang="zh-CN" sz="1600" b="1" i="1" baseline="30000" dirty="0" smtClean="0">
                <a:solidFill>
                  <a:schemeClr val="tx2"/>
                </a:solidFill>
              </a:rPr>
              <a:t>ab</a:t>
            </a:r>
            <a:r>
              <a:rPr lang="en-US" altLang="zh-CN" sz="1600" b="1" dirty="0" smtClean="0">
                <a:solidFill>
                  <a:schemeClr val="tx2"/>
                </a:solidFill>
              </a:rPr>
              <a:t> </a:t>
            </a:r>
            <a:r>
              <a:rPr lang="en-US" altLang="zh-CN" sz="1600" b="1" dirty="0">
                <a:solidFill>
                  <a:schemeClr val="tx2"/>
                </a:solidFill>
              </a:rPr>
              <a:t>mod </a:t>
            </a:r>
            <a:r>
              <a:rPr lang="en-US" altLang="zh-CN" sz="1600" b="1" i="1" dirty="0" smtClean="0">
                <a:solidFill>
                  <a:schemeClr val="tx2"/>
                </a:solidFill>
              </a:rPr>
              <a:t>p</a:t>
            </a:r>
            <a:endParaRPr lang="zh-CN" altLang="en-US" sz="1600" b="1" i="1" dirty="0">
              <a:solidFill>
                <a:schemeClr val="tx2"/>
              </a:solidFill>
            </a:endParaRPr>
          </a:p>
        </p:txBody>
      </p:sp>
      <p:sp>
        <p:nvSpPr>
          <p:cNvPr id="57" name="Line 53">
            <a:extLst>
              <a:ext uri="{FF2B5EF4-FFF2-40B4-BE49-F238E27FC236}">
                <a16:creationId xmlns:a16="http://schemas.microsoft.com/office/drawing/2014/main" id="{49953122-70F6-42D6-A327-7DC72999F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563592"/>
            <a:ext cx="8382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8" name="Line 54">
            <a:extLst>
              <a:ext uri="{FF2B5EF4-FFF2-40B4-BE49-F238E27FC236}">
                <a16:creationId xmlns:a16="http://schemas.microsoft.com/office/drawing/2014/main" id="{FE08DEB5-5067-4E88-B8AB-03A342AF1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563592"/>
            <a:ext cx="5334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9" name="Line 55">
            <a:extLst>
              <a:ext uri="{FF2B5EF4-FFF2-40B4-BE49-F238E27FC236}">
                <a16:creationId xmlns:a16="http://schemas.microsoft.com/office/drawing/2014/main" id="{8FF29054-AB08-416E-ADCA-03C2DF0D2F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91599" y="2647143"/>
            <a:ext cx="1" cy="2057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60" name="Line 56">
            <a:extLst>
              <a:ext uri="{FF2B5EF4-FFF2-40B4-BE49-F238E27FC236}">
                <a16:creationId xmlns:a16="http://schemas.microsoft.com/office/drawing/2014/main" id="{15EF4919-49BB-4AF6-981A-92E177F4AB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2647143"/>
            <a:ext cx="533400" cy="0"/>
          </a:xfrm>
          <a:prstGeom prst="line">
            <a:avLst/>
          </a:prstGeom>
          <a:noFill/>
          <a:ln w="76200" cmpd="tri">
            <a:solidFill>
              <a:srgbClr val="DC94F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1" name="Line 57">
            <a:extLst>
              <a:ext uri="{FF2B5EF4-FFF2-40B4-BE49-F238E27FC236}">
                <a16:creationId xmlns:a16="http://schemas.microsoft.com/office/drawing/2014/main" id="{F6E36988-3992-4469-8AB0-1250C2DE3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23343"/>
            <a:ext cx="0" cy="1600200"/>
          </a:xfrm>
          <a:prstGeom prst="line">
            <a:avLst/>
          </a:prstGeom>
          <a:noFill/>
          <a:ln w="76200" cmpd="tri">
            <a:solidFill>
              <a:srgbClr val="DC94F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2" name="Line 58">
            <a:extLst>
              <a:ext uri="{FF2B5EF4-FFF2-40B4-BE49-F238E27FC236}">
                <a16:creationId xmlns:a16="http://schemas.microsoft.com/office/drawing/2014/main" id="{B8004A3A-5967-4A53-8B12-000663D6F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323543"/>
            <a:ext cx="914400" cy="0"/>
          </a:xfrm>
          <a:prstGeom prst="line">
            <a:avLst/>
          </a:prstGeom>
          <a:noFill/>
          <a:ln w="76200" cmpd="tri">
            <a:solidFill>
              <a:srgbClr val="DC94F6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3" name="Text Box 59">
            <a:extLst>
              <a:ext uri="{FF2B5EF4-FFF2-40B4-BE49-F238E27FC236}">
                <a16:creationId xmlns:a16="http://schemas.microsoft.com/office/drawing/2014/main" id="{16F0B54C-B6DC-4AD2-8252-AC8BEB3C4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018743"/>
            <a:ext cx="9906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DC94F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200"/>
              <a:t>两者相等</a:t>
            </a:r>
          </a:p>
        </p:txBody>
      </p:sp>
      <p:sp>
        <p:nvSpPr>
          <p:cNvPr id="64" name="Line 60">
            <a:extLst>
              <a:ext uri="{FF2B5EF4-FFF2-40B4-BE49-F238E27FC236}">
                <a16:creationId xmlns:a16="http://schemas.microsoft.com/office/drawing/2014/main" id="{051B4134-5989-4FBA-BD53-F78370DF2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398" y="4399744"/>
            <a:ext cx="2" cy="444624"/>
          </a:xfrm>
          <a:prstGeom prst="line">
            <a:avLst/>
          </a:prstGeom>
          <a:noFill/>
          <a:ln w="76200" cmpd="tri">
            <a:solidFill>
              <a:srgbClr val="DC94F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5" name="Text Box 61">
            <a:extLst>
              <a:ext uri="{FF2B5EF4-FFF2-40B4-BE49-F238E27FC236}">
                <a16:creationId xmlns:a16="http://schemas.microsoft.com/office/drawing/2014/main" id="{A959EFA5-A744-49A3-87F8-B95783325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088" y="4814204"/>
            <a:ext cx="3810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DC94F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/>
              <a:t>得出共享密钥</a:t>
            </a:r>
            <a:r>
              <a:rPr lang="en-US" altLang="zh-CN" b="1" i="1" dirty="0" smtClean="0">
                <a:solidFill>
                  <a:schemeClr val="hlink"/>
                </a:solidFill>
              </a:rPr>
              <a:t>Key </a:t>
            </a:r>
            <a:r>
              <a:rPr lang="en-US" altLang="zh-CN" dirty="0" smtClean="0">
                <a:solidFill>
                  <a:schemeClr val="hlink"/>
                </a:solidFill>
              </a:rPr>
              <a:t>= </a:t>
            </a:r>
            <a:r>
              <a:rPr lang="en-US" altLang="zh-CN" b="1" i="1" dirty="0">
                <a:solidFill>
                  <a:schemeClr val="hlink"/>
                </a:solidFill>
              </a:rPr>
              <a:t>g</a:t>
            </a:r>
            <a:r>
              <a:rPr lang="en-US" altLang="zh-CN" b="1" i="1" baseline="30000" dirty="0">
                <a:solidFill>
                  <a:schemeClr val="hlink"/>
                </a:solidFill>
              </a:rPr>
              <a:t>ab</a:t>
            </a:r>
            <a:r>
              <a:rPr lang="en-US" altLang="zh-CN" b="1" dirty="0">
                <a:solidFill>
                  <a:schemeClr val="hlink"/>
                </a:solidFill>
              </a:rPr>
              <a:t> mod </a:t>
            </a:r>
            <a:r>
              <a:rPr lang="en-US" altLang="zh-CN" b="1" i="1" dirty="0" smtClean="0">
                <a:solidFill>
                  <a:schemeClr val="hlink"/>
                </a:solidFill>
              </a:rPr>
              <a:t>p</a:t>
            </a:r>
            <a:endParaRPr lang="en-US" altLang="zh-CN" b="1" i="1" dirty="0">
              <a:solidFill>
                <a:schemeClr val="hlink"/>
              </a:solidFill>
            </a:endParaRPr>
          </a:p>
        </p:txBody>
      </p:sp>
      <p:sp>
        <p:nvSpPr>
          <p:cNvPr id="66" name="Text Box 62">
            <a:extLst>
              <a:ext uri="{FF2B5EF4-FFF2-40B4-BE49-F238E27FC236}">
                <a16:creationId xmlns:a16="http://schemas.microsoft.com/office/drawing/2014/main" id="{DC920D74-F0E0-4946-9755-905C8173A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18" y="3176078"/>
            <a:ext cx="838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DC94F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hlink"/>
                </a:solidFill>
              </a:rPr>
              <a:t>主机</a:t>
            </a:r>
            <a:r>
              <a:rPr lang="en-US" altLang="zh-CN" sz="1400" b="1" dirty="0" smtClean="0">
                <a:solidFill>
                  <a:schemeClr val="hlink"/>
                </a:solidFill>
              </a:rPr>
              <a:t> </a:t>
            </a:r>
            <a:r>
              <a:rPr lang="en-US" altLang="zh-CN" sz="1400" b="1" dirty="0">
                <a:solidFill>
                  <a:schemeClr val="hlink"/>
                </a:solidFill>
              </a:rPr>
              <a:t>A</a:t>
            </a:r>
          </a:p>
        </p:txBody>
      </p:sp>
      <p:sp>
        <p:nvSpPr>
          <p:cNvPr id="67" name="Text Box 63">
            <a:extLst>
              <a:ext uri="{FF2B5EF4-FFF2-40B4-BE49-F238E27FC236}">
                <a16:creationId xmlns:a16="http://schemas.microsoft.com/office/drawing/2014/main" id="{8EE64DBC-3553-483F-8F83-A19FB4273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312" y="3092675"/>
            <a:ext cx="838199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DC94F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2"/>
                </a:solidFill>
              </a:rPr>
              <a:t>主机</a:t>
            </a:r>
            <a:r>
              <a:rPr lang="en-US" altLang="zh-CN" sz="1400" b="1" dirty="0" smtClean="0">
                <a:solidFill>
                  <a:schemeClr val="accent2"/>
                </a:solidFill>
              </a:rPr>
              <a:t> </a:t>
            </a:r>
            <a:r>
              <a:rPr lang="en-US" altLang="zh-CN" sz="1400" b="1" dirty="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8" name="AutoShape 5"/>
          <p:cNvSpPr>
            <a:spLocks noChangeArrowheads="1"/>
          </p:cNvSpPr>
          <p:nvPr/>
        </p:nvSpPr>
        <p:spPr bwMode="auto">
          <a:xfrm>
            <a:off x="69873" y="487554"/>
            <a:ext cx="2442090" cy="32647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密钥交换过程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示意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DH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密钥交换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5281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000"/>
                            </p:stCondLst>
                            <p:childTnLst>
                              <p:par>
                                <p:cTn id="10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000"/>
                            </p:stCondLst>
                            <p:childTnLst>
                              <p:par>
                                <p:cTn id="1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500"/>
                            </p:stCondLst>
                            <p:childTnLst>
                              <p:par>
                                <p:cTn id="1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500"/>
                            </p:stCondLst>
                            <p:childTnLst>
                              <p:par>
                                <p:cTn id="12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000"/>
                            </p:stCondLst>
                            <p:childTnLst>
                              <p:par>
                                <p:cTn id="1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5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70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7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0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500"/>
                            </p:stCondLst>
                            <p:childTnLst>
                              <p:par>
                                <p:cTn id="16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000"/>
                            </p:stCondLst>
                            <p:childTnLst>
                              <p:par>
                                <p:cTn id="1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3500"/>
                            </p:stCondLst>
                            <p:childTnLst>
                              <p:par>
                                <p:cTn id="1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4000"/>
                            </p:stCondLst>
                            <p:childTnLst>
                              <p:par>
                                <p:cTn id="1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500"/>
                            </p:stCondLst>
                            <p:childTnLst>
                              <p:par>
                                <p:cTn id="17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23" grpId="0" animBg="1" autoUpdateAnimBg="0"/>
      <p:bldP spid="35" grpId="0" animBg="1" autoUpdateAnimBg="0"/>
      <p:bldP spid="38" grpId="0" animBg="1" autoUpdateAnimBg="0"/>
      <p:bldP spid="39" grpId="0" animBg="1" autoUpdateAnimBg="0"/>
      <p:bldP spid="53" grpId="0" animBg="1" autoUpdateAnimBg="0"/>
      <p:bldP spid="56" grpId="0" animBg="1" autoUpdateAnimBg="0"/>
      <p:bldP spid="63" grpId="0" autoUpdateAnimBg="0"/>
      <p:bldP spid="65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AutoShape 5"/>
          <p:cNvSpPr>
            <a:spLocks noChangeArrowheads="1"/>
          </p:cNvSpPr>
          <p:nvPr/>
        </p:nvSpPr>
        <p:spPr bwMode="auto">
          <a:xfrm>
            <a:off x="509475" y="61218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Rectangle 6"/>
          <p:cNvSpPr>
            <a:spLocks noChangeArrowheads="1"/>
          </p:cNvSpPr>
          <p:nvPr/>
        </p:nvSpPr>
        <p:spPr bwMode="auto">
          <a:xfrm>
            <a:off x="2735978" y="578974"/>
            <a:ext cx="36760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密钥交换面临的中间人攻击</a:t>
            </a:r>
          </a:p>
        </p:txBody>
      </p:sp>
      <p:sp>
        <p:nvSpPr>
          <p:cNvPr id="75" name="圆角矩形 74"/>
          <p:cNvSpPr/>
          <p:nvPr/>
        </p:nvSpPr>
        <p:spPr>
          <a:xfrm>
            <a:off x="517852" y="1013346"/>
            <a:ext cx="8133857" cy="33155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324091" y="4587822"/>
            <a:ext cx="8484243" cy="369332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可见，要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地使用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密钥交换协议，还必须对通信的对方进行鉴别。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Box 7"/>
          <p:cNvSpPr txBox="1">
            <a:spLocks noChangeArrowheads="1"/>
          </p:cNvSpPr>
          <p:nvPr/>
        </p:nvSpPr>
        <p:spPr bwMode="auto">
          <a:xfrm>
            <a:off x="1971433" y="1036048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78" name="Text Box 36"/>
          <p:cNvSpPr txBox="1">
            <a:spLocks noChangeArrowheads="1"/>
          </p:cNvSpPr>
          <p:nvPr/>
        </p:nvSpPr>
        <p:spPr bwMode="auto">
          <a:xfrm>
            <a:off x="6917971" y="1036048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79" name="Line 64"/>
          <p:cNvSpPr>
            <a:spLocks noChangeShapeType="1"/>
          </p:cNvSpPr>
          <p:nvPr/>
        </p:nvSpPr>
        <p:spPr bwMode="auto">
          <a:xfrm rot="5400000" flipV="1">
            <a:off x="608030" y="3103310"/>
            <a:ext cx="2464042" cy="3091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Line 65"/>
          <p:cNvSpPr>
            <a:spLocks noChangeShapeType="1"/>
          </p:cNvSpPr>
          <p:nvPr/>
        </p:nvSpPr>
        <p:spPr bwMode="auto">
          <a:xfrm rot="16200000" flipH="1" flipV="1">
            <a:off x="6123673" y="3097818"/>
            <a:ext cx="2453398" cy="883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Group 553"/>
          <p:cNvGrpSpPr/>
          <p:nvPr/>
        </p:nvGrpSpPr>
        <p:grpSpPr bwMode="auto">
          <a:xfrm>
            <a:off x="1817970" y="1856169"/>
            <a:ext cx="2772273" cy="268030"/>
            <a:chOff x="428" y="1792"/>
            <a:chExt cx="2511" cy="263"/>
          </a:xfrm>
        </p:grpSpPr>
        <p:sp>
          <p:nvSpPr>
            <p:cNvPr id="82" name="Line 6"/>
            <p:cNvSpPr>
              <a:spLocks noChangeShapeType="1"/>
            </p:cNvSpPr>
            <p:nvPr/>
          </p:nvSpPr>
          <p:spPr bwMode="auto">
            <a:xfrm>
              <a:off x="428" y="1927"/>
              <a:ext cx="2511" cy="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Rectangle 66"/>
            <p:cNvSpPr>
              <a:spLocks noChangeArrowheads="1"/>
            </p:cNvSpPr>
            <p:nvPr/>
          </p:nvSpPr>
          <p:spPr bwMode="auto">
            <a:xfrm>
              <a:off x="1031" y="1792"/>
              <a:ext cx="980" cy="263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 dirty="0">
                  <a:solidFill>
                    <a:schemeClr val="bg1"/>
                  </a:solidFill>
                </a:rPr>
                <a:t>A </a:t>
              </a:r>
              <a:r>
                <a:rPr lang="en-US" altLang="zh-CN" sz="1400" dirty="0">
                  <a:solidFill>
                    <a:schemeClr val="bg1"/>
                  </a:solidFill>
                </a:rPr>
                <a:t>=</a:t>
              </a:r>
              <a:r>
                <a:rPr lang="en-US" altLang="zh-CN" sz="1400" i="1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i="1" dirty="0" err="1">
                  <a:solidFill>
                    <a:schemeClr val="bg1"/>
                  </a:solidFill>
                </a:rPr>
                <a:t>g</a:t>
              </a:r>
              <a:r>
                <a:rPr lang="en-US" altLang="zh-CN" sz="1400" i="1" baseline="30000" dirty="0" err="1">
                  <a:solidFill>
                    <a:schemeClr val="bg1"/>
                  </a:solidFill>
                </a:rPr>
                <a:t>a</a:t>
              </a:r>
              <a:r>
                <a:rPr lang="en-US" altLang="zh-CN" sz="1400" dirty="0">
                  <a:solidFill>
                    <a:schemeClr val="bg1"/>
                  </a:solidFill>
                </a:rPr>
                <a:t> mod </a:t>
              </a:r>
              <a:r>
                <a:rPr lang="en-US" altLang="zh-CN" sz="1400" i="1" dirty="0">
                  <a:solidFill>
                    <a:schemeClr val="bg1"/>
                  </a:solidFill>
                </a:rPr>
                <a:t>p</a:t>
              </a:r>
              <a:endParaRPr lang="zh-CN" altLang="en-US" sz="1400" i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4" name="Group 67"/>
          <p:cNvGrpSpPr/>
          <p:nvPr/>
        </p:nvGrpSpPr>
        <p:grpSpPr bwMode="auto">
          <a:xfrm>
            <a:off x="4305398" y="1114522"/>
            <a:ext cx="512280" cy="413765"/>
            <a:chOff x="624" y="2968"/>
            <a:chExt cx="1331" cy="920"/>
          </a:xfrm>
        </p:grpSpPr>
        <p:sp>
          <p:nvSpPr>
            <p:cNvPr id="85" name="Freeform 68"/>
            <p:cNvSpPr/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992 w 1426"/>
                <a:gd name="T1" fmla="*/ 2292 h 2309"/>
                <a:gd name="T2" fmla="*/ 964 w 1426"/>
                <a:gd name="T3" fmla="*/ 2309 h 2309"/>
                <a:gd name="T4" fmla="*/ 0 w 1426"/>
                <a:gd name="T5" fmla="*/ 1462 h 2309"/>
                <a:gd name="T6" fmla="*/ 326 w 1426"/>
                <a:gd name="T7" fmla="*/ 59 h 2309"/>
                <a:gd name="T8" fmla="*/ 369 w 1426"/>
                <a:gd name="T9" fmla="*/ 18 h 2309"/>
                <a:gd name="T10" fmla="*/ 414 w 1426"/>
                <a:gd name="T11" fmla="*/ 0 h 2309"/>
                <a:gd name="T12" fmla="*/ 457 w 1426"/>
                <a:gd name="T13" fmla="*/ 9 h 2309"/>
                <a:gd name="T14" fmla="*/ 1381 w 1426"/>
                <a:gd name="T15" fmla="*/ 400 h 2309"/>
                <a:gd name="T16" fmla="*/ 1411 w 1426"/>
                <a:gd name="T17" fmla="*/ 421 h 2309"/>
                <a:gd name="T18" fmla="*/ 1422 w 1426"/>
                <a:gd name="T19" fmla="*/ 425 h 2309"/>
                <a:gd name="T20" fmla="*/ 1426 w 1426"/>
                <a:gd name="T21" fmla="*/ 445 h 2309"/>
                <a:gd name="T22" fmla="*/ 1017 w 1426"/>
                <a:gd name="T23" fmla="*/ 2306 h 2309"/>
                <a:gd name="T24" fmla="*/ 992 w 1426"/>
                <a:gd name="T25" fmla="*/ 2292 h 2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69"/>
            <p:cNvSpPr/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573 w 573"/>
                <a:gd name="T1" fmla="*/ 86 h 1980"/>
                <a:gd name="T2" fmla="*/ 568 w 573"/>
                <a:gd name="T3" fmla="*/ 132 h 1980"/>
                <a:gd name="T4" fmla="*/ 155 w 573"/>
                <a:gd name="T5" fmla="*/ 1923 h 1980"/>
                <a:gd name="T6" fmla="*/ 151 w 573"/>
                <a:gd name="T7" fmla="*/ 1955 h 1980"/>
                <a:gd name="T8" fmla="*/ 140 w 573"/>
                <a:gd name="T9" fmla="*/ 1972 h 1980"/>
                <a:gd name="T10" fmla="*/ 125 w 573"/>
                <a:gd name="T11" fmla="*/ 1980 h 1980"/>
                <a:gd name="T12" fmla="*/ 111 w 573"/>
                <a:gd name="T13" fmla="*/ 1975 h 1980"/>
                <a:gd name="T14" fmla="*/ 86 w 573"/>
                <a:gd name="T15" fmla="*/ 1955 h 1980"/>
                <a:gd name="T16" fmla="*/ 0 w 573"/>
                <a:gd name="T17" fmla="*/ 1880 h 1980"/>
                <a:gd name="T18" fmla="*/ 425 w 573"/>
                <a:gd name="T19" fmla="*/ 39 h 1980"/>
                <a:gd name="T20" fmla="*/ 420 w 573"/>
                <a:gd name="T21" fmla="*/ 27 h 1980"/>
                <a:gd name="T22" fmla="*/ 396 w 573"/>
                <a:gd name="T23" fmla="*/ 0 h 1980"/>
                <a:gd name="T24" fmla="*/ 445 w 573"/>
                <a:gd name="T25" fmla="*/ 20 h 1980"/>
                <a:gd name="T26" fmla="*/ 541 w 573"/>
                <a:gd name="T27" fmla="*/ 61 h 1980"/>
                <a:gd name="T28" fmla="*/ 559 w 573"/>
                <a:gd name="T29" fmla="*/ 75 h 1980"/>
                <a:gd name="T30" fmla="*/ 573 w 573"/>
                <a:gd name="T31" fmla="*/ 8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Freeform 70"/>
            <p:cNvSpPr/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31 w 1045"/>
                <a:gd name="T3" fmla="*/ 1 h 441"/>
                <a:gd name="T4" fmla="*/ 62 w 1045"/>
                <a:gd name="T5" fmla="*/ 10 h 441"/>
                <a:gd name="T6" fmla="*/ 1005 w 1045"/>
                <a:gd name="T7" fmla="*/ 409 h 441"/>
                <a:gd name="T8" fmla="*/ 1037 w 1045"/>
                <a:gd name="T9" fmla="*/ 427 h 441"/>
                <a:gd name="T10" fmla="*/ 1045 w 1045"/>
                <a:gd name="T11" fmla="*/ 441 h 441"/>
                <a:gd name="T12" fmla="*/ 0 w 1045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Freeform 71"/>
            <p:cNvSpPr/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619 w 955"/>
                <a:gd name="T1" fmla="*/ 1719 h 1719"/>
                <a:gd name="T2" fmla="*/ 0 w 955"/>
                <a:gd name="T3" fmla="*/ 1212 h 1719"/>
                <a:gd name="T4" fmla="*/ 290 w 955"/>
                <a:gd name="T5" fmla="*/ 0 h 1719"/>
                <a:gd name="T6" fmla="*/ 955 w 955"/>
                <a:gd name="T7" fmla="*/ 313 h 1719"/>
                <a:gd name="T8" fmla="*/ 619 w 955"/>
                <a:gd name="T9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Freeform 72"/>
            <p:cNvSpPr/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546 w 862"/>
                <a:gd name="T1" fmla="*/ 1587 h 1587"/>
                <a:gd name="T2" fmla="*/ 0 w 862"/>
                <a:gd name="T3" fmla="*/ 1134 h 1587"/>
                <a:gd name="T4" fmla="*/ 272 w 862"/>
                <a:gd name="T5" fmla="*/ 0 h 1587"/>
                <a:gd name="T6" fmla="*/ 862 w 862"/>
                <a:gd name="T7" fmla="*/ 268 h 1587"/>
                <a:gd name="T8" fmla="*/ 546 w 862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73"/>
            <p:cNvSpPr/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393 w 408"/>
                <a:gd name="T1" fmla="*/ 0 h 1480"/>
                <a:gd name="T2" fmla="*/ 370 w 408"/>
                <a:gd name="T3" fmla="*/ 11 h 1480"/>
                <a:gd name="T4" fmla="*/ 356 w 408"/>
                <a:gd name="T5" fmla="*/ 19 h 1480"/>
                <a:gd name="T6" fmla="*/ 338 w 408"/>
                <a:gd name="T7" fmla="*/ 37 h 1480"/>
                <a:gd name="T8" fmla="*/ 325 w 408"/>
                <a:gd name="T9" fmla="*/ 59 h 1480"/>
                <a:gd name="T10" fmla="*/ 320 w 408"/>
                <a:gd name="T11" fmla="*/ 77 h 1480"/>
                <a:gd name="T12" fmla="*/ 0 w 408"/>
                <a:gd name="T13" fmla="*/ 1459 h 1480"/>
                <a:gd name="T14" fmla="*/ 12 w 408"/>
                <a:gd name="T15" fmla="*/ 1480 h 1480"/>
                <a:gd name="T16" fmla="*/ 337 w 408"/>
                <a:gd name="T17" fmla="*/ 77 h 1480"/>
                <a:gd name="T18" fmla="*/ 346 w 408"/>
                <a:gd name="T19" fmla="*/ 57 h 1480"/>
                <a:gd name="T20" fmla="*/ 355 w 408"/>
                <a:gd name="T21" fmla="*/ 43 h 1480"/>
                <a:gd name="T22" fmla="*/ 368 w 408"/>
                <a:gd name="T23" fmla="*/ 30 h 1480"/>
                <a:gd name="T24" fmla="*/ 384 w 408"/>
                <a:gd name="T25" fmla="*/ 19 h 1480"/>
                <a:gd name="T26" fmla="*/ 400 w 408"/>
                <a:gd name="T27" fmla="*/ 12 h 1480"/>
                <a:gd name="T28" fmla="*/ 408 w 408"/>
                <a:gd name="T29" fmla="*/ 5 h 1480"/>
                <a:gd name="T30" fmla="*/ 393 w 408"/>
                <a:gd name="T31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Freeform 74"/>
            <p:cNvSpPr/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065 w 1065"/>
                <a:gd name="T1" fmla="*/ 963 h 963"/>
                <a:gd name="T2" fmla="*/ 1047 w 1065"/>
                <a:gd name="T3" fmla="*/ 833 h 963"/>
                <a:gd name="T4" fmla="*/ 1015 w 1065"/>
                <a:gd name="T5" fmla="*/ 776 h 963"/>
                <a:gd name="T6" fmla="*/ 137 w 1065"/>
                <a:gd name="T7" fmla="*/ 3 h 963"/>
                <a:gd name="T8" fmla="*/ 96 w 1065"/>
                <a:gd name="T9" fmla="*/ 0 h 963"/>
                <a:gd name="T10" fmla="*/ 59 w 1065"/>
                <a:gd name="T11" fmla="*/ 3 h 963"/>
                <a:gd name="T12" fmla="*/ 32 w 1065"/>
                <a:gd name="T13" fmla="*/ 42 h 963"/>
                <a:gd name="T14" fmla="*/ 0 w 1065"/>
                <a:gd name="T15" fmla="*/ 145 h 963"/>
                <a:gd name="T16" fmla="*/ 865 w 1065"/>
                <a:gd name="T17" fmla="*/ 954 h 963"/>
                <a:gd name="T18" fmla="*/ 1065 w 1065"/>
                <a:gd name="T19" fmla="*/ 963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75"/>
            <p:cNvSpPr/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121 w 1969"/>
                <a:gd name="T3" fmla="*/ 24 h 862"/>
                <a:gd name="T4" fmla="*/ 1969 w 1969"/>
                <a:gd name="T5" fmla="*/ 814 h 862"/>
                <a:gd name="T6" fmla="*/ 478 w 1969"/>
                <a:gd name="T7" fmla="*/ 862 h 862"/>
                <a:gd name="T8" fmla="*/ 0 w 1969"/>
                <a:gd name="T9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76"/>
            <p:cNvSpPr/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54 w 1777"/>
                <a:gd name="T1" fmla="*/ 52 h 297"/>
                <a:gd name="T2" fmla="*/ 0 w 1777"/>
                <a:gd name="T3" fmla="*/ 297 h 297"/>
                <a:gd name="T4" fmla="*/ 1759 w 1777"/>
                <a:gd name="T5" fmla="*/ 257 h 297"/>
                <a:gd name="T6" fmla="*/ 1777 w 1777"/>
                <a:gd name="T7" fmla="*/ 173 h 297"/>
                <a:gd name="T8" fmla="*/ 1773 w 1777"/>
                <a:gd name="T9" fmla="*/ 74 h 297"/>
                <a:gd name="T10" fmla="*/ 1768 w 1777"/>
                <a:gd name="T11" fmla="*/ 0 h 297"/>
                <a:gd name="T12" fmla="*/ 54 w 1777"/>
                <a:gd name="T13" fmla="*/ 5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77"/>
            <p:cNvSpPr/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37 w 513"/>
                <a:gd name="T1" fmla="*/ 0 h 1106"/>
                <a:gd name="T2" fmla="*/ 0 w 513"/>
                <a:gd name="T3" fmla="*/ 200 h 1106"/>
                <a:gd name="T4" fmla="*/ 457 w 513"/>
                <a:gd name="T5" fmla="*/ 1106 h 1106"/>
                <a:gd name="T6" fmla="*/ 513 w 513"/>
                <a:gd name="T7" fmla="*/ 862 h 1106"/>
                <a:gd name="T8" fmla="*/ 37 w 513"/>
                <a:gd name="T9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78"/>
            <p:cNvSpPr/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2 w 262"/>
                <a:gd name="T1" fmla="*/ 25 h 25"/>
                <a:gd name="T2" fmla="*/ 0 w 262"/>
                <a:gd name="T3" fmla="*/ 0 h 25"/>
                <a:gd name="T4" fmla="*/ 249 w 262"/>
                <a:gd name="T5" fmla="*/ 0 h 25"/>
                <a:gd name="T6" fmla="*/ 262 w 262"/>
                <a:gd name="T7" fmla="*/ 19 h 25"/>
                <a:gd name="T8" fmla="*/ 2 w 26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79"/>
            <p:cNvSpPr/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557 w 561"/>
                <a:gd name="T1" fmla="*/ 801 h 836"/>
                <a:gd name="T2" fmla="*/ 0 w 561"/>
                <a:gd name="T3" fmla="*/ 0 h 836"/>
                <a:gd name="T4" fmla="*/ 561 w 561"/>
                <a:gd name="T5" fmla="*/ 836 h 836"/>
                <a:gd name="T6" fmla="*/ 557 w 561"/>
                <a:gd name="T7" fmla="*/ 80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7" name="Group 80"/>
            <p:cNvGrpSpPr/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23" name="Group 81"/>
              <p:cNvGrpSpPr/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34" name="Freeform 82"/>
                <p:cNvSpPr/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3 w 22"/>
                    <a:gd name="T1" fmla="*/ 67 h 67"/>
                    <a:gd name="T2" fmla="*/ 0 w 22"/>
                    <a:gd name="T3" fmla="*/ 26 h 67"/>
                    <a:gd name="T4" fmla="*/ 9 w 22"/>
                    <a:gd name="T5" fmla="*/ 0 h 67"/>
                    <a:gd name="T6" fmla="*/ 22 w 22"/>
                    <a:gd name="T7" fmla="*/ 30 h 67"/>
                    <a:gd name="T8" fmla="*/ 13 w 2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5" name="Freeform 83"/>
                <p:cNvSpPr/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2 w 73"/>
                    <a:gd name="T1" fmla="*/ 0 h 29"/>
                    <a:gd name="T2" fmla="*/ 50 w 73"/>
                    <a:gd name="T3" fmla="*/ 0 h 29"/>
                    <a:gd name="T4" fmla="*/ 52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6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6" name="Freeform 84"/>
                <p:cNvSpPr/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7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4" name="Group 85"/>
              <p:cNvGrpSpPr/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31" name="Freeform 86"/>
                <p:cNvSpPr/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2" name="Freeform 87"/>
                <p:cNvSpPr/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49 w 74"/>
                    <a:gd name="T3" fmla="*/ 0 h 29"/>
                    <a:gd name="T4" fmla="*/ 50 w 74"/>
                    <a:gd name="T5" fmla="*/ 2 h 29"/>
                    <a:gd name="T6" fmla="*/ 56 w 74"/>
                    <a:gd name="T7" fmla="*/ 11 h 29"/>
                    <a:gd name="T8" fmla="*/ 74 w 74"/>
                    <a:gd name="T9" fmla="*/ 29 h 29"/>
                    <a:gd name="T10" fmla="*/ 18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3" name="Freeform 88"/>
                <p:cNvSpPr/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5" name="Freeform 89"/>
              <p:cNvSpPr/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Freeform 90"/>
              <p:cNvSpPr/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15 w 24"/>
                  <a:gd name="T1" fmla="*/ 68 h 68"/>
                  <a:gd name="T2" fmla="*/ 0 w 24"/>
                  <a:gd name="T3" fmla="*/ 27 h 68"/>
                  <a:gd name="T4" fmla="*/ 11 w 24"/>
                  <a:gd name="T5" fmla="*/ 0 h 68"/>
                  <a:gd name="T6" fmla="*/ 24 w 24"/>
                  <a:gd name="T7" fmla="*/ 31 h 68"/>
                  <a:gd name="T8" fmla="*/ 15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Freeform 91"/>
              <p:cNvSpPr/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49 w 70"/>
                  <a:gd name="T3" fmla="*/ 0 h 30"/>
                  <a:gd name="T4" fmla="*/ 50 w 70"/>
                  <a:gd name="T5" fmla="*/ 3 h 30"/>
                  <a:gd name="T6" fmla="*/ 54 w 70"/>
                  <a:gd name="T7" fmla="*/ 13 h 30"/>
                  <a:gd name="T8" fmla="*/ 70 w 70"/>
                  <a:gd name="T9" fmla="*/ 30 h 30"/>
                  <a:gd name="T10" fmla="*/ 16 w 70"/>
                  <a:gd name="T11" fmla="*/ 30 h 30"/>
                  <a:gd name="T12" fmla="*/ 7 w 70"/>
                  <a:gd name="T13" fmla="*/ 21 h 30"/>
                  <a:gd name="T14" fmla="*/ 0 w 70"/>
                  <a:gd name="T15" fmla="*/ 7 h 30"/>
                  <a:gd name="T16" fmla="*/ 0 w 70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Freeform 92"/>
              <p:cNvSpPr/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36 h 36"/>
                  <a:gd name="T2" fmla="*/ 1 w 83"/>
                  <a:gd name="T3" fmla="*/ 19 h 36"/>
                  <a:gd name="T4" fmla="*/ 7 w 83"/>
                  <a:gd name="T5" fmla="*/ 8 h 36"/>
                  <a:gd name="T6" fmla="*/ 10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9" name="Group 93"/>
              <p:cNvGrpSpPr/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28" name="Freeform 94"/>
                <p:cNvSpPr/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4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4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9" name="Freeform 95"/>
                <p:cNvSpPr/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2 w 73"/>
                    <a:gd name="T1" fmla="*/ 0 h 30"/>
                    <a:gd name="T2" fmla="*/ 49 w 73"/>
                    <a:gd name="T3" fmla="*/ 0 h 30"/>
                    <a:gd name="T4" fmla="*/ 50 w 73"/>
                    <a:gd name="T5" fmla="*/ 3 h 30"/>
                    <a:gd name="T6" fmla="*/ 57 w 73"/>
                    <a:gd name="T7" fmla="*/ 12 h 30"/>
                    <a:gd name="T8" fmla="*/ 73 w 73"/>
                    <a:gd name="T9" fmla="*/ 30 h 30"/>
                    <a:gd name="T10" fmla="*/ 19 w 73"/>
                    <a:gd name="T11" fmla="*/ 30 h 30"/>
                    <a:gd name="T12" fmla="*/ 10 w 73"/>
                    <a:gd name="T13" fmla="*/ 21 h 30"/>
                    <a:gd name="T14" fmla="*/ 0 w 73"/>
                    <a:gd name="T15" fmla="*/ 7 h 30"/>
                    <a:gd name="T16" fmla="*/ 2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0" name="Freeform 96"/>
                <p:cNvSpPr/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0" name="Group 97"/>
              <p:cNvGrpSpPr/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25" name="Freeform 98"/>
                <p:cNvSpPr/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6" name="Freeform 99"/>
                <p:cNvSpPr/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3 w 74"/>
                    <a:gd name="T1" fmla="*/ 0 h 30"/>
                    <a:gd name="T2" fmla="*/ 49 w 74"/>
                    <a:gd name="T3" fmla="*/ 0 h 30"/>
                    <a:gd name="T4" fmla="*/ 52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10 w 74"/>
                    <a:gd name="T13" fmla="*/ 21 h 30"/>
                    <a:gd name="T14" fmla="*/ 0 w 74"/>
                    <a:gd name="T15" fmla="*/ 6 h 30"/>
                    <a:gd name="T16" fmla="*/ 3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7" name="Freeform 100"/>
                <p:cNvSpPr/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6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1" name="Group 101"/>
              <p:cNvGrpSpPr/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22" name="Freeform 102"/>
                <p:cNvSpPr/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9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3" name="Freeform 103"/>
                <p:cNvSpPr/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2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9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2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4" name="Freeform 104"/>
                <p:cNvSpPr/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5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2" name="Group 105"/>
              <p:cNvGrpSpPr/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19" name="Freeform 106"/>
                <p:cNvSpPr/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0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0" name="Freeform 107"/>
                <p:cNvSpPr/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2 w 75"/>
                    <a:gd name="T3" fmla="*/ 0 h 30"/>
                    <a:gd name="T4" fmla="*/ 53 w 75"/>
                    <a:gd name="T5" fmla="*/ 3 h 30"/>
                    <a:gd name="T6" fmla="*/ 57 w 75"/>
                    <a:gd name="T7" fmla="*/ 12 h 30"/>
                    <a:gd name="T8" fmla="*/ 75 w 75"/>
                    <a:gd name="T9" fmla="*/ 30 h 30"/>
                    <a:gd name="T10" fmla="*/ 19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6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1" name="Freeform 108"/>
                <p:cNvSpPr/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3" name="Group 109"/>
              <p:cNvGrpSpPr/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499" name="Group 110"/>
                <p:cNvGrpSpPr/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16" name="Freeform 111"/>
                  <p:cNvSpPr/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0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7" name="Freeform 112"/>
                  <p:cNvSpPr/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3 h 29"/>
                      <a:gd name="T6" fmla="*/ 57 w 75"/>
                      <a:gd name="T7" fmla="*/ 12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8" name="Freeform 113"/>
                  <p:cNvSpPr/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37 h 37"/>
                      <a:gd name="T2" fmla="*/ 2 w 82"/>
                      <a:gd name="T3" fmla="*/ 22 h 37"/>
                      <a:gd name="T4" fmla="*/ 7 w 82"/>
                      <a:gd name="T5" fmla="*/ 7 h 37"/>
                      <a:gd name="T6" fmla="*/ 13 w 82"/>
                      <a:gd name="T7" fmla="*/ 0 h 37"/>
                      <a:gd name="T8" fmla="*/ 69 w 82"/>
                      <a:gd name="T9" fmla="*/ 0 h 37"/>
                      <a:gd name="T10" fmla="*/ 82 w 82"/>
                      <a:gd name="T11" fmla="*/ 37 h 37"/>
                      <a:gd name="T12" fmla="*/ 0 w 82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500" name="Group 114"/>
                <p:cNvGrpSpPr/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13" name="Freeform 115"/>
                  <p:cNvSpPr/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4" name="Freeform 116"/>
                  <p:cNvSpPr/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3 w 75"/>
                      <a:gd name="T5" fmla="*/ 3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5" name="Freeform 117"/>
                  <p:cNvSpPr/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501" name="Group 118"/>
                <p:cNvGrpSpPr/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10" name="Freeform 119"/>
                  <p:cNvSpPr/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1" name="Freeform 120"/>
                  <p:cNvSpPr/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7 w 73"/>
                      <a:gd name="T7" fmla="*/ 11 h 29"/>
                      <a:gd name="T8" fmla="*/ 73 w 73"/>
                      <a:gd name="T9" fmla="*/ 29 h 29"/>
                      <a:gd name="T10" fmla="*/ 19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2" name="Freeform 121"/>
                  <p:cNvSpPr/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20 h 36"/>
                      <a:gd name="T4" fmla="*/ 7 w 83"/>
                      <a:gd name="T5" fmla="*/ 8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502" name="Group 122"/>
                <p:cNvGrpSpPr/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07" name="Freeform 123"/>
                  <p:cNvSpPr/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8" name="Freeform 124"/>
                  <p:cNvSpPr/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3 w 74"/>
                      <a:gd name="T1" fmla="*/ 0 h 29"/>
                      <a:gd name="T2" fmla="*/ 49 w 74"/>
                      <a:gd name="T3" fmla="*/ 0 h 29"/>
                      <a:gd name="T4" fmla="*/ 53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3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9" name="Freeform 125"/>
                  <p:cNvSpPr/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1 w 83"/>
                      <a:gd name="T3" fmla="*/ 19 h 35"/>
                      <a:gd name="T4" fmla="*/ 6 w 83"/>
                      <a:gd name="T5" fmla="*/ 7 h 35"/>
                      <a:gd name="T6" fmla="*/ 10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503" name="Group 126"/>
                <p:cNvGrpSpPr/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04" name="Freeform 127"/>
                  <p:cNvSpPr/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5" name="Freeform 128"/>
                  <p:cNvSpPr/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0 w 74"/>
                      <a:gd name="T13" fmla="*/ 20 h 29"/>
                      <a:gd name="T14" fmla="*/ 0 w 74"/>
                      <a:gd name="T15" fmla="*/ 5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6" name="Freeform 129"/>
                  <p:cNvSpPr/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5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34" name="Group 130"/>
              <p:cNvGrpSpPr/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79" name="Group 131"/>
                <p:cNvGrpSpPr/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496" name="Freeform 132"/>
                  <p:cNvSpPr/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7" name="Freeform 133"/>
                  <p:cNvSpPr/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8" name="Freeform 134"/>
                  <p:cNvSpPr/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0" name="Group 135"/>
                <p:cNvGrpSpPr/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493" name="Freeform 136"/>
                  <p:cNvSpPr/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1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4" name="Freeform 137"/>
                  <p:cNvSpPr/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5" name="Freeform 138"/>
                  <p:cNvSpPr/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37 h 37"/>
                      <a:gd name="T2" fmla="*/ 4 w 83"/>
                      <a:gd name="T3" fmla="*/ 19 h 37"/>
                      <a:gd name="T4" fmla="*/ 8 w 83"/>
                      <a:gd name="T5" fmla="*/ 8 h 37"/>
                      <a:gd name="T6" fmla="*/ 13 w 83"/>
                      <a:gd name="T7" fmla="*/ 0 h 37"/>
                      <a:gd name="T8" fmla="*/ 68 w 83"/>
                      <a:gd name="T9" fmla="*/ 0 h 37"/>
                      <a:gd name="T10" fmla="*/ 83 w 83"/>
                      <a:gd name="T11" fmla="*/ 37 h 37"/>
                      <a:gd name="T12" fmla="*/ 0 w 83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1" name="Group 139"/>
                <p:cNvGrpSpPr/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490" name="Freeform 140"/>
                  <p:cNvSpPr/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1" name="Freeform 141"/>
                  <p:cNvSpPr/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3 h 31"/>
                      <a:gd name="T6" fmla="*/ 56 w 75"/>
                      <a:gd name="T7" fmla="*/ 12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2" name="Freeform 142"/>
                  <p:cNvSpPr/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8 w 82"/>
                      <a:gd name="T5" fmla="*/ 7 h 35"/>
                      <a:gd name="T6" fmla="*/ 12 w 82"/>
                      <a:gd name="T7" fmla="*/ 0 h 35"/>
                      <a:gd name="T8" fmla="*/ 69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2" name="Group 143"/>
                <p:cNvGrpSpPr/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487" name="Freeform 144"/>
                  <p:cNvSpPr/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13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3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8" name="Freeform 145"/>
                  <p:cNvSpPr/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9" name="Freeform 146"/>
                  <p:cNvSpPr/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3 w 83"/>
                      <a:gd name="T7" fmla="*/ 0 h 36"/>
                      <a:gd name="T8" fmla="*/ 70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3" name="Group 147"/>
                <p:cNvGrpSpPr/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84" name="Freeform 148"/>
                  <p:cNvSpPr/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5" name="Freeform 149"/>
                  <p:cNvSpPr/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3 w 75"/>
                      <a:gd name="T1" fmla="*/ 0 h 29"/>
                      <a:gd name="T2" fmla="*/ 51 w 75"/>
                      <a:gd name="T3" fmla="*/ 0 h 29"/>
                      <a:gd name="T4" fmla="*/ 53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3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6" name="Freeform 150"/>
                  <p:cNvSpPr/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6 w 82"/>
                      <a:gd name="T5" fmla="*/ 8 h 36"/>
                      <a:gd name="T6" fmla="*/ 10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35" name="Group 151"/>
              <p:cNvGrpSpPr/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76" name="Freeform 152"/>
                <p:cNvSpPr/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7" name="Freeform 153"/>
                <p:cNvSpPr/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2 w 73"/>
                    <a:gd name="T1" fmla="*/ 0 h 31"/>
                    <a:gd name="T2" fmla="*/ 49 w 73"/>
                    <a:gd name="T3" fmla="*/ 0 h 31"/>
                    <a:gd name="T4" fmla="*/ 50 w 73"/>
                    <a:gd name="T5" fmla="*/ 4 h 31"/>
                    <a:gd name="T6" fmla="*/ 57 w 73"/>
                    <a:gd name="T7" fmla="*/ 13 h 31"/>
                    <a:gd name="T8" fmla="*/ 73 w 73"/>
                    <a:gd name="T9" fmla="*/ 31 h 31"/>
                    <a:gd name="T10" fmla="*/ 17 w 73"/>
                    <a:gd name="T11" fmla="*/ 31 h 31"/>
                    <a:gd name="T12" fmla="*/ 10 w 73"/>
                    <a:gd name="T13" fmla="*/ 22 h 31"/>
                    <a:gd name="T14" fmla="*/ 0 w 73"/>
                    <a:gd name="T15" fmla="*/ 6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8" name="Freeform 154"/>
                <p:cNvSpPr/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6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6" name="Group 155"/>
              <p:cNvGrpSpPr/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73" name="Freeform 156"/>
                <p:cNvSpPr/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4" name="Freeform 157"/>
                <p:cNvSpPr/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0 w 75"/>
                    <a:gd name="T3" fmla="*/ 0 h 30"/>
                    <a:gd name="T4" fmla="*/ 51 w 75"/>
                    <a:gd name="T5" fmla="*/ 3 h 30"/>
                    <a:gd name="T6" fmla="*/ 58 w 75"/>
                    <a:gd name="T7" fmla="*/ 12 h 30"/>
                    <a:gd name="T8" fmla="*/ 75 w 75"/>
                    <a:gd name="T9" fmla="*/ 30 h 30"/>
                    <a:gd name="T10" fmla="*/ 18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7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5" name="Freeform 158"/>
                <p:cNvSpPr/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7" name="Group 159"/>
              <p:cNvGrpSpPr/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70" name="Freeform 160"/>
                <p:cNvSpPr/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0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1" name="Freeform 161"/>
                <p:cNvSpPr/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2 w 74"/>
                    <a:gd name="T1" fmla="*/ 0 h 31"/>
                    <a:gd name="T2" fmla="*/ 50 w 74"/>
                    <a:gd name="T3" fmla="*/ 0 h 31"/>
                    <a:gd name="T4" fmla="*/ 52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9 w 74"/>
                    <a:gd name="T11" fmla="*/ 31 h 31"/>
                    <a:gd name="T12" fmla="*/ 11 w 74"/>
                    <a:gd name="T13" fmla="*/ 20 h 31"/>
                    <a:gd name="T14" fmla="*/ 0 w 74"/>
                    <a:gd name="T15" fmla="*/ 6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2" name="Freeform 162"/>
                <p:cNvSpPr/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3 w 81"/>
                    <a:gd name="T3" fmla="*/ 20 h 36"/>
                    <a:gd name="T4" fmla="*/ 6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8" name="Freeform 163"/>
              <p:cNvSpPr/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4 w 23"/>
                  <a:gd name="T1" fmla="*/ 68 h 68"/>
                  <a:gd name="T2" fmla="*/ 0 w 23"/>
                  <a:gd name="T3" fmla="*/ 27 h 68"/>
                  <a:gd name="T4" fmla="*/ 9 w 23"/>
                  <a:gd name="T5" fmla="*/ 0 h 68"/>
                  <a:gd name="T6" fmla="*/ 23 w 23"/>
                  <a:gd name="T7" fmla="*/ 31 h 68"/>
                  <a:gd name="T8" fmla="*/ 14 w 23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Freeform 164"/>
              <p:cNvSpPr/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49 w 71"/>
                  <a:gd name="T3" fmla="*/ 0 h 27"/>
                  <a:gd name="T4" fmla="*/ 51 w 71"/>
                  <a:gd name="T5" fmla="*/ 2 h 27"/>
                  <a:gd name="T6" fmla="*/ 55 w 71"/>
                  <a:gd name="T7" fmla="*/ 12 h 27"/>
                  <a:gd name="T8" fmla="*/ 71 w 71"/>
                  <a:gd name="T9" fmla="*/ 27 h 27"/>
                  <a:gd name="T10" fmla="*/ 17 w 71"/>
                  <a:gd name="T11" fmla="*/ 27 h 27"/>
                  <a:gd name="T12" fmla="*/ 8 w 71"/>
                  <a:gd name="T13" fmla="*/ 20 h 27"/>
                  <a:gd name="T14" fmla="*/ 0 w 71"/>
                  <a:gd name="T15" fmla="*/ 6 h 27"/>
                  <a:gd name="T16" fmla="*/ 0 w 71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Freeform 165"/>
              <p:cNvSpPr/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36 h 36"/>
                  <a:gd name="T2" fmla="*/ 2 w 82"/>
                  <a:gd name="T3" fmla="*/ 21 h 36"/>
                  <a:gd name="T4" fmla="*/ 6 w 82"/>
                  <a:gd name="T5" fmla="*/ 8 h 36"/>
                  <a:gd name="T6" fmla="*/ 11 w 82"/>
                  <a:gd name="T7" fmla="*/ 0 h 36"/>
                  <a:gd name="T8" fmla="*/ 68 w 82"/>
                  <a:gd name="T9" fmla="*/ 0 h 36"/>
                  <a:gd name="T10" fmla="*/ 82 w 82"/>
                  <a:gd name="T11" fmla="*/ 36 h 36"/>
                  <a:gd name="T12" fmla="*/ 0 w 8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41" name="Group 166"/>
              <p:cNvGrpSpPr/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67" name="Freeform 167"/>
                <p:cNvSpPr/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8" name="Freeform 168"/>
                <p:cNvSpPr/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9" name="Freeform 169"/>
                <p:cNvSpPr/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2" name="Group 170"/>
              <p:cNvGrpSpPr/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64" name="Freeform 171"/>
                <p:cNvSpPr/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5" name="Freeform 172"/>
                <p:cNvSpPr/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6" name="Freeform 173"/>
                <p:cNvSpPr/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6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3" name="Group 174"/>
              <p:cNvGrpSpPr/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61" name="Freeform 175"/>
                <p:cNvSpPr/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5 h 68"/>
                    <a:gd name="T4" fmla="*/ 9 w 23"/>
                    <a:gd name="T5" fmla="*/ 0 h 68"/>
                    <a:gd name="T6" fmla="*/ 23 w 23"/>
                    <a:gd name="T7" fmla="*/ 30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2" name="Freeform 176"/>
                <p:cNvSpPr/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50 w 73"/>
                    <a:gd name="T3" fmla="*/ 0 h 29"/>
                    <a:gd name="T4" fmla="*/ 51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10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3" name="Freeform 177"/>
                <p:cNvSpPr/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19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4" name="Group 178"/>
              <p:cNvGrpSpPr/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58" name="Freeform 179"/>
                <p:cNvSpPr/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9" name="Freeform 180"/>
                <p:cNvSpPr/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0" name="Freeform 181"/>
                <p:cNvSpPr/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6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5" name="Group 182"/>
              <p:cNvGrpSpPr/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38" name="Group 183"/>
                <p:cNvGrpSpPr/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55" name="Freeform 184"/>
                  <p:cNvSpPr/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3 w 23"/>
                      <a:gd name="T1" fmla="*/ 70 h 70"/>
                      <a:gd name="T2" fmla="*/ 0 w 23"/>
                      <a:gd name="T3" fmla="*/ 27 h 70"/>
                      <a:gd name="T4" fmla="*/ 9 w 23"/>
                      <a:gd name="T5" fmla="*/ 0 h 70"/>
                      <a:gd name="T6" fmla="*/ 23 w 23"/>
                      <a:gd name="T7" fmla="*/ 31 h 70"/>
                      <a:gd name="T8" fmla="*/ 13 w 23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56" name="Freeform 185"/>
                  <p:cNvSpPr/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50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57" name="Freeform 186"/>
                  <p:cNvSpPr/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38 h 38"/>
                      <a:gd name="T2" fmla="*/ 1 w 83"/>
                      <a:gd name="T3" fmla="*/ 22 h 38"/>
                      <a:gd name="T4" fmla="*/ 8 w 83"/>
                      <a:gd name="T5" fmla="*/ 8 h 38"/>
                      <a:gd name="T6" fmla="*/ 12 w 83"/>
                      <a:gd name="T7" fmla="*/ 0 h 38"/>
                      <a:gd name="T8" fmla="*/ 68 w 83"/>
                      <a:gd name="T9" fmla="*/ 0 h 38"/>
                      <a:gd name="T10" fmla="*/ 83 w 83"/>
                      <a:gd name="T11" fmla="*/ 38 h 38"/>
                      <a:gd name="T12" fmla="*/ 0 w 83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39" name="Group 187"/>
                <p:cNvGrpSpPr/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52" name="Freeform 188"/>
                  <p:cNvSpPr/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53" name="Freeform 189"/>
                  <p:cNvSpPr/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2 w 75"/>
                      <a:gd name="T1" fmla="*/ 0 h 32"/>
                      <a:gd name="T2" fmla="*/ 50 w 75"/>
                      <a:gd name="T3" fmla="*/ 0 h 32"/>
                      <a:gd name="T4" fmla="*/ 52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2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54" name="Freeform 190"/>
                  <p:cNvSpPr/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1 h 36"/>
                      <a:gd name="T4" fmla="*/ 5 w 81"/>
                      <a:gd name="T5" fmla="*/ 8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40" name="Group 191"/>
                <p:cNvGrpSpPr/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49" name="Freeform 192"/>
                  <p:cNvSpPr/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50" name="Freeform 193"/>
                  <p:cNvSpPr/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51" name="Freeform 194"/>
                  <p:cNvSpPr/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41" name="Group 195"/>
                <p:cNvGrpSpPr/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46" name="Freeform 196"/>
                  <p:cNvSpPr/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47" name="Freeform 197"/>
                  <p:cNvSpPr/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48 w 73"/>
                      <a:gd name="T3" fmla="*/ 0 h 30"/>
                      <a:gd name="T4" fmla="*/ 52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5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48" name="Freeform 198"/>
                  <p:cNvSpPr/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42" name="Group 199"/>
                <p:cNvGrpSpPr/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43" name="Freeform 200"/>
                  <p:cNvSpPr/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11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44" name="Freeform 201"/>
                  <p:cNvSpPr/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45" name="Freeform 202"/>
                  <p:cNvSpPr/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6" name="Group 203"/>
              <p:cNvGrpSpPr/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18" name="Group 204"/>
                <p:cNvGrpSpPr/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35" name="Freeform 205"/>
                  <p:cNvSpPr/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6" name="Freeform 206"/>
                  <p:cNvSpPr/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7" name="Freeform 207"/>
                  <p:cNvSpPr/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19" name="Group 208"/>
                <p:cNvGrpSpPr/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32" name="Freeform 209"/>
                  <p:cNvSpPr/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13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1 h 70"/>
                      <a:gd name="T8" fmla="*/ 13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3" name="Freeform 210"/>
                  <p:cNvSpPr/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3 h 30"/>
                      <a:gd name="T6" fmla="*/ 56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1 w 74"/>
                      <a:gd name="T13" fmla="*/ 20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4" name="Freeform 211"/>
                  <p:cNvSpPr/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1 h 38"/>
                      <a:gd name="T4" fmla="*/ 7 w 82"/>
                      <a:gd name="T5" fmla="*/ 8 h 38"/>
                      <a:gd name="T6" fmla="*/ 11 w 82"/>
                      <a:gd name="T7" fmla="*/ 0 h 38"/>
                      <a:gd name="T8" fmla="*/ 68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0" name="Group 212"/>
                <p:cNvGrpSpPr/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29" name="Freeform 213"/>
                  <p:cNvSpPr/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0" name="Freeform 214"/>
                  <p:cNvSpPr/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1" name="Freeform 215"/>
                  <p:cNvSpPr/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6 w 81"/>
                      <a:gd name="T5" fmla="*/ 7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1" name="Group 216"/>
                <p:cNvGrpSpPr/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26" name="Freeform 217"/>
                  <p:cNvSpPr/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7" name="Freeform 218"/>
                  <p:cNvSpPr/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8" name="Freeform 219"/>
                  <p:cNvSpPr/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2" name="Group 220"/>
                <p:cNvGrpSpPr/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23" name="Freeform 221"/>
                  <p:cNvSpPr/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4" name="Freeform 222"/>
                  <p:cNvSpPr/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2 w 74"/>
                      <a:gd name="T5" fmla="*/ 3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5" name="Freeform 223"/>
                  <p:cNvSpPr/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7" name="Group 224"/>
              <p:cNvGrpSpPr/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15" name="Freeform 225"/>
                <p:cNvSpPr/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2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6" name="Freeform 226"/>
                <p:cNvSpPr/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2 w 73"/>
                    <a:gd name="T1" fmla="*/ 0 h 31"/>
                    <a:gd name="T2" fmla="*/ 48 w 73"/>
                    <a:gd name="T3" fmla="*/ 0 h 31"/>
                    <a:gd name="T4" fmla="*/ 51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7" name="Freeform 227"/>
                <p:cNvSpPr/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8" name="Group 228"/>
              <p:cNvGrpSpPr/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12" name="Freeform 229"/>
                <p:cNvSpPr/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3" name="Freeform 230"/>
                <p:cNvSpPr/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2 w 74"/>
                    <a:gd name="T1" fmla="*/ 0 h 31"/>
                    <a:gd name="T2" fmla="*/ 49 w 74"/>
                    <a:gd name="T3" fmla="*/ 0 h 31"/>
                    <a:gd name="T4" fmla="*/ 51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4" name="Freeform 231"/>
                <p:cNvSpPr/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9" name="Group 232"/>
              <p:cNvGrpSpPr/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09" name="Freeform 233"/>
                <p:cNvSpPr/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2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0" name="Freeform 234"/>
                <p:cNvSpPr/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2 w 74"/>
                    <a:gd name="T1" fmla="*/ 0 h 31"/>
                    <a:gd name="T2" fmla="*/ 51 w 74"/>
                    <a:gd name="T3" fmla="*/ 0 h 31"/>
                    <a:gd name="T4" fmla="*/ 52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1" name="Freeform 235"/>
                <p:cNvSpPr/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7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50" name="Freeform 236"/>
              <p:cNvSpPr/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3 w 24"/>
                  <a:gd name="T1" fmla="*/ 68 h 68"/>
                  <a:gd name="T2" fmla="*/ 0 w 24"/>
                  <a:gd name="T3" fmla="*/ 27 h 68"/>
                  <a:gd name="T4" fmla="*/ 9 w 24"/>
                  <a:gd name="T5" fmla="*/ 0 h 68"/>
                  <a:gd name="T6" fmla="*/ 24 w 24"/>
                  <a:gd name="T7" fmla="*/ 31 h 68"/>
                  <a:gd name="T8" fmla="*/ 13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Freeform 237"/>
              <p:cNvSpPr/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50 w 72"/>
                  <a:gd name="T3" fmla="*/ 0 h 31"/>
                  <a:gd name="T4" fmla="*/ 51 w 72"/>
                  <a:gd name="T5" fmla="*/ 4 h 31"/>
                  <a:gd name="T6" fmla="*/ 57 w 72"/>
                  <a:gd name="T7" fmla="*/ 13 h 31"/>
                  <a:gd name="T8" fmla="*/ 72 w 72"/>
                  <a:gd name="T9" fmla="*/ 31 h 31"/>
                  <a:gd name="T10" fmla="*/ 18 w 72"/>
                  <a:gd name="T11" fmla="*/ 31 h 31"/>
                  <a:gd name="T12" fmla="*/ 9 w 72"/>
                  <a:gd name="T13" fmla="*/ 22 h 31"/>
                  <a:gd name="T14" fmla="*/ 0 w 72"/>
                  <a:gd name="T15" fmla="*/ 7 h 31"/>
                  <a:gd name="T16" fmla="*/ 1 w 72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Freeform 238"/>
              <p:cNvSpPr/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36 h 36"/>
                  <a:gd name="T2" fmla="*/ 3 w 83"/>
                  <a:gd name="T3" fmla="*/ 21 h 36"/>
                  <a:gd name="T4" fmla="*/ 7 w 83"/>
                  <a:gd name="T5" fmla="*/ 8 h 36"/>
                  <a:gd name="T6" fmla="*/ 12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3" name="Group 239"/>
              <p:cNvGrpSpPr/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06" name="Freeform 240"/>
                <p:cNvSpPr/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7" name="Freeform 241"/>
                <p:cNvSpPr/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6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8" name="Freeform 242"/>
                <p:cNvSpPr/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4" name="Group 243"/>
              <p:cNvGrpSpPr/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03" name="Freeform 244"/>
                <p:cNvSpPr/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4" name="Freeform 245"/>
                <p:cNvSpPr/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7 w 72"/>
                    <a:gd name="T7" fmla="*/ 11 h 29"/>
                    <a:gd name="T8" fmla="*/ 72 w 72"/>
                    <a:gd name="T9" fmla="*/ 29 h 29"/>
                    <a:gd name="T10" fmla="*/ 18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5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5" name="Freeform 246"/>
                <p:cNvSpPr/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3 w 83"/>
                    <a:gd name="T3" fmla="*/ 19 h 35"/>
                    <a:gd name="T4" fmla="*/ 7 w 83"/>
                    <a:gd name="T5" fmla="*/ 7 h 35"/>
                    <a:gd name="T6" fmla="*/ 12 w 83"/>
                    <a:gd name="T7" fmla="*/ 0 h 35"/>
                    <a:gd name="T8" fmla="*/ 67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5" name="Group 247"/>
              <p:cNvGrpSpPr/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00" name="Freeform 248"/>
                <p:cNvSpPr/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0 w 25"/>
                    <a:gd name="T5" fmla="*/ 0 h 68"/>
                    <a:gd name="T6" fmla="*/ 25 w 25"/>
                    <a:gd name="T7" fmla="*/ 30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1" name="Freeform 249"/>
                <p:cNvSpPr/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2" name="Freeform 250"/>
                <p:cNvSpPr/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6 w 82"/>
                    <a:gd name="T5" fmla="*/ 7 h 36"/>
                    <a:gd name="T6" fmla="*/ 10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6" name="Group 251"/>
              <p:cNvGrpSpPr/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397" name="Freeform 252"/>
                <p:cNvSpPr/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8" name="Freeform 253"/>
                <p:cNvSpPr/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9" name="Freeform 254"/>
                <p:cNvSpPr/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5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7" name="Group 255"/>
              <p:cNvGrpSpPr/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77" name="Group 256"/>
                <p:cNvGrpSpPr/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394" name="Freeform 257"/>
                  <p:cNvSpPr/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7 h 70"/>
                      <a:gd name="T4" fmla="*/ 10 w 25"/>
                      <a:gd name="T5" fmla="*/ 0 h 70"/>
                      <a:gd name="T6" fmla="*/ 25 w 25"/>
                      <a:gd name="T7" fmla="*/ 31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95" name="Freeform 258"/>
                  <p:cNvSpPr/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96" name="Freeform 259"/>
                  <p:cNvSpPr/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8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78" name="Group 260"/>
                <p:cNvGrpSpPr/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391" name="Freeform 261"/>
                  <p:cNvSpPr/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92" name="Freeform 262"/>
                  <p:cNvSpPr/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50 w 73"/>
                      <a:gd name="T3" fmla="*/ 0 h 32"/>
                      <a:gd name="T4" fmla="*/ 51 w 73"/>
                      <a:gd name="T5" fmla="*/ 3 h 32"/>
                      <a:gd name="T6" fmla="*/ 56 w 73"/>
                      <a:gd name="T7" fmla="*/ 15 h 32"/>
                      <a:gd name="T8" fmla="*/ 73 w 73"/>
                      <a:gd name="T9" fmla="*/ 32 h 32"/>
                      <a:gd name="T10" fmla="*/ 18 w 73"/>
                      <a:gd name="T11" fmla="*/ 32 h 32"/>
                      <a:gd name="T12" fmla="*/ 9 w 73"/>
                      <a:gd name="T13" fmla="*/ 22 h 32"/>
                      <a:gd name="T14" fmla="*/ 0 w 73"/>
                      <a:gd name="T15" fmla="*/ 7 h 32"/>
                      <a:gd name="T16" fmla="*/ 1 w 73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93" name="Freeform 263"/>
                  <p:cNvSpPr/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79" name="Group 264"/>
                <p:cNvGrpSpPr/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388" name="Freeform 265"/>
                  <p:cNvSpPr/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89" name="Freeform 266"/>
                  <p:cNvSpPr/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90" name="Freeform 267"/>
                  <p:cNvSpPr/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80" name="Group 268"/>
                <p:cNvGrpSpPr/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85" name="Freeform 269"/>
                  <p:cNvSpPr/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86" name="Freeform 270"/>
                  <p:cNvSpPr/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87" name="Freeform 271"/>
                  <p:cNvSpPr/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81" name="Group 272"/>
                <p:cNvGrpSpPr/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82" name="Freeform 273"/>
                  <p:cNvSpPr/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6 w 25"/>
                      <a:gd name="T1" fmla="*/ 67 h 67"/>
                      <a:gd name="T2" fmla="*/ 0 w 25"/>
                      <a:gd name="T3" fmla="*/ 26 h 67"/>
                      <a:gd name="T4" fmla="*/ 12 w 25"/>
                      <a:gd name="T5" fmla="*/ 0 h 67"/>
                      <a:gd name="T6" fmla="*/ 25 w 25"/>
                      <a:gd name="T7" fmla="*/ 30 h 67"/>
                      <a:gd name="T8" fmla="*/ 16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83" name="Freeform 274"/>
                  <p:cNvSpPr/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8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84" name="Freeform 275"/>
                  <p:cNvSpPr/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8" name="Group 276"/>
              <p:cNvGrpSpPr/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57" name="Group 277"/>
                <p:cNvGrpSpPr/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74" name="Freeform 278"/>
                  <p:cNvSpPr/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5" name="Freeform 279"/>
                  <p:cNvSpPr/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9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6" name="Freeform 280"/>
                  <p:cNvSpPr/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58" name="Group 281"/>
                <p:cNvGrpSpPr/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71" name="Freeform 282"/>
                  <p:cNvSpPr/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2" name="Freeform 283"/>
                  <p:cNvSpPr/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3" name="Freeform 284"/>
                  <p:cNvSpPr/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38 h 38"/>
                      <a:gd name="T2" fmla="*/ 2 w 81"/>
                      <a:gd name="T3" fmla="*/ 21 h 38"/>
                      <a:gd name="T4" fmla="*/ 8 w 81"/>
                      <a:gd name="T5" fmla="*/ 8 h 38"/>
                      <a:gd name="T6" fmla="*/ 12 w 81"/>
                      <a:gd name="T7" fmla="*/ 0 h 38"/>
                      <a:gd name="T8" fmla="*/ 68 w 81"/>
                      <a:gd name="T9" fmla="*/ 0 h 38"/>
                      <a:gd name="T10" fmla="*/ 81 w 81"/>
                      <a:gd name="T11" fmla="*/ 38 h 38"/>
                      <a:gd name="T12" fmla="*/ 0 w 81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59" name="Group 285"/>
                <p:cNvGrpSpPr/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68" name="Freeform 286"/>
                  <p:cNvSpPr/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9" name="Freeform 287"/>
                  <p:cNvSpPr/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0" name="Freeform 288"/>
                  <p:cNvSpPr/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8 w 83"/>
                      <a:gd name="T5" fmla="*/ 7 h 36"/>
                      <a:gd name="T6" fmla="*/ 13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0" name="Group 289"/>
                <p:cNvGrpSpPr/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65" name="Freeform 290"/>
                  <p:cNvSpPr/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6" name="Freeform 291"/>
                  <p:cNvSpPr/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0 w 75"/>
                      <a:gd name="T13" fmla="*/ 21 h 30"/>
                      <a:gd name="T14" fmla="*/ 0 w 75"/>
                      <a:gd name="T15" fmla="*/ 7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7" name="Freeform 292"/>
                  <p:cNvSpPr/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1" name="Group 293"/>
                <p:cNvGrpSpPr/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62" name="Freeform 294"/>
                  <p:cNvSpPr/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3" name="Freeform 295"/>
                  <p:cNvSpPr/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3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4" name="Freeform 296"/>
                  <p:cNvSpPr/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9" name="Group 297"/>
              <p:cNvGrpSpPr/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54" name="Freeform 298"/>
                <p:cNvSpPr/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1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5" name="Freeform 299"/>
                <p:cNvSpPr/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48 w 73"/>
                    <a:gd name="T3" fmla="*/ 0 h 31"/>
                    <a:gd name="T4" fmla="*/ 50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1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6" name="Freeform 300"/>
                <p:cNvSpPr/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6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0" name="Group 301"/>
              <p:cNvGrpSpPr/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51" name="Freeform 302"/>
                <p:cNvSpPr/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10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2" name="Freeform 303"/>
                <p:cNvSpPr/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4 w 75"/>
                    <a:gd name="T1" fmla="*/ 0 h 31"/>
                    <a:gd name="T2" fmla="*/ 52 w 75"/>
                    <a:gd name="T3" fmla="*/ 0 h 31"/>
                    <a:gd name="T4" fmla="*/ 53 w 75"/>
                    <a:gd name="T5" fmla="*/ 4 h 31"/>
                    <a:gd name="T6" fmla="*/ 60 w 75"/>
                    <a:gd name="T7" fmla="*/ 13 h 31"/>
                    <a:gd name="T8" fmla="*/ 75 w 75"/>
                    <a:gd name="T9" fmla="*/ 31 h 31"/>
                    <a:gd name="T10" fmla="*/ 19 w 75"/>
                    <a:gd name="T11" fmla="*/ 31 h 31"/>
                    <a:gd name="T12" fmla="*/ 12 w 75"/>
                    <a:gd name="T13" fmla="*/ 22 h 31"/>
                    <a:gd name="T14" fmla="*/ 0 w 75"/>
                    <a:gd name="T15" fmla="*/ 7 h 31"/>
                    <a:gd name="T16" fmla="*/ 4 w 75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3" name="Freeform 304"/>
                <p:cNvSpPr/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1" name="Group 305"/>
              <p:cNvGrpSpPr/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48" name="Freeform 306"/>
                <p:cNvSpPr/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9" name="Freeform 307"/>
                <p:cNvSpPr/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2 w 73"/>
                    <a:gd name="T1" fmla="*/ 0 h 29"/>
                    <a:gd name="T2" fmla="*/ 49 w 73"/>
                    <a:gd name="T3" fmla="*/ 0 h 29"/>
                    <a:gd name="T4" fmla="*/ 50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5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0" name="Freeform 308"/>
                <p:cNvSpPr/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2 w 83"/>
                    <a:gd name="T3" fmla="*/ 19 h 35"/>
                    <a:gd name="T4" fmla="*/ 7 w 83"/>
                    <a:gd name="T5" fmla="*/ 7 h 35"/>
                    <a:gd name="T6" fmla="*/ 11 w 83"/>
                    <a:gd name="T7" fmla="*/ 0 h 35"/>
                    <a:gd name="T8" fmla="*/ 68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2" name="Group 309"/>
              <p:cNvGrpSpPr/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45" name="Freeform 310"/>
                <p:cNvSpPr/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5 h 68"/>
                    <a:gd name="T4" fmla="*/ 9 w 25"/>
                    <a:gd name="T5" fmla="*/ 0 h 68"/>
                    <a:gd name="T6" fmla="*/ 25 w 25"/>
                    <a:gd name="T7" fmla="*/ 30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6" name="Freeform 311"/>
                <p:cNvSpPr/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7" name="Freeform 312"/>
                <p:cNvSpPr/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3" name="Group 313"/>
              <p:cNvGrpSpPr/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42" name="Freeform 314"/>
                <p:cNvSpPr/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6 h 68"/>
                    <a:gd name="T4" fmla="*/ 9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3" name="Freeform 315"/>
                <p:cNvSpPr/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1 w 74"/>
                    <a:gd name="T1" fmla="*/ 0 h 29"/>
                    <a:gd name="T2" fmla="*/ 50 w 74"/>
                    <a:gd name="T3" fmla="*/ 0 h 29"/>
                    <a:gd name="T4" fmla="*/ 51 w 74"/>
                    <a:gd name="T5" fmla="*/ 2 h 29"/>
                    <a:gd name="T6" fmla="*/ 55 w 74"/>
                    <a:gd name="T7" fmla="*/ 11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11 w 74"/>
                    <a:gd name="T13" fmla="*/ 20 h 29"/>
                    <a:gd name="T14" fmla="*/ 0 w 74"/>
                    <a:gd name="T15" fmla="*/ 5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4" name="Freeform 316"/>
                <p:cNvSpPr/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6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4" name="Group 317"/>
              <p:cNvGrpSpPr/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22" name="Group 318"/>
                <p:cNvGrpSpPr/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39" name="Freeform 319"/>
                  <p:cNvSpPr/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0" name="Freeform 320"/>
                  <p:cNvSpPr/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1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1" name="Freeform 321"/>
                  <p:cNvSpPr/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7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23" name="Group 322"/>
                <p:cNvGrpSpPr/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36" name="Freeform 323"/>
                  <p:cNvSpPr/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7" name="Freeform 324"/>
                  <p:cNvSpPr/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3 w 75"/>
                      <a:gd name="T1" fmla="*/ 0 h 32"/>
                      <a:gd name="T2" fmla="*/ 52 w 75"/>
                      <a:gd name="T3" fmla="*/ 0 h 32"/>
                      <a:gd name="T4" fmla="*/ 53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3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8" name="Freeform 325"/>
                  <p:cNvSpPr/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1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24" name="Group 326"/>
                <p:cNvGrpSpPr/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33" name="Freeform 327"/>
                  <p:cNvSpPr/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4" name="Freeform 328"/>
                  <p:cNvSpPr/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5" name="Freeform 329"/>
                  <p:cNvSpPr/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25" name="Group 330"/>
                <p:cNvGrpSpPr/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30" name="Freeform 331"/>
                  <p:cNvSpPr/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1" name="Freeform 332"/>
                  <p:cNvSpPr/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5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2" name="Freeform 333"/>
                  <p:cNvSpPr/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26" name="Group 334"/>
                <p:cNvGrpSpPr/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27" name="Freeform 335"/>
                  <p:cNvSpPr/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15 w 25"/>
                      <a:gd name="T1" fmla="*/ 67 h 67"/>
                      <a:gd name="T2" fmla="*/ 0 w 25"/>
                      <a:gd name="T3" fmla="*/ 26 h 67"/>
                      <a:gd name="T4" fmla="*/ 10 w 25"/>
                      <a:gd name="T5" fmla="*/ 0 h 67"/>
                      <a:gd name="T6" fmla="*/ 25 w 25"/>
                      <a:gd name="T7" fmla="*/ 30 h 67"/>
                      <a:gd name="T8" fmla="*/ 15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8" name="Freeform 336"/>
                  <p:cNvSpPr/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9" name="Freeform 337"/>
                  <p:cNvSpPr/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65" name="Group 338"/>
              <p:cNvGrpSpPr/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02" name="Group 339"/>
                <p:cNvGrpSpPr/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19" name="Freeform 340"/>
                  <p:cNvSpPr/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0" name="Freeform 341"/>
                  <p:cNvSpPr/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1" name="Freeform 342"/>
                  <p:cNvSpPr/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3" name="Group 343"/>
                <p:cNvGrpSpPr/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16" name="Freeform 344"/>
                  <p:cNvSpPr/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7" name="Freeform 345"/>
                  <p:cNvSpPr/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0 w 75"/>
                      <a:gd name="T3" fmla="*/ 0 h 30"/>
                      <a:gd name="T4" fmla="*/ 52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8" name="Freeform 346"/>
                  <p:cNvSpPr/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4 w 82"/>
                      <a:gd name="T3" fmla="*/ 21 h 38"/>
                      <a:gd name="T4" fmla="*/ 8 w 82"/>
                      <a:gd name="T5" fmla="*/ 8 h 38"/>
                      <a:gd name="T6" fmla="*/ 13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4" name="Group 347"/>
                <p:cNvGrpSpPr/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13" name="Freeform 348"/>
                  <p:cNvSpPr/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4 w 24"/>
                      <a:gd name="T1" fmla="*/ 70 h 70"/>
                      <a:gd name="T2" fmla="*/ 0 w 24"/>
                      <a:gd name="T3" fmla="*/ 29 h 70"/>
                      <a:gd name="T4" fmla="*/ 10 w 24"/>
                      <a:gd name="T5" fmla="*/ 0 h 70"/>
                      <a:gd name="T6" fmla="*/ 24 w 24"/>
                      <a:gd name="T7" fmla="*/ 33 h 70"/>
                      <a:gd name="T8" fmla="*/ 14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4" name="Freeform 349"/>
                  <p:cNvSpPr/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5" name="Freeform 350"/>
                  <p:cNvSpPr/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8 w 83"/>
                      <a:gd name="T5" fmla="*/ 7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5" name="Group 351"/>
                <p:cNvGrpSpPr/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10" name="Freeform 352"/>
                  <p:cNvSpPr/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1" name="Freeform 353"/>
                  <p:cNvSpPr/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6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9 w 75"/>
                      <a:gd name="T13" fmla="*/ 21 h 30"/>
                      <a:gd name="T14" fmla="*/ 0 w 75"/>
                      <a:gd name="T15" fmla="*/ 7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2" name="Freeform 354"/>
                  <p:cNvSpPr/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5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6" name="Group 355"/>
                <p:cNvGrpSpPr/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07" name="Freeform 356"/>
                  <p:cNvSpPr/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0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8" name="Freeform 357"/>
                  <p:cNvSpPr/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3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8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9" name="Freeform 358"/>
                  <p:cNvSpPr/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66" name="Group 359"/>
              <p:cNvGrpSpPr/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299" name="Freeform 360"/>
                <p:cNvSpPr/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1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0" name="Freeform 361"/>
                <p:cNvSpPr/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49 w 72"/>
                    <a:gd name="T3" fmla="*/ 0 h 31"/>
                    <a:gd name="T4" fmla="*/ 50 w 72"/>
                    <a:gd name="T5" fmla="*/ 4 h 31"/>
                    <a:gd name="T6" fmla="*/ 56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1" name="Freeform 362"/>
                <p:cNvSpPr/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7" name="Group 363"/>
              <p:cNvGrpSpPr/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296" name="Freeform 364"/>
                <p:cNvSpPr/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22 w 38"/>
                    <a:gd name="T1" fmla="*/ 69 h 69"/>
                    <a:gd name="T2" fmla="*/ 0 w 38"/>
                    <a:gd name="T3" fmla="*/ 34 h 69"/>
                    <a:gd name="T4" fmla="*/ 11 w 38"/>
                    <a:gd name="T5" fmla="*/ 0 h 69"/>
                    <a:gd name="T6" fmla="*/ 38 w 38"/>
                    <a:gd name="T7" fmla="*/ 34 h 69"/>
                    <a:gd name="T8" fmla="*/ 22 w 38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7" name="Freeform 365"/>
                <p:cNvSpPr/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40 w 64"/>
                    <a:gd name="T3" fmla="*/ 0 h 35"/>
                    <a:gd name="T4" fmla="*/ 64 w 64"/>
                    <a:gd name="T5" fmla="*/ 35 h 35"/>
                    <a:gd name="T6" fmla="*/ 23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8" name="Freeform 366"/>
                <p:cNvSpPr/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31 h 31"/>
                    <a:gd name="T2" fmla="*/ 13 w 65"/>
                    <a:gd name="T3" fmla="*/ 0 h 31"/>
                    <a:gd name="T4" fmla="*/ 54 w 65"/>
                    <a:gd name="T5" fmla="*/ 0 h 31"/>
                    <a:gd name="T6" fmla="*/ 65 w 65"/>
                    <a:gd name="T7" fmla="*/ 31 h 31"/>
                    <a:gd name="T8" fmla="*/ 0 w 65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8" name="Group 367"/>
              <p:cNvGrpSpPr/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293" name="Freeform 368"/>
                <p:cNvSpPr/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4 h 68"/>
                    <a:gd name="T4" fmla="*/ 11 w 39"/>
                    <a:gd name="T5" fmla="*/ 0 h 68"/>
                    <a:gd name="T6" fmla="*/ 39 w 39"/>
                    <a:gd name="T7" fmla="*/ 34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4" name="Freeform 369"/>
                <p:cNvSpPr/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5" name="Freeform 370"/>
                <p:cNvSpPr/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9" name="Group 371"/>
              <p:cNvGrpSpPr/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290" name="Freeform 372"/>
                <p:cNvSpPr/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4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1" name="Freeform 373"/>
                <p:cNvSpPr/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39 w 63"/>
                    <a:gd name="T3" fmla="*/ 0 h 33"/>
                    <a:gd name="T4" fmla="*/ 63 w 63"/>
                    <a:gd name="T5" fmla="*/ 33 h 33"/>
                    <a:gd name="T6" fmla="*/ 24 w 63"/>
                    <a:gd name="T7" fmla="*/ 33 h 33"/>
                    <a:gd name="T8" fmla="*/ 0 w 63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2" name="Freeform 374"/>
                <p:cNvSpPr/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3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0" name="Group 375"/>
              <p:cNvGrpSpPr/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287" name="Freeform 376"/>
                <p:cNvSpPr/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22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2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8" name="Freeform 377"/>
                <p:cNvSpPr/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41 w 65"/>
                    <a:gd name="T3" fmla="*/ 0 h 35"/>
                    <a:gd name="T4" fmla="*/ 65 w 65"/>
                    <a:gd name="T5" fmla="*/ 35 h 35"/>
                    <a:gd name="T6" fmla="*/ 25 w 65"/>
                    <a:gd name="T7" fmla="*/ 35 h 35"/>
                    <a:gd name="T8" fmla="*/ 0 w 65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9" name="Freeform 378"/>
                <p:cNvSpPr/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3 w 65"/>
                    <a:gd name="T3" fmla="*/ 0 h 28"/>
                    <a:gd name="T4" fmla="*/ 54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1" name="Group 379"/>
              <p:cNvGrpSpPr/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71" name="Group 380"/>
                <p:cNvGrpSpPr/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84" name="Freeform 381"/>
                  <p:cNvSpPr/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2 h 68"/>
                      <a:gd name="T4" fmla="*/ 11 w 38"/>
                      <a:gd name="T5" fmla="*/ 0 h 68"/>
                      <a:gd name="T6" fmla="*/ 38 w 38"/>
                      <a:gd name="T7" fmla="*/ 32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5" name="Freeform 382"/>
                  <p:cNvSpPr/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42 w 66"/>
                      <a:gd name="T3" fmla="*/ 0 h 32"/>
                      <a:gd name="T4" fmla="*/ 66 w 66"/>
                      <a:gd name="T5" fmla="*/ 32 h 32"/>
                      <a:gd name="T6" fmla="*/ 25 w 66"/>
                      <a:gd name="T7" fmla="*/ 32 h 32"/>
                      <a:gd name="T8" fmla="*/ 0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6" name="Freeform 383"/>
                  <p:cNvSpPr/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4 w 65"/>
                      <a:gd name="T3" fmla="*/ 0 h 31"/>
                      <a:gd name="T4" fmla="*/ 55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72" name="Group 384"/>
                <p:cNvGrpSpPr/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81" name="Freeform 385"/>
                  <p:cNvSpPr/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3 h 69"/>
                      <a:gd name="T4" fmla="*/ 12 w 40"/>
                      <a:gd name="T5" fmla="*/ 0 h 69"/>
                      <a:gd name="T6" fmla="*/ 40 w 40"/>
                      <a:gd name="T7" fmla="*/ 33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2" name="Freeform 386"/>
                  <p:cNvSpPr/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41 w 66"/>
                      <a:gd name="T3" fmla="*/ 0 h 35"/>
                      <a:gd name="T4" fmla="*/ 66 w 66"/>
                      <a:gd name="T5" fmla="*/ 35 h 35"/>
                      <a:gd name="T6" fmla="*/ 24 w 66"/>
                      <a:gd name="T7" fmla="*/ 35 h 35"/>
                      <a:gd name="T8" fmla="*/ 0 w 66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3" name="Freeform 387"/>
                  <p:cNvSpPr/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3 w 66"/>
                      <a:gd name="T3" fmla="*/ 0 h 30"/>
                      <a:gd name="T4" fmla="*/ 55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73" name="Group 388"/>
                <p:cNvGrpSpPr/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78" name="Freeform 389"/>
                  <p:cNvSpPr/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5 h 68"/>
                      <a:gd name="T4" fmla="*/ 12 w 40"/>
                      <a:gd name="T5" fmla="*/ 0 h 68"/>
                      <a:gd name="T6" fmla="*/ 40 w 40"/>
                      <a:gd name="T7" fmla="*/ 35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9" name="Freeform 390"/>
                  <p:cNvSpPr/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2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0" name="Freeform 391"/>
                  <p:cNvSpPr/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2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74" name="Group 392"/>
                <p:cNvGrpSpPr/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75" name="Freeform 393"/>
                  <p:cNvSpPr/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3 h 68"/>
                      <a:gd name="T4" fmla="*/ 12 w 39"/>
                      <a:gd name="T5" fmla="*/ 0 h 68"/>
                      <a:gd name="T6" fmla="*/ 39 w 39"/>
                      <a:gd name="T7" fmla="*/ 33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6" name="Freeform 394"/>
                  <p:cNvSpPr/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5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7" name="Freeform 395"/>
                  <p:cNvSpPr/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4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72" name="Group 396"/>
              <p:cNvGrpSpPr/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55" name="Group 397"/>
                <p:cNvGrpSpPr/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68" name="Freeform 398"/>
                  <p:cNvSpPr/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3 h 68"/>
                      <a:gd name="T4" fmla="*/ 10 w 38"/>
                      <a:gd name="T5" fmla="*/ 0 h 68"/>
                      <a:gd name="T6" fmla="*/ 38 w 38"/>
                      <a:gd name="T7" fmla="*/ 33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9" name="Freeform 399"/>
                  <p:cNvSpPr/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0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0" name="Freeform 400"/>
                  <p:cNvSpPr/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3 w 66"/>
                      <a:gd name="T3" fmla="*/ 0 h 28"/>
                      <a:gd name="T4" fmla="*/ 55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6" name="Group 401"/>
                <p:cNvGrpSpPr/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65" name="Freeform 402"/>
                  <p:cNvSpPr/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4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6" name="Freeform 403"/>
                  <p:cNvSpPr/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41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7" name="Freeform 404"/>
                  <p:cNvSpPr/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2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7" name="Group 405"/>
                <p:cNvGrpSpPr/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62" name="Freeform 406"/>
                  <p:cNvSpPr/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22 w 39"/>
                      <a:gd name="T1" fmla="*/ 70 h 70"/>
                      <a:gd name="T2" fmla="*/ 0 w 39"/>
                      <a:gd name="T3" fmla="*/ 34 h 70"/>
                      <a:gd name="T4" fmla="*/ 12 w 39"/>
                      <a:gd name="T5" fmla="*/ 0 h 70"/>
                      <a:gd name="T6" fmla="*/ 39 w 39"/>
                      <a:gd name="T7" fmla="*/ 34 h 70"/>
                      <a:gd name="T8" fmla="*/ 22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3" name="Freeform 407"/>
                  <p:cNvSpPr/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4" name="Freeform 408"/>
                  <p:cNvSpPr/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8" name="Group 409"/>
                <p:cNvGrpSpPr/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59" name="Freeform 410"/>
                  <p:cNvSpPr/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24 w 41"/>
                      <a:gd name="T1" fmla="*/ 70 h 70"/>
                      <a:gd name="T2" fmla="*/ 0 w 41"/>
                      <a:gd name="T3" fmla="*/ 35 h 70"/>
                      <a:gd name="T4" fmla="*/ 13 w 41"/>
                      <a:gd name="T5" fmla="*/ 0 h 70"/>
                      <a:gd name="T6" fmla="*/ 41 w 41"/>
                      <a:gd name="T7" fmla="*/ 35 h 70"/>
                      <a:gd name="T8" fmla="*/ 24 w 41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0" name="Freeform 411"/>
                  <p:cNvSpPr/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41 w 65"/>
                      <a:gd name="T3" fmla="*/ 0 h 34"/>
                      <a:gd name="T4" fmla="*/ 65 w 65"/>
                      <a:gd name="T5" fmla="*/ 34 h 34"/>
                      <a:gd name="T6" fmla="*/ 24 w 65"/>
                      <a:gd name="T7" fmla="*/ 34 h 34"/>
                      <a:gd name="T8" fmla="*/ 0 w 65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1" name="Freeform 412"/>
                  <p:cNvSpPr/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2 w 66"/>
                      <a:gd name="T3" fmla="*/ 0 h 28"/>
                      <a:gd name="T4" fmla="*/ 54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73" name="Group 413"/>
              <p:cNvGrpSpPr/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52" name="Freeform 414"/>
                <p:cNvSpPr/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23 w 39"/>
                    <a:gd name="T1" fmla="*/ 70 h 70"/>
                    <a:gd name="T2" fmla="*/ 0 w 39"/>
                    <a:gd name="T3" fmla="*/ 34 h 70"/>
                    <a:gd name="T4" fmla="*/ 13 w 39"/>
                    <a:gd name="T5" fmla="*/ 0 h 70"/>
                    <a:gd name="T6" fmla="*/ 39 w 39"/>
                    <a:gd name="T7" fmla="*/ 34 h 70"/>
                    <a:gd name="T8" fmla="*/ 23 w 39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3" name="Freeform 415"/>
                <p:cNvSpPr/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41 w 63"/>
                    <a:gd name="T3" fmla="*/ 0 h 35"/>
                    <a:gd name="T4" fmla="*/ 63 w 63"/>
                    <a:gd name="T5" fmla="*/ 35 h 35"/>
                    <a:gd name="T6" fmla="*/ 24 w 63"/>
                    <a:gd name="T7" fmla="*/ 35 h 35"/>
                    <a:gd name="T8" fmla="*/ 0 w 63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4" name="Freeform 416"/>
                <p:cNvSpPr/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30 h 30"/>
                    <a:gd name="T2" fmla="*/ 13 w 64"/>
                    <a:gd name="T3" fmla="*/ 0 h 30"/>
                    <a:gd name="T4" fmla="*/ 52 w 64"/>
                    <a:gd name="T5" fmla="*/ 0 h 30"/>
                    <a:gd name="T6" fmla="*/ 64 w 64"/>
                    <a:gd name="T7" fmla="*/ 30 h 30"/>
                    <a:gd name="T8" fmla="*/ 0 w 64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4" name="Group 417"/>
              <p:cNvGrpSpPr/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49" name="Freeform 418"/>
                <p:cNvSpPr/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22 w 39"/>
                    <a:gd name="T1" fmla="*/ 69 h 69"/>
                    <a:gd name="T2" fmla="*/ 0 w 39"/>
                    <a:gd name="T3" fmla="*/ 34 h 69"/>
                    <a:gd name="T4" fmla="*/ 12 w 39"/>
                    <a:gd name="T5" fmla="*/ 0 h 69"/>
                    <a:gd name="T6" fmla="*/ 39 w 39"/>
                    <a:gd name="T7" fmla="*/ 34 h 69"/>
                    <a:gd name="T8" fmla="*/ 22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0" name="Freeform 419"/>
                <p:cNvSpPr/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39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1" name="Freeform 420"/>
                <p:cNvSpPr/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30 h 30"/>
                    <a:gd name="T2" fmla="*/ 11 w 65"/>
                    <a:gd name="T3" fmla="*/ 0 h 30"/>
                    <a:gd name="T4" fmla="*/ 53 w 65"/>
                    <a:gd name="T5" fmla="*/ 0 h 30"/>
                    <a:gd name="T6" fmla="*/ 65 w 65"/>
                    <a:gd name="T7" fmla="*/ 30 h 30"/>
                    <a:gd name="T8" fmla="*/ 0 w 65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5" name="Group 421"/>
              <p:cNvGrpSpPr/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46" name="Freeform 422"/>
                <p:cNvSpPr/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3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7" name="Freeform 423"/>
                <p:cNvSpPr/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40 w 63"/>
                    <a:gd name="T3" fmla="*/ 0 h 32"/>
                    <a:gd name="T4" fmla="*/ 63 w 63"/>
                    <a:gd name="T5" fmla="*/ 32 h 32"/>
                    <a:gd name="T6" fmla="*/ 23 w 63"/>
                    <a:gd name="T7" fmla="*/ 32 h 32"/>
                    <a:gd name="T8" fmla="*/ 0 w 63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8" name="Freeform 424"/>
                <p:cNvSpPr/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31 h 31"/>
                    <a:gd name="T2" fmla="*/ 12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6" name="Group 425"/>
              <p:cNvGrpSpPr/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43" name="Freeform 426"/>
                <p:cNvSpPr/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24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4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4" name="Freeform 427"/>
                <p:cNvSpPr/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5" name="Freeform 428"/>
                <p:cNvSpPr/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2 w 65"/>
                    <a:gd name="T3" fmla="*/ 0 h 28"/>
                    <a:gd name="T4" fmla="*/ 53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7" name="Group 429"/>
              <p:cNvGrpSpPr/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40" name="Freeform 430"/>
                <p:cNvSpPr/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23 w 40"/>
                    <a:gd name="T1" fmla="*/ 69 h 69"/>
                    <a:gd name="T2" fmla="*/ 0 w 40"/>
                    <a:gd name="T3" fmla="*/ 34 h 69"/>
                    <a:gd name="T4" fmla="*/ 12 w 40"/>
                    <a:gd name="T5" fmla="*/ 0 h 69"/>
                    <a:gd name="T6" fmla="*/ 40 w 40"/>
                    <a:gd name="T7" fmla="*/ 34 h 69"/>
                    <a:gd name="T8" fmla="*/ 23 w 40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1" name="Freeform 431"/>
                <p:cNvSpPr/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42 w 64"/>
                    <a:gd name="T3" fmla="*/ 0 h 35"/>
                    <a:gd name="T4" fmla="*/ 64 w 64"/>
                    <a:gd name="T5" fmla="*/ 35 h 35"/>
                    <a:gd name="T6" fmla="*/ 25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2" name="Freeform 432"/>
                <p:cNvSpPr/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5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8" name="Group 433"/>
              <p:cNvGrpSpPr/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37" name="Freeform 434"/>
                <p:cNvSpPr/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5 h 68"/>
                    <a:gd name="T4" fmla="*/ 12 w 39"/>
                    <a:gd name="T5" fmla="*/ 0 h 68"/>
                    <a:gd name="T6" fmla="*/ 39 w 39"/>
                    <a:gd name="T7" fmla="*/ 35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8" name="Freeform 435"/>
                <p:cNvSpPr/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39 w 64"/>
                    <a:gd name="T3" fmla="*/ 0 h 35"/>
                    <a:gd name="T4" fmla="*/ 64 w 64"/>
                    <a:gd name="T5" fmla="*/ 35 h 35"/>
                    <a:gd name="T6" fmla="*/ 24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9" name="Freeform 436"/>
                <p:cNvSpPr/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29 h 29"/>
                    <a:gd name="T2" fmla="*/ 12 w 66"/>
                    <a:gd name="T3" fmla="*/ 0 h 29"/>
                    <a:gd name="T4" fmla="*/ 54 w 66"/>
                    <a:gd name="T5" fmla="*/ 0 h 29"/>
                    <a:gd name="T6" fmla="*/ 66 w 66"/>
                    <a:gd name="T7" fmla="*/ 29 h 29"/>
                    <a:gd name="T8" fmla="*/ 0 w 66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9" name="Group 437"/>
              <p:cNvGrpSpPr/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34" name="Freeform 438"/>
                <p:cNvSpPr/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23 w 39"/>
                    <a:gd name="T1" fmla="*/ 69 h 69"/>
                    <a:gd name="T2" fmla="*/ 0 w 39"/>
                    <a:gd name="T3" fmla="*/ 33 h 69"/>
                    <a:gd name="T4" fmla="*/ 12 w 39"/>
                    <a:gd name="T5" fmla="*/ 0 h 69"/>
                    <a:gd name="T6" fmla="*/ 39 w 39"/>
                    <a:gd name="T7" fmla="*/ 33 h 69"/>
                    <a:gd name="T8" fmla="*/ 23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5" name="Freeform 439"/>
                <p:cNvSpPr/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41 w 64"/>
                    <a:gd name="T3" fmla="*/ 0 h 33"/>
                    <a:gd name="T4" fmla="*/ 64 w 64"/>
                    <a:gd name="T5" fmla="*/ 33 h 33"/>
                    <a:gd name="T6" fmla="*/ 23 w 64"/>
                    <a:gd name="T7" fmla="*/ 33 h 33"/>
                    <a:gd name="T8" fmla="*/ 0 w 64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6" name="Freeform 440"/>
                <p:cNvSpPr/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31 h 31"/>
                    <a:gd name="T2" fmla="*/ 11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0" name="Freeform 441"/>
              <p:cNvSpPr/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7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442"/>
              <p:cNvSpPr/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443"/>
              <p:cNvSpPr/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27 w 78"/>
                  <a:gd name="T3" fmla="*/ 36 h 36"/>
                  <a:gd name="T4" fmla="*/ 78 w 78"/>
                  <a:gd name="T5" fmla="*/ 36 h 36"/>
                  <a:gd name="T6" fmla="*/ 49 w 78"/>
                  <a:gd name="T7" fmla="*/ 0 h 36"/>
                  <a:gd name="T8" fmla="*/ 0 w 7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444"/>
              <p:cNvSpPr/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Freeform 445"/>
              <p:cNvSpPr/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Freeform 446"/>
              <p:cNvSpPr/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28 w 79"/>
                  <a:gd name="T3" fmla="*/ 35 h 35"/>
                  <a:gd name="T4" fmla="*/ 79 w 79"/>
                  <a:gd name="T5" fmla="*/ 35 h 35"/>
                  <a:gd name="T6" fmla="*/ 50 w 79"/>
                  <a:gd name="T7" fmla="*/ 0 h 35"/>
                  <a:gd name="T8" fmla="*/ 0 w 7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447"/>
              <p:cNvSpPr/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8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Freeform 448"/>
              <p:cNvSpPr/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Freeform 449"/>
              <p:cNvSpPr/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Freeform 450"/>
              <p:cNvSpPr/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Freeform 451"/>
              <p:cNvSpPr/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28 w 81"/>
                  <a:gd name="T3" fmla="*/ 36 h 36"/>
                  <a:gd name="T4" fmla="*/ 81 w 81"/>
                  <a:gd name="T5" fmla="*/ 36 h 36"/>
                  <a:gd name="T6" fmla="*/ 52 w 81"/>
                  <a:gd name="T7" fmla="*/ 0 h 36"/>
                  <a:gd name="T8" fmla="*/ 0 w 8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91" name="Group 452"/>
              <p:cNvGrpSpPr/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31" name="Freeform 453"/>
                <p:cNvSpPr/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10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2" name="Freeform 454"/>
                <p:cNvSpPr/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50 w 73"/>
                    <a:gd name="T3" fmla="*/ 0 h 30"/>
                    <a:gd name="T4" fmla="*/ 52 w 73"/>
                    <a:gd name="T5" fmla="*/ 4 h 30"/>
                    <a:gd name="T6" fmla="*/ 56 w 73"/>
                    <a:gd name="T7" fmla="*/ 12 h 30"/>
                    <a:gd name="T8" fmla="*/ 73 w 73"/>
                    <a:gd name="T9" fmla="*/ 30 h 30"/>
                    <a:gd name="T10" fmla="*/ 18 w 73"/>
                    <a:gd name="T11" fmla="*/ 30 h 30"/>
                    <a:gd name="T12" fmla="*/ 9 w 73"/>
                    <a:gd name="T13" fmla="*/ 21 h 30"/>
                    <a:gd name="T14" fmla="*/ 0 w 73"/>
                    <a:gd name="T15" fmla="*/ 6 h 30"/>
                    <a:gd name="T16" fmla="*/ 1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3" name="Freeform 455"/>
                <p:cNvSpPr/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6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2" name="Group 456"/>
              <p:cNvGrpSpPr/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28" name="Freeform 457"/>
                <p:cNvSpPr/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5 w 24"/>
                    <a:gd name="T1" fmla="*/ 67 h 67"/>
                    <a:gd name="T2" fmla="*/ 0 w 24"/>
                    <a:gd name="T3" fmla="*/ 26 h 67"/>
                    <a:gd name="T4" fmla="*/ 9 w 24"/>
                    <a:gd name="T5" fmla="*/ 0 h 67"/>
                    <a:gd name="T6" fmla="*/ 24 w 24"/>
                    <a:gd name="T7" fmla="*/ 30 h 67"/>
                    <a:gd name="T8" fmla="*/ 15 w 24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9" name="Freeform 458"/>
                <p:cNvSpPr/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2 w 74"/>
                    <a:gd name="T1" fmla="*/ 0 h 29"/>
                    <a:gd name="T2" fmla="*/ 50 w 74"/>
                    <a:gd name="T3" fmla="*/ 0 h 29"/>
                    <a:gd name="T4" fmla="*/ 52 w 74"/>
                    <a:gd name="T5" fmla="*/ 2 h 29"/>
                    <a:gd name="T6" fmla="*/ 57 w 74"/>
                    <a:gd name="T7" fmla="*/ 13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2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0" name="Freeform 459"/>
                <p:cNvSpPr/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35 h 35"/>
                    <a:gd name="T2" fmla="*/ 1 w 81"/>
                    <a:gd name="T3" fmla="*/ 19 h 35"/>
                    <a:gd name="T4" fmla="*/ 5 w 81"/>
                    <a:gd name="T5" fmla="*/ 7 h 35"/>
                    <a:gd name="T6" fmla="*/ 10 w 81"/>
                    <a:gd name="T7" fmla="*/ 0 h 35"/>
                    <a:gd name="T8" fmla="*/ 67 w 81"/>
                    <a:gd name="T9" fmla="*/ 0 h 35"/>
                    <a:gd name="T10" fmla="*/ 81 w 81"/>
                    <a:gd name="T11" fmla="*/ 35 h 35"/>
                    <a:gd name="T12" fmla="*/ 0 w 8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3" name="Group 460"/>
              <p:cNvGrpSpPr/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25" name="Freeform 461"/>
                <p:cNvSpPr/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6" name="Freeform 462"/>
                <p:cNvSpPr/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50 w 72"/>
                    <a:gd name="T3" fmla="*/ 0 h 30"/>
                    <a:gd name="T4" fmla="*/ 51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8 w 72"/>
                    <a:gd name="T11" fmla="*/ 30 h 30"/>
                    <a:gd name="T12" fmla="*/ 9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Freeform 463"/>
                <p:cNvSpPr/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4" name="Group 464"/>
              <p:cNvGrpSpPr/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22" name="Freeform 465"/>
                <p:cNvSpPr/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6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3" name="Freeform 466"/>
                <p:cNvSpPr/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48 w 72"/>
                    <a:gd name="T3" fmla="*/ 0 h 30"/>
                    <a:gd name="T4" fmla="*/ 50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7 w 72"/>
                    <a:gd name="T11" fmla="*/ 30 h 30"/>
                    <a:gd name="T12" fmla="*/ 8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4" name="Freeform 467"/>
                <p:cNvSpPr/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5" name="Group 468"/>
              <p:cNvGrpSpPr/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19" name="Freeform 469"/>
                <p:cNvSpPr/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71 w 182"/>
                    <a:gd name="T1" fmla="*/ 314 h 314"/>
                    <a:gd name="T2" fmla="*/ 0 w 182"/>
                    <a:gd name="T3" fmla="*/ 27 h 314"/>
                    <a:gd name="T4" fmla="*/ 13 w 182"/>
                    <a:gd name="T5" fmla="*/ 0 h 314"/>
                    <a:gd name="T6" fmla="*/ 182 w 182"/>
                    <a:gd name="T7" fmla="*/ 278 h 314"/>
                    <a:gd name="T8" fmla="*/ 171 w 182"/>
                    <a:gd name="T9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0" name="Freeform 470"/>
                <p:cNvSpPr/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56 w 235"/>
                    <a:gd name="T3" fmla="*/ 0 h 281"/>
                    <a:gd name="T4" fmla="*/ 58 w 235"/>
                    <a:gd name="T5" fmla="*/ 0 h 281"/>
                    <a:gd name="T6" fmla="*/ 65 w 235"/>
                    <a:gd name="T7" fmla="*/ 10 h 281"/>
                    <a:gd name="T8" fmla="*/ 235 w 235"/>
                    <a:gd name="T9" fmla="*/ 281 h 281"/>
                    <a:gd name="T10" fmla="*/ 165 w 235"/>
                    <a:gd name="T11" fmla="*/ 277 h 281"/>
                    <a:gd name="T12" fmla="*/ 9 w 235"/>
                    <a:gd name="T13" fmla="*/ 19 h 281"/>
                    <a:gd name="T14" fmla="*/ 0 w 235"/>
                    <a:gd name="T15" fmla="*/ 4 h 281"/>
                    <a:gd name="T16" fmla="*/ 1 w 235"/>
                    <a:gd name="T17" fmla="*/ 0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1" name="Freeform 471"/>
                <p:cNvSpPr/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36 h 36"/>
                    <a:gd name="T2" fmla="*/ 2 w 95"/>
                    <a:gd name="T3" fmla="*/ 19 h 36"/>
                    <a:gd name="T4" fmla="*/ 8 w 95"/>
                    <a:gd name="T5" fmla="*/ 7 h 36"/>
                    <a:gd name="T6" fmla="*/ 12 w 95"/>
                    <a:gd name="T7" fmla="*/ 0 h 36"/>
                    <a:gd name="T8" fmla="*/ 76 w 95"/>
                    <a:gd name="T9" fmla="*/ 0 h 36"/>
                    <a:gd name="T10" fmla="*/ 95 w 95"/>
                    <a:gd name="T11" fmla="*/ 36 h 36"/>
                    <a:gd name="T12" fmla="*/ 0 w 95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6" name="Group 472"/>
              <p:cNvGrpSpPr/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16" name="Freeform 473"/>
                <p:cNvSpPr/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7" name="Freeform 474"/>
                <p:cNvSpPr/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1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8" name="Freeform 475"/>
                <p:cNvSpPr/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34 h 34"/>
                    <a:gd name="T2" fmla="*/ 1 w 81"/>
                    <a:gd name="T3" fmla="*/ 19 h 34"/>
                    <a:gd name="T4" fmla="*/ 5 w 81"/>
                    <a:gd name="T5" fmla="*/ 6 h 34"/>
                    <a:gd name="T6" fmla="*/ 10 w 81"/>
                    <a:gd name="T7" fmla="*/ 0 h 34"/>
                    <a:gd name="T8" fmla="*/ 67 w 81"/>
                    <a:gd name="T9" fmla="*/ 0 h 34"/>
                    <a:gd name="T10" fmla="*/ 81 w 81"/>
                    <a:gd name="T11" fmla="*/ 34 h 34"/>
                    <a:gd name="T12" fmla="*/ 0 w 81"/>
                    <a:gd name="T13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7" name="Group 476"/>
              <p:cNvGrpSpPr/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13" name="Freeform 477"/>
                <p:cNvSpPr/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4" name="Freeform 478"/>
                <p:cNvSpPr/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50 w 72"/>
                    <a:gd name="T3" fmla="*/ 0 h 29"/>
                    <a:gd name="T4" fmla="*/ 51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Freeform 479"/>
                <p:cNvSpPr/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8" name="Group 480"/>
              <p:cNvGrpSpPr/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10" name="Freeform 481"/>
                <p:cNvSpPr/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3 w 22"/>
                    <a:gd name="T1" fmla="*/ 69 h 69"/>
                    <a:gd name="T2" fmla="*/ 0 w 22"/>
                    <a:gd name="T3" fmla="*/ 27 h 69"/>
                    <a:gd name="T4" fmla="*/ 9 w 22"/>
                    <a:gd name="T5" fmla="*/ 0 h 69"/>
                    <a:gd name="T6" fmla="*/ 22 w 22"/>
                    <a:gd name="T7" fmla="*/ 32 h 69"/>
                    <a:gd name="T8" fmla="*/ 13 w 2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1" name="Freeform 482"/>
                <p:cNvSpPr/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3 w 74"/>
                    <a:gd name="T1" fmla="*/ 0 h 31"/>
                    <a:gd name="T2" fmla="*/ 51 w 74"/>
                    <a:gd name="T3" fmla="*/ 0 h 31"/>
                    <a:gd name="T4" fmla="*/ 53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9 w 74"/>
                    <a:gd name="T13" fmla="*/ 22 h 31"/>
                    <a:gd name="T14" fmla="*/ 0 w 74"/>
                    <a:gd name="T15" fmla="*/ 6 h 31"/>
                    <a:gd name="T16" fmla="*/ 3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2" name="Freeform 483"/>
                <p:cNvSpPr/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19 h 36"/>
                    <a:gd name="T4" fmla="*/ 7 w 83"/>
                    <a:gd name="T5" fmla="*/ 6 h 36"/>
                    <a:gd name="T6" fmla="*/ 11 w 83"/>
                    <a:gd name="T7" fmla="*/ 0 h 36"/>
                    <a:gd name="T8" fmla="*/ 68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9" name="Group 484"/>
              <p:cNvGrpSpPr/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07" name="Freeform 485"/>
                <p:cNvSpPr/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9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8" name="Freeform 486"/>
                <p:cNvSpPr/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2 w 74"/>
                    <a:gd name="T5" fmla="*/ 4 h 30"/>
                    <a:gd name="T6" fmla="*/ 57 w 74"/>
                    <a:gd name="T7" fmla="*/ 13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2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9" name="Freeform 487"/>
                <p:cNvSpPr/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6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00" name="Group 488"/>
              <p:cNvGrpSpPr/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04" name="Freeform 489"/>
                <p:cNvSpPr/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5" name="Freeform 490"/>
                <p:cNvSpPr/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49 w 74"/>
                    <a:gd name="T3" fmla="*/ 0 h 30"/>
                    <a:gd name="T4" fmla="*/ 50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8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5 h 30"/>
                    <a:gd name="T16" fmla="*/ 1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6" name="Freeform 491"/>
                <p:cNvSpPr/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01" name="Freeform 492"/>
              <p:cNvSpPr/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40 w 51"/>
                  <a:gd name="T1" fmla="*/ 128 h 128"/>
                  <a:gd name="T2" fmla="*/ 0 w 51"/>
                  <a:gd name="T3" fmla="*/ 29 h 128"/>
                  <a:gd name="T4" fmla="*/ 0 w 51"/>
                  <a:gd name="T5" fmla="*/ 20 h 128"/>
                  <a:gd name="T6" fmla="*/ 2 w 51"/>
                  <a:gd name="T7" fmla="*/ 11 h 128"/>
                  <a:gd name="T8" fmla="*/ 10 w 51"/>
                  <a:gd name="T9" fmla="*/ 0 h 128"/>
                  <a:gd name="T10" fmla="*/ 51 w 51"/>
                  <a:gd name="T11" fmla="*/ 91 h 128"/>
                  <a:gd name="T12" fmla="*/ 40 w 51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Freeform 493"/>
              <p:cNvSpPr/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64 w 183"/>
                  <a:gd name="T3" fmla="*/ 0 h 85"/>
                  <a:gd name="T4" fmla="*/ 67 w 183"/>
                  <a:gd name="T5" fmla="*/ 13 h 85"/>
                  <a:gd name="T6" fmla="*/ 75 w 183"/>
                  <a:gd name="T7" fmla="*/ 28 h 85"/>
                  <a:gd name="T8" fmla="*/ 84 w 183"/>
                  <a:gd name="T9" fmla="*/ 42 h 85"/>
                  <a:gd name="T10" fmla="*/ 158 w 183"/>
                  <a:gd name="T11" fmla="*/ 42 h 85"/>
                  <a:gd name="T12" fmla="*/ 163 w 183"/>
                  <a:gd name="T13" fmla="*/ 55 h 85"/>
                  <a:gd name="T14" fmla="*/ 172 w 183"/>
                  <a:gd name="T15" fmla="*/ 67 h 85"/>
                  <a:gd name="T16" fmla="*/ 183 w 183"/>
                  <a:gd name="T17" fmla="*/ 85 h 85"/>
                  <a:gd name="T18" fmla="*/ 64 w 183"/>
                  <a:gd name="T19" fmla="*/ 85 h 85"/>
                  <a:gd name="T20" fmla="*/ 41 w 183"/>
                  <a:gd name="T21" fmla="*/ 85 h 85"/>
                  <a:gd name="T22" fmla="*/ 0 w 183"/>
                  <a:gd name="T2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Freeform 494"/>
              <p:cNvSpPr/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36 h 36"/>
                  <a:gd name="T2" fmla="*/ 1 w 160"/>
                  <a:gd name="T3" fmla="*/ 20 h 36"/>
                  <a:gd name="T4" fmla="*/ 7 w 160"/>
                  <a:gd name="T5" fmla="*/ 8 h 36"/>
                  <a:gd name="T6" fmla="*/ 10 w 160"/>
                  <a:gd name="T7" fmla="*/ 0 h 36"/>
                  <a:gd name="T8" fmla="*/ 150 w 160"/>
                  <a:gd name="T9" fmla="*/ 0 h 36"/>
                  <a:gd name="T10" fmla="*/ 160 w 160"/>
                  <a:gd name="T11" fmla="*/ 36 h 36"/>
                  <a:gd name="T12" fmla="*/ 0 w 160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Group 495"/>
            <p:cNvGrpSpPr/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19" name="Freeform 496"/>
              <p:cNvSpPr/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35 w 825"/>
                  <a:gd name="T1" fmla="*/ 13 h 151"/>
                  <a:gd name="T2" fmla="*/ 17 w 825"/>
                  <a:gd name="T3" fmla="*/ 27 h 151"/>
                  <a:gd name="T4" fmla="*/ 9 w 825"/>
                  <a:gd name="T5" fmla="*/ 48 h 151"/>
                  <a:gd name="T6" fmla="*/ 0 w 825"/>
                  <a:gd name="T7" fmla="*/ 97 h 151"/>
                  <a:gd name="T8" fmla="*/ 4 w 825"/>
                  <a:gd name="T9" fmla="*/ 124 h 151"/>
                  <a:gd name="T10" fmla="*/ 13 w 825"/>
                  <a:gd name="T11" fmla="*/ 138 h 151"/>
                  <a:gd name="T12" fmla="*/ 26 w 825"/>
                  <a:gd name="T13" fmla="*/ 151 h 151"/>
                  <a:gd name="T14" fmla="*/ 783 w 825"/>
                  <a:gd name="T15" fmla="*/ 142 h 151"/>
                  <a:gd name="T16" fmla="*/ 807 w 825"/>
                  <a:gd name="T17" fmla="*/ 128 h 151"/>
                  <a:gd name="T18" fmla="*/ 816 w 825"/>
                  <a:gd name="T19" fmla="*/ 107 h 151"/>
                  <a:gd name="T20" fmla="*/ 825 w 825"/>
                  <a:gd name="T21" fmla="*/ 61 h 151"/>
                  <a:gd name="T22" fmla="*/ 821 w 825"/>
                  <a:gd name="T23" fmla="*/ 27 h 151"/>
                  <a:gd name="T24" fmla="*/ 806 w 825"/>
                  <a:gd name="T25" fmla="*/ 9 h 151"/>
                  <a:gd name="T26" fmla="*/ 785 w 825"/>
                  <a:gd name="T27" fmla="*/ 0 h 151"/>
                  <a:gd name="T28" fmla="*/ 35 w 825"/>
                  <a:gd name="T29" fmla="*/ 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Freeform 497"/>
              <p:cNvSpPr/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4 w 658"/>
                  <a:gd name="T1" fmla="*/ 23 h 79"/>
                  <a:gd name="T2" fmla="*/ 0 w 658"/>
                  <a:gd name="T3" fmla="*/ 50 h 79"/>
                  <a:gd name="T4" fmla="*/ 153 w 658"/>
                  <a:gd name="T5" fmla="*/ 50 h 79"/>
                  <a:gd name="T6" fmla="*/ 153 w 658"/>
                  <a:gd name="T7" fmla="*/ 79 h 79"/>
                  <a:gd name="T8" fmla="*/ 500 w 658"/>
                  <a:gd name="T9" fmla="*/ 73 h 79"/>
                  <a:gd name="T10" fmla="*/ 500 w 658"/>
                  <a:gd name="T11" fmla="*/ 50 h 79"/>
                  <a:gd name="T12" fmla="*/ 656 w 658"/>
                  <a:gd name="T13" fmla="*/ 50 h 79"/>
                  <a:gd name="T14" fmla="*/ 658 w 658"/>
                  <a:gd name="T15" fmla="*/ 23 h 79"/>
                  <a:gd name="T16" fmla="*/ 504 w 658"/>
                  <a:gd name="T17" fmla="*/ 23 h 79"/>
                  <a:gd name="T18" fmla="*/ 504 w 658"/>
                  <a:gd name="T19" fmla="*/ 0 h 79"/>
                  <a:gd name="T20" fmla="*/ 153 w 658"/>
                  <a:gd name="T21" fmla="*/ 8 h 79"/>
                  <a:gd name="T22" fmla="*/ 153 w 658"/>
                  <a:gd name="T23" fmla="*/ 23 h 79"/>
                  <a:gd name="T24" fmla="*/ 4 w 658"/>
                  <a:gd name="T25" fmla="*/ 2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Rectangle 498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Rectangle 499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500"/>
            <p:cNvGrpSpPr/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00" name="Freeform 501"/>
              <p:cNvSpPr/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26 w 191"/>
                  <a:gd name="T1" fmla="*/ 9 h 200"/>
                  <a:gd name="T2" fmla="*/ 93 w 191"/>
                  <a:gd name="T3" fmla="*/ 0 h 200"/>
                  <a:gd name="T4" fmla="*/ 59 w 191"/>
                  <a:gd name="T5" fmla="*/ 5 h 200"/>
                  <a:gd name="T6" fmla="*/ 32 w 191"/>
                  <a:gd name="T7" fmla="*/ 17 h 200"/>
                  <a:gd name="T8" fmla="*/ 9 w 191"/>
                  <a:gd name="T9" fmla="*/ 45 h 200"/>
                  <a:gd name="T10" fmla="*/ 0 w 191"/>
                  <a:gd name="T11" fmla="*/ 94 h 200"/>
                  <a:gd name="T12" fmla="*/ 0 w 191"/>
                  <a:gd name="T13" fmla="*/ 137 h 200"/>
                  <a:gd name="T14" fmla="*/ 0 w 191"/>
                  <a:gd name="T15" fmla="*/ 200 h 200"/>
                  <a:gd name="T16" fmla="*/ 191 w 191"/>
                  <a:gd name="T17" fmla="*/ 200 h 200"/>
                  <a:gd name="T18" fmla="*/ 181 w 191"/>
                  <a:gd name="T19" fmla="*/ 81 h 200"/>
                  <a:gd name="T20" fmla="*/ 157 w 191"/>
                  <a:gd name="T21" fmla="*/ 30 h 200"/>
                  <a:gd name="T22" fmla="*/ 126 w 191"/>
                  <a:gd name="T23" fmla="*/ 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Freeform 502"/>
              <p:cNvSpPr/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860 w 860"/>
                  <a:gd name="T3" fmla="*/ 764 h 791"/>
                  <a:gd name="T4" fmla="*/ 849 w 860"/>
                  <a:gd name="T5" fmla="*/ 777 h 791"/>
                  <a:gd name="T6" fmla="*/ 838 w 860"/>
                  <a:gd name="T7" fmla="*/ 791 h 791"/>
                  <a:gd name="T8" fmla="*/ 0 w 860"/>
                  <a:gd name="T9" fmla="*/ 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Freeform 503"/>
              <p:cNvSpPr/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4 w 281"/>
                  <a:gd name="T1" fmla="*/ 95 h 366"/>
                  <a:gd name="T2" fmla="*/ 24 w 281"/>
                  <a:gd name="T3" fmla="*/ 62 h 366"/>
                  <a:gd name="T4" fmla="*/ 54 w 281"/>
                  <a:gd name="T5" fmla="*/ 43 h 366"/>
                  <a:gd name="T6" fmla="*/ 78 w 281"/>
                  <a:gd name="T7" fmla="*/ 42 h 366"/>
                  <a:gd name="T8" fmla="*/ 128 w 281"/>
                  <a:gd name="T9" fmla="*/ 43 h 366"/>
                  <a:gd name="T10" fmla="*/ 132 w 281"/>
                  <a:gd name="T11" fmla="*/ 0 h 366"/>
                  <a:gd name="T12" fmla="*/ 281 w 281"/>
                  <a:gd name="T13" fmla="*/ 130 h 366"/>
                  <a:gd name="T14" fmla="*/ 272 w 281"/>
                  <a:gd name="T15" fmla="*/ 179 h 366"/>
                  <a:gd name="T16" fmla="*/ 228 w 281"/>
                  <a:gd name="T17" fmla="*/ 170 h 366"/>
                  <a:gd name="T18" fmla="*/ 191 w 281"/>
                  <a:gd name="T19" fmla="*/ 184 h 366"/>
                  <a:gd name="T20" fmla="*/ 158 w 281"/>
                  <a:gd name="T21" fmla="*/ 210 h 366"/>
                  <a:gd name="T22" fmla="*/ 150 w 281"/>
                  <a:gd name="T23" fmla="*/ 232 h 366"/>
                  <a:gd name="T24" fmla="*/ 149 w 281"/>
                  <a:gd name="T25" fmla="*/ 295 h 366"/>
                  <a:gd name="T26" fmla="*/ 149 w 281"/>
                  <a:gd name="T27" fmla="*/ 338 h 366"/>
                  <a:gd name="T28" fmla="*/ 150 w 281"/>
                  <a:gd name="T29" fmla="*/ 366 h 366"/>
                  <a:gd name="T30" fmla="*/ 0 w 281"/>
                  <a:gd name="T31" fmla="*/ 229 h 366"/>
                  <a:gd name="T32" fmla="*/ 0 w 281"/>
                  <a:gd name="T33" fmla="*/ 139 h 366"/>
                  <a:gd name="T34" fmla="*/ 4 w 281"/>
                  <a:gd name="T35" fmla="*/ 9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504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Freeform 505"/>
              <p:cNvSpPr/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0 w 222"/>
                  <a:gd name="T1" fmla="*/ 98 h 289"/>
                  <a:gd name="T2" fmla="*/ 27 w 222"/>
                  <a:gd name="T3" fmla="*/ 64 h 289"/>
                  <a:gd name="T4" fmla="*/ 53 w 222"/>
                  <a:gd name="T5" fmla="*/ 45 h 289"/>
                  <a:gd name="T6" fmla="*/ 81 w 222"/>
                  <a:gd name="T7" fmla="*/ 41 h 289"/>
                  <a:gd name="T8" fmla="*/ 131 w 222"/>
                  <a:gd name="T9" fmla="*/ 42 h 289"/>
                  <a:gd name="T10" fmla="*/ 135 w 222"/>
                  <a:gd name="T11" fmla="*/ 0 h 289"/>
                  <a:gd name="T12" fmla="*/ 222 w 222"/>
                  <a:gd name="T13" fmla="*/ 80 h 289"/>
                  <a:gd name="T14" fmla="*/ 218 w 222"/>
                  <a:gd name="T15" fmla="*/ 120 h 289"/>
                  <a:gd name="T16" fmla="*/ 190 w 222"/>
                  <a:gd name="T17" fmla="*/ 118 h 289"/>
                  <a:gd name="T18" fmla="*/ 168 w 222"/>
                  <a:gd name="T19" fmla="*/ 116 h 289"/>
                  <a:gd name="T20" fmla="*/ 135 w 222"/>
                  <a:gd name="T21" fmla="*/ 125 h 289"/>
                  <a:gd name="T22" fmla="*/ 118 w 222"/>
                  <a:gd name="T23" fmla="*/ 137 h 289"/>
                  <a:gd name="T24" fmla="*/ 102 w 222"/>
                  <a:gd name="T25" fmla="*/ 161 h 289"/>
                  <a:gd name="T26" fmla="*/ 98 w 222"/>
                  <a:gd name="T27" fmla="*/ 192 h 289"/>
                  <a:gd name="T28" fmla="*/ 93 w 222"/>
                  <a:gd name="T29" fmla="*/ 289 h 289"/>
                  <a:gd name="T30" fmla="*/ 0 w 222"/>
                  <a:gd name="T31" fmla="*/ 197 h 289"/>
                  <a:gd name="T32" fmla="*/ 4 w 222"/>
                  <a:gd name="T33" fmla="*/ 138 h 289"/>
                  <a:gd name="T34" fmla="*/ 10 w 222"/>
                  <a:gd name="T35" fmla="*/ 9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Freeform 506"/>
              <p:cNvSpPr/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28 w 128"/>
                  <a:gd name="T1" fmla="*/ 5 h 186"/>
                  <a:gd name="T2" fmla="*/ 59 w 128"/>
                  <a:gd name="T3" fmla="*/ 0 h 186"/>
                  <a:gd name="T4" fmla="*/ 30 w 128"/>
                  <a:gd name="T5" fmla="*/ 14 h 186"/>
                  <a:gd name="T6" fmla="*/ 9 w 128"/>
                  <a:gd name="T7" fmla="*/ 40 h 186"/>
                  <a:gd name="T8" fmla="*/ 0 w 128"/>
                  <a:gd name="T9" fmla="*/ 89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Freeform 507"/>
              <p:cNvSpPr/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26 w 126"/>
                  <a:gd name="T1" fmla="*/ 3 h 185"/>
                  <a:gd name="T2" fmla="*/ 59 w 126"/>
                  <a:gd name="T3" fmla="*/ 0 h 185"/>
                  <a:gd name="T4" fmla="*/ 24 w 126"/>
                  <a:gd name="T5" fmla="*/ 15 h 185"/>
                  <a:gd name="T6" fmla="*/ 9 w 126"/>
                  <a:gd name="T7" fmla="*/ 39 h 185"/>
                  <a:gd name="T8" fmla="*/ 0 w 126"/>
                  <a:gd name="T9" fmla="*/ 88 h 185"/>
                  <a:gd name="T10" fmla="*/ 0 w 126"/>
                  <a:gd name="T11" fmla="*/ 185 h 185"/>
                  <a:gd name="T12" fmla="*/ 0 w 126"/>
                  <a:gd name="T13" fmla="*/ 18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Freeform 508"/>
              <p:cNvSpPr/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27 w 127"/>
                  <a:gd name="T1" fmla="*/ 5 h 185"/>
                  <a:gd name="T2" fmla="*/ 59 w 127"/>
                  <a:gd name="T3" fmla="*/ 0 h 185"/>
                  <a:gd name="T4" fmla="*/ 30 w 127"/>
                  <a:gd name="T5" fmla="*/ 14 h 185"/>
                  <a:gd name="T6" fmla="*/ 9 w 127"/>
                  <a:gd name="T7" fmla="*/ 39 h 185"/>
                  <a:gd name="T8" fmla="*/ 0 w 127"/>
                  <a:gd name="T9" fmla="*/ 88 h 185"/>
                  <a:gd name="T10" fmla="*/ 0 w 127"/>
                  <a:gd name="T11" fmla="*/ 185 h 185"/>
                  <a:gd name="T12" fmla="*/ 0 w 127"/>
                  <a:gd name="T13" fmla="*/ 18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509"/>
              <p:cNvSpPr/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2 w 127"/>
                  <a:gd name="T5" fmla="*/ 10 h 186"/>
                  <a:gd name="T6" fmla="*/ 9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510"/>
              <p:cNvSpPr/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28 w 128"/>
                  <a:gd name="T1" fmla="*/ 4 h 186"/>
                  <a:gd name="T2" fmla="*/ 59 w 128"/>
                  <a:gd name="T3" fmla="*/ 0 h 186"/>
                  <a:gd name="T4" fmla="*/ 32 w 128"/>
                  <a:gd name="T5" fmla="*/ 13 h 186"/>
                  <a:gd name="T6" fmla="*/ 9 w 128"/>
                  <a:gd name="T7" fmla="*/ 40 h 186"/>
                  <a:gd name="T8" fmla="*/ 0 w 128"/>
                  <a:gd name="T9" fmla="*/ 88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511"/>
              <p:cNvSpPr/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26 w 126"/>
                  <a:gd name="T1" fmla="*/ 4 h 186"/>
                  <a:gd name="T2" fmla="*/ 58 w 126"/>
                  <a:gd name="T3" fmla="*/ 0 h 186"/>
                  <a:gd name="T4" fmla="*/ 31 w 126"/>
                  <a:gd name="T5" fmla="*/ 14 h 186"/>
                  <a:gd name="T6" fmla="*/ 8 w 126"/>
                  <a:gd name="T7" fmla="*/ 40 h 186"/>
                  <a:gd name="T8" fmla="*/ 0 w 126"/>
                  <a:gd name="T9" fmla="*/ 89 h 186"/>
                  <a:gd name="T10" fmla="*/ 0 w 126"/>
                  <a:gd name="T11" fmla="*/ 186 h 186"/>
                  <a:gd name="T12" fmla="*/ 0 w 126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512"/>
              <p:cNvSpPr/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3 w 127"/>
                  <a:gd name="T5" fmla="*/ 16 h 186"/>
                  <a:gd name="T6" fmla="*/ 9 w 127"/>
                  <a:gd name="T7" fmla="*/ 40 h 186"/>
                  <a:gd name="T8" fmla="*/ 0 w 127"/>
                  <a:gd name="T9" fmla="*/ 89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Freeform 513"/>
              <p:cNvSpPr/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27 w 127"/>
                  <a:gd name="T1" fmla="*/ 4 h 186"/>
                  <a:gd name="T2" fmla="*/ 59 w 127"/>
                  <a:gd name="T3" fmla="*/ 0 h 186"/>
                  <a:gd name="T4" fmla="*/ 32 w 127"/>
                  <a:gd name="T5" fmla="*/ 13 h 186"/>
                  <a:gd name="T6" fmla="*/ 10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Freeform 514"/>
              <p:cNvSpPr/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89 w 96"/>
                  <a:gd name="T3" fmla="*/ 74 h 74"/>
                  <a:gd name="T4" fmla="*/ 96 w 96"/>
                  <a:gd name="T5" fmla="*/ 74 h 74"/>
                  <a:gd name="T6" fmla="*/ 93 w 96"/>
                  <a:gd name="T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Oval 515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Oval 516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517"/>
              <p:cNvSpPr/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25 h 25"/>
                  <a:gd name="T2" fmla="*/ 6 w 188"/>
                  <a:gd name="T3" fmla="*/ 0 h 25"/>
                  <a:gd name="T4" fmla="*/ 175 w 188"/>
                  <a:gd name="T5" fmla="*/ 0 h 25"/>
                  <a:gd name="T6" fmla="*/ 188 w 188"/>
                  <a:gd name="T7" fmla="*/ 19 h 25"/>
                  <a:gd name="T8" fmla="*/ 0 w 188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Oval 518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Oval 519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37" name="Text Box 520"/>
          <p:cNvSpPr txBox="1">
            <a:spLocks noChangeArrowheads="1"/>
          </p:cNvSpPr>
          <p:nvPr/>
        </p:nvSpPr>
        <p:spPr bwMode="auto">
          <a:xfrm>
            <a:off x="3613344" y="1040591"/>
            <a:ext cx="9989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中间人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538" name="Line 521"/>
          <p:cNvSpPr>
            <a:spLocks noChangeShapeType="1"/>
          </p:cNvSpPr>
          <p:nvPr/>
        </p:nvSpPr>
        <p:spPr bwMode="auto">
          <a:xfrm rot="5400000" flipV="1">
            <a:off x="3355978" y="3109632"/>
            <a:ext cx="2472946" cy="883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9" name="Group 554"/>
          <p:cNvGrpSpPr/>
          <p:nvPr/>
        </p:nvGrpSpPr>
        <p:grpSpPr bwMode="auto">
          <a:xfrm>
            <a:off x="4590243" y="1916302"/>
            <a:ext cx="2773377" cy="294527"/>
            <a:chOff x="2939" y="1851"/>
            <a:chExt cx="2512" cy="289"/>
          </a:xfrm>
        </p:grpSpPr>
        <p:sp>
          <p:nvSpPr>
            <p:cNvPr id="540" name="Line 522"/>
            <p:cNvSpPr>
              <a:spLocks noChangeShapeType="1"/>
            </p:cNvSpPr>
            <p:nvPr/>
          </p:nvSpPr>
          <p:spPr bwMode="auto">
            <a:xfrm>
              <a:off x="2939" y="1987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1" name="Rectangle 523"/>
            <p:cNvSpPr>
              <a:spLocks noChangeArrowheads="1"/>
            </p:cNvSpPr>
            <p:nvPr/>
          </p:nvSpPr>
          <p:spPr bwMode="auto">
            <a:xfrm>
              <a:off x="3506" y="1851"/>
              <a:ext cx="960" cy="289"/>
            </a:xfrm>
            <a:prstGeom prst="rect">
              <a:avLst/>
            </a:prstGeom>
            <a:solidFill>
              <a:srgbClr val="0000FF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 dirty="0">
                  <a:solidFill>
                    <a:schemeClr val="bg1"/>
                  </a:solidFill>
                </a:rPr>
                <a:t>C </a:t>
              </a:r>
              <a:r>
                <a:rPr lang="en-US" altLang="zh-CN" sz="1400" dirty="0">
                  <a:solidFill>
                    <a:schemeClr val="bg1"/>
                  </a:solidFill>
                </a:rPr>
                <a:t>=</a:t>
              </a:r>
              <a:r>
                <a:rPr lang="en-US" altLang="zh-CN" sz="1400" i="1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i="1" dirty="0" err="1">
                  <a:solidFill>
                    <a:schemeClr val="bg1"/>
                  </a:solidFill>
                </a:rPr>
                <a:t>g</a:t>
              </a:r>
              <a:r>
                <a:rPr lang="en-US" altLang="zh-CN" sz="1400" i="1" baseline="30000" dirty="0" err="1">
                  <a:solidFill>
                    <a:schemeClr val="bg1"/>
                  </a:solidFill>
                </a:rPr>
                <a:t>c</a:t>
              </a:r>
              <a:r>
                <a:rPr lang="en-US" altLang="zh-CN" sz="1400" dirty="0">
                  <a:solidFill>
                    <a:schemeClr val="bg1"/>
                  </a:solidFill>
                </a:rPr>
                <a:t> mod </a:t>
              </a:r>
              <a:r>
                <a:rPr lang="en-US" altLang="zh-CN" sz="1400" i="1" dirty="0">
                  <a:solidFill>
                    <a:schemeClr val="bg1"/>
                  </a:solidFill>
                </a:rPr>
                <a:t>p</a:t>
              </a:r>
              <a:endParaRPr lang="zh-CN" altLang="en-US" sz="1400" i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42" name="Group 555"/>
          <p:cNvGrpSpPr/>
          <p:nvPr/>
        </p:nvGrpSpPr>
        <p:grpSpPr bwMode="auto">
          <a:xfrm>
            <a:off x="4572578" y="2305603"/>
            <a:ext cx="2773377" cy="305738"/>
            <a:chOff x="2923" y="2233"/>
            <a:chExt cx="2512" cy="300"/>
          </a:xfrm>
        </p:grpSpPr>
        <p:sp>
          <p:nvSpPr>
            <p:cNvPr id="543" name="Line 524"/>
            <p:cNvSpPr>
              <a:spLocks noChangeShapeType="1"/>
            </p:cNvSpPr>
            <p:nvPr/>
          </p:nvSpPr>
          <p:spPr bwMode="auto">
            <a:xfrm flipH="1">
              <a:off x="2923" y="2369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4" name="Rectangle 525"/>
            <p:cNvSpPr>
              <a:spLocks noChangeArrowheads="1"/>
            </p:cNvSpPr>
            <p:nvPr/>
          </p:nvSpPr>
          <p:spPr bwMode="auto">
            <a:xfrm>
              <a:off x="3983" y="2233"/>
              <a:ext cx="968" cy="300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rgbClr val="0099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 dirty="0"/>
                <a:t>B </a:t>
              </a:r>
              <a:r>
                <a:rPr lang="en-US" altLang="zh-CN" sz="1400" dirty="0"/>
                <a:t>= </a:t>
              </a:r>
              <a:r>
                <a:rPr lang="en-US" altLang="zh-CN" sz="1400" i="1" dirty="0" err="1"/>
                <a:t>g</a:t>
              </a:r>
              <a:r>
                <a:rPr lang="en-US" altLang="zh-CN" sz="1400" i="1" baseline="30000" dirty="0" err="1"/>
                <a:t>b</a:t>
              </a:r>
              <a:r>
                <a:rPr lang="en-US" altLang="zh-CN" sz="1400" dirty="0"/>
                <a:t> mod </a:t>
              </a:r>
              <a:r>
                <a:rPr lang="en-US" altLang="zh-CN" sz="1400" i="1" dirty="0"/>
                <a:t>p</a:t>
              </a:r>
              <a:endParaRPr lang="zh-CN" altLang="en-US" sz="1400" i="1" dirty="0"/>
            </a:p>
          </p:txBody>
        </p:sp>
      </p:grpSp>
      <p:grpSp>
        <p:nvGrpSpPr>
          <p:cNvPr id="556" name="Group 556"/>
          <p:cNvGrpSpPr/>
          <p:nvPr/>
        </p:nvGrpSpPr>
        <p:grpSpPr bwMode="auto">
          <a:xfrm>
            <a:off x="1801409" y="2228154"/>
            <a:ext cx="2773377" cy="265991"/>
            <a:chOff x="413" y="2157"/>
            <a:chExt cx="2512" cy="261"/>
          </a:xfrm>
        </p:grpSpPr>
        <p:sp>
          <p:nvSpPr>
            <p:cNvPr id="557" name="Line 533"/>
            <p:cNvSpPr>
              <a:spLocks noChangeShapeType="1"/>
            </p:cNvSpPr>
            <p:nvPr/>
          </p:nvSpPr>
          <p:spPr bwMode="auto">
            <a:xfrm flipH="1">
              <a:off x="413" y="2276"/>
              <a:ext cx="2512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8" name="Rectangle 534"/>
            <p:cNvSpPr>
              <a:spLocks noChangeArrowheads="1"/>
            </p:cNvSpPr>
            <p:nvPr/>
          </p:nvSpPr>
          <p:spPr bwMode="auto">
            <a:xfrm>
              <a:off x="1588" y="2157"/>
              <a:ext cx="991" cy="261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 dirty="0"/>
                <a:t>D </a:t>
              </a:r>
              <a:r>
                <a:rPr lang="en-US" altLang="zh-CN" sz="1400" dirty="0"/>
                <a:t>= </a:t>
              </a:r>
              <a:r>
                <a:rPr lang="en-US" altLang="zh-CN" sz="1400" i="1" dirty="0" err="1"/>
                <a:t>g</a:t>
              </a:r>
              <a:r>
                <a:rPr lang="en-US" altLang="zh-CN" sz="1400" i="1" baseline="30000" dirty="0" err="1"/>
                <a:t>d</a:t>
              </a:r>
              <a:r>
                <a:rPr lang="en-US" altLang="zh-CN" sz="1400" dirty="0"/>
                <a:t> mod </a:t>
              </a:r>
              <a:r>
                <a:rPr lang="en-US" altLang="zh-CN" sz="1400" i="1" dirty="0"/>
                <a:t>p</a:t>
              </a:r>
              <a:endParaRPr lang="zh-CN" altLang="en-US" sz="1400" i="1" dirty="0"/>
            </a:p>
          </p:txBody>
        </p:sp>
      </p:grpSp>
      <p:sp>
        <p:nvSpPr>
          <p:cNvPr id="580" name="Text Box 551"/>
          <p:cNvSpPr txBox="1">
            <a:spLocks noChangeArrowheads="1"/>
          </p:cNvSpPr>
          <p:nvPr/>
        </p:nvSpPr>
        <p:spPr bwMode="auto">
          <a:xfrm>
            <a:off x="1363065" y="4137479"/>
            <a:ext cx="4924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260" y="104091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2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158" y="105073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4" name="矩形 583"/>
          <p:cNvSpPr/>
          <p:nvPr/>
        </p:nvSpPr>
        <p:spPr bwMode="auto">
          <a:xfrm>
            <a:off x="1662464" y="1550143"/>
            <a:ext cx="5867100" cy="2923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CN" sz="1400" dirty="0"/>
              <a:t>A </a:t>
            </a:r>
            <a:r>
              <a:rPr lang="zh-CN" altLang="en-US" sz="1400" dirty="0"/>
              <a:t>和 </a:t>
            </a:r>
            <a:r>
              <a:rPr lang="en-US" altLang="zh-CN" sz="1400" dirty="0"/>
              <a:t>B </a:t>
            </a:r>
            <a:r>
              <a:rPr lang="zh-CN" altLang="en-US" sz="1400" dirty="0"/>
              <a:t>已商定共同使用的数 </a:t>
            </a:r>
            <a:r>
              <a:rPr lang="en-US" altLang="zh-CN" sz="1400" i="1" dirty="0"/>
              <a:t>p</a:t>
            </a:r>
            <a:r>
              <a:rPr lang="en-US" altLang="zh-CN" sz="1400" dirty="0"/>
              <a:t> </a:t>
            </a:r>
            <a:r>
              <a:rPr lang="zh-CN" altLang="en-US" sz="1400" dirty="0"/>
              <a:t>和 </a:t>
            </a:r>
            <a:r>
              <a:rPr lang="en-US" altLang="zh-CN" sz="1400" i="1" dirty="0"/>
              <a:t>g</a:t>
            </a:r>
            <a:r>
              <a:rPr lang="zh-CN" altLang="en-US" sz="1400" dirty="0"/>
              <a:t>，</a:t>
            </a:r>
            <a:r>
              <a:rPr lang="en-US" altLang="zh-CN" sz="1400" dirty="0"/>
              <a:t>C </a:t>
            </a:r>
            <a:r>
              <a:rPr lang="zh-CN" altLang="en-US" sz="1400" dirty="0"/>
              <a:t>也知道这两个数</a:t>
            </a:r>
            <a:r>
              <a:rPr lang="zh-CN" altLang="en-US" sz="1400" dirty="0" smtClean="0"/>
              <a:t>。</a:t>
            </a:r>
            <a:endParaRPr lang="en-US" altLang="zh-CN" sz="1400" dirty="0"/>
          </a:p>
        </p:txBody>
      </p:sp>
      <p:sp>
        <p:nvSpPr>
          <p:cNvPr id="586" name="矩形 585"/>
          <p:cNvSpPr/>
          <p:nvPr/>
        </p:nvSpPr>
        <p:spPr bwMode="auto">
          <a:xfrm>
            <a:off x="3610081" y="2637179"/>
            <a:ext cx="1983356" cy="3397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 dirty="0"/>
              <a:t>计算出 </a:t>
            </a:r>
            <a:r>
              <a:rPr lang="en-US" altLang="zh-CN" sz="1400" i="1" dirty="0"/>
              <a:t>K</a:t>
            </a:r>
            <a:r>
              <a:rPr lang="en-US" altLang="zh-CN" sz="1400" baseline="-25000" dirty="0"/>
              <a:t>1</a:t>
            </a:r>
            <a:r>
              <a:rPr lang="en-US" altLang="zh-CN" sz="1400" i="1" dirty="0"/>
              <a:t> </a:t>
            </a:r>
            <a:r>
              <a:rPr lang="en-US" altLang="zh-CN" sz="1400" dirty="0"/>
              <a:t>=</a:t>
            </a:r>
            <a:r>
              <a:rPr lang="en-US" altLang="zh-CN" sz="1400" i="1" dirty="0"/>
              <a:t> A</a:t>
            </a:r>
            <a:r>
              <a:rPr lang="en-US" altLang="zh-CN" sz="1400" i="1" baseline="30000" dirty="0"/>
              <a:t>d</a:t>
            </a:r>
            <a:r>
              <a:rPr lang="en-US" altLang="zh-CN" sz="1400" dirty="0"/>
              <a:t> mod </a:t>
            </a:r>
            <a:r>
              <a:rPr lang="en-US" altLang="zh-CN" sz="1400" i="1" dirty="0"/>
              <a:t>p</a:t>
            </a:r>
            <a:endParaRPr lang="zh-CN" altLang="en-US" sz="1400" i="1" dirty="0"/>
          </a:p>
        </p:txBody>
      </p:sp>
      <p:sp>
        <p:nvSpPr>
          <p:cNvPr id="587" name="矩形 586"/>
          <p:cNvSpPr/>
          <p:nvPr/>
        </p:nvSpPr>
        <p:spPr bwMode="auto">
          <a:xfrm>
            <a:off x="3610081" y="3022890"/>
            <a:ext cx="1983356" cy="3397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 dirty="0"/>
              <a:t>计算出 </a:t>
            </a:r>
            <a:r>
              <a:rPr lang="en-US" altLang="zh-CN" sz="1400" i="1" dirty="0"/>
              <a:t>K</a:t>
            </a:r>
            <a:r>
              <a:rPr lang="en-US" altLang="zh-CN" sz="1400" baseline="-25000" dirty="0"/>
              <a:t>2</a:t>
            </a:r>
            <a:r>
              <a:rPr lang="en-US" altLang="zh-CN" sz="1400" i="1" dirty="0"/>
              <a:t> </a:t>
            </a:r>
            <a:r>
              <a:rPr lang="en-US" altLang="zh-CN" sz="1400" dirty="0"/>
              <a:t>=</a:t>
            </a:r>
            <a:r>
              <a:rPr lang="en-US" altLang="zh-CN" sz="1400" i="1" dirty="0"/>
              <a:t> </a:t>
            </a:r>
            <a:r>
              <a:rPr lang="en-US" altLang="zh-CN" sz="1400" i="1" dirty="0" err="1"/>
              <a:t>B</a:t>
            </a:r>
            <a:r>
              <a:rPr lang="en-US" altLang="zh-CN" sz="1400" i="1" baseline="30000" dirty="0" err="1"/>
              <a:t>c</a:t>
            </a:r>
            <a:r>
              <a:rPr lang="en-US" altLang="zh-CN" sz="1400" dirty="0"/>
              <a:t> mod </a:t>
            </a:r>
            <a:r>
              <a:rPr lang="en-US" altLang="zh-CN" sz="1400" i="1" dirty="0"/>
              <a:t>p</a:t>
            </a:r>
            <a:endParaRPr lang="zh-CN" altLang="en-US" sz="1400" i="1" dirty="0"/>
          </a:p>
        </p:txBody>
      </p:sp>
      <p:sp>
        <p:nvSpPr>
          <p:cNvPr id="588" name="矩形 587"/>
          <p:cNvSpPr/>
          <p:nvPr/>
        </p:nvSpPr>
        <p:spPr bwMode="auto">
          <a:xfrm>
            <a:off x="6354277" y="2711999"/>
            <a:ext cx="1983356" cy="3397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 dirty="0"/>
              <a:t>计算出 </a:t>
            </a:r>
            <a:r>
              <a:rPr lang="en-US" altLang="zh-CN" sz="1400" i="1" dirty="0"/>
              <a:t>K</a:t>
            </a:r>
            <a:r>
              <a:rPr lang="en-US" altLang="zh-CN" sz="1400" baseline="-25000" dirty="0"/>
              <a:t>2</a:t>
            </a:r>
            <a:r>
              <a:rPr lang="en-US" altLang="zh-CN" sz="1400" i="1" dirty="0"/>
              <a:t> </a:t>
            </a:r>
            <a:r>
              <a:rPr lang="en-US" altLang="zh-CN" sz="1400" dirty="0"/>
              <a:t>=</a:t>
            </a:r>
            <a:r>
              <a:rPr lang="en-US" altLang="zh-CN" sz="1400" i="1" dirty="0"/>
              <a:t> </a:t>
            </a:r>
            <a:r>
              <a:rPr lang="en-US" altLang="zh-CN" sz="1400" i="1" dirty="0" err="1"/>
              <a:t>C</a:t>
            </a:r>
            <a:r>
              <a:rPr lang="en-US" altLang="zh-CN" sz="1400" i="1" baseline="30000" dirty="0" err="1"/>
              <a:t>b</a:t>
            </a:r>
            <a:r>
              <a:rPr lang="en-US" altLang="zh-CN" sz="1400" dirty="0"/>
              <a:t> mod </a:t>
            </a:r>
            <a:r>
              <a:rPr lang="en-US" altLang="zh-CN" sz="1400" i="1" dirty="0"/>
              <a:t>p</a:t>
            </a:r>
            <a:endParaRPr lang="zh-CN" altLang="en-US" sz="1400" i="1" dirty="0"/>
          </a:p>
        </p:txBody>
      </p:sp>
      <p:sp>
        <p:nvSpPr>
          <p:cNvPr id="589" name="矩形 588"/>
          <p:cNvSpPr/>
          <p:nvPr/>
        </p:nvSpPr>
        <p:spPr bwMode="auto">
          <a:xfrm>
            <a:off x="809731" y="2593152"/>
            <a:ext cx="1983356" cy="3397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 dirty="0"/>
              <a:t>计算出 </a:t>
            </a:r>
            <a:r>
              <a:rPr lang="en-US" altLang="zh-CN" sz="1400" i="1" dirty="0"/>
              <a:t>K</a:t>
            </a:r>
            <a:r>
              <a:rPr lang="en-US" altLang="zh-CN" sz="1400" baseline="-25000" dirty="0"/>
              <a:t>1</a:t>
            </a:r>
            <a:r>
              <a:rPr lang="en-US" altLang="zh-CN" sz="1400" i="1" dirty="0"/>
              <a:t> </a:t>
            </a:r>
            <a:r>
              <a:rPr lang="en-US" altLang="zh-CN" sz="1400" dirty="0"/>
              <a:t>=</a:t>
            </a:r>
            <a:r>
              <a:rPr lang="en-US" altLang="zh-CN" sz="1400" i="1" dirty="0"/>
              <a:t> D</a:t>
            </a:r>
            <a:r>
              <a:rPr lang="en-US" altLang="zh-CN" sz="1400" i="1" baseline="30000" dirty="0"/>
              <a:t>a</a:t>
            </a:r>
            <a:r>
              <a:rPr lang="en-US" altLang="zh-CN" sz="1400" dirty="0"/>
              <a:t> mod </a:t>
            </a:r>
            <a:r>
              <a:rPr lang="en-US" altLang="zh-CN" sz="1400" i="1" dirty="0"/>
              <a:t>p</a:t>
            </a:r>
            <a:endParaRPr lang="zh-CN" altLang="en-US" sz="1400" i="1" dirty="0"/>
          </a:p>
        </p:txBody>
      </p:sp>
      <p:sp>
        <p:nvSpPr>
          <p:cNvPr id="590" name="矩形 589"/>
          <p:cNvSpPr/>
          <p:nvPr/>
        </p:nvSpPr>
        <p:spPr bwMode="auto">
          <a:xfrm>
            <a:off x="1355617" y="3426399"/>
            <a:ext cx="6445687" cy="338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CN" sz="1400" dirty="0"/>
              <a:t> A </a:t>
            </a:r>
            <a:r>
              <a:rPr lang="zh-CN" altLang="en-US" sz="1400" dirty="0"/>
              <a:t>以为导出了和 </a:t>
            </a:r>
            <a:r>
              <a:rPr lang="en-US" altLang="zh-CN" sz="1400" dirty="0"/>
              <a:t>B </a:t>
            </a:r>
            <a:r>
              <a:rPr lang="zh-CN" altLang="en-US" sz="1400" dirty="0"/>
              <a:t>通信的共享密钥 </a:t>
            </a:r>
            <a:r>
              <a:rPr lang="en-US" altLang="zh-CN" sz="1400" i="1" dirty="0"/>
              <a:t>K</a:t>
            </a:r>
            <a:r>
              <a:rPr lang="en-US" altLang="zh-CN" sz="1400" baseline="-25000" dirty="0"/>
              <a:t>1</a:t>
            </a:r>
            <a:r>
              <a:rPr lang="zh-CN" altLang="en-US" sz="1400" dirty="0" smtClean="0"/>
              <a:t>。</a:t>
            </a:r>
            <a:r>
              <a:rPr lang="en-US" altLang="zh-CN" sz="1400" dirty="0" smtClean="0"/>
              <a:t>B </a:t>
            </a:r>
            <a:r>
              <a:rPr lang="zh-CN" altLang="en-US" sz="1400" dirty="0"/>
              <a:t>以为导出了和 </a:t>
            </a:r>
            <a:r>
              <a:rPr lang="en-US" altLang="zh-CN" sz="1400" dirty="0"/>
              <a:t>A </a:t>
            </a:r>
            <a:r>
              <a:rPr lang="zh-CN" altLang="en-US" sz="1400" dirty="0"/>
              <a:t>通信的共享密钥 </a:t>
            </a:r>
            <a:r>
              <a:rPr lang="en-US" altLang="zh-CN" sz="1400" i="1" dirty="0"/>
              <a:t>K</a:t>
            </a:r>
            <a:r>
              <a:rPr lang="en-US" altLang="zh-CN" sz="1400" baseline="-25000" dirty="0"/>
              <a:t>2 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sp>
        <p:nvSpPr>
          <p:cNvPr id="591" name="矩形 590"/>
          <p:cNvSpPr/>
          <p:nvPr/>
        </p:nvSpPr>
        <p:spPr bwMode="auto">
          <a:xfrm>
            <a:off x="1355617" y="3809752"/>
            <a:ext cx="6445687" cy="338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1400" dirty="0" smtClean="0"/>
              <a:t>实际上 </a:t>
            </a:r>
            <a:r>
              <a:rPr lang="en-US" altLang="zh-CN" sz="1400" i="1" dirty="0"/>
              <a:t>K</a:t>
            </a:r>
            <a:r>
              <a:rPr lang="en-US" altLang="zh-CN" sz="1400" baseline="-25000" dirty="0"/>
              <a:t>1</a:t>
            </a:r>
            <a:r>
              <a:rPr lang="zh-CN" altLang="en-US" sz="1400" dirty="0"/>
              <a:t>是 </a:t>
            </a:r>
            <a:r>
              <a:rPr lang="en-US" altLang="zh-CN" sz="1400" dirty="0"/>
              <a:t>A </a:t>
            </a:r>
            <a:r>
              <a:rPr lang="zh-CN" altLang="en-US" sz="1400" dirty="0"/>
              <a:t>和 </a:t>
            </a:r>
            <a:r>
              <a:rPr lang="en-US" altLang="zh-CN" sz="1400" dirty="0"/>
              <a:t>C </a:t>
            </a:r>
            <a:r>
              <a:rPr lang="zh-CN" altLang="en-US" sz="1400" dirty="0"/>
              <a:t>通信的共享</a:t>
            </a:r>
            <a:r>
              <a:rPr lang="zh-CN" altLang="en-US" sz="1400" dirty="0" smtClean="0"/>
              <a:t>密钥；</a:t>
            </a:r>
            <a:r>
              <a:rPr lang="en-US" altLang="zh-CN" sz="1400" i="1" dirty="0"/>
              <a:t>K</a:t>
            </a:r>
            <a:r>
              <a:rPr lang="en-US" altLang="zh-CN" sz="1400" baseline="-25000" dirty="0"/>
              <a:t>2</a:t>
            </a:r>
            <a:r>
              <a:rPr lang="zh-CN" altLang="en-US" sz="1400" dirty="0"/>
              <a:t>是 </a:t>
            </a:r>
            <a:r>
              <a:rPr lang="en-US" altLang="zh-CN" sz="1400" dirty="0"/>
              <a:t>B </a:t>
            </a:r>
            <a:r>
              <a:rPr lang="zh-CN" altLang="en-US" sz="1400" dirty="0"/>
              <a:t>和 </a:t>
            </a:r>
            <a:r>
              <a:rPr lang="en-US" altLang="zh-CN" sz="1400" dirty="0"/>
              <a:t>C </a:t>
            </a:r>
            <a:r>
              <a:rPr lang="zh-CN" altLang="en-US" sz="1400" dirty="0"/>
              <a:t>通信的共享密钥</a:t>
            </a:r>
            <a:r>
              <a:rPr lang="zh-CN" altLang="en-US" sz="1400" dirty="0" smtClean="0"/>
              <a:t>。</a:t>
            </a:r>
            <a:endParaRPr lang="en-US" altLang="zh-CN" sz="1400" dirty="0"/>
          </a:p>
        </p:txBody>
      </p:sp>
      <p:sp>
        <p:nvSpPr>
          <p:cNvPr id="545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DH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密钥交换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309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586" grpId="0" animBg="1"/>
      <p:bldP spid="587" grpId="0" animBg="1"/>
      <p:bldP spid="588" grpId="0" animBg="1"/>
      <p:bldP spid="589" grpId="0" animBg="1"/>
      <p:bldP spid="590" grpId="0" animBg="1"/>
      <p:bldP spid="59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2676639" y="131572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676639" y="192215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27"/>
          <p:cNvSpPr>
            <a:spLocks noChangeArrowheads="1"/>
          </p:cNvSpPr>
          <p:nvPr/>
        </p:nvSpPr>
        <p:spPr bwMode="auto">
          <a:xfrm>
            <a:off x="687234" y="131572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7" name="Rectangle 29"/>
          <p:cNvSpPr>
            <a:spLocks noChangeArrowheads="1"/>
          </p:cNvSpPr>
          <p:nvPr/>
        </p:nvSpPr>
        <p:spPr bwMode="auto">
          <a:xfrm>
            <a:off x="696123" y="141066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7.5</a:t>
            </a:r>
            <a:endParaRPr lang="fr-FR" altLang="zh-CN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互联网使用的安全协议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676639" y="2523353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84702" y="1189512"/>
            <a:ext cx="0" cy="1834737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748077" y="1281184"/>
            <a:ext cx="559434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7.5.1 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网络层安全协议</a:t>
            </a: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7.5.2 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			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传输层安全协议</a:t>
            </a:r>
            <a:endParaRPr lang="en-US" altLang="zh-CN" sz="2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7.5.3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			      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应用层安全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73842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5229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3406853" y="579765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网络层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安全协议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39654"/>
            <a:ext cx="8204221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几乎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不具备任何安全性，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不能保证：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机密性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数据完整性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数据来源认证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由于其在设计和实现上存在安全漏洞，使各种攻击有机可乘。例如：攻击者很容易构造一个包含虚假地址的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了一套标准化的机制来保证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层安全。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87734" y="37227"/>
            <a:ext cx="14537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协议族概述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63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470156" y="572806"/>
            <a:ext cx="22076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族概述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71292"/>
            <a:ext cx="812901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security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安全。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一个单一协议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，而是能够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层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提供互联网通信安全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协议族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包含了一个通用框架和若干</a:t>
            </a:r>
            <a:r>
              <a:rPr lang="zh-CN" altLang="zh-CN" sz="2000" b="1" dirty="0" smtClean="0">
                <a:latin typeface="微软雅黑" pitchFamily="34" charset="-122"/>
                <a:ea typeface="微软雅黑" pitchFamily="34" charset="-122"/>
              </a:rPr>
              <a:t>加密算法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具有很强的灵活性</a:t>
            </a:r>
            <a:endParaRPr lang="en-US" altLang="zh-CN" sz="2000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799200" lvl="1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既有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不同的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安全协议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可供选择，又支持通信双方协商选择算法和参数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（加密算法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、密钥长度等）。</a:t>
            </a:r>
          </a:p>
          <a:p>
            <a:pPr marL="342000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协议为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网络通信提供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透明的安全服务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，保护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TCP/IP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通信免遭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窃听和篡改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，保证数据的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完整性和机密性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，同时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保持易用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性。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87734" y="37227"/>
            <a:ext cx="14537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协议族概述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53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87734" y="37227"/>
            <a:ext cx="14537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协议族概述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509474" y="971292"/>
            <a:ext cx="8129016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协议族中的协议可划分为以下三个部分：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安全协议：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包括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鉴别首部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(Authentication Header)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封装安全有效载荷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ESP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(Encapsulation Security Payload)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密码算法：包括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加密算法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完整性保护算法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、以及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组合模式算法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三类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密钥管理协议：也就是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互联网密钥交换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(Internet Key Exchange)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726636" y="572806"/>
            <a:ext cx="16946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的组成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804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509474" y="921464"/>
            <a:ext cx="7890247" cy="2144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协议提供了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源点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数据完整性服务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，但不提供保密服务。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ESP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协议提供了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数据完整性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保密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不提供源点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鉴别服务。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支持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IPv6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ESP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数据报称为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安全数据报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687734" y="37227"/>
            <a:ext cx="14537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协议族概述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726636" y="572806"/>
            <a:ext cx="16946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的组成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61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04633" y="1046810"/>
            <a:ext cx="8133857" cy="242589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406501" y="2298611"/>
            <a:ext cx="710969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000" b="1" kern="0" dirty="0" err="1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endParaRPr lang="en-US" altLang="zh-CN" sz="1000" b="1" kern="0" dirty="0" smtClea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endParaRPr lang="zh-CN" altLang="en-US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448851" y="2298611"/>
            <a:ext cx="606633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000" b="1" kern="0" dirty="0" err="1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endParaRPr lang="en-US" altLang="zh-CN" sz="1000" b="1" kern="0" dirty="0" smtClea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尾部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01287" y="2298611"/>
            <a:ext cx="3359919" cy="804189"/>
            <a:chOff x="701287" y="2191931"/>
            <a:chExt cx="3359919" cy="804189"/>
          </a:xfrm>
        </p:grpSpPr>
        <p:sp>
          <p:nvSpPr>
            <p:cNvPr id="71" name="矩形 70"/>
            <p:cNvSpPr/>
            <p:nvPr/>
          </p:nvSpPr>
          <p:spPr>
            <a:xfrm>
              <a:off x="701287" y="2191931"/>
              <a:ext cx="710969" cy="34024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000" b="1" kern="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原始</a:t>
              </a:r>
              <a:endParaRPr lang="en-US" altLang="zh-CN" sz="1000" b="1" kern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000" b="1" kern="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lang="zh-CN" altLang="en-US" sz="1000" b="1" kern="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</a:t>
              </a:r>
              <a:endParaRPr lang="zh-CN" altLang="en-US" sz="10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2117471" y="2191931"/>
              <a:ext cx="1331380" cy="34024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 kern="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TCP/UDP </a:t>
              </a:r>
              <a:r>
                <a:rPr lang="zh-CN" altLang="en-US" sz="1000" b="1" kern="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报文段</a:t>
              </a:r>
              <a:endPara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Line 55"/>
            <p:cNvSpPr>
              <a:spLocks noChangeShapeType="1"/>
            </p:cNvSpPr>
            <p:nvPr/>
          </p:nvSpPr>
          <p:spPr bwMode="auto">
            <a:xfrm>
              <a:off x="715467" y="2563246"/>
              <a:ext cx="0" cy="424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55"/>
            <p:cNvSpPr>
              <a:spLocks noChangeShapeType="1"/>
            </p:cNvSpPr>
            <p:nvPr/>
          </p:nvSpPr>
          <p:spPr bwMode="auto">
            <a:xfrm>
              <a:off x="4061206" y="2563246"/>
              <a:ext cx="0" cy="424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62"/>
            <p:cNvSpPr>
              <a:spLocks noChangeShapeType="1"/>
            </p:cNvSpPr>
            <p:nvPr/>
          </p:nvSpPr>
          <p:spPr bwMode="auto">
            <a:xfrm>
              <a:off x="734951" y="2726565"/>
              <a:ext cx="33205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Text Box 17"/>
            <p:cNvSpPr txBox="1">
              <a:spLocks noChangeArrowheads="1"/>
            </p:cNvSpPr>
            <p:nvPr/>
          </p:nvSpPr>
          <p:spPr bwMode="auto">
            <a:xfrm>
              <a:off x="1739569" y="2719121"/>
              <a:ext cx="1361519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0" lang="zh-CN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安全数据报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056772" y="1115823"/>
            <a:ext cx="2392079" cy="1177708"/>
            <a:chOff x="1056772" y="1009143"/>
            <a:chExt cx="2392079" cy="1177708"/>
          </a:xfrm>
        </p:grpSpPr>
        <p:grpSp>
          <p:nvGrpSpPr>
            <p:cNvPr id="85" name="组合 84"/>
            <p:cNvGrpSpPr/>
            <p:nvPr/>
          </p:nvGrpSpPr>
          <p:grpSpPr>
            <a:xfrm>
              <a:off x="1406502" y="1009143"/>
              <a:ext cx="2042349" cy="648019"/>
              <a:chOff x="5601886" y="1478458"/>
              <a:chExt cx="2042349" cy="648019"/>
            </a:xfrm>
          </p:grpSpPr>
          <p:sp>
            <p:nvSpPr>
              <p:cNvPr id="40" name="Text Box 17"/>
              <p:cNvSpPr txBox="1">
                <a:spLocks noChangeArrowheads="1"/>
              </p:cNvSpPr>
              <p:nvPr/>
            </p:nvSpPr>
            <p:spPr bwMode="auto">
              <a:xfrm>
                <a:off x="5943354" y="1478458"/>
                <a:ext cx="1361519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原始 </a:t>
                </a:r>
                <a:r>
                  <a:rPr kumimoji="0" lang="en-US" altLang="zh-CN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IP </a:t>
                </a:r>
                <a:r>
                  <a:rPr kumimoji="0" lang="zh-CN" altLang="en-US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数据报</a:t>
                </a: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5601886" y="1786235"/>
                <a:ext cx="2042349" cy="340242"/>
                <a:chOff x="5925153" y="1233377"/>
                <a:chExt cx="2042349" cy="340242"/>
              </a:xfrm>
              <a:solidFill>
                <a:srgbClr val="00FF99"/>
              </a:solidFill>
            </p:grpSpPr>
            <p:sp>
              <p:nvSpPr>
                <p:cNvPr id="66" name="矩形 65"/>
                <p:cNvSpPr/>
                <p:nvPr/>
              </p:nvSpPr>
              <p:spPr>
                <a:xfrm>
                  <a:off x="5925153" y="1233377"/>
                  <a:ext cx="710969" cy="340242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000" b="1" kern="0" dirty="0" smtClean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原始</a:t>
                  </a:r>
                  <a:endParaRPr lang="en-US" altLang="zh-CN" sz="1000" b="1" kern="0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r>
                    <a:rPr lang="en-US" altLang="zh-CN" sz="1000" b="1" kern="0" dirty="0" smtClean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IP </a:t>
                  </a:r>
                  <a:r>
                    <a:rPr lang="zh-CN" altLang="en-US" sz="1000" b="1" kern="0" dirty="0" smtClean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首部</a:t>
                  </a:r>
                  <a:endParaRPr lang="zh-CN" altLang="en-US" sz="1000" b="1" kern="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6636122" y="1233377"/>
                  <a:ext cx="1331380" cy="340242"/>
                </a:xfrm>
                <a:prstGeom prst="rect">
                  <a:avLst/>
                </a:prstGeom>
                <a:grpFill/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000" b="1" kern="0" dirty="0" smtClean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TCP/UDP </a:t>
                  </a:r>
                  <a:r>
                    <a:rPr lang="zh-CN" altLang="en-US" sz="1000" b="1" kern="0" dirty="0" smtClean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报文段</a:t>
                  </a:r>
                  <a:endParaRPr lang="zh-CN" altLang="en-US" sz="1000" b="1" kern="0" dirty="0">
                    <a:solidFill>
                      <a:sysClr val="windowText" lastClr="00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21" name="Line 55"/>
            <p:cNvSpPr>
              <a:spLocks noChangeShapeType="1"/>
            </p:cNvSpPr>
            <p:nvPr/>
          </p:nvSpPr>
          <p:spPr bwMode="auto">
            <a:xfrm>
              <a:off x="2128104" y="1657162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55"/>
            <p:cNvSpPr>
              <a:spLocks noChangeShapeType="1"/>
            </p:cNvSpPr>
            <p:nvPr/>
          </p:nvSpPr>
          <p:spPr bwMode="auto">
            <a:xfrm>
              <a:off x="3448851" y="1657162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" name="直接箭头连接符 5"/>
            <p:cNvCxnSpPr>
              <a:stCxn id="66" idx="2"/>
              <a:endCxn id="71" idx="0"/>
            </p:cNvCxnSpPr>
            <p:nvPr/>
          </p:nvCxnSpPr>
          <p:spPr>
            <a:xfrm flipH="1">
              <a:off x="1056772" y="1657162"/>
              <a:ext cx="705215" cy="52968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/>
          <p:cNvSpPr/>
          <p:nvPr/>
        </p:nvSpPr>
        <p:spPr>
          <a:xfrm>
            <a:off x="5053348" y="2311997"/>
            <a:ext cx="710969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000" b="1" kern="0" dirty="0" err="1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endParaRPr lang="en-US" altLang="zh-CN" sz="1000" b="1" kern="0" dirty="0" smtClea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endParaRPr lang="zh-CN" altLang="en-US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808110" y="2311997"/>
            <a:ext cx="606622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000" b="1" kern="0" dirty="0" err="1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endParaRPr lang="en-US" altLang="zh-CN" sz="1000" b="1" kern="0" dirty="0" smtClea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尾部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362314" y="2311997"/>
            <a:ext cx="4067115" cy="813154"/>
            <a:chOff x="4362314" y="2205317"/>
            <a:chExt cx="4067115" cy="813154"/>
          </a:xfrm>
        </p:grpSpPr>
        <p:sp>
          <p:nvSpPr>
            <p:cNvPr id="31" name="矩形 30"/>
            <p:cNvSpPr/>
            <p:nvPr/>
          </p:nvSpPr>
          <p:spPr>
            <a:xfrm>
              <a:off x="5764317" y="2205317"/>
              <a:ext cx="710969" cy="34024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000" b="1" kern="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原始</a:t>
              </a:r>
              <a:endParaRPr lang="en-US" altLang="zh-CN" sz="1000" b="1" kern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000" b="1" kern="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lang="zh-CN" altLang="en-US" sz="1000" b="1" kern="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</a:t>
              </a:r>
              <a:endParaRPr lang="zh-CN" altLang="en-US" sz="10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6476729" y="2205317"/>
              <a:ext cx="1331380" cy="34024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 kern="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TCP/UDP </a:t>
              </a:r>
              <a:r>
                <a:rPr lang="zh-CN" altLang="en-US" sz="1000" b="1" kern="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报文段</a:t>
              </a:r>
              <a:endPara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55"/>
            <p:cNvSpPr>
              <a:spLocks noChangeShapeType="1"/>
            </p:cNvSpPr>
            <p:nvPr/>
          </p:nvSpPr>
          <p:spPr bwMode="auto">
            <a:xfrm>
              <a:off x="4362314" y="2576632"/>
              <a:ext cx="0" cy="410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55"/>
            <p:cNvSpPr>
              <a:spLocks noChangeShapeType="1"/>
            </p:cNvSpPr>
            <p:nvPr/>
          </p:nvSpPr>
          <p:spPr bwMode="auto">
            <a:xfrm>
              <a:off x="8429428" y="2576631"/>
              <a:ext cx="0" cy="4194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62"/>
            <p:cNvSpPr>
              <a:spLocks noChangeShapeType="1"/>
            </p:cNvSpPr>
            <p:nvPr/>
          </p:nvSpPr>
          <p:spPr bwMode="auto">
            <a:xfrm>
              <a:off x="4362315" y="2730986"/>
              <a:ext cx="40671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17"/>
            <p:cNvSpPr txBox="1">
              <a:spLocks noChangeArrowheads="1"/>
            </p:cNvSpPr>
            <p:nvPr/>
          </p:nvSpPr>
          <p:spPr bwMode="auto">
            <a:xfrm>
              <a:off x="5726047" y="2741472"/>
              <a:ext cx="1361519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0" lang="zh-CN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安全数据报</a:t>
              </a:r>
            </a:p>
          </p:txBody>
        </p:sp>
      </p:grpSp>
      <p:sp>
        <p:nvSpPr>
          <p:cNvPr id="39" name="矩形 38"/>
          <p:cNvSpPr/>
          <p:nvPr/>
        </p:nvSpPr>
        <p:spPr>
          <a:xfrm>
            <a:off x="4362314" y="2311997"/>
            <a:ext cx="710969" cy="340242"/>
          </a:xfrm>
          <a:prstGeom prst="rect">
            <a:avLst/>
          </a:prstGeom>
          <a:solidFill>
            <a:srgbClr val="00FFFF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新</a:t>
            </a:r>
            <a:endParaRPr lang="en-US" altLang="zh-CN" sz="1000" b="1" kern="0" dirty="0" smtClea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000" b="1" kern="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000" b="1" kern="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endParaRPr lang="zh-CN" altLang="en-US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765760" y="1129209"/>
            <a:ext cx="2042349" cy="1175088"/>
            <a:chOff x="5765760" y="1022529"/>
            <a:chExt cx="2042349" cy="1175088"/>
          </a:xfrm>
        </p:grpSpPr>
        <p:grpSp>
          <p:nvGrpSpPr>
            <p:cNvPr id="25" name="组合 24"/>
            <p:cNvGrpSpPr/>
            <p:nvPr/>
          </p:nvGrpSpPr>
          <p:grpSpPr>
            <a:xfrm>
              <a:off x="5765760" y="1022529"/>
              <a:ext cx="2042349" cy="648019"/>
              <a:chOff x="5601886" y="1478458"/>
              <a:chExt cx="2042349" cy="648019"/>
            </a:xfrm>
          </p:grpSpPr>
          <p:sp>
            <p:nvSpPr>
              <p:cNvPr id="26" name="Text Box 17"/>
              <p:cNvSpPr txBox="1">
                <a:spLocks noChangeArrowheads="1"/>
              </p:cNvSpPr>
              <p:nvPr/>
            </p:nvSpPr>
            <p:spPr bwMode="auto">
              <a:xfrm>
                <a:off x="5943354" y="1478458"/>
                <a:ext cx="1361519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原始 </a:t>
                </a:r>
                <a:r>
                  <a:rPr kumimoji="0" lang="en-US" altLang="zh-CN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IP </a:t>
                </a:r>
                <a:r>
                  <a:rPr kumimoji="0" lang="zh-CN" altLang="en-US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数据报</a:t>
                </a: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5601886" y="1786235"/>
                <a:ext cx="2042349" cy="340242"/>
                <a:chOff x="5925153" y="1233377"/>
                <a:chExt cx="2042349" cy="340242"/>
              </a:xfrm>
              <a:solidFill>
                <a:srgbClr val="00FF99"/>
              </a:solidFill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5925153" y="1233377"/>
                  <a:ext cx="710969" cy="340242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000" b="1" kern="0" dirty="0" smtClean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原始</a:t>
                  </a:r>
                  <a:endParaRPr lang="en-US" altLang="zh-CN" sz="1000" b="1" kern="0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r>
                    <a:rPr lang="en-US" altLang="zh-CN" sz="1000" b="1" kern="0" dirty="0" smtClean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IP </a:t>
                  </a:r>
                  <a:r>
                    <a:rPr lang="zh-CN" altLang="en-US" sz="1000" b="1" kern="0" dirty="0" smtClean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首部</a:t>
                  </a:r>
                  <a:endParaRPr lang="zh-CN" altLang="en-US" sz="1000" b="1" kern="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6636122" y="1233377"/>
                  <a:ext cx="1331380" cy="340242"/>
                </a:xfrm>
                <a:prstGeom prst="rect">
                  <a:avLst/>
                </a:prstGeom>
                <a:grpFill/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000" b="1" kern="0" dirty="0" smtClean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TCP/UDP </a:t>
                  </a:r>
                  <a:r>
                    <a:rPr lang="zh-CN" altLang="en-US" sz="1000" b="1" kern="0" dirty="0" smtClean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报文段</a:t>
                  </a:r>
                  <a:endParaRPr lang="zh-CN" altLang="en-US" sz="1000" b="1" kern="0" dirty="0">
                    <a:solidFill>
                      <a:sysClr val="windowText" lastClr="00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41" name="Line 55"/>
            <p:cNvSpPr>
              <a:spLocks noChangeShapeType="1"/>
            </p:cNvSpPr>
            <p:nvPr/>
          </p:nvSpPr>
          <p:spPr bwMode="auto">
            <a:xfrm>
              <a:off x="5765760" y="1670548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55"/>
            <p:cNvSpPr>
              <a:spLocks noChangeShapeType="1"/>
            </p:cNvSpPr>
            <p:nvPr/>
          </p:nvSpPr>
          <p:spPr bwMode="auto">
            <a:xfrm>
              <a:off x="7808109" y="1670548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1232823" y="3129736"/>
            <a:ext cx="25193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传输方式 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(transport mode)</a:t>
            </a:r>
          </a:p>
        </p:txBody>
      </p:sp>
      <p:sp>
        <p:nvSpPr>
          <p:cNvPr id="44" name="矩形 43"/>
          <p:cNvSpPr/>
          <p:nvPr/>
        </p:nvSpPr>
        <p:spPr>
          <a:xfrm>
            <a:off x="5136200" y="3129736"/>
            <a:ext cx="2249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隧道</a:t>
            </a:r>
            <a:r>
              <a:rPr lang="zh-CN" altLang="en-US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 </a:t>
            </a:r>
            <a:r>
              <a:rPr lang="en-US" altLang="zh-CN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tunnel mode</a:t>
            </a:r>
            <a:r>
              <a:rPr lang="en-US" altLang="zh-CN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0227" y="3493364"/>
            <a:ext cx="3742445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整个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传输层报文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的前后分别添加若干控制信息，再加上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首部。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适合于主机到主机之间的安全传送。 </a:t>
            </a:r>
          </a:p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需要使用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的主机都运行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协议。</a:t>
            </a:r>
          </a:p>
        </p:txBody>
      </p:sp>
      <p:sp>
        <p:nvSpPr>
          <p:cNvPr id="10" name="矩形 9"/>
          <p:cNvSpPr/>
          <p:nvPr/>
        </p:nvSpPr>
        <p:spPr>
          <a:xfrm>
            <a:off x="4323047" y="3493364"/>
            <a:ext cx="4096755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在原始的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的前后分别添加若干控制信息，再加上新的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首部。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隧道方式常用来实现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虚拟专用网 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IPsec VPN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需要在建立隧道的两台路由器上运行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Rectangle 4"/>
          <p:cNvSpPr>
            <a:spLocks noChangeArrowheads="1"/>
          </p:cNvSpPr>
          <p:nvPr/>
        </p:nvSpPr>
        <p:spPr bwMode="auto">
          <a:xfrm>
            <a:off x="7687734" y="37227"/>
            <a:ext cx="14537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协议族概述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3598396" y="572806"/>
            <a:ext cx="19511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825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33" grpId="0" animBg="1"/>
      <p:bldP spid="34" grpId="0" animBg="1"/>
      <p:bldP spid="9" grpId="0"/>
      <p:bldP spid="10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18908"/>
            <a:ext cx="804738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无论使用哪种方式，最后得出的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安全数据报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首部都是不加密的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安全数据报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：指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数据部分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是经过加密的，并能够被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鉴别。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通常把数据报的数据部分称为数据报的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有效载荷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(payload)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87734" y="37227"/>
            <a:ext cx="14537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协议族概述</a:t>
            </a:r>
            <a:endParaRPr lang="en-US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444235" y="572806"/>
            <a:ext cx="42594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安全数据报的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首部是不加密的</a:t>
            </a:r>
          </a:p>
        </p:txBody>
      </p:sp>
    </p:spTree>
    <p:extLst>
      <p:ext uri="{BB962C8B-B14F-4D97-AF65-F5344CB8AC3E}">
        <p14:creationId xmlns:p14="http://schemas.microsoft.com/office/powerpoint/2010/main" val="157834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1259"/>
            <a:ext cx="8129015" cy="1740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为了确保通信双方能够协商形成一致性的数据加密、鉴别等处理方法，在发送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安全数据报之前，在源实体和目的实体之间必须创建一条网络层的逻辑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连接。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此逻辑连接叫做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安全关联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Association)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968690" y="572806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关联</a:t>
            </a:r>
          </a:p>
        </p:txBody>
      </p:sp>
      <p:sp>
        <p:nvSpPr>
          <p:cNvPr id="2" name="矩形 1"/>
          <p:cNvSpPr/>
          <p:nvPr/>
        </p:nvSpPr>
        <p:spPr>
          <a:xfrm>
            <a:off x="1902727" y="3133497"/>
            <a:ext cx="5173980" cy="9130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hangingPunct="0">
              <a:lnSpc>
                <a:spcPts val="3200"/>
              </a:lnSpc>
              <a:buClr>
                <a:srgbClr val="0070C0"/>
              </a:buClr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把传统互联网无连接的网络层转换为具有逻辑连接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一个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。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034866" y="37227"/>
            <a:ext cx="11065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安全关联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654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20671"/>
            <a:ext cx="8129016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安全关联是从源点到终点的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单向连接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能够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提供安全服务。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上传送的就是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如要进行双向安全通信，则两个方向都需要建立安全关联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若公司总部和分公司及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个员工进行双向安全通信，一共需要创建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(2 +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i="1" dirty="0" smtClean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条安全关联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SA</a:t>
            </a:r>
            <a:r>
              <a:rPr lang="zh-CN" altLang="zh-CN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034866" y="37227"/>
            <a:ext cx="11065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安全关联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583970" y="572806"/>
            <a:ext cx="19800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安全关联的特点</a:t>
            </a:r>
          </a:p>
        </p:txBody>
      </p:sp>
    </p:spTree>
    <p:extLst>
      <p:ext uri="{BB962C8B-B14F-4D97-AF65-F5344CB8AC3E}">
        <p14:creationId xmlns:p14="http://schemas.microsoft.com/office/powerpoint/2010/main" val="385833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517852" y="1029325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3476" y="1137226"/>
            <a:ext cx="6794406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假定公司总部的主机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要和分公司的主机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通过互联网进行安全通信。公司总部与分公司之间的安全关联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在路由器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之间建立的。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6214933" y="2246192"/>
            <a:ext cx="2197948" cy="1920002"/>
          </a:xfrm>
          <a:prstGeom prst="roundRect">
            <a:avLst/>
          </a:prstGeom>
          <a:solidFill>
            <a:srgbClr val="FFFF99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778708" y="2246192"/>
            <a:ext cx="2197948" cy="192000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205"/>
          <p:cNvSpPr>
            <a:spLocks noChangeShapeType="1"/>
          </p:cNvSpPr>
          <p:nvPr/>
        </p:nvSpPr>
        <p:spPr bwMode="auto">
          <a:xfrm>
            <a:off x="1550455" y="3117696"/>
            <a:ext cx="154179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1370567" y="1937919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公司总部</a:t>
            </a:r>
          </a:p>
        </p:txBody>
      </p:sp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4104657" y="1926297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7" name="Text Box 208"/>
          <p:cNvSpPr txBox="1">
            <a:spLocks noChangeArrowheads="1"/>
          </p:cNvSpPr>
          <p:nvPr/>
        </p:nvSpPr>
        <p:spPr bwMode="auto">
          <a:xfrm>
            <a:off x="2553385" y="2565550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" name="Text Box 213"/>
          <p:cNvSpPr txBox="1">
            <a:spLocks noChangeArrowheads="1"/>
          </p:cNvSpPr>
          <p:nvPr/>
        </p:nvSpPr>
        <p:spPr bwMode="auto">
          <a:xfrm>
            <a:off x="784646" y="2811618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20" name="组合 990"/>
          <p:cNvGrpSpPr>
            <a:grpSpLocks/>
          </p:cNvGrpSpPr>
          <p:nvPr/>
        </p:nvGrpSpPr>
        <p:grpSpPr bwMode="auto">
          <a:xfrm>
            <a:off x="1717043" y="2856053"/>
            <a:ext cx="617057" cy="175070"/>
            <a:chOff x="1691680" y="1052736"/>
            <a:chExt cx="576064" cy="144016"/>
          </a:xfrm>
        </p:grpSpPr>
        <p:sp>
          <p:nvSpPr>
            <p:cNvPr id="531" name="矩形 530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2" name="直接箭头连接符 988"/>
            <p:cNvCxnSpPr>
              <a:cxnSpLocks noChangeShapeType="1"/>
              <a:stCxn id="531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4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26" y="2998418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直接连接符 504"/>
          <p:cNvCxnSpPr>
            <a:cxnSpLocks noChangeShapeType="1"/>
          </p:cNvCxnSpPr>
          <p:nvPr/>
        </p:nvCxnSpPr>
        <p:spPr bwMode="auto">
          <a:xfrm>
            <a:off x="5668265" y="3150401"/>
            <a:ext cx="648661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08"/>
          <p:cNvSpPr txBox="1">
            <a:spLocks noChangeArrowheads="1"/>
          </p:cNvSpPr>
          <p:nvPr/>
        </p:nvSpPr>
        <p:spPr bwMode="auto">
          <a:xfrm>
            <a:off x="6330525" y="2594409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8" name="Text Box 213"/>
          <p:cNvSpPr txBox="1">
            <a:spLocks noChangeArrowheads="1"/>
          </p:cNvSpPr>
          <p:nvPr/>
        </p:nvSpPr>
        <p:spPr bwMode="auto">
          <a:xfrm>
            <a:off x="7926453" y="2794044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9" name="直接连接符 536"/>
          <p:cNvCxnSpPr>
            <a:cxnSpLocks noChangeShapeType="1"/>
          </p:cNvCxnSpPr>
          <p:nvPr/>
        </p:nvCxnSpPr>
        <p:spPr bwMode="auto">
          <a:xfrm flipV="1">
            <a:off x="6792893" y="3140782"/>
            <a:ext cx="819344" cy="961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0" name="组合 990"/>
          <p:cNvGrpSpPr>
            <a:grpSpLocks/>
          </p:cNvGrpSpPr>
          <p:nvPr/>
        </p:nvGrpSpPr>
        <p:grpSpPr bwMode="auto">
          <a:xfrm>
            <a:off x="6857488" y="2906072"/>
            <a:ext cx="617057" cy="175070"/>
            <a:chOff x="1691680" y="1052736"/>
            <a:chExt cx="576064" cy="144016"/>
          </a:xfrm>
        </p:grpSpPr>
        <p:sp>
          <p:nvSpPr>
            <p:cNvPr id="503" name="矩形 502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04" name="直接箭头连接符 988"/>
            <p:cNvCxnSpPr>
              <a:cxnSpLocks noChangeShapeType="1"/>
              <a:stCxn id="503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6921458" y="1935995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分公司</a:t>
            </a:r>
          </a:p>
        </p:txBody>
      </p:sp>
      <p:cxnSp>
        <p:nvCxnSpPr>
          <p:cNvPr id="33" name="直接连接符 540"/>
          <p:cNvCxnSpPr>
            <a:cxnSpLocks noChangeShapeType="1"/>
          </p:cNvCxnSpPr>
          <p:nvPr/>
        </p:nvCxnSpPr>
        <p:spPr bwMode="auto">
          <a:xfrm flipH="1">
            <a:off x="1844534" y="3252365"/>
            <a:ext cx="805746" cy="45107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213"/>
          <p:cNvSpPr txBox="1">
            <a:spLocks noChangeArrowheads="1"/>
          </p:cNvSpPr>
          <p:nvPr/>
        </p:nvSpPr>
        <p:spPr bwMode="auto">
          <a:xfrm>
            <a:off x="1249547" y="3430960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35" name="矩形 540"/>
          <p:cNvSpPr>
            <a:spLocks noChangeArrowheads="1"/>
          </p:cNvSpPr>
          <p:nvPr/>
        </p:nvSpPr>
        <p:spPr bwMode="auto">
          <a:xfrm>
            <a:off x="1993262" y="2859900"/>
            <a:ext cx="108793" cy="169299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542"/>
          <p:cNvSpPr>
            <a:spLocks noChangeArrowheads="1"/>
          </p:cNvSpPr>
          <p:nvPr/>
        </p:nvSpPr>
        <p:spPr bwMode="auto">
          <a:xfrm>
            <a:off x="7131169" y="2910086"/>
            <a:ext cx="110493" cy="171223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548"/>
          <p:cNvGrpSpPr>
            <a:grpSpLocks/>
          </p:cNvGrpSpPr>
          <p:nvPr/>
        </p:nvGrpSpPr>
        <p:grpSpPr bwMode="auto">
          <a:xfrm>
            <a:off x="1505902" y="2304936"/>
            <a:ext cx="1144864" cy="653079"/>
            <a:chOff x="1505608" y="598373"/>
            <a:chExt cx="1074067" cy="538002"/>
          </a:xfrm>
        </p:grpSpPr>
        <p:grpSp>
          <p:nvGrpSpPr>
            <p:cNvPr id="47" name="组合 516"/>
            <p:cNvGrpSpPr>
              <a:grpSpLocks/>
            </p:cNvGrpSpPr>
            <p:nvPr/>
          </p:nvGrpSpPr>
          <p:grpSpPr bwMode="auto">
            <a:xfrm>
              <a:off x="1505608" y="598373"/>
              <a:ext cx="1074067" cy="294860"/>
              <a:chOff x="1576472" y="576470"/>
              <a:chExt cx="1033000" cy="294860"/>
            </a:xfrm>
          </p:grpSpPr>
          <p:sp>
            <p:nvSpPr>
              <p:cNvPr id="49" name="圆角矩形标注 552"/>
              <p:cNvSpPr>
                <a:spLocks noChangeArrowheads="1"/>
              </p:cNvSpPr>
              <p:nvPr/>
            </p:nvSpPr>
            <p:spPr bwMode="auto">
              <a:xfrm>
                <a:off x="1591178" y="576470"/>
                <a:ext cx="992998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auto">
              <a:xfrm>
                <a:off x="1576472" y="609118"/>
                <a:ext cx="1033000" cy="25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下箭头 551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554"/>
          <p:cNvGrpSpPr>
            <a:grpSpLocks/>
          </p:cNvGrpSpPr>
          <p:nvPr/>
        </p:nvGrpSpPr>
        <p:grpSpPr bwMode="auto">
          <a:xfrm>
            <a:off x="6638313" y="2318308"/>
            <a:ext cx="1145725" cy="651251"/>
            <a:chOff x="1501147" y="598373"/>
            <a:chExt cx="1069610" cy="538002"/>
          </a:xfrm>
        </p:grpSpPr>
        <p:grpSp>
          <p:nvGrpSpPr>
            <p:cNvPr id="43" name="组合 516"/>
            <p:cNvGrpSpPr>
              <a:grpSpLocks/>
            </p:cNvGrpSpPr>
            <p:nvPr/>
          </p:nvGrpSpPr>
          <p:grpSpPr bwMode="auto">
            <a:xfrm>
              <a:off x="1501147" y="598373"/>
              <a:ext cx="1069610" cy="294860"/>
              <a:chOff x="1572179" y="576470"/>
              <a:chExt cx="1028712" cy="294860"/>
            </a:xfrm>
          </p:grpSpPr>
          <p:sp>
            <p:nvSpPr>
              <p:cNvPr id="45" name="圆角矩形标注 557"/>
              <p:cNvSpPr>
                <a:spLocks noChangeArrowheads="1"/>
              </p:cNvSpPr>
              <p:nvPr/>
            </p:nvSpPr>
            <p:spPr bwMode="auto">
              <a:xfrm>
                <a:off x="1572179" y="576470"/>
                <a:ext cx="1011994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Text Box 48"/>
              <p:cNvSpPr txBox="1">
                <a:spLocks noChangeArrowheads="1"/>
              </p:cNvSpPr>
              <p:nvPr/>
            </p:nvSpPr>
            <p:spPr bwMode="auto">
              <a:xfrm>
                <a:off x="1572953" y="598164"/>
                <a:ext cx="1027938" cy="254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4" name="下箭头 556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20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85" y="2877788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29" y="2876832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圆角矩形标注 557"/>
          <p:cNvSpPr>
            <a:spLocks noChangeArrowheads="1"/>
          </p:cNvSpPr>
          <p:nvPr/>
        </p:nvSpPr>
        <p:spPr bwMode="auto">
          <a:xfrm>
            <a:off x="2077448" y="3599856"/>
            <a:ext cx="837180" cy="293509"/>
          </a:xfrm>
          <a:prstGeom prst="wedgeRoundRectCallout">
            <a:avLst>
              <a:gd name="adj1" fmla="val 29378"/>
              <a:gd name="adj2" fmla="val -17535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8" name="Text Box 48"/>
          <p:cNvSpPr txBox="1">
            <a:spLocks noChangeArrowheads="1"/>
          </p:cNvSpPr>
          <p:nvPr/>
        </p:nvSpPr>
        <p:spPr bwMode="auto">
          <a:xfrm>
            <a:off x="1937944" y="3598361"/>
            <a:ext cx="108426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" name="Group 352"/>
          <p:cNvGrpSpPr>
            <a:grpSpLocks/>
          </p:cNvGrpSpPr>
          <p:nvPr/>
        </p:nvGrpSpPr>
        <p:grpSpPr bwMode="auto">
          <a:xfrm>
            <a:off x="1377993" y="3518428"/>
            <a:ext cx="524774" cy="433344"/>
            <a:chOff x="624" y="2968"/>
            <a:chExt cx="1331" cy="920"/>
          </a:xfrm>
        </p:grpSpPr>
        <p:sp>
          <p:nvSpPr>
            <p:cNvPr id="120" name="Freeform 353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 w 1426"/>
                <a:gd name="T1" fmla="*/ 0 h 2309"/>
                <a:gd name="T2" fmla="*/ 1 w 1426"/>
                <a:gd name="T3" fmla="*/ 0 h 2309"/>
                <a:gd name="T4" fmla="*/ 0 w 1426"/>
                <a:gd name="T5" fmla="*/ 0 h 2309"/>
                <a:gd name="T6" fmla="*/ 1 w 1426"/>
                <a:gd name="T7" fmla="*/ 0 h 2309"/>
                <a:gd name="T8" fmla="*/ 1 w 1426"/>
                <a:gd name="T9" fmla="*/ 0 h 2309"/>
                <a:gd name="T10" fmla="*/ 1 w 1426"/>
                <a:gd name="T11" fmla="*/ 0 h 2309"/>
                <a:gd name="T12" fmla="*/ 1 w 1426"/>
                <a:gd name="T13" fmla="*/ 0 h 2309"/>
                <a:gd name="T14" fmla="*/ 1 w 1426"/>
                <a:gd name="T15" fmla="*/ 0 h 2309"/>
                <a:gd name="T16" fmla="*/ 1 w 1426"/>
                <a:gd name="T17" fmla="*/ 0 h 2309"/>
                <a:gd name="T18" fmla="*/ 1 w 1426"/>
                <a:gd name="T19" fmla="*/ 0 h 2309"/>
                <a:gd name="T20" fmla="*/ 1 w 1426"/>
                <a:gd name="T21" fmla="*/ 0 h 2309"/>
                <a:gd name="T22" fmla="*/ 1 w 1426"/>
                <a:gd name="T23" fmla="*/ 0 h 2309"/>
                <a:gd name="T24" fmla="*/ 1 w 1426"/>
                <a:gd name="T25" fmla="*/ 0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26"/>
                <a:gd name="T40" fmla="*/ 0 h 2309"/>
                <a:gd name="T41" fmla="*/ 1426 w 1426"/>
                <a:gd name="T42" fmla="*/ 2309 h 23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354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0 w 573"/>
                <a:gd name="T1" fmla="*/ 0 h 1980"/>
                <a:gd name="T2" fmla="*/ 0 w 573"/>
                <a:gd name="T3" fmla="*/ 0 h 1980"/>
                <a:gd name="T4" fmla="*/ 0 w 573"/>
                <a:gd name="T5" fmla="*/ 0 h 1980"/>
                <a:gd name="T6" fmla="*/ 0 w 573"/>
                <a:gd name="T7" fmla="*/ 0 h 1980"/>
                <a:gd name="T8" fmla="*/ 0 w 573"/>
                <a:gd name="T9" fmla="*/ 0 h 1980"/>
                <a:gd name="T10" fmla="*/ 0 w 573"/>
                <a:gd name="T11" fmla="*/ 0 h 1980"/>
                <a:gd name="T12" fmla="*/ 0 w 573"/>
                <a:gd name="T13" fmla="*/ 0 h 1980"/>
                <a:gd name="T14" fmla="*/ 0 w 573"/>
                <a:gd name="T15" fmla="*/ 0 h 1980"/>
                <a:gd name="T16" fmla="*/ 0 w 573"/>
                <a:gd name="T17" fmla="*/ 0 h 1980"/>
                <a:gd name="T18" fmla="*/ 0 w 573"/>
                <a:gd name="T19" fmla="*/ 0 h 1980"/>
                <a:gd name="T20" fmla="*/ 0 w 573"/>
                <a:gd name="T21" fmla="*/ 0 h 1980"/>
                <a:gd name="T22" fmla="*/ 0 w 573"/>
                <a:gd name="T23" fmla="*/ 0 h 1980"/>
                <a:gd name="T24" fmla="*/ 0 w 573"/>
                <a:gd name="T25" fmla="*/ 0 h 1980"/>
                <a:gd name="T26" fmla="*/ 0 w 573"/>
                <a:gd name="T27" fmla="*/ 0 h 1980"/>
                <a:gd name="T28" fmla="*/ 0 w 573"/>
                <a:gd name="T29" fmla="*/ 0 h 1980"/>
                <a:gd name="T30" fmla="*/ 0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3"/>
                <a:gd name="T49" fmla="*/ 0 h 1980"/>
                <a:gd name="T50" fmla="*/ 573 w 573"/>
                <a:gd name="T51" fmla="*/ 1980 h 19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355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 w 1045"/>
                <a:gd name="T7" fmla="*/ 0 h 441"/>
                <a:gd name="T8" fmla="*/ 1 w 1045"/>
                <a:gd name="T9" fmla="*/ 0 h 441"/>
                <a:gd name="T10" fmla="*/ 1 w 1045"/>
                <a:gd name="T11" fmla="*/ 0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5"/>
                <a:gd name="T22" fmla="*/ 0 h 441"/>
                <a:gd name="T23" fmla="*/ 1045 w 1045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Freeform 356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 w 955"/>
                <a:gd name="T1" fmla="*/ 0 h 1719"/>
                <a:gd name="T2" fmla="*/ 0 w 955"/>
                <a:gd name="T3" fmla="*/ 0 h 1719"/>
                <a:gd name="T4" fmla="*/ 1 w 955"/>
                <a:gd name="T5" fmla="*/ 0 h 1719"/>
                <a:gd name="T6" fmla="*/ 1 w 955"/>
                <a:gd name="T7" fmla="*/ 0 h 1719"/>
                <a:gd name="T8" fmla="*/ 1 w 955"/>
                <a:gd name="T9" fmla="*/ 0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5"/>
                <a:gd name="T16" fmla="*/ 0 h 1719"/>
                <a:gd name="T17" fmla="*/ 955 w 955"/>
                <a:gd name="T18" fmla="*/ 1719 h 17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357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1 w 862"/>
                <a:gd name="T1" fmla="*/ 0 h 1587"/>
                <a:gd name="T2" fmla="*/ 0 w 862"/>
                <a:gd name="T3" fmla="*/ 0 h 1587"/>
                <a:gd name="T4" fmla="*/ 1 w 862"/>
                <a:gd name="T5" fmla="*/ 0 h 1587"/>
                <a:gd name="T6" fmla="*/ 1 w 862"/>
                <a:gd name="T7" fmla="*/ 0 h 1587"/>
                <a:gd name="T8" fmla="*/ 1 w 862"/>
                <a:gd name="T9" fmla="*/ 0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587"/>
                <a:gd name="T17" fmla="*/ 862 w 862"/>
                <a:gd name="T18" fmla="*/ 1587 h 15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358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0 w 408"/>
                <a:gd name="T1" fmla="*/ 0 h 1480"/>
                <a:gd name="T2" fmla="*/ 0 w 408"/>
                <a:gd name="T3" fmla="*/ 0 h 1480"/>
                <a:gd name="T4" fmla="*/ 0 w 408"/>
                <a:gd name="T5" fmla="*/ 0 h 1480"/>
                <a:gd name="T6" fmla="*/ 0 w 408"/>
                <a:gd name="T7" fmla="*/ 0 h 1480"/>
                <a:gd name="T8" fmla="*/ 0 w 408"/>
                <a:gd name="T9" fmla="*/ 0 h 1480"/>
                <a:gd name="T10" fmla="*/ 0 w 408"/>
                <a:gd name="T11" fmla="*/ 0 h 1480"/>
                <a:gd name="T12" fmla="*/ 0 w 408"/>
                <a:gd name="T13" fmla="*/ 0 h 1480"/>
                <a:gd name="T14" fmla="*/ 0 w 408"/>
                <a:gd name="T15" fmla="*/ 0 h 1480"/>
                <a:gd name="T16" fmla="*/ 0 w 408"/>
                <a:gd name="T17" fmla="*/ 0 h 1480"/>
                <a:gd name="T18" fmla="*/ 0 w 408"/>
                <a:gd name="T19" fmla="*/ 0 h 1480"/>
                <a:gd name="T20" fmla="*/ 0 w 408"/>
                <a:gd name="T21" fmla="*/ 0 h 1480"/>
                <a:gd name="T22" fmla="*/ 0 w 408"/>
                <a:gd name="T23" fmla="*/ 0 h 1480"/>
                <a:gd name="T24" fmla="*/ 0 w 408"/>
                <a:gd name="T25" fmla="*/ 0 h 1480"/>
                <a:gd name="T26" fmla="*/ 0 w 408"/>
                <a:gd name="T27" fmla="*/ 0 h 1480"/>
                <a:gd name="T28" fmla="*/ 0 w 408"/>
                <a:gd name="T29" fmla="*/ 0 h 1480"/>
                <a:gd name="T30" fmla="*/ 0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8"/>
                <a:gd name="T49" fmla="*/ 0 h 1480"/>
                <a:gd name="T50" fmla="*/ 408 w 408"/>
                <a:gd name="T51" fmla="*/ 1480 h 14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359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0 w 1065"/>
                <a:gd name="T1" fmla="*/ 0 h 963"/>
                <a:gd name="T2" fmla="*/ 0 w 1065"/>
                <a:gd name="T3" fmla="*/ 0 h 963"/>
                <a:gd name="T4" fmla="*/ 0 w 1065"/>
                <a:gd name="T5" fmla="*/ 0 h 963"/>
                <a:gd name="T6" fmla="*/ 0 w 1065"/>
                <a:gd name="T7" fmla="*/ 0 h 963"/>
                <a:gd name="T8" fmla="*/ 0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0 w 1065"/>
                <a:gd name="T17" fmla="*/ 0 h 963"/>
                <a:gd name="T18" fmla="*/ 0 w 1065"/>
                <a:gd name="T19" fmla="*/ 0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5"/>
                <a:gd name="T31" fmla="*/ 0 h 963"/>
                <a:gd name="T32" fmla="*/ 1065 w 1065"/>
                <a:gd name="T33" fmla="*/ 963 h 9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360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 w 1969"/>
                <a:gd name="T3" fmla="*/ 0 h 862"/>
                <a:gd name="T4" fmla="*/ 1 w 1969"/>
                <a:gd name="T5" fmla="*/ 0 h 862"/>
                <a:gd name="T6" fmla="*/ 1 w 1969"/>
                <a:gd name="T7" fmla="*/ 0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9"/>
                <a:gd name="T16" fmla="*/ 0 h 862"/>
                <a:gd name="T17" fmla="*/ 1969 w 1969"/>
                <a:gd name="T18" fmla="*/ 862 h 8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361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1 w 1777"/>
                <a:gd name="T5" fmla="*/ 0 h 297"/>
                <a:gd name="T6" fmla="*/ 1 w 1777"/>
                <a:gd name="T7" fmla="*/ 0 h 297"/>
                <a:gd name="T8" fmla="*/ 1 w 1777"/>
                <a:gd name="T9" fmla="*/ 0 h 297"/>
                <a:gd name="T10" fmla="*/ 1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7"/>
                <a:gd name="T22" fmla="*/ 0 h 297"/>
                <a:gd name="T23" fmla="*/ 1777 w 1777"/>
                <a:gd name="T24" fmla="*/ 297 h 2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362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0 w 513"/>
                <a:gd name="T5" fmla="*/ 0 h 1106"/>
                <a:gd name="T6" fmla="*/ 0 w 513"/>
                <a:gd name="T7" fmla="*/ 0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3"/>
                <a:gd name="T16" fmla="*/ 0 h 1106"/>
                <a:gd name="T17" fmla="*/ 513 w 513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363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1 w 262"/>
                <a:gd name="T5" fmla="*/ 0 h 25"/>
                <a:gd name="T6" fmla="*/ 1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25"/>
                <a:gd name="T17" fmla="*/ 262 w 26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364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1 w 561"/>
                <a:gd name="T1" fmla="*/ 0 h 836"/>
                <a:gd name="T2" fmla="*/ 0 w 561"/>
                <a:gd name="T3" fmla="*/ 0 h 836"/>
                <a:gd name="T4" fmla="*/ 1 w 561"/>
                <a:gd name="T5" fmla="*/ 0 h 836"/>
                <a:gd name="T6" fmla="*/ 1 w 561"/>
                <a:gd name="T7" fmla="*/ 0 h 8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1"/>
                <a:gd name="T13" fmla="*/ 0 h 836"/>
                <a:gd name="T14" fmla="*/ 561 w 561"/>
                <a:gd name="T15" fmla="*/ 836 h 8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2" name="Group 3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58" name="Group 3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637" name="Freeform 367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7"/>
                    <a:gd name="T17" fmla="*/ 22 w 22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8" name="Freeform 368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9" name="Freeform 369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9" name="Group 3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634" name="Freeform 371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" name="Freeform 372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1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6" name="Freeform 373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0" name="Freeform 374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375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376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0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30"/>
                  <a:gd name="T29" fmla="*/ 70 w 7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377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4" name="Group 3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631" name="Freeform 379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2" name="Freeform 380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0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3" name="Freeform 381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5" name="Group 3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628" name="Freeform 383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9" name="Freeform 384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0" name="Freeform 385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6" name="Group 3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625" name="Freeform 387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6" name="Freeform 388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7" name="Freeform 389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7" name="Group 3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58" name="Freeform 391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3" name="Freeform 392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1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" name="Freeform 393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3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538" name="Group 3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55" name="Freeform 396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6" name="Freeform 397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7" name="Freeform 398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1 w 82"/>
                      <a:gd name="T9" fmla="*/ 0 h 37"/>
                      <a:gd name="T10" fmla="*/ 1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7"/>
                      <a:gd name="T23" fmla="*/ 82 w 82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39" name="Group 3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52" name="Freeform 400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3" name="Freeform 401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4" name="Freeform 402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40" name="Group 4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49" name="Freeform 404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0" name="Freeform 405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0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1" name="Freeform 406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41" name="Group 4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46" name="Freeform 408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7" name="Freeform 409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8" name="Freeform 410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42" name="Group 4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43" name="Freeform 412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4" name="Freeform 413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5" name="Freeform 414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69" name="Group 4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516" name="Group 4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535" name="Freeform 417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6" name="Freeform 418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7" name="Freeform 419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7" name="Group 4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530" name="Freeform 421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" name="Freeform 422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" name="Freeform 423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0 w 83"/>
                      <a:gd name="T9" fmla="*/ 0 h 37"/>
                      <a:gd name="T10" fmla="*/ 0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7"/>
                      <a:gd name="T23" fmla="*/ 83 w 83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8" name="Group 4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527" name="Freeform 425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8" name="Freeform 426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9" name="Freeform 427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0 w 82"/>
                      <a:gd name="T9" fmla="*/ 0 h 35"/>
                      <a:gd name="T10" fmla="*/ 0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5"/>
                      <a:gd name="T23" fmla="*/ 82 w 82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9" name="Group 4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524" name="Freeform 429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5" name="Freeform 430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6" name="Freeform 431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20" name="Group 4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521" name="Freeform 433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" name="Freeform 434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3" name="Freeform 435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0" name="Group 4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513" name="Freeform 437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4" name="Freeform 438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0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" name="Freeform 439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1" name="Group 4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510" name="Freeform 441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1" name="Freeform 442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0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2" name="Freeform 443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2" name="Group 4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507" name="Freeform 445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8" name="Freeform 446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9" name="Freeform 447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3" name="Freeform 448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68"/>
                  <a:gd name="T17" fmla="*/ 23 w 23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449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1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1"/>
                  <a:gd name="T28" fmla="*/ 0 h 27"/>
                  <a:gd name="T29" fmla="*/ 71 w 71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Freeform 450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0 w 82"/>
                  <a:gd name="T9" fmla="*/ 0 h 36"/>
                  <a:gd name="T10" fmla="*/ 0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"/>
                  <a:gd name="T22" fmla="*/ 0 h 36"/>
                  <a:gd name="T23" fmla="*/ 82 w 82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6" name="Group 4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502" name="Freeform 452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5" name="Freeform 453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6" name="Freeform 454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" name="Group 4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99" name="Freeform 456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0" name="Freeform 457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1" name="Freeform 458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8" name="Group 4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96" name="Freeform 460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7" name="Freeform 461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8" name="Freeform 462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9" name="Group 4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93" name="Freeform 464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4" name="Freeform 465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5" name="Freeform 466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Group 4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73" name="Group 4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90" name="Freeform 469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70"/>
                      <a:gd name="T17" fmla="*/ 23 w 23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1" name="Freeform 470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" name="Freeform 471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0 w 83"/>
                      <a:gd name="T9" fmla="*/ 0 h 38"/>
                      <a:gd name="T10" fmla="*/ 0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8"/>
                      <a:gd name="T23" fmla="*/ 83 w 83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4" name="Group 4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87" name="Freeform 473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8" name="Freeform 474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0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" name="Freeform 475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5" name="Group 4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84" name="Freeform 477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5" name="Freeform 478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6" name="Freeform 479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6" name="Group 4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81" name="Freeform 481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2" name="Freeform 482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3" name="Freeform 483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7" name="Group 4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78" name="Freeform 485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7"/>
                      <a:gd name="T17" fmla="*/ 24 w 24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" name="Freeform 486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0" name="Freeform 487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1" name="Group 4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53" name="Group 4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70" name="Freeform 490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1" name="Freeform 491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2" name="Freeform 492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4" name="Group 4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67" name="Freeform 494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8" name="Freeform 495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1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30"/>
                      <a:gd name="T29" fmla="*/ 74 w 74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496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5" name="Group 4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64" name="Freeform 498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5" name="Freeform 499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500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6" name="Group 5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61" name="Freeform 502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2" name="Freeform 503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504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7" name="Group 5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58" name="Freeform 506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9" name="Freeform 507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508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2" name="Group 5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50" name="Freeform 510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" name="Freeform 511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2" name="Freeform 512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Group 5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47" name="Freeform 514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8" name="Freeform 515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9" name="Freeform 516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" name="Group 5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44" name="Freeform 518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5" name="Freeform 519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6" name="Freeform 520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5" name="Freeform 521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Freeform 522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1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2"/>
                  <a:gd name="T28" fmla="*/ 0 h 31"/>
                  <a:gd name="T29" fmla="*/ 72 w 72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7" name="Freeform 523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0 w 83"/>
                  <a:gd name="T9" fmla="*/ 0 h 36"/>
                  <a:gd name="T10" fmla="*/ 0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88" name="Group 5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41" name="Freeform 525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2" name="Freeform 526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3" name="Freeform 527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9" name="Group 5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38" name="Freeform 529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9" name="Freeform 530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0" name="Freeform 531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0 w 83"/>
                    <a:gd name="T9" fmla="*/ 0 h 35"/>
                    <a:gd name="T10" fmla="*/ 0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0" name="Group 5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35" name="Freeform 533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6" name="Freeform 534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7" name="Freeform 535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1" name="Group 5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432" name="Freeform 537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3" name="Freeform 538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4" name="Freeform 539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2" name="Group 5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412" name="Group 5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429" name="Freeform 542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" name="Freeform 543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" name="Freeform 544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3" name="Group 5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426" name="Freeform 546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7" name="Freeform 547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1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2"/>
                      <a:gd name="T29" fmla="*/ 73 w 73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Freeform 548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4" name="Group 5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423" name="Freeform 550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4" name="Freeform 551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5" name="Freeform 552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5" name="Group 5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420" name="Freeform 554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1" name="Freeform 555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" name="Freeform 556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6" name="Group 5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417" name="Freeform 558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8" name="Freeform 559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" name="Freeform 560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0 w 83"/>
                      <a:gd name="T9" fmla="*/ 0 h 35"/>
                      <a:gd name="T10" fmla="*/ 0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3" name="Group 5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92" name="Group 5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409" name="Freeform 563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" name="Freeform 564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1" name="Freeform 565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3" name="Group 5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406" name="Freeform 567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7" name="Freeform 568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569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1 w 81"/>
                      <a:gd name="T9" fmla="*/ 0 h 38"/>
                      <a:gd name="T10" fmla="*/ 1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8"/>
                      <a:gd name="T23" fmla="*/ 81 w 81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4" name="Group 5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403" name="Freeform 571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4" name="Freeform 572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573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5" name="Group 5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400" name="Freeform 575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1" name="Freeform 576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577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6" name="Group 5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97" name="Freeform 579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68"/>
                      <a:gd name="T17" fmla="*/ 23 w 23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8" name="Freeform 580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581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4" name="Group 5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89" name="Freeform 583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0" name="Freeform 584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1" name="Freeform 585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5" name="Group 5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86" name="Freeform 587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7" name="Freeform 588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1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1"/>
                    <a:gd name="T29" fmla="*/ 75 w 75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8" name="Freeform 589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6" name="Group 5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83" name="Freeform 591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4" name="Freeform 592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5" name="Freeform 593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7" name="Group 5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80" name="Freeform 595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1" name="Freeform 596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2" name="Freeform 597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8" name="Group 5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77" name="Freeform 599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8" name="Freeform 600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" name="Freeform 601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9" name="Group 6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57" name="Group 6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74" name="Freeform 604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5" name="Freeform 605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606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0 w 82"/>
                      <a:gd name="T9" fmla="*/ 0 h 38"/>
                      <a:gd name="T10" fmla="*/ 0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8" name="Group 6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71" name="Freeform 608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2" name="Freeform 609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1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3" name="Freeform 610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9" name="Group 6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68" name="Freeform 612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" name="Freeform 613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0" name="Freeform 614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0" name="Group 6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65" name="Freeform 616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6" name="Freeform 617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7" name="Freeform 618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1" name="Group 6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62" name="Freeform 620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" name="Freeform 621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4" name="Freeform 622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1 w 81"/>
                      <a:gd name="T9" fmla="*/ 0 h 35"/>
                      <a:gd name="T10" fmla="*/ 1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5"/>
                      <a:gd name="T23" fmla="*/ 81 w 81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0" name="Group 6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37" name="Group 6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54" name="Freeform 625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5" name="Freeform 626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" name="Freeform 627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8" name="Group 6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51" name="Freeform 629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Freeform 630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631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9" name="Group 6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48" name="Freeform 633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9" name="Freeform 634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635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0" name="Group 6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45" name="Freeform 637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6" name="Freeform 638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639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1" name="Group 6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42" name="Freeform 641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3" name="Freeform 642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643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1" name="Group 6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334" name="Freeform 645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5" name="Freeform 646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1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1"/>
                    <a:gd name="T29" fmla="*/ 72 w 7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6" name="Freeform 647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2" name="Group 6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331" name="Freeform 649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69"/>
                    <a:gd name="T17" fmla="*/ 38 w 38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2" name="Freeform 650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3" name="Freeform 651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0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1"/>
                    <a:gd name="T17" fmla="*/ 65 w 65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3" name="Group 6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328" name="Freeform 653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9" name="Freeform 654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0" name="Freeform 655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4" name="Group 6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325" name="Freeform 657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6" name="Freeform 658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3"/>
                    <a:gd name="T17" fmla="*/ 63 w 63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" name="Freeform 659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Group 6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322" name="Freeform 661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" name="Freeform 662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0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5"/>
                    <a:gd name="T17" fmla="*/ 65 w 65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" name="Freeform 663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6" name="Group 6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306" name="Group 6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319" name="Freeform 666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" name="Freeform 667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0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2"/>
                      <a:gd name="T17" fmla="*/ 66 w 66"/>
                      <a:gd name="T18" fmla="*/ 32 h 3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668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1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1"/>
                      <a:gd name="T17" fmla="*/ 65 w 65"/>
                      <a:gd name="T18" fmla="*/ 31 h 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7" name="Group 6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316" name="Freeform 670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9"/>
                      <a:gd name="T17" fmla="*/ 40 w 40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Freeform 671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1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5"/>
                      <a:gd name="T17" fmla="*/ 66 w 66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Freeform 672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8" name="Group 6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313" name="Freeform 674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4" name="Freeform 675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0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5" name="Freeform 676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0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9" name="Group 6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310" name="Freeform 678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68"/>
                      <a:gd name="T17" fmla="*/ 39 w 39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" name="Freeform 679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3"/>
                      <a:gd name="T17" fmla="*/ 64 w 64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2" name="Freeform 680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7" name="Group 6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90" name="Group 6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303" name="Freeform 683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4" name="Freeform 684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1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5" name="Freeform 685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1" name="Group 6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300" name="Freeform 687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1" name="Freeform 688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"/>
                      <a:gd name="T16" fmla="*/ 0 h 33"/>
                      <a:gd name="T17" fmla="*/ 63 w 63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2" name="Freeform 689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0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0"/>
                      <a:gd name="T17" fmla="*/ 65 w 65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2" name="Group 6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97" name="Freeform 691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70"/>
                      <a:gd name="T17" fmla="*/ 39 w 39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" name="Freeform 692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1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4"/>
                      <a:gd name="T17" fmla="*/ 64 w 64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9" name="Freeform 693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3" name="Group 6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94" name="Freeform 695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"/>
                      <a:gd name="T16" fmla="*/ 0 h 70"/>
                      <a:gd name="T17" fmla="*/ 41 w 41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5" name="Freeform 696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0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4"/>
                      <a:gd name="T17" fmla="*/ 65 w 65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6" name="Freeform 697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0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8" name="Group 6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87" name="Freeform 699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70"/>
                    <a:gd name="T17" fmla="*/ 39 w 39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" name="Freeform 700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5"/>
                    <a:gd name="T17" fmla="*/ 63 w 63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" name="Freeform 701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1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0"/>
                    <a:gd name="T17" fmla="*/ 64 w 64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9" name="Group 7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84" name="Freeform 703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" name="Freeform 704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" name="Freeform 705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1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0"/>
                    <a:gd name="T17" fmla="*/ 65 w 65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0" name="Group 7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81" name="Freeform 707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" name="Freeform 708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2"/>
                    <a:gd name="T17" fmla="*/ 63 w 63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" name="Freeform 709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Group 7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78" name="Freeform 711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" name="Freeform 712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" name="Freeform 713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0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Group 7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75" name="Freeform 715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9"/>
                    <a:gd name="T17" fmla="*/ 40 w 40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" name="Freeform 716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" name="Freeform 717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0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3" name="Group 7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72" name="Freeform 719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" name="Freeform 720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" name="Freeform 721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1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29"/>
                    <a:gd name="T17" fmla="*/ 66 w 66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4" name="Group 7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69" name="Freeform 723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" name="Freeform 724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3"/>
                    <a:gd name="T17" fmla="*/ 64 w 64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" name="Freeform 725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5" name="Freeform 726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Freeform 727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Freeform 728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1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36"/>
                  <a:gd name="T17" fmla="*/ 78 w 7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8" name="Freeform 729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" name="Freeform 730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0" name="Freeform 731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1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5"/>
                  <a:gd name="T17" fmla="*/ 79 w 79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1" name="Freeform 732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2" name="Freeform 733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3" name="Freeform 734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4" name="Freeform 735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" name="Freeform 736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0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36"/>
                  <a:gd name="T17" fmla="*/ 81 w 81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6" name="Group 7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66" name="Freeform 738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" name="Freeform 739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1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" name="Freeform 740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" name="Group 7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63" name="Freeform 742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7"/>
                    <a:gd name="T17" fmla="*/ 24 w 24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" name="Freeform 743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" name="Freeform 744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1 w 81"/>
                    <a:gd name="T9" fmla="*/ 0 h 35"/>
                    <a:gd name="T10" fmla="*/ 1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5"/>
                    <a:gd name="T23" fmla="*/ 81 w 81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8" name="Group 7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60" name="Freeform 746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" name="Freeform 747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" name="Freeform 748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9" name="Group 7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57" name="Freeform 750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" name="Freeform 751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" name="Freeform 752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0" name="Group 7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54" name="Freeform 754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1 w 182"/>
                    <a:gd name="T7" fmla="*/ 0 h 314"/>
                    <a:gd name="T8" fmla="*/ 1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314"/>
                    <a:gd name="T17" fmla="*/ 182 w 182"/>
                    <a:gd name="T18" fmla="*/ 314 h 3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" name="Freeform 755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1 w 235"/>
                    <a:gd name="T7" fmla="*/ 0 h 281"/>
                    <a:gd name="T8" fmla="*/ 1 w 235"/>
                    <a:gd name="T9" fmla="*/ 0 h 281"/>
                    <a:gd name="T10" fmla="*/ 1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5"/>
                    <a:gd name="T28" fmla="*/ 0 h 281"/>
                    <a:gd name="T29" fmla="*/ 235 w 235"/>
                    <a:gd name="T30" fmla="*/ 281 h 28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" name="Freeform 756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0 w 95"/>
                    <a:gd name="T9" fmla="*/ 0 h 36"/>
                    <a:gd name="T10" fmla="*/ 0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5"/>
                    <a:gd name="T22" fmla="*/ 0 h 36"/>
                    <a:gd name="T23" fmla="*/ 95 w 95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1" name="Group 7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51" name="Freeform 758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" name="Freeform 759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" name="Freeform 760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1 w 81"/>
                    <a:gd name="T9" fmla="*/ 0 h 34"/>
                    <a:gd name="T10" fmla="*/ 1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4"/>
                    <a:gd name="T23" fmla="*/ 81 w 81"/>
                    <a:gd name="T24" fmla="*/ 34 h 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2" name="Group 7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48" name="Freeform 762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" name="Freeform 763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" name="Freeform 764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3" name="Group 7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45" name="Freeform 766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9"/>
                    <a:gd name="T17" fmla="*/ 22 w 22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" name="Freeform 767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" name="Freeform 768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4" name="Group 7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42" name="Freeform 770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" name="Freeform 771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" name="Freeform 772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" name="Group 7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39" name="Freeform 774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" name="Freeform 775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" name="Freeform 776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6" name="Freeform 777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128"/>
                  <a:gd name="T23" fmla="*/ 51 w 51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" name="Freeform 778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0 w 183"/>
                  <a:gd name="T3" fmla="*/ 0 h 85"/>
                  <a:gd name="T4" fmla="*/ 0 w 183"/>
                  <a:gd name="T5" fmla="*/ 0 h 85"/>
                  <a:gd name="T6" fmla="*/ 0 w 183"/>
                  <a:gd name="T7" fmla="*/ 0 h 85"/>
                  <a:gd name="T8" fmla="*/ 0 w 183"/>
                  <a:gd name="T9" fmla="*/ 0 h 85"/>
                  <a:gd name="T10" fmla="*/ 0 w 183"/>
                  <a:gd name="T11" fmla="*/ 0 h 85"/>
                  <a:gd name="T12" fmla="*/ 0 w 183"/>
                  <a:gd name="T13" fmla="*/ 0 h 85"/>
                  <a:gd name="T14" fmla="*/ 0 w 183"/>
                  <a:gd name="T15" fmla="*/ 0 h 85"/>
                  <a:gd name="T16" fmla="*/ 0 w 183"/>
                  <a:gd name="T17" fmla="*/ 0 h 85"/>
                  <a:gd name="T18" fmla="*/ 0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3"/>
                  <a:gd name="T37" fmla="*/ 0 h 85"/>
                  <a:gd name="T38" fmla="*/ 183 w 183"/>
                  <a:gd name="T39" fmla="*/ 85 h 8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8" name="Freeform 779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1 w 160"/>
                  <a:gd name="T9" fmla="*/ 0 h 36"/>
                  <a:gd name="T10" fmla="*/ 1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36"/>
                  <a:gd name="T23" fmla="*/ 160 w 160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" name="Group 7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54" name="Freeform 781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 w 825"/>
                  <a:gd name="T15" fmla="*/ 0 h 151"/>
                  <a:gd name="T16" fmla="*/ 1 w 825"/>
                  <a:gd name="T17" fmla="*/ 0 h 151"/>
                  <a:gd name="T18" fmla="*/ 1 w 825"/>
                  <a:gd name="T19" fmla="*/ 0 h 151"/>
                  <a:gd name="T20" fmla="*/ 1 w 825"/>
                  <a:gd name="T21" fmla="*/ 0 h 151"/>
                  <a:gd name="T22" fmla="*/ 1 w 825"/>
                  <a:gd name="T23" fmla="*/ 0 h 151"/>
                  <a:gd name="T24" fmla="*/ 1 w 825"/>
                  <a:gd name="T25" fmla="*/ 0 h 151"/>
                  <a:gd name="T26" fmla="*/ 1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5"/>
                  <a:gd name="T46" fmla="*/ 0 h 151"/>
                  <a:gd name="T47" fmla="*/ 825 w 825"/>
                  <a:gd name="T48" fmla="*/ 151 h 1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782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1 w 658"/>
                  <a:gd name="T5" fmla="*/ 0 h 79"/>
                  <a:gd name="T6" fmla="*/ 1 w 658"/>
                  <a:gd name="T7" fmla="*/ 0 h 79"/>
                  <a:gd name="T8" fmla="*/ 1 w 658"/>
                  <a:gd name="T9" fmla="*/ 0 h 79"/>
                  <a:gd name="T10" fmla="*/ 1 w 658"/>
                  <a:gd name="T11" fmla="*/ 0 h 79"/>
                  <a:gd name="T12" fmla="*/ 1 w 658"/>
                  <a:gd name="T13" fmla="*/ 0 h 79"/>
                  <a:gd name="T14" fmla="*/ 1 w 658"/>
                  <a:gd name="T15" fmla="*/ 0 h 79"/>
                  <a:gd name="T16" fmla="*/ 1 w 658"/>
                  <a:gd name="T17" fmla="*/ 0 h 79"/>
                  <a:gd name="T18" fmla="*/ 1 w 658"/>
                  <a:gd name="T19" fmla="*/ 0 h 79"/>
                  <a:gd name="T20" fmla="*/ 1 w 658"/>
                  <a:gd name="T21" fmla="*/ 0 h 79"/>
                  <a:gd name="T22" fmla="*/ 1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58"/>
                  <a:gd name="T40" fmla="*/ 0 h 79"/>
                  <a:gd name="T41" fmla="*/ 658 w 658"/>
                  <a:gd name="T42" fmla="*/ 79 h 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Rectangle 7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" name="Rectangle 7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4" name="Group 7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35" name="Freeform 786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0 w 191"/>
                  <a:gd name="T1" fmla="*/ 0 h 200"/>
                  <a:gd name="T2" fmla="*/ 0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0 w 191"/>
                  <a:gd name="T17" fmla="*/ 0 h 200"/>
                  <a:gd name="T18" fmla="*/ 0 w 191"/>
                  <a:gd name="T19" fmla="*/ 0 h 200"/>
                  <a:gd name="T20" fmla="*/ 0 w 191"/>
                  <a:gd name="T21" fmla="*/ 0 h 200"/>
                  <a:gd name="T22" fmla="*/ 0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1"/>
                  <a:gd name="T37" fmla="*/ 0 h 200"/>
                  <a:gd name="T38" fmla="*/ 191 w 191"/>
                  <a:gd name="T39" fmla="*/ 200 h 2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787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0 w 860"/>
                  <a:gd name="T3" fmla="*/ 0 h 791"/>
                  <a:gd name="T4" fmla="*/ 0 w 860"/>
                  <a:gd name="T5" fmla="*/ 0 h 791"/>
                  <a:gd name="T6" fmla="*/ 0 w 860"/>
                  <a:gd name="T7" fmla="*/ 0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0"/>
                  <a:gd name="T16" fmla="*/ 0 h 791"/>
                  <a:gd name="T17" fmla="*/ 860 w 860"/>
                  <a:gd name="T18" fmla="*/ 791 h 7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788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1 w 281"/>
                  <a:gd name="T7" fmla="*/ 0 h 366"/>
                  <a:gd name="T8" fmla="*/ 1 w 281"/>
                  <a:gd name="T9" fmla="*/ 0 h 366"/>
                  <a:gd name="T10" fmla="*/ 1 w 281"/>
                  <a:gd name="T11" fmla="*/ 0 h 366"/>
                  <a:gd name="T12" fmla="*/ 1 w 281"/>
                  <a:gd name="T13" fmla="*/ 0 h 366"/>
                  <a:gd name="T14" fmla="*/ 1 w 281"/>
                  <a:gd name="T15" fmla="*/ 0 h 366"/>
                  <a:gd name="T16" fmla="*/ 1 w 281"/>
                  <a:gd name="T17" fmla="*/ 0 h 366"/>
                  <a:gd name="T18" fmla="*/ 1 w 281"/>
                  <a:gd name="T19" fmla="*/ 0 h 366"/>
                  <a:gd name="T20" fmla="*/ 1 w 281"/>
                  <a:gd name="T21" fmla="*/ 0 h 366"/>
                  <a:gd name="T22" fmla="*/ 1 w 281"/>
                  <a:gd name="T23" fmla="*/ 0 h 366"/>
                  <a:gd name="T24" fmla="*/ 1 w 281"/>
                  <a:gd name="T25" fmla="*/ 0 h 366"/>
                  <a:gd name="T26" fmla="*/ 1 w 281"/>
                  <a:gd name="T27" fmla="*/ 0 h 366"/>
                  <a:gd name="T28" fmla="*/ 1 w 281"/>
                  <a:gd name="T29" fmla="*/ 0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1"/>
                  <a:gd name="T55" fmla="*/ 0 h 366"/>
                  <a:gd name="T56" fmla="*/ 281 w 281"/>
                  <a:gd name="T57" fmla="*/ 366 h 3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7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790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1 w 222"/>
                  <a:gd name="T7" fmla="*/ 0 h 289"/>
                  <a:gd name="T8" fmla="*/ 1 w 222"/>
                  <a:gd name="T9" fmla="*/ 0 h 289"/>
                  <a:gd name="T10" fmla="*/ 1 w 222"/>
                  <a:gd name="T11" fmla="*/ 0 h 289"/>
                  <a:gd name="T12" fmla="*/ 1 w 222"/>
                  <a:gd name="T13" fmla="*/ 0 h 289"/>
                  <a:gd name="T14" fmla="*/ 1 w 222"/>
                  <a:gd name="T15" fmla="*/ 0 h 289"/>
                  <a:gd name="T16" fmla="*/ 1 w 222"/>
                  <a:gd name="T17" fmla="*/ 0 h 289"/>
                  <a:gd name="T18" fmla="*/ 1 w 222"/>
                  <a:gd name="T19" fmla="*/ 0 h 289"/>
                  <a:gd name="T20" fmla="*/ 1 w 222"/>
                  <a:gd name="T21" fmla="*/ 0 h 289"/>
                  <a:gd name="T22" fmla="*/ 1 w 222"/>
                  <a:gd name="T23" fmla="*/ 0 h 289"/>
                  <a:gd name="T24" fmla="*/ 1 w 222"/>
                  <a:gd name="T25" fmla="*/ 0 h 289"/>
                  <a:gd name="T26" fmla="*/ 1 w 222"/>
                  <a:gd name="T27" fmla="*/ 0 h 289"/>
                  <a:gd name="T28" fmla="*/ 1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22"/>
                  <a:gd name="T55" fmla="*/ 0 h 289"/>
                  <a:gd name="T56" fmla="*/ 222 w 222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791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792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5"/>
                  <a:gd name="T23" fmla="*/ 126 w 126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793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5"/>
                  <a:gd name="T23" fmla="*/ 127 w 127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Freeform 794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795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Freeform 796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6"/>
                  <a:gd name="T23" fmla="*/ 126 w 126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Freeform 797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Freeform 798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0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Freeform 799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0 w 96"/>
                  <a:gd name="T3" fmla="*/ 0 h 74"/>
                  <a:gd name="T4" fmla="*/ 0 w 96"/>
                  <a:gd name="T5" fmla="*/ 0 h 74"/>
                  <a:gd name="T6" fmla="*/ 0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74"/>
                  <a:gd name="T14" fmla="*/ 96 w 96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Oval 8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" name="Oval 8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" name="Freeform 802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1 w 188"/>
                  <a:gd name="T5" fmla="*/ 0 h 25"/>
                  <a:gd name="T6" fmla="*/ 1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"/>
                  <a:gd name="T16" fmla="*/ 0 h 25"/>
                  <a:gd name="T17" fmla="*/ 188 w 18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Oval 8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" name="Oval 8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640" name="圆角矩形标注 557"/>
          <p:cNvSpPr>
            <a:spLocks noChangeArrowheads="1"/>
          </p:cNvSpPr>
          <p:nvPr/>
        </p:nvSpPr>
        <p:spPr bwMode="auto">
          <a:xfrm>
            <a:off x="6342429" y="3599856"/>
            <a:ext cx="837180" cy="293509"/>
          </a:xfrm>
          <a:prstGeom prst="wedgeRoundRectCallout">
            <a:avLst>
              <a:gd name="adj1" fmla="val -18809"/>
              <a:gd name="adj2" fmla="val -17535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1" name="Text Box 48"/>
          <p:cNvSpPr txBox="1">
            <a:spLocks noChangeArrowheads="1"/>
          </p:cNvSpPr>
          <p:nvPr/>
        </p:nvSpPr>
        <p:spPr bwMode="auto">
          <a:xfrm>
            <a:off x="6202925" y="3598361"/>
            <a:ext cx="108426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9" name="Group 107"/>
          <p:cNvGrpSpPr>
            <a:grpSpLocks/>
          </p:cNvGrpSpPr>
          <p:nvPr/>
        </p:nvGrpSpPr>
        <p:grpSpPr bwMode="auto">
          <a:xfrm>
            <a:off x="3036033" y="2215934"/>
            <a:ext cx="3004755" cy="1969898"/>
            <a:chOff x="2248" y="820"/>
            <a:chExt cx="2248" cy="883"/>
          </a:xfrm>
        </p:grpSpPr>
        <p:grpSp>
          <p:nvGrpSpPr>
            <p:cNvPr id="560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590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595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605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607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11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1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9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1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4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60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0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10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606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596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9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3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4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9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8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9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4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1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575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58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9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76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57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4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5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77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2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56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4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16" name="Text Box 201"/>
          <p:cNvSpPr txBox="1">
            <a:spLocks noChangeArrowheads="1"/>
          </p:cNvSpPr>
          <p:nvPr/>
        </p:nvSpPr>
        <p:spPr bwMode="auto">
          <a:xfrm>
            <a:off x="3855953" y="3271247"/>
            <a:ext cx="1574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kumimoji="0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kumimoji="0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sz="14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en-US" altLang="zh-CN" sz="14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997"/>
          <p:cNvSpPr txBox="1">
            <a:spLocks noChangeArrowheads="1"/>
          </p:cNvSpPr>
          <p:nvPr/>
        </p:nvSpPr>
        <p:spPr bwMode="auto">
          <a:xfrm>
            <a:off x="3846168" y="2553052"/>
            <a:ext cx="131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安全数据报</a:t>
            </a:r>
          </a:p>
        </p:txBody>
      </p:sp>
      <p:sp>
        <p:nvSpPr>
          <p:cNvPr id="21" name="AutoShape 212"/>
          <p:cNvSpPr>
            <a:spLocks noChangeArrowheads="1"/>
          </p:cNvSpPr>
          <p:nvPr/>
        </p:nvSpPr>
        <p:spPr bwMode="auto">
          <a:xfrm>
            <a:off x="5273197" y="2902886"/>
            <a:ext cx="586953" cy="123766"/>
          </a:xfrm>
          <a:prstGeom prst="rightArrow">
            <a:avLst>
              <a:gd name="adj1" fmla="val 50000"/>
              <a:gd name="adj2" fmla="val 73675"/>
            </a:avLst>
          </a:prstGeom>
          <a:solidFill>
            <a:srgbClr val="CC00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789200" y="2838737"/>
            <a:ext cx="1470375" cy="278959"/>
            <a:chOff x="3789200" y="2883562"/>
            <a:chExt cx="1470375" cy="278959"/>
          </a:xfrm>
        </p:grpSpPr>
        <p:grpSp>
          <p:nvGrpSpPr>
            <p:cNvPr id="8" name="组合 7"/>
            <p:cNvGrpSpPr/>
            <p:nvPr/>
          </p:nvGrpSpPr>
          <p:grpSpPr>
            <a:xfrm>
              <a:off x="3789200" y="2883562"/>
              <a:ext cx="1470375" cy="278959"/>
              <a:chOff x="3789200" y="2883562"/>
              <a:chExt cx="1470375" cy="278959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789200" y="2883562"/>
                <a:ext cx="1470375" cy="278959"/>
                <a:chOff x="3789200" y="2883562"/>
                <a:chExt cx="1470375" cy="278959"/>
              </a:xfrm>
            </p:grpSpPr>
            <p:sp>
              <p:nvSpPr>
                <p:cNvPr id="22" name="Rectangle 210"/>
                <p:cNvSpPr>
                  <a:spLocks noChangeArrowheads="1"/>
                </p:cNvSpPr>
                <p:nvPr/>
              </p:nvSpPr>
              <p:spPr bwMode="auto">
                <a:xfrm>
                  <a:off x="3789200" y="2883562"/>
                  <a:ext cx="1463600" cy="278959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004592" y="2887304"/>
                  <a:ext cx="254983" cy="272619"/>
                </a:xfrm>
                <a:prstGeom prst="rect">
                  <a:avLst/>
                </a:prstGeom>
                <a:solidFill>
                  <a:srgbClr val="FFFF00"/>
                </a:solidFill>
                <a:ln w="63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3" name="矩形 22"/>
              <p:cNvSpPr/>
              <p:nvPr/>
            </p:nvSpPr>
            <p:spPr bwMode="auto">
              <a:xfrm>
                <a:off x="4328063" y="2935507"/>
                <a:ext cx="385872" cy="175070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6" name="矩形 541"/>
            <p:cNvSpPr>
              <a:spLocks noChangeArrowheads="1"/>
            </p:cNvSpPr>
            <p:nvPr/>
          </p:nvSpPr>
          <p:spPr bwMode="auto">
            <a:xfrm>
              <a:off x="4601744" y="2937430"/>
              <a:ext cx="110493" cy="169299"/>
            </a:xfrm>
            <a:prstGeom prst="rect">
              <a:avLst/>
            </a:prstGeom>
            <a:solidFill>
              <a:srgbClr val="00FFFF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圆角矩形标注 559"/>
          <p:cNvSpPr>
            <a:spLocks noChangeArrowheads="1"/>
          </p:cNvSpPr>
          <p:nvPr/>
        </p:nvSpPr>
        <p:spPr bwMode="auto">
          <a:xfrm>
            <a:off x="5359297" y="1824038"/>
            <a:ext cx="1195612" cy="344370"/>
          </a:xfrm>
          <a:prstGeom prst="wedgeRoundRectCallout">
            <a:avLst>
              <a:gd name="adj1" fmla="val -65563"/>
              <a:gd name="adj2" fmla="val 280063"/>
              <a:gd name="adj3" fmla="val 16667"/>
            </a:avLst>
          </a:prstGeom>
          <a:solidFill>
            <a:srgbClr val="FFFF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48"/>
          <p:cNvSpPr txBox="1">
            <a:spLocks noChangeArrowheads="1"/>
          </p:cNvSpPr>
          <p:nvPr/>
        </p:nvSpPr>
        <p:spPr bwMode="auto">
          <a:xfrm>
            <a:off x="5355410" y="1805892"/>
            <a:ext cx="12330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4" name="AutoShape 2"/>
          <p:cNvSpPr>
            <a:spLocks noChangeArrowheads="1"/>
          </p:cNvSpPr>
          <p:nvPr/>
        </p:nvSpPr>
        <p:spPr bwMode="auto">
          <a:xfrm rot="16200000">
            <a:off x="4533387" y="1646245"/>
            <a:ext cx="186226" cy="3087688"/>
          </a:xfrm>
          <a:prstGeom prst="can">
            <a:avLst>
              <a:gd name="adj" fmla="val 66727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176"/>
          <p:cNvSpPr>
            <a:spLocks noChangeShapeType="1"/>
          </p:cNvSpPr>
          <p:nvPr/>
        </p:nvSpPr>
        <p:spPr bwMode="auto">
          <a:xfrm>
            <a:off x="2932067" y="3170317"/>
            <a:ext cx="3384859" cy="19045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191" y="2973407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2" name="Rectangle 4"/>
          <p:cNvSpPr>
            <a:spLocks noChangeArrowheads="1"/>
          </p:cNvSpPr>
          <p:nvPr/>
        </p:nvSpPr>
        <p:spPr bwMode="auto">
          <a:xfrm>
            <a:off x="8034866" y="37227"/>
            <a:ext cx="11065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安全关联</a:t>
            </a:r>
          </a:p>
        </p:txBody>
      </p:sp>
      <p:sp>
        <p:nvSpPr>
          <p:cNvPr id="642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3" name="Rectangle 6"/>
          <p:cNvSpPr>
            <a:spLocks noChangeArrowheads="1"/>
          </p:cNvSpPr>
          <p:nvPr/>
        </p:nvSpPr>
        <p:spPr bwMode="auto">
          <a:xfrm>
            <a:off x="2793811" y="583213"/>
            <a:ext cx="37946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路由器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的安全关联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SA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12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517852" y="1029327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559" name="Group 107"/>
          <p:cNvGrpSpPr>
            <a:grpSpLocks/>
          </p:cNvGrpSpPr>
          <p:nvPr/>
        </p:nvGrpSpPr>
        <p:grpSpPr bwMode="auto">
          <a:xfrm>
            <a:off x="3036033" y="2215936"/>
            <a:ext cx="3004755" cy="1969898"/>
            <a:chOff x="2248" y="820"/>
            <a:chExt cx="2248" cy="883"/>
          </a:xfrm>
        </p:grpSpPr>
        <p:grpSp>
          <p:nvGrpSpPr>
            <p:cNvPr id="560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590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595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605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607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11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1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9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1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4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60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0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10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606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596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9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3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4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9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8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9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4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1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575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58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9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76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57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4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5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77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2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56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4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5" name="矩形 4"/>
          <p:cNvSpPr/>
          <p:nvPr/>
        </p:nvSpPr>
        <p:spPr>
          <a:xfrm>
            <a:off x="1363476" y="1137228"/>
            <a:ext cx="6442608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假定公司总部的主机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要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和内部的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主机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进行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通信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由于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都在公司内部，不需要加密，因此不需要建立安全关联。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6214933" y="2246194"/>
            <a:ext cx="2197948" cy="1920002"/>
          </a:xfrm>
          <a:prstGeom prst="roundRect">
            <a:avLst/>
          </a:prstGeom>
          <a:solidFill>
            <a:srgbClr val="FFFF99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778708" y="2246194"/>
            <a:ext cx="2197948" cy="192000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205"/>
          <p:cNvSpPr>
            <a:spLocks noChangeShapeType="1"/>
          </p:cNvSpPr>
          <p:nvPr/>
        </p:nvSpPr>
        <p:spPr bwMode="auto">
          <a:xfrm>
            <a:off x="1550455" y="3117698"/>
            <a:ext cx="154179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1370567" y="1937921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公司总部</a:t>
            </a:r>
          </a:p>
        </p:txBody>
      </p:sp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4104657" y="1926299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7" name="Text Box 208"/>
          <p:cNvSpPr txBox="1">
            <a:spLocks noChangeArrowheads="1"/>
          </p:cNvSpPr>
          <p:nvPr/>
        </p:nvSpPr>
        <p:spPr bwMode="auto">
          <a:xfrm>
            <a:off x="2553385" y="2565552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" name="Text Box 213"/>
          <p:cNvSpPr txBox="1">
            <a:spLocks noChangeArrowheads="1"/>
          </p:cNvSpPr>
          <p:nvPr/>
        </p:nvSpPr>
        <p:spPr bwMode="auto">
          <a:xfrm>
            <a:off x="784646" y="2811620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20" name="组合 990"/>
          <p:cNvGrpSpPr>
            <a:grpSpLocks/>
          </p:cNvGrpSpPr>
          <p:nvPr/>
        </p:nvGrpSpPr>
        <p:grpSpPr bwMode="auto">
          <a:xfrm>
            <a:off x="1717043" y="2856055"/>
            <a:ext cx="617057" cy="175070"/>
            <a:chOff x="1691680" y="1052736"/>
            <a:chExt cx="576064" cy="144016"/>
          </a:xfrm>
        </p:grpSpPr>
        <p:sp>
          <p:nvSpPr>
            <p:cNvPr id="531" name="矩形 530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2" name="直接箭头连接符 988"/>
            <p:cNvCxnSpPr>
              <a:cxnSpLocks noChangeShapeType="1"/>
              <a:stCxn id="531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4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26" y="2998420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直接连接符 504"/>
          <p:cNvCxnSpPr>
            <a:cxnSpLocks noChangeShapeType="1"/>
          </p:cNvCxnSpPr>
          <p:nvPr/>
        </p:nvCxnSpPr>
        <p:spPr bwMode="auto">
          <a:xfrm flipV="1">
            <a:off x="6036445" y="3150403"/>
            <a:ext cx="280481" cy="962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08"/>
          <p:cNvSpPr txBox="1">
            <a:spLocks noChangeArrowheads="1"/>
          </p:cNvSpPr>
          <p:nvPr/>
        </p:nvSpPr>
        <p:spPr bwMode="auto">
          <a:xfrm>
            <a:off x="6330525" y="2594411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8" name="Text Box 213"/>
          <p:cNvSpPr txBox="1">
            <a:spLocks noChangeArrowheads="1"/>
          </p:cNvSpPr>
          <p:nvPr/>
        </p:nvSpPr>
        <p:spPr bwMode="auto">
          <a:xfrm>
            <a:off x="7926453" y="2794046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9" name="直接连接符 536"/>
          <p:cNvCxnSpPr>
            <a:cxnSpLocks noChangeShapeType="1"/>
          </p:cNvCxnSpPr>
          <p:nvPr/>
        </p:nvCxnSpPr>
        <p:spPr bwMode="auto">
          <a:xfrm flipV="1">
            <a:off x="6792893" y="3140784"/>
            <a:ext cx="819344" cy="961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6921458" y="1935997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分公司</a:t>
            </a:r>
          </a:p>
        </p:txBody>
      </p:sp>
      <p:sp>
        <p:nvSpPr>
          <p:cNvPr id="35" name="矩形 540"/>
          <p:cNvSpPr>
            <a:spLocks noChangeArrowheads="1"/>
          </p:cNvSpPr>
          <p:nvPr/>
        </p:nvSpPr>
        <p:spPr bwMode="auto">
          <a:xfrm>
            <a:off x="1993262" y="2859902"/>
            <a:ext cx="108793" cy="169299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548"/>
          <p:cNvGrpSpPr>
            <a:grpSpLocks/>
          </p:cNvGrpSpPr>
          <p:nvPr/>
        </p:nvGrpSpPr>
        <p:grpSpPr bwMode="auto">
          <a:xfrm>
            <a:off x="1505902" y="2304938"/>
            <a:ext cx="1144864" cy="653079"/>
            <a:chOff x="1505608" y="598373"/>
            <a:chExt cx="1074067" cy="538002"/>
          </a:xfrm>
        </p:grpSpPr>
        <p:grpSp>
          <p:nvGrpSpPr>
            <p:cNvPr id="47" name="组合 516"/>
            <p:cNvGrpSpPr>
              <a:grpSpLocks/>
            </p:cNvGrpSpPr>
            <p:nvPr/>
          </p:nvGrpSpPr>
          <p:grpSpPr bwMode="auto">
            <a:xfrm>
              <a:off x="1505608" y="598373"/>
              <a:ext cx="1074067" cy="294860"/>
              <a:chOff x="1576472" y="576470"/>
              <a:chExt cx="1033000" cy="294860"/>
            </a:xfrm>
          </p:grpSpPr>
          <p:sp>
            <p:nvSpPr>
              <p:cNvPr id="49" name="圆角矩形标注 552"/>
              <p:cNvSpPr>
                <a:spLocks noChangeArrowheads="1"/>
              </p:cNvSpPr>
              <p:nvPr/>
            </p:nvSpPr>
            <p:spPr bwMode="auto">
              <a:xfrm>
                <a:off x="1591178" y="576470"/>
                <a:ext cx="992998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auto">
              <a:xfrm>
                <a:off x="1576472" y="609118"/>
                <a:ext cx="1033000" cy="25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下箭头 551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20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85" y="2877790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29" y="2876834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5" name="直接连接符 540"/>
          <p:cNvCxnSpPr>
            <a:cxnSpLocks noChangeShapeType="1"/>
          </p:cNvCxnSpPr>
          <p:nvPr/>
        </p:nvCxnSpPr>
        <p:spPr bwMode="auto">
          <a:xfrm flipH="1">
            <a:off x="1844534" y="3252365"/>
            <a:ext cx="805746" cy="45107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Text Box 213"/>
          <p:cNvSpPr txBox="1">
            <a:spLocks noChangeArrowheads="1"/>
          </p:cNvSpPr>
          <p:nvPr/>
        </p:nvSpPr>
        <p:spPr bwMode="auto">
          <a:xfrm>
            <a:off x="1249547" y="3430960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97" name="Group 352"/>
          <p:cNvGrpSpPr>
            <a:grpSpLocks/>
          </p:cNvGrpSpPr>
          <p:nvPr/>
        </p:nvGrpSpPr>
        <p:grpSpPr bwMode="auto">
          <a:xfrm>
            <a:off x="1377993" y="3518428"/>
            <a:ext cx="524774" cy="433344"/>
            <a:chOff x="624" y="2968"/>
            <a:chExt cx="1331" cy="920"/>
          </a:xfrm>
        </p:grpSpPr>
        <p:sp>
          <p:nvSpPr>
            <p:cNvPr id="98" name="Freeform 353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 w 1426"/>
                <a:gd name="T1" fmla="*/ 0 h 2309"/>
                <a:gd name="T2" fmla="*/ 1 w 1426"/>
                <a:gd name="T3" fmla="*/ 0 h 2309"/>
                <a:gd name="T4" fmla="*/ 0 w 1426"/>
                <a:gd name="T5" fmla="*/ 0 h 2309"/>
                <a:gd name="T6" fmla="*/ 1 w 1426"/>
                <a:gd name="T7" fmla="*/ 0 h 2309"/>
                <a:gd name="T8" fmla="*/ 1 w 1426"/>
                <a:gd name="T9" fmla="*/ 0 h 2309"/>
                <a:gd name="T10" fmla="*/ 1 w 1426"/>
                <a:gd name="T11" fmla="*/ 0 h 2309"/>
                <a:gd name="T12" fmla="*/ 1 w 1426"/>
                <a:gd name="T13" fmla="*/ 0 h 2309"/>
                <a:gd name="T14" fmla="*/ 1 w 1426"/>
                <a:gd name="T15" fmla="*/ 0 h 2309"/>
                <a:gd name="T16" fmla="*/ 1 w 1426"/>
                <a:gd name="T17" fmla="*/ 0 h 2309"/>
                <a:gd name="T18" fmla="*/ 1 w 1426"/>
                <a:gd name="T19" fmla="*/ 0 h 2309"/>
                <a:gd name="T20" fmla="*/ 1 w 1426"/>
                <a:gd name="T21" fmla="*/ 0 h 2309"/>
                <a:gd name="T22" fmla="*/ 1 w 1426"/>
                <a:gd name="T23" fmla="*/ 0 h 2309"/>
                <a:gd name="T24" fmla="*/ 1 w 1426"/>
                <a:gd name="T25" fmla="*/ 0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26"/>
                <a:gd name="T40" fmla="*/ 0 h 2309"/>
                <a:gd name="T41" fmla="*/ 1426 w 1426"/>
                <a:gd name="T42" fmla="*/ 2309 h 23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354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0 w 573"/>
                <a:gd name="T1" fmla="*/ 0 h 1980"/>
                <a:gd name="T2" fmla="*/ 0 w 573"/>
                <a:gd name="T3" fmla="*/ 0 h 1980"/>
                <a:gd name="T4" fmla="*/ 0 w 573"/>
                <a:gd name="T5" fmla="*/ 0 h 1980"/>
                <a:gd name="T6" fmla="*/ 0 w 573"/>
                <a:gd name="T7" fmla="*/ 0 h 1980"/>
                <a:gd name="T8" fmla="*/ 0 w 573"/>
                <a:gd name="T9" fmla="*/ 0 h 1980"/>
                <a:gd name="T10" fmla="*/ 0 w 573"/>
                <a:gd name="T11" fmla="*/ 0 h 1980"/>
                <a:gd name="T12" fmla="*/ 0 w 573"/>
                <a:gd name="T13" fmla="*/ 0 h 1980"/>
                <a:gd name="T14" fmla="*/ 0 w 573"/>
                <a:gd name="T15" fmla="*/ 0 h 1980"/>
                <a:gd name="T16" fmla="*/ 0 w 573"/>
                <a:gd name="T17" fmla="*/ 0 h 1980"/>
                <a:gd name="T18" fmla="*/ 0 w 573"/>
                <a:gd name="T19" fmla="*/ 0 h 1980"/>
                <a:gd name="T20" fmla="*/ 0 w 573"/>
                <a:gd name="T21" fmla="*/ 0 h 1980"/>
                <a:gd name="T22" fmla="*/ 0 w 573"/>
                <a:gd name="T23" fmla="*/ 0 h 1980"/>
                <a:gd name="T24" fmla="*/ 0 w 573"/>
                <a:gd name="T25" fmla="*/ 0 h 1980"/>
                <a:gd name="T26" fmla="*/ 0 w 573"/>
                <a:gd name="T27" fmla="*/ 0 h 1980"/>
                <a:gd name="T28" fmla="*/ 0 w 573"/>
                <a:gd name="T29" fmla="*/ 0 h 1980"/>
                <a:gd name="T30" fmla="*/ 0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3"/>
                <a:gd name="T49" fmla="*/ 0 h 1980"/>
                <a:gd name="T50" fmla="*/ 573 w 573"/>
                <a:gd name="T51" fmla="*/ 1980 h 19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355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 w 1045"/>
                <a:gd name="T7" fmla="*/ 0 h 441"/>
                <a:gd name="T8" fmla="*/ 1 w 1045"/>
                <a:gd name="T9" fmla="*/ 0 h 441"/>
                <a:gd name="T10" fmla="*/ 1 w 1045"/>
                <a:gd name="T11" fmla="*/ 0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5"/>
                <a:gd name="T22" fmla="*/ 0 h 441"/>
                <a:gd name="T23" fmla="*/ 1045 w 1045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356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 w 955"/>
                <a:gd name="T1" fmla="*/ 0 h 1719"/>
                <a:gd name="T2" fmla="*/ 0 w 955"/>
                <a:gd name="T3" fmla="*/ 0 h 1719"/>
                <a:gd name="T4" fmla="*/ 1 w 955"/>
                <a:gd name="T5" fmla="*/ 0 h 1719"/>
                <a:gd name="T6" fmla="*/ 1 w 955"/>
                <a:gd name="T7" fmla="*/ 0 h 1719"/>
                <a:gd name="T8" fmla="*/ 1 w 955"/>
                <a:gd name="T9" fmla="*/ 0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5"/>
                <a:gd name="T16" fmla="*/ 0 h 1719"/>
                <a:gd name="T17" fmla="*/ 955 w 955"/>
                <a:gd name="T18" fmla="*/ 1719 h 17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357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1 w 862"/>
                <a:gd name="T1" fmla="*/ 0 h 1587"/>
                <a:gd name="T2" fmla="*/ 0 w 862"/>
                <a:gd name="T3" fmla="*/ 0 h 1587"/>
                <a:gd name="T4" fmla="*/ 1 w 862"/>
                <a:gd name="T5" fmla="*/ 0 h 1587"/>
                <a:gd name="T6" fmla="*/ 1 w 862"/>
                <a:gd name="T7" fmla="*/ 0 h 1587"/>
                <a:gd name="T8" fmla="*/ 1 w 862"/>
                <a:gd name="T9" fmla="*/ 0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587"/>
                <a:gd name="T17" fmla="*/ 862 w 862"/>
                <a:gd name="T18" fmla="*/ 1587 h 15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358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0 w 408"/>
                <a:gd name="T1" fmla="*/ 0 h 1480"/>
                <a:gd name="T2" fmla="*/ 0 w 408"/>
                <a:gd name="T3" fmla="*/ 0 h 1480"/>
                <a:gd name="T4" fmla="*/ 0 w 408"/>
                <a:gd name="T5" fmla="*/ 0 h 1480"/>
                <a:gd name="T6" fmla="*/ 0 w 408"/>
                <a:gd name="T7" fmla="*/ 0 h 1480"/>
                <a:gd name="T8" fmla="*/ 0 w 408"/>
                <a:gd name="T9" fmla="*/ 0 h 1480"/>
                <a:gd name="T10" fmla="*/ 0 w 408"/>
                <a:gd name="T11" fmla="*/ 0 h 1480"/>
                <a:gd name="T12" fmla="*/ 0 w 408"/>
                <a:gd name="T13" fmla="*/ 0 h 1480"/>
                <a:gd name="T14" fmla="*/ 0 w 408"/>
                <a:gd name="T15" fmla="*/ 0 h 1480"/>
                <a:gd name="T16" fmla="*/ 0 w 408"/>
                <a:gd name="T17" fmla="*/ 0 h 1480"/>
                <a:gd name="T18" fmla="*/ 0 w 408"/>
                <a:gd name="T19" fmla="*/ 0 h 1480"/>
                <a:gd name="T20" fmla="*/ 0 w 408"/>
                <a:gd name="T21" fmla="*/ 0 h 1480"/>
                <a:gd name="T22" fmla="*/ 0 w 408"/>
                <a:gd name="T23" fmla="*/ 0 h 1480"/>
                <a:gd name="T24" fmla="*/ 0 w 408"/>
                <a:gd name="T25" fmla="*/ 0 h 1480"/>
                <a:gd name="T26" fmla="*/ 0 w 408"/>
                <a:gd name="T27" fmla="*/ 0 h 1480"/>
                <a:gd name="T28" fmla="*/ 0 w 408"/>
                <a:gd name="T29" fmla="*/ 0 h 1480"/>
                <a:gd name="T30" fmla="*/ 0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8"/>
                <a:gd name="T49" fmla="*/ 0 h 1480"/>
                <a:gd name="T50" fmla="*/ 408 w 408"/>
                <a:gd name="T51" fmla="*/ 1480 h 14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359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0 w 1065"/>
                <a:gd name="T1" fmla="*/ 0 h 963"/>
                <a:gd name="T2" fmla="*/ 0 w 1065"/>
                <a:gd name="T3" fmla="*/ 0 h 963"/>
                <a:gd name="T4" fmla="*/ 0 w 1065"/>
                <a:gd name="T5" fmla="*/ 0 h 963"/>
                <a:gd name="T6" fmla="*/ 0 w 1065"/>
                <a:gd name="T7" fmla="*/ 0 h 963"/>
                <a:gd name="T8" fmla="*/ 0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0 w 1065"/>
                <a:gd name="T17" fmla="*/ 0 h 963"/>
                <a:gd name="T18" fmla="*/ 0 w 1065"/>
                <a:gd name="T19" fmla="*/ 0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5"/>
                <a:gd name="T31" fmla="*/ 0 h 963"/>
                <a:gd name="T32" fmla="*/ 1065 w 1065"/>
                <a:gd name="T33" fmla="*/ 963 h 9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360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 w 1969"/>
                <a:gd name="T3" fmla="*/ 0 h 862"/>
                <a:gd name="T4" fmla="*/ 1 w 1969"/>
                <a:gd name="T5" fmla="*/ 0 h 862"/>
                <a:gd name="T6" fmla="*/ 1 w 1969"/>
                <a:gd name="T7" fmla="*/ 0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9"/>
                <a:gd name="T16" fmla="*/ 0 h 862"/>
                <a:gd name="T17" fmla="*/ 1969 w 1969"/>
                <a:gd name="T18" fmla="*/ 862 h 8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361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1 w 1777"/>
                <a:gd name="T5" fmla="*/ 0 h 297"/>
                <a:gd name="T6" fmla="*/ 1 w 1777"/>
                <a:gd name="T7" fmla="*/ 0 h 297"/>
                <a:gd name="T8" fmla="*/ 1 w 1777"/>
                <a:gd name="T9" fmla="*/ 0 h 297"/>
                <a:gd name="T10" fmla="*/ 1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7"/>
                <a:gd name="T22" fmla="*/ 0 h 297"/>
                <a:gd name="T23" fmla="*/ 1777 w 1777"/>
                <a:gd name="T24" fmla="*/ 297 h 2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362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0 w 513"/>
                <a:gd name="T5" fmla="*/ 0 h 1106"/>
                <a:gd name="T6" fmla="*/ 0 w 513"/>
                <a:gd name="T7" fmla="*/ 0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3"/>
                <a:gd name="T16" fmla="*/ 0 h 1106"/>
                <a:gd name="T17" fmla="*/ 513 w 513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363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1 w 262"/>
                <a:gd name="T5" fmla="*/ 0 h 25"/>
                <a:gd name="T6" fmla="*/ 1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25"/>
                <a:gd name="T17" fmla="*/ 262 w 26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364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1 w 561"/>
                <a:gd name="T1" fmla="*/ 0 h 836"/>
                <a:gd name="T2" fmla="*/ 0 w 561"/>
                <a:gd name="T3" fmla="*/ 0 h 836"/>
                <a:gd name="T4" fmla="*/ 1 w 561"/>
                <a:gd name="T5" fmla="*/ 0 h 836"/>
                <a:gd name="T6" fmla="*/ 1 w 561"/>
                <a:gd name="T7" fmla="*/ 0 h 8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1"/>
                <a:gd name="T13" fmla="*/ 0 h 836"/>
                <a:gd name="T14" fmla="*/ 561 w 561"/>
                <a:gd name="T15" fmla="*/ 836 h 8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" name="Group 3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36" name="Group 3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49" name="Freeform 367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7"/>
                    <a:gd name="T17" fmla="*/ 22 w 22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0" name="Freeform 368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1" name="Freeform 369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Group 3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46" name="Freeform 371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7" name="Freeform 372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1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8" name="Freeform 373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8" name="Freeform 374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375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376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0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30"/>
                  <a:gd name="T29" fmla="*/ 70 w 7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377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2" name="Group 3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43" name="Freeform 379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4" name="Freeform 380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0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5" name="Freeform 381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3" name="Group 3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40" name="Freeform 383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1" name="Freeform 384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2" name="Freeform 385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" name="Group 3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37" name="Freeform 387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8" name="Freeform 388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9" name="Freeform 389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" name="Group 3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34" name="Freeform 391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5" name="Freeform 392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1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6" name="Freeform 393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" name="Group 3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512" name="Group 3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29" name="Freeform 396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0" name="Freeform 397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" name="Freeform 398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1 w 82"/>
                      <a:gd name="T9" fmla="*/ 0 h 37"/>
                      <a:gd name="T10" fmla="*/ 1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7"/>
                      <a:gd name="T23" fmla="*/ 82 w 82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3" name="Group 3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26" name="Freeform 400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7" name="Freeform 401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8" name="Freeform 402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4" name="Group 4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23" name="Freeform 404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4" name="Freeform 405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0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5" name="Freeform 406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5" name="Group 4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20" name="Freeform 408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" name="Freeform 409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" name="Freeform 410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6" name="Group 4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17" name="Freeform 412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" name="Freeform 413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" name="Freeform 414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7" name="Group 4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92" name="Group 4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509" name="Freeform 417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0" name="Freeform 418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1" name="Freeform 419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3" name="Group 4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506" name="Freeform 421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7" name="Freeform 422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8" name="Freeform 423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0 w 83"/>
                      <a:gd name="T9" fmla="*/ 0 h 37"/>
                      <a:gd name="T10" fmla="*/ 0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7"/>
                      <a:gd name="T23" fmla="*/ 83 w 83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4" name="Group 4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503" name="Freeform 425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4" name="Freeform 426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5" name="Freeform 427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0 w 82"/>
                      <a:gd name="T9" fmla="*/ 0 h 35"/>
                      <a:gd name="T10" fmla="*/ 0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5"/>
                      <a:gd name="T23" fmla="*/ 82 w 82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5" name="Group 4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500" name="Freeform 429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1" name="Freeform 430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" name="Freeform 431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6" name="Group 4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97" name="Freeform 433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8" name="Freeform 434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9" name="Freeform 435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8" name="Group 4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89" name="Freeform 437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0" name="Freeform 438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0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" name="Freeform 439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9" name="Group 4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86" name="Freeform 441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7" name="Freeform 442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0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8" name="Freeform 443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0" name="Group 4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83" name="Freeform 445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4" name="Freeform 446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5" name="Freeform 447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1" name="Freeform 448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68"/>
                  <a:gd name="T17" fmla="*/ 23 w 23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449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1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1"/>
                  <a:gd name="T28" fmla="*/ 0 h 27"/>
                  <a:gd name="T29" fmla="*/ 71 w 71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Freeform 450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0 w 82"/>
                  <a:gd name="T9" fmla="*/ 0 h 36"/>
                  <a:gd name="T10" fmla="*/ 0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"/>
                  <a:gd name="T22" fmla="*/ 0 h 36"/>
                  <a:gd name="T23" fmla="*/ 82 w 82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4" name="Group 4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80" name="Freeform 452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" name="Freeform 453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2" name="Freeform 454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4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77" name="Freeform 456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8" name="Freeform 457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9" name="Freeform 458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" name="Group 4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74" name="Freeform 460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5" name="Freeform 461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6" name="Freeform 462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7" name="Group 4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71" name="Freeform 464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" name="Freeform 465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3" name="Freeform 466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8" name="Group 4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51" name="Group 4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68" name="Freeform 469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70"/>
                      <a:gd name="T17" fmla="*/ 23 w 23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470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0" name="Freeform 471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0 w 83"/>
                      <a:gd name="T9" fmla="*/ 0 h 38"/>
                      <a:gd name="T10" fmla="*/ 0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8"/>
                      <a:gd name="T23" fmla="*/ 83 w 83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2" name="Group 4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65" name="Freeform 473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474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0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7" name="Freeform 475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3" name="Group 4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62" name="Freeform 477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478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4" name="Freeform 479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4" name="Group 4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59" name="Freeform 481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482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1" name="Freeform 483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5" name="Group 4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56" name="Freeform 485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7"/>
                      <a:gd name="T17" fmla="*/ 24 w 24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7" name="Freeform 486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8" name="Freeform 487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9" name="Group 4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31" name="Group 4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48" name="Freeform 490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9" name="Freeform 491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0" name="Freeform 492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2" name="Group 4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45" name="Freeform 494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6" name="Freeform 495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1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30"/>
                      <a:gd name="T29" fmla="*/ 74 w 74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7" name="Freeform 496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3" name="Group 4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42" name="Freeform 498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3" name="Freeform 499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4" name="Freeform 500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4" name="Group 5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39" name="Freeform 502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0" name="Freeform 503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1" name="Freeform 504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5" name="Group 5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36" name="Freeform 506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7" name="Freeform 507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8" name="Freeform 508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60" name="Group 5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28" name="Freeform 510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9" name="Freeform 511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" name="Freeform 512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1" name="Group 5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25" name="Freeform 514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6" name="Freeform 515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7" name="Freeform 516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" name="Group 5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22" name="Freeform 518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3" name="Freeform 519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4" name="Freeform 520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3" name="Freeform 521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522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1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2"/>
                  <a:gd name="T28" fmla="*/ 0 h 31"/>
                  <a:gd name="T29" fmla="*/ 72 w 72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523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0 w 83"/>
                  <a:gd name="T9" fmla="*/ 0 h 36"/>
                  <a:gd name="T10" fmla="*/ 0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6" name="Group 5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19" name="Freeform 525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" name="Freeform 526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" name="Freeform 527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7" name="Group 5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16" name="Freeform 529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7" name="Freeform 530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8" name="Freeform 531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0 w 83"/>
                    <a:gd name="T9" fmla="*/ 0 h 35"/>
                    <a:gd name="T10" fmla="*/ 0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5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13" name="Freeform 533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4" name="Freeform 534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" name="Freeform 535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9" name="Group 5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410" name="Freeform 537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1" name="Freeform 538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" name="Freeform 539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0" name="Group 5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90" name="Group 5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407" name="Freeform 542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543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" name="Freeform 544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1" name="Group 5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404" name="Freeform 546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547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1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2"/>
                      <a:gd name="T29" fmla="*/ 73 w 73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6" name="Freeform 548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2" name="Group 5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401" name="Freeform 550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551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3" name="Freeform 552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3" name="Group 5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98" name="Freeform 554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555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0" name="Freeform 556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4" name="Group 5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95" name="Freeform 558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6" name="Freeform 559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7" name="Freeform 560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0 w 83"/>
                      <a:gd name="T9" fmla="*/ 0 h 35"/>
                      <a:gd name="T10" fmla="*/ 0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1" name="Group 5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70" name="Group 5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87" name="Freeform 563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8" name="Freeform 564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9" name="Freeform 565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1" name="Group 5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84" name="Freeform 567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5" name="Freeform 568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6" name="Freeform 569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1 w 81"/>
                      <a:gd name="T9" fmla="*/ 0 h 38"/>
                      <a:gd name="T10" fmla="*/ 1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8"/>
                      <a:gd name="T23" fmla="*/ 81 w 81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2" name="Group 5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81" name="Freeform 571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2" name="Freeform 572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3" name="Freeform 573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3" name="Group 5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78" name="Freeform 575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9" name="Freeform 576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0" name="Freeform 577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4" name="Group 5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75" name="Freeform 579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68"/>
                      <a:gd name="T17" fmla="*/ 23 w 23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580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7" name="Freeform 581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2" name="Group 5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67" name="Freeform 583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" name="Freeform 584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" name="Freeform 585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3" name="Group 5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64" name="Freeform 587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5" name="Freeform 588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1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1"/>
                    <a:gd name="T29" fmla="*/ 75 w 75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6" name="Freeform 589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" name="Group 5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61" name="Freeform 591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2" name="Freeform 592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3" name="Freeform 593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5" name="Group 5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58" name="Freeform 595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" name="Freeform 596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0" name="Freeform 597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6" name="Group 5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55" name="Freeform 599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6" name="Freeform 600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7" name="Freeform 601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" name="Group 6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35" name="Group 6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52" name="Freeform 604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605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4" name="Freeform 606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0 w 82"/>
                      <a:gd name="T9" fmla="*/ 0 h 38"/>
                      <a:gd name="T10" fmla="*/ 0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6" name="Group 6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49" name="Freeform 608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609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1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" name="Freeform 610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7" name="Group 6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46" name="Freeform 612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613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" name="Freeform 614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8" name="Group 6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43" name="Freeform 616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617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5" name="Freeform 618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9" name="Group 6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40" name="Freeform 620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1" name="Freeform 621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2" name="Freeform 622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1 w 81"/>
                      <a:gd name="T9" fmla="*/ 0 h 35"/>
                      <a:gd name="T10" fmla="*/ 1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5"/>
                      <a:gd name="T23" fmla="*/ 81 w 81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8" name="Group 6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15" name="Group 6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32" name="Freeform 625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" name="Freeform 626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" name="Freeform 627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6" name="Group 6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29" name="Freeform 629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" name="Freeform 630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" name="Freeform 631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7" name="Group 6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26" name="Freeform 633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" name="Freeform 634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" name="Freeform 635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8" name="Group 6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23" name="Freeform 637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" name="Freeform 638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" name="Freeform 639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9" name="Group 6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20" name="Freeform 641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642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Freeform 643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9" name="Group 6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312" name="Freeform 645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" name="Freeform 646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1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1"/>
                    <a:gd name="T29" fmla="*/ 72 w 7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" name="Freeform 647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Group 6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309" name="Freeform 649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69"/>
                    <a:gd name="T17" fmla="*/ 38 w 38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" name="Freeform 650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" name="Freeform 651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0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1"/>
                    <a:gd name="T17" fmla="*/ 65 w 65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1" name="Group 6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306" name="Freeform 653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" name="Freeform 654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" name="Freeform 655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2" name="Group 6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303" name="Freeform 657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" name="Freeform 658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3"/>
                    <a:gd name="T17" fmla="*/ 63 w 63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" name="Freeform 659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Group 6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300" name="Freeform 661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" name="Freeform 662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0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5"/>
                    <a:gd name="T17" fmla="*/ 65 w 65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" name="Freeform 663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" name="Group 6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84" name="Group 6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97" name="Freeform 666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" name="Freeform 667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0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2"/>
                      <a:gd name="T17" fmla="*/ 66 w 66"/>
                      <a:gd name="T18" fmla="*/ 32 h 3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9" name="Freeform 668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1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1"/>
                      <a:gd name="T17" fmla="*/ 65 w 65"/>
                      <a:gd name="T18" fmla="*/ 31 h 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5" name="Group 6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94" name="Freeform 670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9"/>
                      <a:gd name="T17" fmla="*/ 40 w 40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5" name="Freeform 671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1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5"/>
                      <a:gd name="T17" fmla="*/ 66 w 66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6" name="Freeform 672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6" name="Group 6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91" name="Freeform 674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2" name="Freeform 675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0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3" name="Freeform 676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0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7" name="Group 6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88" name="Freeform 678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68"/>
                      <a:gd name="T17" fmla="*/ 39 w 39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9" name="Freeform 679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3"/>
                      <a:gd name="T17" fmla="*/ 64 w 64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0" name="Freeform 680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5" name="Group 6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68" name="Group 6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81" name="Freeform 683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2" name="Freeform 684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1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3" name="Freeform 685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9" name="Group 6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78" name="Freeform 687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9" name="Freeform 688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"/>
                      <a:gd name="T16" fmla="*/ 0 h 33"/>
                      <a:gd name="T17" fmla="*/ 63 w 63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0" name="Freeform 689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0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0"/>
                      <a:gd name="T17" fmla="*/ 65 w 65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0" name="Group 6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75" name="Freeform 691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70"/>
                      <a:gd name="T17" fmla="*/ 39 w 39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6" name="Freeform 692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1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4"/>
                      <a:gd name="T17" fmla="*/ 64 w 64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" name="Freeform 693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1" name="Group 6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72" name="Freeform 695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"/>
                      <a:gd name="T16" fmla="*/ 0 h 70"/>
                      <a:gd name="T17" fmla="*/ 41 w 41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3" name="Freeform 696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0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4"/>
                      <a:gd name="T17" fmla="*/ 65 w 65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" name="Freeform 697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0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6" name="Group 6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65" name="Freeform 699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70"/>
                    <a:gd name="T17" fmla="*/ 39 w 39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" name="Freeform 700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5"/>
                    <a:gd name="T17" fmla="*/ 63 w 63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" name="Freeform 701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1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0"/>
                    <a:gd name="T17" fmla="*/ 64 w 64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7" name="Group 7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62" name="Freeform 703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" name="Freeform 704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" name="Freeform 705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1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0"/>
                    <a:gd name="T17" fmla="*/ 65 w 65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8" name="Group 7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59" name="Freeform 707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" name="Freeform 708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2"/>
                    <a:gd name="T17" fmla="*/ 63 w 63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" name="Freeform 709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9" name="Group 7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56" name="Freeform 711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" name="Freeform 712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" name="Freeform 713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0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0" name="Group 7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53" name="Freeform 715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9"/>
                    <a:gd name="T17" fmla="*/ 40 w 40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" name="Freeform 716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" name="Freeform 717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0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1" name="Group 7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50" name="Freeform 719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" name="Freeform 720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" name="Freeform 721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1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29"/>
                    <a:gd name="T17" fmla="*/ 66 w 66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2" name="Group 7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47" name="Freeform 723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" name="Freeform 724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3"/>
                    <a:gd name="T17" fmla="*/ 64 w 64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" name="Freeform 725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3" name="Freeform 726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Freeform 727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Freeform 728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1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36"/>
                  <a:gd name="T17" fmla="*/ 78 w 7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" name="Freeform 729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7" name="Freeform 730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Freeform 731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1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5"/>
                  <a:gd name="T17" fmla="*/ 79 w 79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Freeform 732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Freeform 733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1" name="Freeform 734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2" name="Freeform 735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Freeform 736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0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36"/>
                  <a:gd name="T17" fmla="*/ 81 w 81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4" name="Group 7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44" name="Freeform 738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" name="Freeform 739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1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" name="Freeform 740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Group 7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41" name="Freeform 742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7"/>
                    <a:gd name="T17" fmla="*/ 24 w 24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" name="Freeform 743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" name="Freeform 744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1 w 81"/>
                    <a:gd name="T9" fmla="*/ 0 h 35"/>
                    <a:gd name="T10" fmla="*/ 1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5"/>
                    <a:gd name="T23" fmla="*/ 81 w 81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6" name="Group 7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38" name="Freeform 746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" name="Freeform 747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" name="Freeform 748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7" name="Group 7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35" name="Freeform 750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" name="Freeform 751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" name="Freeform 752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8" name="Group 7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32" name="Freeform 754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1 w 182"/>
                    <a:gd name="T7" fmla="*/ 0 h 314"/>
                    <a:gd name="T8" fmla="*/ 1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314"/>
                    <a:gd name="T17" fmla="*/ 182 w 182"/>
                    <a:gd name="T18" fmla="*/ 314 h 3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" name="Freeform 755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1 w 235"/>
                    <a:gd name="T7" fmla="*/ 0 h 281"/>
                    <a:gd name="T8" fmla="*/ 1 w 235"/>
                    <a:gd name="T9" fmla="*/ 0 h 281"/>
                    <a:gd name="T10" fmla="*/ 1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5"/>
                    <a:gd name="T28" fmla="*/ 0 h 281"/>
                    <a:gd name="T29" fmla="*/ 235 w 235"/>
                    <a:gd name="T30" fmla="*/ 281 h 28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" name="Freeform 756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0 w 95"/>
                    <a:gd name="T9" fmla="*/ 0 h 36"/>
                    <a:gd name="T10" fmla="*/ 0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5"/>
                    <a:gd name="T22" fmla="*/ 0 h 36"/>
                    <a:gd name="T23" fmla="*/ 95 w 95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9" name="Group 7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29" name="Freeform 758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" name="Freeform 759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" name="Freeform 760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1 w 81"/>
                    <a:gd name="T9" fmla="*/ 0 h 34"/>
                    <a:gd name="T10" fmla="*/ 1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4"/>
                    <a:gd name="T23" fmla="*/ 81 w 81"/>
                    <a:gd name="T24" fmla="*/ 34 h 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0" name="Group 7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26" name="Freeform 762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" name="Freeform 763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" name="Freeform 764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Group 7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23" name="Freeform 766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9"/>
                    <a:gd name="T17" fmla="*/ 22 w 22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" name="Freeform 767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" name="Freeform 768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Group 7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20" name="Freeform 770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" name="Freeform 771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" name="Freeform 772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3" name="Group 7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17" name="Freeform 774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" name="Freeform 775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" name="Freeform 776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4" name="Freeform 777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128"/>
                  <a:gd name="T23" fmla="*/ 51 w 51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" name="Freeform 778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0 w 183"/>
                  <a:gd name="T3" fmla="*/ 0 h 85"/>
                  <a:gd name="T4" fmla="*/ 0 w 183"/>
                  <a:gd name="T5" fmla="*/ 0 h 85"/>
                  <a:gd name="T6" fmla="*/ 0 w 183"/>
                  <a:gd name="T7" fmla="*/ 0 h 85"/>
                  <a:gd name="T8" fmla="*/ 0 w 183"/>
                  <a:gd name="T9" fmla="*/ 0 h 85"/>
                  <a:gd name="T10" fmla="*/ 0 w 183"/>
                  <a:gd name="T11" fmla="*/ 0 h 85"/>
                  <a:gd name="T12" fmla="*/ 0 w 183"/>
                  <a:gd name="T13" fmla="*/ 0 h 85"/>
                  <a:gd name="T14" fmla="*/ 0 w 183"/>
                  <a:gd name="T15" fmla="*/ 0 h 85"/>
                  <a:gd name="T16" fmla="*/ 0 w 183"/>
                  <a:gd name="T17" fmla="*/ 0 h 85"/>
                  <a:gd name="T18" fmla="*/ 0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3"/>
                  <a:gd name="T37" fmla="*/ 0 h 85"/>
                  <a:gd name="T38" fmla="*/ 183 w 183"/>
                  <a:gd name="T39" fmla="*/ 85 h 8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Freeform 779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1 w 160"/>
                  <a:gd name="T9" fmla="*/ 0 h 36"/>
                  <a:gd name="T10" fmla="*/ 1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36"/>
                  <a:gd name="T23" fmla="*/ 160 w 160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1" name="Group 7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32" name="Freeform 781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 w 825"/>
                  <a:gd name="T15" fmla="*/ 0 h 151"/>
                  <a:gd name="T16" fmla="*/ 1 w 825"/>
                  <a:gd name="T17" fmla="*/ 0 h 151"/>
                  <a:gd name="T18" fmla="*/ 1 w 825"/>
                  <a:gd name="T19" fmla="*/ 0 h 151"/>
                  <a:gd name="T20" fmla="*/ 1 w 825"/>
                  <a:gd name="T21" fmla="*/ 0 h 151"/>
                  <a:gd name="T22" fmla="*/ 1 w 825"/>
                  <a:gd name="T23" fmla="*/ 0 h 151"/>
                  <a:gd name="T24" fmla="*/ 1 w 825"/>
                  <a:gd name="T25" fmla="*/ 0 h 151"/>
                  <a:gd name="T26" fmla="*/ 1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5"/>
                  <a:gd name="T46" fmla="*/ 0 h 151"/>
                  <a:gd name="T47" fmla="*/ 825 w 825"/>
                  <a:gd name="T48" fmla="*/ 151 h 1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782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1 w 658"/>
                  <a:gd name="T5" fmla="*/ 0 h 79"/>
                  <a:gd name="T6" fmla="*/ 1 w 658"/>
                  <a:gd name="T7" fmla="*/ 0 h 79"/>
                  <a:gd name="T8" fmla="*/ 1 w 658"/>
                  <a:gd name="T9" fmla="*/ 0 h 79"/>
                  <a:gd name="T10" fmla="*/ 1 w 658"/>
                  <a:gd name="T11" fmla="*/ 0 h 79"/>
                  <a:gd name="T12" fmla="*/ 1 w 658"/>
                  <a:gd name="T13" fmla="*/ 0 h 79"/>
                  <a:gd name="T14" fmla="*/ 1 w 658"/>
                  <a:gd name="T15" fmla="*/ 0 h 79"/>
                  <a:gd name="T16" fmla="*/ 1 w 658"/>
                  <a:gd name="T17" fmla="*/ 0 h 79"/>
                  <a:gd name="T18" fmla="*/ 1 w 658"/>
                  <a:gd name="T19" fmla="*/ 0 h 79"/>
                  <a:gd name="T20" fmla="*/ 1 w 658"/>
                  <a:gd name="T21" fmla="*/ 0 h 79"/>
                  <a:gd name="T22" fmla="*/ 1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58"/>
                  <a:gd name="T40" fmla="*/ 0 h 79"/>
                  <a:gd name="T41" fmla="*/ 658 w 658"/>
                  <a:gd name="T42" fmla="*/ 79 h 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Rectangle 7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" name="Rectangle 7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2" name="Group 7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13" name="Freeform 786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0 w 191"/>
                  <a:gd name="T1" fmla="*/ 0 h 200"/>
                  <a:gd name="T2" fmla="*/ 0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0 w 191"/>
                  <a:gd name="T17" fmla="*/ 0 h 200"/>
                  <a:gd name="T18" fmla="*/ 0 w 191"/>
                  <a:gd name="T19" fmla="*/ 0 h 200"/>
                  <a:gd name="T20" fmla="*/ 0 w 191"/>
                  <a:gd name="T21" fmla="*/ 0 h 200"/>
                  <a:gd name="T22" fmla="*/ 0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1"/>
                  <a:gd name="T37" fmla="*/ 0 h 200"/>
                  <a:gd name="T38" fmla="*/ 191 w 191"/>
                  <a:gd name="T39" fmla="*/ 200 h 2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Freeform 787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0 w 860"/>
                  <a:gd name="T3" fmla="*/ 0 h 791"/>
                  <a:gd name="T4" fmla="*/ 0 w 860"/>
                  <a:gd name="T5" fmla="*/ 0 h 791"/>
                  <a:gd name="T6" fmla="*/ 0 w 860"/>
                  <a:gd name="T7" fmla="*/ 0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0"/>
                  <a:gd name="T16" fmla="*/ 0 h 791"/>
                  <a:gd name="T17" fmla="*/ 860 w 860"/>
                  <a:gd name="T18" fmla="*/ 791 h 7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788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1 w 281"/>
                  <a:gd name="T7" fmla="*/ 0 h 366"/>
                  <a:gd name="T8" fmla="*/ 1 w 281"/>
                  <a:gd name="T9" fmla="*/ 0 h 366"/>
                  <a:gd name="T10" fmla="*/ 1 w 281"/>
                  <a:gd name="T11" fmla="*/ 0 h 366"/>
                  <a:gd name="T12" fmla="*/ 1 w 281"/>
                  <a:gd name="T13" fmla="*/ 0 h 366"/>
                  <a:gd name="T14" fmla="*/ 1 w 281"/>
                  <a:gd name="T15" fmla="*/ 0 h 366"/>
                  <a:gd name="T16" fmla="*/ 1 w 281"/>
                  <a:gd name="T17" fmla="*/ 0 h 366"/>
                  <a:gd name="T18" fmla="*/ 1 w 281"/>
                  <a:gd name="T19" fmla="*/ 0 h 366"/>
                  <a:gd name="T20" fmla="*/ 1 w 281"/>
                  <a:gd name="T21" fmla="*/ 0 h 366"/>
                  <a:gd name="T22" fmla="*/ 1 w 281"/>
                  <a:gd name="T23" fmla="*/ 0 h 366"/>
                  <a:gd name="T24" fmla="*/ 1 w 281"/>
                  <a:gd name="T25" fmla="*/ 0 h 366"/>
                  <a:gd name="T26" fmla="*/ 1 w 281"/>
                  <a:gd name="T27" fmla="*/ 0 h 366"/>
                  <a:gd name="T28" fmla="*/ 1 w 281"/>
                  <a:gd name="T29" fmla="*/ 0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1"/>
                  <a:gd name="T55" fmla="*/ 0 h 366"/>
                  <a:gd name="T56" fmla="*/ 281 w 281"/>
                  <a:gd name="T57" fmla="*/ 366 h 3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7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790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1 w 222"/>
                  <a:gd name="T7" fmla="*/ 0 h 289"/>
                  <a:gd name="T8" fmla="*/ 1 w 222"/>
                  <a:gd name="T9" fmla="*/ 0 h 289"/>
                  <a:gd name="T10" fmla="*/ 1 w 222"/>
                  <a:gd name="T11" fmla="*/ 0 h 289"/>
                  <a:gd name="T12" fmla="*/ 1 w 222"/>
                  <a:gd name="T13" fmla="*/ 0 h 289"/>
                  <a:gd name="T14" fmla="*/ 1 w 222"/>
                  <a:gd name="T15" fmla="*/ 0 h 289"/>
                  <a:gd name="T16" fmla="*/ 1 w 222"/>
                  <a:gd name="T17" fmla="*/ 0 h 289"/>
                  <a:gd name="T18" fmla="*/ 1 w 222"/>
                  <a:gd name="T19" fmla="*/ 0 h 289"/>
                  <a:gd name="T20" fmla="*/ 1 w 222"/>
                  <a:gd name="T21" fmla="*/ 0 h 289"/>
                  <a:gd name="T22" fmla="*/ 1 w 222"/>
                  <a:gd name="T23" fmla="*/ 0 h 289"/>
                  <a:gd name="T24" fmla="*/ 1 w 222"/>
                  <a:gd name="T25" fmla="*/ 0 h 289"/>
                  <a:gd name="T26" fmla="*/ 1 w 222"/>
                  <a:gd name="T27" fmla="*/ 0 h 289"/>
                  <a:gd name="T28" fmla="*/ 1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22"/>
                  <a:gd name="T55" fmla="*/ 0 h 289"/>
                  <a:gd name="T56" fmla="*/ 222 w 222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Freeform 791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Freeform 792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5"/>
                  <a:gd name="T23" fmla="*/ 126 w 126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Freeform 793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5"/>
                  <a:gd name="T23" fmla="*/ 127 w 127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794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795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796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6"/>
                  <a:gd name="T23" fmla="*/ 126 w 126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Freeform 797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798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0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799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0 w 96"/>
                  <a:gd name="T3" fmla="*/ 0 h 74"/>
                  <a:gd name="T4" fmla="*/ 0 w 96"/>
                  <a:gd name="T5" fmla="*/ 0 h 74"/>
                  <a:gd name="T6" fmla="*/ 0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74"/>
                  <a:gd name="T14" fmla="*/ 96 w 96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Oval 8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" name="Oval 8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" name="Freeform 802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1 w 188"/>
                  <a:gd name="T5" fmla="*/ 0 h 25"/>
                  <a:gd name="T6" fmla="*/ 1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"/>
                  <a:gd name="T16" fmla="*/ 0 h 25"/>
                  <a:gd name="T17" fmla="*/ 188 w 18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Oval 8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" name="Oval 8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pic>
        <p:nvPicPr>
          <p:cNvPr id="13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191" y="2973409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" name="Rectangle 4"/>
          <p:cNvSpPr>
            <a:spLocks noChangeArrowheads="1"/>
          </p:cNvSpPr>
          <p:nvPr/>
        </p:nvSpPr>
        <p:spPr bwMode="auto">
          <a:xfrm>
            <a:off x="8034866" y="37227"/>
            <a:ext cx="11065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安全关联</a:t>
            </a:r>
          </a:p>
        </p:txBody>
      </p:sp>
      <p:sp>
        <p:nvSpPr>
          <p:cNvPr id="553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" name="Rectangle 6"/>
          <p:cNvSpPr>
            <a:spLocks noChangeArrowheads="1"/>
          </p:cNvSpPr>
          <p:nvPr/>
        </p:nvSpPr>
        <p:spPr bwMode="auto">
          <a:xfrm>
            <a:off x="3059649" y="576951"/>
            <a:ext cx="31758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主机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之间的通信</a:t>
            </a:r>
          </a:p>
        </p:txBody>
      </p:sp>
    </p:spTree>
    <p:extLst>
      <p:ext uri="{BB962C8B-B14F-4D97-AF65-F5344CB8AC3E}">
        <p14:creationId xmlns:p14="http://schemas.microsoft.com/office/powerpoint/2010/main" val="120075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29325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363476" y="1137226"/>
            <a:ext cx="6442608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若公司总部的主机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要和某外地业务员的主机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进行安全通信，需要在公司总部的路由器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和外地业务员的主机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建立安全关联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SA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1080" name="Group 107"/>
          <p:cNvGrpSpPr>
            <a:grpSpLocks/>
          </p:cNvGrpSpPr>
          <p:nvPr/>
        </p:nvGrpSpPr>
        <p:grpSpPr bwMode="auto">
          <a:xfrm>
            <a:off x="3317042" y="2202839"/>
            <a:ext cx="3220329" cy="1969898"/>
            <a:chOff x="2248" y="820"/>
            <a:chExt cx="2248" cy="883"/>
          </a:xfrm>
        </p:grpSpPr>
        <p:grpSp>
          <p:nvGrpSpPr>
            <p:cNvPr id="1081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111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116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126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128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132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136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37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38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39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40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133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134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135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1129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130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131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1127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1117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120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1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2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3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4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5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1118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19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1112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13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14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15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082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96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07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8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9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10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1097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99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0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1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2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3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4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5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6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1098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083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84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5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6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7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8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9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0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1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2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3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4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5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1141" name="圆角矩形 1140"/>
          <p:cNvSpPr/>
          <p:nvPr/>
        </p:nvSpPr>
        <p:spPr bwMode="auto">
          <a:xfrm>
            <a:off x="853261" y="2249246"/>
            <a:ext cx="2376640" cy="189557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42" name="直接连接符 75"/>
          <p:cNvCxnSpPr>
            <a:cxnSpLocks noChangeShapeType="1"/>
          </p:cNvCxnSpPr>
          <p:nvPr/>
        </p:nvCxnSpPr>
        <p:spPr bwMode="auto">
          <a:xfrm>
            <a:off x="6391403" y="3434454"/>
            <a:ext cx="1275629" cy="15954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3" name="Line 205"/>
          <p:cNvSpPr>
            <a:spLocks noChangeShapeType="1"/>
          </p:cNvSpPr>
          <p:nvPr/>
        </p:nvSpPr>
        <p:spPr bwMode="auto">
          <a:xfrm>
            <a:off x="1687750" y="3109662"/>
            <a:ext cx="166714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Text Box 48"/>
          <p:cNvSpPr txBox="1">
            <a:spLocks noChangeArrowheads="1"/>
          </p:cNvSpPr>
          <p:nvPr/>
        </p:nvSpPr>
        <p:spPr bwMode="auto">
          <a:xfrm>
            <a:off x="1636937" y="1955216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公司总部</a:t>
            </a:r>
          </a:p>
        </p:txBody>
      </p:sp>
      <p:pic>
        <p:nvPicPr>
          <p:cNvPr id="1145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668" y="2967208"/>
            <a:ext cx="514663" cy="3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7" name="Text Box 207"/>
          <p:cNvSpPr txBox="1">
            <a:spLocks noChangeArrowheads="1"/>
          </p:cNvSpPr>
          <p:nvPr/>
        </p:nvSpPr>
        <p:spPr bwMode="auto">
          <a:xfrm>
            <a:off x="4524703" y="1935211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148" name="Text Box 201"/>
          <p:cNvSpPr txBox="1">
            <a:spLocks noChangeArrowheads="1"/>
          </p:cNvSpPr>
          <p:nvPr/>
        </p:nvSpPr>
        <p:spPr bwMode="auto">
          <a:xfrm rot="284964">
            <a:off x="4407507" y="3438996"/>
            <a:ext cx="13115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kumimoji="0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kumimoji="0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0" lang="en-US" altLang="zh-CN" sz="14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en-US" altLang="zh-CN" sz="14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9" name="Text Box 208"/>
          <p:cNvSpPr txBox="1">
            <a:spLocks noChangeArrowheads="1"/>
          </p:cNvSpPr>
          <p:nvPr/>
        </p:nvSpPr>
        <p:spPr bwMode="auto">
          <a:xfrm>
            <a:off x="2772219" y="2564542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150" name="TextBox 997"/>
          <p:cNvSpPr txBox="1">
            <a:spLocks noChangeArrowheads="1"/>
          </p:cNvSpPr>
          <p:nvPr/>
        </p:nvSpPr>
        <p:spPr bwMode="auto">
          <a:xfrm rot="331179">
            <a:off x="4461136" y="2723100"/>
            <a:ext cx="131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安全数据报</a:t>
            </a:r>
          </a:p>
        </p:txBody>
      </p:sp>
      <p:sp>
        <p:nvSpPr>
          <p:cNvPr id="1151" name="Text Box 213"/>
          <p:cNvSpPr txBox="1">
            <a:spLocks noChangeArrowheads="1"/>
          </p:cNvSpPr>
          <p:nvPr/>
        </p:nvSpPr>
        <p:spPr bwMode="auto">
          <a:xfrm>
            <a:off x="942331" y="2755698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605" name="Text Box 213"/>
          <p:cNvSpPr txBox="1">
            <a:spLocks noChangeArrowheads="1"/>
          </p:cNvSpPr>
          <p:nvPr/>
        </p:nvSpPr>
        <p:spPr bwMode="auto">
          <a:xfrm>
            <a:off x="7481981" y="3040397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607" name="AutoShape 212"/>
          <p:cNvSpPr>
            <a:spLocks noChangeArrowheads="1"/>
          </p:cNvSpPr>
          <p:nvPr/>
        </p:nvSpPr>
        <p:spPr bwMode="auto">
          <a:xfrm rot="496123">
            <a:off x="5960811" y="3249095"/>
            <a:ext cx="976722" cy="105922"/>
          </a:xfrm>
          <a:prstGeom prst="rightArrow">
            <a:avLst>
              <a:gd name="adj1" fmla="val 50000"/>
              <a:gd name="adj2" fmla="val 72412"/>
            </a:avLst>
          </a:prstGeom>
          <a:solidFill>
            <a:srgbClr val="CC0099"/>
          </a:solidFill>
          <a:ln w="9525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9" name="Text Box 207"/>
          <p:cNvSpPr txBox="1">
            <a:spLocks noChangeArrowheads="1"/>
          </p:cNvSpPr>
          <p:nvPr/>
        </p:nvSpPr>
        <p:spPr bwMode="auto">
          <a:xfrm>
            <a:off x="7282736" y="2759981"/>
            <a:ext cx="8002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业务员</a:t>
            </a:r>
          </a:p>
        </p:txBody>
      </p:sp>
      <p:grpSp>
        <p:nvGrpSpPr>
          <p:cNvPr id="1611" name="组合 1610"/>
          <p:cNvGrpSpPr/>
          <p:nvPr/>
        </p:nvGrpSpPr>
        <p:grpSpPr>
          <a:xfrm>
            <a:off x="1855015" y="2877938"/>
            <a:ext cx="667224" cy="172842"/>
            <a:chOff x="1914443" y="4003494"/>
            <a:chExt cx="805871" cy="198282"/>
          </a:xfrm>
        </p:grpSpPr>
        <p:grpSp>
          <p:nvGrpSpPr>
            <p:cNvPr id="1612" name="组合 990"/>
            <p:cNvGrpSpPr>
              <a:grpSpLocks/>
            </p:cNvGrpSpPr>
            <p:nvPr/>
          </p:nvGrpSpPr>
          <p:grpSpPr bwMode="auto">
            <a:xfrm>
              <a:off x="1914443" y="4003494"/>
              <a:ext cx="805871" cy="198282"/>
              <a:chOff x="1691680" y="1052736"/>
              <a:chExt cx="576064" cy="144016"/>
            </a:xfrm>
          </p:grpSpPr>
          <p:sp>
            <p:nvSpPr>
              <p:cNvPr id="1614" name="矩形 1613"/>
              <p:cNvSpPr/>
              <p:nvPr/>
            </p:nvSpPr>
            <p:spPr bwMode="auto">
              <a:xfrm>
                <a:off x="1691680" y="1052736"/>
                <a:ext cx="360239" cy="144016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615" name="直接箭头连接符 988"/>
              <p:cNvCxnSpPr>
                <a:cxnSpLocks noChangeShapeType="1"/>
                <a:stCxn id="1614" idx="3"/>
              </p:cNvCxnSpPr>
              <p:nvPr/>
            </p:nvCxnSpPr>
            <p:spPr bwMode="auto">
              <a:xfrm>
                <a:off x="2051720" y="1124744"/>
                <a:ext cx="216024" cy="0"/>
              </a:xfrm>
              <a:prstGeom prst="straightConnector1">
                <a:avLst/>
              </a:prstGeom>
              <a:noFill/>
              <a:ln w="38100" algn="ctr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13" name="矩形 507"/>
            <p:cNvSpPr>
              <a:spLocks noChangeArrowheads="1"/>
            </p:cNvSpPr>
            <p:nvPr/>
          </p:nvSpPr>
          <p:spPr bwMode="auto">
            <a:xfrm>
              <a:off x="2267428" y="4010030"/>
              <a:ext cx="148741" cy="187388"/>
            </a:xfrm>
            <a:prstGeom prst="rect">
              <a:avLst/>
            </a:prstGeom>
            <a:solidFill>
              <a:srgbClr val="00FFFF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18" name="组合 518"/>
          <p:cNvGrpSpPr>
            <a:grpSpLocks/>
          </p:cNvGrpSpPr>
          <p:nvPr/>
        </p:nvGrpSpPr>
        <p:grpSpPr bwMode="auto">
          <a:xfrm>
            <a:off x="1691639" y="2307246"/>
            <a:ext cx="1159946" cy="644771"/>
            <a:chOff x="1550530" y="598373"/>
            <a:chExt cx="1002848" cy="538002"/>
          </a:xfrm>
        </p:grpSpPr>
        <p:grpSp>
          <p:nvGrpSpPr>
            <p:cNvPr id="1619" name="组合 516"/>
            <p:cNvGrpSpPr>
              <a:grpSpLocks/>
            </p:cNvGrpSpPr>
            <p:nvPr/>
          </p:nvGrpSpPr>
          <p:grpSpPr bwMode="auto">
            <a:xfrm>
              <a:off x="1550530" y="598373"/>
              <a:ext cx="1002848" cy="294860"/>
              <a:chOff x="1619672" y="576470"/>
              <a:chExt cx="964502" cy="294860"/>
            </a:xfrm>
          </p:grpSpPr>
          <p:sp>
            <p:nvSpPr>
              <p:cNvPr id="1621" name="圆角矩形标注 515"/>
              <p:cNvSpPr>
                <a:spLocks noChangeArrowheads="1"/>
              </p:cNvSpPr>
              <p:nvPr/>
            </p:nvSpPr>
            <p:spPr bwMode="auto">
              <a:xfrm>
                <a:off x="1619672" y="576470"/>
                <a:ext cx="964502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2" name="Text Box 48"/>
              <p:cNvSpPr txBox="1">
                <a:spLocks noChangeArrowheads="1"/>
              </p:cNvSpPr>
              <p:nvPr/>
            </p:nvSpPr>
            <p:spPr bwMode="auto">
              <a:xfrm>
                <a:off x="1626950" y="610981"/>
                <a:ext cx="951961" cy="256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20" name="下箭头 517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363998" y="3020180"/>
            <a:ext cx="1582589" cy="336639"/>
            <a:chOff x="4363998" y="3065005"/>
            <a:chExt cx="1582589" cy="336639"/>
          </a:xfrm>
        </p:grpSpPr>
        <p:grpSp>
          <p:nvGrpSpPr>
            <p:cNvPr id="3" name="组合 2"/>
            <p:cNvGrpSpPr/>
            <p:nvPr/>
          </p:nvGrpSpPr>
          <p:grpSpPr>
            <a:xfrm>
              <a:off x="4363998" y="3065005"/>
              <a:ext cx="1582589" cy="336639"/>
              <a:chOff x="4363998" y="3065005"/>
              <a:chExt cx="1582589" cy="336639"/>
            </a:xfrm>
          </p:grpSpPr>
          <p:sp>
            <p:nvSpPr>
              <p:cNvPr id="1608" name="Rectangle 210"/>
              <p:cNvSpPr>
                <a:spLocks noChangeArrowheads="1"/>
              </p:cNvSpPr>
              <p:nvPr/>
            </p:nvSpPr>
            <p:spPr bwMode="auto">
              <a:xfrm rot="349158">
                <a:off x="4363998" y="3065005"/>
                <a:ext cx="1582589" cy="275409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0" name="矩形 1609"/>
              <p:cNvSpPr/>
              <p:nvPr/>
            </p:nvSpPr>
            <p:spPr bwMode="auto">
              <a:xfrm rot="355772">
                <a:off x="5691942" y="3141431"/>
                <a:ext cx="249979" cy="260213"/>
              </a:xfrm>
              <a:prstGeom prst="rect">
                <a:avLst/>
              </a:prstGeom>
              <a:solidFill>
                <a:srgbClr val="FFFF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23" name="组合 1622"/>
            <p:cNvGrpSpPr/>
            <p:nvPr/>
          </p:nvGrpSpPr>
          <p:grpSpPr>
            <a:xfrm rot="353826">
              <a:off x="4914706" y="3105795"/>
              <a:ext cx="417246" cy="172842"/>
              <a:chOff x="1914444" y="4003494"/>
              <a:chExt cx="503948" cy="198282"/>
            </a:xfrm>
          </p:grpSpPr>
          <p:sp>
            <p:nvSpPr>
              <p:cNvPr id="1624" name="矩形 1623"/>
              <p:cNvSpPr/>
              <p:nvPr/>
            </p:nvSpPr>
            <p:spPr bwMode="auto">
              <a:xfrm>
                <a:off x="1914444" y="4003494"/>
                <a:ext cx="503948" cy="198282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5" name="矩形 507"/>
              <p:cNvSpPr>
                <a:spLocks noChangeArrowheads="1"/>
              </p:cNvSpPr>
              <p:nvPr/>
            </p:nvSpPr>
            <p:spPr bwMode="auto">
              <a:xfrm>
                <a:off x="2267428" y="4010030"/>
                <a:ext cx="148741" cy="187388"/>
              </a:xfrm>
              <a:prstGeom prst="rect">
                <a:avLst/>
              </a:prstGeom>
              <a:solidFill>
                <a:srgbClr val="00FFFF"/>
              </a:solidFill>
              <a:ln w="635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1626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049" y="2807619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6" name="圆角矩形标注 514"/>
          <p:cNvSpPr>
            <a:spLocks noChangeArrowheads="1"/>
          </p:cNvSpPr>
          <p:nvPr/>
        </p:nvSpPr>
        <p:spPr bwMode="auto">
          <a:xfrm>
            <a:off x="6113853" y="2302429"/>
            <a:ext cx="1217001" cy="324793"/>
          </a:xfrm>
          <a:prstGeom prst="wedgeRoundRectCallout">
            <a:avLst>
              <a:gd name="adj1" fmla="val -77218"/>
              <a:gd name="adj2" fmla="val 217574"/>
              <a:gd name="adj3" fmla="val 16667"/>
            </a:avLst>
          </a:prstGeom>
          <a:solidFill>
            <a:srgbClr val="FFFF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7" name="Text Box 48"/>
          <p:cNvSpPr txBox="1">
            <a:spLocks noChangeArrowheads="1"/>
          </p:cNvSpPr>
          <p:nvPr/>
        </p:nvSpPr>
        <p:spPr bwMode="auto">
          <a:xfrm>
            <a:off x="6176515" y="2306615"/>
            <a:ext cx="11224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AutoShape 2"/>
          <p:cNvSpPr>
            <a:spLocks noChangeArrowheads="1"/>
          </p:cNvSpPr>
          <p:nvPr/>
        </p:nvSpPr>
        <p:spPr bwMode="auto">
          <a:xfrm rot="16560000">
            <a:off x="5209874" y="1619751"/>
            <a:ext cx="150781" cy="3616575"/>
          </a:xfrm>
          <a:prstGeom prst="can">
            <a:avLst>
              <a:gd name="adj" fmla="val 66727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6" name="Line 176"/>
          <p:cNvSpPr>
            <a:spLocks noChangeShapeType="1"/>
          </p:cNvSpPr>
          <p:nvPr/>
        </p:nvSpPr>
        <p:spPr bwMode="auto">
          <a:xfrm>
            <a:off x="3272178" y="3197033"/>
            <a:ext cx="4084220" cy="429258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圆角矩形标注 557"/>
          <p:cNvSpPr>
            <a:spLocks noChangeArrowheads="1"/>
          </p:cNvSpPr>
          <p:nvPr/>
        </p:nvSpPr>
        <p:spPr bwMode="auto">
          <a:xfrm>
            <a:off x="2274219" y="3611431"/>
            <a:ext cx="837180" cy="293509"/>
          </a:xfrm>
          <a:prstGeom prst="wedgeRoundRectCallout">
            <a:avLst>
              <a:gd name="adj1" fmla="val 29378"/>
              <a:gd name="adj2" fmla="val -17535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5" name="Text Box 48"/>
          <p:cNvSpPr txBox="1">
            <a:spLocks noChangeArrowheads="1"/>
          </p:cNvSpPr>
          <p:nvPr/>
        </p:nvSpPr>
        <p:spPr bwMode="auto">
          <a:xfrm>
            <a:off x="2134715" y="3609936"/>
            <a:ext cx="108426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圆角矩形标注 557"/>
          <p:cNvSpPr>
            <a:spLocks noChangeArrowheads="1"/>
          </p:cNvSpPr>
          <p:nvPr/>
        </p:nvSpPr>
        <p:spPr bwMode="auto">
          <a:xfrm>
            <a:off x="6996691" y="3970244"/>
            <a:ext cx="837180" cy="293509"/>
          </a:xfrm>
          <a:prstGeom prst="wedgeRoundRectCallout">
            <a:avLst>
              <a:gd name="adj1" fmla="val 33526"/>
              <a:gd name="adj2" fmla="val -128034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7" name="Text Box 48"/>
          <p:cNvSpPr txBox="1">
            <a:spLocks noChangeArrowheads="1"/>
          </p:cNvSpPr>
          <p:nvPr/>
        </p:nvSpPr>
        <p:spPr bwMode="auto">
          <a:xfrm>
            <a:off x="6857187" y="3968749"/>
            <a:ext cx="108426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8" name="Group 352"/>
          <p:cNvGrpSpPr>
            <a:grpSpLocks/>
          </p:cNvGrpSpPr>
          <p:nvPr/>
        </p:nvGrpSpPr>
        <p:grpSpPr bwMode="auto">
          <a:xfrm>
            <a:off x="7605499" y="3333274"/>
            <a:ext cx="524774" cy="433344"/>
            <a:chOff x="624" y="2968"/>
            <a:chExt cx="1331" cy="920"/>
          </a:xfrm>
        </p:grpSpPr>
        <p:sp>
          <p:nvSpPr>
            <p:cNvPr id="109" name="Freeform 353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 w 1426"/>
                <a:gd name="T1" fmla="*/ 0 h 2309"/>
                <a:gd name="T2" fmla="*/ 1 w 1426"/>
                <a:gd name="T3" fmla="*/ 0 h 2309"/>
                <a:gd name="T4" fmla="*/ 0 w 1426"/>
                <a:gd name="T5" fmla="*/ 0 h 2309"/>
                <a:gd name="T6" fmla="*/ 1 w 1426"/>
                <a:gd name="T7" fmla="*/ 0 h 2309"/>
                <a:gd name="T8" fmla="*/ 1 w 1426"/>
                <a:gd name="T9" fmla="*/ 0 h 2309"/>
                <a:gd name="T10" fmla="*/ 1 w 1426"/>
                <a:gd name="T11" fmla="*/ 0 h 2309"/>
                <a:gd name="T12" fmla="*/ 1 w 1426"/>
                <a:gd name="T13" fmla="*/ 0 h 2309"/>
                <a:gd name="T14" fmla="*/ 1 w 1426"/>
                <a:gd name="T15" fmla="*/ 0 h 2309"/>
                <a:gd name="T16" fmla="*/ 1 w 1426"/>
                <a:gd name="T17" fmla="*/ 0 h 2309"/>
                <a:gd name="T18" fmla="*/ 1 w 1426"/>
                <a:gd name="T19" fmla="*/ 0 h 2309"/>
                <a:gd name="T20" fmla="*/ 1 w 1426"/>
                <a:gd name="T21" fmla="*/ 0 h 2309"/>
                <a:gd name="T22" fmla="*/ 1 w 1426"/>
                <a:gd name="T23" fmla="*/ 0 h 2309"/>
                <a:gd name="T24" fmla="*/ 1 w 1426"/>
                <a:gd name="T25" fmla="*/ 0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26"/>
                <a:gd name="T40" fmla="*/ 0 h 2309"/>
                <a:gd name="T41" fmla="*/ 1426 w 1426"/>
                <a:gd name="T42" fmla="*/ 2309 h 23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354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0 w 573"/>
                <a:gd name="T1" fmla="*/ 0 h 1980"/>
                <a:gd name="T2" fmla="*/ 0 w 573"/>
                <a:gd name="T3" fmla="*/ 0 h 1980"/>
                <a:gd name="T4" fmla="*/ 0 w 573"/>
                <a:gd name="T5" fmla="*/ 0 h 1980"/>
                <a:gd name="T6" fmla="*/ 0 w 573"/>
                <a:gd name="T7" fmla="*/ 0 h 1980"/>
                <a:gd name="T8" fmla="*/ 0 w 573"/>
                <a:gd name="T9" fmla="*/ 0 h 1980"/>
                <a:gd name="T10" fmla="*/ 0 w 573"/>
                <a:gd name="T11" fmla="*/ 0 h 1980"/>
                <a:gd name="T12" fmla="*/ 0 w 573"/>
                <a:gd name="T13" fmla="*/ 0 h 1980"/>
                <a:gd name="T14" fmla="*/ 0 w 573"/>
                <a:gd name="T15" fmla="*/ 0 h 1980"/>
                <a:gd name="T16" fmla="*/ 0 w 573"/>
                <a:gd name="T17" fmla="*/ 0 h 1980"/>
                <a:gd name="T18" fmla="*/ 0 w 573"/>
                <a:gd name="T19" fmla="*/ 0 h 1980"/>
                <a:gd name="T20" fmla="*/ 0 w 573"/>
                <a:gd name="T21" fmla="*/ 0 h 1980"/>
                <a:gd name="T22" fmla="*/ 0 w 573"/>
                <a:gd name="T23" fmla="*/ 0 h 1980"/>
                <a:gd name="T24" fmla="*/ 0 w 573"/>
                <a:gd name="T25" fmla="*/ 0 h 1980"/>
                <a:gd name="T26" fmla="*/ 0 w 573"/>
                <a:gd name="T27" fmla="*/ 0 h 1980"/>
                <a:gd name="T28" fmla="*/ 0 w 573"/>
                <a:gd name="T29" fmla="*/ 0 h 1980"/>
                <a:gd name="T30" fmla="*/ 0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3"/>
                <a:gd name="T49" fmla="*/ 0 h 1980"/>
                <a:gd name="T50" fmla="*/ 573 w 573"/>
                <a:gd name="T51" fmla="*/ 1980 h 19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355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 w 1045"/>
                <a:gd name="T7" fmla="*/ 0 h 441"/>
                <a:gd name="T8" fmla="*/ 1 w 1045"/>
                <a:gd name="T9" fmla="*/ 0 h 441"/>
                <a:gd name="T10" fmla="*/ 1 w 1045"/>
                <a:gd name="T11" fmla="*/ 0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5"/>
                <a:gd name="T22" fmla="*/ 0 h 441"/>
                <a:gd name="T23" fmla="*/ 1045 w 1045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356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 w 955"/>
                <a:gd name="T1" fmla="*/ 0 h 1719"/>
                <a:gd name="T2" fmla="*/ 0 w 955"/>
                <a:gd name="T3" fmla="*/ 0 h 1719"/>
                <a:gd name="T4" fmla="*/ 1 w 955"/>
                <a:gd name="T5" fmla="*/ 0 h 1719"/>
                <a:gd name="T6" fmla="*/ 1 w 955"/>
                <a:gd name="T7" fmla="*/ 0 h 1719"/>
                <a:gd name="T8" fmla="*/ 1 w 955"/>
                <a:gd name="T9" fmla="*/ 0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5"/>
                <a:gd name="T16" fmla="*/ 0 h 1719"/>
                <a:gd name="T17" fmla="*/ 955 w 955"/>
                <a:gd name="T18" fmla="*/ 1719 h 17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357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1 w 862"/>
                <a:gd name="T1" fmla="*/ 0 h 1587"/>
                <a:gd name="T2" fmla="*/ 0 w 862"/>
                <a:gd name="T3" fmla="*/ 0 h 1587"/>
                <a:gd name="T4" fmla="*/ 1 w 862"/>
                <a:gd name="T5" fmla="*/ 0 h 1587"/>
                <a:gd name="T6" fmla="*/ 1 w 862"/>
                <a:gd name="T7" fmla="*/ 0 h 1587"/>
                <a:gd name="T8" fmla="*/ 1 w 862"/>
                <a:gd name="T9" fmla="*/ 0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587"/>
                <a:gd name="T17" fmla="*/ 862 w 862"/>
                <a:gd name="T18" fmla="*/ 1587 h 15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358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0 w 408"/>
                <a:gd name="T1" fmla="*/ 0 h 1480"/>
                <a:gd name="T2" fmla="*/ 0 w 408"/>
                <a:gd name="T3" fmla="*/ 0 h 1480"/>
                <a:gd name="T4" fmla="*/ 0 w 408"/>
                <a:gd name="T5" fmla="*/ 0 h 1480"/>
                <a:gd name="T6" fmla="*/ 0 w 408"/>
                <a:gd name="T7" fmla="*/ 0 h 1480"/>
                <a:gd name="T8" fmla="*/ 0 w 408"/>
                <a:gd name="T9" fmla="*/ 0 h 1480"/>
                <a:gd name="T10" fmla="*/ 0 w 408"/>
                <a:gd name="T11" fmla="*/ 0 h 1480"/>
                <a:gd name="T12" fmla="*/ 0 w 408"/>
                <a:gd name="T13" fmla="*/ 0 h 1480"/>
                <a:gd name="T14" fmla="*/ 0 w 408"/>
                <a:gd name="T15" fmla="*/ 0 h 1480"/>
                <a:gd name="T16" fmla="*/ 0 w 408"/>
                <a:gd name="T17" fmla="*/ 0 h 1480"/>
                <a:gd name="T18" fmla="*/ 0 w 408"/>
                <a:gd name="T19" fmla="*/ 0 h 1480"/>
                <a:gd name="T20" fmla="*/ 0 w 408"/>
                <a:gd name="T21" fmla="*/ 0 h 1480"/>
                <a:gd name="T22" fmla="*/ 0 w 408"/>
                <a:gd name="T23" fmla="*/ 0 h 1480"/>
                <a:gd name="T24" fmla="*/ 0 w 408"/>
                <a:gd name="T25" fmla="*/ 0 h 1480"/>
                <a:gd name="T26" fmla="*/ 0 w 408"/>
                <a:gd name="T27" fmla="*/ 0 h 1480"/>
                <a:gd name="T28" fmla="*/ 0 w 408"/>
                <a:gd name="T29" fmla="*/ 0 h 1480"/>
                <a:gd name="T30" fmla="*/ 0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8"/>
                <a:gd name="T49" fmla="*/ 0 h 1480"/>
                <a:gd name="T50" fmla="*/ 408 w 408"/>
                <a:gd name="T51" fmla="*/ 1480 h 14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359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0 w 1065"/>
                <a:gd name="T1" fmla="*/ 0 h 963"/>
                <a:gd name="T2" fmla="*/ 0 w 1065"/>
                <a:gd name="T3" fmla="*/ 0 h 963"/>
                <a:gd name="T4" fmla="*/ 0 w 1065"/>
                <a:gd name="T5" fmla="*/ 0 h 963"/>
                <a:gd name="T6" fmla="*/ 0 w 1065"/>
                <a:gd name="T7" fmla="*/ 0 h 963"/>
                <a:gd name="T8" fmla="*/ 0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0 w 1065"/>
                <a:gd name="T17" fmla="*/ 0 h 963"/>
                <a:gd name="T18" fmla="*/ 0 w 1065"/>
                <a:gd name="T19" fmla="*/ 0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5"/>
                <a:gd name="T31" fmla="*/ 0 h 963"/>
                <a:gd name="T32" fmla="*/ 1065 w 1065"/>
                <a:gd name="T33" fmla="*/ 963 h 9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Freeform 360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 w 1969"/>
                <a:gd name="T3" fmla="*/ 0 h 862"/>
                <a:gd name="T4" fmla="*/ 1 w 1969"/>
                <a:gd name="T5" fmla="*/ 0 h 862"/>
                <a:gd name="T6" fmla="*/ 1 w 1969"/>
                <a:gd name="T7" fmla="*/ 0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9"/>
                <a:gd name="T16" fmla="*/ 0 h 862"/>
                <a:gd name="T17" fmla="*/ 1969 w 1969"/>
                <a:gd name="T18" fmla="*/ 862 h 8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Freeform 361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1 w 1777"/>
                <a:gd name="T5" fmla="*/ 0 h 297"/>
                <a:gd name="T6" fmla="*/ 1 w 1777"/>
                <a:gd name="T7" fmla="*/ 0 h 297"/>
                <a:gd name="T8" fmla="*/ 1 w 1777"/>
                <a:gd name="T9" fmla="*/ 0 h 297"/>
                <a:gd name="T10" fmla="*/ 1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7"/>
                <a:gd name="T22" fmla="*/ 0 h 297"/>
                <a:gd name="T23" fmla="*/ 1777 w 1777"/>
                <a:gd name="T24" fmla="*/ 297 h 2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Freeform 362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0 w 513"/>
                <a:gd name="T5" fmla="*/ 0 h 1106"/>
                <a:gd name="T6" fmla="*/ 0 w 513"/>
                <a:gd name="T7" fmla="*/ 0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3"/>
                <a:gd name="T16" fmla="*/ 0 h 1106"/>
                <a:gd name="T17" fmla="*/ 513 w 513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Freeform 363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1 w 262"/>
                <a:gd name="T5" fmla="*/ 0 h 25"/>
                <a:gd name="T6" fmla="*/ 1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25"/>
                <a:gd name="T17" fmla="*/ 262 w 26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Freeform 364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1 w 561"/>
                <a:gd name="T1" fmla="*/ 0 h 836"/>
                <a:gd name="T2" fmla="*/ 0 w 561"/>
                <a:gd name="T3" fmla="*/ 0 h 836"/>
                <a:gd name="T4" fmla="*/ 1 w 561"/>
                <a:gd name="T5" fmla="*/ 0 h 836"/>
                <a:gd name="T6" fmla="*/ 1 w 561"/>
                <a:gd name="T7" fmla="*/ 0 h 8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1"/>
                <a:gd name="T13" fmla="*/ 0 h 836"/>
                <a:gd name="T14" fmla="*/ 561 w 561"/>
                <a:gd name="T15" fmla="*/ 836 h 8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1" name="Group 3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47" name="Group 3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59" name="Freeform 367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7"/>
                    <a:gd name="T17" fmla="*/ 22 w 22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0" name="Freeform 368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1" name="Freeform 369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8" name="Group 3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56" name="Freeform 371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7" name="Freeform 372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1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8" name="Freeform 373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9" name="Freeform 374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Freeform 375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Freeform 376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0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30"/>
                  <a:gd name="T29" fmla="*/ 70 w 7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377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3" name="Group 3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52" name="Freeform 379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4" name="Freeform 380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0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5" name="Freeform 381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4" name="Group 3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49" name="Freeform 383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0" name="Freeform 384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1" name="Freeform 385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3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46" name="Freeform 387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7" name="Freeform 388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8" name="Freeform 389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" name="Group 3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43" name="Freeform 391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4" name="Freeform 392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1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5" name="Freeform 393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7" name="Group 3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523" name="Group 3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40" name="Freeform 396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1" name="Freeform 397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" name="Freeform 398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1 w 82"/>
                      <a:gd name="T9" fmla="*/ 0 h 37"/>
                      <a:gd name="T10" fmla="*/ 1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7"/>
                      <a:gd name="T23" fmla="*/ 82 w 82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24" name="Group 3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37" name="Freeform 400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8" name="Freeform 401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9" name="Freeform 402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25" name="Group 4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34" name="Freeform 404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5" name="Freeform 405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0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6" name="Freeform 406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26" name="Group 4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31" name="Freeform 408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2" name="Freeform 409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" name="Freeform 410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27" name="Group 4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28" name="Freeform 412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9" name="Freeform 413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0" name="Freeform 414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8" name="Group 4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503" name="Group 4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520" name="Freeform 417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" name="Freeform 418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" name="Freeform 419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04" name="Group 4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517" name="Freeform 421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" name="Freeform 422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" name="Freeform 423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0 w 83"/>
                      <a:gd name="T9" fmla="*/ 0 h 37"/>
                      <a:gd name="T10" fmla="*/ 0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7"/>
                      <a:gd name="T23" fmla="*/ 83 w 83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05" name="Group 4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514" name="Freeform 425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" name="Freeform 426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" name="Freeform 427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0 w 82"/>
                      <a:gd name="T9" fmla="*/ 0 h 35"/>
                      <a:gd name="T10" fmla="*/ 0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5"/>
                      <a:gd name="T23" fmla="*/ 82 w 82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06" name="Group 4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511" name="Freeform 429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" name="Freeform 430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3" name="Freeform 431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07" name="Group 4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508" name="Freeform 433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9" name="Freeform 434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0" name="Freeform 435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9" name="Group 4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500" name="Freeform 437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1" name="Freeform 438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0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" name="Freeform 439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0" name="Group 4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97" name="Freeform 441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8" name="Freeform 442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0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9" name="Freeform 443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1" name="Group 4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94" name="Freeform 445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5" name="Freeform 446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6" name="Freeform 447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2" name="Freeform 448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68"/>
                  <a:gd name="T17" fmla="*/ 23 w 23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449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1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1"/>
                  <a:gd name="T28" fmla="*/ 0 h 27"/>
                  <a:gd name="T29" fmla="*/ 71 w 71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450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0 w 82"/>
                  <a:gd name="T9" fmla="*/ 0 h 36"/>
                  <a:gd name="T10" fmla="*/ 0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"/>
                  <a:gd name="T22" fmla="*/ 0 h 36"/>
                  <a:gd name="T23" fmla="*/ 82 w 82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5" name="Group 4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91" name="Freeform 452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2" name="Freeform 453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3" name="Freeform 454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6" name="Group 4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88" name="Freeform 456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9" name="Freeform 457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0" name="Freeform 458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7" name="Group 4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85" name="Freeform 460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6" name="Freeform 461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7" name="Freeform 462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4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82" name="Freeform 464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3" name="Freeform 465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4" name="Freeform 466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9" name="Group 4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62" name="Group 4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79" name="Freeform 469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70"/>
                      <a:gd name="T17" fmla="*/ 23 w 23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0" name="Freeform 470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1" name="Freeform 471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0 w 83"/>
                      <a:gd name="T9" fmla="*/ 0 h 38"/>
                      <a:gd name="T10" fmla="*/ 0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8"/>
                      <a:gd name="T23" fmla="*/ 83 w 83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63" name="Group 4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76" name="Freeform 473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7" name="Freeform 474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0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8" name="Freeform 475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64" name="Group 4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73" name="Freeform 477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4" name="Freeform 478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5" name="Freeform 479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65" name="Group 4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70" name="Freeform 481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1" name="Freeform 482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2" name="Freeform 483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66" name="Group 4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67" name="Freeform 485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7"/>
                      <a:gd name="T17" fmla="*/ 24 w 24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8" name="Freeform 486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487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0" name="Group 4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42" name="Group 4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59" name="Freeform 490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491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1" name="Freeform 492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43" name="Group 4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56" name="Freeform 494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7" name="Freeform 495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1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30"/>
                      <a:gd name="T29" fmla="*/ 74 w 74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8" name="Freeform 496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44" name="Group 4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53" name="Freeform 498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4" name="Freeform 499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5" name="Freeform 500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45" name="Group 5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50" name="Freeform 502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1" name="Freeform 503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2" name="Freeform 504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46" name="Group 5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47" name="Freeform 506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8" name="Freeform 507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9" name="Freeform 508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1" name="Group 5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39" name="Freeform 510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0" name="Freeform 511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1" name="Freeform 512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2" name="Group 5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36" name="Freeform 514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7" name="Freeform 515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8" name="Freeform 516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3" name="Group 5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33" name="Freeform 518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4" name="Freeform 519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5" name="Freeform 520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" name="Freeform 521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Freeform 522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1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2"/>
                  <a:gd name="T28" fmla="*/ 0 h 31"/>
                  <a:gd name="T29" fmla="*/ 72 w 72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Freeform 523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0 w 83"/>
                  <a:gd name="T9" fmla="*/ 0 h 36"/>
                  <a:gd name="T10" fmla="*/ 0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7" name="Group 5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30" name="Freeform 525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" name="Freeform 526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2" name="Freeform 527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8" name="Group 5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27" name="Freeform 529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8" name="Freeform 530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9" name="Freeform 531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0 w 83"/>
                    <a:gd name="T9" fmla="*/ 0 h 35"/>
                    <a:gd name="T10" fmla="*/ 0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9" name="Group 5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24" name="Freeform 533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5" name="Freeform 534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6" name="Freeform 535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Group 5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421" name="Freeform 537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2" name="Freeform 538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3" name="Freeform 539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1" name="Group 5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401" name="Group 5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418" name="Freeform 542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" name="Freeform 543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0" name="Freeform 544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02" name="Group 5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415" name="Freeform 546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6" name="Freeform 547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1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2"/>
                      <a:gd name="T29" fmla="*/ 73 w 73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7" name="Freeform 548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03" name="Group 5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412" name="Freeform 550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3" name="Freeform 551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4" name="Freeform 552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04" name="Group 5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409" name="Freeform 554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" name="Freeform 555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1" name="Freeform 556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05" name="Group 5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406" name="Freeform 558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7" name="Freeform 559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560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0 w 83"/>
                      <a:gd name="T9" fmla="*/ 0 h 35"/>
                      <a:gd name="T10" fmla="*/ 0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2" name="Group 5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81" name="Group 5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98" name="Freeform 563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564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0" name="Freeform 565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82" name="Group 5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95" name="Freeform 567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6" name="Freeform 568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7" name="Freeform 569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1 w 81"/>
                      <a:gd name="T9" fmla="*/ 0 h 38"/>
                      <a:gd name="T10" fmla="*/ 1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8"/>
                      <a:gd name="T23" fmla="*/ 81 w 81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83" name="Group 5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92" name="Freeform 571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3" name="Freeform 572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4" name="Freeform 573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84" name="Group 5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89" name="Freeform 575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0" name="Freeform 576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1" name="Freeform 577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85" name="Group 5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86" name="Freeform 579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68"/>
                      <a:gd name="T17" fmla="*/ 23 w 23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7" name="Freeform 580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8" name="Freeform 581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3" name="Group 5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78" name="Freeform 583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" name="Freeform 584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" name="Freeform 585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" name="Group 5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75" name="Freeform 587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6" name="Freeform 588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1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1"/>
                    <a:gd name="T29" fmla="*/ 75 w 75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7" name="Freeform 589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5" name="Group 5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72" name="Freeform 591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3" name="Freeform 592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4" name="Freeform 593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6" name="Group 5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69" name="Freeform 595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0" name="Freeform 596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1" name="Freeform 597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7" name="Group 5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66" name="Freeform 599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7" name="Freeform 600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" name="Freeform 601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8" name="Group 6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46" name="Group 6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63" name="Freeform 604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4" name="Freeform 605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5" name="Freeform 606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0 w 82"/>
                      <a:gd name="T9" fmla="*/ 0 h 38"/>
                      <a:gd name="T10" fmla="*/ 0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7" name="Group 6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60" name="Freeform 608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1" name="Freeform 609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1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2" name="Freeform 610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8" name="Group 6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57" name="Freeform 612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8" name="Freeform 613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" name="Freeform 614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9" name="Group 6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54" name="Freeform 616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5" name="Freeform 617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" name="Freeform 618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0" name="Group 6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51" name="Freeform 620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Freeform 621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622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1 w 81"/>
                      <a:gd name="T9" fmla="*/ 0 h 35"/>
                      <a:gd name="T10" fmla="*/ 1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5"/>
                      <a:gd name="T23" fmla="*/ 81 w 81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9" name="Group 6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26" name="Group 6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43" name="Freeform 625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626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5" name="Freeform 627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27" name="Group 6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40" name="Freeform 629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1" name="Freeform 630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2" name="Freeform 631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28" name="Group 6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37" name="Freeform 633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" name="Freeform 634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9" name="Freeform 635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29" name="Group 6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34" name="Freeform 637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5" name="Freeform 638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6" name="Freeform 639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0" name="Group 6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31" name="Freeform 641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2" name="Freeform 642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" name="Freeform 643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0" name="Group 6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323" name="Freeform 645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" name="Freeform 646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1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1"/>
                    <a:gd name="T29" fmla="*/ 72 w 7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5" name="Freeform 647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1" name="Group 6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320" name="Freeform 649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69"/>
                    <a:gd name="T17" fmla="*/ 38 w 38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1" name="Freeform 650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2" name="Freeform 651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0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1"/>
                    <a:gd name="T17" fmla="*/ 65 w 65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2" name="Group 6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317" name="Freeform 653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" name="Freeform 654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" name="Freeform 655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3" name="Group 6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314" name="Freeform 657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" name="Freeform 658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3"/>
                    <a:gd name="T17" fmla="*/ 63 w 63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" name="Freeform 659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4" name="Group 6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311" name="Freeform 661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" name="Freeform 662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0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5"/>
                    <a:gd name="T17" fmla="*/ 65 w 65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" name="Freeform 663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5" name="Group 6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95" name="Group 6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308" name="Freeform 666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9" name="Freeform 667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0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2"/>
                      <a:gd name="T17" fmla="*/ 66 w 66"/>
                      <a:gd name="T18" fmla="*/ 32 h 3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" name="Freeform 668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1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1"/>
                      <a:gd name="T17" fmla="*/ 65 w 65"/>
                      <a:gd name="T18" fmla="*/ 31 h 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6" name="Group 6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305" name="Freeform 670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9"/>
                      <a:gd name="T17" fmla="*/ 40 w 40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6" name="Freeform 671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1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5"/>
                      <a:gd name="T17" fmla="*/ 66 w 66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" name="Freeform 672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7" name="Group 6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302" name="Freeform 674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3" name="Freeform 675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0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4" name="Freeform 676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0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8" name="Group 6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99" name="Freeform 678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68"/>
                      <a:gd name="T17" fmla="*/ 39 w 39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0" name="Freeform 679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3"/>
                      <a:gd name="T17" fmla="*/ 64 w 64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1" name="Freeform 680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6" name="Group 6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79" name="Group 6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92" name="Freeform 683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3" name="Freeform 684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1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4" name="Freeform 685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0" name="Group 6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89" name="Freeform 687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0" name="Freeform 688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"/>
                      <a:gd name="T16" fmla="*/ 0 h 33"/>
                      <a:gd name="T17" fmla="*/ 63 w 63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1" name="Freeform 689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0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0"/>
                      <a:gd name="T17" fmla="*/ 65 w 65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1" name="Group 6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86" name="Freeform 691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70"/>
                      <a:gd name="T17" fmla="*/ 39 w 39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7" name="Freeform 692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1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4"/>
                      <a:gd name="T17" fmla="*/ 64 w 64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" name="Freeform 693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2" name="Group 6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83" name="Freeform 695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"/>
                      <a:gd name="T16" fmla="*/ 0 h 70"/>
                      <a:gd name="T17" fmla="*/ 41 w 41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4" name="Freeform 696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0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4"/>
                      <a:gd name="T17" fmla="*/ 65 w 65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5" name="Freeform 697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0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7" name="Group 6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76" name="Freeform 699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70"/>
                    <a:gd name="T17" fmla="*/ 39 w 39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" name="Freeform 700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5"/>
                    <a:gd name="T17" fmla="*/ 63 w 63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" name="Freeform 701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1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0"/>
                    <a:gd name="T17" fmla="*/ 64 w 64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8" name="Group 7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73" name="Freeform 703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" name="Freeform 704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" name="Freeform 705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1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0"/>
                    <a:gd name="T17" fmla="*/ 65 w 65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9" name="Group 7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70" name="Freeform 707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" name="Freeform 708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2"/>
                    <a:gd name="T17" fmla="*/ 63 w 63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" name="Freeform 709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0" name="Group 7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67" name="Freeform 711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" name="Freeform 712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" name="Freeform 713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0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1" name="Group 7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64" name="Freeform 715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9"/>
                    <a:gd name="T17" fmla="*/ 40 w 40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" name="Freeform 716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" name="Freeform 717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0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2" name="Group 7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61" name="Freeform 719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" name="Freeform 720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" name="Freeform 721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1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29"/>
                    <a:gd name="T17" fmla="*/ 66 w 66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3" name="Group 7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58" name="Freeform 723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" name="Freeform 724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3"/>
                    <a:gd name="T17" fmla="*/ 64 w 64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" name="Freeform 725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04" name="Freeform 726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Freeform 727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" name="Freeform 728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1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36"/>
                  <a:gd name="T17" fmla="*/ 78 w 7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Freeform 729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" name="Freeform 730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" name="Freeform 731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1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5"/>
                  <a:gd name="T17" fmla="*/ 79 w 79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" name="Freeform 732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" name="Freeform 733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" name="Freeform 734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" name="Freeform 735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4" name="Freeform 736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0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36"/>
                  <a:gd name="T17" fmla="*/ 81 w 81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15" name="Group 7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55" name="Freeform 738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" name="Freeform 739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1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" name="Freeform 740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6" name="Group 7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52" name="Freeform 742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7"/>
                    <a:gd name="T17" fmla="*/ 24 w 24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" name="Freeform 743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" name="Freeform 744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1 w 81"/>
                    <a:gd name="T9" fmla="*/ 0 h 35"/>
                    <a:gd name="T10" fmla="*/ 1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5"/>
                    <a:gd name="T23" fmla="*/ 81 w 81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7" name="Group 7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49" name="Freeform 746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" name="Freeform 747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" name="Freeform 748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8" name="Group 7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46" name="Freeform 750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" name="Freeform 751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" name="Freeform 752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9" name="Group 7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43" name="Freeform 754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1 w 182"/>
                    <a:gd name="T7" fmla="*/ 0 h 314"/>
                    <a:gd name="T8" fmla="*/ 1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314"/>
                    <a:gd name="T17" fmla="*/ 182 w 182"/>
                    <a:gd name="T18" fmla="*/ 314 h 3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" name="Freeform 755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1 w 235"/>
                    <a:gd name="T7" fmla="*/ 0 h 281"/>
                    <a:gd name="T8" fmla="*/ 1 w 235"/>
                    <a:gd name="T9" fmla="*/ 0 h 281"/>
                    <a:gd name="T10" fmla="*/ 1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5"/>
                    <a:gd name="T28" fmla="*/ 0 h 281"/>
                    <a:gd name="T29" fmla="*/ 235 w 235"/>
                    <a:gd name="T30" fmla="*/ 281 h 28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" name="Freeform 756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0 w 95"/>
                    <a:gd name="T9" fmla="*/ 0 h 36"/>
                    <a:gd name="T10" fmla="*/ 0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5"/>
                    <a:gd name="T22" fmla="*/ 0 h 36"/>
                    <a:gd name="T23" fmla="*/ 95 w 95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0" name="Group 7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40" name="Freeform 758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" name="Freeform 759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" name="Freeform 760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1 w 81"/>
                    <a:gd name="T9" fmla="*/ 0 h 34"/>
                    <a:gd name="T10" fmla="*/ 1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4"/>
                    <a:gd name="T23" fmla="*/ 81 w 81"/>
                    <a:gd name="T24" fmla="*/ 34 h 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1" name="Group 7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37" name="Freeform 762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" name="Freeform 763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" name="Freeform 764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2" name="Group 7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34" name="Freeform 766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9"/>
                    <a:gd name="T17" fmla="*/ 22 w 22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" name="Freeform 767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" name="Freeform 768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3" name="Group 7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31" name="Freeform 770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" name="Freeform 771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" name="Freeform 772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4" name="Group 7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28" name="Freeform 774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" name="Freeform 775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" name="Freeform 776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5" name="Freeform 777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128"/>
                  <a:gd name="T23" fmla="*/ 51 w 51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" name="Freeform 778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0 w 183"/>
                  <a:gd name="T3" fmla="*/ 0 h 85"/>
                  <a:gd name="T4" fmla="*/ 0 w 183"/>
                  <a:gd name="T5" fmla="*/ 0 h 85"/>
                  <a:gd name="T6" fmla="*/ 0 w 183"/>
                  <a:gd name="T7" fmla="*/ 0 h 85"/>
                  <a:gd name="T8" fmla="*/ 0 w 183"/>
                  <a:gd name="T9" fmla="*/ 0 h 85"/>
                  <a:gd name="T10" fmla="*/ 0 w 183"/>
                  <a:gd name="T11" fmla="*/ 0 h 85"/>
                  <a:gd name="T12" fmla="*/ 0 w 183"/>
                  <a:gd name="T13" fmla="*/ 0 h 85"/>
                  <a:gd name="T14" fmla="*/ 0 w 183"/>
                  <a:gd name="T15" fmla="*/ 0 h 85"/>
                  <a:gd name="T16" fmla="*/ 0 w 183"/>
                  <a:gd name="T17" fmla="*/ 0 h 85"/>
                  <a:gd name="T18" fmla="*/ 0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3"/>
                  <a:gd name="T37" fmla="*/ 0 h 85"/>
                  <a:gd name="T38" fmla="*/ 183 w 183"/>
                  <a:gd name="T39" fmla="*/ 85 h 8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" name="Freeform 779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1 w 160"/>
                  <a:gd name="T9" fmla="*/ 0 h 36"/>
                  <a:gd name="T10" fmla="*/ 1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36"/>
                  <a:gd name="T23" fmla="*/ 160 w 160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2" name="Group 7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43" name="Freeform 781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 w 825"/>
                  <a:gd name="T15" fmla="*/ 0 h 151"/>
                  <a:gd name="T16" fmla="*/ 1 w 825"/>
                  <a:gd name="T17" fmla="*/ 0 h 151"/>
                  <a:gd name="T18" fmla="*/ 1 w 825"/>
                  <a:gd name="T19" fmla="*/ 0 h 151"/>
                  <a:gd name="T20" fmla="*/ 1 w 825"/>
                  <a:gd name="T21" fmla="*/ 0 h 151"/>
                  <a:gd name="T22" fmla="*/ 1 w 825"/>
                  <a:gd name="T23" fmla="*/ 0 h 151"/>
                  <a:gd name="T24" fmla="*/ 1 w 825"/>
                  <a:gd name="T25" fmla="*/ 0 h 151"/>
                  <a:gd name="T26" fmla="*/ 1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5"/>
                  <a:gd name="T46" fmla="*/ 0 h 151"/>
                  <a:gd name="T47" fmla="*/ 825 w 825"/>
                  <a:gd name="T48" fmla="*/ 151 h 1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782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1 w 658"/>
                  <a:gd name="T5" fmla="*/ 0 h 79"/>
                  <a:gd name="T6" fmla="*/ 1 w 658"/>
                  <a:gd name="T7" fmla="*/ 0 h 79"/>
                  <a:gd name="T8" fmla="*/ 1 w 658"/>
                  <a:gd name="T9" fmla="*/ 0 h 79"/>
                  <a:gd name="T10" fmla="*/ 1 w 658"/>
                  <a:gd name="T11" fmla="*/ 0 h 79"/>
                  <a:gd name="T12" fmla="*/ 1 w 658"/>
                  <a:gd name="T13" fmla="*/ 0 h 79"/>
                  <a:gd name="T14" fmla="*/ 1 w 658"/>
                  <a:gd name="T15" fmla="*/ 0 h 79"/>
                  <a:gd name="T16" fmla="*/ 1 w 658"/>
                  <a:gd name="T17" fmla="*/ 0 h 79"/>
                  <a:gd name="T18" fmla="*/ 1 w 658"/>
                  <a:gd name="T19" fmla="*/ 0 h 79"/>
                  <a:gd name="T20" fmla="*/ 1 w 658"/>
                  <a:gd name="T21" fmla="*/ 0 h 79"/>
                  <a:gd name="T22" fmla="*/ 1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58"/>
                  <a:gd name="T40" fmla="*/ 0 h 79"/>
                  <a:gd name="T41" fmla="*/ 658 w 658"/>
                  <a:gd name="T42" fmla="*/ 79 h 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Rectangle 7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" name="Rectangle 7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23" name="Group 7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24" name="Freeform 786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0 w 191"/>
                  <a:gd name="T1" fmla="*/ 0 h 200"/>
                  <a:gd name="T2" fmla="*/ 0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0 w 191"/>
                  <a:gd name="T17" fmla="*/ 0 h 200"/>
                  <a:gd name="T18" fmla="*/ 0 w 191"/>
                  <a:gd name="T19" fmla="*/ 0 h 200"/>
                  <a:gd name="T20" fmla="*/ 0 w 191"/>
                  <a:gd name="T21" fmla="*/ 0 h 200"/>
                  <a:gd name="T22" fmla="*/ 0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1"/>
                  <a:gd name="T37" fmla="*/ 0 h 200"/>
                  <a:gd name="T38" fmla="*/ 191 w 191"/>
                  <a:gd name="T39" fmla="*/ 200 h 2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787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0 w 860"/>
                  <a:gd name="T3" fmla="*/ 0 h 791"/>
                  <a:gd name="T4" fmla="*/ 0 w 860"/>
                  <a:gd name="T5" fmla="*/ 0 h 791"/>
                  <a:gd name="T6" fmla="*/ 0 w 860"/>
                  <a:gd name="T7" fmla="*/ 0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0"/>
                  <a:gd name="T16" fmla="*/ 0 h 791"/>
                  <a:gd name="T17" fmla="*/ 860 w 860"/>
                  <a:gd name="T18" fmla="*/ 791 h 7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788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1 w 281"/>
                  <a:gd name="T7" fmla="*/ 0 h 366"/>
                  <a:gd name="T8" fmla="*/ 1 w 281"/>
                  <a:gd name="T9" fmla="*/ 0 h 366"/>
                  <a:gd name="T10" fmla="*/ 1 w 281"/>
                  <a:gd name="T11" fmla="*/ 0 h 366"/>
                  <a:gd name="T12" fmla="*/ 1 w 281"/>
                  <a:gd name="T13" fmla="*/ 0 h 366"/>
                  <a:gd name="T14" fmla="*/ 1 w 281"/>
                  <a:gd name="T15" fmla="*/ 0 h 366"/>
                  <a:gd name="T16" fmla="*/ 1 w 281"/>
                  <a:gd name="T17" fmla="*/ 0 h 366"/>
                  <a:gd name="T18" fmla="*/ 1 w 281"/>
                  <a:gd name="T19" fmla="*/ 0 h 366"/>
                  <a:gd name="T20" fmla="*/ 1 w 281"/>
                  <a:gd name="T21" fmla="*/ 0 h 366"/>
                  <a:gd name="T22" fmla="*/ 1 w 281"/>
                  <a:gd name="T23" fmla="*/ 0 h 366"/>
                  <a:gd name="T24" fmla="*/ 1 w 281"/>
                  <a:gd name="T25" fmla="*/ 0 h 366"/>
                  <a:gd name="T26" fmla="*/ 1 w 281"/>
                  <a:gd name="T27" fmla="*/ 0 h 366"/>
                  <a:gd name="T28" fmla="*/ 1 w 281"/>
                  <a:gd name="T29" fmla="*/ 0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1"/>
                  <a:gd name="T55" fmla="*/ 0 h 366"/>
                  <a:gd name="T56" fmla="*/ 281 w 281"/>
                  <a:gd name="T57" fmla="*/ 366 h 3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7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Freeform 790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1 w 222"/>
                  <a:gd name="T7" fmla="*/ 0 h 289"/>
                  <a:gd name="T8" fmla="*/ 1 w 222"/>
                  <a:gd name="T9" fmla="*/ 0 h 289"/>
                  <a:gd name="T10" fmla="*/ 1 w 222"/>
                  <a:gd name="T11" fmla="*/ 0 h 289"/>
                  <a:gd name="T12" fmla="*/ 1 w 222"/>
                  <a:gd name="T13" fmla="*/ 0 h 289"/>
                  <a:gd name="T14" fmla="*/ 1 w 222"/>
                  <a:gd name="T15" fmla="*/ 0 h 289"/>
                  <a:gd name="T16" fmla="*/ 1 w 222"/>
                  <a:gd name="T17" fmla="*/ 0 h 289"/>
                  <a:gd name="T18" fmla="*/ 1 w 222"/>
                  <a:gd name="T19" fmla="*/ 0 h 289"/>
                  <a:gd name="T20" fmla="*/ 1 w 222"/>
                  <a:gd name="T21" fmla="*/ 0 h 289"/>
                  <a:gd name="T22" fmla="*/ 1 w 222"/>
                  <a:gd name="T23" fmla="*/ 0 h 289"/>
                  <a:gd name="T24" fmla="*/ 1 w 222"/>
                  <a:gd name="T25" fmla="*/ 0 h 289"/>
                  <a:gd name="T26" fmla="*/ 1 w 222"/>
                  <a:gd name="T27" fmla="*/ 0 h 289"/>
                  <a:gd name="T28" fmla="*/ 1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22"/>
                  <a:gd name="T55" fmla="*/ 0 h 289"/>
                  <a:gd name="T56" fmla="*/ 222 w 222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791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Freeform 792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5"/>
                  <a:gd name="T23" fmla="*/ 126 w 126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793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5"/>
                  <a:gd name="T23" fmla="*/ 127 w 127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Freeform 794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795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Freeform 796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6"/>
                  <a:gd name="T23" fmla="*/ 126 w 126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Freeform 797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798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0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799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0 w 96"/>
                  <a:gd name="T3" fmla="*/ 0 h 74"/>
                  <a:gd name="T4" fmla="*/ 0 w 96"/>
                  <a:gd name="T5" fmla="*/ 0 h 74"/>
                  <a:gd name="T6" fmla="*/ 0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74"/>
                  <a:gd name="T14" fmla="*/ 96 w 96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Oval 8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" name="Oval 8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" name="Freeform 802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1 w 188"/>
                  <a:gd name="T5" fmla="*/ 0 h 25"/>
                  <a:gd name="T6" fmla="*/ 1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"/>
                  <a:gd name="T16" fmla="*/ 0 h 25"/>
                  <a:gd name="T17" fmla="*/ 188 w 18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Oval 8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" name="Oval 8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562" name="Rectangle 4"/>
          <p:cNvSpPr>
            <a:spLocks noChangeArrowheads="1"/>
          </p:cNvSpPr>
          <p:nvPr/>
        </p:nvSpPr>
        <p:spPr bwMode="auto">
          <a:xfrm>
            <a:off x="8034866" y="37227"/>
            <a:ext cx="11065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安全关联</a:t>
            </a:r>
          </a:p>
        </p:txBody>
      </p:sp>
      <p:sp>
        <p:nvSpPr>
          <p:cNvPr id="563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4" name="Rectangle 6"/>
          <p:cNvSpPr>
            <a:spLocks noChangeArrowheads="1"/>
          </p:cNvSpPr>
          <p:nvPr/>
        </p:nvSpPr>
        <p:spPr bwMode="auto">
          <a:xfrm>
            <a:off x="2483931" y="583213"/>
            <a:ext cx="43380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路由器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到主机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的安全关联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SA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533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ctangle 46"/>
          <p:cNvSpPr>
            <a:spLocks noChangeArrowheads="1"/>
          </p:cNvSpPr>
          <p:nvPr/>
        </p:nvSpPr>
        <p:spPr bwMode="auto">
          <a:xfrm>
            <a:off x="509473" y="904103"/>
            <a:ext cx="832972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个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32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位的连接标识符，称为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安全参数索引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SPI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Parameter Index)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安全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源点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终点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地址（例如路由器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所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使用的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加密算法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例如，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DES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AES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加密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完整性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检查的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类型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（例如，使用报文摘要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MD5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SHA-1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的报文鉴别码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034866" y="37227"/>
            <a:ext cx="11065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安全关联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859851" y="583213"/>
            <a:ext cx="35060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安全关联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包括的状态信息</a:t>
            </a:r>
          </a:p>
        </p:txBody>
      </p:sp>
    </p:spTree>
    <p:extLst>
      <p:ext uri="{BB962C8B-B14F-4D97-AF65-F5344CB8AC3E}">
        <p14:creationId xmlns:p14="http://schemas.microsoft.com/office/powerpoint/2010/main" val="148824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8095" y="1043348"/>
            <a:ext cx="8129015" cy="321868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117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3297397" y="588084"/>
            <a:ext cx="25683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数据报的格式</a:t>
            </a:r>
          </a:p>
        </p:txBody>
      </p:sp>
      <p:sp>
        <p:nvSpPr>
          <p:cNvPr id="6" name="矩形 5"/>
          <p:cNvSpPr/>
          <p:nvPr/>
        </p:nvSpPr>
        <p:spPr>
          <a:xfrm>
            <a:off x="598538" y="2427978"/>
            <a:ext cx="16648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隧道方式下的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安全数据报的格式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2281780" y="1506864"/>
            <a:ext cx="659948" cy="406373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941705" y="1505875"/>
            <a:ext cx="4876220" cy="406373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48"/>
          <p:cNvSpPr txBox="1">
            <a:spLocks noChangeArrowheads="1"/>
          </p:cNvSpPr>
          <p:nvPr/>
        </p:nvSpPr>
        <p:spPr bwMode="auto">
          <a:xfrm>
            <a:off x="2180152" y="1913235"/>
            <a:ext cx="83067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50</a:t>
            </a:r>
          </a:p>
        </p:txBody>
      </p:sp>
      <p:sp>
        <p:nvSpPr>
          <p:cNvPr id="10" name="Line 67"/>
          <p:cNvSpPr>
            <a:spLocks noChangeShapeType="1"/>
          </p:cNvSpPr>
          <p:nvPr/>
        </p:nvSpPr>
        <p:spPr bwMode="auto">
          <a:xfrm flipV="1">
            <a:off x="2281780" y="1354193"/>
            <a:ext cx="5536984" cy="1122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68"/>
          <p:cNvSpPr txBox="1">
            <a:spLocks noChangeArrowheads="1"/>
          </p:cNvSpPr>
          <p:nvPr/>
        </p:nvSpPr>
        <p:spPr bwMode="auto">
          <a:xfrm>
            <a:off x="4305240" y="1180814"/>
            <a:ext cx="1314784" cy="312778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IP </a:t>
            </a:r>
            <a:r>
              <a:rPr lang="zh-CN" altLang="en-US" dirty="0"/>
              <a:t>安全数据报</a:t>
            </a:r>
          </a:p>
        </p:txBody>
      </p:sp>
      <p:sp>
        <p:nvSpPr>
          <p:cNvPr id="12" name="Line 66"/>
          <p:cNvSpPr>
            <a:spLocks noChangeShapeType="1"/>
          </p:cNvSpPr>
          <p:nvPr/>
        </p:nvSpPr>
        <p:spPr bwMode="auto">
          <a:xfrm flipH="1">
            <a:off x="2281780" y="1252038"/>
            <a:ext cx="0" cy="193083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68"/>
          <p:cNvSpPr txBox="1">
            <a:spLocks noChangeArrowheads="1"/>
          </p:cNvSpPr>
          <p:nvPr/>
        </p:nvSpPr>
        <p:spPr bwMode="auto">
          <a:xfrm>
            <a:off x="3702582" y="1555003"/>
            <a:ext cx="3316935" cy="281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   全   数   据   报   的   有   效   载   荷</a:t>
            </a:r>
          </a:p>
        </p:txBody>
      </p:sp>
      <p:sp>
        <p:nvSpPr>
          <p:cNvPr id="17" name="Line 66"/>
          <p:cNvSpPr>
            <a:spLocks noChangeShapeType="1"/>
          </p:cNvSpPr>
          <p:nvPr/>
        </p:nvSpPr>
        <p:spPr bwMode="auto">
          <a:xfrm flipH="1">
            <a:off x="7818764" y="1262142"/>
            <a:ext cx="0" cy="1930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右箭头 17"/>
          <p:cNvSpPr/>
          <p:nvPr/>
        </p:nvSpPr>
        <p:spPr bwMode="auto">
          <a:xfrm flipH="1">
            <a:off x="1844664" y="1659535"/>
            <a:ext cx="431177" cy="101032"/>
          </a:xfrm>
          <a:prstGeom prst="rightArrow">
            <a:avLst>
              <a:gd name="adj1" fmla="val 50000"/>
              <a:gd name="adj2" fmla="val 124075"/>
            </a:avLst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48"/>
          <p:cNvSpPr txBox="1">
            <a:spLocks noChangeArrowheads="1"/>
          </p:cNvSpPr>
          <p:nvPr/>
        </p:nvSpPr>
        <p:spPr bwMode="auto">
          <a:xfrm>
            <a:off x="1730157" y="1188201"/>
            <a:ext cx="5605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在前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/>
        </p:nvSpPr>
        <p:spPr bwMode="auto">
          <a:xfrm>
            <a:off x="5265538" y="3073982"/>
            <a:ext cx="2476593" cy="309831"/>
          </a:xfrm>
          <a:custGeom>
            <a:avLst/>
            <a:gdLst>
              <a:gd name="connsiteX0" fmla="*/ 1090720 w 2808808"/>
              <a:gd name="connsiteY0" fmla="*/ 0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951814 w 2808808"/>
              <a:gd name="connsiteY3" fmla="*/ 0 h 426447"/>
              <a:gd name="connsiteX4" fmla="*/ 1090720 w 2808808"/>
              <a:gd name="connsiteY4" fmla="*/ 0 h 426447"/>
              <a:gd name="connsiteX0" fmla="*/ 887374 w 2808808"/>
              <a:gd name="connsiteY0" fmla="*/ 12339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951814 w 2808808"/>
              <a:gd name="connsiteY3" fmla="*/ 0 h 426447"/>
              <a:gd name="connsiteX4" fmla="*/ 887374 w 2808808"/>
              <a:gd name="connsiteY4" fmla="*/ 12339 h 426447"/>
              <a:gd name="connsiteX0" fmla="*/ 887374 w 2808808"/>
              <a:gd name="connsiteY0" fmla="*/ 12339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585794 w 2808808"/>
              <a:gd name="connsiteY3" fmla="*/ 0 h 426447"/>
              <a:gd name="connsiteX4" fmla="*/ 887374 w 2808808"/>
              <a:gd name="connsiteY4" fmla="*/ 12339 h 42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8808" h="426447">
                <a:moveTo>
                  <a:pt x="887374" y="12339"/>
                </a:moveTo>
                <a:lnTo>
                  <a:pt x="0" y="418246"/>
                </a:lnTo>
                <a:lnTo>
                  <a:pt x="2808808" y="426447"/>
                </a:lnTo>
                <a:lnTo>
                  <a:pt x="1585794" y="0"/>
                </a:lnTo>
                <a:lnTo>
                  <a:pt x="887374" y="12339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FF00FF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 bwMode="auto">
          <a:xfrm>
            <a:off x="2743195" y="3071737"/>
            <a:ext cx="1977814" cy="312076"/>
          </a:xfrm>
          <a:custGeom>
            <a:avLst/>
            <a:gdLst>
              <a:gd name="connsiteX0" fmla="*/ 274320 w 2804160"/>
              <a:gd name="connsiteY0" fmla="*/ 0 h 441960"/>
              <a:gd name="connsiteX1" fmla="*/ 0 w 2804160"/>
              <a:gd name="connsiteY1" fmla="*/ 441960 h 441960"/>
              <a:gd name="connsiteX2" fmla="*/ 2804160 w 2804160"/>
              <a:gd name="connsiteY2" fmla="*/ 434340 h 441960"/>
              <a:gd name="connsiteX3" fmla="*/ 1440180 w 2804160"/>
              <a:gd name="connsiteY3" fmla="*/ 7620 h 441960"/>
              <a:gd name="connsiteX4" fmla="*/ 274320 w 2804160"/>
              <a:gd name="connsiteY4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4160" h="441960">
                <a:moveTo>
                  <a:pt x="274320" y="0"/>
                </a:moveTo>
                <a:lnTo>
                  <a:pt x="0" y="441960"/>
                </a:lnTo>
                <a:lnTo>
                  <a:pt x="2804160" y="434340"/>
                </a:lnTo>
                <a:lnTo>
                  <a:pt x="1440180" y="7620"/>
                </a:lnTo>
                <a:lnTo>
                  <a:pt x="274320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00FF00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57"/>
          <p:cNvSpPr>
            <a:spLocks noChangeArrowheads="1"/>
          </p:cNvSpPr>
          <p:nvPr/>
        </p:nvSpPr>
        <p:spPr bwMode="auto">
          <a:xfrm>
            <a:off x="2738715" y="3374833"/>
            <a:ext cx="1981174" cy="586696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59"/>
          <p:cNvSpPr txBox="1">
            <a:spLocks noChangeArrowheads="1"/>
          </p:cNvSpPr>
          <p:nvPr/>
        </p:nvSpPr>
        <p:spPr bwMode="auto">
          <a:xfrm>
            <a:off x="3094856" y="3397310"/>
            <a:ext cx="13997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安全参数索引 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69"/>
          <p:cNvSpPr>
            <a:spLocks noChangeShapeType="1"/>
          </p:cNvSpPr>
          <p:nvPr/>
        </p:nvSpPr>
        <p:spPr bwMode="auto">
          <a:xfrm flipH="1">
            <a:off x="7818764" y="1913237"/>
            <a:ext cx="1119" cy="814991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200" b="1">
              <a:ln>
                <a:solidFill>
                  <a:schemeClr val="tx1"/>
                </a:solidFill>
                <a:prstDash val="dash"/>
              </a:ln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2"/>
          <p:cNvCxnSpPr>
            <a:cxnSpLocks noChangeShapeType="1"/>
            <a:stCxn id="29" idx="1"/>
            <a:endCxn id="29" idx="3"/>
          </p:cNvCxnSpPr>
          <p:nvPr/>
        </p:nvCxnSpPr>
        <p:spPr bwMode="auto">
          <a:xfrm>
            <a:off x="2738715" y="3668181"/>
            <a:ext cx="1981174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 Box 63"/>
          <p:cNvSpPr txBox="1">
            <a:spLocks noChangeArrowheads="1"/>
          </p:cNvSpPr>
          <p:nvPr/>
        </p:nvSpPr>
        <p:spPr bwMode="auto">
          <a:xfrm>
            <a:off x="3411799" y="3685003"/>
            <a:ext cx="5854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</a:p>
        </p:txBody>
      </p:sp>
      <p:sp>
        <p:nvSpPr>
          <p:cNvPr id="36" name="Text Box 63"/>
          <p:cNvSpPr txBox="1">
            <a:spLocks noChangeArrowheads="1"/>
          </p:cNvSpPr>
          <p:nvPr/>
        </p:nvSpPr>
        <p:spPr bwMode="auto">
          <a:xfrm>
            <a:off x="3378305" y="3927309"/>
            <a:ext cx="6671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32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44" name="Text Box 63"/>
          <p:cNvSpPr txBox="1">
            <a:spLocks noChangeArrowheads="1"/>
          </p:cNvSpPr>
          <p:nvPr/>
        </p:nvSpPr>
        <p:spPr bwMode="auto">
          <a:xfrm>
            <a:off x="5787469" y="3318353"/>
            <a:ext cx="6671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32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3755621" y="2399804"/>
            <a:ext cx="2285797" cy="277908"/>
            <a:chOff x="3755621" y="2399804"/>
            <a:chExt cx="2285797" cy="277908"/>
          </a:xfrm>
        </p:grpSpPr>
        <p:cxnSp>
          <p:nvCxnSpPr>
            <p:cNvPr id="45" name="直接连接符 44"/>
            <p:cNvCxnSpPr>
              <a:cxnSpLocks noChangeShapeType="1"/>
            </p:cNvCxnSpPr>
            <p:nvPr/>
          </p:nvCxnSpPr>
          <p:spPr bwMode="auto">
            <a:xfrm>
              <a:off x="6041418" y="2424009"/>
              <a:ext cx="0" cy="25370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Line 54"/>
            <p:cNvSpPr>
              <a:spLocks noChangeShapeType="1"/>
            </p:cNvSpPr>
            <p:nvPr/>
          </p:nvSpPr>
          <p:spPr bwMode="auto">
            <a:xfrm>
              <a:off x="3755621" y="2525041"/>
              <a:ext cx="2285797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15"/>
            <p:cNvSpPr txBox="1">
              <a:spLocks noChangeArrowheads="1"/>
            </p:cNvSpPr>
            <p:nvPr/>
          </p:nvSpPr>
          <p:spPr bwMode="auto">
            <a:xfrm>
              <a:off x="4329403" y="2399804"/>
              <a:ext cx="1189748" cy="265586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sz="1100" b="1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en-US" altLang="zh-CN" dirty="0">
                  <a:solidFill>
                    <a:srgbClr val="C00000"/>
                  </a:solidFill>
                </a:rPr>
                <a:t>ESP </a:t>
              </a:r>
              <a:r>
                <a:rPr lang="zh-CN" altLang="en-US" dirty="0">
                  <a:solidFill>
                    <a:srgbClr val="C00000"/>
                  </a:solidFill>
                </a:rPr>
                <a:t>的有效载荷</a:t>
              </a:r>
            </a:p>
          </p:txBody>
        </p:sp>
      </p:grpSp>
      <p:sp>
        <p:nvSpPr>
          <p:cNvPr id="48" name="Text Box 48"/>
          <p:cNvSpPr txBox="1">
            <a:spLocks noChangeArrowheads="1"/>
          </p:cNvSpPr>
          <p:nvPr/>
        </p:nvSpPr>
        <p:spPr bwMode="auto">
          <a:xfrm>
            <a:off x="6608387" y="3318353"/>
            <a:ext cx="2792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2942545" y="2661995"/>
            <a:ext cx="811956" cy="406372"/>
          </a:xfrm>
          <a:prstGeom prst="rect">
            <a:avLst/>
          </a:prstGeom>
          <a:solidFill>
            <a:srgbClr val="99FF66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2"/>
          <p:cNvSpPr>
            <a:spLocks noChangeArrowheads="1"/>
          </p:cNvSpPr>
          <p:nvPr/>
        </p:nvSpPr>
        <p:spPr bwMode="auto">
          <a:xfrm>
            <a:off x="3754500" y="2669057"/>
            <a:ext cx="2286918" cy="399309"/>
          </a:xfrm>
          <a:prstGeom prst="rect">
            <a:avLst/>
          </a:prstGeom>
          <a:solidFill>
            <a:srgbClr val="0000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 Box 68"/>
          <p:cNvSpPr txBox="1">
            <a:spLocks noChangeArrowheads="1"/>
          </p:cNvSpPr>
          <p:nvPr/>
        </p:nvSpPr>
        <p:spPr bwMode="auto">
          <a:xfrm>
            <a:off x="4569247" y="2659750"/>
            <a:ext cx="12554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原始的 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的有效载荷</a:t>
            </a:r>
          </a:p>
        </p:txBody>
      </p:sp>
      <p:sp>
        <p:nvSpPr>
          <p:cNvPr id="58" name="Text Box 68"/>
          <p:cNvSpPr txBox="1">
            <a:spLocks noChangeArrowheads="1"/>
          </p:cNvSpPr>
          <p:nvPr/>
        </p:nvSpPr>
        <p:spPr bwMode="auto">
          <a:xfrm>
            <a:off x="3750594" y="2658628"/>
            <a:ext cx="649537" cy="43088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原始的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cxnSp>
        <p:nvCxnSpPr>
          <p:cNvPr id="59" name="直接连接符 38"/>
          <p:cNvCxnSpPr>
            <a:cxnSpLocks noChangeShapeType="1"/>
          </p:cNvCxnSpPr>
          <p:nvPr/>
        </p:nvCxnSpPr>
        <p:spPr bwMode="auto">
          <a:xfrm>
            <a:off x="4404066" y="2659750"/>
            <a:ext cx="0" cy="40861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Rectangle 38"/>
          <p:cNvSpPr>
            <a:spLocks noChangeArrowheads="1"/>
          </p:cNvSpPr>
          <p:nvPr/>
        </p:nvSpPr>
        <p:spPr bwMode="auto">
          <a:xfrm>
            <a:off x="6041418" y="2661995"/>
            <a:ext cx="609248" cy="406372"/>
          </a:xfrm>
          <a:prstGeom prst="rect">
            <a:avLst/>
          </a:prstGeom>
          <a:solidFill>
            <a:srgbClr val="CC0099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51"/>
          <p:cNvSpPr>
            <a:spLocks noChangeArrowheads="1"/>
          </p:cNvSpPr>
          <p:nvPr/>
        </p:nvSpPr>
        <p:spPr bwMode="auto">
          <a:xfrm>
            <a:off x="3749683" y="2665038"/>
            <a:ext cx="2285797" cy="40637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>
            <a:off x="5307065" y="3374082"/>
            <a:ext cx="2429201" cy="286163"/>
          </a:xfrm>
          <a:prstGeom prst="rect">
            <a:avLst/>
          </a:prstGeom>
          <a:solidFill>
            <a:srgbClr val="CC00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63"/>
          <p:cNvSpPr txBox="1">
            <a:spLocks noChangeArrowheads="1"/>
          </p:cNvSpPr>
          <p:nvPr/>
        </p:nvSpPr>
        <p:spPr bwMode="auto">
          <a:xfrm>
            <a:off x="5353102" y="3612207"/>
            <a:ext cx="5854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</a:p>
        </p:txBody>
      </p:sp>
      <p:sp>
        <p:nvSpPr>
          <p:cNvPr id="66" name="Text Box 63"/>
          <p:cNvSpPr txBox="1">
            <a:spLocks noChangeArrowheads="1"/>
          </p:cNvSpPr>
          <p:nvPr/>
        </p:nvSpPr>
        <p:spPr bwMode="auto">
          <a:xfrm>
            <a:off x="5353102" y="3378959"/>
            <a:ext cx="24533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00…00    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填充长度   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下一个首部</a:t>
            </a:r>
          </a:p>
        </p:txBody>
      </p:sp>
      <p:sp>
        <p:nvSpPr>
          <p:cNvPr id="67" name="Text Box 63"/>
          <p:cNvSpPr txBox="1">
            <a:spLocks noChangeArrowheads="1"/>
          </p:cNvSpPr>
          <p:nvPr/>
        </p:nvSpPr>
        <p:spPr bwMode="auto">
          <a:xfrm>
            <a:off x="6122198" y="3611647"/>
            <a:ext cx="5725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8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68" name="Text Box 63"/>
          <p:cNvSpPr txBox="1">
            <a:spLocks noChangeArrowheads="1"/>
          </p:cNvSpPr>
          <p:nvPr/>
        </p:nvSpPr>
        <p:spPr bwMode="auto">
          <a:xfrm>
            <a:off x="6964887" y="3610152"/>
            <a:ext cx="5725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8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69" name="Text Box 48"/>
          <p:cNvSpPr txBox="1">
            <a:spLocks noChangeArrowheads="1"/>
          </p:cNvSpPr>
          <p:nvPr/>
        </p:nvSpPr>
        <p:spPr bwMode="auto">
          <a:xfrm>
            <a:off x="6909293" y="3845754"/>
            <a:ext cx="7970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4</a:t>
            </a:r>
          </a:p>
        </p:txBody>
      </p:sp>
      <p:cxnSp>
        <p:nvCxnSpPr>
          <p:cNvPr id="70" name="直接连接符 61"/>
          <p:cNvCxnSpPr>
            <a:cxnSpLocks noChangeShapeType="1"/>
          </p:cNvCxnSpPr>
          <p:nvPr/>
        </p:nvCxnSpPr>
        <p:spPr bwMode="auto">
          <a:xfrm flipH="1">
            <a:off x="6074854" y="3358767"/>
            <a:ext cx="0" cy="2984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" name="直接连接符 64"/>
          <p:cNvCxnSpPr>
            <a:cxnSpLocks noChangeShapeType="1"/>
          </p:cNvCxnSpPr>
          <p:nvPr/>
        </p:nvCxnSpPr>
        <p:spPr bwMode="auto">
          <a:xfrm flipH="1">
            <a:off x="6852911" y="3373054"/>
            <a:ext cx="0" cy="2984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37" name="组合 36"/>
          <p:cNvGrpSpPr/>
          <p:nvPr/>
        </p:nvGrpSpPr>
        <p:grpSpPr>
          <a:xfrm>
            <a:off x="5977703" y="2631262"/>
            <a:ext cx="683015" cy="470662"/>
            <a:chOff x="5977703" y="2631262"/>
            <a:chExt cx="683015" cy="470662"/>
          </a:xfrm>
        </p:grpSpPr>
        <p:sp>
          <p:nvSpPr>
            <p:cNvPr id="60" name="TextBox 40"/>
            <p:cNvSpPr txBox="1">
              <a:spLocks noChangeArrowheads="1"/>
            </p:cNvSpPr>
            <p:nvPr/>
          </p:nvSpPr>
          <p:spPr bwMode="auto">
            <a:xfrm>
              <a:off x="6168275" y="2640259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ESP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endParaRPr>
            </a:p>
            <a:p>
              <a:pPr eaLnBrk="1" hangingPunct="1"/>
              <a:r>
                <a:rPr lang="zh-CN" altLang="en-US" sz="1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尾部</a:t>
              </a:r>
              <a:endPara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977703" y="2631262"/>
              <a:ext cx="3449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</a:t>
              </a:r>
              <a:endParaRPr lang="zh-CN" altLang="en-US" sz="1400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929079" y="2624481"/>
            <a:ext cx="710244" cy="483282"/>
            <a:chOff x="2929079" y="2624481"/>
            <a:chExt cx="710244" cy="483282"/>
          </a:xfrm>
        </p:grpSpPr>
        <p:sp>
          <p:nvSpPr>
            <p:cNvPr id="61" name="TextBox 42"/>
            <p:cNvSpPr txBox="1">
              <a:spLocks noChangeArrowheads="1"/>
            </p:cNvSpPr>
            <p:nvPr/>
          </p:nvSpPr>
          <p:spPr bwMode="auto">
            <a:xfrm>
              <a:off x="2929079" y="2624481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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127717" y="2646098"/>
              <a:ext cx="5116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ESP </a:t>
              </a:r>
            </a:p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6621156" y="2636503"/>
            <a:ext cx="1197608" cy="477854"/>
            <a:chOff x="6621156" y="2636503"/>
            <a:chExt cx="1197608" cy="477854"/>
          </a:xfrm>
        </p:grpSpPr>
        <p:sp>
          <p:nvSpPr>
            <p:cNvPr id="54" name="Rectangle 18"/>
            <p:cNvSpPr>
              <a:spLocks noChangeArrowheads="1"/>
            </p:cNvSpPr>
            <p:nvPr/>
          </p:nvSpPr>
          <p:spPr bwMode="auto">
            <a:xfrm>
              <a:off x="6650666" y="2661995"/>
              <a:ext cx="1168098" cy="406372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6621156" y="2636503"/>
              <a:ext cx="1165649" cy="477854"/>
              <a:chOff x="6621156" y="2636503"/>
              <a:chExt cx="1165649" cy="477854"/>
            </a:xfrm>
          </p:grpSpPr>
          <p:sp>
            <p:nvSpPr>
              <p:cNvPr id="62" name="TextBox 43"/>
              <p:cNvSpPr txBox="1">
                <a:spLocks noChangeArrowheads="1"/>
              </p:cNvSpPr>
              <p:nvPr/>
            </p:nvSpPr>
            <p:spPr bwMode="auto">
              <a:xfrm>
                <a:off x="6621156" y="2636503"/>
                <a:ext cx="34496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itchFamily="2" charset="2"/>
                  </a:rPr>
                  <a:t>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6833202" y="2652692"/>
                <a:ext cx="95360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报文鉴别码</a:t>
                </a:r>
                <a:endPara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MAC</a:t>
                </a: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3754500" y="2024372"/>
            <a:ext cx="2896166" cy="653340"/>
            <a:chOff x="3754500" y="2024372"/>
            <a:chExt cx="2896166" cy="653340"/>
          </a:xfrm>
        </p:grpSpPr>
        <p:sp>
          <p:nvSpPr>
            <p:cNvPr id="23" name="Line 51"/>
            <p:cNvSpPr>
              <a:spLocks noChangeShapeType="1"/>
            </p:cNvSpPr>
            <p:nvPr/>
          </p:nvSpPr>
          <p:spPr bwMode="auto">
            <a:xfrm flipH="1">
              <a:off x="6650666" y="2024372"/>
              <a:ext cx="0" cy="6533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53"/>
            <p:cNvSpPr>
              <a:spLocks noChangeShapeType="1"/>
            </p:cNvSpPr>
            <p:nvPr/>
          </p:nvSpPr>
          <p:spPr bwMode="auto">
            <a:xfrm>
              <a:off x="3754500" y="2270217"/>
              <a:ext cx="1120" cy="4063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54"/>
            <p:cNvSpPr>
              <a:spLocks noChangeShapeType="1"/>
            </p:cNvSpPr>
            <p:nvPr/>
          </p:nvSpPr>
          <p:spPr bwMode="auto">
            <a:xfrm>
              <a:off x="3755621" y="2322978"/>
              <a:ext cx="289504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Text Box 15"/>
            <p:cNvSpPr txBox="1">
              <a:spLocks noChangeArrowheads="1"/>
            </p:cNvSpPr>
            <p:nvPr/>
          </p:nvSpPr>
          <p:spPr bwMode="auto">
            <a:xfrm>
              <a:off x="4642479" y="2184901"/>
              <a:ext cx="1182240" cy="261610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kumimoji="1" sz="1100" b="1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dirty="0" smtClean="0"/>
                <a:t> </a:t>
              </a:r>
              <a:endParaRPr lang="zh-CN" altLang="en-US" dirty="0"/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4683710" y="2173379"/>
              <a:ext cx="1148350" cy="307777"/>
              <a:chOff x="4683710" y="2173379"/>
              <a:chExt cx="1148350" cy="307777"/>
            </a:xfrm>
          </p:grpSpPr>
          <p:sp>
            <p:nvSpPr>
              <p:cNvPr id="74" name="TextBox 41"/>
              <p:cNvSpPr txBox="1">
                <a:spLocks noChangeArrowheads="1"/>
              </p:cNvSpPr>
              <p:nvPr/>
            </p:nvSpPr>
            <p:spPr bwMode="auto">
              <a:xfrm>
                <a:off x="4683710" y="2173379"/>
                <a:ext cx="34496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itchFamily="2" charset="2"/>
                  </a:rPr>
                  <a:t>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4831465" y="2176742"/>
                <a:ext cx="100059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加密的部分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2942544" y="1913237"/>
            <a:ext cx="3708121" cy="814991"/>
            <a:chOff x="2942544" y="1913237"/>
            <a:chExt cx="3708121" cy="814991"/>
          </a:xfrm>
        </p:grpSpPr>
        <p:sp>
          <p:nvSpPr>
            <p:cNvPr id="27" name="Line 55"/>
            <p:cNvSpPr>
              <a:spLocks noChangeShapeType="1"/>
            </p:cNvSpPr>
            <p:nvPr/>
          </p:nvSpPr>
          <p:spPr bwMode="auto">
            <a:xfrm flipV="1">
              <a:off x="2942544" y="2082746"/>
              <a:ext cx="3708121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Box 40"/>
            <p:cNvSpPr txBox="1">
              <a:spLocks noChangeArrowheads="1"/>
            </p:cNvSpPr>
            <p:nvPr/>
          </p:nvSpPr>
          <p:spPr bwMode="auto">
            <a:xfrm>
              <a:off x="4241071" y="1972733"/>
              <a:ext cx="1241498" cy="261610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kumimoji="1" sz="1100" b="1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dirty="0" smtClean="0">
                  <a:solidFill>
                    <a:srgbClr val="0000FF"/>
                  </a:solidFill>
                </a:rPr>
                <a:t>   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32" name="Line 52"/>
            <p:cNvSpPr>
              <a:spLocks noChangeShapeType="1"/>
            </p:cNvSpPr>
            <p:nvPr/>
          </p:nvSpPr>
          <p:spPr bwMode="auto">
            <a:xfrm>
              <a:off x="2942544" y="1913237"/>
              <a:ext cx="0" cy="81499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200" b="1">
                <a:ln>
                  <a:solidFill>
                    <a:schemeClr val="tx1"/>
                  </a:solidFill>
                  <a:prstDash val="dash"/>
                </a:ln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4241072" y="1933879"/>
              <a:ext cx="1187253" cy="307777"/>
              <a:chOff x="4241072" y="1933879"/>
              <a:chExt cx="1187253" cy="307777"/>
            </a:xfrm>
          </p:grpSpPr>
          <p:sp>
            <p:nvSpPr>
              <p:cNvPr id="51" name="TextBox 43"/>
              <p:cNvSpPr txBox="1">
                <a:spLocks noChangeArrowheads="1"/>
              </p:cNvSpPr>
              <p:nvPr/>
            </p:nvSpPr>
            <p:spPr bwMode="auto">
              <a:xfrm>
                <a:off x="4241072" y="1933879"/>
                <a:ext cx="34496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itchFamily="2" charset="2"/>
                  </a:rPr>
                  <a:t>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4474218" y="1945045"/>
                <a:ext cx="95410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鉴别的部分</a:t>
                </a: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2220713" y="1485862"/>
            <a:ext cx="755584" cy="443561"/>
            <a:chOff x="2220713" y="1485862"/>
            <a:chExt cx="755584" cy="443561"/>
          </a:xfrm>
        </p:grpSpPr>
        <p:sp>
          <p:nvSpPr>
            <p:cNvPr id="13" name="Text Box 68"/>
            <p:cNvSpPr txBox="1">
              <a:spLocks noChangeArrowheads="1"/>
            </p:cNvSpPr>
            <p:nvPr/>
          </p:nvSpPr>
          <p:spPr bwMode="auto">
            <a:xfrm>
              <a:off x="2326760" y="1498536"/>
              <a:ext cx="649537" cy="43088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新的</a:t>
              </a:r>
              <a:endPara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4" name="TextBox 43"/>
            <p:cNvSpPr txBox="1">
              <a:spLocks noChangeArrowheads="1"/>
            </p:cNvSpPr>
            <p:nvPr/>
          </p:nvSpPr>
          <p:spPr bwMode="auto">
            <a:xfrm>
              <a:off x="2220713" y="1485862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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6" name="Rectangle 4"/>
          <p:cNvSpPr>
            <a:spLocks noChangeArrowheads="1"/>
          </p:cNvSpPr>
          <p:nvPr/>
        </p:nvSpPr>
        <p:spPr bwMode="auto">
          <a:xfrm>
            <a:off x="7391400" y="37226"/>
            <a:ext cx="1750045" cy="263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安全数据报的格式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138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" grpId="0" animBg="1"/>
      <p:bldP spid="9" grpId="0"/>
      <p:bldP spid="10" grpId="0" animBg="1"/>
      <p:bldP spid="11" grpId="0" animBg="1"/>
      <p:bldP spid="12" grpId="0" animBg="1"/>
      <p:bldP spid="15" grpId="0"/>
      <p:bldP spid="17" grpId="0" animBg="1"/>
      <p:bldP spid="18" grpId="0" animBg="1"/>
      <p:bldP spid="19" grpId="0"/>
      <p:bldP spid="21" grpId="0" animBg="1"/>
      <p:bldP spid="22" grpId="0" animBg="1"/>
      <p:bldP spid="29" grpId="0" animBg="1"/>
      <p:bldP spid="30" grpId="0"/>
      <p:bldP spid="33" grpId="0" animBg="1"/>
      <p:bldP spid="35" grpId="0"/>
      <p:bldP spid="36" grpId="0"/>
      <p:bldP spid="44" grpId="0"/>
      <p:bldP spid="48" grpId="0"/>
      <p:bldP spid="52" grpId="0" animBg="1"/>
      <p:bldP spid="55" grpId="0" animBg="1"/>
      <p:bldP spid="64" grpId="0" animBg="1"/>
      <p:bldP spid="65" grpId="0"/>
      <p:bldP spid="66" grpId="0"/>
      <p:bldP spid="67" grpId="0"/>
      <p:bldP spid="68" grpId="0"/>
      <p:bldP spid="69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733462" y="1116704"/>
            <a:ext cx="7762837" cy="1631216"/>
          </a:xfrm>
          <a:prstGeom prst="rect">
            <a:avLst/>
          </a:prstGeom>
          <a:ln/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对于路由器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之间的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安全关联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SA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在“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原始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”中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，用主机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地址分别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作为源地址和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目的地址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而在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安全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数据报的“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新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”中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，用路由器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地址分别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作为源地址和目的地址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117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297397" y="588084"/>
            <a:ext cx="25683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数据报的格式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391400" y="37226"/>
            <a:ext cx="1750045" cy="263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安全数据报的格式</a:t>
            </a:r>
          </a:p>
        </p:txBody>
      </p:sp>
    </p:spTree>
    <p:extLst>
      <p:ext uri="{BB962C8B-B14F-4D97-AF65-F5344CB8AC3E}">
        <p14:creationId xmlns:p14="http://schemas.microsoft.com/office/powerpoint/2010/main" val="372216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3226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470156" y="580015"/>
            <a:ext cx="22076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其他构件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78501"/>
            <a:ext cx="812901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安全关联数据库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SAD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Association Database) 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存放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安全策略数据库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SPD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Policy Database)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指明什么样的数据报需要进行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互联网密钥交换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(Internet Key Exchange)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自动为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安全数据报创建安全关联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43800" y="37224"/>
            <a:ext cx="159764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的其他构件</a:t>
            </a:r>
          </a:p>
        </p:txBody>
      </p:sp>
    </p:spTree>
    <p:extLst>
      <p:ext uri="{BB962C8B-B14F-4D97-AF65-F5344CB8AC3E}">
        <p14:creationId xmlns:p14="http://schemas.microsoft.com/office/powerpoint/2010/main" val="166509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3190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340313" y="579979"/>
            <a:ext cx="24673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互联网密钥交换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IKE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65"/>
            <a:ext cx="8129015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非常复杂。互联网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的正式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标准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RFC 7296]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IKEv2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另外三个协议为基础：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Oakley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：密钥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生成协议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[RFC 2412]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密钥交换机制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SKEME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(Secure Key Exchange Mechanism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：用于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密钥交换的协议。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它利用公钥加密来实现密钥交换协议中的实体鉴别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安全关联和密钥管理协议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ISAKMP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(Internet Secure Association and Key Management Mechanism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：用于实现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定义的密钥交换，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使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交换能够以标准化、格式化的报文创建安全关联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43800" y="37224"/>
            <a:ext cx="159764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的其他构件</a:t>
            </a:r>
          </a:p>
        </p:txBody>
      </p:sp>
    </p:spTree>
    <p:extLst>
      <p:ext uri="{BB962C8B-B14F-4D97-AF65-F5344CB8AC3E}">
        <p14:creationId xmlns:p14="http://schemas.microsoft.com/office/powerpoint/2010/main" val="288632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27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406853" y="587257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传输层安全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1895" y="1038181"/>
            <a:ext cx="8129017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随着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网上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购物等应用的兴起，万维网需要增加相应的安全服务：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身份鉴别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：需要确保访问的服务器是客户所希望访问的服务器，非某个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冒充者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数据完整性：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确保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报文的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内容在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传输过程中没有被篡改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机密性：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确保通信过程中敏感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信息不被泄露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456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27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406853" y="587257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传输层安全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1895" y="1038181"/>
            <a:ext cx="8129017" cy="1361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为此，先后出现了两个广泛使用的协议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 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安全套接字层 </a:t>
            </a: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SSL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(Secure Socket Layer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传输层安全 </a:t>
            </a: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(Transport Layer Security)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089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535879" y="579043"/>
            <a:ext cx="2076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要点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8564"/>
            <a:ext cx="8129016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安全套接层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SSL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99200" lvl="1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Netscape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1994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年开发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，工作在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端系统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应用层的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和传输层之间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之上建立起一个安全通道，为通过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传输的应用层数据提供安全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保障。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  <a:p>
            <a:pPr marL="799200" lvl="1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SSL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广泛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应用于基于万维网的各种网络应用，但也可以扩展到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其他使用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的应用。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799200" lvl="1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SSL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版本：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2.0 (1995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3.0 (1996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2011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RFC6101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799200" lvl="1" indent="-34200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2014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月，谷歌建议禁用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SSL 3.0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，因为其设计上有漏洞，用户的敏感信息有被窃取的可能。接着，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Mozilla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和微软也发出了同样的安全通告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771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535879" y="579043"/>
            <a:ext cx="2076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要点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8564"/>
            <a:ext cx="8129016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1999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IETF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SSL 3.0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基础上设计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了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TLS 1.0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，为基于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的网络应用提供安全数据传输服务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2018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年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月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IETF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发布了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1.3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[RFC 8446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，建议标准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]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，且这一版本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向后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兼容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2020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TLS 1.0/1.1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两个版本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废弃。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97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804915" y="579043"/>
            <a:ext cx="35381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位于传输层和应用层之间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608306" y="2942557"/>
            <a:ext cx="6290554" cy="20529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509476" y="975467"/>
            <a:ext cx="8129014" cy="19518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900"/>
              </a:lnSpc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的位置在传输层和应用层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之间，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但仍属于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应用层协议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2900"/>
              </a:lnSpc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包括</a:t>
            </a:r>
            <a:r>
              <a:rPr lang="en-US" altLang="zh-CN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握手层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记录层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ts val="29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握手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(TLS </a:t>
            </a:r>
            <a:r>
              <a:rPr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Handshake Layer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允许服务器和客户互相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认证，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并协商加密算法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会话密钥。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ts val="29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记录层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Record Layer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用于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封装高层协议的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数据。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Rectangle 30"/>
          <p:cNvSpPr>
            <a:spLocks noChangeArrowheads="1"/>
          </p:cNvSpPr>
          <p:nvPr/>
        </p:nvSpPr>
        <p:spPr bwMode="auto">
          <a:xfrm>
            <a:off x="2936198" y="3109486"/>
            <a:ext cx="3827768" cy="1738771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ectangle 31"/>
          <p:cNvSpPr>
            <a:spLocks noChangeArrowheads="1"/>
          </p:cNvSpPr>
          <p:nvPr/>
        </p:nvSpPr>
        <p:spPr bwMode="auto">
          <a:xfrm>
            <a:off x="2948190" y="4076663"/>
            <a:ext cx="1656198" cy="75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ectangle 33"/>
          <p:cNvSpPr>
            <a:spLocks noChangeArrowheads="1"/>
          </p:cNvSpPr>
          <p:nvPr/>
        </p:nvSpPr>
        <p:spPr bwMode="auto">
          <a:xfrm>
            <a:off x="3655518" y="2897735"/>
            <a:ext cx="334239" cy="18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Rectangle 34"/>
          <p:cNvSpPr>
            <a:spLocks noChangeArrowheads="1"/>
          </p:cNvSpPr>
          <p:nvPr/>
        </p:nvSpPr>
        <p:spPr bwMode="auto">
          <a:xfrm>
            <a:off x="2942238" y="4137818"/>
            <a:ext cx="381188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Rectangle 36"/>
          <p:cNvSpPr>
            <a:spLocks noChangeArrowheads="1"/>
          </p:cNvSpPr>
          <p:nvPr/>
        </p:nvSpPr>
        <p:spPr bwMode="auto">
          <a:xfrm>
            <a:off x="3193134" y="3228983"/>
            <a:ext cx="506437" cy="176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Rectangle 37"/>
          <p:cNvSpPr>
            <a:spLocks noChangeArrowheads="1"/>
          </p:cNvSpPr>
          <p:nvPr/>
        </p:nvSpPr>
        <p:spPr bwMode="auto">
          <a:xfrm>
            <a:off x="2943065" y="3104399"/>
            <a:ext cx="862776" cy="304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Rectangle 38"/>
          <p:cNvSpPr>
            <a:spLocks noChangeArrowheads="1"/>
          </p:cNvSpPr>
          <p:nvPr/>
        </p:nvSpPr>
        <p:spPr bwMode="auto">
          <a:xfrm>
            <a:off x="2946931" y="4515710"/>
            <a:ext cx="380718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Line 39"/>
          <p:cNvSpPr>
            <a:spLocks noChangeShapeType="1"/>
          </p:cNvSpPr>
          <p:nvPr/>
        </p:nvSpPr>
        <p:spPr bwMode="auto">
          <a:xfrm flipV="1">
            <a:off x="2934998" y="4464787"/>
            <a:ext cx="3828967" cy="1539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Rectangle 40"/>
          <p:cNvSpPr>
            <a:spLocks noChangeArrowheads="1"/>
          </p:cNvSpPr>
          <p:nvPr/>
        </p:nvSpPr>
        <p:spPr bwMode="auto">
          <a:xfrm>
            <a:off x="2940992" y="3415904"/>
            <a:ext cx="3813125" cy="6707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Rectangle 41"/>
          <p:cNvSpPr>
            <a:spLocks noChangeArrowheads="1"/>
          </p:cNvSpPr>
          <p:nvPr/>
        </p:nvSpPr>
        <p:spPr bwMode="auto">
          <a:xfrm>
            <a:off x="2940993" y="3752403"/>
            <a:ext cx="381312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记录协议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Line 42"/>
          <p:cNvSpPr>
            <a:spLocks noChangeShapeType="1"/>
          </p:cNvSpPr>
          <p:nvPr/>
        </p:nvSpPr>
        <p:spPr bwMode="auto">
          <a:xfrm flipV="1">
            <a:off x="2934999" y="4094855"/>
            <a:ext cx="3828966" cy="5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Rectangle 43"/>
          <p:cNvSpPr>
            <a:spLocks noChangeArrowheads="1"/>
          </p:cNvSpPr>
          <p:nvPr/>
        </p:nvSpPr>
        <p:spPr bwMode="auto">
          <a:xfrm>
            <a:off x="2925154" y="3438771"/>
            <a:ext cx="1452567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4450" rIns="0" bIns="44450">
            <a:spAutoFit/>
          </a:bodyPr>
          <a:lstStyle/>
          <a:p>
            <a:pPr algn="ctr" defTabSz="762000" eaLnBrk="0" hangingPunct="0"/>
            <a:r>
              <a:rPr kumimoji="1" lang="en-US" altLang="zh-CN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更改密码规约协议</a:t>
            </a:r>
            <a:endParaRPr kumimoji="1"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Line 42"/>
          <p:cNvSpPr>
            <a:spLocks noChangeShapeType="1"/>
          </p:cNvSpPr>
          <p:nvPr/>
        </p:nvSpPr>
        <p:spPr bwMode="auto">
          <a:xfrm flipV="1">
            <a:off x="2942237" y="3733794"/>
            <a:ext cx="3828966" cy="5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Line 42"/>
          <p:cNvSpPr>
            <a:spLocks noChangeShapeType="1"/>
          </p:cNvSpPr>
          <p:nvPr/>
        </p:nvSpPr>
        <p:spPr bwMode="auto">
          <a:xfrm flipV="1">
            <a:off x="2925153" y="3419272"/>
            <a:ext cx="3828966" cy="5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>
            <a:off x="4384040" y="3415388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" name="Rectangle 43"/>
          <p:cNvSpPr>
            <a:spLocks noChangeArrowheads="1"/>
          </p:cNvSpPr>
          <p:nvPr/>
        </p:nvSpPr>
        <p:spPr bwMode="auto">
          <a:xfrm>
            <a:off x="4408515" y="3438771"/>
            <a:ext cx="124044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握手协议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Rectangle 43"/>
          <p:cNvSpPr>
            <a:spLocks noChangeArrowheads="1"/>
          </p:cNvSpPr>
          <p:nvPr/>
        </p:nvSpPr>
        <p:spPr bwMode="auto">
          <a:xfrm>
            <a:off x="5554313" y="3444566"/>
            <a:ext cx="124044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告警协议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5" name="直接连接符 104"/>
          <p:cNvCxnSpPr/>
          <p:nvPr/>
        </p:nvCxnSpPr>
        <p:spPr>
          <a:xfrm>
            <a:off x="5569079" y="3426938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Rectangle 37"/>
          <p:cNvSpPr>
            <a:spLocks noChangeArrowheads="1"/>
          </p:cNvSpPr>
          <p:nvPr/>
        </p:nvSpPr>
        <p:spPr bwMode="auto">
          <a:xfrm>
            <a:off x="4816973" y="3104399"/>
            <a:ext cx="112082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Rectangle 37"/>
          <p:cNvSpPr>
            <a:spLocks noChangeArrowheads="1"/>
          </p:cNvSpPr>
          <p:nvPr/>
        </p:nvSpPr>
        <p:spPr bwMode="auto">
          <a:xfrm>
            <a:off x="3805843" y="3104399"/>
            <a:ext cx="104883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Rectangle 37"/>
          <p:cNvSpPr>
            <a:spLocks noChangeArrowheads="1"/>
          </p:cNvSpPr>
          <p:nvPr/>
        </p:nvSpPr>
        <p:spPr bwMode="auto">
          <a:xfrm>
            <a:off x="6044069" y="3104399"/>
            <a:ext cx="71989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>
            <a:off x="3808804" y="3109487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连接符 109"/>
          <p:cNvCxnSpPr/>
          <p:nvPr/>
        </p:nvCxnSpPr>
        <p:spPr>
          <a:xfrm>
            <a:off x="4842364" y="3101337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直接连接符 110"/>
          <p:cNvCxnSpPr/>
          <p:nvPr/>
        </p:nvCxnSpPr>
        <p:spPr>
          <a:xfrm>
            <a:off x="5945034" y="3099956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Rectangle 37"/>
          <p:cNvSpPr>
            <a:spLocks noChangeArrowheads="1"/>
          </p:cNvSpPr>
          <p:nvPr/>
        </p:nvSpPr>
        <p:spPr bwMode="auto">
          <a:xfrm>
            <a:off x="1735347" y="3444566"/>
            <a:ext cx="1227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握手层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Rectangle 37"/>
          <p:cNvSpPr>
            <a:spLocks noChangeArrowheads="1"/>
          </p:cNvSpPr>
          <p:nvPr/>
        </p:nvSpPr>
        <p:spPr bwMode="auto">
          <a:xfrm>
            <a:off x="1735347" y="3775592"/>
            <a:ext cx="1227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Rectangle 37"/>
          <p:cNvSpPr>
            <a:spLocks noChangeArrowheads="1"/>
          </p:cNvSpPr>
          <p:nvPr/>
        </p:nvSpPr>
        <p:spPr bwMode="auto">
          <a:xfrm>
            <a:off x="6763965" y="4121832"/>
            <a:ext cx="90175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Rectangle 37"/>
          <p:cNvSpPr>
            <a:spLocks noChangeArrowheads="1"/>
          </p:cNvSpPr>
          <p:nvPr/>
        </p:nvSpPr>
        <p:spPr bwMode="auto">
          <a:xfrm>
            <a:off x="6771203" y="4510915"/>
            <a:ext cx="89451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19" name="Rectangle 37"/>
          <p:cNvSpPr>
            <a:spLocks noChangeArrowheads="1"/>
          </p:cNvSpPr>
          <p:nvPr/>
        </p:nvSpPr>
        <p:spPr bwMode="auto">
          <a:xfrm>
            <a:off x="6815885" y="3468156"/>
            <a:ext cx="90175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右大括号 119"/>
          <p:cNvSpPr/>
          <p:nvPr/>
        </p:nvSpPr>
        <p:spPr>
          <a:xfrm>
            <a:off x="6815885" y="3109486"/>
            <a:ext cx="158433" cy="98536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796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830839" y="579043"/>
            <a:ext cx="14863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握手层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608306" y="2599657"/>
            <a:ext cx="6290554" cy="20529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509474" y="1021187"/>
            <a:ext cx="8129015" cy="14260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握手层包括三个协议：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握手协议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客户端与服务器之间建立安全的加密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通道。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告警协议：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处理错误和告警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信息。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更改密码规约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协议：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通知对方切换加密算法或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密钥。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Rectangle 30"/>
          <p:cNvSpPr>
            <a:spLocks noChangeArrowheads="1"/>
          </p:cNvSpPr>
          <p:nvPr/>
        </p:nvSpPr>
        <p:spPr bwMode="auto">
          <a:xfrm>
            <a:off x="2936198" y="2766586"/>
            <a:ext cx="3827768" cy="1738771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ectangle 31"/>
          <p:cNvSpPr>
            <a:spLocks noChangeArrowheads="1"/>
          </p:cNvSpPr>
          <p:nvPr/>
        </p:nvSpPr>
        <p:spPr bwMode="auto">
          <a:xfrm>
            <a:off x="2948190" y="3733763"/>
            <a:ext cx="1656198" cy="75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ectangle 33"/>
          <p:cNvSpPr>
            <a:spLocks noChangeArrowheads="1"/>
          </p:cNvSpPr>
          <p:nvPr/>
        </p:nvSpPr>
        <p:spPr bwMode="auto">
          <a:xfrm>
            <a:off x="3655518" y="2554835"/>
            <a:ext cx="334239" cy="18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Rectangle 34"/>
          <p:cNvSpPr>
            <a:spLocks noChangeArrowheads="1"/>
          </p:cNvSpPr>
          <p:nvPr/>
        </p:nvSpPr>
        <p:spPr bwMode="auto">
          <a:xfrm>
            <a:off x="2942238" y="3794918"/>
            <a:ext cx="381188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Rectangle 36"/>
          <p:cNvSpPr>
            <a:spLocks noChangeArrowheads="1"/>
          </p:cNvSpPr>
          <p:nvPr/>
        </p:nvSpPr>
        <p:spPr bwMode="auto">
          <a:xfrm>
            <a:off x="3193134" y="2886083"/>
            <a:ext cx="506437" cy="176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Rectangle 37"/>
          <p:cNvSpPr>
            <a:spLocks noChangeArrowheads="1"/>
          </p:cNvSpPr>
          <p:nvPr/>
        </p:nvSpPr>
        <p:spPr bwMode="auto">
          <a:xfrm>
            <a:off x="2943065" y="2761499"/>
            <a:ext cx="862776" cy="304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Rectangle 38"/>
          <p:cNvSpPr>
            <a:spLocks noChangeArrowheads="1"/>
          </p:cNvSpPr>
          <p:nvPr/>
        </p:nvSpPr>
        <p:spPr bwMode="auto">
          <a:xfrm>
            <a:off x="2946931" y="4172810"/>
            <a:ext cx="380718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Line 39"/>
          <p:cNvSpPr>
            <a:spLocks noChangeShapeType="1"/>
          </p:cNvSpPr>
          <p:nvPr/>
        </p:nvSpPr>
        <p:spPr bwMode="auto">
          <a:xfrm flipV="1">
            <a:off x="2934998" y="4121887"/>
            <a:ext cx="3828967" cy="1539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Rectangle 40"/>
          <p:cNvSpPr>
            <a:spLocks noChangeArrowheads="1"/>
          </p:cNvSpPr>
          <p:nvPr/>
        </p:nvSpPr>
        <p:spPr bwMode="auto">
          <a:xfrm>
            <a:off x="2940992" y="3073004"/>
            <a:ext cx="3813125" cy="6707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Rectangle 41"/>
          <p:cNvSpPr>
            <a:spLocks noChangeArrowheads="1"/>
          </p:cNvSpPr>
          <p:nvPr/>
        </p:nvSpPr>
        <p:spPr bwMode="auto">
          <a:xfrm>
            <a:off x="2940993" y="3409503"/>
            <a:ext cx="381312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记录协议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Line 42"/>
          <p:cNvSpPr>
            <a:spLocks noChangeShapeType="1"/>
          </p:cNvSpPr>
          <p:nvPr/>
        </p:nvSpPr>
        <p:spPr bwMode="auto">
          <a:xfrm flipV="1">
            <a:off x="2934999" y="3751955"/>
            <a:ext cx="3828966" cy="5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Rectangle 43"/>
          <p:cNvSpPr>
            <a:spLocks noChangeArrowheads="1"/>
          </p:cNvSpPr>
          <p:nvPr/>
        </p:nvSpPr>
        <p:spPr bwMode="auto">
          <a:xfrm>
            <a:off x="2925153" y="3086405"/>
            <a:ext cx="1463459" cy="30711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wrap="square" lIns="0" tIns="44450" rIns="0" bIns="44450" anchor="ctr" anchorCtr="0">
            <a:noAutofit/>
          </a:bodyPr>
          <a:lstStyle/>
          <a:p>
            <a:pPr algn="ctr" defTabSz="762000" eaLnBrk="0" hangingPunct="0"/>
            <a:r>
              <a:rPr kumimoji="1" lang="en-US" altLang="zh-CN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更改密码规约协议</a:t>
            </a:r>
            <a:endParaRPr kumimoji="1"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Rectangle 43"/>
          <p:cNvSpPr>
            <a:spLocks noChangeArrowheads="1"/>
          </p:cNvSpPr>
          <p:nvPr/>
        </p:nvSpPr>
        <p:spPr bwMode="auto">
          <a:xfrm>
            <a:off x="4389120" y="3082617"/>
            <a:ext cx="1259841" cy="318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wrap="square" lIns="90488" tIns="44450" rIns="90488" bIns="44450" anchor="ctr" anchorCtr="0">
            <a:noAutofit/>
          </a:bodyPr>
          <a:lstStyle/>
          <a:p>
            <a:pPr algn="l" defTabSz="762000" eaLnBrk="0" hangingPunct="0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握手协议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Rectangle 43"/>
          <p:cNvSpPr>
            <a:spLocks noChangeArrowheads="1"/>
          </p:cNvSpPr>
          <p:nvPr/>
        </p:nvSpPr>
        <p:spPr bwMode="auto">
          <a:xfrm>
            <a:off x="5554313" y="3080549"/>
            <a:ext cx="1199297" cy="32632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wrap="square" lIns="36000" tIns="44450" rIns="36000" bIns="44450" anchor="ctr" anchorCtr="0">
            <a:no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告警协议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5" name="直接连接符 104"/>
          <p:cNvCxnSpPr/>
          <p:nvPr/>
        </p:nvCxnSpPr>
        <p:spPr>
          <a:xfrm>
            <a:off x="5569079" y="3084038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Rectangle 37"/>
          <p:cNvSpPr>
            <a:spLocks noChangeArrowheads="1"/>
          </p:cNvSpPr>
          <p:nvPr/>
        </p:nvSpPr>
        <p:spPr bwMode="auto">
          <a:xfrm>
            <a:off x="4816973" y="2761499"/>
            <a:ext cx="112082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Rectangle 37"/>
          <p:cNvSpPr>
            <a:spLocks noChangeArrowheads="1"/>
          </p:cNvSpPr>
          <p:nvPr/>
        </p:nvSpPr>
        <p:spPr bwMode="auto">
          <a:xfrm>
            <a:off x="3805843" y="2761499"/>
            <a:ext cx="104883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Rectangle 37"/>
          <p:cNvSpPr>
            <a:spLocks noChangeArrowheads="1"/>
          </p:cNvSpPr>
          <p:nvPr/>
        </p:nvSpPr>
        <p:spPr bwMode="auto">
          <a:xfrm>
            <a:off x="6044069" y="2761499"/>
            <a:ext cx="71989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>
            <a:off x="3808804" y="2766587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连接符 109"/>
          <p:cNvCxnSpPr/>
          <p:nvPr/>
        </p:nvCxnSpPr>
        <p:spPr>
          <a:xfrm>
            <a:off x="4842364" y="2758437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直接连接符 110"/>
          <p:cNvCxnSpPr/>
          <p:nvPr/>
        </p:nvCxnSpPr>
        <p:spPr>
          <a:xfrm>
            <a:off x="5945034" y="2757056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Rectangle 37"/>
          <p:cNvSpPr>
            <a:spLocks noChangeArrowheads="1"/>
          </p:cNvSpPr>
          <p:nvPr/>
        </p:nvSpPr>
        <p:spPr bwMode="auto">
          <a:xfrm>
            <a:off x="1735347" y="3101666"/>
            <a:ext cx="1227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握手层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Rectangle 37"/>
          <p:cNvSpPr>
            <a:spLocks noChangeArrowheads="1"/>
          </p:cNvSpPr>
          <p:nvPr/>
        </p:nvSpPr>
        <p:spPr bwMode="auto">
          <a:xfrm>
            <a:off x="1735347" y="3432692"/>
            <a:ext cx="1227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Rectangle 37"/>
          <p:cNvSpPr>
            <a:spLocks noChangeArrowheads="1"/>
          </p:cNvSpPr>
          <p:nvPr/>
        </p:nvSpPr>
        <p:spPr bwMode="auto">
          <a:xfrm>
            <a:off x="6763965" y="3778932"/>
            <a:ext cx="90175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Rectangle 37"/>
          <p:cNvSpPr>
            <a:spLocks noChangeArrowheads="1"/>
          </p:cNvSpPr>
          <p:nvPr/>
        </p:nvSpPr>
        <p:spPr bwMode="auto">
          <a:xfrm>
            <a:off x="6771203" y="4168015"/>
            <a:ext cx="89451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19" name="Rectangle 37"/>
          <p:cNvSpPr>
            <a:spLocks noChangeArrowheads="1"/>
          </p:cNvSpPr>
          <p:nvPr/>
        </p:nvSpPr>
        <p:spPr bwMode="auto">
          <a:xfrm>
            <a:off x="6815885" y="3125256"/>
            <a:ext cx="90175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右大括号 119"/>
          <p:cNvSpPr/>
          <p:nvPr/>
        </p:nvSpPr>
        <p:spPr>
          <a:xfrm>
            <a:off x="6815885" y="2766586"/>
            <a:ext cx="158433" cy="98536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sp>
        <p:nvSpPr>
          <p:cNvPr id="101" name="Line 42"/>
          <p:cNvSpPr>
            <a:spLocks noChangeShapeType="1"/>
          </p:cNvSpPr>
          <p:nvPr/>
        </p:nvSpPr>
        <p:spPr bwMode="auto">
          <a:xfrm flipV="1">
            <a:off x="2925153" y="3076372"/>
            <a:ext cx="3828966" cy="5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Line 42"/>
          <p:cNvSpPr>
            <a:spLocks noChangeShapeType="1"/>
          </p:cNvSpPr>
          <p:nvPr/>
        </p:nvSpPr>
        <p:spPr bwMode="auto">
          <a:xfrm flipV="1">
            <a:off x="2942237" y="3390894"/>
            <a:ext cx="3828966" cy="5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>
            <a:off x="4384040" y="3072488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11943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830839" y="579043"/>
            <a:ext cx="14863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608306" y="2485357"/>
            <a:ext cx="6290554" cy="20529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509474" y="1021187"/>
            <a:ext cx="8129015" cy="1246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层包括一个协议：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记录协议</a:t>
            </a:r>
            <a:r>
              <a:rPr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(record protocol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的传输载体，提供数据的加密和解密，以及数据的完整性校验。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Rectangle 30"/>
          <p:cNvSpPr>
            <a:spLocks noChangeArrowheads="1"/>
          </p:cNvSpPr>
          <p:nvPr/>
        </p:nvSpPr>
        <p:spPr bwMode="auto">
          <a:xfrm>
            <a:off x="2936198" y="2652286"/>
            <a:ext cx="3827768" cy="1738771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ectangle 31"/>
          <p:cNvSpPr>
            <a:spLocks noChangeArrowheads="1"/>
          </p:cNvSpPr>
          <p:nvPr/>
        </p:nvSpPr>
        <p:spPr bwMode="auto">
          <a:xfrm>
            <a:off x="2948190" y="3619463"/>
            <a:ext cx="1656198" cy="75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ectangle 33"/>
          <p:cNvSpPr>
            <a:spLocks noChangeArrowheads="1"/>
          </p:cNvSpPr>
          <p:nvPr/>
        </p:nvSpPr>
        <p:spPr bwMode="auto">
          <a:xfrm>
            <a:off x="3655518" y="2440535"/>
            <a:ext cx="334239" cy="18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Rectangle 34"/>
          <p:cNvSpPr>
            <a:spLocks noChangeArrowheads="1"/>
          </p:cNvSpPr>
          <p:nvPr/>
        </p:nvSpPr>
        <p:spPr bwMode="auto">
          <a:xfrm>
            <a:off x="2942238" y="3680618"/>
            <a:ext cx="381188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Rectangle 36"/>
          <p:cNvSpPr>
            <a:spLocks noChangeArrowheads="1"/>
          </p:cNvSpPr>
          <p:nvPr/>
        </p:nvSpPr>
        <p:spPr bwMode="auto">
          <a:xfrm>
            <a:off x="3193134" y="2771783"/>
            <a:ext cx="506437" cy="176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Rectangle 37"/>
          <p:cNvSpPr>
            <a:spLocks noChangeArrowheads="1"/>
          </p:cNvSpPr>
          <p:nvPr/>
        </p:nvSpPr>
        <p:spPr bwMode="auto">
          <a:xfrm>
            <a:off x="2943065" y="2647199"/>
            <a:ext cx="862776" cy="304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Rectangle 38"/>
          <p:cNvSpPr>
            <a:spLocks noChangeArrowheads="1"/>
          </p:cNvSpPr>
          <p:nvPr/>
        </p:nvSpPr>
        <p:spPr bwMode="auto">
          <a:xfrm>
            <a:off x="2946931" y="4058510"/>
            <a:ext cx="380718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Line 39"/>
          <p:cNvSpPr>
            <a:spLocks noChangeShapeType="1"/>
          </p:cNvSpPr>
          <p:nvPr/>
        </p:nvSpPr>
        <p:spPr bwMode="auto">
          <a:xfrm flipV="1">
            <a:off x="2934998" y="4007587"/>
            <a:ext cx="3828967" cy="1539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Rectangle 40"/>
          <p:cNvSpPr>
            <a:spLocks noChangeArrowheads="1"/>
          </p:cNvSpPr>
          <p:nvPr/>
        </p:nvSpPr>
        <p:spPr bwMode="auto">
          <a:xfrm>
            <a:off x="2940992" y="2958704"/>
            <a:ext cx="3813125" cy="6707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Rectangle 41"/>
          <p:cNvSpPr>
            <a:spLocks noChangeArrowheads="1"/>
          </p:cNvSpPr>
          <p:nvPr/>
        </p:nvSpPr>
        <p:spPr bwMode="auto">
          <a:xfrm>
            <a:off x="2940993" y="3295202"/>
            <a:ext cx="3813125" cy="32802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wrap="square" lIns="90488" tIns="44450" rIns="90488" bIns="44450" anchor="ctr" anchorCtr="0">
            <a:no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记录协议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Line 42"/>
          <p:cNvSpPr>
            <a:spLocks noChangeShapeType="1"/>
          </p:cNvSpPr>
          <p:nvPr/>
        </p:nvSpPr>
        <p:spPr bwMode="auto">
          <a:xfrm flipV="1">
            <a:off x="2934999" y="3637655"/>
            <a:ext cx="3828966" cy="5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Rectangle 43"/>
          <p:cNvSpPr>
            <a:spLocks noChangeArrowheads="1"/>
          </p:cNvSpPr>
          <p:nvPr/>
        </p:nvSpPr>
        <p:spPr bwMode="auto">
          <a:xfrm>
            <a:off x="2925154" y="2981571"/>
            <a:ext cx="1452567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4450" rIns="0" bIns="44450">
            <a:spAutoFit/>
          </a:bodyPr>
          <a:lstStyle/>
          <a:p>
            <a:pPr algn="ctr" defTabSz="762000" eaLnBrk="0" hangingPunct="0"/>
            <a:r>
              <a:rPr kumimoji="1" lang="en-US" altLang="zh-CN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更改密码规约协议</a:t>
            </a:r>
            <a:endParaRPr kumimoji="1"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Line 42"/>
          <p:cNvSpPr>
            <a:spLocks noChangeShapeType="1"/>
          </p:cNvSpPr>
          <p:nvPr/>
        </p:nvSpPr>
        <p:spPr bwMode="auto">
          <a:xfrm flipV="1">
            <a:off x="2942237" y="3276594"/>
            <a:ext cx="3828966" cy="5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Line 42"/>
          <p:cNvSpPr>
            <a:spLocks noChangeShapeType="1"/>
          </p:cNvSpPr>
          <p:nvPr/>
        </p:nvSpPr>
        <p:spPr bwMode="auto">
          <a:xfrm flipV="1">
            <a:off x="2925153" y="2962072"/>
            <a:ext cx="3828966" cy="5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>
            <a:off x="4384040" y="2958188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" name="Rectangle 43"/>
          <p:cNvSpPr>
            <a:spLocks noChangeArrowheads="1"/>
          </p:cNvSpPr>
          <p:nvPr/>
        </p:nvSpPr>
        <p:spPr bwMode="auto">
          <a:xfrm>
            <a:off x="4408515" y="2981571"/>
            <a:ext cx="124044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握手协议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Rectangle 43"/>
          <p:cNvSpPr>
            <a:spLocks noChangeArrowheads="1"/>
          </p:cNvSpPr>
          <p:nvPr/>
        </p:nvSpPr>
        <p:spPr bwMode="auto">
          <a:xfrm>
            <a:off x="5554313" y="2987366"/>
            <a:ext cx="124044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告警协议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5" name="直接连接符 104"/>
          <p:cNvCxnSpPr/>
          <p:nvPr/>
        </p:nvCxnSpPr>
        <p:spPr>
          <a:xfrm>
            <a:off x="5569079" y="2969738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Rectangle 37"/>
          <p:cNvSpPr>
            <a:spLocks noChangeArrowheads="1"/>
          </p:cNvSpPr>
          <p:nvPr/>
        </p:nvSpPr>
        <p:spPr bwMode="auto">
          <a:xfrm>
            <a:off x="4816973" y="2647199"/>
            <a:ext cx="112082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Rectangle 37"/>
          <p:cNvSpPr>
            <a:spLocks noChangeArrowheads="1"/>
          </p:cNvSpPr>
          <p:nvPr/>
        </p:nvSpPr>
        <p:spPr bwMode="auto">
          <a:xfrm>
            <a:off x="3805843" y="2647199"/>
            <a:ext cx="104883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Rectangle 37"/>
          <p:cNvSpPr>
            <a:spLocks noChangeArrowheads="1"/>
          </p:cNvSpPr>
          <p:nvPr/>
        </p:nvSpPr>
        <p:spPr bwMode="auto">
          <a:xfrm>
            <a:off x="6044069" y="2647199"/>
            <a:ext cx="71989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>
            <a:off x="3808804" y="2652287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连接符 109"/>
          <p:cNvCxnSpPr/>
          <p:nvPr/>
        </p:nvCxnSpPr>
        <p:spPr>
          <a:xfrm>
            <a:off x="4842364" y="2644137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直接连接符 110"/>
          <p:cNvCxnSpPr/>
          <p:nvPr/>
        </p:nvCxnSpPr>
        <p:spPr>
          <a:xfrm>
            <a:off x="5945034" y="2642756"/>
            <a:ext cx="5080" cy="3184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Rectangle 37"/>
          <p:cNvSpPr>
            <a:spLocks noChangeArrowheads="1"/>
          </p:cNvSpPr>
          <p:nvPr/>
        </p:nvSpPr>
        <p:spPr bwMode="auto">
          <a:xfrm>
            <a:off x="1735347" y="2987366"/>
            <a:ext cx="1227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握手层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Rectangle 37"/>
          <p:cNvSpPr>
            <a:spLocks noChangeArrowheads="1"/>
          </p:cNvSpPr>
          <p:nvPr/>
        </p:nvSpPr>
        <p:spPr bwMode="auto">
          <a:xfrm>
            <a:off x="1735347" y="3318392"/>
            <a:ext cx="1227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</a:t>
            </a:r>
            <a:r>
              <a:rPr kumimoji="1"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Rectangle 37"/>
          <p:cNvSpPr>
            <a:spLocks noChangeArrowheads="1"/>
          </p:cNvSpPr>
          <p:nvPr/>
        </p:nvSpPr>
        <p:spPr bwMode="auto">
          <a:xfrm>
            <a:off x="6763965" y="3664632"/>
            <a:ext cx="90175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Rectangle 37"/>
          <p:cNvSpPr>
            <a:spLocks noChangeArrowheads="1"/>
          </p:cNvSpPr>
          <p:nvPr/>
        </p:nvSpPr>
        <p:spPr bwMode="auto">
          <a:xfrm>
            <a:off x="6771203" y="4053715"/>
            <a:ext cx="89451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19" name="Rectangle 37"/>
          <p:cNvSpPr>
            <a:spLocks noChangeArrowheads="1"/>
          </p:cNvSpPr>
          <p:nvPr/>
        </p:nvSpPr>
        <p:spPr bwMode="auto">
          <a:xfrm>
            <a:off x="6815885" y="3010956"/>
            <a:ext cx="90175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kumimoji="1"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右大括号 119"/>
          <p:cNvSpPr/>
          <p:nvPr/>
        </p:nvSpPr>
        <p:spPr>
          <a:xfrm>
            <a:off x="6815885" y="2652286"/>
            <a:ext cx="158433" cy="98536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249414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881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933150" y="575603"/>
            <a:ext cx="32816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应用层协议独立无关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3779"/>
            <a:ext cx="825987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可用于任何应用层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，但目前应用层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最多的就是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HTTP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应用程序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调用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对整个网页进行加密时，网页上会提示用户，在网址栏原来显示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的地方，现在变成了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https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代表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security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，表明现在使用的是提供安全服务的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（基于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端口号是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443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，而不是平时使用的端口号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80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pic>
        <p:nvPicPr>
          <p:cNvPr id="6" name="图片 5"/>
          <p:cNvPicPr/>
          <p:nvPr/>
        </p:nvPicPr>
        <p:blipFill>
          <a:blip r:embed="rId4" cstate="print"/>
          <a:srcRect l="14771" t="3858" r="75395" b="93965"/>
          <a:stretch>
            <a:fillRect/>
          </a:stretch>
        </p:blipFill>
        <p:spPr bwMode="auto">
          <a:xfrm>
            <a:off x="2629612" y="3681412"/>
            <a:ext cx="3015538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958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629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061391" y="573086"/>
            <a:ext cx="30251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具有双向鉴别的功能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6642"/>
            <a:ext cx="825428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常用单向鉴别：客户端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（浏览器）需要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鉴别服务器，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确信即将访问的网站服务器是安全和可信的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两个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前提：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需要有一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有效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来证明自己。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证书是传输层安全协议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基石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浏览器应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具有一些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手段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来证明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服务器是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安全和可信的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26644" y="37227"/>
            <a:ext cx="131480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090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629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676670" y="573086"/>
            <a:ext cx="37946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的握手阶段和会话阶段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6642"/>
            <a:ext cx="825428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lvl="1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协议包括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两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个阶段：</a:t>
            </a: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握手阶段：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使用握手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协议协商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加密算法、鉴别身份、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交换密钥等。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会话阶段：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使用记录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协议进行数据安全传输。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939625" y="36916"/>
            <a:ext cx="21733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协议的握手阶段和会话阶段</a:t>
            </a:r>
          </a:p>
        </p:txBody>
      </p:sp>
    </p:spTree>
    <p:extLst>
      <p:ext uri="{BB962C8B-B14F-4D97-AF65-F5344CB8AC3E}">
        <p14:creationId xmlns:p14="http://schemas.microsoft.com/office/powerpoint/2010/main" val="195165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1.3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加密套件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加密套件：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指可用于密钥生成、加密、消息认证码（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）和数字签名的算法组合。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相比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1.2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TLS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1.3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中加密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套件的选择范围更加受限。</a:t>
            </a:r>
          </a:p>
          <a:p>
            <a:pPr marL="799200" lvl="1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加密算法仅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有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种 选择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并且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其中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种都是基于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AES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  <a:p>
            <a:pPr marL="799200" lvl="1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密钥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交换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强制要求使用 </a:t>
            </a:r>
            <a:r>
              <a:rPr lang="en-US" altLang="zh-CN" b="1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Diffie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-Hellman (DH)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，不再允许使用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RSA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799200" lvl="1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传输采用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加密与认证相结合的算法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（即“认证加密”），而不是采用先加密、后认证的串行方式。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799200" lvl="1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基于 </a:t>
            </a:r>
            <a:r>
              <a:rPr lang="en-US" altLang="zh-CN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SHA-2 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系列的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哈希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函数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（如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SHA-256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SHA-384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939625" y="36916"/>
            <a:ext cx="21733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协议的握手阶段和会话阶段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492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圆角矩形 140"/>
          <p:cNvSpPr/>
          <p:nvPr/>
        </p:nvSpPr>
        <p:spPr>
          <a:xfrm>
            <a:off x="287860" y="996028"/>
            <a:ext cx="4874118" cy="353364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握手协议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939625" y="36916"/>
            <a:ext cx="21733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协议的握手阶段和会话阶段</a:t>
            </a:r>
          </a:p>
        </p:txBody>
      </p:sp>
      <p:sp>
        <p:nvSpPr>
          <p:cNvPr id="11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8469" y="1571158"/>
            <a:ext cx="26388" cy="28780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49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77328" y="1643194"/>
            <a:ext cx="17554" cy="2844139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pic>
        <p:nvPicPr>
          <p:cNvPr id="88" name="Picture 55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81465" y="1262519"/>
            <a:ext cx="342412" cy="44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9" name="Group 551"/>
          <p:cNvGrpSpPr>
            <a:grpSpLocks/>
          </p:cNvGrpSpPr>
          <p:nvPr/>
        </p:nvGrpSpPr>
        <p:grpSpPr bwMode="auto">
          <a:xfrm>
            <a:off x="977727" y="1282332"/>
            <a:ext cx="456985" cy="349243"/>
            <a:chOff x="717" y="1446"/>
            <a:chExt cx="274" cy="237"/>
          </a:xfrm>
        </p:grpSpPr>
        <p:sp>
          <p:nvSpPr>
            <p:cNvPr id="90" name="Arc 552"/>
            <p:cNvSpPr>
              <a:spLocks/>
            </p:cNvSpPr>
            <p:nvPr/>
          </p:nvSpPr>
          <p:spPr bwMode="auto">
            <a:xfrm>
              <a:off x="930" y="1618"/>
              <a:ext cx="58" cy="39"/>
            </a:xfrm>
            <a:custGeom>
              <a:avLst/>
              <a:gdLst>
                <a:gd name="T0" fmla="*/ 0 w 38273"/>
                <a:gd name="T1" fmla="*/ 0 h 35142"/>
                <a:gd name="T2" fmla="*/ 0 w 38273"/>
                <a:gd name="T3" fmla="*/ 0 h 35142"/>
                <a:gd name="T4" fmla="*/ 0 w 38273"/>
                <a:gd name="T5" fmla="*/ 0 h 35142"/>
                <a:gd name="T6" fmla="*/ 0 60000 65536"/>
                <a:gd name="T7" fmla="*/ 0 60000 65536"/>
                <a:gd name="T8" fmla="*/ 0 60000 65536"/>
                <a:gd name="T9" fmla="*/ 0 w 38273"/>
                <a:gd name="T10" fmla="*/ 0 h 35142"/>
                <a:gd name="T11" fmla="*/ 38273 w 38273"/>
                <a:gd name="T12" fmla="*/ 35142 h 351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273" h="35142" fill="none" extrusionOk="0">
                  <a:moveTo>
                    <a:pt x="-1" y="7867"/>
                  </a:moveTo>
                  <a:cubicBezTo>
                    <a:pt x="4103" y="2886"/>
                    <a:pt x="10218" y="-1"/>
                    <a:pt x="16673" y="0"/>
                  </a:cubicBezTo>
                  <a:cubicBezTo>
                    <a:pt x="28602" y="0"/>
                    <a:pt x="38273" y="9670"/>
                    <a:pt x="38273" y="21600"/>
                  </a:cubicBezTo>
                  <a:cubicBezTo>
                    <a:pt x="38273" y="26526"/>
                    <a:pt x="36589" y="31304"/>
                    <a:pt x="33500" y="35141"/>
                  </a:cubicBezTo>
                </a:path>
                <a:path w="38273" h="35142" stroke="0" extrusionOk="0">
                  <a:moveTo>
                    <a:pt x="-1" y="7867"/>
                  </a:moveTo>
                  <a:cubicBezTo>
                    <a:pt x="4103" y="2886"/>
                    <a:pt x="10218" y="-1"/>
                    <a:pt x="16673" y="0"/>
                  </a:cubicBezTo>
                  <a:cubicBezTo>
                    <a:pt x="28602" y="0"/>
                    <a:pt x="38273" y="9670"/>
                    <a:pt x="38273" y="21600"/>
                  </a:cubicBezTo>
                  <a:cubicBezTo>
                    <a:pt x="38273" y="26526"/>
                    <a:pt x="36589" y="31304"/>
                    <a:pt x="33500" y="35141"/>
                  </a:cubicBezTo>
                  <a:lnTo>
                    <a:pt x="16673" y="21600"/>
                  </a:lnTo>
                  <a:close/>
                </a:path>
              </a:pathLst>
            </a:custGeom>
            <a:noFill/>
            <a:ln w="4763">
              <a:solidFill>
                <a:srgbClr val="49493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Arc 553"/>
            <p:cNvSpPr>
              <a:spLocks/>
            </p:cNvSpPr>
            <p:nvPr/>
          </p:nvSpPr>
          <p:spPr bwMode="auto">
            <a:xfrm>
              <a:off x="929" y="1618"/>
              <a:ext cx="55" cy="36"/>
            </a:xfrm>
            <a:custGeom>
              <a:avLst/>
              <a:gdLst>
                <a:gd name="T0" fmla="*/ 0 w 38146"/>
                <a:gd name="T1" fmla="*/ 0 h 34928"/>
                <a:gd name="T2" fmla="*/ 0 w 38146"/>
                <a:gd name="T3" fmla="*/ 0 h 34928"/>
                <a:gd name="T4" fmla="*/ 0 w 38146"/>
                <a:gd name="T5" fmla="*/ 0 h 34928"/>
                <a:gd name="T6" fmla="*/ 0 60000 65536"/>
                <a:gd name="T7" fmla="*/ 0 60000 65536"/>
                <a:gd name="T8" fmla="*/ 0 60000 65536"/>
                <a:gd name="T9" fmla="*/ 0 w 38146"/>
                <a:gd name="T10" fmla="*/ 0 h 34928"/>
                <a:gd name="T11" fmla="*/ 38146 w 38146"/>
                <a:gd name="T12" fmla="*/ 34928 h 34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46" h="34928" fill="none" extrusionOk="0">
                  <a:moveTo>
                    <a:pt x="0" y="7715"/>
                  </a:moveTo>
                  <a:cubicBezTo>
                    <a:pt x="4104" y="2824"/>
                    <a:pt x="10161" y="-1"/>
                    <a:pt x="16546" y="0"/>
                  </a:cubicBezTo>
                  <a:cubicBezTo>
                    <a:pt x="28475" y="0"/>
                    <a:pt x="38146" y="9670"/>
                    <a:pt x="38146" y="21600"/>
                  </a:cubicBezTo>
                  <a:cubicBezTo>
                    <a:pt x="38146" y="26432"/>
                    <a:pt x="36525" y="31125"/>
                    <a:pt x="33543" y="34927"/>
                  </a:cubicBezTo>
                </a:path>
                <a:path w="38146" h="34928" stroke="0" extrusionOk="0">
                  <a:moveTo>
                    <a:pt x="0" y="7715"/>
                  </a:moveTo>
                  <a:cubicBezTo>
                    <a:pt x="4104" y="2824"/>
                    <a:pt x="10161" y="-1"/>
                    <a:pt x="16546" y="0"/>
                  </a:cubicBezTo>
                  <a:cubicBezTo>
                    <a:pt x="28475" y="0"/>
                    <a:pt x="38146" y="9670"/>
                    <a:pt x="38146" y="21600"/>
                  </a:cubicBezTo>
                  <a:cubicBezTo>
                    <a:pt x="38146" y="26432"/>
                    <a:pt x="36525" y="31125"/>
                    <a:pt x="33543" y="34927"/>
                  </a:cubicBezTo>
                  <a:lnTo>
                    <a:pt x="16546" y="21600"/>
                  </a:lnTo>
                  <a:close/>
                </a:path>
              </a:pathLst>
            </a:custGeom>
            <a:noFill/>
            <a:ln w="4763">
              <a:solidFill>
                <a:srgbClr val="DBDBC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554"/>
            <p:cNvSpPr>
              <a:spLocks/>
            </p:cNvSpPr>
            <p:nvPr/>
          </p:nvSpPr>
          <p:spPr bwMode="auto">
            <a:xfrm>
              <a:off x="751" y="1591"/>
              <a:ext cx="205" cy="26"/>
            </a:xfrm>
            <a:custGeom>
              <a:avLst/>
              <a:gdLst>
                <a:gd name="T0" fmla="*/ 0 w 205"/>
                <a:gd name="T1" fmla="*/ 26 h 26"/>
                <a:gd name="T2" fmla="*/ 25 w 205"/>
                <a:gd name="T3" fmla="*/ 0 h 26"/>
                <a:gd name="T4" fmla="*/ 205 w 205"/>
                <a:gd name="T5" fmla="*/ 0 h 26"/>
                <a:gd name="T6" fmla="*/ 180 w 205"/>
                <a:gd name="T7" fmla="*/ 26 h 26"/>
                <a:gd name="T8" fmla="*/ 0 w 205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26"/>
                <a:gd name="T17" fmla="*/ 205 w 205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26">
                  <a:moveTo>
                    <a:pt x="0" y="26"/>
                  </a:moveTo>
                  <a:lnTo>
                    <a:pt x="25" y="0"/>
                  </a:lnTo>
                  <a:lnTo>
                    <a:pt x="205" y="0"/>
                  </a:lnTo>
                  <a:lnTo>
                    <a:pt x="18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555"/>
            <p:cNvSpPr>
              <a:spLocks/>
            </p:cNvSpPr>
            <p:nvPr/>
          </p:nvSpPr>
          <p:spPr bwMode="auto">
            <a:xfrm>
              <a:off x="751" y="1591"/>
              <a:ext cx="205" cy="26"/>
            </a:xfrm>
            <a:custGeom>
              <a:avLst/>
              <a:gdLst>
                <a:gd name="T0" fmla="*/ 0 w 205"/>
                <a:gd name="T1" fmla="*/ 26 h 26"/>
                <a:gd name="T2" fmla="*/ 25 w 205"/>
                <a:gd name="T3" fmla="*/ 0 h 26"/>
                <a:gd name="T4" fmla="*/ 205 w 205"/>
                <a:gd name="T5" fmla="*/ 0 h 26"/>
                <a:gd name="T6" fmla="*/ 180 w 205"/>
                <a:gd name="T7" fmla="*/ 26 h 26"/>
                <a:gd name="T8" fmla="*/ 0 w 205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26"/>
                <a:gd name="T17" fmla="*/ 205 w 205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26">
                  <a:moveTo>
                    <a:pt x="0" y="26"/>
                  </a:moveTo>
                  <a:lnTo>
                    <a:pt x="25" y="0"/>
                  </a:lnTo>
                  <a:lnTo>
                    <a:pt x="205" y="0"/>
                  </a:lnTo>
                  <a:lnTo>
                    <a:pt x="18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Rectangle 556"/>
            <p:cNvSpPr>
              <a:spLocks noChangeArrowheads="1"/>
            </p:cNvSpPr>
            <p:nvPr/>
          </p:nvSpPr>
          <p:spPr bwMode="auto">
            <a:xfrm>
              <a:off x="751" y="1617"/>
              <a:ext cx="180" cy="31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Rectangle 557"/>
            <p:cNvSpPr>
              <a:spLocks noChangeArrowheads="1"/>
            </p:cNvSpPr>
            <p:nvPr/>
          </p:nvSpPr>
          <p:spPr bwMode="auto">
            <a:xfrm>
              <a:off x="752" y="1618"/>
              <a:ext cx="178" cy="29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558"/>
            <p:cNvSpPr>
              <a:spLocks/>
            </p:cNvSpPr>
            <p:nvPr/>
          </p:nvSpPr>
          <p:spPr bwMode="auto">
            <a:xfrm>
              <a:off x="931" y="1591"/>
              <a:ext cx="25" cy="57"/>
            </a:xfrm>
            <a:custGeom>
              <a:avLst/>
              <a:gdLst>
                <a:gd name="T0" fmla="*/ 0 w 25"/>
                <a:gd name="T1" fmla="*/ 57 h 57"/>
                <a:gd name="T2" fmla="*/ 25 w 25"/>
                <a:gd name="T3" fmla="*/ 35 h 57"/>
                <a:gd name="T4" fmla="*/ 25 w 25"/>
                <a:gd name="T5" fmla="*/ 0 h 57"/>
                <a:gd name="T6" fmla="*/ 0 w 25"/>
                <a:gd name="T7" fmla="*/ 26 h 57"/>
                <a:gd name="T8" fmla="*/ 0 w 25"/>
                <a:gd name="T9" fmla="*/ 5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57"/>
                <a:gd name="T17" fmla="*/ 25 w 2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57">
                  <a:moveTo>
                    <a:pt x="0" y="57"/>
                  </a:moveTo>
                  <a:lnTo>
                    <a:pt x="25" y="35"/>
                  </a:lnTo>
                  <a:lnTo>
                    <a:pt x="25" y="0"/>
                  </a:lnTo>
                  <a:lnTo>
                    <a:pt x="0" y="26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559"/>
            <p:cNvSpPr>
              <a:spLocks/>
            </p:cNvSpPr>
            <p:nvPr/>
          </p:nvSpPr>
          <p:spPr bwMode="auto">
            <a:xfrm>
              <a:off x="931" y="1591"/>
              <a:ext cx="25" cy="57"/>
            </a:xfrm>
            <a:custGeom>
              <a:avLst/>
              <a:gdLst>
                <a:gd name="T0" fmla="*/ 0 w 25"/>
                <a:gd name="T1" fmla="*/ 57 h 57"/>
                <a:gd name="T2" fmla="*/ 25 w 25"/>
                <a:gd name="T3" fmla="*/ 35 h 57"/>
                <a:gd name="T4" fmla="*/ 25 w 25"/>
                <a:gd name="T5" fmla="*/ 0 h 57"/>
                <a:gd name="T6" fmla="*/ 0 w 25"/>
                <a:gd name="T7" fmla="*/ 26 h 57"/>
                <a:gd name="T8" fmla="*/ 0 w 25"/>
                <a:gd name="T9" fmla="*/ 5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57"/>
                <a:gd name="T17" fmla="*/ 25 w 2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57">
                  <a:moveTo>
                    <a:pt x="0" y="57"/>
                  </a:moveTo>
                  <a:lnTo>
                    <a:pt x="25" y="35"/>
                  </a:lnTo>
                  <a:lnTo>
                    <a:pt x="25" y="0"/>
                  </a:lnTo>
                  <a:lnTo>
                    <a:pt x="0" y="26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560"/>
            <p:cNvSpPr>
              <a:spLocks/>
            </p:cNvSpPr>
            <p:nvPr/>
          </p:nvSpPr>
          <p:spPr bwMode="auto">
            <a:xfrm>
              <a:off x="757" y="1591"/>
              <a:ext cx="196" cy="19"/>
            </a:xfrm>
            <a:custGeom>
              <a:avLst/>
              <a:gdLst>
                <a:gd name="T0" fmla="*/ 0 w 196"/>
                <a:gd name="T1" fmla="*/ 19 h 19"/>
                <a:gd name="T2" fmla="*/ 19 w 196"/>
                <a:gd name="T3" fmla="*/ 0 h 19"/>
                <a:gd name="T4" fmla="*/ 196 w 196"/>
                <a:gd name="T5" fmla="*/ 0 h 19"/>
                <a:gd name="T6" fmla="*/ 177 w 196"/>
                <a:gd name="T7" fmla="*/ 19 h 19"/>
                <a:gd name="T8" fmla="*/ 0 w 196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"/>
                <a:gd name="T16" fmla="*/ 0 h 19"/>
                <a:gd name="T17" fmla="*/ 196 w 196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" h="19">
                  <a:moveTo>
                    <a:pt x="0" y="19"/>
                  </a:moveTo>
                  <a:lnTo>
                    <a:pt x="19" y="0"/>
                  </a:lnTo>
                  <a:lnTo>
                    <a:pt x="196" y="0"/>
                  </a:lnTo>
                  <a:lnTo>
                    <a:pt x="177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561"/>
            <p:cNvSpPr>
              <a:spLocks/>
            </p:cNvSpPr>
            <p:nvPr/>
          </p:nvSpPr>
          <p:spPr bwMode="auto">
            <a:xfrm>
              <a:off x="757" y="1591"/>
              <a:ext cx="196" cy="19"/>
            </a:xfrm>
            <a:custGeom>
              <a:avLst/>
              <a:gdLst>
                <a:gd name="T0" fmla="*/ 0 w 196"/>
                <a:gd name="T1" fmla="*/ 19 h 19"/>
                <a:gd name="T2" fmla="*/ 19 w 196"/>
                <a:gd name="T3" fmla="*/ 0 h 19"/>
                <a:gd name="T4" fmla="*/ 196 w 196"/>
                <a:gd name="T5" fmla="*/ 0 h 19"/>
                <a:gd name="T6" fmla="*/ 177 w 196"/>
                <a:gd name="T7" fmla="*/ 19 h 19"/>
                <a:gd name="T8" fmla="*/ 0 w 196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"/>
                <a:gd name="T16" fmla="*/ 0 h 19"/>
                <a:gd name="T17" fmla="*/ 196 w 196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" h="19">
                  <a:moveTo>
                    <a:pt x="0" y="19"/>
                  </a:moveTo>
                  <a:lnTo>
                    <a:pt x="19" y="0"/>
                  </a:lnTo>
                  <a:lnTo>
                    <a:pt x="196" y="0"/>
                  </a:lnTo>
                  <a:lnTo>
                    <a:pt x="177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562"/>
            <p:cNvSpPr>
              <a:spLocks/>
            </p:cNvSpPr>
            <p:nvPr/>
          </p:nvSpPr>
          <p:spPr bwMode="auto">
            <a:xfrm>
              <a:off x="751" y="1446"/>
              <a:ext cx="202" cy="19"/>
            </a:xfrm>
            <a:custGeom>
              <a:avLst/>
              <a:gdLst>
                <a:gd name="T0" fmla="*/ 0 w 202"/>
                <a:gd name="T1" fmla="*/ 19 h 19"/>
                <a:gd name="T2" fmla="*/ 19 w 202"/>
                <a:gd name="T3" fmla="*/ 0 h 19"/>
                <a:gd name="T4" fmla="*/ 202 w 202"/>
                <a:gd name="T5" fmla="*/ 0 h 19"/>
                <a:gd name="T6" fmla="*/ 180 w 202"/>
                <a:gd name="T7" fmla="*/ 19 h 19"/>
                <a:gd name="T8" fmla="*/ 0 w 202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"/>
                <a:gd name="T16" fmla="*/ 0 h 19"/>
                <a:gd name="T17" fmla="*/ 202 w 20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" h="19">
                  <a:moveTo>
                    <a:pt x="0" y="19"/>
                  </a:moveTo>
                  <a:lnTo>
                    <a:pt x="19" y="0"/>
                  </a:lnTo>
                  <a:lnTo>
                    <a:pt x="202" y="0"/>
                  </a:lnTo>
                  <a:lnTo>
                    <a:pt x="18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563"/>
            <p:cNvSpPr>
              <a:spLocks/>
            </p:cNvSpPr>
            <p:nvPr/>
          </p:nvSpPr>
          <p:spPr bwMode="auto">
            <a:xfrm>
              <a:off x="751" y="1446"/>
              <a:ext cx="202" cy="19"/>
            </a:xfrm>
            <a:custGeom>
              <a:avLst/>
              <a:gdLst>
                <a:gd name="T0" fmla="*/ 0 w 202"/>
                <a:gd name="T1" fmla="*/ 19 h 19"/>
                <a:gd name="T2" fmla="*/ 19 w 202"/>
                <a:gd name="T3" fmla="*/ 0 h 19"/>
                <a:gd name="T4" fmla="*/ 202 w 202"/>
                <a:gd name="T5" fmla="*/ 0 h 19"/>
                <a:gd name="T6" fmla="*/ 180 w 202"/>
                <a:gd name="T7" fmla="*/ 19 h 19"/>
                <a:gd name="T8" fmla="*/ 0 w 202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"/>
                <a:gd name="T16" fmla="*/ 0 h 19"/>
                <a:gd name="T17" fmla="*/ 202 w 20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" h="19">
                  <a:moveTo>
                    <a:pt x="0" y="19"/>
                  </a:moveTo>
                  <a:lnTo>
                    <a:pt x="19" y="0"/>
                  </a:lnTo>
                  <a:lnTo>
                    <a:pt x="202" y="0"/>
                  </a:lnTo>
                  <a:lnTo>
                    <a:pt x="18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Rectangle 564"/>
            <p:cNvSpPr>
              <a:spLocks noChangeArrowheads="1"/>
            </p:cNvSpPr>
            <p:nvPr/>
          </p:nvSpPr>
          <p:spPr bwMode="auto">
            <a:xfrm>
              <a:off x="752" y="1466"/>
              <a:ext cx="181" cy="140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Rectangle 565"/>
            <p:cNvSpPr>
              <a:spLocks noChangeArrowheads="1"/>
            </p:cNvSpPr>
            <p:nvPr/>
          </p:nvSpPr>
          <p:spPr bwMode="auto">
            <a:xfrm>
              <a:off x="768" y="1485"/>
              <a:ext cx="149" cy="10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566"/>
            <p:cNvSpPr>
              <a:spLocks/>
            </p:cNvSpPr>
            <p:nvPr/>
          </p:nvSpPr>
          <p:spPr bwMode="auto">
            <a:xfrm>
              <a:off x="931" y="1446"/>
              <a:ext cx="22" cy="161"/>
            </a:xfrm>
            <a:custGeom>
              <a:avLst/>
              <a:gdLst>
                <a:gd name="T0" fmla="*/ 0 w 22"/>
                <a:gd name="T1" fmla="*/ 161 h 161"/>
                <a:gd name="T2" fmla="*/ 22 w 22"/>
                <a:gd name="T3" fmla="*/ 142 h 161"/>
                <a:gd name="T4" fmla="*/ 22 w 22"/>
                <a:gd name="T5" fmla="*/ 0 h 161"/>
                <a:gd name="T6" fmla="*/ 0 w 22"/>
                <a:gd name="T7" fmla="*/ 19 h 161"/>
                <a:gd name="T8" fmla="*/ 0 w 22"/>
                <a:gd name="T9" fmla="*/ 161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161"/>
                <a:gd name="T17" fmla="*/ 22 w 22"/>
                <a:gd name="T18" fmla="*/ 161 h 1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161">
                  <a:moveTo>
                    <a:pt x="0" y="161"/>
                  </a:moveTo>
                  <a:lnTo>
                    <a:pt x="22" y="142"/>
                  </a:lnTo>
                  <a:lnTo>
                    <a:pt x="22" y="0"/>
                  </a:lnTo>
                  <a:lnTo>
                    <a:pt x="0" y="19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567"/>
            <p:cNvSpPr>
              <a:spLocks/>
            </p:cNvSpPr>
            <p:nvPr/>
          </p:nvSpPr>
          <p:spPr bwMode="auto">
            <a:xfrm>
              <a:off x="931" y="1446"/>
              <a:ext cx="22" cy="161"/>
            </a:xfrm>
            <a:custGeom>
              <a:avLst/>
              <a:gdLst>
                <a:gd name="T0" fmla="*/ 0 w 22"/>
                <a:gd name="T1" fmla="*/ 161 h 161"/>
                <a:gd name="T2" fmla="*/ 22 w 22"/>
                <a:gd name="T3" fmla="*/ 142 h 161"/>
                <a:gd name="T4" fmla="*/ 22 w 22"/>
                <a:gd name="T5" fmla="*/ 0 h 161"/>
                <a:gd name="T6" fmla="*/ 0 w 22"/>
                <a:gd name="T7" fmla="*/ 19 h 161"/>
                <a:gd name="T8" fmla="*/ 0 w 22"/>
                <a:gd name="T9" fmla="*/ 161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161"/>
                <a:gd name="T17" fmla="*/ 22 w 22"/>
                <a:gd name="T18" fmla="*/ 161 h 1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161">
                  <a:moveTo>
                    <a:pt x="0" y="161"/>
                  </a:moveTo>
                  <a:lnTo>
                    <a:pt x="22" y="142"/>
                  </a:lnTo>
                  <a:lnTo>
                    <a:pt x="22" y="0"/>
                  </a:lnTo>
                  <a:lnTo>
                    <a:pt x="0" y="19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568"/>
            <p:cNvSpPr>
              <a:spLocks/>
            </p:cNvSpPr>
            <p:nvPr/>
          </p:nvSpPr>
          <p:spPr bwMode="auto">
            <a:xfrm>
              <a:off x="717" y="1642"/>
              <a:ext cx="223" cy="35"/>
            </a:xfrm>
            <a:custGeom>
              <a:avLst/>
              <a:gdLst>
                <a:gd name="T0" fmla="*/ 0 w 223"/>
                <a:gd name="T1" fmla="*/ 35 h 35"/>
                <a:gd name="T2" fmla="*/ 28 w 223"/>
                <a:gd name="T3" fmla="*/ 0 h 35"/>
                <a:gd name="T4" fmla="*/ 223 w 223"/>
                <a:gd name="T5" fmla="*/ 0 h 35"/>
                <a:gd name="T6" fmla="*/ 195 w 223"/>
                <a:gd name="T7" fmla="*/ 35 h 35"/>
                <a:gd name="T8" fmla="*/ 0 w 223"/>
                <a:gd name="T9" fmla="*/ 3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3"/>
                <a:gd name="T16" fmla="*/ 0 h 35"/>
                <a:gd name="T17" fmla="*/ 223 w 223"/>
                <a:gd name="T18" fmla="*/ 35 h 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3" h="35">
                  <a:moveTo>
                    <a:pt x="0" y="35"/>
                  </a:moveTo>
                  <a:lnTo>
                    <a:pt x="28" y="0"/>
                  </a:lnTo>
                  <a:lnTo>
                    <a:pt x="223" y="0"/>
                  </a:lnTo>
                  <a:lnTo>
                    <a:pt x="195" y="3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569"/>
            <p:cNvSpPr>
              <a:spLocks/>
            </p:cNvSpPr>
            <p:nvPr/>
          </p:nvSpPr>
          <p:spPr bwMode="auto">
            <a:xfrm>
              <a:off x="717" y="1642"/>
              <a:ext cx="223" cy="35"/>
            </a:xfrm>
            <a:custGeom>
              <a:avLst/>
              <a:gdLst>
                <a:gd name="T0" fmla="*/ 0 w 223"/>
                <a:gd name="T1" fmla="*/ 35 h 35"/>
                <a:gd name="T2" fmla="*/ 28 w 223"/>
                <a:gd name="T3" fmla="*/ 0 h 35"/>
                <a:gd name="T4" fmla="*/ 223 w 223"/>
                <a:gd name="T5" fmla="*/ 0 h 35"/>
                <a:gd name="T6" fmla="*/ 195 w 223"/>
                <a:gd name="T7" fmla="*/ 35 h 35"/>
                <a:gd name="T8" fmla="*/ 0 w 223"/>
                <a:gd name="T9" fmla="*/ 3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3"/>
                <a:gd name="T16" fmla="*/ 0 h 35"/>
                <a:gd name="T17" fmla="*/ 223 w 223"/>
                <a:gd name="T18" fmla="*/ 35 h 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3" h="35">
                  <a:moveTo>
                    <a:pt x="0" y="35"/>
                  </a:moveTo>
                  <a:lnTo>
                    <a:pt x="28" y="0"/>
                  </a:lnTo>
                  <a:lnTo>
                    <a:pt x="223" y="0"/>
                  </a:lnTo>
                  <a:lnTo>
                    <a:pt x="195" y="3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570"/>
            <p:cNvSpPr>
              <a:spLocks/>
            </p:cNvSpPr>
            <p:nvPr/>
          </p:nvSpPr>
          <p:spPr bwMode="auto">
            <a:xfrm>
              <a:off x="912" y="1642"/>
              <a:ext cx="28" cy="41"/>
            </a:xfrm>
            <a:custGeom>
              <a:avLst/>
              <a:gdLst>
                <a:gd name="T0" fmla="*/ 0 w 28"/>
                <a:gd name="T1" fmla="*/ 41 h 41"/>
                <a:gd name="T2" fmla="*/ 28 w 28"/>
                <a:gd name="T3" fmla="*/ 13 h 41"/>
                <a:gd name="T4" fmla="*/ 28 w 28"/>
                <a:gd name="T5" fmla="*/ 0 h 41"/>
                <a:gd name="T6" fmla="*/ 0 w 28"/>
                <a:gd name="T7" fmla="*/ 35 h 41"/>
                <a:gd name="T8" fmla="*/ 0 w 28"/>
                <a:gd name="T9" fmla="*/ 4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41"/>
                <a:gd name="T17" fmla="*/ 28 w 28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41">
                  <a:moveTo>
                    <a:pt x="0" y="41"/>
                  </a:moveTo>
                  <a:lnTo>
                    <a:pt x="28" y="13"/>
                  </a:lnTo>
                  <a:lnTo>
                    <a:pt x="28" y="0"/>
                  </a:lnTo>
                  <a:lnTo>
                    <a:pt x="0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571"/>
            <p:cNvSpPr>
              <a:spLocks/>
            </p:cNvSpPr>
            <p:nvPr/>
          </p:nvSpPr>
          <p:spPr bwMode="auto">
            <a:xfrm>
              <a:off x="912" y="1642"/>
              <a:ext cx="28" cy="41"/>
            </a:xfrm>
            <a:custGeom>
              <a:avLst/>
              <a:gdLst>
                <a:gd name="T0" fmla="*/ 0 w 28"/>
                <a:gd name="T1" fmla="*/ 41 h 41"/>
                <a:gd name="T2" fmla="*/ 28 w 28"/>
                <a:gd name="T3" fmla="*/ 13 h 41"/>
                <a:gd name="T4" fmla="*/ 28 w 28"/>
                <a:gd name="T5" fmla="*/ 0 h 41"/>
                <a:gd name="T6" fmla="*/ 0 w 28"/>
                <a:gd name="T7" fmla="*/ 35 h 41"/>
                <a:gd name="T8" fmla="*/ 0 w 28"/>
                <a:gd name="T9" fmla="*/ 4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41"/>
                <a:gd name="T17" fmla="*/ 28 w 28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41">
                  <a:moveTo>
                    <a:pt x="0" y="41"/>
                  </a:moveTo>
                  <a:lnTo>
                    <a:pt x="28" y="13"/>
                  </a:lnTo>
                  <a:lnTo>
                    <a:pt x="28" y="0"/>
                  </a:lnTo>
                  <a:lnTo>
                    <a:pt x="0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Rectangle 572"/>
            <p:cNvSpPr>
              <a:spLocks noChangeArrowheads="1"/>
            </p:cNvSpPr>
            <p:nvPr/>
          </p:nvSpPr>
          <p:spPr bwMode="auto">
            <a:xfrm>
              <a:off x="717" y="1677"/>
              <a:ext cx="195" cy="6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573"/>
            <p:cNvSpPr>
              <a:spLocks noChangeArrowheads="1"/>
            </p:cNvSpPr>
            <p:nvPr/>
          </p:nvSpPr>
          <p:spPr bwMode="auto">
            <a:xfrm>
              <a:off x="718" y="1678"/>
              <a:ext cx="193" cy="4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574"/>
            <p:cNvSpPr>
              <a:spLocks/>
            </p:cNvSpPr>
            <p:nvPr/>
          </p:nvSpPr>
          <p:spPr bwMode="auto">
            <a:xfrm>
              <a:off x="953" y="1651"/>
              <a:ext cx="38" cy="23"/>
            </a:xfrm>
            <a:custGeom>
              <a:avLst/>
              <a:gdLst>
                <a:gd name="T0" fmla="*/ 0 w 38"/>
                <a:gd name="T1" fmla="*/ 23 h 23"/>
                <a:gd name="T2" fmla="*/ 13 w 38"/>
                <a:gd name="T3" fmla="*/ 0 h 23"/>
                <a:gd name="T4" fmla="*/ 38 w 38"/>
                <a:gd name="T5" fmla="*/ 0 h 23"/>
                <a:gd name="T6" fmla="*/ 25 w 38"/>
                <a:gd name="T7" fmla="*/ 23 h 23"/>
                <a:gd name="T8" fmla="*/ 0 w 38"/>
                <a:gd name="T9" fmla="*/ 2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23"/>
                <a:gd name="T17" fmla="*/ 38 w 38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23">
                  <a:moveTo>
                    <a:pt x="0" y="23"/>
                  </a:moveTo>
                  <a:lnTo>
                    <a:pt x="13" y="0"/>
                  </a:lnTo>
                  <a:lnTo>
                    <a:pt x="38" y="0"/>
                  </a:lnTo>
                  <a:lnTo>
                    <a:pt x="25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575"/>
            <p:cNvSpPr>
              <a:spLocks/>
            </p:cNvSpPr>
            <p:nvPr/>
          </p:nvSpPr>
          <p:spPr bwMode="auto">
            <a:xfrm>
              <a:off x="953" y="1651"/>
              <a:ext cx="38" cy="23"/>
            </a:xfrm>
            <a:custGeom>
              <a:avLst/>
              <a:gdLst>
                <a:gd name="T0" fmla="*/ 0 w 38"/>
                <a:gd name="T1" fmla="*/ 23 h 23"/>
                <a:gd name="T2" fmla="*/ 13 w 38"/>
                <a:gd name="T3" fmla="*/ 0 h 23"/>
                <a:gd name="T4" fmla="*/ 38 w 38"/>
                <a:gd name="T5" fmla="*/ 0 h 23"/>
                <a:gd name="T6" fmla="*/ 25 w 38"/>
                <a:gd name="T7" fmla="*/ 23 h 23"/>
                <a:gd name="T8" fmla="*/ 0 w 38"/>
                <a:gd name="T9" fmla="*/ 2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23"/>
                <a:gd name="T17" fmla="*/ 38 w 38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23">
                  <a:moveTo>
                    <a:pt x="0" y="23"/>
                  </a:moveTo>
                  <a:lnTo>
                    <a:pt x="13" y="0"/>
                  </a:lnTo>
                  <a:lnTo>
                    <a:pt x="38" y="0"/>
                  </a:lnTo>
                  <a:lnTo>
                    <a:pt x="25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576"/>
            <p:cNvSpPr>
              <a:spLocks/>
            </p:cNvSpPr>
            <p:nvPr/>
          </p:nvSpPr>
          <p:spPr bwMode="auto">
            <a:xfrm>
              <a:off x="978" y="1651"/>
              <a:ext cx="13" cy="29"/>
            </a:xfrm>
            <a:custGeom>
              <a:avLst/>
              <a:gdLst>
                <a:gd name="T0" fmla="*/ 0 w 13"/>
                <a:gd name="T1" fmla="*/ 29 h 29"/>
                <a:gd name="T2" fmla="*/ 13 w 13"/>
                <a:gd name="T3" fmla="*/ 16 h 29"/>
                <a:gd name="T4" fmla="*/ 13 w 13"/>
                <a:gd name="T5" fmla="*/ 0 h 29"/>
                <a:gd name="T6" fmla="*/ 0 w 13"/>
                <a:gd name="T7" fmla="*/ 23 h 29"/>
                <a:gd name="T8" fmla="*/ 0 w 13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29"/>
                <a:gd name="T17" fmla="*/ 13 w 13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29">
                  <a:moveTo>
                    <a:pt x="0" y="29"/>
                  </a:moveTo>
                  <a:lnTo>
                    <a:pt x="13" y="16"/>
                  </a:lnTo>
                  <a:lnTo>
                    <a:pt x="13" y="0"/>
                  </a:lnTo>
                  <a:lnTo>
                    <a:pt x="0" y="2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577"/>
            <p:cNvSpPr>
              <a:spLocks/>
            </p:cNvSpPr>
            <p:nvPr/>
          </p:nvSpPr>
          <p:spPr bwMode="auto">
            <a:xfrm>
              <a:off x="978" y="1651"/>
              <a:ext cx="13" cy="29"/>
            </a:xfrm>
            <a:custGeom>
              <a:avLst/>
              <a:gdLst>
                <a:gd name="T0" fmla="*/ 0 w 13"/>
                <a:gd name="T1" fmla="*/ 29 h 29"/>
                <a:gd name="T2" fmla="*/ 13 w 13"/>
                <a:gd name="T3" fmla="*/ 16 h 29"/>
                <a:gd name="T4" fmla="*/ 13 w 13"/>
                <a:gd name="T5" fmla="*/ 0 h 29"/>
                <a:gd name="T6" fmla="*/ 0 w 13"/>
                <a:gd name="T7" fmla="*/ 23 h 29"/>
                <a:gd name="T8" fmla="*/ 0 w 13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29"/>
                <a:gd name="T17" fmla="*/ 13 w 13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29">
                  <a:moveTo>
                    <a:pt x="0" y="29"/>
                  </a:moveTo>
                  <a:lnTo>
                    <a:pt x="13" y="16"/>
                  </a:lnTo>
                  <a:lnTo>
                    <a:pt x="13" y="0"/>
                  </a:lnTo>
                  <a:lnTo>
                    <a:pt x="0" y="2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578"/>
            <p:cNvSpPr>
              <a:spLocks noChangeArrowheads="1"/>
            </p:cNvSpPr>
            <p:nvPr/>
          </p:nvSpPr>
          <p:spPr bwMode="auto">
            <a:xfrm>
              <a:off x="950" y="1674"/>
              <a:ext cx="28" cy="6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579"/>
            <p:cNvSpPr>
              <a:spLocks noChangeArrowheads="1"/>
            </p:cNvSpPr>
            <p:nvPr/>
          </p:nvSpPr>
          <p:spPr bwMode="auto">
            <a:xfrm>
              <a:off x="951" y="1675"/>
              <a:ext cx="26" cy="4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8" name="Text Box 597"/>
          <p:cNvSpPr txBox="1">
            <a:spLocks noChangeArrowheads="1"/>
          </p:cNvSpPr>
          <p:nvPr/>
        </p:nvSpPr>
        <p:spPr bwMode="auto">
          <a:xfrm>
            <a:off x="879802" y="1026439"/>
            <a:ext cx="654346" cy="28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zh-CN" altLang="en-US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Text Box 598"/>
          <p:cNvSpPr txBox="1">
            <a:spLocks noChangeArrowheads="1"/>
          </p:cNvSpPr>
          <p:nvPr/>
        </p:nvSpPr>
        <p:spPr bwMode="auto">
          <a:xfrm>
            <a:off x="4301936" y="1030831"/>
            <a:ext cx="798617" cy="28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1" lang="zh-CN" altLang="en-US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Line 515"/>
          <p:cNvSpPr>
            <a:spLocks noChangeShapeType="1"/>
          </p:cNvSpPr>
          <p:nvPr/>
        </p:nvSpPr>
        <p:spPr bwMode="auto">
          <a:xfrm flipV="1">
            <a:off x="1165155" y="1831344"/>
            <a:ext cx="3529728" cy="21216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Text Box 484"/>
          <p:cNvSpPr txBox="1">
            <a:spLocks noChangeArrowheads="1"/>
          </p:cNvSpPr>
          <p:nvPr/>
        </p:nvSpPr>
        <p:spPr bwMode="auto">
          <a:xfrm>
            <a:off x="2040202" y="1524002"/>
            <a:ext cx="1804084" cy="28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双方已建立了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882173" y="2072613"/>
            <a:ext cx="3812710" cy="558837"/>
            <a:chOff x="882173" y="2072613"/>
            <a:chExt cx="3812710" cy="558837"/>
          </a:xfrm>
        </p:grpSpPr>
        <p:sp>
          <p:nvSpPr>
            <p:cNvPr id="10" name="Line 73">
              <a:extLst>
                <a:ext uri="{FF2B5EF4-FFF2-40B4-BE49-F238E27FC236}">
                  <a16:creationId xmlns:a16="http://schemas.microsoft.com/office/drawing/2014/main" id="{FD2D2176-5510-9F45-87FD-D6A6EC51F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4859" y="2231432"/>
              <a:ext cx="3530024" cy="23100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Rectangle 72">
              <a:extLst>
                <a:ext uri="{FF2B5EF4-FFF2-40B4-BE49-F238E27FC236}">
                  <a16:creationId xmlns:a16="http://schemas.microsoft.com/office/drawing/2014/main" id="{D3C8411C-D034-C847-A430-7115B6AF6DC3}"/>
                </a:ext>
              </a:extLst>
            </p:cNvPr>
            <p:cNvSpPr/>
            <p:nvPr/>
          </p:nvSpPr>
          <p:spPr>
            <a:xfrm rot="225619">
              <a:off x="1307527" y="2087678"/>
              <a:ext cx="3175859" cy="543772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 anchorCtr="0"/>
            <a:lstStyle/>
            <a:p>
              <a:r>
                <a:rPr kumimoji="1" lang="en-US" altLang="zh-CN" sz="11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Client </a:t>
              </a:r>
              <a:r>
                <a:rPr kumimoji="1" lang="en-US" altLang="zh-CN" sz="11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hello:</a:t>
              </a:r>
            </a:p>
            <a:p>
              <a:r>
                <a:rPr kumimoji="1" lang="en-US" altLang="zh-CN" sz="11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TLS </a:t>
              </a:r>
              <a:r>
                <a:rPr kumimoji="1" lang="zh-CN" altLang="en-US" sz="11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版本、支持的加密</a:t>
              </a:r>
              <a:r>
                <a:rPr kumimoji="1" lang="zh-CN" altLang="en-US" sz="1100" b="1" dirty="0" smtClean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套件列表、</a:t>
              </a:r>
              <a:r>
                <a:rPr kumimoji="1" lang="en-US" altLang="zh-CN" sz="11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DH</a:t>
              </a:r>
              <a:r>
                <a:rPr kumimoji="1" lang="zh-CN" altLang="en-US" sz="11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密钥交换协议、密钥共享参数、</a:t>
              </a:r>
              <a:r>
                <a:rPr kumimoji="1" lang="zh-CN" altLang="en-US" sz="1100" b="1" dirty="0" smtClean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随机数</a:t>
              </a:r>
              <a:endParaRPr kumimoji="1" lang="en-US" altLang="zh-CN" sz="11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TextBox 57"/>
            <p:cNvSpPr txBox="1">
              <a:spLocks noChangeArrowheads="1"/>
            </p:cNvSpPr>
            <p:nvPr/>
          </p:nvSpPr>
          <p:spPr bwMode="auto">
            <a:xfrm>
              <a:off x="882173" y="2072613"/>
              <a:ext cx="33855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①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1139996" y="2965513"/>
            <a:ext cx="3814137" cy="656225"/>
            <a:chOff x="1139996" y="2965513"/>
            <a:chExt cx="3814137" cy="656225"/>
          </a:xfrm>
        </p:grpSpPr>
        <p:sp>
          <p:nvSpPr>
            <p:cNvPr id="50" name="Line 73">
              <a:extLst>
                <a:ext uri="{FF2B5EF4-FFF2-40B4-BE49-F238E27FC236}">
                  <a16:creationId xmlns:a16="http://schemas.microsoft.com/office/drawing/2014/main" id="{73AB1539-E1D3-A74D-B91D-21C37901A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9996" y="3113878"/>
              <a:ext cx="3528000" cy="39846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6" name="Rectangle 79">
              <a:extLst>
                <a:ext uri="{FF2B5EF4-FFF2-40B4-BE49-F238E27FC236}">
                  <a16:creationId xmlns:a16="http://schemas.microsoft.com/office/drawing/2014/main" id="{5AE9F0B4-D415-2D4C-8FE9-1E41596DEA9F}"/>
                </a:ext>
              </a:extLst>
            </p:cNvPr>
            <p:cNvSpPr/>
            <p:nvPr/>
          </p:nvSpPr>
          <p:spPr>
            <a:xfrm rot="21265878">
              <a:off x="1528464" y="3009833"/>
              <a:ext cx="2696817" cy="61190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2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 </a:t>
              </a:r>
              <a:r>
                <a:rPr kumimoji="1"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hello:</a:t>
              </a:r>
            </a:p>
            <a:p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TLS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版本、选定的加密套件、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DH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密钥交换协议、密钥共享参数、</a:t>
              </a:r>
              <a:r>
                <a:rPr kumimoji="1" lang="zh-CN" altLang="en-US" sz="1200" b="1" dirty="0" smtClean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随机数</a:t>
              </a:r>
              <a:endParaRPr kumimoji="1"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TextBox 58"/>
            <p:cNvSpPr txBox="1">
              <a:spLocks noChangeArrowheads="1"/>
            </p:cNvSpPr>
            <p:nvPr/>
          </p:nvSpPr>
          <p:spPr bwMode="auto">
            <a:xfrm>
              <a:off x="4615579" y="2965513"/>
              <a:ext cx="33855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②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5154345" y="1196033"/>
            <a:ext cx="3794921" cy="861774"/>
            <a:chOff x="5154345" y="1196033"/>
            <a:chExt cx="3794921" cy="861774"/>
          </a:xfrm>
        </p:grpSpPr>
        <p:sp>
          <p:nvSpPr>
            <p:cNvPr id="122" name="Rectangle 46"/>
            <p:cNvSpPr>
              <a:spLocks noChangeArrowheads="1"/>
            </p:cNvSpPr>
            <p:nvPr/>
          </p:nvSpPr>
          <p:spPr bwMode="auto">
            <a:xfrm>
              <a:off x="5378493" y="1196033"/>
              <a:ext cx="3570773" cy="861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10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hangingPunct="0">
                <a:lnSpc>
                  <a:spcPts val="2000"/>
                </a:lnSpc>
                <a:buClr>
                  <a:srgbClr val="0070C0"/>
                </a:buClr>
              </a:pP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客户</a:t>
              </a:r>
              <a:r>
                <a:rPr lang="en-US" altLang="zh-CN" sz="1400" b="1" dirty="0" smtClean="0">
                  <a:latin typeface="微软雅黑" pitchFamily="34" charset="-122"/>
                  <a:ea typeface="微软雅黑" pitchFamily="34" charset="-122"/>
                </a:rPr>
                <a:t> TLS Hello </a:t>
              </a: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消息：</a:t>
              </a:r>
              <a:endParaRPr lang="en-US" altLang="zh-CN" sz="1400" b="1" dirty="0" smtClean="0">
                <a:latin typeface="微软雅黑" pitchFamily="34" charset="-122"/>
                <a:ea typeface="微软雅黑" pitchFamily="34" charset="-122"/>
              </a:endParaRPr>
            </a:p>
            <a:p>
              <a:pPr marL="172800" indent="-172800" hangingPunct="0">
                <a:lnSpc>
                  <a:spcPts val="2000"/>
                </a:lnSpc>
                <a:buClr>
                  <a:srgbClr val="0070C0"/>
                </a:buClr>
                <a:buFont typeface="Wingdings" panose="05000000000000000000" pitchFamily="2" charset="2"/>
                <a:buChar char="l"/>
              </a:pPr>
              <a:r>
                <a:rPr lang="zh-CN" altLang="en-US" sz="1200" b="1" dirty="0" smtClean="0">
                  <a:latin typeface="微软雅黑" pitchFamily="34" charset="-122"/>
                  <a:ea typeface="微软雅黑" pitchFamily="34" charset="-122"/>
                </a:rPr>
                <a:t>猜测服务器可能会选用的密钥交换协议</a:t>
              </a:r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和参数</a:t>
              </a:r>
              <a:r>
                <a:rPr lang="zh-CN" altLang="en-US" sz="1200" b="1" dirty="0" smtClean="0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en-US" altLang="zh-CN" sz="1200" b="1" dirty="0" smtClean="0">
                <a:latin typeface="微软雅黑" pitchFamily="34" charset="-122"/>
                <a:ea typeface="微软雅黑" pitchFamily="34" charset="-122"/>
              </a:endParaRPr>
            </a:p>
            <a:p>
              <a:pPr marL="172800" indent="-172800" hangingPunct="0">
                <a:lnSpc>
                  <a:spcPts val="2000"/>
                </a:lnSpc>
                <a:buClr>
                  <a:srgbClr val="0070C0"/>
                </a:buClr>
                <a:buFont typeface="Wingdings" panose="05000000000000000000" pitchFamily="2" charset="2"/>
                <a:buChar char="l"/>
              </a:pPr>
              <a:r>
                <a:rPr lang="zh-CN" altLang="en-US" sz="1200" b="1" dirty="0" smtClean="0">
                  <a:latin typeface="微软雅黑" pitchFamily="34" charset="-122"/>
                  <a:ea typeface="微软雅黑" pitchFamily="34" charset="-122"/>
                </a:rPr>
                <a:t>客户支持的加密套件列表。</a:t>
              </a:r>
              <a:endParaRPr lang="zh-CN" altLang="en-US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5" name="TextBox 57"/>
            <p:cNvSpPr txBox="1">
              <a:spLocks noChangeArrowheads="1"/>
            </p:cNvSpPr>
            <p:nvPr/>
          </p:nvSpPr>
          <p:spPr bwMode="auto">
            <a:xfrm>
              <a:off x="5154345" y="1222887"/>
              <a:ext cx="33855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①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868080" y="3711132"/>
            <a:ext cx="3799916" cy="533227"/>
            <a:chOff x="868080" y="3711132"/>
            <a:chExt cx="3799916" cy="533227"/>
          </a:xfrm>
        </p:grpSpPr>
        <p:sp>
          <p:nvSpPr>
            <p:cNvPr id="51" name="Line 73">
              <a:extLst>
                <a:ext uri="{FF2B5EF4-FFF2-40B4-BE49-F238E27FC236}">
                  <a16:creationId xmlns:a16="http://schemas.microsoft.com/office/drawing/2014/main" id="{B119B6F9-3051-4845-8DC3-AC7CA8281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9995" y="3860083"/>
              <a:ext cx="3528001" cy="38427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868080" y="3711132"/>
              <a:ext cx="33855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③</a:t>
              </a:r>
            </a:p>
          </p:txBody>
        </p:sp>
        <p:sp>
          <p:nvSpPr>
            <p:cNvPr id="128" name="Rectangle 72">
              <a:extLst>
                <a:ext uri="{FF2B5EF4-FFF2-40B4-BE49-F238E27FC236}">
                  <a16:creationId xmlns:a16="http://schemas.microsoft.com/office/drawing/2014/main" id="{D3C8411C-D034-C847-A430-7115B6AF6DC3}"/>
                </a:ext>
              </a:extLst>
            </p:cNvPr>
            <p:cNvSpPr/>
            <p:nvPr/>
          </p:nvSpPr>
          <p:spPr>
            <a:xfrm rot="225619">
              <a:off x="2237665" y="3915998"/>
              <a:ext cx="1278413" cy="27597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 anchorCtr="0"/>
            <a:lstStyle/>
            <a:p>
              <a:pPr algn="ctr"/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应用数据</a:t>
              </a:r>
              <a:endParaRPr kumimoji="1"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338738" y="2207619"/>
            <a:ext cx="801258" cy="1312384"/>
            <a:chOff x="338738" y="2207619"/>
            <a:chExt cx="801258" cy="1312384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753917" y="2207619"/>
              <a:ext cx="12970" cy="1312384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 Box 590"/>
            <p:cNvSpPr txBox="1">
              <a:spLocks noChangeArrowheads="1"/>
            </p:cNvSpPr>
            <p:nvPr/>
          </p:nvSpPr>
          <p:spPr bwMode="auto">
            <a:xfrm>
              <a:off x="338738" y="2759893"/>
              <a:ext cx="747012" cy="276999"/>
            </a:xfrm>
            <a:prstGeom prst="rect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2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RTT</a:t>
              </a:r>
              <a:endPara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 flipH="1">
              <a:off x="515091" y="2211112"/>
              <a:ext cx="49300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flipH="1" flipV="1">
              <a:off x="461427" y="3512338"/>
              <a:ext cx="678569" cy="76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组合 148"/>
          <p:cNvGrpSpPr/>
          <p:nvPr/>
        </p:nvGrpSpPr>
        <p:grpSpPr>
          <a:xfrm>
            <a:off x="5149996" y="2072613"/>
            <a:ext cx="3780959" cy="1118255"/>
            <a:chOff x="5187375" y="2175878"/>
            <a:chExt cx="3780959" cy="1118255"/>
          </a:xfrm>
        </p:grpSpPr>
        <p:sp>
          <p:nvSpPr>
            <p:cNvPr id="126" name="TextBox 58"/>
            <p:cNvSpPr txBox="1">
              <a:spLocks noChangeArrowheads="1"/>
            </p:cNvSpPr>
            <p:nvPr/>
          </p:nvSpPr>
          <p:spPr bwMode="auto">
            <a:xfrm>
              <a:off x="5187375" y="2207941"/>
              <a:ext cx="33855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②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Rectangle 46"/>
            <p:cNvSpPr>
              <a:spLocks noChangeArrowheads="1"/>
            </p:cNvSpPr>
            <p:nvPr/>
          </p:nvSpPr>
          <p:spPr bwMode="auto">
            <a:xfrm>
              <a:off x="5397561" y="2175878"/>
              <a:ext cx="3570773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10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hangingPunct="0">
                <a:lnSpc>
                  <a:spcPts val="2000"/>
                </a:lnSpc>
                <a:buClr>
                  <a:srgbClr val="0070C0"/>
                </a:buClr>
              </a:pP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服务器 </a:t>
              </a:r>
              <a:r>
                <a:rPr lang="en-US" altLang="zh-CN" sz="1400" b="1" dirty="0" smtClean="0">
                  <a:latin typeface="微软雅黑" pitchFamily="34" charset="-122"/>
                  <a:ea typeface="微软雅黑" pitchFamily="34" charset="-122"/>
                </a:rPr>
                <a:t>TLS Hello</a:t>
              </a: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消息：</a:t>
              </a:r>
              <a:endParaRPr lang="en-US" altLang="zh-CN" sz="1400" b="1" dirty="0" smtClean="0">
                <a:latin typeface="微软雅黑" pitchFamily="34" charset="-122"/>
                <a:ea typeface="微软雅黑" pitchFamily="34" charset="-122"/>
              </a:endParaRPr>
            </a:p>
            <a:p>
              <a:pPr marL="171450" indent="-171450" hangingPunct="0">
                <a:lnSpc>
                  <a:spcPts val="2000"/>
                </a:lnSpc>
                <a:buClr>
                  <a:srgbClr val="0070C0"/>
                </a:buClr>
                <a:buFont typeface="Wingdings" panose="05000000000000000000" pitchFamily="2" charset="2"/>
                <a:buChar char="l"/>
              </a:pPr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选定的密钥交换协议和参数。</a:t>
              </a:r>
              <a:endParaRPr lang="en-US" altLang="zh-CN" sz="1200" b="1" dirty="0">
                <a:latin typeface="微软雅黑" pitchFamily="34" charset="-122"/>
                <a:ea typeface="微软雅黑" pitchFamily="34" charset="-122"/>
              </a:endParaRPr>
            </a:p>
            <a:p>
              <a:pPr marL="171450" indent="-171450" hangingPunct="0">
                <a:lnSpc>
                  <a:spcPts val="2000"/>
                </a:lnSpc>
                <a:buClr>
                  <a:srgbClr val="0070C0"/>
                </a:buClr>
                <a:buFont typeface="Wingdings" panose="05000000000000000000" pitchFamily="2" charset="2"/>
                <a:buChar char="l"/>
              </a:pPr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选定的加密套件。</a:t>
              </a:r>
              <a:endParaRPr lang="en-US" altLang="zh-CN" sz="1200" b="1" dirty="0">
                <a:latin typeface="微软雅黑" pitchFamily="34" charset="-122"/>
                <a:ea typeface="微软雅黑" pitchFamily="34" charset="-122"/>
              </a:endParaRPr>
            </a:p>
            <a:p>
              <a:pPr marL="171450" indent="-171450" hangingPunct="0">
                <a:lnSpc>
                  <a:spcPts val="2000"/>
                </a:lnSpc>
                <a:buClr>
                  <a:srgbClr val="0070C0"/>
                </a:buClr>
                <a:buFont typeface="Wingdings" panose="05000000000000000000" pitchFamily="2" charset="2"/>
                <a:buChar char="l"/>
              </a:pPr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服务器证书</a:t>
              </a:r>
              <a:r>
                <a:rPr lang="zh-CN" altLang="en-US" sz="1200" b="1" dirty="0" smtClean="0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5161977" y="3226859"/>
            <a:ext cx="3806357" cy="1374735"/>
            <a:chOff x="5161977" y="3226859"/>
            <a:chExt cx="3806357" cy="1374735"/>
          </a:xfrm>
        </p:grpSpPr>
        <p:sp>
          <p:nvSpPr>
            <p:cNvPr id="127" name="矩形 126"/>
            <p:cNvSpPr/>
            <p:nvPr/>
          </p:nvSpPr>
          <p:spPr>
            <a:xfrm>
              <a:off x="5161977" y="3243544"/>
              <a:ext cx="33855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③</a:t>
              </a:r>
            </a:p>
          </p:txBody>
        </p:sp>
        <p:sp>
          <p:nvSpPr>
            <p:cNvPr id="147" name="Rectangle 46"/>
            <p:cNvSpPr>
              <a:spLocks noChangeArrowheads="1"/>
            </p:cNvSpPr>
            <p:nvPr/>
          </p:nvSpPr>
          <p:spPr bwMode="auto">
            <a:xfrm>
              <a:off x="5397561" y="3226859"/>
              <a:ext cx="3570773" cy="13747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10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hangingPunct="0">
                <a:lnSpc>
                  <a:spcPts val="2000"/>
                </a:lnSpc>
                <a:buClr>
                  <a:srgbClr val="0070C0"/>
                </a:buClr>
              </a:pP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客户：</a:t>
              </a:r>
              <a:endParaRPr lang="en-US" altLang="zh-CN" sz="1400" b="1" dirty="0" smtClean="0">
                <a:latin typeface="微软雅黑" pitchFamily="34" charset="-122"/>
                <a:ea typeface="微软雅黑" pitchFamily="34" charset="-122"/>
              </a:endParaRPr>
            </a:p>
            <a:p>
              <a:pPr marL="171450" indent="-171450" hangingPunct="0">
                <a:lnSpc>
                  <a:spcPts val="2000"/>
                </a:lnSpc>
                <a:buClr>
                  <a:srgbClr val="0070C0"/>
                </a:buClr>
                <a:buFont typeface="Wingdings" panose="05000000000000000000" pitchFamily="2" charset="2"/>
                <a:buChar char="l"/>
              </a:pPr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检查服务器证书。</a:t>
              </a:r>
              <a:endParaRPr lang="en-US" altLang="zh-CN" sz="1200" b="1" dirty="0">
                <a:latin typeface="微软雅黑" pitchFamily="34" charset="-122"/>
                <a:ea typeface="微软雅黑" pitchFamily="34" charset="-122"/>
              </a:endParaRPr>
            </a:p>
            <a:p>
              <a:pPr marL="171450" indent="-171450" hangingPunct="0">
                <a:lnSpc>
                  <a:spcPts val="2000"/>
                </a:lnSpc>
                <a:buClr>
                  <a:srgbClr val="0070C0"/>
                </a:buClr>
                <a:buFont typeface="Wingdings" panose="05000000000000000000" pitchFamily="2" charset="2"/>
                <a:buChar char="l"/>
              </a:pPr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生成密钥。</a:t>
              </a:r>
              <a:endParaRPr lang="en-US" altLang="zh-CN" sz="1200" b="1" dirty="0">
                <a:latin typeface="微软雅黑" pitchFamily="34" charset="-122"/>
                <a:ea typeface="微软雅黑" pitchFamily="34" charset="-122"/>
              </a:endParaRPr>
            </a:p>
            <a:p>
              <a:pPr marL="171450" indent="-171450" hangingPunct="0">
                <a:lnSpc>
                  <a:spcPts val="2000"/>
                </a:lnSpc>
                <a:buClr>
                  <a:srgbClr val="0070C0"/>
                </a:buClr>
                <a:buFont typeface="Wingdings" panose="05000000000000000000" pitchFamily="2" charset="2"/>
                <a:buChar char="l"/>
              </a:pPr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可以开始传输应用层数据，例如发送 </a:t>
              </a:r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HTTPS GET </a:t>
              </a:r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请求。</a:t>
              </a:r>
              <a:endParaRPr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2413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握手协议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 RTT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939625" y="36916"/>
            <a:ext cx="21733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协议的握手阶段和会话阶段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287860" y="1288128"/>
            <a:ext cx="4874118" cy="304803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63191" y="1863259"/>
            <a:ext cx="1666" cy="236987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2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1190" y="1935294"/>
            <a:ext cx="3690" cy="224300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pic>
        <p:nvPicPr>
          <p:cNvPr id="63" name="Picture 55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81465" y="1554619"/>
            <a:ext cx="342412" cy="44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4" name="Group 551"/>
          <p:cNvGrpSpPr>
            <a:grpSpLocks/>
          </p:cNvGrpSpPr>
          <p:nvPr/>
        </p:nvGrpSpPr>
        <p:grpSpPr bwMode="auto">
          <a:xfrm>
            <a:off x="977727" y="1574432"/>
            <a:ext cx="456985" cy="349243"/>
            <a:chOff x="717" y="1446"/>
            <a:chExt cx="274" cy="237"/>
          </a:xfrm>
        </p:grpSpPr>
        <p:sp>
          <p:nvSpPr>
            <p:cNvPr id="65" name="Arc 552"/>
            <p:cNvSpPr>
              <a:spLocks/>
            </p:cNvSpPr>
            <p:nvPr/>
          </p:nvSpPr>
          <p:spPr bwMode="auto">
            <a:xfrm>
              <a:off x="930" y="1618"/>
              <a:ext cx="58" cy="39"/>
            </a:xfrm>
            <a:custGeom>
              <a:avLst/>
              <a:gdLst>
                <a:gd name="T0" fmla="*/ 0 w 38273"/>
                <a:gd name="T1" fmla="*/ 0 h 35142"/>
                <a:gd name="T2" fmla="*/ 0 w 38273"/>
                <a:gd name="T3" fmla="*/ 0 h 35142"/>
                <a:gd name="T4" fmla="*/ 0 w 38273"/>
                <a:gd name="T5" fmla="*/ 0 h 35142"/>
                <a:gd name="T6" fmla="*/ 0 60000 65536"/>
                <a:gd name="T7" fmla="*/ 0 60000 65536"/>
                <a:gd name="T8" fmla="*/ 0 60000 65536"/>
                <a:gd name="T9" fmla="*/ 0 w 38273"/>
                <a:gd name="T10" fmla="*/ 0 h 35142"/>
                <a:gd name="T11" fmla="*/ 38273 w 38273"/>
                <a:gd name="T12" fmla="*/ 35142 h 351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273" h="35142" fill="none" extrusionOk="0">
                  <a:moveTo>
                    <a:pt x="-1" y="7867"/>
                  </a:moveTo>
                  <a:cubicBezTo>
                    <a:pt x="4103" y="2886"/>
                    <a:pt x="10218" y="-1"/>
                    <a:pt x="16673" y="0"/>
                  </a:cubicBezTo>
                  <a:cubicBezTo>
                    <a:pt x="28602" y="0"/>
                    <a:pt x="38273" y="9670"/>
                    <a:pt x="38273" y="21600"/>
                  </a:cubicBezTo>
                  <a:cubicBezTo>
                    <a:pt x="38273" y="26526"/>
                    <a:pt x="36589" y="31304"/>
                    <a:pt x="33500" y="35141"/>
                  </a:cubicBezTo>
                </a:path>
                <a:path w="38273" h="35142" stroke="0" extrusionOk="0">
                  <a:moveTo>
                    <a:pt x="-1" y="7867"/>
                  </a:moveTo>
                  <a:cubicBezTo>
                    <a:pt x="4103" y="2886"/>
                    <a:pt x="10218" y="-1"/>
                    <a:pt x="16673" y="0"/>
                  </a:cubicBezTo>
                  <a:cubicBezTo>
                    <a:pt x="28602" y="0"/>
                    <a:pt x="38273" y="9670"/>
                    <a:pt x="38273" y="21600"/>
                  </a:cubicBezTo>
                  <a:cubicBezTo>
                    <a:pt x="38273" y="26526"/>
                    <a:pt x="36589" y="31304"/>
                    <a:pt x="33500" y="35141"/>
                  </a:cubicBezTo>
                  <a:lnTo>
                    <a:pt x="16673" y="21600"/>
                  </a:lnTo>
                  <a:close/>
                </a:path>
              </a:pathLst>
            </a:custGeom>
            <a:noFill/>
            <a:ln w="4763">
              <a:solidFill>
                <a:srgbClr val="49493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Arc 553"/>
            <p:cNvSpPr>
              <a:spLocks/>
            </p:cNvSpPr>
            <p:nvPr/>
          </p:nvSpPr>
          <p:spPr bwMode="auto">
            <a:xfrm>
              <a:off x="929" y="1618"/>
              <a:ext cx="55" cy="36"/>
            </a:xfrm>
            <a:custGeom>
              <a:avLst/>
              <a:gdLst>
                <a:gd name="T0" fmla="*/ 0 w 38146"/>
                <a:gd name="T1" fmla="*/ 0 h 34928"/>
                <a:gd name="T2" fmla="*/ 0 w 38146"/>
                <a:gd name="T3" fmla="*/ 0 h 34928"/>
                <a:gd name="T4" fmla="*/ 0 w 38146"/>
                <a:gd name="T5" fmla="*/ 0 h 34928"/>
                <a:gd name="T6" fmla="*/ 0 60000 65536"/>
                <a:gd name="T7" fmla="*/ 0 60000 65536"/>
                <a:gd name="T8" fmla="*/ 0 60000 65536"/>
                <a:gd name="T9" fmla="*/ 0 w 38146"/>
                <a:gd name="T10" fmla="*/ 0 h 34928"/>
                <a:gd name="T11" fmla="*/ 38146 w 38146"/>
                <a:gd name="T12" fmla="*/ 34928 h 34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46" h="34928" fill="none" extrusionOk="0">
                  <a:moveTo>
                    <a:pt x="0" y="7715"/>
                  </a:moveTo>
                  <a:cubicBezTo>
                    <a:pt x="4104" y="2824"/>
                    <a:pt x="10161" y="-1"/>
                    <a:pt x="16546" y="0"/>
                  </a:cubicBezTo>
                  <a:cubicBezTo>
                    <a:pt x="28475" y="0"/>
                    <a:pt x="38146" y="9670"/>
                    <a:pt x="38146" y="21600"/>
                  </a:cubicBezTo>
                  <a:cubicBezTo>
                    <a:pt x="38146" y="26432"/>
                    <a:pt x="36525" y="31125"/>
                    <a:pt x="33543" y="34927"/>
                  </a:cubicBezTo>
                </a:path>
                <a:path w="38146" h="34928" stroke="0" extrusionOk="0">
                  <a:moveTo>
                    <a:pt x="0" y="7715"/>
                  </a:moveTo>
                  <a:cubicBezTo>
                    <a:pt x="4104" y="2824"/>
                    <a:pt x="10161" y="-1"/>
                    <a:pt x="16546" y="0"/>
                  </a:cubicBezTo>
                  <a:cubicBezTo>
                    <a:pt x="28475" y="0"/>
                    <a:pt x="38146" y="9670"/>
                    <a:pt x="38146" y="21600"/>
                  </a:cubicBezTo>
                  <a:cubicBezTo>
                    <a:pt x="38146" y="26432"/>
                    <a:pt x="36525" y="31125"/>
                    <a:pt x="33543" y="34927"/>
                  </a:cubicBezTo>
                  <a:lnTo>
                    <a:pt x="16546" y="21600"/>
                  </a:lnTo>
                  <a:close/>
                </a:path>
              </a:pathLst>
            </a:custGeom>
            <a:noFill/>
            <a:ln w="4763">
              <a:solidFill>
                <a:srgbClr val="DBDBC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554"/>
            <p:cNvSpPr>
              <a:spLocks/>
            </p:cNvSpPr>
            <p:nvPr/>
          </p:nvSpPr>
          <p:spPr bwMode="auto">
            <a:xfrm>
              <a:off x="751" y="1591"/>
              <a:ext cx="205" cy="26"/>
            </a:xfrm>
            <a:custGeom>
              <a:avLst/>
              <a:gdLst>
                <a:gd name="T0" fmla="*/ 0 w 205"/>
                <a:gd name="T1" fmla="*/ 26 h 26"/>
                <a:gd name="T2" fmla="*/ 25 w 205"/>
                <a:gd name="T3" fmla="*/ 0 h 26"/>
                <a:gd name="T4" fmla="*/ 205 w 205"/>
                <a:gd name="T5" fmla="*/ 0 h 26"/>
                <a:gd name="T6" fmla="*/ 180 w 205"/>
                <a:gd name="T7" fmla="*/ 26 h 26"/>
                <a:gd name="T8" fmla="*/ 0 w 205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26"/>
                <a:gd name="T17" fmla="*/ 205 w 205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26">
                  <a:moveTo>
                    <a:pt x="0" y="26"/>
                  </a:moveTo>
                  <a:lnTo>
                    <a:pt x="25" y="0"/>
                  </a:lnTo>
                  <a:lnTo>
                    <a:pt x="205" y="0"/>
                  </a:lnTo>
                  <a:lnTo>
                    <a:pt x="18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555"/>
            <p:cNvSpPr>
              <a:spLocks/>
            </p:cNvSpPr>
            <p:nvPr/>
          </p:nvSpPr>
          <p:spPr bwMode="auto">
            <a:xfrm>
              <a:off x="751" y="1591"/>
              <a:ext cx="205" cy="26"/>
            </a:xfrm>
            <a:custGeom>
              <a:avLst/>
              <a:gdLst>
                <a:gd name="T0" fmla="*/ 0 w 205"/>
                <a:gd name="T1" fmla="*/ 26 h 26"/>
                <a:gd name="T2" fmla="*/ 25 w 205"/>
                <a:gd name="T3" fmla="*/ 0 h 26"/>
                <a:gd name="T4" fmla="*/ 205 w 205"/>
                <a:gd name="T5" fmla="*/ 0 h 26"/>
                <a:gd name="T6" fmla="*/ 180 w 205"/>
                <a:gd name="T7" fmla="*/ 26 h 26"/>
                <a:gd name="T8" fmla="*/ 0 w 205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26"/>
                <a:gd name="T17" fmla="*/ 205 w 205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26">
                  <a:moveTo>
                    <a:pt x="0" y="26"/>
                  </a:moveTo>
                  <a:lnTo>
                    <a:pt x="25" y="0"/>
                  </a:lnTo>
                  <a:lnTo>
                    <a:pt x="205" y="0"/>
                  </a:lnTo>
                  <a:lnTo>
                    <a:pt x="18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556"/>
            <p:cNvSpPr>
              <a:spLocks noChangeArrowheads="1"/>
            </p:cNvSpPr>
            <p:nvPr/>
          </p:nvSpPr>
          <p:spPr bwMode="auto">
            <a:xfrm>
              <a:off x="751" y="1617"/>
              <a:ext cx="180" cy="31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Rectangle 557"/>
            <p:cNvSpPr>
              <a:spLocks noChangeArrowheads="1"/>
            </p:cNvSpPr>
            <p:nvPr/>
          </p:nvSpPr>
          <p:spPr bwMode="auto">
            <a:xfrm>
              <a:off x="752" y="1618"/>
              <a:ext cx="178" cy="29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558"/>
            <p:cNvSpPr>
              <a:spLocks/>
            </p:cNvSpPr>
            <p:nvPr/>
          </p:nvSpPr>
          <p:spPr bwMode="auto">
            <a:xfrm>
              <a:off x="931" y="1591"/>
              <a:ext cx="25" cy="57"/>
            </a:xfrm>
            <a:custGeom>
              <a:avLst/>
              <a:gdLst>
                <a:gd name="T0" fmla="*/ 0 w 25"/>
                <a:gd name="T1" fmla="*/ 57 h 57"/>
                <a:gd name="T2" fmla="*/ 25 w 25"/>
                <a:gd name="T3" fmla="*/ 35 h 57"/>
                <a:gd name="T4" fmla="*/ 25 w 25"/>
                <a:gd name="T5" fmla="*/ 0 h 57"/>
                <a:gd name="T6" fmla="*/ 0 w 25"/>
                <a:gd name="T7" fmla="*/ 26 h 57"/>
                <a:gd name="T8" fmla="*/ 0 w 25"/>
                <a:gd name="T9" fmla="*/ 5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57"/>
                <a:gd name="T17" fmla="*/ 25 w 2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57">
                  <a:moveTo>
                    <a:pt x="0" y="57"/>
                  </a:moveTo>
                  <a:lnTo>
                    <a:pt x="25" y="35"/>
                  </a:lnTo>
                  <a:lnTo>
                    <a:pt x="25" y="0"/>
                  </a:lnTo>
                  <a:lnTo>
                    <a:pt x="0" y="26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Freeform 559"/>
            <p:cNvSpPr>
              <a:spLocks/>
            </p:cNvSpPr>
            <p:nvPr/>
          </p:nvSpPr>
          <p:spPr bwMode="auto">
            <a:xfrm>
              <a:off x="931" y="1591"/>
              <a:ext cx="25" cy="57"/>
            </a:xfrm>
            <a:custGeom>
              <a:avLst/>
              <a:gdLst>
                <a:gd name="T0" fmla="*/ 0 w 25"/>
                <a:gd name="T1" fmla="*/ 57 h 57"/>
                <a:gd name="T2" fmla="*/ 25 w 25"/>
                <a:gd name="T3" fmla="*/ 35 h 57"/>
                <a:gd name="T4" fmla="*/ 25 w 25"/>
                <a:gd name="T5" fmla="*/ 0 h 57"/>
                <a:gd name="T6" fmla="*/ 0 w 25"/>
                <a:gd name="T7" fmla="*/ 26 h 57"/>
                <a:gd name="T8" fmla="*/ 0 w 25"/>
                <a:gd name="T9" fmla="*/ 5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57"/>
                <a:gd name="T17" fmla="*/ 25 w 2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57">
                  <a:moveTo>
                    <a:pt x="0" y="57"/>
                  </a:moveTo>
                  <a:lnTo>
                    <a:pt x="25" y="35"/>
                  </a:lnTo>
                  <a:lnTo>
                    <a:pt x="25" y="0"/>
                  </a:lnTo>
                  <a:lnTo>
                    <a:pt x="0" y="26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560"/>
            <p:cNvSpPr>
              <a:spLocks/>
            </p:cNvSpPr>
            <p:nvPr/>
          </p:nvSpPr>
          <p:spPr bwMode="auto">
            <a:xfrm>
              <a:off x="757" y="1591"/>
              <a:ext cx="196" cy="19"/>
            </a:xfrm>
            <a:custGeom>
              <a:avLst/>
              <a:gdLst>
                <a:gd name="T0" fmla="*/ 0 w 196"/>
                <a:gd name="T1" fmla="*/ 19 h 19"/>
                <a:gd name="T2" fmla="*/ 19 w 196"/>
                <a:gd name="T3" fmla="*/ 0 h 19"/>
                <a:gd name="T4" fmla="*/ 196 w 196"/>
                <a:gd name="T5" fmla="*/ 0 h 19"/>
                <a:gd name="T6" fmla="*/ 177 w 196"/>
                <a:gd name="T7" fmla="*/ 19 h 19"/>
                <a:gd name="T8" fmla="*/ 0 w 196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"/>
                <a:gd name="T16" fmla="*/ 0 h 19"/>
                <a:gd name="T17" fmla="*/ 196 w 196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" h="19">
                  <a:moveTo>
                    <a:pt x="0" y="19"/>
                  </a:moveTo>
                  <a:lnTo>
                    <a:pt x="19" y="0"/>
                  </a:lnTo>
                  <a:lnTo>
                    <a:pt x="196" y="0"/>
                  </a:lnTo>
                  <a:lnTo>
                    <a:pt x="177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Freeform 561"/>
            <p:cNvSpPr>
              <a:spLocks/>
            </p:cNvSpPr>
            <p:nvPr/>
          </p:nvSpPr>
          <p:spPr bwMode="auto">
            <a:xfrm>
              <a:off x="757" y="1591"/>
              <a:ext cx="196" cy="19"/>
            </a:xfrm>
            <a:custGeom>
              <a:avLst/>
              <a:gdLst>
                <a:gd name="T0" fmla="*/ 0 w 196"/>
                <a:gd name="T1" fmla="*/ 19 h 19"/>
                <a:gd name="T2" fmla="*/ 19 w 196"/>
                <a:gd name="T3" fmla="*/ 0 h 19"/>
                <a:gd name="T4" fmla="*/ 196 w 196"/>
                <a:gd name="T5" fmla="*/ 0 h 19"/>
                <a:gd name="T6" fmla="*/ 177 w 196"/>
                <a:gd name="T7" fmla="*/ 19 h 19"/>
                <a:gd name="T8" fmla="*/ 0 w 196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"/>
                <a:gd name="T16" fmla="*/ 0 h 19"/>
                <a:gd name="T17" fmla="*/ 196 w 196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" h="19">
                  <a:moveTo>
                    <a:pt x="0" y="19"/>
                  </a:moveTo>
                  <a:lnTo>
                    <a:pt x="19" y="0"/>
                  </a:lnTo>
                  <a:lnTo>
                    <a:pt x="196" y="0"/>
                  </a:lnTo>
                  <a:lnTo>
                    <a:pt x="177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562"/>
            <p:cNvSpPr>
              <a:spLocks/>
            </p:cNvSpPr>
            <p:nvPr/>
          </p:nvSpPr>
          <p:spPr bwMode="auto">
            <a:xfrm>
              <a:off x="751" y="1446"/>
              <a:ext cx="202" cy="19"/>
            </a:xfrm>
            <a:custGeom>
              <a:avLst/>
              <a:gdLst>
                <a:gd name="T0" fmla="*/ 0 w 202"/>
                <a:gd name="T1" fmla="*/ 19 h 19"/>
                <a:gd name="T2" fmla="*/ 19 w 202"/>
                <a:gd name="T3" fmla="*/ 0 h 19"/>
                <a:gd name="T4" fmla="*/ 202 w 202"/>
                <a:gd name="T5" fmla="*/ 0 h 19"/>
                <a:gd name="T6" fmla="*/ 180 w 202"/>
                <a:gd name="T7" fmla="*/ 19 h 19"/>
                <a:gd name="T8" fmla="*/ 0 w 202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"/>
                <a:gd name="T16" fmla="*/ 0 h 19"/>
                <a:gd name="T17" fmla="*/ 202 w 20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" h="19">
                  <a:moveTo>
                    <a:pt x="0" y="19"/>
                  </a:moveTo>
                  <a:lnTo>
                    <a:pt x="19" y="0"/>
                  </a:lnTo>
                  <a:lnTo>
                    <a:pt x="202" y="0"/>
                  </a:lnTo>
                  <a:lnTo>
                    <a:pt x="18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563"/>
            <p:cNvSpPr>
              <a:spLocks/>
            </p:cNvSpPr>
            <p:nvPr/>
          </p:nvSpPr>
          <p:spPr bwMode="auto">
            <a:xfrm>
              <a:off x="751" y="1446"/>
              <a:ext cx="202" cy="19"/>
            </a:xfrm>
            <a:custGeom>
              <a:avLst/>
              <a:gdLst>
                <a:gd name="T0" fmla="*/ 0 w 202"/>
                <a:gd name="T1" fmla="*/ 19 h 19"/>
                <a:gd name="T2" fmla="*/ 19 w 202"/>
                <a:gd name="T3" fmla="*/ 0 h 19"/>
                <a:gd name="T4" fmla="*/ 202 w 202"/>
                <a:gd name="T5" fmla="*/ 0 h 19"/>
                <a:gd name="T6" fmla="*/ 180 w 202"/>
                <a:gd name="T7" fmla="*/ 19 h 19"/>
                <a:gd name="T8" fmla="*/ 0 w 202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"/>
                <a:gd name="T16" fmla="*/ 0 h 19"/>
                <a:gd name="T17" fmla="*/ 202 w 20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" h="19">
                  <a:moveTo>
                    <a:pt x="0" y="19"/>
                  </a:moveTo>
                  <a:lnTo>
                    <a:pt x="19" y="0"/>
                  </a:lnTo>
                  <a:lnTo>
                    <a:pt x="202" y="0"/>
                  </a:lnTo>
                  <a:lnTo>
                    <a:pt x="18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564"/>
            <p:cNvSpPr>
              <a:spLocks noChangeArrowheads="1"/>
            </p:cNvSpPr>
            <p:nvPr/>
          </p:nvSpPr>
          <p:spPr bwMode="auto">
            <a:xfrm>
              <a:off x="752" y="1466"/>
              <a:ext cx="181" cy="140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565"/>
            <p:cNvSpPr>
              <a:spLocks noChangeArrowheads="1"/>
            </p:cNvSpPr>
            <p:nvPr/>
          </p:nvSpPr>
          <p:spPr bwMode="auto">
            <a:xfrm>
              <a:off x="768" y="1485"/>
              <a:ext cx="149" cy="10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566"/>
            <p:cNvSpPr>
              <a:spLocks/>
            </p:cNvSpPr>
            <p:nvPr/>
          </p:nvSpPr>
          <p:spPr bwMode="auto">
            <a:xfrm>
              <a:off x="931" y="1446"/>
              <a:ext cx="22" cy="161"/>
            </a:xfrm>
            <a:custGeom>
              <a:avLst/>
              <a:gdLst>
                <a:gd name="T0" fmla="*/ 0 w 22"/>
                <a:gd name="T1" fmla="*/ 161 h 161"/>
                <a:gd name="T2" fmla="*/ 22 w 22"/>
                <a:gd name="T3" fmla="*/ 142 h 161"/>
                <a:gd name="T4" fmla="*/ 22 w 22"/>
                <a:gd name="T5" fmla="*/ 0 h 161"/>
                <a:gd name="T6" fmla="*/ 0 w 22"/>
                <a:gd name="T7" fmla="*/ 19 h 161"/>
                <a:gd name="T8" fmla="*/ 0 w 22"/>
                <a:gd name="T9" fmla="*/ 161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161"/>
                <a:gd name="T17" fmla="*/ 22 w 22"/>
                <a:gd name="T18" fmla="*/ 161 h 1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161">
                  <a:moveTo>
                    <a:pt x="0" y="161"/>
                  </a:moveTo>
                  <a:lnTo>
                    <a:pt x="22" y="142"/>
                  </a:lnTo>
                  <a:lnTo>
                    <a:pt x="22" y="0"/>
                  </a:lnTo>
                  <a:lnTo>
                    <a:pt x="0" y="19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Freeform 567"/>
            <p:cNvSpPr>
              <a:spLocks/>
            </p:cNvSpPr>
            <p:nvPr/>
          </p:nvSpPr>
          <p:spPr bwMode="auto">
            <a:xfrm>
              <a:off x="931" y="1446"/>
              <a:ext cx="22" cy="161"/>
            </a:xfrm>
            <a:custGeom>
              <a:avLst/>
              <a:gdLst>
                <a:gd name="T0" fmla="*/ 0 w 22"/>
                <a:gd name="T1" fmla="*/ 161 h 161"/>
                <a:gd name="T2" fmla="*/ 22 w 22"/>
                <a:gd name="T3" fmla="*/ 142 h 161"/>
                <a:gd name="T4" fmla="*/ 22 w 22"/>
                <a:gd name="T5" fmla="*/ 0 h 161"/>
                <a:gd name="T6" fmla="*/ 0 w 22"/>
                <a:gd name="T7" fmla="*/ 19 h 161"/>
                <a:gd name="T8" fmla="*/ 0 w 22"/>
                <a:gd name="T9" fmla="*/ 161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161"/>
                <a:gd name="T17" fmla="*/ 22 w 22"/>
                <a:gd name="T18" fmla="*/ 161 h 1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161">
                  <a:moveTo>
                    <a:pt x="0" y="161"/>
                  </a:moveTo>
                  <a:lnTo>
                    <a:pt x="22" y="142"/>
                  </a:lnTo>
                  <a:lnTo>
                    <a:pt x="22" y="0"/>
                  </a:lnTo>
                  <a:lnTo>
                    <a:pt x="0" y="19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568"/>
            <p:cNvSpPr>
              <a:spLocks/>
            </p:cNvSpPr>
            <p:nvPr/>
          </p:nvSpPr>
          <p:spPr bwMode="auto">
            <a:xfrm>
              <a:off x="717" y="1642"/>
              <a:ext cx="223" cy="35"/>
            </a:xfrm>
            <a:custGeom>
              <a:avLst/>
              <a:gdLst>
                <a:gd name="T0" fmla="*/ 0 w 223"/>
                <a:gd name="T1" fmla="*/ 35 h 35"/>
                <a:gd name="T2" fmla="*/ 28 w 223"/>
                <a:gd name="T3" fmla="*/ 0 h 35"/>
                <a:gd name="T4" fmla="*/ 223 w 223"/>
                <a:gd name="T5" fmla="*/ 0 h 35"/>
                <a:gd name="T6" fmla="*/ 195 w 223"/>
                <a:gd name="T7" fmla="*/ 35 h 35"/>
                <a:gd name="T8" fmla="*/ 0 w 223"/>
                <a:gd name="T9" fmla="*/ 3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3"/>
                <a:gd name="T16" fmla="*/ 0 h 35"/>
                <a:gd name="T17" fmla="*/ 223 w 223"/>
                <a:gd name="T18" fmla="*/ 35 h 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3" h="35">
                  <a:moveTo>
                    <a:pt x="0" y="35"/>
                  </a:moveTo>
                  <a:lnTo>
                    <a:pt x="28" y="0"/>
                  </a:lnTo>
                  <a:lnTo>
                    <a:pt x="223" y="0"/>
                  </a:lnTo>
                  <a:lnTo>
                    <a:pt x="195" y="3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569"/>
            <p:cNvSpPr>
              <a:spLocks/>
            </p:cNvSpPr>
            <p:nvPr/>
          </p:nvSpPr>
          <p:spPr bwMode="auto">
            <a:xfrm>
              <a:off x="717" y="1642"/>
              <a:ext cx="223" cy="35"/>
            </a:xfrm>
            <a:custGeom>
              <a:avLst/>
              <a:gdLst>
                <a:gd name="T0" fmla="*/ 0 w 223"/>
                <a:gd name="T1" fmla="*/ 35 h 35"/>
                <a:gd name="T2" fmla="*/ 28 w 223"/>
                <a:gd name="T3" fmla="*/ 0 h 35"/>
                <a:gd name="T4" fmla="*/ 223 w 223"/>
                <a:gd name="T5" fmla="*/ 0 h 35"/>
                <a:gd name="T6" fmla="*/ 195 w 223"/>
                <a:gd name="T7" fmla="*/ 35 h 35"/>
                <a:gd name="T8" fmla="*/ 0 w 223"/>
                <a:gd name="T9" fmla="*/ 3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3"/>
                <a:gd name="T16" fmla="*/ 0 h 35"/>
                <a:gd name="T17" fmla="*/ 223 w 223"/>
                <a:gd name="T18" fmla="*/ 35 h 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3" h="35">
                  <a:moveTo>
                    <a:pt x="0" y="35"/>
                  </a:moveTo>
                  <a:lnTo>
                    <a:pt x="28" y="0"/>
                  </a:lnTo>
                  <a:lnTo>
                    <a:pt x="223" y="0"/>
                  </a:lnTo>
                  <a:lnTo>
                    <a:pt x="195" y="3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Freeform 570"/>
            <p:cNvSpPr>
              <a:spLocks/>
            </p:cNvSpPr>
            <p:nvPr/>
          </p:nvSpPr>
          <p:spPr bwMode="auto">
            <a:xfrm>
              <a:off x="912" y="1642"/>
              <a:ext cx="28" cy="41"/>
            </a:xfrm>
            <a:custGeom>
              <a:avLst/>
              <a:gdLst>
                <a:gd name="T0" fmla="*/ 0 w 28"/>
                <a:gd name="T1" fmla="*/ 41 h 41"/>
                <a:gd name="T2" fmla="*/ 28 w 28"/>
                <a:gd name="T3" fmla="*/ 13 h 41"/>
                <a:gd name="T4" fmla="*/ 28 w 28"/>
                <a:gd name="T5" fmla="*/ 0 h 41"/>
                <a:gd name="T6" fmla="*/ 0 w 28"/>
                <a:gd name="T7" fmla="*/ 35 h 41"/>
                <a:gd name="T8" fmla="*/ 0 w 28"/>
                <a:gd name="T9" fmla="*/ 4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41"/>
                <a:gd name="T17" fmla="*/ 28 w 28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41">
                  <a:moveTo>
                    <a:pt x="0" y="41"/>
                  </a:moveTo>
                  <a:lnTo>
                    <a:pt x="28" y="13"/>
                  </a:lnTo>
                  <a:lnTo>
                    <a:pt x="28" y="0"/>
                  </a:lnTo>
                  <a:lnTo>
                    <a:pt x="0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Freeform 571"/>
            <p:cNvSpPr>
              <a:spLocks/>
            </p:cNvSpPr>
            <p:nvPr/>
          </p:nvSpPr>
          <p:spPr bwMode="auto">
            <a:xfrm>
              <a:off x="912" y="1642"/>
              <a:ext cx="28" cy="41"/>
            </a:xfrm>
            <a:custGeom>
              <a:avLst/>
              <a:gdLst>
                <a:gd name="T0" fmla="*/ 0 w 28"/>
                <a:gd name="T1" fmla="*/ 41 h 41"/>
                <a:gd name="T2" fmla="*/ 28 w 28"/>
                <a:gd name="T3" fmla="*/ 13 h 41"/>
                <a:gd name="T4" fmla="*/ 28 w 28"/>
                <a:gd name="T5" fmla="*/ 0 h 41"/>
                <a:gd name="T6" fmla="*/ 0 w 28"/>
                <a:gd name="T7" fmla="*/ 35 h 41"/>
                <a:gd name="T8" fmla="*/ 0 w 28"/>
                <a:gd name="T9" fmla="*/ 4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41"/>
                <a:gd name="T17" fmla="*/ 28 w 28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41">
                  <a:moveTo>
                    <a:pt x="0" y="41"/>
                  </a:moveTo>
                  <a:lnTo>
                    <a:pt x="28" y="13"/>
                  </a:lnTo>
                  <a:lnTo>
                    <a:pt x="28" y="0"/>
                  </a:lnTo>
                  <a:lnTo>
                    <a:pt x="0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 572"/>
            <p:cNvSpPr>
              <a:spLocks noChangeArrowheads="1"/>
            </p:cNvSpPr>
            <p:nvPr/>
          </p:nvSpPr>
          <p:spPr bwMode="auto">
            <a:xfrm>
              <a:off x="717" y="1677"/>
              <a:ext cx="195" cy="6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573"/>
            <p:cNvSpPr>
              <a:spLocks noChangeArrowheads="1"/>
            </p:cNvSpPr>
            <p:nvPr/>
          </p:nvSpPr>
          <p:spPr bwMode="auto">
            <a:xfrm>
              <a:off x="718" y="1678"/>
              <a:ext cx="193" cy="4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Freeform 574"/>
            <p:cNvSpPr>
              <a:spLocks/>
            </p:cNvSpPr>
            <p:nvPr/>
          </p:nvSpPr>
          <p:spPr bwMode="auto">
            <a:xfrm>
              <a:off x="953" y="1651"/>
              <a:ext cx="38" cy="23"/>
            </a:xfrm>
            <a:custGeom>
              <a:avLst/>
              <a:gdLst>
                <a:gd name="T0" fmla="*/ 0 w 38"/>
                <a:gd name="T1" fmla="*/ 23 h 23"/>
                <a:gd name="T2" fmla="*/ 13 w 38"/>
                <a:gd name="T3" fmla="*/ 0 h 23"/>
                <a:gd name="T4" fmla="*/ 38 w 38"/>
                <a:gd name="T5" fmla="*/ 0 h 23"/>
                <a:gd name="T6" fmla="*/ 25 w 38"/>
                <a:gd name="T7" fmla="*/ 23 h 23"/>
                <a:gd name="T8" fmla="*/ 0 w 38"/>
                <a:gd name="T9" fmla="*/ 2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23"/>
                <a:gd name="T17" fmla="*/ 38 w 38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23">
                  <a:moveTo>
                    <a:pt x="0" y="23"/>
                  </a:moveTo>
                  <a:lnTo>
                    <a:pt x="13" y="0"/>
                  </a:lnTo>
                  <a:lnTo>
                    <a:pt x="38" y="0"/>
                  </a:lnTo>
                  <a:lnTo>
                    <a:pt x="25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Freeform 575"/>
            <p:cNvSpPr>
              <a:spLocks/>
            </p:cNvSpPr>
            <p:nvPr/>
          </p:nvSpPr>
          <p:spPr bwMode="auto">
            <a:xfrm>
              <a:off x="953" y="1651"/>
              <a:ext cx="38" cy="23"/>
            </a:xfrm>
            <a:custGeom>
              <a:avLst/>
              <a:gdLst>
                <a:gd name="T0" fmla="*/ 0 w 38"/>
                <a:gd name="T1" fmla="*/ 23 h 23"/>
                <a:gd name="T2" fmla="*/ 13 w 38"/>
                <a:gd name="T3" fmla="*/ 0 h 23"/>
                <a:gd name="T4" fmla="*/ 38 w 38"/>
                <a:gd name="T5" fmla="*/ 0 h 23"/>
                <a:gd name="T6" fmla="*/ 25 w 38"/>
                <a:gd name="T7" fmla="*/ 23 h 23"/>
                <a:gd name="T8" fmla="*/ 0 w 38"/>
                <a:gd name="T9" fmla="*/ 2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23"/>
                <a:gd name="T17" fmla="*/ 38 w 38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23">
                  <a:moveTo>
                    <a:pt x="0" y="23"/>
                  </a:moveTo>
                  <a:lnTo>
                    <a:pt x="13" y="0"/>
                  </a:lnTo>
                  <a:lnTo>
                    <a:pt x="38" y="0"/>
                  </a:lnTo>
                  <a:lnTo>
                    <a:pt x="25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Freeform 576"/>
            <p:cNvSpPr>
              <a:spLocks/>
            </p:cNvSpPr>
            <p:nvPr/>
          </p:nvSpPr>
          <p:spPr bwMode="auto">
            <a:xfrm>
              <a:off x="978" y="1651"/>
              <a:ext cx="13" cy="29"/>
            </a:xfrm>
            <a:custGeom>
              <a:avLst/>
              <a:gdLst>
                <a:gd name="T0" fmla="*/ 0 w 13"/>
                <a:gd name="T1" fmla="*/ 29 h 29"/>
                <a:gd name="T2" fmla="*/ 13 w 13"/>
                <a:gd name="T3" fmla="*/ 16 h 29"/>
                <a:gd name="T4" fmla="*/ 13 w 13"/>
                <a:gd name="T5" fmla="*/ 0 h 29"/>
                <a:gd name="T6" fmla="*/ 0 w 13"/>
                <a:gd name="T7" fmla="*/ 23 h 29"/>
                <a:gd name="T8" fmla="*/ 0 w 13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29"/>
                <a:gd name="T17" fmla="*/ 13 w 13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29">
                  <a:moveTo>
                    <a:pt x="0" y="29"/>
                  </a:moveTo>
                  <a:lnTo>
                    <a:pt x="13" y="16"/>
                  </a:lnTo>
                  <a:lnTo>
                    <a:pt x="13" y="0"/>
                  </a:lnTo>
                  <a:lnTo>
                    <a:pt x="0" y="2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577"/>
            <p:cNvSpPr>
              <a:spLocks/>
            </p:cNvSpPr>
            <p:nvPr/>
          </p:nvSpPr>
          <p:spPr bwMode="auto">
            <a:xfrm>
              <a:off x="978" y="1651"/>
              <a:ext cx="13" cy="29"/>
            </a:xfrm>
            <a:custGeom>
              <a:avLst/>
              <a:gdLst>
                <a:gd name="T0" fmla="*/ 0 w 13"/>
                <a:gd name="T1" fmla="*/ 29 h 29"/>
                <a:gd name="T2" fmla="*/ 13 w 13"/>
                <a:gd name="T3" fmla="*/ 16 h 29"/>
                <a:gd name="T4" fmla="*/ 13 w 13"/>
                <a:gd name="T5" fmla="*/ 0 h 29"/>
                <a:gd name="T6" fmla="*/ 0 w 13"/>
                <a:gd name="T7" fmla="*/ 23 h 29"/>
                <a:gd name="T8" fmla="*/ 0 w 13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29"/>
                <a:gd name="T17" fmla="*/ 13 w 13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29">
                  <a:moveTo>
                    <a:pt x="0" y="29"/>
                  </a:moveTo>
                  <a:lnTo>
                    <a:pt x="13" y="16"/>
                  </a:lnTo>
                  <a:lnTo>
                    <a:pt x="13" y="0"/>
                  </a:lnTo>
                  <a:lnTo>
                    <a:pt x="0" y="2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578"/>
            <p:cNvSpPr>
              <a:spLocks noChangeArrowheads="1"/>
            </p:cNvSpPr>
            <p:nvPr/>
          </p:nvSpPr>
          <p:spPr bwMode="auto">
            <a:xfrm>
              <a:off x="950" y="1674"/>
              <a:ext cx="28" cy="6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Rectangle 579"/>
            <p:cNvSpPr>
              <a:spLocks noChangeArrowheads="1"/>
            </p:cNvSpPr>
            <p:nvPr/>
          </p:nvSpPr>
          <p:spPr bwMode="auto">
            <a:xfrm>
              <a:off x="951" y="1675"/>
              <a:ext cx="26" cy="4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3" name="Text Box 597"/>
          <p:cNvSpPr txBox="1">
            <a:spLocks noChangeArrowheads="1"/>
          </p:cNvSpPr>
          <p:nvPr/>
        </p:nvSpPr>
        <p:spPr bwMode="auto">
          <a:xfrm>
            <a:off x="879802" y="1318539"/>
            <a:ext cx="654346" cy="28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zh-CN" altLang="en-US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 Box 598"/>
          <p:cNvSpPr txBox="1">
            <a:spLocks noChangeArrowheads="1"/>
          </p:cNvSpPr>
          <p:nvPr/>
        </p:nvSpPr>
        <p:spPr bwMode="auto">
          <a:xfrm>
            <a:off x="4301936" y="1322931"/>
            <a:ext cx="798617" cy="28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1" lang="zh-CN" altLang="en-US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Line 515"/>
          <p:cNvSpPr>
            <a:spLocks noChangeShapeType="1"/>
          </p:cNvSpPr>
          <p:nvPr/>
        </p:nvSpPr>
        <p:spPr bwMode="auto">
          <a:xfrm flipV="1">
            <a:off x="1165155" y="2123444"/>
            <a:ext cx="3529728" cy="21216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Text Box 484"/>
          <p:cNvSpPr txBox="1">
            <a:spLocks noChangeArrowheads="1"/>
          </p:cNvSpPr>
          <p:nvPr/>
        </p:nvSpPr>
        <p:spPr bwMode="auto">
          <a:xfrm>
            <a:off x="2040202" y="1816102"/>
            <a:ext cx="1804084" cy="28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双方已建立了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1164859" y="2379778"/>
            <a:ext cx="3530024" cy="543772"/>
            <a:chOff x="1164859" y="2087678"/>
            <a:chExt cx="3530024" cy="543772"/>
          </a:xfrm>
        </p:grpSpPr>
        <p:sp>
          <p:nvSpPr>
            <p:cNvPr id="98" name="Line 73">
              <a:extLst>
                <a:ext uri="{FF2B5EF4-FFF2-40B4-BE49-F238E27FC236}">
                  <a16:creationId xmlns:a16="http://schemas.microsoft.com/office/drawing/2014/main" id="{FD2D2176-5510-9F45-87FD-D6A6EC51F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4859" y="2231432"/>
              <a:ext cx="3530024" cy="23100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99" name="Rectangle 72">
              <a:extLst>
                <a:ext uri="{FF2B5EF4-FFF2-40B4-BE49-F238E27FC236}">
                  <a16:creationId xmlns:a16="http://schemas.microsoft.com/office/drawing/2014/main" id="{D3C8411C-D034-C847-A430-7115B6AF6DC3}"/>
                </a:ext>
              </a:extLst>
            </p:cNvPr>
            <p:cNvSpPr/>
            <p:nvPr/>
          </p:nvSpPr>
          <p:spPr>
            <a:xfrm rot="225619">
              <a:off x="1307527" y="2087678"/>
              <a:ext cx="3175859" cy="543772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 anchorCtr="0"/>
            <a:lstStyle/>
            <a:p>
              <a:r>
                <a:rPr kumimoji="1" lang="en-US" altLang="zh-CN" sz="11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Client </a:t>
              </a:r>
              <a:r>
                <a:rPr kumimoji="1" lang="en-US" altLang="zh-CN" sz="11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hello:</a:t>
              </a:r>
            </a:p>
            <a:p>
              <a:r>
                <a:rPr kumimoji="1" lang="en-US" altLang="zh-CN" sz="11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TLS </a:t>
              </a:r>
              <a:r>
                <a:rPr kumimoji="1" lang="zh-CN" altLang="en-US" sz="11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版本、支持的加密</a:t>
              </a:r>
              <a:r>
                <a:rPr kumimoji="1" lang="zh-CN" altLang="en-US" sz="1100" b="1" dirty="0" smtClean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套件列表、</a:t>
              </a:r>
              <a:r>
                <a:rPr kumimoji="1" lang="en-US" altLang="zh-CN" sz="11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DH</a:t>
              </a:r>
              <a:r>
                <a:rPr kumimoji="1" lang="zh-CN" altLang="en-US" sz="11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密钥交换协议、密钥共享参数、</a:t>
              </a:r>
              <a:r>
                <a:rPr kumimoji="1" lang="zh-CN" altLang="en-US" sz="1100" b="1" dirty="0" smtClean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随机数、</a:t>
              </a:r>
              <a:r>
                <a:rPr kumimoji="1" lang="zh-CN" altLang="en-US" sz="11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应用层数据</a:t>
              </a:r>
              <a:endParaRPr kumimoji="1"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1139996" y="3298268"/>
            <a:ext cx="3528000" cy="611905"/>
            <a:chOff x="1139996" y="3006168"/>
            <a:chExt cx="3528000" cy="611905"/>
          </a:xfrm>
        </p:grpSpPr>
        <p:sp>
          <p:nvSpPr>
            <p:cNvPr id="102" name="Line 73">
              <a:extLst>
                <a:ext uri="{FF2B5EF4-FFF2-40B4-BE49-F238E27FC236}">
                  <a16:creationId xmlns:a16="http://schemas.microsoft.com/office/drawing/2014/main" id="{73AB1539-E1D3-A74D-B91D-21C37901A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9996" y="3113878"/>
              <a:ext cx="3528000" cy="39846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03" name="Rectangle 79">
              <a:extLst>
                <a:ext uri="{FF2B5EF4-FFF2-40B4-BE49-F238E27FC236}">
                  <a16:creationId xmlns:a16="http://schemas.microsoft.com/office/drawing/2014/main" id="{5AE9F0B4-D415-2D4C-8FE9-1E41596DEA9F}"/>
                </a:ext>
              </a:extLst>
            </p:cNvPr>
            <p:cNvSpPr/>
            <p:nvPr/>
          </p:nvSpPr>
          <p:spPr>
            <a:xfrm rot="21265878">
              <a:off x="1319350" y="3006168"/>
              <a:ext cx="3190214" cy="61190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2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 </a:t>
              </a:r>
              <a:r>
                <a:rPr kumimoji="1"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hello:</a:t>
              </a:r>
            </a:p>
            <a:p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TLS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版本、选定的加密套件、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DH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密钥交换协议、密钥共享参数、</a:t>
              </a:r>
              <a:r>
                <a:rPr kumimoji="1" lang="zh-CN" altLang="en-US" sz="1200" b="1" dirty="0" smtClean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随机数、</a:t>
              </a:r>
              <a:r>
                <a:rPr kumimoji="1"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应用层数据</a:t>
              </a:r>
              <a:endParaRPr kumimoji="1"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6" name="Rectangle 46"/>
          <p:cNvSpPr>
            <a:spLocks noChangeArrowheads="1"/>
          </p:cNvSpPr>
          <p:nvPr/>
        </p:nvSpPr>
        <p:spPr bwMode="auto">
          <a:xfrm>
            <a:off x="5321442" y="2176470"/>
            <a:ext cx="357077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hangingPunct="0">
              <a:lnSpc>
                <a:spcPts val="2000"/>
              </a:lnSpc>
              <a:buClr>
                <a:srgbClr val="0070C0"/>
              </a:buClr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客户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 TLS Hello 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消息：</a:t>
            </a:r>
            <a:endParaRPr lang="en-US" altLang="zh-CN" sz="1400" b="1" dirty="0" smtClean="0">
              <a:latin typeface="微软雅黑" pitchFamily="34" charset="-122"/>
              <a:ea typeface="微软雅黑" pitchFamily="34" charset="-122"/>
            </a:endParaRPr>
          </a:p>
          <a:p>
            <a:pPr marL="172800" indent="-172800" hangingPunct="0">
              <a:lnSpc>
                <a:spcPts val="2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猜测服务器可能会选用的密钥交换协议</a:t>
            </a: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和参数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200" b="1" dirty="0" smtClean="0">
              <a:latin typeface="微软雅黑" pitchFamily="34" charset="-122"/>
              <a:ea typeface="微软雅黑" pitchFamily="34" charset="-122"/>
            </a:endParaRPr>
          </a:p>
          <a:p>
            <a:pPr marL="172800" indent="-172800" hangingPunct="0">
              <a:lnSpc>
                <a:spcPts val="2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客户支持的加密套件列表。</a:t>
            </a:r>
            <a:endParaRPr lang="en-US" altLang="zh-CN" sz="1200" b="1" dirty="0" smtClean="0">
              <a:latin typeface="微软雅黑" pitchFamily="34" charset="-122"/>
              <a:ea typeface="微软雅黑" pitchFamily="34" charset="-122"/>
            </a:endParaRPr>
          </a:p>
          <a:p>
            <a:pPr marL="172800" indent="-172800" hangingPunct="0">
              <a:lnSpc>
                <a:spcPts val="2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初始的 </a:t>
            </a:r>
            <a:r>
              <a:rPr lang="en-US" altLang="zh-CN" sz="1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Hello </a:t>
            </a:r>
            <a:r>
              <a:rPr lang="zh-CN" altLang="en-US" sz="1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消息中包含了加密的应用数据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！</a:t>
            </a:r>
            <a:endParaRPr lang="en-US" altLang="zh-CN" sz="1200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2800" indent="-172800" hangingPunct="0">
              <a:lnSpc>
                <a:spcPts val="2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用于恢复客户端</a:t>
            </a: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与服务器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之间先前的</a:t>
            </a: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连接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200" b="1" dirty="0" smtClean="0">
              <a:latin typeface="微软雅黑" pitchFamily="34" charset="-122"/>
              <a:ea typeface="微软雅黑" pitchFamily="34" charset="-122"/>
            </a:endParaRPr>
          </a:p>
          <a:p>
            <a:pPr marL="172800" indent="-172800" hangingPunct="0">
              <a:lnSpc>
                <a:spcPts val="2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 应用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数据使用</a:t>
            </a: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来自早期连接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的密钥加密。</a:t>
            </a:r>
            <a:endParaRPr lang="zh-CN" altLang="en-US" sz="1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Rectangle 46"/>
          <p:cNvSpPr>
            <a:spLocks noChangeArrowheads="1"/>
          </p:cNvSpPr>
          <p:nvPr/>
        </p:nvSpPr>
        <p:spPr bwMode="auto">
          <a:xfrm>
            <a:off x="5378493" y="3847617"/>
            <a:ext cx="357077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hangingPunct="0">
              <a:lnSpc>
                <a:spcPts val="2000"/>
              </a:lnSpc>
              <a:buClr>
                <a:srgbClr val="0070C0"/>
              </a:buClr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容易遭受重放攻击：</a:t>
            </a:r>
            <a:endParaRPr lang="en-US" altLang="zh-CN" sz="1400" b="1" dirty="0" smtClean="0">
              <a:latin typeface="微软雅黑" pitchFamily="34" charset="-122"/>
              <a:ea typeface="微软雅黑" pitchFamily="34" charset="-122"/>
            </a:endParaRPr>
          </a:p>
          <a:p>
            <a:pPr marL="171450" indent="-171450" hangingPunct="0">
              <a:lnSpc>
                <a:spcPts val="2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适合于传输 </a:t>
            </a:r>
            <a:r>
              <a:rPr lang="en-US" altLang="zh-CN" sz="1200" b="1" dirty="0">
                <a:latin typeface="微软雅黑" pitchFamily="34" charset="-122"/>
                <a:ea typeface="微软雅黑" pitchFamily="34" charset="-122"/>
              </a:rPr>
              <a:t>HTTP GET </a:t>
            </a: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请求，或者不修改服务器状态的客户端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请求。</a:t>
            </a:r>
            <a:endParaRPr lang="en-US" altLang="zh-CN" sz="1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Rectangle 46"/>
          <p:cNvSpPr>
            <a:spLocks noChangeArrowheads="1"/>
          </p:cNvSpPr>
          <p:nvPr/>
        </p:nvSpPr>
        <p:spPr bwMode="auto">
          <a:xfrm>
            <a:off x="5218684" y="993380"/>
            <a:ext cx="3570773" cy="114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71450" indent="-171450" hangingPunct="0">
              <a:lnSpc>
                <a:spcPts val="21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客户之前连接过某服务器，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通过储存先前会话的秘密信息，不需要经过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1-RTT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的握手过程，仅</a:t>
            </a:r>
            <a:r>
              <a:rPr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需 </a:t>
            </a: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0-RTT </a:t>
            </a:r>
            <a:r>
              <a:rPr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即可开始会话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阶段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438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19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57012"/>
            <a:ext cx="812901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 hangingPunct="0">
              <a:lnSpc>
                <a:spcPts val="30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把长的数据划分为较小的数据块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，称为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record)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。对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每一个记录进行鉴别运算和加密运算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 hangingPunct="0">
              <a:lnSpc>
                <a:spcPts val="30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记录协议对每一个记录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按发送顺序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赋予序号，第一个记录作为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。发送下一个记录时序号就加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，序号最大值不得超过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b="1" baseline="30000" dirty="0">
                <a:latin typeface="微软雅黑" pitchFamily="34" charset="-122"/>
                <a:ea typeface="微软雅黑" pitchFamily="34" charset="-122"/>
              </a:rPr>
              <a:t>64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– 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，且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不允许序号绕回</a:t>
            </a: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 hangingPunct="0">
              <a:lnSpc>
                <a:spcPts val="30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序号并非直接写在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记录首部之中进行传输，而是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作为加密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的参数被隐式输入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，通信双方通过本地维护的计数器同步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序号，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防止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重放攻击和乱序攻击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的会话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阶段：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保证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传送数据的机密性和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完整性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939625" y="36916"/>
            <a:ext cx="21733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协议的握手阶段和会话阶段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679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的会话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阶段：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保证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传送数据的机密性和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完整性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939625" y="36916"/>
            <a:ext cx="21733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协议的握手阶段和会话阶段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802370" y="2757711"/>
            <a:ext cx="5137255" cy="209731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532868" y="2921210"/>
            <a:ext cx="668020" cy="331498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400" dirty="0" smtClean="0">
                <a:ea typeface="宋体" charset="-122"/>
              </a:rPr>
              <a:t>随机数</a:t>
            </a:r>
            <a:endParaRPr lang="en-US" altLang="zh-CN" sz="1400" dirty="0">
              <a:ea typeface="宋体" charset="-122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2359592" y="2921210"/>
            <a:ext cx="819150" cy="331498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 smtClean="0">
                <a:ea typeface="宋体" charset="-122"/>
              </a:rPr>
              <a:t>记录首部</a:t>
            </a:r>
            <a:endParaRPr lang="en-US" altLang="zh-CN" sz="1400" dirty="0">
              <a:ea typeface="宋体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3257153" y="2921210"/>
            <a:ext cx="1527073" cy="33149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 smtClean="0">
                <a:ea typeface="宋体" charset="-122"/>
              </a:rPr>
              <a:t>明文记录</a:t>
            </a:r>
            <a:endParaRPr lang="en-US" altLang="zh-CN" sz="1400" dirty="0">
              <a:ea typeface="宋体" charset="-122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4867717" y="2921210"/>
            <a:ext cx="586740" cy="331498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 smtClean="0">
                <a:ea typeface="宋体" charset="-122"/>
              </a:rPr>
              <a:t>密钥</a:t>
            </a:r>
            <a:endParaRPr lang="en-US" altLang="zh-CN" sz="1400" dirty="0">
              <a:ea typeface="宋体" charset="-122"/>
            </a:endParaRPr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>
            <a:off x="2787963" y="3259215"/>
            <a:ext cx="1314174" cy="4370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endParaRPr lang="en-US" sz="1400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4010697" y="3252708"/>
            <a:ext cx="15057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endParaRPr lang="en-US" sz="1400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 flipH="1">
            <a:off x="4161264" y="3259215"/>
            <a:ext cx="981517" cy="4370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endParaRPr lang="en-US" sz="1400"/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H="1">
            <a:off x="4161267" y="3259216"/>
            <a:ext cx="1683310" cy="4370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endParaRPr lang="en-US" sz="1400"/>
          </a:p>
        </p:txBody>
      </p:sp>
      <p:grpSp>
        <p:nvGrpSpPr>
          <p:cNvPr id="3" name="组合 2"/>
          <p:cNvGrpSpPr/>
          <p:nvPr/>
        </p:nvGrpSpPr>
        <p:grpSpPr>
          <a:xfrm>
            <a:off x="2674657" y="3709908"/>
            <a:ext cx="2931159" cy="468098"/>
            <a:chOff x="2736966" y="3172883"/>
            <a:chExt cx="2931159" cy="468098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4499850" y="3237609"/>
              <a:ext cx="1043940" cy="3314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 smtClean="0">
                  <a:ea typeface="宋体" charset="-122"/>
                </a:rPr>
                <a:t>AEAD</a:t>
              </a:r>
              <a:r>
                <a:rPr lang="zh-CN" altLang="en-US" sz="1400" dirty="0" smtClean="0">
                  <a:ea typeface="宋体" charset="-122"/>
                </a:rPr>
                <a:t>标签</a:t>
              </a:r>
              <a:endParaRPr lang="en-US" altLang="zh-CN" sz="1400" dirty="0">
                <a:ea typeface="宋体" charset="-122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2850272" y="3231102"/>
              <a:ext cx="1527073" cy="33149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dirty="0" smtClean="0">
                  <a:ea typeface="宋体" charset="-122"/>
                </a:rPr>
                <a:t>密文</a:t>
              </a:r>
              <a:endParaRPr lang="en-US" altLang="zh-CN" sz="1400" dirty="0">
                <a:ea typeface="宋体" charset="-122"/>
              </a:endParaRP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2736966" y="3172883"/>
              <a:ext cx="2931159" cy="4680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 algn="ctr"/>
              <a:endParaRPr lang="en-US" altLang="zh-CN" sz="1400" dirty="0">
                <a:ea typeface="宋体" charset="-122"/>
              </a:endParaRPr>
            </a:p>
          </p:txBody>
        </p:sp>
      </p:grp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4670310" y="4377940"/>
            <a:ext cx="1043940" cy="33149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ea typeface="宋体" charset="-122"/>
              </a:rPr>
              <a:t>AEAD</a:t>
            </a:r>
            <a:r>
              <a:rPr lang="zh-CN" altLang="en-US" sz="1400" dirty="0" smtClean="0">
                <a:ea typeface="宋体" charset="-122"/>
              </a:rPr>
              <a:t>标签</a:t>
            </a:r>
            <a:endParaRPr lang="en-US" altLang="zh-CN" sz="1400" dirty="0">
              <a:ea typeface="宋体" charset="-122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2324137" y="4378035"/>
            <a:ext cx="819150" cy="331498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 smtClean="0">
                <a:ea typeface="宋体" charset="-122"/>
              </a:rPr>
              <a:t>记录首部</a:t>
            </a:r>
            <a:endParaRPr lang="en-US" altLang="zh-CN" sz="1400" dirty="0">
              <a:ea typeface="宋体" charset="-122"/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3142652" y="4378690"/>
            <a:ext cx="1527073" cy="33149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 smtClean="0">
                <a:ea typeface="宋体" charset="-122"/>
              </a:rPr>
              <a:t>密文</a:t>
            </a:r>
            <a:endParaRPr lang="en-US" altLang="zh-CN" sz="1400" dirty="0">
              <a:ea typeface="宋体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20390" y="3350812"/>
            <a:ext cx="7017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AEAD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24" name="Rectangle 46"/>
          <p:cNvSpPr>
            <a:spLocks noChangeArrowheads="1"/>
          </p:cNvSpPr>
          <p:nvPr/>
        </p:nvSpPr>
        <p:spPr bwMode="auto">
          <a:xfrm>
            <a:off x="509473" y="957012"/>
            <a:ext cx="8129017" cy="1823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 hangingPunct="0">
              <a:lnSpc>
                <a:spcPts val="27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TLS 1.3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带关联数据的鉴别加密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AEAD (Authenticated Encryption with Associated </a:t>
            </a:r>
            <a:r>
              <a:rPr lang="en-US" altLang="zh-CN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Data)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方法，能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同时提供加密和鉴别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功能。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algn="just" hangingPunct="0">
              <a:lnSpc>
                <a:spcPts val="27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明文记录、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记录首部、随机数、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作为输入，运算后得到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密文和</a:t>
            </a:r>
            <a:r>
              <a:rPr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AEAD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两部分，这里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AEAD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用于对密文和记录首部的鉴别。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algn="just" hangingPunct="0">
              <a:lnSpc>
                <a:spcPts val="27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随后，记录首部、密文、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AEAD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标签共同组成 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记录报文。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384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57012"/>
            <a:ext cx="812901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hangingPunct="0">
              <a:lnSpc>
                <a:spcPts val="30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记录首部：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包括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类型、版本、长度字段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hangingPunct="0">
              <a:lnSpc>
                <a:spcPts val="30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类型字段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记录的类型，如应用数据、警告、握手信息等。</a:t>
            </a:r>
          </a:p>
          <a:p>
            <a:pPr marL="800100" lvl="1" indent="-342900" hangingPunct="0">
              <a:lnSpc>
                <a:spcPts val="30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长度字段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记录的长度，包括密文、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AEAD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标签和可能的填充。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342900" indent="-342900" hangingPunct="0">
              <a:lnSpc>
                <a:spcPts val="30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每个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记录的最大</a:t>
            </a: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明文长度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b="1" baseline="30000" dirty="0">
                <a:latin typeface="微软雅黑" pitchFamily="34" charset="-122"/>
                <a:ea typeface="微软雅黑" pitchFamily="34" charset="-122"/>
              </a:rPr>
              <a:t>14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字节</a:t>
            </a: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约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16KB</a:t>
            </a: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hangingPunct="0">
              <a:lnSpc>
                <a:spcPts val="30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AEAD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标签：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加密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后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，在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密文后面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添加的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256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字节的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AEAD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(tag)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和可能的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填充。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的会话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阶段：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保证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传送数据的机密性和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完整性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939625" y="36916"/>
            <a:ext cx="21733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协议的握手阶段和会话阶段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06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关闭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连接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中，关闭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连接之前，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应当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先发送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加密的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shutdown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握手消息，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以防止截断攻击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(truncation attack)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799200" lvl="1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依赖握手消息的加密和完整性保护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，攻击者难以伪造。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截断攻击：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正在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进行会话时，入侵者突然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发送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FIN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段来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关闭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连接。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如果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没有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事先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shutdown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握手消息，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那么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见到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FIN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段时，就知道这是入侵者的截断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攻击。因为入侵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者无法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伪造双方的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shutdown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握手消息。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939625" y="36916"/>
            <a:ext cx="21733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TLS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协议的握手阶段和会话阶段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881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9205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744011" y="583741"/>
            <a:ext cx="33570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7.5.3  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应用层安全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52595"/>
            <a:ext cx="823076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仅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讨论应用层中有关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电子邮件的安全协议。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发送电子邮件是个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即时行为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单向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的安全问题。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和接收方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不会事先建立任何会话。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读取邮件后，可能会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不会回复邮件。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电子邮件安全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协议应当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为每种加密操作定义相应的算法，以及密钥管理、鉴别、完整性保护等方法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323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120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794683" y="581909"/>
            <a:ext cx="355860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PGP (Pretty Good Privacy)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81547"/>
            <a:ext cx="824522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PGP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(Pretty Good Privacy) 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是一个完整的电子邮件安全软件包，包括加密、鉴别、电子签名和压缩等技术。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现有的一些算法如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MD5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RSA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，以及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IDEA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等综合在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一起。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电子邮件的安全性、发送方鉴别和报文完整性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2024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IETF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更新了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</a:rPr>
              <a:t>OpenPGP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的建议标准。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很难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被攻破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。在目前，可以认为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足够安全的。 </a:t>
            </a:r>
          </a:p>
        </p:txBody>
      </p:sp>
    </p:spTree>
    <p:extLst>
      <p:ext uri="{BB962C8B-B14F-4D97-AF65-F5344CB8AC3E}">
        <p14:creationId xmlns:p14="http://schemas.microsoft.com/office/powerpoint/2010/main" val="314411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13633"/>
            <a:ext cx="8133857" cy="2393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067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907791" y="577466"/>
            <a:ext cx="3332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处理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过程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02328" y="1047998"/>
            <a:ext cx="7536998" cy="2288008"/>
            <a:chOff x="625490" y="1379432"/>
            <a:chExt cx="8135937" cy="2207143"/>
          </a:xfrm>
        </p:grpSpPr>
        <p:sp>
          <p:nvSpPr>
            <p:cNvPr id="58" name="AutoShape 98"/>
            <p:cNvSpPr>
              <a:spLocks noChangeArrowheads="1"/>
            </p:cNvSpPr>
            <p:nvPr/>
          </p:nvSpPr>
          <p:spPr bwMode="auto">
            <a:xfrm>
              <a:off x="8040702" y="2469422"/>
              <a:ext cx="720725" cy="142875"/>
            </a:xfrm>
            <a:prstGeom prst="rightArrow">
              <a:avLst>
                <a:gd name="adj1" fmla="val 50000"/>
                <a:gd name="adj2" fmla="val 100912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6169040" y="1805080"/>
              <a:ext cx="1873250" cy="143986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 55"/>
            <p:cNvSpPr>
              <a:spLocks noChangeArrowheads="1"/>
            </p:cNvSpPr>
            <p:nvPr/>
          </p:nvSpPr>
          <p:spPr bwMode="auto">
            <a:xfrm>
              <a:off x="6477015" y="1866172"/>
              <a:ext cx="1493837" cy="892175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10"/>
            <p:cNvSpPr>
              <a:spLocks noChangeShapeType="1"/>
            </p:cNvSpPr>
            <p:nvPr/>
          </p:nvSpPr>
          <p:spPr bwMode="auto">
            <a:xfrm>
              <a:off x="1633552" y="2253522"/>
              <a:ext cx="1871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Rectangle 64"/>
            <p:cNvSpPr>
              <a:spLocks noChangeArrowheads="1"/>
            </p:cNvSpPr>
            <p:nvPr/>
          </p:nvSpPr>
          <p:spPr bwMode="auto">
            <a:xfrm>
              <a:off x="1704990" y="3117122"/>
              <a:ext cx="1295400" cy="2889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4225940" y="3117122"/>
              <a:ext cx="1295400" cy="29051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69"/>
            <p:cNvSpPr>
              <a:spLocks noChangeArrowheads="1"/>
            </p:cNvSpPr>
            <p:nvPr/>
          </p:nvSpPr>
          <p:spPr bwMode="auto">
            <a:xfrm>
              <a:off x="4267215" y="3112360"/>
              <a:ext cx="12954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76"/>
            <p:cNvSpPr txBox="1">
              <a:spLocks noChangeArrowheads="1"/>
            </p:cNvSpPr>
            <p:nvPr/>
          </p:nvSpPr>
          <p:spPr bwMode="auto">
            <a:xfrm>
              <a:off x="3142557" y="2777397"/>
              <a:ext cx="974554" cy="536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公钥加密</a:t>
              </a:r>
              <a:endParaRPr lang="zh-CN" altLang="en-US" sz="14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80"/>
            <p:cNvSpPr>
              <a:spLocks noChangeShapeType="1"/>
            </p:cNvSpPr>
            <p:nvPr/>
          </p:nvSpPr>
          <p:spPr bwMode="auto">
            <a:xfrm>
              <a:off x="3016265" y="3261585"/>
              <a:ext cx="1206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Text Box 97"/>
            <p:cNvSpPr txBox="1">
              <a:spLocks noChangeArrowheads="1"/>
            </p:cNvSpPr>
            <p:nvPr/>
          </p:nvSpPr>
          <p:spPr bwMode="auto">
            <a:xfrm>
              <a:off x="821502" y="1426435"/>
              <a:ext cx="1362162" cy="536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600"/>
                </a:lnSpc>
              </a:pP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用私钥对</a:t>
              </a:r>
              <a:endPara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明文邮件签名</a:t>
              </a:r>
            </a:p>
          </p:txBody>
        </p:sp>
        <p:sp>
          <p:nvSpPr>
            <p:cNvPr id="68" name="Text Box 99"/>
            <p:cNvSpPr txBox="1">
              <a:spLocks noChangeArrowheads="1"/>
            </p:cNvSpPr>
            <p:nvPr/>
          </p:nvSpPr>
          <p:spPr bwMode="auto">
            <a:xfrm>
              <a:off x="8054349" y="2182085"/>
              <a:ext cx="586948" cy="32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endParaRPr lang="zh-CN" altLang="en-US" sz="14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Text Box 96"/>
            <p:cNvSpPr txBox="1">
              <a:spLocks noChangeArrowheads="1"/>
            </p:cNvSpPr>
            <p:nvPr/>
          </p:nvSpPr>
          <p:spPr bwMode="auto">
            <a:xfrm>
              <a:off x="979502" y="3079022"/>
              <a:ext cx="789403" cy="32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</a:t>
              </a:r>
              <a:endPara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Rectangle 57"/>
            <p:cNvSpPr>
              <a:spLocks noChangeArrowheads="1"/>
            </p:cNvSpPr>
            <p:nvPr/>
          </p:nvSpPr>
          <p:spPr bwMode="auto">
            <a:xfrm>
              <a:off x="6579988" y="2758347"/>
              <a:ext cx="1293813" cy="29051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6611739" y="2758347"/>
              <a:ext cx="126682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74"/>
            <p:cNvSpPr>
              <a:spLocks noChangeShapeType="1"/>
            </p:cNvSpPr>
            <p:nvPr/>
          </p:nvSpPr>
          <p:spPr bwMode="auto">
            <a:xfrm flipV="1">
              <a:off x="5521340" y="2878997"/>
              <a:ext cx="1039812" cy="382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Rectangle 73"/>
            <p:cNvSpPr>
              <a:spLocks noChangeArrowheads="1"/>
            </p:cNvSpPr>
            <p:nvPr/>
          </p:nvSpPr>
          <p:spPr bwMode="auto">
            <a:xfrm>
              <a:off x="5594365" y="2772635"/>
              <a:ext cx="6477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</a:t>
              </a: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3317890" y="1575660"/>
              <a:ext cx="201612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用一次性密钥 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</a:t>
              </a:r>
            </a:p>
          </p:txBody>
        </p:sp>
        <p:sp>
          <p:nvSpPr>
            <p:cNvPr id="75" name="TextBox 57"/>
            <p:cNvSpPr txBox="1">
              <a:spLocks noChangeArrowheads="1"/>
            </p:cNvSpPr>
            <p:nvPr/>
          </p:nvSpPr>
          <p:spPr bwMode="auto">
            <a:xfrm>
              <a:off x="625490" y="1379432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Box 58"/>
            <p:cNvSpPr txBox="1">
              <a:spLocks noChangeArrowheads="1"/>
            </p:cNvSpPr>
            <p:nvPr/>
          </p:nvSpPr>
          <p:spPr bwMode="auto">
            <a:xfrm>
              <a:off x="696927" y="3019975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Box 59"/>
            <p:cNvSpPr txBox="1">
              <a:spLocks noChangeArrowheads="1"/>
            </p:cNvSpPr>
            <p:nvPr/>
          </p:nvSpPr>
          <p:spPr bwMode="auto">
            <a:xfrm>
              <a:off x="2928952" y="2714518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TextBox 60"/>
            <p:cNvSpPr txBox="1">
              <a:spLocks noChangeArrowheads="1"/>
            </p:cNvSpPr>
            <p:nvPr/>
          </p:nvSpPr>
          <p:spPr bwMode="auto">
            <a:xfrm>
              <a:off x="3062301" y="1523891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Text Box 590"/>
            <p:cNvSpPr txBox="1">
              <a:spLocks noChangeArrowheads="1"/>
            </p:cNvSpPr>
            <p:nvPr/>
          </p:nvSpPr>
          <p:spPr bwMode="auto">
            <a:xfrm>
              <a:off x="3630414" y="3289676"/>
              <a:ext cx="654050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51"/>
            <p:cNvSpPr>
              <a:spLocks noChangeArrowheads="1"/>
            </p:cNvSpPr>
            <p:nvPr/>
          </p:nvSpPr>
          <p:spPr bwMode="auto">
            <a:xfrm>
              <a:off x="768365" y="1893160"/>
              <a:ext cx="1393825" cy="4333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768365" y="2326547"/>
              <a:ext cx="1393825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51"/>
            <p:cNvSpPr>
              <a:spLocks noChangeArrowheads="1"/>
            </p:cNvSpPr>
            <p:nvPr/>
          </p:nvSpPr>
          <p:spPr bwMode="auto">
            <a:xfrm>
              <a:off x="1273190" y="2326547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590"/>
            <p:cNvSpPr txBox="1">
              <a:spLocks noChangeArrowheads="1"/>
            </p:cNvSpPr>
            <p:nvPr/>
          </p:nvSpPr>
          <p:spPr bwMode="auto">
            <a:xfrm>
              <a:off x="670121" y="2397535"/>
              <a:ext cx="582612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73"/>
            <p:cNvSpPr>
              <a:spLocks noChangeArrowheads="1"/>
            </p:cNvSpPr>
            <p:nvPr/>
          </p:nvSpPr>
          <p:spPr bwMode="auto">
            <a:xfrm>
              <a:off x="1443052" y="2361472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pic>
          <p:nvPicPr>
            <p:cNvPr id="8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4515" y="2966796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6" name="肘形连接符 58"/>
            <p:cNvCxnSpPr>
              <a:cxnSpLocks noChangeShapeType="1"/>
              <a:stCxn id="62" idx="0"/>
            </p:cNvCxnSpPr>
            <p:nvPr/>
          </p:nvCxnSpPr>
          <p:spPr bwMode="auto">
            <a:xfrm rot="5400000" flipH="1" flipV="1">
              <a:off x="2543190" y="2412272"/>
              <a:ext cx="514350" cy="895350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>
              <a:off x="5014927" y="2251935"/>
              <a:ext cx="1443038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Box 62"/>
            <p:cNvSpPr txBox="1">
              <a:spLocks noChangeArrowheads="1"/>
            </p:cNvSpPr>
            <p:nvPr/>
          </p:nvSpPr>
          <p:spPr bwMode="auto">
            <a:xfrm>
              <a:off x="5363059" y="2732446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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 Box 590"/>
            <p:cNvSpPr txBox="1">
              <a:spLocks noChangeArrowheads="1"/>
            </p:cNvSpPr>
            <p:nvPr/>
          </p:nvSpPr>
          <p:spPr bwMode="auto">
            <a:xfrm>
              <a:off x="3107606" y="2445174"/>
              <a:ext cx="360363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矩形 55"/>
            <p:cNvSpPr>
              <a:spLocks noChangeArrowheads="1"/>
            </p:cNvSpPr>
            <p:nvPr/>
          </p:nvSpPr>
          <p:spPr bwMode="auto">
            <a:xfrm>
              <a:off x="3542888" y="1874493"/>
              <a:ext cx="1493837" cy="892175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51"/>
            <p:cNvSpPr>
              <a:spLocks noChangeArrowheads="1"/>
            </p:cNvSpPr>
            <p:nvPr/>
          </p:nvSpPr>
          <p:spPr bwMode="auto">
            <a:xfrm>
              <a:off x="3589352" y="1920147"/>
              <a:ext cx="1392238" cy="433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589352" y="2353535"/>
              <a:ext cx="1392238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Rectangle 51"/>
            <p:cNvSpPr>
              <a:spLocks noChangeArrowheads="1"/>
            </p:cNvSpPr>
            <p:nvPr/>
          </p:nvSpPr>
          <p:spPr bwMode="auto">
            <a:xfrm>
              <a:off x="4092590" y="2353535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Rectangle 73"/>
            <p:cNvSpPr>
              <a:spLocks noChangeArrowheads="1"/>
            </p:cNvSpPr>
            <p:nvPr/>
          </p:nvSpPr>
          <p:spPr bwMode="auto">
            <a:xfrm>
              <a:off x="4262452" y="2388460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95" name="Text Box 590"/>
            <p:cNvSpPr txBox="1">
              <a:spLocks noChangeArrowheads="1"/>
            </p:cNvSpPr>
            <p:nvPr/>
          </p:nvSpPr>
          <p:spPr bwMode="auto">
            <a:xfrm>
              <a:off x="3500632" y="2437998"/>
              <a:ext cx="582613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 Box 590"/>
            <p:cNvSpPr txBox="1">
              <a:spLocks noChangeArrowheads="1"/>
            </p:cNvSpPr>
            <p:nvPr/>
          </p:nvSpPr>
          <p:spPr bwMode="auto">
            <a:xfrm>
              <a:off x="6078979" y="2453495"/>
              <a:ext cx="360363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51"/>
            <p:cNvSpPr>
              <a:spLocks noChangeArrowheads="1"/>
            </p:cNvSpPr>
            <p:nvPr/>
          </p:nvSpPr>
          <p:spPr bwMode="auto">
            <a:xfrm>
              <a:off x="6540515" y="1920147"/>
              <a:ext cx="1393825" cy="433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8" name="矩形 97"/>
            <p:cNvSpPr/>
            <p:nvPr/>
          </p:nvSpPr>
          <p:spPr bwMode="auto">
            <a:xfrm>
              <a:off x="6542102" y="2353535"/>
              <a:ext cx="1392238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51"/>
            <p:cNvSpPr>
              <a:spLocks noChangeArrowheads="1"/>
            </p:cNvSpPr>
            <p:nvPr/>
          </p:nvSpPr>
          <p:spPr bwMode="auto">
            <a:xfrm>
              <a:off x="7045340" y="2353535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Rectangle 73"/>
            <p:cNvSpPr>
              <a:spLocks noChangeArrowheads="1"/>
            </p:cNvSpPr>
            <p:nvPr/>
          </p:nvSpPr>
          <p:spPr bwMode="auto">
            <a:xfrm>
              <a:off x="7215202" y="2388460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101" name="Text Box 590"/>
            <p:cNvSpPr txBox="1">
              <a:spLocks noChangeArrowheads="1"/>
            </p:cNvSpPr>
            <p:nvPr/>
          </p:nvSpPr>
          <p:spPr bwMode="auto">
            <a:xfrm>
              <a:off x="6453382" y="2437998"/>
              <a:ext cx="582613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6017894" y="2952956"/>
              <a:ext cx="654050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3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4731" y="2518635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6240" y="2486780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114" y="2453443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006" y="2522193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6090" y="3336197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1214" y="2482839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9" name="矩形 108"/>
          <p:cNvSpPr/>
          <p:nvPr/>
        </p:nvSpPr>
        <p:spPr>
          <a:xfrm>
            <a:off x="1034685" y="3406809"/>
            <a:ext cx="7074217" cy="137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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钥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明文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邮件 </a:t>
            </a:r>
            <a:r>
              <a:rPr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签名。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把签名拼接在明文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邮件 </a:t>
            </a:r>
            <a:r>
              <a:rPr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后面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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一次性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（共享的对称密钥）。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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的一次性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已签名的邮件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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钥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的一次性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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已加密的一次性密钥和已加密的签名邮件，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在一起发送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给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0477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13633"/>
            <a:ext cx="8133857" cy="2393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067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939052" y="577466"/>
            <a:ext cx="32698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接收方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处理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过程</a:t>
            </a:r>
          </a:p>
        </p:txBody>
      </p:sp>
      <p:sp>
        <p:nvSpPr>
          <p:cNvPr id="61" name="Line 10"/>
          <p:cNvSpPr>
            <a:spLocks noChangeShapeType="1"/>
          </p:cNvSpPr>
          <p:nvPr/>
        </p:nvSpPr>
        <p:spPr bwMode="auto">
          <a:xfrm>
            <a:off x="4828512" y="1644779"/>
            <a:ext cx="195737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54219" y="1712049"/>
            <a:ext cx="571208" cy="445975"/>
            <a:chOff x="809487" y="1755179"/>
            <a:chExt cx="571208" cy="445975"/>
          </a:xfrm>
        </p:grpSpPr>
        <p:sp>
          <p:nvSpPr>
            <p:cNvPr id="58" name="AutoShape 98"/>
            <p:cNvSpPr>
              <a:spLocks noChangeArrowheads="1"/>
            </p:cNvSpPr>
            <p:nvPr/>
          </p:nvSpPr>
          <p:spPr bwMode="auto">
            <a:xfrm>
              <a:off x="828903" y="2053044"/>
              <a:ext cx="551792" cy="148110"/>
            </a:xfrm>
            <a:prstGeom prst="rightArrow">
              <a:avLst>
                <a:gd name="adj1" fmla="val 50000"/>
                <a:gd name="adj2" fmla="val 100912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Box 99"/>
            <p:cNvSpPr txBox="1">
              <a:spLocks noChangeArrowheads="1"/>
            </p:cNvSpPr>
            <p:nvPr/>
          </p:nvSpPr>
          <p:spPr bwMode="auto">
            <a:xfrm>
              <a:off x="809487" y="1755179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</a:t>
              </a:r>
              <a:endParaRPr lang="zh-CN" altLang="en-US" sz="14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7" name="Line 10"/>
          <p:cNvSpPr>
            <a:spLocks noChangeShapeType="1"/>
          </p:cNvSpPr>
          <p:nvPr/>
        </p:nvSpPr>
        <p:spPr bwMode="auto">
          <a:xfrm>
            <a:off x="4274836" y="2796761"/>
            <a:ext cx="1336807" cy="16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694871" y="1220764"/>
            <a:ext cx="1382230" cy="821185"/>
            <a:chOff x="6466524" y="1263894"/>
            <a:chExt cx="1382230" cy="821185"/>
          </a:xfrm>
        </p:grpSpPr>
        <p:sp>
          <p:nvSpPr>
            <p:cNvPr id="80" name="Rectangle 51"/>
            <p:cNvSpPr>
              <a:spLocks noChangeArrowheads="1"/>
            </p:cNvSpPr>
            <p:nvPr/>
          </p:nvSpPr>
          <p:spPr bwMode="auto">
            <a:xfrm>
              <a:off x="6557536" y="1263894"/>
              <a:ext cx="1291217" cy="4492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6557536" y="1713159"/>
              <a:ext cx="1291217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51"/>
            <p:cNvSpPr>
              <a:spLocks noChangeArrowheads="1"/>
            </p:cNvSpPr>
            <p:nvPr/>
          </p:nvSpPr>
          <p:spPr bwMode="auto">
            <a:xfrm>
              <a:off x="7025199" y="1713159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590"/>
            <p:cNvSpPr txBox="1">
              <a:spLocks noChangeArrowheads="1"/>
            </p:cNvSpPr>
            <p:nvPr/>
          </p:nvSpPr>
          <p:spPr bwMode="auto">
            <a:xfrm>
              <a:off x="6466524" y="1786749"/>
              <a:ext cx="53972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73"/>
            <p:cNvSpPr>
              <a:spLocks noChangeArrowheads="1"/>
            </p:cNvSpPr>
            <p:nvPr/>
          </p:nvSpPr>
          <p:spPr bwMode="auto">
            <a:xfrm>
              <a:off x="7182555" y="1749365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992" y="1844710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9"/>
          <p:cNvGrpSpPr/>
          <p:nvPr/>
        </p:nvGrpSpPr>
        <p:grpSpPr>
          <a:xfrm>
            <a:off x="3405502" y="1182348"/>
            <a:ext cx="1423010" cy="924863"/>
            <a:chOff x="3560770" y="1225478"/>
            <a:chExt cx="1423010" cy="924863"/>
          </a:xfrm>
        </p:grpSpPr>
        <p:sp>
          <p:nvSpPr>
            <p:cNvPr id="90" name="矩形 55"/>
            <p:cNvSpPr>
              <a:spLocks noChangeArrowheads="1"/>
            </p:cNvSpPr>
            <p:nvPr/>
          </p:nvSpPr>
          <p:spPr bwMode="auto">
            <a:xfrm>
              <a:off x="3599914" y="1225478"/>
              <a:ext cx="1383866" cy="924863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51"/>
            <p:cNvSpPr>
              <a:spLocks noChangeArrowheads="1"/>
            </p:cNvSpPr>
            <p:nvPr/>
          </p:nvSpPr>
          <p:spPr bwMode="auto">
            <a:xfrm>
              <a:off x="3642958" y="1272804"/>
              <a:ext cx="1289746" cy="449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642958" y="1722070"/>
              <a:ext cx="1289746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Rectangle 51"/>
            <p:cNvSpPr>
              <a:spLocks noChangeArrowheads="1"/>
            </p:cNvSpPr>
            <p:nvPr/>
          </p:nvSpPr>
          <p:spPr bwMode="auto">
            <a:xfrm>
              <a:off x="4109149" y="1722070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Rectangle 73"/>
            <p:cNvSpPr>
              <a:spLocks noChangeArrowheads="1"/>
            </p:cNvSpPr>
            <p:nvPr/>
          </p:nvSpPr>
          <p:spPr bwMode="auto">
            <a:xfrm>
              <a:off x="4266507" y="1758276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95" name="Text Box 590"/>
            <p:cNvSpPr txBox="1">
              <a:spLocks noChangeArrowheads="1"/>
            </p:cNvSpPr>
            <p:nvPr/>
          </p:nvSpPr>
          <p:spPr bwMode="auto">
            <a:xfrm>
              <a:off x="3560770" y="1809629"/>
              <a:ext cx="53972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8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6711" y="1856109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0" name="Line 81"/>
          <p:cNvSpPr>
            <a:spLocks noChangeShapeType="1"/>
          </p:cNvSpPr>
          <p:nvPr/>
        </p:nvSpPr>
        <p:spPr bwMode="auto">
          <a:xfrm flipV="1">
            <a:off x="3015049" y="2378273"/>
            <a:ext cx="108517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Line 99"/>
          <p:cNvSpPr>
            <a:spLocks noChangeShapeType="1"/>
          </p:cNvSpPr>
          <p:nvPr/>
        </p:nvSpPr>
        <p:spPr bwMode="auto">
          <a:xfrm>
            <a:off x="4100219" y="2112148"/>
            <a:ext cx="0" cy="5415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67392" y="1323245"/>
            <a:ext cx="1875367" cy="1497715"/>
            <a:chOff x="2177946" y="1149695"/>
            <a:chExt cx="1875367" cy="1497715"/>
          </a:xfrm>
        </p:grpSpPr>
        <p:sp>
          <p:nvSpPr>
            <p:cNvPr id="59" name="矩形 58"/>
            <p:cNvSpPr/>
            <p:nvPr/>
          </p:nvSpPr>
          <p:spPr bwMode="auto">
            <a:xfrm>
              <a:off x="2317965" y="1149695"/>
              <a:ext cx="1735348" cy="149261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 55"/>
            <p:cNvSpPr>
              <a:spLocks noChangeArrowheads="1"/>
            </p:cNvSpPr>
            <p:nvPr/>
          </p:nvSpPr>
          <p:spPr bwMode="auto">
            <a:xfrm>
              <a:off x="2603268" y="1213025"/>
              <a:ext cx="1383866" cy="924862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Rectangle 57"/>
            <p:cNvSpPr>
              <a:spLocks noChangeArrowheads="1"/>
            </p:cNvSpPr>
            <p:nvPr/>
          </p:nvSpPr>
          <p:spPr bwMode="auto">
            <a:xfrm>
              <a:off x="2698662" y="2137887"/>
              <a:ext cx="1198567" cy="30115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2728074" y="2137887"/>
              <a:ext cx="1173566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7272" y="2353975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" name="Text Box 590"/>
            <p:cNvSpPr txBox="1">
              <a:spLocks noChangeArrowheads="1"/>
            </p:cNvSpPr>
            <p:nvPr/>
          </p:nvSpPr>
          <p:spPr bwMode="auto">
            <a:xfrm>
              <a:off x="2234534" y="1821867"/>
              <a:ext cx="333834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51"/>
            <p:cNvSpPr>
              <a:spLocks noChangeArrowheads="1"/>
            </p:cNvSpPr>
            <p:nvPr/>
          </p:nvSpPr>
          <p:spPr bwMode="auto">
            <a:xfrm>
              <a:off x="2662095" y="1268980"/>
              <a:ext cx="1291217" cy="449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8" name="矩形 97"/>
            <p:cNvSpPr/>
            <p:nvPr/>
          </p:nvSpPr>
          <p:spPr bwMode="auto">
            <a:xfrm>
              <a:off x="2663565" y="1718246"/>
              <a:ext cx="1289746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51"/>
            <p:cNvSpPr>
              <a:spLocks noChangeArrowheads="1"/>
            </p:cNvSpPr>
            <p:nvPr/>
          </p:nvSpPr>
          <p:spPr bwMode="auto">
            <a:xfrm>
              <a:off x="3129755" y="1718248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Rectangle 73"/>
            <p:cNvSpPr>
              <a:spLocks noChangeArrowheads="1"/>
            </p:cNvSpPr>
            <p:nvPr/>
          </p:nvSpPr>
          <p:spPr bwMode="auto">
            <a:xfrm>
              <a:off x="3287113" y="1754453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101" name="Text Box 590"/>
            <p:cNvSpPr txBox="1">
              <a:spLocks noChangeArrowheads="1"/>
            </p:cNvSpPr>
            <p:nvPr/>
          </p:nvSpPr>
          <p:spPr bwMode="auto">
            <a:xfrm>
              <a:off x="2581375" y="1805807"/>
              <a:ext cx="539723" cy="27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2177946" y="2339632"/>
              <a:ext cx="605901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4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0159" y="1856376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2096" y="1893086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组合 7"/>
          <p:cNvGrpSpPr/>
          <p:nvPr/>
        </p:nvGrpSpPr>
        <p:grpSpPr>
          <a:xfrm>
            <a:off x="3548072" y="2649089"/>
            <a:ext cx="1238273" cy="306093"/>
            <a:chOff x="3703340" y="2692219"/>
            <a:chExt cx="1238273" cy="306093"/>
          </a:xfrm>
        </p:grpSpPr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3703340" y="2697155"/>
              <a:ext cx="1200037" cy="30115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69"/>
            <p:cNvSpPr>
              <a:spLocks noChangeArrowheads="1"/>
            </p:cNvSpPr>
            <p:nvPr/>
          </p:nvSpPr>
          <p:spPr bwMode="auto">
            <a:xfrm>
              <a:off x="3741576" y="2692219"/>
              <a:ext cx="1200037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009794" y="2835347"/>
            <a:ext cx="640349" cy="307778"/>
            <a:chOff x="3165062" y="2878477"/>
            <a:chExt cx="640349" cy="307778"/>
          </a:xfrm>
        </p:grpSpPr>
        <p:sp>
          <p:nvSpPr>
            <p:cNvPr id="79" name="Text Box 590"/>
            <p:cNvSpPr txBox="1">
              <a:spLocks noChangeArrowheads="1"/>
            </p:cNvSpPr>
            <p:nvPr/>
          </p:nvSpPr>
          <p:spPr bwMode="auto">
            <a:xfrm>
              <a:off x="3165062" y="2878477"/>
              <a:ext cx="605901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7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3411" y="2900830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组合 10"/>
          <p:cNvGrpSpPr/>
          <p:nvPr/>
        </p:nvGrpSpPr>
        <p:grpSpPr>
          <a:xfrm>
            <a:off x="3071596" y="1846997"/>
            <a:ext cx="427987" cy="307778"/>
            <a:chOff x="3226864" y="1890127"/>
            <a:chExt cx="427987" cy="307778"/>
          </a:xfrm>
        </p:grpSpPr>
        <p:sp>
          <p:nvSpPr>
            <p:cNvPr id="89" name="Text Box 590"/>
            <p:cNvSpPr txBox="1">
              <a:spLocks noChangeArrowheads="1"/>
            </p:cNvSpPr>
            <p:nvPr/>
          </p:nvSpPr>
          <p:spPr bwMode="auto">
            <a:xfrm>
              <a:off x="3226864" y="1890127"/>
              <a:ext cx="333834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3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851" y="1966283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2" name="Line 10"/>
          <p:cNvSpPr>
            <a:spLocks noChangeShapeType="1"/>
          </p:cNvSpPr>
          <p:nvPr/>
        </p:nvSpPr>
        <p:spPr bwMode="auto">
          <a:xfrm flipH="1" flipV="1">
            <a:off x="5903355" y="1658537"/>
            <a:ext cx="0" cy="106568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Rectangle 64"/>
          <p:cNvSpPr>
            <a:spLocks noChangeArrowheads="1"/>
          </p:cNvSpPr>
          <p:nvPr/>
        </p:nvSpPr>
        <p:spPr bwMode="auto">
          <a:xfrm>
            <a:off x="5606215" y="2648384"/>
            <a:ext cx="1200037" cy="299511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一次性密钥 </a:t>
            </a:r>
            <a:r>
              <a:rPr lang="en-US" altLang="zh-CN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568905" y="2253053"/>
            <a:ext cx="1135283" cy="573362"/>
            <a:chOff x="4646539" y="2296183"/>
            <a:chExt cx="1135283" cy="573362"/>
          </a:xfrm>
        </p:grpSpPr>
        <p:sp>
          <p:nvSpPr>
            <p:cNvPr id="76" name="TextBox 58"/>
            <p:cNvSpPr txBox="1">
              <a:spLocks noChangeArrowheads="1"/>
            </p:cNvSpPr>
            <p:nvPr/>
          </p:nvSpPr>
          <p:spPr bwMode="auto">
            <a:xfrm>
              <a:off x="4646539" y="2296183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753822" y="2346325"/>
              <a:ext cx="1028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私钥解密</a:t>
              </a:r>
              <a:endParaRPr lang="zh-CN" altLang="en-US" sz="1400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88131" y="1129275"/>
            <a:ext cx="968012" cy="564262"/>
            <a:chOff x="5765765" y="1172405"/>
            <a:chExt cx="968012" cy="564262"/>
          </a:xfrm>
        </p:grpSpPr>
        <p:sp>
          <p:nvSpPr>
            <p:cNvPr id="78" name="TextBox 60"/>
            <p:cNvSpPr txBox="1">
              <a:spLocks noChangeArrowheads="1"/>
            </p:cNvSpPr>
            <p:nvPr/>
          </p:nvSpPr>
          <p:spPr bwMode="auto">
            <a:xfrm>
              <a:off x="5765765" y="1172405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72714" y="1213447"/>
              <a:ext cx="76106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用密钥 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解密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143706" y="2064580"/>
            <a:ext cx="778306" cy="400110"/>
            <a:chOff x="3221340" y="2107710"/>
            <a:chExt cx="778306" cy="400110"/>
          </a:xfrm>
        </p:grpSpPr>
        <p:sp>
          <p:nvSpPr>
            <p:cNvPr id="75" name="TextBox 57"/>
            <p:cNvSpPr txBox="1">
              <a:spLocks noChangeArrowheads="1"/>
            </p:cNvSpPr>
            <p:nvPr/>
          </p:nvSpPr>
          <p:spPr bwMode="auto">
            <a:xfrm>
              <a:off x="3221340" y="2107710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455907" y="2162204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分离</a:t>
              </a:r>
              <a:endParaRPr lang="zh-CN" altLang="en-US" sz="1400" dirty="0"/>
            </a:p>
          </p:txBody>
        </p:sp>
      </p:grpSp>
      <p:sp>
        <p:nvSpPr>
          <p:cNvPr id="113" name="Line 10"/>
          <p:cNvSpPr>
            <a:spLocks noChangeShapeType="1"/>
          </p:cNvSpPr>
          <p:nvPr/>
        </p:nvSpPr>
        <p:spPr bwMode="auto">
          <a:xfrm flipH="1">
            <a:off x="7177992" y="1988494"/>
            <a:ext cx="0" cy="8692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104271" y="2036108"/>
            <a:ext cx="1139957" cy="776888"/>
            <a:chOff x="7181905" y="2234510"/>
            <a:chExt cx="1139957" cy="776888"/>
          </a:xfrm>
        </p:grpSpPr>
        <p:sp>
          <p:nvSpPr>
            <p:cNvPr id="77" name="TextBox 59"/>
            <p:cNvSpPr txBox="1">
              <a:spLocks noChangeArrowheads="1"/>
            </p:cNvSpPr>
            <p:nvPr/>
          </p:nvSpPr>
          <p:spPr bwMode="auto">
            <a:xfrm>
              <a:off x="7181905" y="2234510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293862" y="2272734"/>
              <a:ext cx="102800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公钥解密 </a:t>
              </a: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  <a:endParaRPr lang="zh-CN" altLang="en-US" sz="1400" dirty="0"/>
            </a:p>
          </p:txBody>
        </p:sp>
      </p:grpSp>
      <p:sp>
        <p:nvSpPr>
          <p:cNvPr id="19" name="椭圆 18"/>
          <p:cNvSpPr/>
          <p:nvPr/>
        </p:nvSpPr>
        <p:spPr>
          <a:xfrm>
            <a:off x="6926414" y="2812996"/>
            <a:ext cx="1279496" cy="4223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6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验证邮件的完整性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stCxn id="80" idx="3"/>
            <a:endCxn id="19" idx="6"/>
          </p:cNvCxnSpPr>
          <p:nvPr/>
        </p:nvCxnSpPr>
        <p:spPr>
          <a:xfrm>
            <a:off x="8077100" y="1445397"/>
            <a:ext cx="128810" cy="1578787"/>
          </a:xfrm>
          <a:prstGeom prst="bentConnector3">
            <a:avLst>
              <a:gd name="adj1" fmla="val 27747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34685" y="3406809"/>
            <a:ext cx="7404641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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邮件的种类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出已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加密的一次性密钥和已加密的签名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报文。</a:t>
            </a:r>
            <a:endPara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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一次性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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用解出的一次性密钥 </a:t>
            </a:r>
            <a:r>
              <a:rPr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加密的签名邮件进行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出明文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邮件 </a:t>
            </a:r>
            <a:r>
              <a:rPr lang="en-US" altLang="zh-CN" sz="14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数字签名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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手中的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钥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数字签名进行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，即可接着验证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邮件的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完整性。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40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2676639" y="1312856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2676639" y="1919281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748077" y="1278312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7.6.1 					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</a:t>
            </a:r>
            <a:endParaRPr lang="en-US" altLang="zh-CN" sz="2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7.6.2 				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入侵检测系统</a:t>
            </a:r>
          </a:p>
        </p:txBody>
      </p:sp>
      <p:sp>
        <p:nvSpPr>
          <p:cNvPr id="5" name="Rectangle 27"/>
          <p:cNvSpPr>
            <a:spLocks noChangeArrowheads="1"/>
          </p:cNvSpPr>
          <p:nvPr/>
        </p:nvSpPr>
        <p:spPr bwMode="auto">
          <a:xfrm>
            <a:off x="687234" y="1312856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auto">
          <a:xfrm>
            <a:off x="696123" y="1407788"/>
            <a:ext cx="162765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7.6</a:t>
            </a:r>
            <a:endParaRPr lang="fr-FR" altLang="zh-CN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安全技术：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防火墙与入侵检测</a:t>
            </a: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3684702" y="1186640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49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45144" y="1004355"/>
            <a:ext cx="8053712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前述基于密码的安全机制不能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有效解决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以下安全问题：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用户入侵：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利用系统漏洞进行未授权登录；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授权用户非法获取更高级别权限等。</a:t>
            </a: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软件入侵：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通过网络传播病毒、蠕虫和特洛伊木马。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拒绝服务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攻击等。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2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解决方法：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防火墙：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控制进出网络边界的分组。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入侵检测：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深度分析与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检测进入的分组，发现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疑似入侵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行为。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45144" y="611484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846738" y="569213"/>
            <a:ext cx="54505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7.6  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网络安全技术：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防火墙与入侵检测</a:t>
            </a:r>
          </a:p>
        </p:txBody>
      </p:sp>
    </p:spTree>
    <p:extLst>
      <p:ext uri="{BB962C8B-B14F-4D97-AF65-F5344CB8AC3E}">
        <p14:creationId xmlns:p14="http://schemas.microsoft.com/office/powerpoint/2010/main" val="127822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567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3559138" y="580210"/>
            <a:ext cx="2034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7.6.1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1896" y="1039539"/>
            <a:ext cx="8129016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防火墙 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firewall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防火墙是一种特殊编程的路由器，安装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在网络的边界，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目的是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实施访问控制策略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访问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策略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使用防火墙的单位自行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制定。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8724" y="1545848"/>
            <a:ext cx="6753225" cy="11695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28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一种访问控制技术，通过严格控制进出网络边界的分组，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禁止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任何不必要的通信，从而减少潜在入侵的发生，尽可能降低这类安全威胁所带来的安全风险。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059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17532"/>
            <a:ext cx="8133857" cy="28210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AutoShape 34"/>
          <p:cNvSpPr>
            <a:spLocks noChangeArrowheads="1"/>
          </p:cNvSpPr>
          <p:nvPr/>
        </p:nvSpPr>
        <p:spPr bwMode="auto">
          <a:xfrm>
            <a:off x="2859620" y="1606078"/>
            <a:ext cx="3585187" cy="1845629"/>
          </a:xfrm>
          <a:prstGeom prst="cube">
            <a:avLst>
              <a:gd name="adj" fmla="val 11935"/>
            </a:avLst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35"/>
          <p:cNvSpPr>
            <a:spLocks noChangeShapeType="1"/>
          </p:cNvSpPr>
          <p:nvPr/>
        </p:nvSpPr>
        <p:spPr bwMode="auto">
          <a:xfrm>
            <a:off x="5755347" y="2687998"/>
            <a:ext cx="110313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37"/>
          <p:cNvSpPr>
            <a:spLocks noChangeShapeType="1"/>
          </p:cNvSpPr>
          <p:nvPr/>
        </p:nvSpPr>
        <p:spPr bwMode="auto">
          <a:xfrm>
            <a:off x="3204349" y="3133494"/>
            <a:ext cx="11720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38"/>
          <p:cNvSpPr>
            <a:spLocks noChangeShapeType="1"/>
          </p:cNvSpPr>
          <p:nvPr/>
        </p:nvSpPr>
        <p:spPr bwMode="auto">
          <a:xfrm rot="16200000">
            <a:off x="3283902" y="3006210"/>
            <a:ext cx="2545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39"/>
          <p:cNvSpPr>
            <a:spLocks noChangeShapeType="1"/>
          </p:cNvSpPr>
          <p:nvPr/>
        </p:nvSpPr>
        <p:spPr bwMode="auto">
          <a:xfrm rot="16200000">
            <a:off x="4111253" y="3006210"/>
            <a:ext cx="2545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40"/>
          <p:cNvGrpSpPr>
            <a:grpSpLocks/>
          </p:cNvGrpSpPr>
          <p:nvPr/>
        </p:nvGrpSpPr>
        <p:grpSpPr bwMode="auto">
          <a:xfrm>
            <a:off x="4514321" y="2751640"/>
            <a:ext cx="1172080" cy="381854"/>
            <a:chOff x="1440" y="1872"/>
            <a:chExt cx="816" cy="192"/>
          </a:xfrm>
        </p:grpSpPr>
        <p:sp>
          <p:nvSpPr>
            <p:cNvPr id="12" name="Line 41"/>
            <p:cNvSpPr>
              <a:spLocks noChangeShapeType="1"/>
            </p:cNvSpPr>
            <p:nvPr/>
          </p:nvSpPr>
          <p:spPr bwMode="auto">
            <a:xfrm>
              <a:off x="1440" y="2064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42"/>
            <p:cNvSpPr>
              <a:spLocks noChangeShapeType="1"/>
            </p:cNvSpPr>
            <p:nvPr/>
          </p:nvSpPr>
          <p:spPr bwMode="auto">
            <a:xfrm rot="-5400000">
              <a:off x="1440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43"/>
            <p:cNvSpPr>
              <a:spLocks noChangeShapeType="1"/>
            </p:cNvSpPr>
            <p:nvPr/>
          </p:nvSpPr>
          <p:spPr bwMode="auto">
            <a:xfrm rot="-5400000">
              <a:off x="2064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Line 44"/>
          <p:cNvSpPr>
            <a:spLocks noChangeShapeType="1"/>
          </p:cNvSpPr>
          <p:nvPr/>
        </p:nvSpPr>
        <p:spPr bwMode="auto">
          <a:xfrm>
            <a:off x="2583836" y="2751640"/>
            <a:ext cx="5515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val 46"/>
          <p:cNvSpPr>
            <a:spLocks noChangeArrowheads="1"/>
          </p:cNvSpPr>
          <p:nvPr/>
        </p:nvSpPr>
        <p:spPr bwMode="auto">
          <a:xfrm>
            <a:off x="6513752" y="1797005"/>
            <a:ext cx="1723647" cy="15910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000066"/>
            </a:solidFill>
            <a:prstDash val="dash"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47"/>
          <p:cNvSpPr txBox="1">
            <a:spLocks noChangeArrowheads="1"/>
          </p:cNvSpPr>
          <p:nvPr/>
        </p:nvSpPr>
        <p:spPr bwMode="auto">
          <a:xfrm>
            <a:off x="6819700" y="1947635"/>
            <a:ext cx="10823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可信的网络</a:t>
            </a:r>
          </a:p>
        </p:txBody>
      </p:sp>
      <p:sp>
        <p:nvSpPr>
          <p:cNvPr id="19" name="Text Box 48"/>
          <p:cNvSpPr txBox="1">
            <a:spLocks noChangeArrowheads="1"/>
          </p:cNvSpPr>
          <p:nvPr/>
        </p:nvSpPr>
        <p:spPr bwMode="auto">
          <a:xfrm>
            <a:off x="1098626" y="184571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不可信的网络</a:t>
            </a:r>
          </a:p>
        </p:txBody>
      </p:sp>
      <p:sp>
        <p:nvSpPr>
          <p:cNvPr id="20" name="Text Box 49"/>
          <p:cNvSpPr txBox="1">
            <a:spLocks noChangeArrowheads="1"/>
          </p:cNvSpPr>
          <p:nvPr/>
        </p:nvSpPr>
        <p:spPr bwMode="auto">
          <a:xfrm>
            <a:off x="2973775" y="207669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分组过滤</a:t>
            </a:r>
          </a:p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</a:p>
        </p:txBody>
      </p:sp>
      <p:sp>
        <p:nvSpPr>
          <p:cNvPr id="21" name="Text Box 50"/>
          <p:cNvSpPr txBox="1">
            <a:spLocks noChangeArrowheads="1"/>
          </p:cNvSpPr>
          <p:nvPr/>
        </p:nvSpPr>
        <p:spPr bwMode="auto">
          <a:xfrm>
            <a:off x="5090989" y="207669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分组过滤</a:t>
            </a:r>
          </a:p>
          <a:p>
            <a:pPr algn="ctr"/>
            <a:r>
              <a:rPr kumimoji="1" lang="zh-CN" altLang="en-US" sz="14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</a:p>
        </p:txBody>
      </p:sp>
      <p:sp>
        <p:nvSpPr>
          <p:cNvPr id="22" name="Text Box 51"/>
          <p:cNvSpPr txBox="1">
            <a:spLocks noChangeArrowheads="1"/>
          </p:cNvSpPr>
          <p:nvPr/>
        </p:nvSpPr>
        <p:spPr bwMode="auto">
          <a:xfrm>
            <a:off x="4031700" y="205157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应用网关</a:t>
            </a:r>
          </a:p>
        </p:txBody>
      </p:sp>
      <p:sp>
        <p:nvSpPr>
          <p:cNvPr id="23" name="Text Box 52"/>
          <p:cNvSpPr txBox="1">
            <a:spLocks noChangeArrowheads="1"/>
          </p:cNvSpPr>
          <p:nvPr/>
        </p:nvSpPr>
        <p:spPr bwMode="auto">
          <a:xfrm>
            <a:off x="3127945" y="313349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外局域网</a:t>
            </a:r>
          </a:p>
        </p:txBody>
      </p:sp>
      <p:sp>
        <p:nvSpPr>
          <p:cNvPr id="24" name="Text Box 53"/>
          <p:cNvSpPr txBox="1">
            <a:spLocks noChangeArrowheads="1"/>
          </p:cNvSpPr>
          <p:nvPr/>
        </p:nvSpPr>
        <p:spPr bwMode="auto">
          <a:xfrm>
            <a:off x="4646468" y="313349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内局域网</a:t>
            </a:r>
          </a:p>
        </p:txBody>
      </p:sp>
      <p:sp>
        <p:nvSpPr>
          <p:cNvPr id="25" name="Text Box 54"/>
          <p:cNvSpPr txBox="1">
            <a:spLocks noChangeArrowheads="1"/>
          </p:cNvSpPr>
          <p:nvPr/>
        </p:nvSpPr>
        <p:spPr bwMode="auto">
          <a:xfrm>
            <a:off x="4238537" y="1552870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防火墙</a:t>
            </a:r>
          </a:p>
        </p:txBody>
      </p:sp>
      <p:pic>
        <p:nvPicPr>
          <p:cNvPr id="26" name="Picture 5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930" y="2592534"/>
            <a:ext cx="620513" cy="31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27" name="Picture 5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253" y="2550106"/>
            <a:ext cx="620513" cy="31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28" name="Group 57"/>
          <p:cNvGrpSpPr>
            <a:grpSpLocks/>
          </p:cNvGrpSpPr>
          <p:nvPr/>
        </p:nvGrpSpPr>
        <p:grpSpPr bwMode="auto">
          <a:xfrm>
            <a:off x="4169592" y="2369786"/>
            <a:ext cx="551567" cy="509139"/>
            <a:chOff x="2256" y="1488"/>
            <a:chExt cx="384" cy="384"/>
          </a:xfrm>
          <a:solidFill>
            <a:srgbClr val="FF66FF"/>
          </a:solidFill>
        </p:grpSpPr>
        <p:sp>
          <p:nvSpPr>
            <p:cNvPr id="29" name="AutoShape 58"/>
            <p:cNvSpPr>
              <a:spLocks noChangeArrowheads="1"/>
            </p:cNvSpPr>
            <p:nvPr/>
          </p:nvSpPr>
          <p:spPr bwMode="auto">
            <a:xfrm>
              <a:off x="2256" y="1488"/>
              <a:ext cx="384" cy="384"/>
            </a:xfrm>
            <a:prstGeom prst="cube">
              <a:avLst>
                <a:gd name="adj" fmla="val 12963"/>
              </a:avLst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Box 59"/>
            <p:cNvSpPr txBox="1">
              <a:spLocks noChangeArrowheads="1"/>
            </p:cNvSpPr>
            <p:nvPr/>
          </p:nvSpPr>
          <p:spPr bwMode="auto">
            <a:xfrm>
              <a:off x="2315" y="1606"/>
              <a:ext cx="225" cy="2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</a:p>
          </p:txBody>
        </p:sp>
      </p:grpSp>
      <p:graphicFrame>
        <p:nvGraphicFramePr>
          <p:cNvPr id="31" name="Object 60"/>
          <p:cNvGraphicFramePr>
            <a:graphicFrameLocks noChangeAspect="1"/>
          </p:cNvGraphicFramePr>
          <p:nvPr>
            <p:extLst/>
          </p:nvPr>
        </p:nvGraphicFramePr>
        <p:xfrm>
          <a:off x="722297" y="2115217"/>
          <a:ext cx="1999431" cy="114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Visio" r:id="rId4" imgW="1687068" imgH="964692" progId="">
                  <p:embed/>
                </p:oleObj>
              </mc:Choice>
              <mc:Fallback>
                <p:oleObj name="Visio" r:id="rId4" imgW="1687068" imgH="964692" progId="">
                  <p:embed/>
                  <p:pic>
                    <p:nvPicPr>
                      <p:cNvPr id="31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97" y="2115217"/>
                        <a:ext cx="1999431" cy="114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61"/>
          <p:cNvSpPr txBox="1">
            <a:spLocks noChangeArrowheads="1"/>
          </p:cNvSpPr>
          <p:nvPr/>
        </p:nvSpPr>
        <p:spPr bwMode="auto">
          <a:xfrm>
            <a:off x="1297291" y="2522959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62"/>
          <p:cNvSpPr>
            <a:spLocks noChangeShapeType="1"/>
          </p:cNvSpPr>
          <p:nvPr/>
        </p:nvSpPr>
        <p:spPr bwMode="auto">
          <a:xfrm flipH="1">
            <a:off x="2861209" y="1449623"/>
            <a:ext cx="11720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63"/>
          <p:cNvSpPr txBox="1">
            <a:spLocks noChangeArrowheads="1"/>
          </p:cNvSpPr>
          <p:nvPr/>
        </p:nvSpPr>
        <p:spPr bwMode="auto">
          <a:xfrm>
            <a:off x="6431556" y="1289192"/>
            <a:ext cx="10823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防火墙里面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Box 64"/>
          <p:cNvSpPr txBox="1">
            <a:spLocks noChangeArrowheads="1"/>
          </p:cNvSpPr>
          <p:nvPr/>
        </p:nvSpPr>
        <p:spPr bwMode="auto">
          <a:xfrm>
            <a:off x="1383850" y="1269284"/>
            <a:ext cx="10823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防火墙外面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65"/>
          <p:cNvSpPr>
            <a:spLocks noChangeArrowheads="1"/>
          </p:cNvSpPr>
          <p:nvPr/>
        </p:nvSpPr>
        <p:spPr bwMode="auto">
          <a:xfrm>
            <a:off x="4030756" y="1190625"/>
            <a:ext cx="4331609" cy="2447925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00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Group 17"/>
          <p:cNvGrpSpPr>
            <a:grpSpLocks/>
          </p:cNvGrpSpPr>
          <p:nvPr/>
        </p:nvGrpSpPr>
        <p:grpSpPr bwMode="auto">
          <a:xfrm>
            <a:off x="6593266" y="2220851"/>
            <a:ext cx="1498578" cy="907037"/>
            <a:chOff x="1680" y="240"/>
            <a:chExt cx="2529" cy="1270"/>
          </a:xfrm>
          <a:solidFill>
            <a:srgbClr val="6699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Oval 18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0" name="Oval 19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1" name="Oval 20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2" name="Oval 21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3" name="Oval 22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4" name="Oval 23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5" name="Oval 24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6" name="Oval 25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7" name="Oval 26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</p:grpSp>
      <p:sp>
        <p:nvSpPr>
          <p:cNvPr id="16" name="Text Box 45"/>
          <p:cNvSpPr txBox="1">
            <a:spLocks noChangeArrowheads="1"/>
          </p:cNvSpPr>
          <p:nvPr/>
        </p:nvSpPr>
        <p:spPr bwMode="auto">
          <a:xfrm>
            <a:off x="6996374" y="2532249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 smtClean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内部网络</a:t>
            </a:r>
            <a:endParaRPr kumimoji="1" lang="zh-CN" altLang="en-US" sz="16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AutoShape 5"/>
          <p:cNvSpPr>
            <a:spLocks noChangeArrowheads="1"/>
          </p:cNvSpPr>
          <p:nvPr/>
        </p:nvSpPr>
        <p:spPr bwMode="auto">
          <a:xfrm>
            <a:off x="509475" y="609669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Rectangle 6"/>
          <p:cNvSpPr>
            <a:spLocks noChangeArrowheads="1"/>
          </p:cNvSpPr>
          <p:nvPr/>
        </p:nvSpPr>
        <p:spPr bwMode="auto">
          <a:xfrm>
            <a:off x="2942769" y="576458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防火墙在互连网络中的位置</a:t>
            </a:r>
          </a:p>
        </p:txBody>
      </p:sp>
      <p:sp>
        <p:nvSpPr>
          <p:cNvPr id="3" name="矩形 2"/>
          <p:cNvSpPr/>
          <p:nvPr/>
        </p:nvSpPr>
        <p:spPr>
          <a:xfrm>
            <a:off x="973660" y="3852698"/>
            <a:ext cx="7263739" cy="759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一般把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防火墙里面的网络称为“可信的网络”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(trusted network)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，把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防火墙外面的网络称为“不可信的网络”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(untrusted network)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9697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43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558046" y="581120"/>
            <a:ext cx="40318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两类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防火墙技术：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分组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过滤路由器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86"/>
            <a:ext cx="8129016" cy="3648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具有分组</a:t>
            </a: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过滤</a:t>
            </a: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功能的路由器。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过滤规则对进出内部网络的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分组进行过滤（转发或者丢弃）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过滤规则：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基于分组的网络层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或传输层首部信息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，例如：源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目的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地址、源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目的端口、协议类型（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UDP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），等等。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无状态的：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独立地处理每一个分组。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有状态的：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跟踪每个连接或会话的通信状态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，根据状态信息决定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是否转发分组。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优点：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简单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高效，对用户透明。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不能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对高层数据进行过滤。例如：不能禁止某个用户对某个特定应用进行某个特定的操作，不能支持应用层用户鉴别等。</a:t>
            </a:r>
          </a:p>
        </p:txBody>
      </p:sp>
    </p:spTree>
    <p:extLst>
      <p:ext uri="{BB962C8B-B14F-4D97-AF65-F5344CB8AC3E}">
        <p14:creationId xmlns:p14="http://schemas.microsoft.com/office/powerpoint/2010/main" val="239264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43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942767" y="581120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两类防火墙技术：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应用网关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86"/>
            <a:ext cx="8129016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也称为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代理服务器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(proxy server)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对报文进行中继，实现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基于应用层数据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过滤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和高层用户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所有进出网络的应用程序报文都必须通过应用网关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应用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网关在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应用层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打开报文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查看请求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是否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合法。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如果合法，应用网关以客户进程的身份将请求报文转发给原始服务器。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如果不合法，则丢弃报文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endParaRPr lang="en-US" altLang="zh-CN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每种应用都需要一个不同的应用网关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在应用层转发和处理报文，处理负担较重。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对应用程序不透明，需要在应用程序客户端配置应用网关地址。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242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646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051787" y="590997"/>
            <a:ext cx="30492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7.6.2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入侵检测系统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1050326"/>
            <a:ext cx="823076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入侵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检测系统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(Intrusion Detection System)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能够在入侵已经开始，但还没有造成危害或在造成更大危害前，及时检测到入侵，以便尽快阻止入侵，把危害降低到最小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对进入网络的分组执行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深度分组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检查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观察到可疑分组时，向网络管理员发出告警或执行阻断操作（由于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的“误报”率通常较高，多数情况不执行自动阻断）。</a:t>
            </a: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能用于检测多种网络攻击，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包括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网络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映射、端口扫描、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攻击、蠕虫和病毒、系统漏洞攻击等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 </a:t>
            </a:r>
            <a:endParaRPr lang="zh-CN" altLang="en-US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40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81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425801" y="582600"/>
            <a:ext cx="42963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两种入侵检测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基于特征的 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IDS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9966"/>
            <a:ext cx="8129015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维护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一个所有已知攻击标志性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特征的数据库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特征和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规则通常由网络安全专家生成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，由机构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的网络管理员定制并将其加入到数据库中。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只能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检测已知攻击，对于未知攻击则束手无策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至今为止，大多数部署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主要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是基于特征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04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81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387330" y="582600"/>
            <a:ext cx="43733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两种入侵检测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方法：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异常的 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IDS 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9966"/>
            <a:ext cx="812901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观察正常运行的网络流量，学习正常流量的统计特性和规律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检测到网络中流量某种统计规律不符合正常情况时，则认为可能发生了入侵行为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但区分正常流和统计异常流是一个非常困难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的事情。</a:t>
            </a:r>
            <a:endParaRPr lang="zh-CN" altLang="en-US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68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5144" y="1012614"/>
            <a:ext cx="805371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椭圆曲线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密码学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(Elliptic Curve Cryptography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ECC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：已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握手协议中占据非常重要的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地位，现已大量用于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电子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护照、金融系统。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移动安全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(Mobile Security)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：例如移动支付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等。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后量子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密码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Post-Qua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ntum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Cryptography)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量子计算机的到来将使得目前许多使用中的密码技术无效，后量子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密码学的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研究方兴未艾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商密九号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算法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SM9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：一种标识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密码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(Identity-Based Cryptography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算法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。在互联网应用上有前景。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45144" y="620736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770068" y="578465"/>
            <a:ext cx="36038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7.7  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一些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未来的发展方向</a:t>
            </a:r>
          </a:p>
        </p:txBody>
      </p:sp>
    </p:spTree>
    <p:extLst>
      <p:ext uri="{BB962C8B-B14F-4D97-AF65-F5344CB8AC3E}">
        <p14:creationId xmlns:p14="http://schemas.microsoft.com/office/powerpoint/2010/main" val="46294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5144" y="1012614"/>
            <a:ext cx="805371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 startAt="5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网络内生安全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(Endogenous Network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Security)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：改变“补丁式”安全防护理念，将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安全能力融入到计算机网络体系结构的设计之中，使之成为网络与生俱来的组成部分。</a:t>
            </a:r>
          </a:p>
          <a:p>
            <a:pPr marL="457200" indent="-457200" algn="just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 startAt="5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网络主动防御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(Active Network Defense)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建立更加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积极主动的防御策略，将网络安全防御的理念从“事后响应”向“事前抑制”变革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，如移动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目标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防御、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网络欺骗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防御等。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 algn="just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 startAt="5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物联网安全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</a:rPr>
              <a:t>IoT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Security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：物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联网面临设备类型多样、设备资源受限、协议安全性不足、以及隐私泄露风险高等挑战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，其安全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成为一个新的研究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热点。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45144" y="620736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770068" y="578465"/>
            <a:ext cx="36038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7.7  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一些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未来的发展方向</a:t>
            </a:r>
          </a:p>
        </p:txBody>
      </p:sp>
    </p:spTree>
    <p:extLst>
      <p:ext uri="{BB962C8B-B14F-4D97-AF65-F5344CB8AC3E}">
        <p14:creationId xmlns:p14="http://schemas.microsoft.com/office/powerpoint/2010/main" val="61106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39|10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3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3|19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8|40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6|33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5|22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4|43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4|16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16.4|32.9|13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8|9.1|3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5|41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22.8|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8.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5|9.6|19.7|12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17.5|4.9|52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9|37.5|23.1|16.8|12.6|2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|14.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39.9|42.2|62.5|28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|2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7|40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|25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7|31.7|31.5|41.5|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7|46.2|4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8|24.1|32.9|43.2|26.3|19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2|35.3|38.9|30.5|44.5|16.3|12.7|34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4|33.9|12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1|33.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1|14.3|15.4|23.6|9.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15.6|27.4|28.1|31.1|41.1|15.3|28.7|58.3|9.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4.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5|172.2|40.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7.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6|45.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2.8|75.6|72.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42.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6|17.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|19.4|26.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16.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7|39.8|37.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7|31.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9|56.2|57|66|5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2|28.6|64.1|31.5|35.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8|26.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3|25.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|12.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27.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9|58.5|17|10.5|23.4|26.5|8.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6|2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8|27.3|16.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4|35.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|26.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17.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7|36.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|35.7|19.8|18.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3|71.4|105.3|23.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5|78.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3|24.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7|48.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2|10.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7|39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4332</TotalTime>
  <Words>11180</Words>
  <Application>Microsoft Office PowerPoint</Application>
  <PresentationFormat>全屏显示(16:9)</PresentationFormat>
  <Paragraphs>1701</Paragraphs>
  <Slides>133</Slides>
  <Notes>114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133</vt:i4>
      </vt:variant>
    </vt:vector>
  </HeadingPairs>
  <TitlesOfParts>
    <vt:vector size="149" baseType="lpstr">
      <vt:lpstr>Calibri</vt:lpstr>
      <vt:lpstr>Wingdings 2</vt:lpstr>
      <vt:lpstr>Wingdings</vt:lpstr>
      <vt:lpstr>黑体</vt:lpstr>
      <vt:lpstr>Arial</vt:lpstr>
      <vt:lpstr>Cambria Math</vt:lpstr>
      <vt:lpstr>Times New Roman</vt:lpstr>
      <vt:lpstr>宋体</vt:lpstr>
      <vt:lpstr>Comic Sans MS</vt:lpstr>
      <vt:lpstr>ＭＳ Ｐゴシック</vt:lpstr>
      <vt:lpstr>微软雅黑</vt:lpstr>
      <vt:lpstr>Symbol</vt:lpstr>
      <vt:lpstr>Office 主题​​</vt:lpstr>
      <vt:lpstr>公式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xing</cp:lastModifiedBy>
  <cp:revision>841</cp:revision>
  <dcterms:created xsi:type="dcterms:W3CDTF">2018-07-18T08:51:00Z</dcterms:created>
  <dcterms:modified xsi:type="dcterms:W3CDTF">2026-06-21T22:15:24Z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2052-11.1.0.7693</vt:lpwstr>
  </property>
</Properties>
</file>