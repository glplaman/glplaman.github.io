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tags/tag22.xml" ContentType="application/vnd.openxmlformats-officedocument.presentationml.tags+xml"/>
  <Override PartName="/ppt/notesSlides/notesSlide24.xml" ContentType="application/vnd.openxmlformats-officedocument.presentationml.notesSlide+xml"/>
  <Override PartName="/ppt/tags/tag23.xml" ContentType="application/vnd.openxmlformats-officedocument.presentationml.tags+xml"/>
  <Override PartName="/ppt/notesSlides/notesSlide25.xml" ContentType="application/vnd.openxmlformats-officedocument.presentationml.notesSlide+xml"/>
  <Override PartName="/ppt/tags/tag24.xml" ContentType="application/vnd.openxmlformats-officedocument.presentationml.tags+xml"/>
  <Override PartName="/ppt/notesSlides/notesSlide26.xml" ContentType="application/vnd.openxmlformats-officedocument.presentationml.notesSlide+xml"/>
  <Override PartName="/ppt/tags/tag25.xml" ContentType="application/vnd.openxmlformats-officedocument.presentationml.tags+xml"/>
  <Override PartName="/ppt/notesSlides/notesSlide27.xml" ContentType="application/vnd.openxmlformats-officedocument.presentationml.notesSlide+xml"/>
  <Override PartName="/ppt/tags/tag26.xml" ContentType="application/vnd.openxmlformats-officedocument.presentationml.tags+xml"/>
  <Override PartName="/ppt/notesSlides/notesSlide28.xml" ContentType="application/vnd.openxmlformats-officedocument.presentationml.notesSlide+xml"/>
  <Override PartName="/ppt/tags/tag27.xml" ContentType="application/vnd.openxmlformats-officedocument.presentationml.tags+xml"/>
  <Override PartName="/ppt/notesSlides/notesSlide29.xml" ContentType="application/vnd.openxmlformats-officedocument.presentationml.notesSlide+xml"/>
  <Override PartName="/ppt/tags/tag28.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9.xml" ContentType="application/vnd.openxmlformats-officedocument.presentationml.tags+xml"/>
  <Override PartName="/ppt/notesSlides/notesSlide32.xml" ContentType="application/vnd.openxmlformats-officedocument.presentationml.notesSlide+xml"/>
  <Override PartName="/ppt/tags/tag30.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31.xml" ContentType="application/vnd.openxmlformats-officedocument.presentationml.tags+xml"/>
  <Override PartName="/ppt/notesSlides/notesSlide35.xml" ContentType="application/vnd.openxmlformats-officedocument.presentationml.notesSlide+xml"/>
  <Override PartName="/ppt/tags/tag32.xml" ContentType="application/vnd.openxmlformats-officedocument.presentationml.tags+xml"/>
  <Override PartName="/ppt/notesSlides/notesSlide36.xml" ContentType="application/vnd.openxmlformats-officedocument.presentationml.notesSlide+xml"/>
  <Override PartName="/ppt/tags/tag33.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4.xml" ContentType="application/vnd.openxmlformats-officedocument.presentationml.tags+xml"/>
  <Override PartName="/ppt/notesSlides/notesSlide39.xml" ContentType="application/vnd.openxmlformats-officedocument.presentationml.notesSlide+xml"/>
  <Override PartName="/ppt/tags/tag35.xml" ContentType="application/vnd.openxmlformats-officedocument.presentationml.tags+xml"/>
  <Override PartName="/ppt/notesSlides/notesSlide40.xml" ContentType="application/vnd.openxmlformats-officedocument.presentationml.notesSlide+xml"/>
  <Override PartName="/ppt/tags/tag36.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7.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38.xml" ContentType="application/vnd.openxmlformats-officedocument.presentationml.tags+xml"/>
  <Override PartName="/ppt/notesSlides/notesSlide4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48.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49.xml" ContentType="application/vnd.openxmlformats-officedocument.presentationml.notesSlide+xml"/>
  <Override PartName="/ppt/tags/tag44.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45.xml" ContentType="application/vnd.openxmlformats-officedocument.presentationml.tags+xml"/>
  <Override PartName="/ppt/notesSlides/notesSlide53.xml" ContentType="application/vnd.openxmlformats-officedocument.presentationml.notesSlide+xml"/>
  <Override PartName="/ppt/tags/tag46.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47.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tags/tag48.xml" ContentType="application/vnd.openxmlformats-officedocument.presentationml.tags+xml"/>
  <Override PartName="/ppt/notesSlides/notesSlide60.xml" ContentType="application/vnd.openxmlformats-officedocument.presentationml.notesSlide+xml"/>
  <Override PartName="/ppt/tags/tag49.xml" ContentType="application/vnd.openxmlformats-officedocument.presentationml.tags+xml"/>
  <Override PartName="/ppt/notesSlides/notesSlide61.xml" ContentType="application/vnd.openxmlformats-officedocument.presentationml.notesSlide+xml"/>
  <Override PartName="/ppt/tags/tag50.xml" ContentType="application/vnd.openxmlformats-officedocument.presentationml.tags+xml"/>
  <Override PartName="/ppt/notesSlides/notesSlide62.xml" ContentType="application/vnd.openxmlformats-officedocument.presentationml.notesSlide+xml"/>
  <Override PartName="/ppt/tags/tag51.xml" ContentType="application/vnd.openxmlformats-officedocument.presentationml.tags+xml"/>
  <Override PartName="/ppt/notesSlides/notesSlide63.xml" ContentType="application/vnd.openxmlformats-officedocument.presentationml.notesSlide+xml"/>
  <Override PartName="/ppt/tags/tag52.xml" ContentType="application/vnd.openxmlformats-officedocument.presentationml.tags+xml"/>
  <Override PartName="/ppt/notesSlides/notesSlide64.xml" ContentType="application/vnd.openxmlformats-officedocument.presentationml.notesSlide+xml"/>
  <Override PartName="/ppt/tags/tag53.xml" ContentType="application/vnd.openxmlformats-officedocument.presentationml.tags+xml"/>
  <Override PartName="/ppt/notesSlides/notesSlide65.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66.xml" ContentType="application/vnd.openxmlformats-officedocument.presentationml.notesSlide+xml"/>
  <Override PartName="/ppt/tags/tag56.xml" ContentType="application/vnd.openxmlformats-officedocument.presentationml.tags+xml"/>
  <Override PartName="/ppt/notesSlides/notesSlide67.xml" ContentType="application/vnd.openxmlformats-officedocument.presentationml.notesSlide+xml"/>
  <Override PartName="/ppt/tags/tag57.xml" ContentType="application/vnd.openxmlformats-officedocument.presentationml.tags+xml"/>
  <Override PartName="/ppt/notesSlides/notesSlide68.xml" ContentType="application/vnd.openxmlformats-officedocument.presentationml.notesSlide+xml"/>
  <Override PartName="/ppt/tags/tag58.xml" ContentType="application/vnd.openxmlformats-officedocument.presentationml.tags+xml"/>
  <Override PartName="/ppt/notesSlides/notesSlide69.xml" ContentType="application/vnd.openxmlformats-officedocument.presentationml.notesSlide+xml"/>
  <Override PartName="/ppt/tags/tag59.xml" ContentType="application/vnd.openxmlformats-officedocument.presentationml.tags+xml"/>
  <Override PartName="/ppt/notesSlides/notesSlide70.xml" ContentType="application/vnd.openxmlformats-officedocument.presentationml.notesSlide+xml"/>
  <Override PartName="/ppt/tags/tag60.xml" ContentType="application/vnd.openxmlformats-officedocument.presentationml.tags+xml"/>
  <Override PartName="/ppt/notesSlides/notesSlide71.xml" ContentType="application/vnd.openxmlformats-officedocument.presentationml.notesSlide+xml"/>
  <Override PartName="/ppt/tags/tag61.xml" ContentType="application/vnd.openxmlformats-officedocument.presentationml.tags+xml"/>
  <Override PartName="/ppt/notesSlides/notesSlide72.xml" ContentType="application/vnd.openxmlformats-officedocument.presentationml.notesSlide+xml"/>
  <Override PartName="/ppt/tags/tag62.xml" ContentType="application/vnd.openxmlformats-officedocument.presentationml.tags+xml"/>
  <Override PartName="/ppt/notesSlides/notesSlide73.xml" ContentType="application/vnd.openxmlformats-officedocument.presentationml.notesSlide+xml"/>
  <Override PartName="/ppt/tags/tag63.xml" ContentType="application/vnd.openxmlformats-officedocument.presentationml.tags+xml"/>
  <Override PartName="/ppt/notesSlides/notesSlide74.xml" ContentType="application/vnd.openxmlformats-officedocument.presentationml.notesSlide+xml"/>
  <Override PartName="/ppt/tags/tag64.xml" ContentType="application/vnd.openxmlformats-officedocument.presentationml.tags+xml"/>
  <Override PartName="/ppt/notesSlides/notesSlide75.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8"/>
  </p:notesMasterIdLst>
  <p:sldIdLst>
    <p:sldId id="806" r:id="rId2"/>
    <p:sldId id="960" r:id="rId3"/>
    <p:sldId id="961" r:id="rId4"/>
    <p:sldId id="862" r:id="rId5"/>
    <p:sldId id="844" r:id="rId6"/>
    <p:sldId id="863" r:id="rId7"/>
    <p:sldId id="845" r:id="rId8"/>
    <p:sldId id="846" r:id="rId9"/>
    <p:sldId id="847" r:id="rId10"/>
    <p:sldId id="850" r:id="rId11"/>
    <p:sldId id="858" r:id="rId12"/>
    <p:sldId id="864" r:id="rId13"/>
    <p:sldId id="865" r:id="rId14"/>
    <p:sldId id="866" r:id="rId15"/>
    <p:sldId id="867" r:id="rId16"/>
    <p:sldId id="868" r:id="rId17"/>
    <p:sldId id="869" r:id="rId18"/>
    <p:sldId id="870" r:id="rId19"/>
    <p:sldId id="871" r:id="rId20"/>
    <p:sldId id="872" r:id="rId21"/>
    <p:sldId id="873" r:id="rId22"/>
    <p:sldId id="874" r:id="rId23"/>
    <p:sldId id="875" r:id="rId24"/>
    <p:sldId id="876" r:id="rId25"/>
    <p:sldId id="877" r:id="rId26"/>
    <p:sldId id="878" r:id="rId27"/>
    <p:sldId id="879" r:id="rId28"/>
    <p:sldId id="880" r:id="rId29"/>
    <p:sldId id="881" r:id="rId30"/>
    <p:sldId id="882" r:id="rId31"/>
    <p:sldId id="883" r:id="rId32"/>
    <p:sldId id="884" r:id="rId33"/>
    <p:sldId id="885" r:id="rId34"/>
    <p:sldId id="886" r:id="rId35"/>
    <p:sldId id="887" r:id="rId36"/>
    <p:sldId id="888" r:id="rId37"/>
    <p:sldId id="889" r:id="rId38"/>
    <p:sldId id="890" r:id="rId39"/>
    <p:sldId id="891" r:id="rId40"/>
    <p:sldId id="892" r:id="rId41"/>
    <p:sldId id="893" r:id="rId42"/>
    <p:sldId id="894" r:id="rId43"/>
    <p:sldId id="895" r:id="rId44"/>
    <p:sldId id="896" r:id="rId45"/>
    <p:sldId id="897" r:id="rId46"/>
    <p:sldId id="898" r:id="rId47"/>
    <p:sldId id="899" r:id="rId48"/>
    <p:sldId id="900" r:id="rId49"/>
    <p:sldId id="901" r:id="rId50"/>
    <p:sldId id="902" r:id="rId51"/>
    <p:sldId id="903" r:id="rId52"/>
    <p:sldId id="904" r:id="rId53"/>
    <p:sldId id="905" r:id="rId54"/>
    <p:sldId id="906" r:id="rId55"/>
    <p:sldId id="907" r:id="rId56"/>
    <p:sldId id="908" r:id="rId57"/>
    <p:sldId id="909" r:id="rId58"/>
    <p:sldId id="910" r:id="rId59"/>
    <p:sldId id="911" r:id="rId60"/>
    <p:sldId id="912" r:id="rId61"/>
    <p:sldId id="913" r:id="rId62"/>
    <p:sldId id="914" r:id="rId63"/>
    <p:sldId id="915" r:id="rId64"/>
    <p:sldId id="916" r:id="rId65"/>
    <p:sldId id="917" r:id="rId66"/>
    <p:sldId id="920" r:id="rId67"/>
    <p:sldId id="921" r:id="rId68"/>
    <p:sldId id="922" r:id="rId69"/>
    <p:sldId id="923" r:id="rId70"/>
    <p:sldId id="924" r:id="rId71"/>
    <p:sldId id="925" r:id="rId72"/>
    <p:sldId id="927" r:id="rId73"/>
    <p:sldId id="928" r:id="rId74"/>
    <p:sldId id="929" r:id="rId75"/>
    <p:sldId id="930" r:id="rId76"/>
    <p:sldId id="931" r:id="rId77"/>
    <p:sldId id="956" r:id="rId78"/>
    <p:sldId id="957" r:id="rId79"/>
    <p:sldId id="958" r:id="rId80"/>
    <p:sldId id="959" r:id="rId81"/>
    <p:sldId id="962" r:id="rId82"/>
    <p:sldId id="932" r:id="rId83"/>
    <p:sldId id="933" r:id="rId84"/>
    <p:sldId id="934" r:id="rId85"/>
    <p:sldId id="935" r:id="rId86"/>
    <p:sldId id="936" r:id="rId87"/>
    <p:sldId id="937" r:id="rId88"/>
    <p:sldId id="938" r:id="rId89"/>
    <p:sldId id="939" r:id="rId90"/>
    <p:sldId id="940" r:id="rId91"/>
    <p:sldId id="941" r:id="rId92"/>
    <p:sldId id="942" r:id="rId93"/>
    <p:sldId id="943" r:id="rId94"/>
    <p:sldId id="944" r:id="rId95"/>
    <p:sldId id="945" r:id="rId96"/>
    <p:sldId id="963" r:id="rId97"/>
    <p:sldId id="946" r:id="rId98"/>
    <p:sldId id="947" r:id="rId99"/>
    <p:sldId id="948" r:id="rId100"/>
    <p:sldId id="949" r:id="rId101"/>
    <p:sldId id="950" r:id="rId102"/>
    <p:sldId id="951" r:id="rId103"/>
    <p:sldId id="952" r:id="rId104"/>
    <p:sldId id="953" r:id="rId105"/>
    <p:sldId id="954" r:id="rId106"/>
    <p:sldId id="955" r:id="rId107"/>
  </p:sldIdLst>
  <p:sldSz cx="9144000" cy="5143500" type="screen16x9"/>
  <p:notesSz cx="6858000" cy="9144000"/>
  <p:embeddedFontLst>
    <p:embeddedFont>
      <p:font typeface="Calibri" panose="020F0502020204030204" pitchFamily="34" charset="0"/>
      <p:regular r:id="rId109"/>
      <p:bold r:id="rId110"/>
      <p:italic r:id="rId111"/>
      <p:boldItalic r:id="rId112"/>
    </p:embeddedFont>
    <p:embeddedFont>
      <p:font typeface="Lucida Sans Unicode" panose="020B0602030504020204" pitchFamily="34" charset="0"/>
      <p:regular r:id="rId113"/>
    </p:embeddedFont>
    <p:embeddedFont>
      <p:font typeface="Comic Sans MS" panose="030F0702030302020204" pitchFamily="66" charset="0"/>
      <p:regular r:id="rId114"/>
      <p:bold r:id="rId115"/>
      <p:italic r:id="rId116"/>
      <p:boldItalic r:id="rId117"/>
    </p:embeddedFont>
    <p:embeddedFont>
      <p:font typeface="ＭＳ Ｐゴシック" panose="020B0600070205080204" pitchFamily="34" charset="-128"/>
      <p:regular r:id="rId118"/>
    </p:embeddedFont>
    <p:embeddedFont>
      <p:font typeface="微软雅黑" panose="020B0503020204020204" pitchFamily="34" charset="-122"/>
      <p:regular r:id="rId119"/>
      <p:bold r:id="rId120"/>
    </p:embeddedFont>
    <p:embeddedFont>
      <p:font typeface="Gill Sans MT" panose="020B0502020104020203" pitchFamily="34" charset="0"/>
      <p:regular r:id="rId121"/>
      <p:bold r:id="rId122"/>
      <p:italic r:id="rId123"/>
      <p:boldItalic r:id="rId124"/>
    </p:embeddedFont>
    <p:embeddedFont>
      <p:font typeface="Candara" panose="020E0502030303020204" pitchFamily="34" charset="0"/>
      <p:regular r:id="rId125"/>
      <p:bold r:id="rId126"/>
      <p:italic r:id="rId127"/>
      <p:boldItalic r:id="rId12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DFE"/>
    <a:srgbClr val="05BD51"/>
    <a:srgbClr val="FEF0E5"/>
    <a:srgbClr val="990099"/>
    <a:srgbClr val="A647DA"/>
    <a:srgbClr val="CC0099"/>
    <a:srgbClr val="FFFF66"/>
    <a:srgbClr val="00FFFF"/>
    <a:srgbClr val="0000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87792" autoAdjust="0"/>
  </p:normalViewPr>
  <p:slideViewPr>
    <p:cSldViewPr snapToGrid="0">
      <p:cViewPr>
        <p:scale>
          <a:sx n="75" d="100"/>
          <a:sy n="75" d="100"/>
        </p:scale>
        <p:origin x="1088" y="824"/>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9.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4.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5.fntdata"/><Relationship Id="rId128" Type="http://schemas.openxmlformats.org/officeDocument/2006/relationships/font" Target="fonts/font20.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font" Target="fonts/font5.fntdata"/><Relationship Id="rId118" Type="http://schemas.openxmlformats.org/officeDocument/2006/relationships/font" Target="fonts/font10.fntdata"/><Relationship Id="rId126"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notesMaster" Target="notesMasters/notesMaster1.xml"/><Relationship Id="rId116" Type="http://schemas.openxmlformats.org/officeDocument/2006/relationships/font" Target="fonts/font8.fntdata"/><Relationship Id="rId124" Type="http://schemas.openxmlformats.org/officeDocument/2006/relationships/font" Target="fonts/font16.fntdata"/><Relationship Id="rId12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font" Target="fonts/font3.fntdata"/><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font" Target="fonts/font6.fntdata"/><Relationship Id="rId119" Type="http://schemas.openxmlformats.org/officeDocument/2006/relationships/font" Target="fonts/font11.fntdata"/><Relationship Id="rId127" Type="http://schemas.openxmlformats.org/officeDocument/2006/relationships/font" Target="fonts/font1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4.fntdata"/><Relationship Id="rId13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1.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2.fntdata"/><Relationship Id="rId125" Type="http://schemas.openxmlformats.org/officeDocument/2006/relationships/font" Target="fonts/font17.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2.fntdata"/><Relationship Id="rId115" Type="http://schemas.openxmlformats.org/officeDocument/2006/relationships/font" Target="fonts/font7.fntdata"/><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iagrams/colors1.xml><?xml version="1.0" encoding="utf-8"?>
<dgm:colorsDef xmlns:dgm="http://schemas.openxmlformats.org/drawingml/2006/diagram" xmlns:a="http://schemas.openxmlformats.org/drawingml/2006/main" uniqueId="urn:microsoft.com/office/officeart/2005/8/colors/colorful1#9">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7CF620-754C-42AA-B6D7-6E532B46496D}" type="doc">
      <dgm:prSet loTypeId="urn:microsoft.com/office/officeart/2005/8/layout/list1" loCatId="list" qsTypeId="urn:microsoft.com/office/officeart/2005/8/quickstyle/simple1" qsCatId="simple" csTypeId="urn:microsoft.com/office/officeart/2005/8/colors/colorful1#9" csCatId="colorful" phldr="1"/>
      <dgm:spPr/>
      <dgm:t>
        <a:bodyPr/>
        <a:lstStyle/>
        <a:p>
          <a:endParaRPr lang="zh-CN" altLang="en-US"/>
        </a:p>
      </dgm:t>
    </dgm:pt>
    <dgm:pt modelId="{E2D531EB-AB54-494E-9C1E-4C30D2113C22}">
      <dgm:prSet phldrT="[文本]" custT="1"/>
      <dgm:spPr/>
      <dgm:t>
        <a:bodyPr/>
        <a:lstStyle/>
        <a:p>
          <a:r>
            <a:rPr lang="en-US" altLang="en-US" sz="1800" b="1" dirty="0" smtClean="0">
              <a:solidFill>
                <a:schemeClr val="bg1"/>
              </a:solidFill>
              <a:latin typeface="微软雅黑" panose="020B0503020204020204" pitchFamily="34" charset="-122"/>
              <a:ea typeface="微软雅黑" panose="020B0503020204020204" pitchFamily="34" charset="-122"/>
            </a:rPr>
            <a:t>SDN</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BE246D6D-5FC4-4574-ADA4-F9DF70A01C22}" type="parTrans" cxnId="{3D990FE7-B784-4266-9459-DD4F755F3900}">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56EA74CD-3BAB-4DA8-B288-8D367F33563E}" type="sibTrans" cxnId="{3D990FE7-B784-4266-9459-DD4F755F3900}">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BCEA250F-A938-4832-8A35-1F6531FC8D25}">
      <dgm:prSet phldrT="[文本]" custT="1"/>
      <dgm:spPr/>
      <dgm:t>
        <a:bodyPr/>
        <a:lstStyle/>
        <a:p>
          <a:pPr>
            <a:spcAft>
              <a:spcPts val="0"/>
            </a:spcAft>
          </a:pPr>
          <a:r>
            <a:rPr lang="zh-CN" altLang="en-US" sz="1400" b="1" dirty="0" smtClean="0">
              <a:latin typeface="微软雅黑" panose="020B0503020204020204" pitchFamily="34" charset="-122"/>
              <a:ea typeface="微软雅黑" panose="020B0503020204020204" pitchFamily="34" charset="-122"/>
            </a:rPr>
            <a:t>是一个</a:t>
          </a:r>
          <a:r>
            <a:rPr lang="zh-CN" altLang="en-US" sz="1400" b="1" dirty="0" smtClean="0">
              <a:solidFill>
                <a:srgbClr val="C00000"/>
              </a:solidFill>
              <a:latin typeface="微软雅黑" panose="020B0503020204020204" pitchFamily="34" charset="-122"/>
              <a:ea typeface="微软雅黑" panose="020B0503020204020204" pitchFamily="34" charset="-122"/>
            </a:rPr>
            <a:t>体系结构，</a:t>
          </a:r>
          <a:r>
            <a:rPr lang="zh-CN" altLang="en-US" sz="1400" b="1" dirty="0" smtClean="0">
              <a:latin typeface="微软雅黑" panose="020B0503020204020204" pitchFamily="34" charset="-122"/>
              <a:ea typeface="微软雅黑" panose="020B0503020204020204" pitchFamily="34" charset="-122"/>
            </a:rPr>
            <a:t>是一种设计、构建和管理网络的新方法或新概念。</a:t>
          </a:r>
          <a:endParaRPr lang="zh-CN" altLang="en-US" sz="1400" b="1" dirty="0">
            <a:latin typeface="微软雅黑" panose="020B0503020204020204" pitchFamily="34" charset="-122"/>
            <a:ea typeface="微软雅黑" panose="020B0503020204020204" pitchFamily="34" charset="-122"/>
          </a:endParaRPr>
        </a:p>
      </dgm:t>
    </dgm:pt>
    <dgm:pt modelId="{855D1AA7-0014-42D1-AB55-0512522635CF}" type="parTrans" cxnId="{F51027CC-FC97-496C-82EF-F10BDC823C37}">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1F3824E0-260D-44AF-A6A0-AF20B4EAB600}" type="sibTrans" cxnId="{F51027CC-FC97-496C-82EF-F10BDC823C37}">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93C5C89E-14AA-4071-98C1-AD449E0D1A5F}">
      <dgm:prSet phldrT="[文本]" custT="1"/>
      <dgm:spPr/>
      <dgm:t>
        <a:bodyPr/>
        <a:lstStyle/>
        <a:p>
          <a:pPr>
            <a:spcAft>
              <a:spcPts val="0"/>
            </a:spcAft>
          </a:pPr>
          <a:r>
            <a:rPr lang="zh-CN" altLang="en-US" sz="1400" b="1" dirty="0" smtClean="0">
              <a:solidFill>
                <a:schemeClr val="tx1"/>
              </a:solidFill>
              <a:latin typeface="微软雅黑" panose="020B0503020204020204" pitchFamily="34" charset="-122"/>
              <a:ea typeface="微软雅黑" panose="020B0503020204020204" pitchFamily="34" charset="-122"/>
            </a:rPr>
            <a:t>把</a:t>
          </a:r>
          <a:r>
            <a:rPr lang="zh-CN" altLang="en-US" sz="1400" b="1" dirty="0" smtClean="0">
              <a:solidFill>
                <a:srgbClr val="0000FF"/>
              </a:solidFill>
              <a:latin typeface="微软雅黑" panose="020B0503020204020204" pitchFamily="34" charset="-122"/>
              <a:ea typeface="微软雅黑" panose="020B0503020204020204" pitchFamily="34" charset="-122"/>
            </a:rPr>
            <a:t>控制平面</a:t>
          </a:r>
          <a:r>
            <a:rPr lang="zh-CN" altLang="en-US" sz="1400" b="1" dirty="0" smtClean="0">
              <a:solidFill>
                <a:schemeClr val="tx1"/>
              </a:solidFill>
              <a:latin typeface="微软雅黑" panose="020B0503020204020204" pitchFamily="34" charset="-122"/>
              <a:ea typeface="微软雅黑" panose="020B0503020204020204" pitchFamily="34" charset="-122"/>
            </a:rPr>
            <a:t>和</a:t>
          </a:r>
          <a:r>
            <a:rPr lang="zh-CN" altLang="en-US" sz="1400" b="1" dirty="0" smtClean="0">
              <a:solidFill>
                <a:srgbClr val="0000FF"/>
              </a:solidFill>
              <a:latin typeface="微软雅黑" panose="020B0503020204020204" pitchFamily="34" charset="-122"/>
              <a:ea typeface="微软雅黑" panose="020B0503020204020204" pitchFamily="34" charset="-122"/>
            </a:rPr>
            <a:t>数据平面</a:t>
          </a:r>
          <a:r>
            <a:rPr lang="zh-CN" altLang="en-US" sz="1400" b="1" dirty="0" smtClean="0">
              <a:solidFill>
                <a:srgbClr val="C00000"/>
              </a:solidFill>
              <a:latin typeface="微软雅黑" panose="020B0503020204020204" pitchFamily="34" charset="-122"/>
              <a:ea typeface="微软雅黑" panose="020B0503020204020204" pitchFamily="34" charset="-122"/>
            </a:rPr>
            <a:t>分离，</a:t>
          </a:r>
          <a:r>
            <a:rPr lang="zh-CN" altLang="en-US" sz="1400" b="1" dirty="0" smtClean="0">
              <a:latin typeface="微软雅黑" panose="020B0503020204020204" pitchFamily="34" charset="-122"/>
              <a:ea typeface="微软雅黑" panose="020B0503020204020204" pitchFamily="34" charset="-122"/>
            </a:rPr>
            <a:t>而让控制平面</a:t>
          </a:r>
          <a:r>
            <a:rPr lang="zh-CN" altLang="en-US" sz="1400" b="1" dirty="0" smtClean="0">
              <a:solidFill>
                <a:srgbClr val="C00000"/>
              </a:solidFill>
              <a:latin typeface="微软雅黑" panose="020B0503020204020204" pitchFamily="34" charset="-122"/>
              <a:ea typeface="微软雅黑" panose="020B0503020204020204" pitchFamily="34" charset="-122"/>
            </a:rPr>
            <a:t>利用软件</a:t>
          </a:r>
          <a:r>
            <a:rPr lang="zh-CN" altLang="en-US" sz="1400" b="1" dirty="0" smtClean="0">
              <a:solidFill>
                <a:srgbClr val="0000FF"/>
              </a:solidFill>
              <a:latin typeface="微软雅黑" panose="020B0503020204020204" pitchFamily="34" charset="-122"/>
              <a:ea typeface="微软雅黑" panose="020B0503020204020204" pitchFamily="34" charset="-122"/>
            </a:rPr>
            <a:t>控制</a:t>
          </a:r>
          <a:r>
            <a:rPr lang="zh-CN" altLang="en-US" sz="1400" b="1" dirty="0" smtClean="0">
              <a:latin typeface="微软雅黑" panose="020B0503020204020204" pitchFamily="34" charset="-122"/>
              <a:ea typeface="微软雅黑" panose="020B0503020204020204" pitchFamily="34" charset="-122"/>
            </a:rPr>
            <a:t>数据平面中的许多设备。</a:t>
          </a:r>
          <a:endParaRPr lang="zh-CN" altLang="en-US" sz="1400" b="1" dirty="0">
            <a:latin typeface="微软雅黑" panose="020B0503020204020204" pitchFamily="34" charset="-122"/>
            <a:ea typeface="微软雅黑" panose="020B0503020204020204" pitchFamily="34" charset="-122"/>
          </a:endParaRPr>
        </a:p>
      </dgm:t>
    </dgm:pt>
    <dgm:pt modelId="{391EB9A4-3860-4C75-B5FA-C5A625F7D484}" type="parTrans" cxnId="{46A21861-9C4D-4EBB-BE53-C88A9997E30D}">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22B8AFC6-C448-4A2D-8799-F021A978A537}" type="sibTrans" cxnId="{46A21861-9C4D-4EBB-BE53-C88A9997E30D}">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DAA16250-CD1E-4D72-BB65-F717DC30B48F}">
      <dgm:prSet phldrT="[文本]" custT="1"/>
      <dgm:spPr/>
      <dgm:t>
        <a:bodyPr/>
        <a:lstStyle/>
        <a:p>
          <a:r>
            <a:rPr lang="en-US" altLang="zh-CN" sz="1800" b="1" dirty="0" err="1" smtClean="0">
              <a:solidFill>
                <a:srgbClr val="0000CC"/>
              </a:solidFill>
              <a:latin typeface="微软雅黑" panose="020B0503020204020204" pitchFamily="34" charset="-122"/>
              <a:ea typeface="微软雅黑" panose="020B0503020204020204" pitchFamily="34" charset="-122"/>
            </a:rPr>
            <a:t>OpenFlow</a:t>
          </a:r>
          <a:endParaRPr lang="zh-CN" altLang="en-US" sz="1800" b="1" dirty="0">
            <a:solidFill>
              <a:srgbClr val="0000CC"/>
            </a:solidFill>
            <a:latin typeface="微软雅黑" panose="020B0503020204020204" pitchFamily="34" charset="-122"/>
            <a:ea typeface="微软雅黑" panose="020B0503020204020204" pitchFamily="34" charset="-122"/>
          </a:endParaRPr>
        </a:p>
      </dgm:t>
    </dgm:pt>
    <dgm:pt modelId="{EC3331E7-A551-4472-847B-BA00CA0EB852}" type="parTrans" cxnId="{8E2021C0-CD78-4050-9460-52A1436A3A4F}">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E10F3F05-CD84-4A1B-BDC4-701D75C6400A}" type="sibTrans" cxnId="{8E2021C0-CD78-4050-9460-52A1436A3A4F}">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C64E32E3-7489-4BE5-BE96-0A66B49F7C7C}">
      <dgm:prSet phldrT="[文本]" custT="1"/>
      <dgm:spPr/>
      <dgm:t>
        <a:bodyPr/>
        <a:lstStyle/>
        <a:p>
          <a:pPr>
            <a:spcAft>
              <a:spcPts val="0"/>
            </a:spcAft>
          </a:pPr>
          <a:r>
            <a:rPr lang="en-US" altLang="en-US" sz="1400" b="1" dirty="0" smtClean="0">
              <a:latin typeface="微软雅黑" panose="020B0503020204020204" pitchFamily="34" charset="-122"/>
              <a:ea typeface="微软雅黑" panose="020B0503020204020204" pitchFamily="34" charset="-122"/>
            </a:rPr>
            <a:t>SDN </a:t>
          </a:r>
          <a:r>
            <a:rPr lang="zh-CN" altLang="en-US" sz="1400" b="1" dirty="0" smtClean="0">
              <a:latin typeface="微软雅黑" panose="020B0503020204020204" pitchFamily="34" charset="-122"/>
              <a:ea typeface="微软雅黑" panose="020B0503020204020204" pitchFamily="34" charset="-122"/>
            </a:rPr>
            <a:t>体系结构中控制平面和数据平面之间的</a:t>
          </a:r>
          <a:r>
            <a:rPr lang="zh-CN" altLang="en-US" sz="1400" b="1" dirty="0" smtClean="0">
              <a:solidFill>
                <a:srgbClr val="C00000"/>
              </a:solidFill>
              <a:latin typeface="微软雅黑" panose="020B0503020204020204" pitchFamily="34" charset="-122"/>
              <a:ea typeface="微软雅黑" panose="020B0503020204020204" pitchFamily="34" charset="-122"/>
            </a:rPr>
            <a:t>通信接口。</a:t>
          </a:r>
          <a:endParaRPr lang="zh-CN" altLang="en-US" sz="1400" b="1" dirty="0">
            <a:solidFill>
              <a:srgbClr val="C00000"/>
            </a:solidFill>
            <a:latin typeface="微软雅黑" panose="020B0503020204020204" pitchFamily="34" charset="-122"/>
            <a:ea typeface="微软雅黑" panose="020B0503020204020204" pitchFamily="34" charset="-122"/>
          </a:endParaRPr>
        </a:p>
      </dgm:t>
    </dgm:pt>
    <dgm:pt modelId="{14A66DC3-6A24-4808-9C58-6D992E1C3957}" type="parTrans" cxnId="{03DB05EC-4D94-4E20-A89D-485856CEDD61}">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70CEC0CF-DDBB-4731-8B03-66D0B2C76B1F}" type="sibTrans" cxnId="{03DB05EC-4D94-4E20-A89D-485856CEDD61}">
      <dgm:prSet/>
      <dgm:spPr/>
      <dgm:t>
        <a:bodyPr/>
        <a:lstStyle/>
        <a:p>
          <a:endParaRPr lang="zh-CN" altLang="en-US" sz="1400" b="1">
            <a:latin typeface="微软雅黑" panose="020B0503020204020204" pitchFamily="34" charset="-122"/>
            <a:ea typeface="微软雅黑" panose="020B0503020204020204" pitchFamily="34" charset="-122"/>
          </a:endParaRPr>
        </a:p>
      </dgm:t>
    </dgm:pt>
    <dgm:pt modelId="{BAE228D1-650D-492F-9CFA-149583110835}">
      <dgm:prSet custT="1"/>
      <dgm:spPr/>
      <dgm:t>
        <a:bodyPr/>
        <a:lstStyle/>
        <a:p>
          <a:pPr>
            <a:spcAft>
              <a:spcPts val="0"/>
            </a:spcAft>
          </a:pPr>
          <a:r>
            <a:rPr lang="zh-CN" altLang="en-US" sz="1400" b="1" dirty="0" smtClean="0">
              <a:latin typeface="微软雅黑" panose="020B0503020204020204" pitchFamily="34" charset="-122"/>
              <a:ea typeface="微软雅黑" panose="020B0503020204020204" pitchFamily="34" charset="-122"/>
            </a:rPr>
            <a:t>使控制平面的控制器可以对数据平面中的物理或虚拟设备进行</a:t>
          </a:r>
          <a:r>
            <a:rPr lang="zh-CN" altLang="en-US" sz="1400" b="1" dirty="0" smtClean="0">
              <a:solidFill>
                <a:srgbClr val="C00000"/>
              </a:solidFill>
              <a:latin typeface="微软雅黑" panose="020B0503020204020204" pitchFamily="34" charset="-122"/>
              <a:ea typeface="微软雅黑" panose="020B0503020204020204" pitchFamily="34" charset="-122"/>
            </a:rPr>
            <a:t>直接</a:t>
          </a:r>
          <a:r>
            <a:rPr lang="zh-CN" altLang="en-US" sz="1400" b="1" dirty="0" smtClean="0">
              <a:latin typeface="微软雅黑" panose="020B0503020204020204" pitchFamily="34" charset="-122"/>
              <a:ea typeface="微软雅黑" panose="020B0503020204020204" pitchFamily="34" charset="-122"/>
            </a:rPr>
            <a:t>访问和操纵。</a:t>
          </a:r>
          <a:endParaRPr lang="zh-CN" altLang="en-US" sz="1400" b="1" dirty="0">
            <a:latin typeface="微软雅黑" panose="020B0503020204020204" pitchFamily="34" charset="-122"/>
            <a:ea typeface="微软雅黑" panose="020B0503020204020204" pitchFamily="34" charset="-122"/>
          </a:endParaRPr>
        </a:p>
      </dgm:t>
    </dgm:pt>
    <dgm:pt modelId="{830A9A1B-188D-4195-805A-CA5EDEE1088D}" type="parTrans" cxnId="{E5EB32B7-1F72-49E1-BD4C-A7A32B148827}">
      <dgm:prSet/>
      <dgm:spPr/>
      <dgm:t>
        <a:bodyPr/>
        <a:lstStyle/>
        <a:p>
          <a:endParaRPr lang="zh-CN" altLang="en-US" sz="1400"/>
        </a:p>
      </dgm:t>
    </dgm:pt>
    <dgm:pt modelId="{D02ACEFA-FB25-4555-9831-CFBE994CDECF}" type="sibTrans" cxnId="{E5EB32B7-1F72-49E1-BD4C-A7A32B148827}">
      <dgm:prSet/>
      <dgm:spPr/>
      <dgm:t>
        <a:bodyPr/>
        <a:lstStyle/>
        <a:p>
          <a:endParaRPr lang="zh-CN" altLang="en-US" sz="1400"/>
        </a:p>
      </dgm:t>
    </dgm:pt>
    <dgm:pt modelId="{F3B5F212-4DC3-49A6-A050-132FF7B50466}">
      <dgm:prSet custT="1"/>
      <dgm:spPr/>
      <dgm:t>
        <a:bodyPr/>
        <a:lstStyle/>
        <a:p>
          <a:pPr>
            <a:spcAft>
              <a:spcPts val="0"/>
            </a:spcAft>
          </a:pPr>
          <a:r>
            <a:rPr lang="zh-CN" altLang="en-US" sz="1400" b="1" dirty="0" smtClean="0">
              <a:latin typeface="微软雅黑" panose="020B0503020204020204" pitchFamily="34" charset="-122"/>
              <a:ea typeface="微软雅黑" panose="020B0503020204020204" pitchFamily="34" charset="-122"/>
            </a:rPr>
            <a:t>在逻辑上是</a:t>
          </a:r>
          <a:r>
            <a:rPr lang="zh-CN" altLang="en-US" sz="1400" b="1" dirty="0" smtClean="0">
              <a:solidFill>
                <a:srgbClr val="C00000"/>
              </a:solidFill>
              <a:latin typeface="微软雅黑" panose="020B0503020204020204" pitchFamily="34" charset="-122"/>
              <a:ea typeface="微软雅黑" panose="020B0503020204020204" pitchFamily="34" charset="-122"/>
            </a:rPr>
            <a:t>集中式</a:t>
          </a:r>
          <a:r>
            <a:rPr lang="zh-CN" altLang="en-US" sz="1400" b="1" dirty="0" smtClean="0">
              <a:latin typeface="微软雅黑" panose="020B0503020204020204" pitchFamily="34" charset="-122"/>
              <a:ea typeface="微软雅黑" panose="020B0503020204020204" pitchFamily="34" charset="-122"/>
            </a:rPr>
            <a:t>的、</a:t>
          </a:r>
          <a:r>
            <a:rPr lang="zh-CN" altLang="en-US" sz="1400" b="1" dirty="0" smtClean="0">
              <a:solidFill>
                <a:srgbClr val="C00000"/>
              </a:solidFill>
              <a:latin typeface="微软雅黑" panose="020B0503020204020204" pitchFamily="34" charset="-122"/>
              <a:ea typeface="微软雅黑" panose="020B0503020204020204" pitchFamily="34" charset="-122"/>
            </a:rPr>
            <a:t>基于流</a:t>
          </a:r>
          <a:r>
            <a:rPr lang="zh-CN" altLang="en-US" sz="1400" b="1" dirty="0" smtClean="0">
              <a:latin typeface="微软雅黑" panose="020B0503020204020204" pitchFamily="34" charset="-122"/>
              <a:ea typeface="微软雅黑" panose="020B0503020204020204" pitchFamily="34" charset="-122"/>
            </a:rPr>
            <a:t>的。</a:t>
          </a:r>
          <a:endParaRPr lang="zh-CN" altLang="en-US" sz="1400" b="1" dirty="0">
            <a:latin typeface="微软雅黑" panose="020B0503020204020204" pitchFamily="34" charset="-122"/>
            <a:ea typeface="微软雅黑" panose="020B0503020204020204" pitchFamily="34" charset="-122"/>
          </a:endParaRPr>
        </a:p>
      </dgm:t>
    </dgm:pt>
    <dgm:pt modelId="{91B47B97-5167-4999-902E-79E2079E222C}" type="parTrans" cxnId="{B9E6440F-B9D8-497D-A6B6-C2745C1ED892}">
      <dgm:prSet/>
      <dgm:spPr/>
      <dgm:t>
        <a:bodyPr/>
        <a:lstStyle/>
        <a:p>
          <a:endParaRPr lang="zh-CN" altLang="en-US" sz="1400"/>
        </a:p>
      </dgm:t>
    </dgm:pt>
    <dgm:pt modelId="{EA26118C-98CD-4C73-BAEF-CB97F2569B5E}" type="sibTrans" cxnId="{B9E6440F-B9D8-497D-A6B6-C2745C1ED892}">
      <dgm:prSet/>
      <dgm:spPr/>
      <dgm:t>
        <a:bodyPr/>
        <a:lstStyle/>
        <a:p>
          <a:endParaRPr lang="zh-CN" altLang="en-US" sz="1400"/>
        </a:p>
      </dgm:t>
    </dgm:pt>
    <dgm:pt modelId="{AFB7E455-428C-4A0F-992C-629F9DA528A4}" type="pres">
      <dgm:prSet presAssocID="{507CF620-754C-42AA-B6D7-6E532B46496D}" presName="linear" presStyleCnt="0">
        <dgm:presLayoutVars>
          <dgm:dir/>
          <dgm:animLvl val="lvl"/>
          <dgm:resizeHandles val="exact"/>
        </dgm:presLayoutVars>
      </dgm:prSet>
      <dgm:spPr/>
      <dgm:t>
        <a:bodyPr/>
        <a:lstStyle/>
        <a:p>
          <a:endParaRPr lang="zh-CN" altLang="en-US"/>
        </a:p>
      </dgm:t>
    </dgm:pt>
    <dgm:pt modelId="{21C46C9B-7934-49C2-90CF-686CD588AD24}" type="pres">
      <dgm:prSet presAssocID="{E2D531EB-AB54-494E-9C1E-4C30D2113C22}" presName="parentLin" presStyleCnt="0"/>
      <dgm:spPr/>
    </dgm:pt>
    <dgm:pt modelId="{3532B21B-9813-41B4-9683-FF842EF22363}" type="pres">
      <dgm:prSet presAssocID="{E2D531EB-AB54-494E-9C1E-4C30D2113C22}" presName="parentLeftMargin" presStyleLbl="node1" presStyleIdx="0" presStyleCnt="2"/>
      <dgm:spPr/>
      <dgm:t>
        <a:bodyPr/>
        <a:lstStyle/>
        <a:p>
          <a:endParaRPr lang="zh-CN" altLang="en-US"/>
        </a:p>
      </dgm:t>
    </dgm:pt>
    <dgm:pt modelId="{08B5982C-5C29-4138-B12D-B1193F279CC1}" type="pres">
      <dgm:prSet presAssocID="{E2D531EB-AB54-494E-9C1E-4C30D2113C22}" presName="parentText" presStyleLbl="node1" presStyleIdx="0" presStyleCnt="2">
        <dgm:presLayoutVars>
          <dgm:chMax val="0"/>
          <dgm:bulletEnabled val="1"/>
        </dgm:presLayoutVars>
      </dgm:prSet>
      <dgm:spPr/>
      <dgm:t>
        <a:bodyPr/>
        <a:lstStyle/>
        <a:p>
          <a:endParaRPr lang="zh-CN" altLang="en-US"/>
        </a:p>
      </dgm:t>
    </dgm:pt>
    <dgm:pt modelId="{D4FE3960-E739-4C8C-BB91-934C55FB02C1}" type="pres">
      <dgm:prSet presAssocID="{E2D531EB-AB54-494E-9C1E-4C30D2113C22}" presName="negativeSpace" presStyleCnt="0"/>
      <dgm:spPr/>
    </dgm:pt>
    <dgm:pt modelId="{59A3D657-23B2-4553-AB55-365AF4AD92FC}" type="pres">
      <dgm:prSet presAssocID="{E2D531EB-AB54-494E-9C1E-4C30D2113C22}" presName="childText" presStyleLbl="conFgAcc1" presStyleIdx="0" presStyleCnt="2">
        <dgm:presLayoutVars>
          <dgm:bulletEnabled val="1"/>
        </dgm:presLayoutVars>
      </dgm:prSet>
      <dgm:spPr/>
      <dgm:t>
        <a:bodyPr/>
        <a:lstStyle/>
        <a:p>
          <a:endParaRPr lang="zh-CN" altLang="en-US"/>
        </a:p>
      </dgm:t>
    </dgm:pt>
    <dgm:pt modelId="{BF6BEC27-1E1E-441A-86C6-71C70AD619AE}" type="pres">
      <dgm:prSet presAssocID="{56EA74CD-3BAB-4DA8-B288-8D367F33563E}" presName="spaceBetweenRectangles" presStyleCnt="0"/>
      <dgm:spPr/>
    </dgm:pt>
    <dgm:pt modelId="{44061F98-C3D6-44C6-91CD-5583301AB560}" type="pres">
      <dgm:prSet presAssocID="{DAA16250-CD1E-4D72-BB65-F717DC30B48F}" presName="parentLin" presStyleCnt="0"/>
      <dgm:spPr/>
    </dgm:pt>
    <dgm:pt modelId="{5E0995F6-5D0E-466D-8876-7344AA812E34}" type="pres">
      <dgm:prSet presAssocID="{DAA16250-CD1E-4D72-BB65-F717DC30B48F}" presName="parentLeftMargin" presStyleLbl="node1" presStyleIdx="0" presStyleCnt="2"/>
      <dgm:spPr/>
      <dgm:t>
        <a:bodyPr/>
        <a:lstStyle/>
        <a:p>
          <a:endParaRPr lang="zh-CN" altLang="en-US"/>
        </a:p>
      </dgm:t>
    </dgm:pt>
    <dgm:pt modelId="{35AC4BD2-1828-4C40-9426-ADEA8908391D}" type="pres">
      <dgm:prSet presAssocID="{DAA16250-CD1E-4D72-BB65-F717DC30B48F}" presName="parentText" presStyleLbl="node1" presStyleIdx="1" presStyleCnt="2">
        <dgm:presLayoutVars>
          <dgm:chMax val="0"/>
          <dgm:bulletEnabled val="1"/>
        </dgm:presLayoutVars>
      </dgm:prSet>
      <dgm:spPr/>
      <dgm:t>
        <a:bodyPr/>
        <a:lstStyle/>
        <a:p>
          <a:endParaRPr lang="zh-CN" altLang="en-US"/>
        </a:p>
      </dgm:t>
    </dgm:pt>
    <dgm:pt modelId="{C5104255-B2A2-46DD-9C0E-385FD72891D3}" type="pres">
      <dgm:prSet presAssocID="{DAA16250-CD1E-4D72-BB65-F717DC30B48F}" presName="negativeSpace" presStyleCnt="0"/>
      <dgm:spPr/>
    </dgm:pt>
    <dgm:pt modelId="{6DBB5C1B-B5D3-489B-9520-25CF774BF611}" type="pres">
      <dgm:prSet presAssocID="{DAA16250-CD1E-4D72-BB65-F717DC30B48F}" presName="childText" presStyleLbl="conFgAcc1" presStyleIdx="1" presStyleCnt="2">
        <dgm:presLayoutVars>
          <dgm:bulletEnabled val="1"/>
        </dgm:presLayoutVars>
      </dgm:prSet>
      <dgm:spPr/>
      <dgm:t>
        <a:bodyPr/>
        <a:lstStyle/>
        <a:p>
          <a:endParaRPr lang="zh-CN" altLang="en-US"/>
        </a:p>
      </dgm:t>
    </dgm:pt>
  </dgm:ptLst>
  <dgm:cxnLst>
    <dgm:cxn modelId="{95112D60-FCEF-4A6B-898C-81DF670D99D3}" type="presOf" srcId="{C64E32E3-7489-4BE5-BE96-0A66B49F7C7C}" destId="{6DBB5C1B-B5D3-489B-9520-25CF774BF611}" srcOrd="0" destOrd="0" presId="urn:microsoft.com/office/officeart/2005/8/layout/list1"/>
    <dgm:cxn modelId="{6A825066-EC95-48B5-93E0-4891291DE14F}" type="presOf" srcId="{DAA16250-CD1E-4D72-BB65-F717DC30B48F}" destId="{35AC4BD2-1828-4C40-9426-ADEA8908391D}" srcOrd="1" destOrd="0" presId="urn:microsoft.com/office/officeart/2005/8/layout/list1"/>
    <dgm:cxn modelId="{AF2C3A8A-234A-4580-A3A4-B75A436B1397}" type="presOf" srcId="{E2D531EB-AB54-494E-9C1E-4C30D2113C22}" destId="{3532B21B-9813-41B4-9683-FF842EF22363}" srcOrd="0" destOrd="0" presId="urn:microsoft.com/office/officeart/2005/8/layout/list1"/>
    <dgm:cxn modelId="{03DB05EC-4D94-4E20-A89D-485856CEDD61}" srcId="{DAA16250-CD1E-4D72-BB65-F717DC30B48F}" destId="{C64E32E3-7489-4BE5-BE96-0A66B49F7C7C}" srcOrd="0" destOrd="0" parTransId="{14A66DC3-6A24-4808-9C58-6D992E1C3957}" sibTransId="{70CEC0CF-DDBB-4731-8B03-66D0B2C76B1F}"/>
    <dgm:cxn modelId="{D466629A-CCF5-40B6-905B-D359772974E3}" type="presOf" srcId="{BCEA250F-A938-4832-8A35-1F6531FC8D25}" destId="{59A3D657-23B2-4553-AB55-365AF4AD92FC}" srcOrd="0" destOrd="0" presId="urn:microsoft.com/office/officeart/2005/8/layout/list1"/>
    <dgm:cxn modelId="{B9E6440F-B9D8-497D-A6B6-C2745C1ED892}" srcId="{DAA16250-CD1E-4D72-BB65-F717DC30B48F}" destId="{F3B5F212-4DC3-49A6-A050-132FF7B50466}" srcOrd="2" destOrd="0" parTransId="{91B47B97-5167-4999-902E-79E2079E222C}" sibTransId="{EA26118C-98CD-4C73-BAEF-CB97F2569B5E}"/>
    <dgm:cxn modelId="{0B0DA9FC-0CD9-4A96-A10A-EAEF241801FE}" type="presOf" srcId="{F3B5F212-4DC3-49A6-A050-132FF7B50466}" destId="{6DBB5C1B-B5D3-489B-9520-25CF774BF611}" srcOrd="0" destOrd="2" presId="urn:microsoft.com/office/officeart/2005/8/layout/list1"/>
    <dgm:cxn modelId="{46A21861-9C4D-4EBB-BE53-C88A9997E30D}" srcId="{E2D531EB-AB54-494E-9C1E-4C30D2113C22}" destId="{93C5C89E-14AA-4071-98C1-AD449E0D1A5F}" srcOrd="1" destOrd="0" parTransId="{391EB9A4-3860-4C75-B5FA-C5A625F7D484}" sibTransId="{22B8AFC6-C448-4A2D-8799-F021A978A537}"/>
    <dgm:cxn modelId="{E5EB32B7-1F72-49E1-BD4C-A7A32B148827}" srcId="{DAA16250-CD1E-4D72-BB65-F717DC30B48F}" destId="{BAE228D1-650D-492F-9CFA-149583110835}" srcOrd="1" destOrd="0" parTransId="{830A9A1B-188D-4195-805A-CA5EDEE1088D}" sibTransId="{D02ACEFA-FB25-4555-9831-CFBE994CDECF}"/>
    <dgm:cxn modelId="{C5CFE188-6DB5-480D-A87D-9D9FF73C082C}" type="presOf" srcId="{BAE228D1-650D-492F-9CFA-149583110835}" destId="{6DBB5C1B-B5D3-489B-9520-25CF774BF611}" srcOrd="0" destOrd="1" presId="urn:microsoft.com/office/officeart/2005/8/layout/list1"/>
    <dgm:cxn modelId="{8E2021C0-CD78-4050-9460-52A1436A3A4F}" srcId="{507CF620-754C-42AA-B6D7-6E532B46496D}" destId="{DAA16250-CD1E-4D72-BB65-F717DC30B48F}" srcOrd="1" destOrd="0" parTransId="{EC3331E7-A551-4472-847B-BA00CA0EB852}" sibTransId="{E10F3F05-CD84-4A1B-BDC4-701D75C6400A}"/>
    <dgm:cxn modelId="{5F9A4C67-D08B-4F85-810B-EB9EEE0D0BC2}" type="presOf" srcId="{E2D531EB-AB54-494E-9C1E-4C30D2113C22}" destId="{08B5982C-5C29-4138-B12D-B1193F279CC1}" srcOrd="1" destOrd="0" presId="urn:microsoft.com/office/officeart/2005/8/layout/list1"/>
    <dgm:cxn modelId="{3D990FE7-B784-4266-9459-DD4F755F3900}" srcId="{507CF620-754C-42AA-B6D7-6E532B46496D}" destId="{E2D531EB-AB54-494E-9C1E-4C30D2113C22}" srcOrd="0" destOrd="0" parTransId="{BE246D6D-5FC4-4574-ADA4-F9DF70A01C22}" sibTransId="{56EA74CD-3BAB-4DA8-B288-8D367F33563E}"/>
    <dgm:cxn modelId="{7EEB46C1-0061-467B-B4CB-0A4B7385BC8B}" type="presOf" srcId="{507CF620-754C-42AA-B6D7-6E532B46496D}" destId="{AFB7E455-428C-4A0F-992C-629F9DA528A4}" srcOrd="0" destOrd="0" presId="urn:microsoft.com/office/officeart/2005/8/layout/list1"/>
    <dgm:cxn modelId="{9D6B860D-0E14-4CC8-A428-362BB1799C68}" type="presOf" srcId="{DAA16250-CD1E-4D72-BB65-F717DC30B48F}" destId="{5E0995F6-5D0E-466D-8876-7344AA812E34}" srcOrd="0" destOrd="0" presId="urn:microsoft.com/office/officeart/2005/8/layout/list1"/>
    <dgm:cxn modelId="{F51027CC-FC97-496C-82EF-F10BDC823C37}" srcId="{E2D531EB-AB54-494E-9C1E-4C30D2113C22}" destId="{BCEA250F-A938-4832-8A35-1F6531FC8D25}" srcOrd="0" destOrd="0" parTransId="{855D1AA7-0014-42D1-AB55-0512522635CF}" sibTransId="{1F3824E0-260D-44AF-A6A0-AF20B4EAB600}"/>
    <dgm:cxn modelId="{42BBB35B-3932-4FBA-9751-F9F466C19E30}" type="presOf" srcId="{93C5C89E-14AA-4071-98C1-AD449E0D1A5F}" destId="{59A3D657-23B2-4553-AB55-365AF4AD92FC}" srcOrd="0" destOrd="1" presId="urn:microsoft.com/office/officeart/2005/8/layout/list1"/>
    <dgm:cxn modelId="{18915AF6-5909-4B39-8CC5-C52925E71747}" type="presParOf" srcId="{AFB7E455-428C-4A0F-992C-629F9DA528A4}" destId="{21C46C9B-7934-49C2-90CF-686CD588AD24}" srcOrd="0" destOrd="0" presId="urn:microsoft.com/office/officeart/2005/8/layout/list1"/>
    <dgm:cxn modelId="{DA1C6F3D-61E4-4AC2-8C31-F64605F21A9F}" type="presParOf" srcId="{21C46C9B-7934-49C2-90CF-686CD588AD24}" destId="{3532B21B-9813-41B4-9683-FF842EF22363}" srcOrd="0" destOrd="0" presId="urn:microsoft.com/office/officeart/2005/8/layout/list1"/>
    <dgm:cxn modelId="{69926C88-43C4-48E7-9B1F-325DED9CEE3D}" type="presParOf" srcId="{21C46C9B-7934-49C2-90CF-686CD588AD24}" destId="{08B5982C-5C29-4138-B12D-B1193F279CC1}" srcOrd="1" destOrd="0" presId="urn:microsoft.com/office/officeart/2005/8/layout/list1"/>
    <dgm:cxn modelId="{332E3102-8DC4-48E3-9BDC-E3C4E4B64F57}" type="presParOf" srcId="{AFB7E455-428C-4A0F-992C-629F9DA528A4}" destId="{D4FE3960-E739-4C8C-BB91-934C55FB02C1}" srcOrd="1" destOrd="0" presId="urn:microsoft.com/office/officeart/2005/8/layout/list1"/>
    <dgm:cxn modelId="{4E18FB82-A1FF-4B7A-81D3-6908B63D0AC9}" type="presParOf" srcId="{AFB7E455-428C-4A0F-992C-629F9DA528A4}" destId="{59A3D657-23B2-4553-AB55-365AF4AD92FC}" srcOrd="2" destOrd="0" presId="urn:microsoft.com/office/officeart/2005/8/layout/list1"/>
    <dgm:cxn modelId="{682F0B1C-40EB-45F7-8322-E9E4C9C2072E}" type="presParOf" srcId="{AFB7E455-428C-4A0F-992C-629F9DA528A4}" destId="{BF6BEC27-1E1E-441A-86C6-71C70AD619AE}" srcOrd="3" destOrd="0" presId="urn:microsoft.com/office/officeart/2005/8/layout/list1"/>
    <dgm:cxn modelId="{396F96E6-F99C-4923-83B3-D5B412B2A49E}" type="presParOf" srcId="{AFB7E455-428C-4A0F-992C-629F9DA528A4}" destId="{44061F98-C3D6-44C6-91CD-5583301AB560}" srcOrd="4" destOrd="0" presId="urn:microsoft.com/office/officeart/2005/8/layout/list1"/>
    <dgm:cxn modelId="{439A51C0-DFF6-48D9-8B9A-D40B233796A6}" type="presParOf" srcId="{44061F98-C3D6-44C6-91CD-5583301AB560}" destId="{5E0995F6-5D0E-466D-8876-7344AA812E34}" srcOrd="0" destOrd="0" presId="urn:microsoft.com/office/officeart/2005/8/layout/list1"/>
    <dgm:cxn modelId="{905D11AA-77C5-42B8-9E27-B47DF10C6DBC}" type="presParOf" srcId="{44061F98-C3D6-44C6-91CD-5583301AB560}" destId="{35AC4BD2-1828-4C40-9426-ADEA8908391D}" srcOrd="1" destOrd="0" presId="urn:microsoft.com/office/officeart/2005/8/layout/list1"/>
    <dgm:cxn modelId="{B5828484-1869-45BA-955A-A4A7404C55DD}" type="presParOf" srcId="{AFB7E455-428C-4A0F-992C-629F9DA528A4}" destId="{C5104255-B2A2-46DD-9C0E-385FD72891D3}" srcOrd="5" destOrd="0" presId="urn:microsoft.com/office/officeart/2005/8/layout/list1"/>
    <dgm:cxn modelId="{67A98BC3-5602-40F9-A63A-D27FAE7828F0}" type="presParOf" srcId="{AFB7E455-428C-4A0F-992C-629F9DA528A4}" destId="{6DBB5C1B-B5D3-489B-9520-25CF774BF611}"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A3D657-23B2-4553-AB55-365AF4AD92FC}">
      <dsp:nvSpPr>
        <dsp:cNvPr id="0" name=""/>
        <dsp:cNvSpPr/>
      </dsp:nvSpPr>
      <dsp:spPr>
        <a:xfrm>
          <a:off x="0" y="244479"/>
          <a:ext cx="5105643" cy="1512000"/>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6255" tIns="312420" rIns="396255" bIns="99568" numCol="1" spcCol="1270" anchor="t" anchorCtr="0">
          <a:noAutofit/>
        </a:bodyPr>
        <a:lstStyle/>
        <a:p>
          <a:pPr marL="114300" lvl="1" indent="-114300" algn="l" defTabSz="622300">
            <a:lnSpc>
              <a:spcPct val="900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是一个</a:t>
          </a:r>
          <a:r>
            <a:rPr lang="zh-CN" altLang="en-US" sz="1400" b="1" kern="1200" dirty="0" smtClean="0">
              <a:solidFill>
                <a:srgbClr val="C00000"/>
              </a:solidFill>
              <a:latin typeface="微软雅黑" panose="020B0503020204020204" pitchFamily="34" charset="-122"/>
              <a:ea typeface="微软雅黑" panose="020B0503020204020204" pitchFamily="34" charset="-122"/>
            </a:rPr>
            <a:t>体系结构，</a:t>
          </a:r>
          <a:r>
            <a:rPr lang="zh-CN" altLang="en-US" sz="1400" b="1" kern="1200" dirty="0" smtClean="0">
              <a:latin typeface="微软雅黑" panose="020B0503020204020204" pitchFamily="34" charset="-122"/>
              <a:ea typeface="微软雅黑" panose="020B0503020204020204" pitchFamily="34" charset="-122"/>
            </a:rPr>
            <a:t>是一种设计、构建和管理网络的新方法或新概念。</a:t>
          </a:r>
          <a:endParaRPr lang="zh-CN" altLang="en-US" sz="1400" b="1" kern="1200" dirty="0">
            <a:latin typeface="微软雅黑" panose="020B0503020204020204" pitchFamily="34" charset="-122"/>
            <a:ea typeface="微软雅黑" panose="020B0503020204020204" pitchFamily="34" charset="-122"/>
          </a:endParaRPr>
        </a:p>
        <a:p>
          <a:pPr marL="114300" lvl="1" indent="-114300" algn="l" defTabSz="622300">
            <a:lnSpc>
              <a:spcPct val="90000"/>
            </a:lnSpc>
            <a:spcBef>
              <a:spcPct val="0"/>
            </a:spcBef>
            <a:spcAft>
              <a:spcPts val="0"/>
            </a:spcAft>
            <a:buChar char="••"/>
          </a:pPr>
          <a:r>
            <a:rPr lang="zh-CN" altLang="en-US" sz="1400" b="1" kern="1200" dirty="0" smtClean="0">
              <a:solidFill>
                <a:schemeClr val="tx1"/>
              </a:solidFill>
              <a:latin typeface="微软雅黑" panose="020B0503020204020204" pitchFamily="34" charset="-122"/>
              <a:ea typeface="微软雅黑" panose="020B0503020204020204" pitchFamily="34" charset="-122"/>
            </a:rPr>
            <a:t>把</a:t>
          </a:r>
          <a:r>
            <a:rPr lang="zh-CN" altLang="en-US" sz="1400" b="1" kern="1200" dirty="0" smtClean="0">
              <a:solidFill>
                <a:srgbClr val="0000FF"/>
              </a:solidFill>
              <a:latin typeface="微软雅黑" panose="020B0503020204020204" pitchFamily="34" charset="-122"/>
              <a:ea typeface="微软雅黑" panose="020B0503020204020204" pitchFamily="34" charset="-122"/>
            </a:rPr>
            <a:t>控制平面</a:t>
          </a:r>
          <a:r>
            <a:rPr lang="zh-CN" altLang="en-US" sz="1400" b="1" kern="1200" dirty="0" smtClean="0">
              <a:solidFill>
                <a:schemeClr val="tx1"/>
              </a:solidFill>
              <a:latin typeface="微软雅黑" panose="020B0503020204020204" pitchFamily="34" charset="-122"/>
              <a:ea typeface="微软雅黑" panose="020B0503020204020204" pitchFamily="34" charset="-122"/>
            </a:rPr>
            <a:t>和</a:t>
          </a:r>
          <a:r>
            <a:rPr lang="zh-CN" altLang="en-US" sz="1400" b="1" kern="1200" dirty="0" smtClean="0">
              <a:solidFill>
                <a:srgbClr val="0000FF"/>
              </a:solidFill>
              <a:latin typeface="微软雅黑" panose="020B0503020204020204" pitchFamily="34" charset="-122"/>
              <a:ea typeface="微软雅黑" panose="020B0503020204020204" pitchFamily="34" charset="-122"/>
            </a:rPr>
            <a:t>数据平面</a:t>
          </a:r>
          <a:r>
            <a:rPr lang="zh-CN" altLang="en-US" sz="1400" b="1" kern="1200" dirty="0" smtClean="0">
              <a:solidFill>
                <a:srgbClr val="C00000"/>
              </a:solidFill>
              <a:latin typeface="微软雅黑" panose="020B0503020204020204" pitchFamily="34" charset="-122"/>
              <a:ea typeface="微软雅黑" panose="020B0503020204020204" pitchFamily="34" charset="-122"/>
            </a:rPr>
            <a:t>分离，</a:t>
          </a:r>
          <a:r>
            <a:rPr lang="zh-CN" altLang="en-US" sz="1400" b="1" kern="1200" dirty="0" smtClean="0">
              <a:latin typeface="微软雅黑" panose="020B0503020204020204" pitchFamily="34" charset="-122"/>
              <a:ea typeface="微软雅黑" panose="020B0503020204020204" pitchFamily="34" charset="-122"/>
            </a:rPr>
            <a:t>而让控制平面</a:t>
          </a:r>
          <a:r>
            <a:rPr lang="zh-CN" altLang="en-US" sz="1400" b="1" kern="1200" dirty="0" smtClean="0">
              <a:solidFill>
                <a:srgbClr val="C00000"/>
              </a:solidFill>
              <a:latin typeface="微软雅黑" panose="020B0503020204020204" pitchFamily="34" charset="-122"/>
              <a:ea typeface="微软雅黑" panose="020B0503020204020204" pitchFamily="34" charset="-122"/>
            </a:rPr>
            <a:t>利用软件</a:t>
          </a:r>
          <a:r>
            <a:rPr lang="zh-CN" altLang="en-US" sz="1400" b="1" kern="1200" dirty="0" smtClean="0">
              <a:solidFill>
                <a:srgbClr val="0000FF"/>
              </a:solidFill>
              <a:latin typeface="微软雅黑" panose="020B0503020204020204" pitchFamily="34" charset="-122"/>
              <a:ea typeface="微软雅黑" panose="020B0503020204020204" pitchFamily="34" charset="-122"/>
            </a:rPr>
            <a:t>控制</a:t>
          </a:r>
          <a:r>
            <a:rPr lang="zh-CN" altLang="en-US" sz="1400" b="1" kern="1200" dirty="0" smtClean="0">
              <a:latin typeface="微软雅黑" panose="020B0503020204020204" pitchFamily="34" charset="-122"/>
              <a:ea typeface="微软雅黑" panose="020B0503020204020204" pitchFamily="34" charset="-122"/>
            </a:rPr>
            <a:t>数据平面中的许多设备。</a:t>
          </a:r>
          <a:endParaRPr lang="zh-CN" altLang="en-US" sz="1400" b="1" kern="1200" dirty="0">
            <a:latin typeface="微软雅黑" panose="020B0503020204020204" pitchFamily="34" charset="-122"/>
            <a:ea typeface="微软雅黑" panose="020B0503020204020204" pitchFamily="34" charset="-122"/>
          </a:endParaRPr>
        </a:p>
      </dsp:txBody>
      <dsp:txXfrm>
        <a:off x="0" y="244479"/>
        <a:ext cx="5105643" cy="1512000"/>
      </dsp:txXfrm>
    </dsp:sp>
    <dsp:sp modelId="{08B5982C-5C29-4138-B12D-B1193F279CC1}">
      <dsp:nvSpPr>
        <dsp:cNvPr id="0" name=""/>
        <dsp:cNvSpPr/>
      </dsp:nvSpPr>
      <dsp:spPr>
        <a:xfrm>
          <a:off x="255282" y="23079"/>
          <a:ext cx="3573950" cy="4428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087" tIns="0" rIns="135087" bIns="0" numCol="1" spcCol="1270" anchor="ctr" anchorCtr="0">
          <a:noAutofit/>
        </a:bodyPr>
        <a:lstStyle/>
        <a:p>
          <a:pPr lvl="0" algn="l" defTabSz="800100">
            <a:lnSpc>
              <a:spcPct val="90000"/>
            </a:lnSpc>
            <a:spcBef>
              <a:spcPct val="0"/>
            </a:spcBef>
            <a:spcAft>
              <a:spcPct val="35000"/>
            </a:spcAft>
          </a:pPr>
          <a:r>
            <a:rPr lang="en-US" altLang="en-US" sz="1800" b="1" kern="1200" dirty="0" smtClean="0">
              <a:solidFill>
                <a:schemeClr val="bg1"/>
              </a:solidFill>
              <a:latin typeface="微软雅黑" panose="020B0503020204020204" pitchFamily="34" charset="-122"/>
              <a:ea typeface="微软雅黑" panose="020B0503020204020204" pitchFamily="34" charset="-122"/>
            </a:rPr>
            <a:t>SDN</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276898" y="44695"/>
        <a:ext cx="3530718" cy="399568"/>
      </dsp:txXfrm>
    </dsp:sp>
    <dsp:sp modelId="{6DBB5C1B-B5D3-489B-9520-25CF774BF611}">
      <dsp:nvSpPr>
        <dsp:cNvPr id="0" name=""/>
        <dsp:cNvSpPr/>
      </dsp:nvSpPr>
      <dsp:spPr>
        <a:xfrm>
          <a:off x="0" y="2058879"/>
          <a:ext cx="5105643" cy="151200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96255" tIns="312420" rIns="396255" bIns="99568" numCol="1" spcCol="1270" anchor="t" anchorCtr="0">
          <a:noAutofit/>
        </a:bodyPr>
        <a:lstStyle/>
        <a:p>
          <a:pPr marL="114300" lvl="1" indent="-114300" algn="l" defTabSz="622300">
            <a:lnSpc>
              <a:spcPct val="90000"/>
            </a:lnSpc>
            <a:spcBef>
              <a:spcPct val="0"/>
            </a:spcBef>
            <a:spcAft>
              <a:spcPts val="0"/>
            </a:spcAft>
            <a:buChar char="••"/>
          </a:pPr>
          <a:r>
            <a:rPr lang="en-US" altLang="en-US" sz="1400" b="1" kern="1200" dirty="0" smtClean="0">
              <a:latin typeface="微软雅黑" panose="020B0503020204020204" pitchFamily="34" charset="-122"/>
              <a:ea typeface="微软雅黑" panose="020B0503020204020204" pitchFamily="34" charset="-122"/>
            </a:rPr>
            <a:t>SDN </a:t>
          </a:r>
          <a:r>
            <a:rPr lang="zh-CN" altLang="en-US" sz="1400" b="1" kern="1200" dirty="0" smtClean="0">
              <a:latin typeface="微软雅黑" panose="020B0503020204020204" pitchFamily="34" charset="-122"/>
              <a:ea typeface="微软雅黑" panose="020B0503020204020204" pitchFamily="34" charset="-122"/>
            </a:rPr>
            <a:t>体系结构中控制平面和数据平面之间的</a:t>
          </a:r>
          <a:r>
            <a:rPr lang="zh-CN" altLang="en-US" sz="1400" b="1" kern="1200" dirty="0" smtClean="0">
              <a:solidFill>
                <a:srgbClr val="C00000"/>
              </a:solidFill>
              <a:latin typeface="微软雅黑" panose="020B0503020204020204" pitchFamily="34" charset="-122"/>
              <a:ea typeface="微软雅黑" panose="020B0503020204020204" pitchFamily="34" charset="-122"/>
            </a:rPr>
            <a:t>通信接口。</a:t>
          </a:r>
          <a:endParaRPr lang="zh-CN" altLang="en-US" sz="1400" b="1" kern="1200" dirty="0">
            <a:solidFill>
              <a:srgbClr val="C00000"/>
            </a:solidFill>
            <a:latin typeface="微软雅黑" panose="020B0503020204020204" pitchFamily="34" charset="-122"/>
            <a:ea typeface="微软雅黑" panose="020B0503020204020204" pitchFamily="34" charset="-122"/>
          </a:endParaRPr>
        </a:p>
        <a:p>
          <a:pPr marL="114300" lvl="1" indent="-114300" algn="l" defTabSz="622300">
            <a:lnSpc>
              <a:spcPct val="900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使控制平面的控制器可以对数据平面中的物理或虚拟设备进行</a:t>
          </a:r>
          <a:r>
            <a:rPr lang="zh-CN" altLang="en-US" sz="1400" b="1" kern="1200" dirty="0" smtClean="0">
              <a:solidFill>
                <a:srgbClr val="C00000"/>
              </a:solidFill>
              <a:latin typeface="微软雅黑" panose="020B0503020204020204" pitchFamily="34" charset="-122"/>
              <a:ea typeface="微软雅黑" panose="020B0503020204020204" pitchFamily="34" charset="-122"/>
            </a:rPr>
            <a:t>直接</a:t>
          </a:r>
          <a:r>
            <a:rPr lang="zh-CN" altLang="en-US" sz="1400" b="1" kern="1200" dirty="0" smtClean="0">
              <a:latin typeface="微软雅黑" panose="020B0503020204020204" pitchFamily="34" charset="-122"/>
              <a:ea typeface="微软雅黑" panose="020B0503020204020204" pitchFamily="34" charset="-122"/>
            </a:rPr>
            <a:t>访问和操纵。</a:t>
          </a:r>
          <a:endParaRPr lang="zh-CN" altLang="en-US" sz="1400" b="1" kern="1200" dirty="0">
            <a:latin typeface="微软雅黑" panose="020B0503020204020204" pitchFamily="34" charset="-122"/>
            <a:ea typeface="微软雅黑" panose="020B0503020204020204" pitchFamily="34" charset="-122"/>
          </a:endParaRPr>
        </a:p>
        <a:p>
          <a:pPr marL="114300" lvl="1" indent="-114300" algn="l" defTabSz="622300">
            <a:lnSpc>
              <a:spcPct val="90000"/>
            </a:lnSpc>
            <a:spcBef>
              <a:spcPct val="0"/>
            </a:spcBef>
            <a:spcAft>
              <a:spcPts val="0"/>
            </a:spcAft>
            <a:buChar char="••"/>
          </a:pPr>
          <a:r>
            <a:rPr lang="zh-CN" altLang="en-US" sz="1400" b="1" kern="1200" dirty="0" smtClean="0">
              <a:latin typeface="微软雅黑" panose="020B0503020204020204" pitchFamily="34" charset="-122"/>
              <a:ea typeface="微软雅黑" panose="020B0503020204020204" pitchFamily="34" charset="-122"/>
            </a:rPr>
            <a:t>在逻辑上是</a:t>
          </a:r>
          <a:r>
            <a:rPr lang="zh-CN" altLang="en-US" sz="1400" b="1" kern="1200" dirty="0" smtClean="0">
              <a:solidFill>
                <a:srgbClr val="C00000"/>
              </a:solidFill>
              <a:latin typeface="微软雅黑" panose="020B0503020204020204" pitchFamily="34" charset="-122"/>
              <a:ea typeface="微软雅黑" panose="020B0503020204020204" pitchFamily="34" charset="-122"/>
            </a:rPr>
            <a:t>集中式</a:t>
          </a:r>
          <a:r>
            <a:rPr lang="zh-CN" altLang="en-US" sz="1400" b="1" kern="1200" dirty="0" smtClean="0">
              <a:latin typeface="微软雅黑" panose="020B0503020204020204" pitchFamily="34" charset="-122"/>
              <a:ea typeface="微软雅黑" panose="020B0503020204020204" pitchFamily="34" charset="-122"/>
            </a:rPr>
            <a:t>的、</a:t>
          </a:r>
          <a:r>
            <a:rPr lang="zh-CN" altLang="en-US" sz="1400" b="1" kern="1200" dirty="0" smtClean="0">
              <a:solidFill>
                <a:srgbClr val="C00000"/>
              </a:solidFill>
              <a:latin typeface="微软雅黑" panose="020B0503020204020204" pitchFamily="34" charset="-122"/>
              <a:ea typeface="微软雅黑" panose="020B0503020204020204" pitchFamily="34" charset="-122"/>
            </a:rPr>
            <a:t>基于流</a:t>
          </a:r>
          <a:r>
            <a:rPr lang="zh-CN" altLang="en-US" sz="1400" b="1" kern="1200" dirty="0" smtClean="0">
              <a:latin typeface="微软雅黑" panose="020B0503020204020204" pitchFamily="34" charset="-122"/>
              <a:ea typeface="微软雅黑" panose="020B0503020204020204" pitchFamily="34" charset="-122"/>
            </a:rPr>
            <a:t>的。</a:t>
          </a:r>
          <a:endParaRPr lang="zh-CN" altLang="en-US" sz="1400" b="1" kern="1200" dirty="0">
            <a:latin typeface="微软雅黑" panose="020B0503020204020204" pitchFamily="34" charset="-122"/>
            <a:ea typeface="微软雅黑" panose="020B0503020204020204" pitchFamily="34" charset="-122"/>
          </a:endParaRPr>
        </a:p>
      </dsp:txBody>
      <dsp:txXfrm>
        <a:off x="0" y="2058879"/>
        <a:ext cx="5105643" cy="1512000"/>
      </dsp:txXfrm>
    </dsp:sp>
    <dsp:sp modelId="{35AC4BD2-1828-4C40-9426-ADEA8908391D}">
      <dsp:nvSpPr>
        <dsp:cNvPr id="0" name=""/>
        <dsp:cNvSpPr/>
      </dsp:nvSpPr>
      <dsp:spPr>
        <a:xfrm>
          <a:off x="255282" y="1837479"/>
          <a:ext cx="3573950" cy="442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087" tIns="0" rIns="135087" bIns="0" numCol="1" spcCol="1270" anchor="ctr" anchorCtr="0">
          <a:noAutofit/>
        </a:bodyPr>
        <a:lstStyle/>
        <a:p>
          <a:pPr lvl="0" algn="l" defTabSz="800100">
            <a:lnSpc>
              <a:spcPct val="90000"/>
            </a:lnSpc>
            <a:spcBef>
              <a:spcPct val="0"/>
            </a:spcBef>
            <a:spcAft>
              <a:spcPct val="35000"/>
            </a:spcAft>
          </a:pPr>
          <a:r>
            <a:rPr lang="en-US" altLang="zh-CN" sz="1800" b="1" kern="1200" dirty="0" err="1" smtClean="0">
              <a:solidFill>
                <a:srgbClr val="0000CC"/>
              </a:solidFill>
              <a:latin typeface="微软雅黑" panose="020B0503020204020204" pitchFamily="34" charset="-122"/>
              <a:ea typeface="微软雅黑" panose="020B0503020204020204" pitchFamily="34" charset="-122"/>
            </a:rPr>
            <a:t>OpenFlow</a:t>
          </a:r>
          <a:endParaRPr lang="zh-CN" altLang="en-US" sz="1800" b="1" kern="1200" dirty="0">
            <a:solidFill>
              <a:srgbClr val="0000CC"/>
            </a:solidFill>
            <a:latin typeface="微软雅黑" panose="020B0503020204020204" pitchFamily="34" charset="-122"/>
            <a:ea typeface="微软雅黑" panose="020B0503020204020204" pitchFamily="34" charset="-122"/>
          </a:endParaRPr>
        </a:p>
      </dsp:txBody>
      <dsp:txXfrm>
        <a:off x="276898" y="1859095"/>
        <a:ext cx="3530718"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2026/6/22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1120970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a:t>
            </a:fld>
            <a:endParaRPr lang="zh-CN" altLang="en-US"/>
          </a:p>
        </p:txBody>
      </p:sp>
    </p:spTree>
    <p:extLst>
      <p:ext uri="{BB962C8B-B14F-4D97-AF65-F5344CB8AC3E}">
        <p14:creationId xmlns:p14="http://schemas.microsoft.com/office/powerpoint/2010/main" val="1392657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a:t>
            </a:fld>
            <a:endParaRPr lang="zh-CN" altLang="en-US"/>
          </a:p>
        </p:txBody>
      </p:sp>
    </p:spTree>
    <p:extLst>
      <p:ext uri="{BB962C8B-B14F-4D97-AF65-F5344CB8AC3E}">
        <p14:creationId xmlns:p14="http://schemas.microsoft.com/office/powerpoint/2010/main" val="1170894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a:t>
            </a:fld>
            <a:endParaRPr lang="zh-CN" altLang="en-US"/>
          </a:p>
        </p:txBody>
      </p:sp>
    </p:spTree>
    <p:extLst>
      <p:ext uri="{BB962C8B-B14F-4D97-AF65-F5344CB8AC3E}">
        <p14:creationId xmlns:p14="http://schemas.microsoft.com/office/powerpoint/2010/main" val="20610372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a:t>
            </a:fld>
            <a:endParaRPr lang="zh-CN" altLang="en-US"/>
          </a:p>
        </p:txBody>
      </p:sp>
    </p:spTree>
    <p:extLst>
      <p:ext uri="{BB962C8B-B14F-4D97-AF65-F5344CB8AC3E}">
        <p14:creationId xmlns:p14="http://schemas.microsoft.com/office/powerpoint/2010/main" val="2296820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a:t>
            </a:fld>
            <a:endParaRPr lang="zh-CN" altLang="en-US"/>
          </a:p>
        </p:txBody>
      </p:sp>
    </p:spTree>
    <p:extLst>
      <p:ext uri="{BB962C8B-B14F-4D97-AF65-F5344CB8AC3E}">
        <p14:creationId xmlns:p14="http://schemas.microsoft.com/office/powerpoint/2010/main" val="1376110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a:t>
            </a:fld>
            <a:endParaRPr lang="zh-CN" altLang="en-US"/>
          </a:p>
        </p:txBody>
      </p:sp>
    </p:spTree>
    <p:extLst>
      <p:ext uri="{BB962C8B-B14F-4D97-AF65-F5344CB8AC3E}">
        <p14:creationId xmlns:p14="http://schemas.microsoft.com/office/powerpoint/2010/main" val="2280616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a:t>
            </a:fld>
            <a:endParaRPr lang="zh-CN" altLang="en-US"/>
          </a:p>
        </p:txBody>
      </p:sp>
    </p:spTree>
    <p:extLst>
      <p:ext uri="{BB962C8B-B14F-4D97-AF65-F5344CB8AC3E}">
        <p14:creationId xmlns:p14="http://schemas.microsoft.com/office/powerpoint/2010/main" val="539972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a:t>
            </a:fld>
            <a:endParaRPr lang="zh-CN" altLang="en-US"/>
          </a:p>
        </p:txBody>
      </p:sp>
    </p:spTree>
    <p:extLst>
      <p:ext uri="{BB962C8B-B14F-4D97-AF65-F5344CB8AC3E}">
        <p14:creationId xmlns:p14="http://schemas.microsoft.com/office/powerpoint/2010/main" val="3418256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a:t>
            </a:fld>
            <a:endParaRPr lang="zh-CN" altLang="en-US"/>
          </a:p>
        </p:txBody>
      </p:sp>
    </p:spTree>
    <p:extLst>
      <p:ext uri="{BB962C8B-B14F-4D97-AF65-F5344CB8AC3E}">
        <p14:creationId xmlns:p14="http://schemas.microsoft.com/office/powerpoint/2010/main" val="1524769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a:ln/>
        </p:spPr>
      </p:sp>
      <p:sp>
        <p:nvSpPr>
          <p:cNvPr id="49155" name="Rectangle 3"/>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22174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17</a:t>
            </a:fld>
            <a:endParaRPr lang="zh-CN" altLang="en-US"/>
          </a:p>
        </p:txBody>
      </p:sp>
    </p:spTree>
    <p:extLst>
      <p:ext uri="{BB962C8B-B14F-4D97-AF65-F5344CB8AC3E}">
        <p14:creationId xmlns:p14="http://schemas.microsoft.com/office/powerpoint/2010/main" val="3338824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a:t>
            </a:fld>
            <a:endParaRPr lang="zh-CN" altLang="en-US"/>
          </a:p>
        </p:txBody>
      </p:sp>
    </p:spTree>
    <p:extLst>
      <p:ext uri="{BB962C8B-B14F-4D97-AF65-F5344CB8AC3E}">
        <p14:creationId xmlns:p14="http://schemas.microsoft.com/office/powerpoint/2010/main" val="24028636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19</a:t>
            </a:fld>
            <a:endParaRPr lang="zh-CN" altLang="en-US"/>
          </a:p>
        </p:txBody>
      </p:sp>
    </p:spTree>
    <p:extLst>
      <p:ext uri="{BB962C8B-B14F-4D97-AF65-F5344CB8AC3E}">
        <p14:creationId xmlns:p14="http://schemas.microsoft.com/office/powerpoint/2010/main" val="2436742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20</a:t>
            </a:fld>
            <a:endParaRPr lang="zh-CN" altLang="en-US"/>
          </a:p>
        </p:txBody>
      </p:sp>
    </p:spTree>
    <p:extLst>
      <p:ext uri="{BB962C8B-B14F-4D97-AF65-F5344CB8AC3E}">
        <p14:creationId xmlns:p14="http://schemas.microsoft.com/office/powerpoint/2010/main" val="3852053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21</a:t>
            </a:fld>
            <a:endParaRPr lang="zh-CN" altLang="en-US"/>
          </a:p>
        </p:txBody>
      </p:sp>
    </p:spTree>
    <p:extLst>
      <p:ext uri="{BB962C8B-B14F-4D97-AF65-F5344CB8AC3E}">
        <p14:creationId xmlns:p14="http://schemas.microsoft.com/office/powerpoint/2010/main" val="2690983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22</a:t>
            </a:fld>
            <a:endParaRPr lang="zh-CN" altLang="en-US"/>
          </a:p>
        </p:txBody>
      </p:sp>
    </p:spTree>
    <p:extLst>
      <p:ext uri="{BB962C8B-B14F-4D97-AF65-F5344CB8AC3E}">
        <p14:creationId xmlns:p14="http://schemas.microsoft.com/office/powerpoint/2010/main" val="303625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a:ln/>
        </p:spPr>
      </p:sp>
      <p:sp>
        <p:nvSpPr>
          <p:cNvPr id="53251" name="Rectangle 3"/>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a:p>
        </p:txBody>
      </p:sp>
    </p:spTree>
    <p:extLst>
      <p:ext uri="{BB962C8B-B14F-4D97-AF65-F5344CB8AC3E}">
        <p14:creationId xmlns:p14="http://schemas.microsoft.com/office/powerpoint/2010/main" val="2045639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a:ln/>
        </p:spPr>
      </p:sp>
      <p:sp>
        <p:nvSpPr>
          <p:cNvPr id="55299" name="Rectangle 3"/>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a:p>
        </p:txBody>
      </p:sp>
    </p:spTree>
    <p:extLst>
      <p:ext uri="{BB962C8B-B14F-4D97-AF65-F5344CB8AC3E}">
        <p14:creationId xmlns:p14="http://schemas.microsoft.com/office/powerpoint/2010/main" val="889458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25</a:t>
            </a:fld>
            <a:endParaRPr lang="zh-CN" altLang="en-US"/>
          </a:p>
        </p:txBody>
      </p:sp>
    </p:spTree>
    <p:extLst>
      <p:ext uri="{BB962C8B-B14F-4D97-AF65-F5344CB8AC3E}">
        <p14:creationId xmlns:p14="http://schemas.microsoft.com/office/powerpoint/2010/main" val="4058686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26</a:t>
            </a:fld>
            <a:endParaRPr lang="zh-CN" altLang="en-US"/>
          </a:p>
        </p:txBody>
      </p:sp>
    </p:spTree>
    <p:extLst>
      <p:ext uri="{BB962C8B-B14F-4D97-AF65-F5344CB8AC3E}">
        <p14:creationId xmlns:p14="http://schemas.microsoft.com/office/powerpoint/2010/main" val="753165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27</a:t>
            </a:fld>
            <a:endParaRPr lang="zh-CN" altLang="en-US"/>
          </a:p>
        </p:txBody>
      </p:sp>
    </p:spTree>
    <p:extLst>
      <p:ext uri="{BB962C8B-B14F-4D97-AF65-F5344CB8AC3E}">
        <p14:creationId xmlns:p14="http://schemas.microsoft.com/office/powerpoint/2010/main" val="4063001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28</a:t>
            </a:fld>
            <a:endParaRPr lang="zh-CN" altLang="en-US"/>
          </a:p>
        </p:txBody>
      </p:sp>
    </p:spTree>
    <p:extLst>
      <p:ext uri="{BB962C8B-B14F-4D97-AF65-F5344CB8AC3E}">
        <p14:creationId xmlns:p14="http://schemas.microsoft.com/office/powerpoint/2010/main" val="18455668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29</a:t>
            </a:fld>
            <a:endParaRPr lang="zh-CN" altLang="en-US"/>
          </a:p>
        </p:txBody>
      </p:sp>
    </p:spTree>
    <p:extLst>
      <p:ext uri="{BB962C8B-B14F-4D97-AF65-F5344CB8AC3E}">
        <p14:creationId xmlns:p14="http://schemas.microsoft.com/office/powerpoint/2010/main" val="490117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30</a:t>
            </a:fld>
            <a:endParaRPr lang="zh-CN" altLang="en-US"/>
          </a:p>
        </p:txBody>
      </p:sp>
    </p:spTree>
    <p:extLst>
      <p:ext uri="{BB962C8B-B14F-4D97-AF65-F5344CB8AC3E}">
        <p14:creationId xmlns:p14="http://schemas.microsoft.com/office/powerpoint/2010/main" val="2474316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31</a:t>
            </a:fld>
            <a:endParaRPr lang="zh-CN" altLang="en-US"/>
          </a:p>
        </p:txBody>
      </p:sp>
    </p:spTree>
    <p:extLst>
      <p:ext uri="{BB962C8B-B14F-4D97-AF65-F5344CB8AC3E}">
        <p14:creationId xmlns:p14="http://schemas.microsoft.com/office/powerpoint/2010/main" val="16009031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32</a:t>
            </a:fld>
            <a:endParaRPr lang="zh-CN" altLang="en-US"/>
          </a:p>
        </p:txBody>
      </p:sp>
    </p:spTree>
    <p:extLst>
      <p:ext uri="{BB962C8B-B14F-4D97-AF65-F5344CB8AC3E}">
        <p14:creationId xmlns:p14="http://schemas.microsoft.com/office/powerpoint/2010/main" val="33364893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33</a:t>
            </a:fld>
            <a:endParaRPr lang="zh-CN" altLang="en-US"/>
          </a:p>
        </p:txBody>
      </p:sp>
    </p:spTree>
    <p:extLst>
      <p:ext uri="{BB962C8B-B14F-4D97-AF65-F5344CB8AC3E}">
        <p14:creationId xmlns:p14="http://schemas.microsoft.com/office/powerpoint/2010/main" val="3883218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34</a:t>
            </a:fld>
            <a:endParaRPr lang="zh-CN" altLang="en-US"/>
          </a:p>
        </p:txBody>
      </p:sp>
    </p:spTree>
    <p:extLst>
      <p:ext uri="{BB962C8B-B14F-4D97-AF65-F5344CB8AC3E}">
        <p14:creationId xmlns:p14="http://schemas.microsoft.com/office/powerpoint/2010/main" val="173516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35</a:t>
            </a:fld>
            <a:endParaRPr lang="zh-CN" altLang="en-US"/>
          </a:p>
        </p:txBody>
      </p:sp>
    </p:spTree>
    <p:extLst>
      <p:ext uri="{BB962C8B-B14F-4D97-AF65-F5344CB8AC3E}">
        <p14:creationId xmlns:p14="http://schemas.microsoft.com/office/powerpoint/2010/main" val="2820315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36</a:t>
            </a:fld>
            <a:endParaRPr lang="zh-CN" altLang="en-US"/>
          </a:p>
        </p:txBody>
      </p:sp>
    </p:spTree>
    <p:extLst>
      <p:ext uri="{BB962C8B-B14F-4D97-AF65-F5344CB8AC3E}">
        <p14:creationId xmlns:p14="http://schemas.microsoft.com/office/powerpoint/2010/main" val="13491412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37</a:t>
            </a:fld>
            <a:endParaRPr lang="zh-CN" altLang="en-US"/>
          </a:p>
        </p:txBody>
      </p:sp>
    </p:spTree>
    <p:extLst>
      <p:ext uri="{BB962C8B-B14F-4D97-AF65-F5344CB8AC3E}">
        <p14:creationId xmlns:p14="http://schemas.microsoft.com/office/powerpoint/2010/main" val="39802400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38</a:t>
            </a:fld>
            <a:endParaRPr lang="zh-CN" altLang="en-US"/>
          </a:p>
        </p:txBody>
      </p:sp>
    </p:spTree>
    <p:extLst>
      <p:ext uri="{BB962C8B-B14F-4D97-AF65-F5344CB8AC3E}">
        <p14:creationId xmlns:p14="http://schemas.microsoft.com/office/powerpoint/2010/main" val="913512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39</a:t>
            </a:fld>
            <a:endParaRPr lang="zh-CN" altLang="en-US"/>
          </a:p>
        </p:txBody>
      </p:sp>
    </p:spTree>
    <p:extLst>
      <p:ext uri="{BB962C8B-B14F-4D97-AF65-F5344CB8AC3E}">
        <p14:creationId xmlns:p14="http://schemas.microsoft.com/office/powerpoint/2010/main" val="3348149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40</a:t>
            </a:fld>
            <a:endParaRPr lang="zh-CN" altLang="en-US"/>
          </a:p>
        </p:txBody>
      </p:sp>
    </p:spTree>
    <p:extLst>
      <p:ext uri="{BB962C8B-B14F-4D97-AF65-F5344CB8AC3E}">
        <p14:creationId xmlns:p14="http://schemas.microsoft.com/office/powerpoint/2010/main" val="821563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41</a:t>
            </a:fld>
            <a:endParaRPr lang="zh-CN" altLang="en-US"/>
          </a:p>
        </p:txBody>
      </p:sp>
    </p:spTree>
    <p:extLst>
      <p:ext uri="{BB962C8B-B14F-4D97-AF65-F5344CB8AC3E}">
        <p14:creationId xmlns:p14="http://schemas.microsoft.com/office/powerpoint/2010/main" val="22532715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42</a:t>
            </a:fld>
            <a:endParaRPr lang="zh-CN" altLang="en-US"/>
          </a:p>
        </p:txBody>
      </p:sp>
    </p:spTree>
    <p:extLst>
      <p:ext uri="{BB962C8B-B14F-4D97-AF65-F5344CB8AC3E}">
        <p14:creationId xmlns:p14="http://schemas.microsoft.com/office/powerpoint/2010/main" val="5179263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43</a:t>
            </a:fld>
            <a:endParaRPr lang="zh-CN" altLang="en-US"/>
          </a:p>
        </p:txBody>
      </p:sp>
    </p:spTree>
    <p:extLst>
      <p:ext uri="{BB962C8B-B14F-4D97-AF65-F5344CB8AC3E}">
        <p14:creationId xmlns:p14="http://schemas.microsoft.com/office/powerpoint/2010/main" val="3575158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44</a:t>
            </a:fld>
            <a:endParaRPr lang="zh-CN" altLang="en-US"/>
          </a:p>
        </p:txBody>
      </p:sp>
    </p:spTree>
    <p:extLst>
      <p:ext uri="{BB962C8B-B14F-4D97-AF65-F5344CB8AC3E}">
        <p14:creationId xmlns:p14="http://schemas.microsoft.com/office/powerpoint/2010/main" val="19359789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45</a:t>
            </a:fld>
            <a:endParaRPr lang="zh-CN" altLang="en-US"/>
          </a:p>
        </p:txBody>
      </p:sp>
    </p:spTree>
    <p:extLst>
      <p:ext uri="{BB962C8B-B14F-4D97-AF65-F5344CB8AC3E}">
        <p14:creationId xmlns:p14="http://schemas.microsoft.com/office/powerpoint/2010/main" val="21501716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46</a:t>
            </a:fld>
            <a:endParaRPr lang="zh-CN" altLang="en-US"/>
          </a:p>
        </p:txBody>
      </p:sp>
    </p:spTree>
    <p:extLst>
      <p:ext uri="{BB962C8B-B14F-4D97-AF65-F5344CB8AC3E}">
        <p14:creationId xmlns:p14="http://schemas.microsoft.com/office/powerpoint/2010/main" val="17165397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47</a:t>
            </a:fld>
            <a:endParaRPr lang="zh-CN" altLang="en-US"/>
          </a:p>
        </p:txBody>
      </p:sp>
    </p:spTree>
    <p:extLst>
      <p:ext uri="{BB962C8B-B14F-4D97-AF65-F5344CB8AC3E}">
        <p14:creationId xmlns:p14="http://schemas.microsoft.com/office/powerpoint/2010/main" val="12208606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48</a:t>
            </a:fld>
            <a:endParaRPr lang="zh-CN" altLang="en-US"/>
          </a:p>
        </p:txBody>
      </p:sp>
    </p:spTree>
    <p:extLst>
      <p:ext uri="{BB962C8B-B14F-4D97-AF65-F5344CB8AC3E}">
        <p14:creationId xmlns:p14="http://schemas.microsoft.com/office/powerpoint/2010/main" val="15523114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49</a:t>
            </a:fld>
            <a:endParaRPr lang="zh-CN" altLang="en-US"/>
          </a:p>
        </p:txBody>
      </p:sp>
    </p:spTree>
    <p:extLst>
      <p:ext uri="{BB962C8B-B14F-4D97-AF65-F5344CB8AC3E}">
        <p14:creationId xmlns:p14="http://schemas.microsoft.com/office/powerpoint/2010/main" val="37013399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50</a:t>
            </a:fld>
            <a:endParaRPr lang="zh-CN" altLang="en-US"/>
          </a:p>
        </p:txBody>
      </p:sp>
    </p:spTree>
    <p:extLst>
      <p:ext uri="{BB962C8B-B14F-4D97-AF65-F5344CB8AC3E}">
        <p14:creationId xmlns:p14="http://schemas.microsoft.com/office/powerpoint/2010/main" val="30936976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51</a:t>
            </a:fld>
            <a:endParaRPr lang="zh-CN" altLang="en-US"/>
          </a:p>
        </p:txBody>
      </p:sp>
    </p:spTree>
    <p:extLst>
      <p:ext uri="{BB962C8B-B14F-4D97-AF65-F5344CB8AC3E}">
        <p14:creationId xmlns:p14="http://schemas.microsoft.com/office/powerpoint/2010/main" val="29727660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52</a:t>
            </a:fld>
            <a:endParaRPr lang="zh-CN" altLang="en-US"/>
          </a:p>
        </p:txBody>
      </p:sp>
    </p:spTree>
    <p:extLst>
      <p:ext uri="{BB962C8B-B14F-4D97-AF65-F5344CB8AC3E}">
        <p14:creationId xmlns:p14="http://schemas.microsoft.com/office/powerpoint/2010/main" val="41363840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53</a:t>
            </a:fld>
            <a:endParaRPr lang="zh-CN" altLang="en-US"/>
          </a:p>
        </p:txBody>
      </p:sp>
    </p:spTree>
    <p:extLst>
      <p:ext uri="{BB962C8B-B14F-4D97-AF65-F5344CB8AC3E}">
        <p14:creationId xmlns:p14="http://schemas.microsoft.com/office/powerpoint/2010/main" val="29679213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hangingPunct="0"/>
            <a:endParaRPr lang="zh-CN" altLang="zh-CN"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56</a:t>
            </a:fld>
            <a:endParaRPr lang="zh-CN" altLang="en-US"/>
          </a:p>
        </p:txBody>
      </p:sp>
    </p:spTree>
    <p:extLst>
      <p:ext uri="{BB962C8B-B14F-4D97-AF65-F5344CB8AC3E}">
        <p14:creationId xmlns:p14="http://schemas.microsoft.com/office/powerpoint/2010/main" val="5892549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58</a:t>
            </a:fld>
            <a:endParaRPr lang="zh-CN" altLang="en-US"/>
          </a:p>
        </p:txBody>
      </p:sp>
    </p:spTree>
    <p:extLst>
      <p:ext uri="{BB962C8B-B14F-4D97-AF65-F5344CB8AC3E}">
        <p14:creationId xmlns:p14="http://schemas.microsoft.com/office/powerpoint/2010/main" val="25026248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59</a:t>
            </a:fld>
            <a:endParaRPr lang="zh-CN" altLang="en-US"/>
          </a:p>
        </p:txBody>
      </p:sp>
    </p:spTree>
    <p:extLst>
      <p:ext uri="{BB962C8B-B14F-4D97-AF65-F5344CB8AC3E}">
        <p14:creationId xmlns:p14="http://schemas.microsoft.com/office/powerpoint/2010/main" val="17225137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60</a:t>
            </a:fld>
            <a:endParaRPr lang="zh-CN" altLang="en-US"/>
          </a:p>
        </p:txBody>
      </p:sp>
    </p:spTree>
    <p:extLst>
      <p:ext uri="{BB962C8B-B14F-4D97-AF65-F5344CB8AC3E}">
        <p14:creationId xmlns:p14="http://schemas.microsoft.com/office/powerpoint/2010/main" val="16818544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61</a:t>
            </a:fld>
            <a:endParaRPr lang="zh-CN" altLang="en-US"/>
          </a:p>
        </p:txBody>
      </p:sp>
    </p:spTree>
    <p:extLst>
      <p:ext uri="{BB962C8B-B14F-4D97-AF65-F5344CB8AC3E}">
        <p14:creationId xmlns:p14="http://schemas.microsoft.com/office/powerpoint/2010/main" val="6851435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62</a:t>
            </a:fld>
            <a:endParaRPr lang="zh-CN" altLang="en-US"/>
          </a:p>
        </p:txBody>
      </p:sp>
    </p:spTree>
    <p:extLst>
      <p:ext uri="{BB962C8B-B14F-4D97-AF65-F5344CB8AC3E}">
        <p14:creationId xmlns:p14="http://schemas.microsoft.com/office/powerpoint/2010/main" val="13448054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63</a:t>
            </a:fld>
            <a:endParaRPr lang="zh-CN" altLang="en-US"/>
          </a:p>
        </p:txBody>
      </p:sp>
    </p:spTree>
    <p:extLst>
      <p:ext uri="{BB962C8B-B14F-4D97-AF65-F5344CB8AC3E}">
        <p14:creationId xmlns:p14="http://schemas.microsoft.com/office/powerpoint/2010/main" val="9516018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31838" y="4621213"/>
            <a:ext cx="5851525" cy="3779837"/>
          </a:xfrm>
          <a:prstGeom prst="rect">
            <a:avLst/>
          </a:prstGeom>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D1193-2488-44C9-8F62-EF1D96300C32}" type="slidenum">
              <a:rPr lang="en-US" altLang="zh-CN" smtClean="0"/>
              <a:pPr>
                <a:defRPr/>
              </a:pPr>
              <a:t>64</a:t>
            </a:fld>
            <a:endParaRPr lang="en-US" altLang="zh-CN"/>
          </a:p>
        </p:txBody>
      </p:sp>
    </p:spTree>
    <p:extLst>
      <p:ext uri="{BB962C8B-B14F-4D97-AF65-F5344CB8AC3E}">
        <p14:creationId xmlns:p14="http://schemas.microsoft.com/office/powerpoint/2010/main" val="7738878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AC6E397-9E6C-4D06-A26E-706D16DBA21A}" type="slidenum">
              <a:rPr lang="zh-CN" altLang="en-US" smtClean="0"/>
              <a:pPr/>
              <a:t>66</a:t>
            </a:fld>
            <a:endParaRPr lang="en-US" altLang="zh-CN"/>
          </a:p>
        </p:txBody>
      </p:sp>
    </p:spTree>
    <p:extLst>
      <p:ext uri="{BB962C8B-B14F-4D97-AF65-F5344CB8AC3E}">
        <p14:creationId xmlns:p14="http://schemas.microsoft.com/office/powerpoint/2010/main" val="407912172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942DF7-03BE-1B4F-9218-E95B31D4B0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375993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4A7EA5-CD47-3F4B-9BAF-50ACD632C7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072404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AC6E397-9E6C-4D06-A26E-706D16DBA21A}" type="slidenum">
              <a:rPr lang="zh-CN" altLang="en-US" smtClean="0"/>
              <a:pPr/>
              <a:t>70</a:t>
            </a:fld>
            <a:endParaRPr lang="en-US" altLang="zh-CN"/>
          </a:p>
        </p:txBody>
      </p:sp>
    </p:spTree>
    <p:extLst>
      <p:ext uri="{BB962C8B-B14F-4D97-AF65-F5344CB8AC3E}">
        <p14:creationId xmlns:p14="http://schemas.microsoft.com/office/powerpoint/2010/main" val="10283674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77</a:t>
            </a:fld>
            <a:endParaRPr lang="zh-CN" altLang="en-US"/>
          </a:p>
        </p:txBody>
      </p:sp>
    </p:spTree>
    <p:extLst>
      <p:ext uri="{BB962C8B-B14F-4D97-AF65-F5344CB8AC3E}">
        <p14:creationId xmlns:p14="http://schemas.microsoft.com/office/powerpoint/2010/main" val="8525718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78</a:t>
            </a:fld>
            <a:endParaRPr lang="zh-CN" altLang="en-US"/>
          </a:p>
        </p:txBody>
      </p:sp>
    </p:spTree>
    <p:extLst>
      <p:ext uri="{BB962C8B-B14F-4D97-AF65-F5344CB8AC3E}">
        <p14:creationId xmlns:p14="http://schemas.microsoft.com/office/powerpoint/2010/main" val="5554769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79</a:t>
            </a:fld>
            <a:endParaRPr lang="zh-CN" altLang="en-US"/>
          </a:p>
        </p:txBody>
      </p:sp>
    </p:spTree>
    <p:extLst>
      <p:ext uri="{BB962C8B-B14F-4D97-AF65-F5344CB8AC3E}">
        <p14:creationId xmlns:p14="http://schemas.microsoft.com/office/powerpoint/2010/main" val="6178312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80</a:t>
            </a:fld>
            <a:endParaRPr lang="zh-CN" altLang="en-US"/>
          </a:p>
        </p:txBody>
      </p:sp>
    </p:spTree>
    <p:extLst>
      <p:ext uri="{BB962C8B-B14F-4D97-AF65-F5344CB8AC3E}">
        <p14:creationId xmlns:p14="http://schemas.microsoft.com/office/powerpoint/2010/main" val="39960732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82</a:t>
            </a:fld>
            <a:endParaRPr lang="zh-CN" altLang="en-US"/>
          </a:p>
        </p:txBody>
      </p:sp>
    </p:spTree>
    <p:extLst>
      <p:ext uri="{BB962C8B-B14F-4D97-AF65-F5344CB8AC3E}">
        <p14:creationId xmlns:p14="http://schemas.microsoft.com/office/powerpoint/2010/main" val="23663380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10020259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86</a:t>
            </a:fld>
            <a:endParaRPr lang="zh-CN" altLang="en-US"/>
          </a:p>
        </p:txBody>
      </p:sp>
    </p:spTree>
    <p:extLst>
      <p:ext uri="{BB962C8B-B14F-4D97-AF65-F5344CB8AC3E}">
        <p14:creationId xmlns:p14="http://schemas.microsoft.com/office/powerpoint/2010/main" val="23229735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87</a:t>
            </a:fld>
            <a:endParaRPr lang="zh-CN" altLang="en-US"/>
          </a:p>
        </p:txBody>
      </p:sp>
    </p:spTree>
    <p:extLst>
      <p:ext uri="{BB962C8B-B14F-4D97-AF65-F5344CB8AC3E}">
        <p14:creationId xmlns:p14="http://schemas.microsoft.com/office/powerpoint/2010/main" val="311592895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88</a:t>
            </a:fld>
            <a:endParaRPr lang="zh-CN" altLang="en-US"/>
          </a:p>
        </p:txBody>
      </p:sp>
    </p:spTree>
    <p:extLst>
      <p:ext uri="{BB962C8B-B14F-4D97-AF65-F5344CB8AC3E}">
        <p14:creationId xmlns:p14="http://schemas.microsoft.com/office/powerpoint/2010/main" val="5539381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89</a:t>
            </a:fld>
            <a:endParaRPr lang="zh-CN" altLang="en-US"/>
          </a:p>
        </p:txBody>
      </p:sp>
    </p:spTree>
    <p:extLst>
      <p:ext uri="{BB962C8B-B14F-4D97-AF65-F5344CB8AC3E}">
        <p14:creationId xmlns:p14="http://schemas.microsoft.com/office/powerpoint/2010/main" val="37333026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90</a:t>
            </a:fld>
            <a:endParaRPr lang="zh-CN" altLang="en-US"/>
          </a:p>
        </p:txBody>
      </p:sp>
    </p:spTree>
    <p:extLst>
      <p:ext uri="{BB962C8B-B14F-4D97-AF65-F5344CB8AC3E}">
        <p14:creationId xmlns:p14="http://schemas.microsoft.com/office/powerpoint/2010/main" val="8343883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91</a:t>
            </a:fld>
            <a:endParaRPr lang="zh-CN" altLang="en-US"/>
          </a:p>
        </p:txBody>
      </p:sp>
    </p:spTree>
    <p:extLst>
      <p:ext uri="{BB962C8B-B14F-4D97-AF65-F5344CB8AC3E}">
        <p14:creationId xmlns:p14="http://schemas.microsoft.com/office/powerpoint/2010/main" val="23169821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92</a:t>
            </a:fld>
            <a:endParaRPr lang="zh-CN" altLang="en-US"/>
          </a:p>
        </p:txBody>
      </p:sp>
    </p:spTree>
    <p:extLst>
      <p:ext uri="{BB962C8B-B14F-4D97-AF65-F5344CB8AC3E}">
        <p14:creationId xmlns:p14="http://schemas.microsoft.com/office/powerpoint/2010/main" val="226342505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93</a:t>
            </a:fld>
            <a:endParaRPr lang="zh-CN" altLang="en-US"/>
          </a:p>
        </p:txBody>
      </p:sp>
    </p:spTree>
    <p:extLst>
      <p:ext uri="{BB962C8B-B14F-4D97-AF65-F5344CB8AC3E}">
        <p14:creationId xmlns:p14="http://schemas.microsoft.com/office/powerpoint/2010/main" val="351894656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94</a:t>
            </a:fld>
            <a:endParaRPr lang="zh-CN" altLang="en-US"/>
          </a:p>
        </p:txBody>
      </p:sp>
    </p:spTree>
    <p:extLst>
      <p:ext uri="{BB962C8B-B14F-4D97-AF65-F5344CB8AC3E}">
        <p14:creationId xmlns:p14="http://schemas.microsoft.com/office/powerpoint/2010/main" val="22791753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95</a:t>
            </a:fld>
            <a:endParaRPr lang="zh-CN" altLang="en-US"/>
          </a:p>
        </p:txBody>
      </p:sp>
    </p:spTree>
    <p:extLst>
      <p:ext uri="{BB962C8B-B14F-4D97-AF65-F5344CB8AC3E}">
        <p14:creationId xmlns:p14="http://schemas.microsoft.com/office/powerpoint/2010/main" val="3397136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2026/6/22</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E5A34CFA-7831-4253-8297-91ECB6D0BB15}" type="datetime1">
              <a:rPr lang="zh-CN" altLang="en-US"/>
              <a:pPr>
                <a:defRPr/>
              </a:pPr>
              <a:t>2026/6/22</a:t>
            </a:fld>
            <a:endParaRPr lang="en-US" altLang="zh-CN"/>
          </a:p>
        </p:txBody>
      </p:sp>
      <p:sp>
        <p:nvSpPr>
          <p:cNvPr id="5" name="页脚占位符 4"/>
          <p:cNvSpPr>
            <a:spLocks noGrp="1" noChangeArrowheads="1"/>
          </p:cNvSpPr>
          <p:nvPr>
            <p:ph type="ftr" sz="quarter" idx="11"/>
          </p:nvPr>
        </p:nvSpPr>
        <p:spPr>
          <a:ln/>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a:ln/>
        </p:spPr>
        <p:txBody>
          <a:bodyPr/>
          <a:lstStyle>
            <a:lvl1pPr>
              <a:defRPr/>
            </a:lvl1pPr>
          </a:lstStyle>
          <a:p>
            <a:fld id="{B9ECB32A-F0F3-4BA4-A735-0DCD42E59EEE}" type="slidenum">
              <a:rPr lang="zh-CN" altLang="en-US"/>
              <a:pPr/>
              <a:t>‹#›</a:t>
            </a:fld>
            <a:endParaRPr lang="en-US" altLang="zh-CN"/>
          </a:p>
        </p:txBody>
      </p:sp>
    </p:spTree>
    <p:extLst>
      <p:ext uri="{BB962C8B-B14F-4D97-AF65-F5344CB8AC3E}">
        <p14:creationId xmlns:p14="http://schemas.microsoft.com/office/powerpoint/2010/main" val="141051611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DE" dirty="0"/>
          </a:p>
        </p:txBody>
      </p:sp>
      <p:sp>
        <p:nvSpPr>
          <p:cNvPr id="4" name="Date Placeholder 3"/>
          <p:cNvSpPr>
            <a:spLocks noGrp="1"/>
          </p:cNvSpPr>
          <p:nvPr>
            <p:ph type="dt" sz="half" idx="10"/>
          </p:nvPr>
        </p:nvSpPr>
        <p:spPr>
          <a:xfrm>
            <a:off x="628650" y="4767264"/>
            <a:ext cx="2057400" cy="273844"/>
          </a:xfrm>
          <a:prstGeom prst="rect">
            <a:avLst/>
          </a:prstGeom>
        </p:spPr>
        <p:txBody>
          <a:bodyPr/>
          <a:lstStyle/>
          <a:p>
            <a:pPr defTabSz="514350"/>
            <a:r>
              <a:rPr lang="en-US" altLang="zh-CN" smtClean="0">
                <a:solidFill>
                  <a:prstClr val="black">
                    <a:lumMod val="50000"/>
                    <a:lumOff val="50000"/>
                  </a:prstClr>
                </a:solidFill>
              </a:rPr>
              <a:t>Data Networks</a:t>
            </a:r>
            <a:endParaRPr lang="en-US" altLang="de-DE" dirty="0">
              <a:solidFill>
                <a:prstClr val="black">
                  <a:lumMod val="50000"/>
                  <a:lumOff val="50000"/>
                </a:prstClr>
              </a:solidFill>
            </a:endParaRPr>
          </a:p>
        </p:txBody>
      </p:sp>
      <p:sp>
        <p:nvSpPr>
          <p:cNvPr id="5" name="Footer Placeholder 4"/>
          <p:cNvSpPr>
            <a:spLocks noGrp="1"/>
          </p:cNvSpPr>
          <p:nvPr>
            <p:ph type="ftr" sz="quarter" idx="11"/>
          </p:nvPr>
        </p:nvSpPr>
        <p:spPr>
          <a:xfrm>
            <a:off x="3028950" y="4767264"/>
            <a:ext cx="3086100" cy="273844"/>
          </a:xfrm>
          <a:prstGeom prst="rect">
            <a:avLst/>
          </a:prstGeom>
        </p:spPr>
        <p:txBody>
          <a:bodyPr/>
          <a:lstStyle/>
          <a:p>
            <a:pPr defTabSz="514350">
              <a:defRPr/>
            </a:pPr>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p>
            <a:pPr defTabSz="514350"/>
            <a:fld id="{906D0D03-08AB-4DC8-AEDF-EA110026FDC0}" type="slidenum">
              <a:rPr lang="en-US" altLang="de-DE" smtClean="0">
                <a:solidFill>
                  <a:prstClr val="black">
                    <a:lumMod val="65000"/>
                    <a:lumOff val="35000"/>
                  </a:prstClr>
                </a:solidFill>
              </a:rPr>
              <a:pPr defTabSz="514350"/>
              <a:t>‹#›</a:t>
            </a:fld>
            <a:endParaRPr lang="en-US" altLang="de-DE" dirty="0">
              <a:solidFill>
                <a:prstClr val="black">
                  <a:lumMod val="65000"/>
                  <a:lumOff val="35000"/>
                </a:prstClr>
              </a:solidFill>
            </a:endParaRPr>
          </a:p>
        </p:txBody>
      </p:sp>
      <p:sp>
        <p:nvSpPr>
          <p:cNvPr id="12" name="Content Placeholder 10">
            <a:extLst>
              <a:ext uri="{FF2B5EF4-FFF2-40B4-BE49-F238E27FC236}">
                <a16:creationId xmlns:a16="http://schemas.microsoft.com/office/drawing/2014/main" id="{D867A7C5-2F40-2346-B8BE-A1F29F12A21D}"/>
              </a:ext>
            </a:extLst>
          </p:cNvPr>
          <p:cNvSpPr>
            <a:spLocks noGrp="1"/>
          </p:cNvSpPr>
          <p:nvPr>
            <p:ph sz="quarter" idx="13"/>
          </p:nvPr>
        </p:nvSpPr>
        <p:spPr>
          <a:xfrm>
            <a:off x="628650" y="1021558"/>
            <a:ext cx="7886700" cy="3604022"/>
          </a:xfrm>
        </p:spPr>
        <p:txBody>
          <a:bodyPr>
            <a:normAutofit/>
          </a:bodyPr>
          <a:lstStyle>
            <a:lvl1pPr>
              <a:defRPr sz="1800"/>
            </a:lvl1pPr>
            <a:lvl2pPr>
              <a:defRPr sz="1575"/>
            </a:lvl2pPr>
            <a:lvl3pPr>
              <a:defRPr sz="1350"/>
            </a:lvl3pPr>
            <a:lvl4pPr>
              <a:defRPr sz="1125"/>
            </a:lvl4pPr>
            <a:lvl5pPr>
              <a:defRPr sz="101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0081691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ln/>
        </p:spPr>
        <p:txBody>
          <a:bodyPr/>
          <a:lstStyle>
            <a:lvl1pPr>
              <a:defRPr/>
            </a:lvl1pPr>
          </a:lstStyle>
          <a:p>
            <a:pPr>
              <a:defRPr/>
            </a:pPr>
            <a:fld id="{27976A16-E6DF-432C-97A3-F2597DFCE129}" type="datetime1">
              <a:rPr lang="zh-CN" altLang="en-US"/>
              <a:pPr>
                <a:defRPr/>
              </a:pPr>
              <a:t>2026/6/22</a:t>
            </a:fld>
            <a:endParaRPr lang="en-US" altLang="zh-CN"/>
          </a:p>
        </p:txBody>
      </p:sp>
      <p:sp>
        <p:nvSpPr>
          <p:cNvPr id="5" name="页脚占位符 4"/>
          <p:cNvSpPr>
            <a:spLocks noGrp="1" noChangeArrowheads="1"/>
          </p:cNvSpPr>
          <p:nvPr>
            <p:ph type="ftr" sz="quarter" idx="11"/>
          </p:nvPr>
        </p:nvSpPr>
        <p:spPr>
          <a:ln/>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a:ln/>
        </p:spPr>
        <p:txBody>
          <a:bodyPr/>
          <a:lstStyle>
            <a:lvl1pPr>
              <a:defRPr/>
            </a:lvl1pPr>
          </a:lstStyle>
          <a:p>
            <a:fld id="{E5F1E86A-F24A-49D4-8326-396603383BE0}" type="slidenum">
              <a:rPr lang="zh-CN" altLang="en-US"/>
              <a:pPr/>
              <a:t>‹#›</a:t>
            </a:fld>
            <a:endParaRPr lang="en-US" altLang="zh-CN"/>
          </a:p>
        </p:txBody>
      </p:sp>
    </p:spTree>
    <p:extLst>
      <p:ext uri="{BB962C8B-B14F-4D97-AF65-F5344CB8AC3E}">
        <p14:creationId xmlns:p14="http://schemas.microsoft.com/office/powerpoint/2010/main" val="361985039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gi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9" name="图片 1"/>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41288" y="4662488"/>
            <a:ext cx="1125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Line 3"/>
          <p:cNvSpPr>
            <a:spLocks noChangeShapeType="1"/>
          </p:cNvSpPr>
          <p:nvPr userDrawn="1"/>
        </p:nvSpPr>
        <p:spPr bwMode="auto">
          <a:xfrm>
            <a:off x="1266825" y="4803775"/>
            <a:ext cx="6942138"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9" name="图片 18"/>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
        <p:nvSpPr>
          <p:cNvPr id="20"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矩形 20"/>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Line 3"/>
          <p:cNvSpPr>
            <a:spLocks noChangeShapeType="1"/>
          </p:cNvSpPr>
          <p:nvPr userDrawn="1"/>
        </p:nvSpPr>
        <p:spPr bwMode="auto">
          <a:xfrm>
            <a:off x="0" y="301530"/>
            <a:ext cx="2835464"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3" name="Rectangle 4"/>
          <p:cNvSpPr>
            <a:spLocks noChangeArrowheads="1"/>
          </p:cNvSpPr>
          <p:nvPr userDrawn="1"/>
        </p:nvSpPr>
        <p:spPr bwMode="auto">
          <a:xfrm>
            <a:off x="4778846" y="164227"/>
            <a:ext cx="1631578"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zh-CN" altLang="en-US" sz="1100" b="1" dirty="0" smtClean="0">
                <a:solidFill>
                  <a:srgbClr val="0070C0"/>
                </a:solidFill>
                <a:latin typeface="微软雅黑" pitchFamily="34" charset="-122"/>
                <a:ea typeface="微软雅黑" pitchFamily="34" charset="-122"/>
              </a:rPr>
              <a:t>第</a:t>
            </a:r>
            <a:r>
              <a:rPr lang="en-US" altLang="zh-CN" sz="1100" b="1" dirty="0" smtClean="0">
                <a:solidFill>
                  <a:srgbClr val="0070C0"/>
                </a:solidFill>
                <a:latin typeface="微软雅黑" pitchFamily="34" charset="-122"/>
                <a:ea typeface="微软雅黑" pitchFamily="34" charset="-122"/>
              </a:rPr>
              <a:t>9</a:t>
            </a:r>
            <a:r>
              <a:rPr lang="zh-CN" altLang="en-US" sz="1100" b="1" dirty="0" smtClean="0">
                <a:solidFill>
                  <a:srgbClr val="0070C0"/>
                </a:solidFill>
                <a:latin typeface="微软雅黑" pitchFamily="34" charset="-122"/>
                <a:ea typeface="微软雅黑" pitchFamily="34" charset="-122"/>
              </a:rPr>
              <a:t>章 新型网络技术</a:t>
            </a:r>
            <a:endParaRPr lang="fr-FR" altLang="zh-CN" sz="1100" b="1" dirty="0">
              <a:solidFill>
                <a:srgbClr val="0070C0"/>
              </a:solidFill>
              <a:latin typeface="微软雅黑" pitchFamily="34" charset="-122"/>
              <a:ea typeface="微软雅黑" pitchFamily="34" charset="-122"/>
            </a:endParaRPr>
          </a:p>
        </p:txBody>
      </p:sp>
      <p:sp>
        <p:nvSpPr>
          <p:cNvPr id="24" name="Rectangle 5"/>
          <p:cNvSpPr>
            <a:spLocks noChangeArrowheads="1"/>
          </p:cNvSpPr>
          <p:nvPr userDrawn="1"/>
        </p:nvSpPr>
        <p:spPr bwMode="auto">
          <a:xfrm>
            <a:off x="2835464" y="164857"/>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smtClean="0">
                <a:solidFill>
                  <a:srgbClr val="0070C0"/>
                </a:solidFill>
                <a:latin typeface="微软雅黑" pitchFamily="34" charset="-122"/>
                <a:ea typeface="微软雅黑" pitchFamily="34" charset="-122"/>
              </a:rPr>
              <a:t>计算机网络 </a:t>
            </a:r>
            <a:r>
              <a:rPr lang="en-US" altLang="zh-CN" sz="1100" b="1" dirty="0" smtClean="0">
                <a:solidFill>
                  <a:srgbClr val="0070C0"/>
                </a:solidFill>
                <a:latin typeface="微软雅黑" pitchFamily="34" charset="-122"/>
                <a:ea typeface="微软雅黑" pitchFamily="34" charset="-122"/>
              </a:rPr>
              <a:t>(</a:t>
            </a:r>
            <a:r>
              <a:rPr lang="zh-CN" altLang="en-US" sz="1100" b="1" dirty="0" smtClean="0">
                <a:solidFill>
                  <a:srgbClr val="0070C0"/>
                </a:solidFill>
                <a:latin typeface="微软雅黑" pitchFamily="34" charset="-122"/>
                <a:ea typeface="微软雅黑" pitchFamily="34" charset="-122"/>
              </a:rPr>
              <a:t>第 </a:t>
            </a:r>
            <a:r>
              <a:rPr lang="en-US" altLang="zh-CN" sz="1100" b="1" dirty="0" smtClean="0">
                <a:solidFill>
                  <a:srgbClr val="0070C0"/>
                </a:solidFill>
                <a:latin typeface="微软雅黑" pitchFamily="34" charset="-122"/>
                <a:ea typeface="微软雅黑" pitchFamily="34" charset="-122"/>
              </a:rPr>
              <a:t>9 </a:t>
            </a:r>
            <a:r>
              <a:rPr lang="zh-CN" altLang="en-US" sz="1100" b="1" dirty="0" smtClean="0">
                <a:solidFill>
                  <a:srgbClr val="0070C0"/>
                </a:solidFill>
                <a:latin typeface="微软雅黑" pitchFamily="34" charset="-122"/>
                <a:ea typeface="微软雅黑" pitchFamily="34" charset="-122"/>
              </a:rPr>
              <a:t>版</a:t>
            </a:r>
            <a:r>
              <a:rPr lang="en-US" altLang="zh-CN" sz="1100" b="1" dirty="0" smtClean="0">
                <a:solidFill>
                  <a:srgbClr val="0070C0"/>
                </a:solidFill>
                <a:latin typeface="微软雅黑" pitchFamily="34" charset="-122"/>
                <a:ea typeface="微软雅黑" pitchFamily="34" charset="-122"/>
              </a:rPr>
              <a:t>)</a:t>
            </a:r>
            <a:endParaRPr lang="fr-FR" sz="1100" b="1" dirty="0">
              <a:solidFill>
                <a:srgbClr val="0070C0"/>
              </a:solidFill>
              <a:latin typeface="微软雅黑" pitchFamily="34" charset="-122"/>
              <a:ea typeface="微软雅黑" pitchFamily="34" charset="-122"/>
            </a:endParaRPr>
          </a:p>
        </p:txBody>
      </p:sp>
      <p:sp>
        <p:nvSpPr>
          <p:cNvPr id="25" name="椭圆 24"/>
          <p:cNvSpPr/>
          <p:nvPr userDrawn="1"/>
        </p:nvSpPr>
        <p:spPr>
          <a:xfrm>
            <a:off x="2793115"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sp>
        <p:nvSpPr>
          <p:cNvPr id="26" name="Line 3"/>
          <p:cNvSpPr>
            <a:spLocks noChangeShapeType="1"/>
          </p:cNvSpPr>
          <p:nvPr userDrawn="1"/>
        </p:nvSpPr>
        <p:spPr bwMode="auto">
          <a:xfrm>
            <a:off x="6410424" y="301093"/>
            <a:ext cx="2733575" cy="437"/>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8" name="椭圆 27"/>
          <p:cNvSpPr/>
          <p:nvPr userDrawn="1"/>
        </p:nvSpPr>
        <p:spPr>
          <a:xfrm>
            <a:off x="6336721"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pic>
        <p:nvPicPr>
          <p:cNvPr id="32" name="图片 3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4388612" y="149234"/>
            <a:ext cx="358346" cy="458684"/>
          </a:xfrm>
          <a:prstGeom prst="rect">
            <a:avLst/>
          </a:prstGeom>
        </p:spPr>
      </p:pic>
      <p:pic>
        <p:nvPicPr>
          <p:cNvPr id="17" name="图片 16">
            <a:extLst>
              <a:ext uri="{FF2B5EF4-FFF2-40B4-BE49-F238E27FC236}">
                <a16:creationId xmlns:a16="http://schemas.microsoft.com/office/drawing/2014/main" id="{F18D8E1A-03C8-3B3E-BD52-8897D9FCB21A}"/>
              </a:ext>
            </a:extLst>
          </p:cNvPr>
          <p:cNvPicPr>
            <a:picLocks noChangeAspect="1"/>
          </p:cNvPicPr>
          <p:nvPr userDrawn="1"/>
        </p:nvPicPr>
        <p:blipFill>
          <a:blip r:embed="rId19" cstate="print">
            <a:extLst>
              <a:ext uri="{28A0092B-C50C-407E-A947-70E740481C1C}">
                <a14:useLocalDpi xmlns:a14="http://schemas.microsoft.com/office/drawing/2010/main" val="0"/>
              </a:ext>
            </a:extLst>
          </a:blip>
          <a:srcRect t="21526"/>
          <a:stretch>
            <a:fillRect/>
          </a:stretch>
        </p:blipFill>
        <p:spPr>
          <a:xfrm>
            <a:off x="8208963" y="4530738"/>
            <a:ext cx="545473" cy="531048"/>
          </a:xfrm>
          <a:prstGeom prst="rect">
            <a:avLst/>
          </a:prstGeom>
          <a:solidFill>
            <a:schemeClr val="bg1"/>
          </a:solidFill>
          <a:ln w="25400" algn="ctr">
            <a:solidFill>
              <a:srgbClr val="85D1F7"/>
            </a:solid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notesSlide" Target="../notesSlides/notesSlide8.xml"/><Relationship Id="rId7" Type="http://schemas.openxmlformats.org/officeDocument/2006/relationships/image" Target="../media/image13.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vmlDrawing" Target="../drawings/vmlDrawing1.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vmlDrawing" Target="../drawings/vmlDrawing2.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vmlDrawing" Target="../drawings/vmlDrawing3.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8.emf"/><Relationship Id="rId4" Type="http://schemas.openxmlformats.org/officeDocument/2006/relationships/image" Target="../media/image8.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1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8.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2.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vmlDrawing" Target="../drawings/vmlDrawing4.vml"/><Relationship Id="rId6" Type="http://schemas.openxmlformats.org/officeDocument/2006/relationships/image" Target="../media/image19.emf"/><Relationship Id="rId5" Type="http://schemas.openxmlformats.org/officeDocument/2006/relationships/oleObject" Target="../embeddings/oleObject2.bin"/><Relationship Id="rId4"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vmlDrawing" Target="../drawings/vmlDrawing5.vml"/><Relationship Id="rId6" Type="http://schemas.openxmlformats.org/officeDocument/2006/relationships/image" Target="../media/image20.emf"/><Relationship Id="rId5" Type="http://schemas.openxmlformats.org/officeDocument/2006/relationships/oleObject" Target="../embeddings/oleObject3.bin"/><Relationship Id="rId4"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20.emf"/><Relationship Id="rId5" Type="http://schemas.openxmlformats.org/officeDocument/2006/relationships/oleObject" Target="../embeddings/oleObject4.bin"/><Relationship Id="rId4"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vmlDrawing" Target="../drawings/vmlDrawing7.vml"/><Relationship Id="rId6" Type="http://schemas.openxmlformats.org/officeDocument/2006/relationships/image" Target="../media/image20.emf"/><Relationship Id="rId5" Type="http://schemas.openxmlformats.org/officeDocument/2006/relationships/oleObject" Target="../embeddings/oleObject5.bin"/><Relationship Id="rId4"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vmlDrawing" Target="../drawings/vmlDrawing8.vml"/><Relationship Id="rId6" Type="http://schemas.openxmlformats.org/officeDocument/2006/relationships/image" Target="../media/image20.emf"/><Relationship Id="rId5" Type="http://schemas.openxmlformats.org/officeDocument/2006/relationships/oleObject" Target="../embeddings/oleObject6.bin"/><Relationship Id="rId4"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1.emf"/><Relationship Id="rId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vmlDrawing" Target="../drawings/vmlDrawing10.vml"/><Relationship Id="rId6" Type="http://schemas.openxmlformats.org/officeDocument/2006/relationships/image" Target="../media/image21.emf"/><Relationship Id="rId5" Type="http://schemas.openxmlformats.org/officeDocument/2006/relationships/oleObject" Target="../embeddings/oleObject8.bin"/><Relationship Id="rId4"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vmlDrawing" Target="../drawings/vmlDrawing11.vml"/><Relationship Id="rId6" Type="http://schemas.openxmlformats.org/officeDocument/2006/relationships/image" Target="../media/image21.emf"/><Relationship Id="rId5" Type="http://schemas.openxmlformats.org/officeDocument/2006/relationships/oleObject" Target="../embeddings/oleObject8.bin"/><Relationship Id="rId4"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22.emf"/><Relationship Id="rId4" Type="http://schemas.openxmlformats.org/officeDocument/2006/relationships/oleObject" Target="../embeddings/oleObject9.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vmlDrawing" Target="../drawings/vmlDrawing13.vml"/><Relationship Id="rId6" Type="http://schemas.openxmlformats.org/officeDocument/2006/relationships/image" Target="../media/image23.emf"/><Relationship Id="rId5" Type="http://schemas.openxmlformats.org/officeDocument/2006/relationships/oleObject" Target="../embeddings/oleObject10.bin"/><Relationship Id="rId4"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image" Target="../media/image24.emf"/><Relationship Id="rId4" Type="http://schemas.openxmlformats.org/officeDocument/2006/relationships/oleObject" Target="../embeddings/oleObject11.bin"/></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vmlDrawing" Target="../drawings/vmlDrawing15.vml"/><Relationship Id="rId6" Type="http://schemas.openxmlformats.org/officeDocument/2006/relationships/image" Target="../media/image24.emf"/><Relationship Id="rId5" Type="http://schemas.openxmlformats.org/officeDocument/2006/relationships/oleObject" Target="../embeddings/oleObject12.bin"/><Relationship Id="rId4"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vmlDrawing" Target="../drawings/vmlDrawing16.vml"/><Relationship Id="rId6" Type="http://schemas.openxmlformats.org/officeDocument/2006/relationships/image" Target="../media/image24.emf"/><Relationship Id="rId5" Type="http://schemas.openxmlformats.org/officeDocument/2006/relationships/oleObject" Target="../embeddings/oleObject13.bin"/><Relationship Id="rId4"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vmlDrawing" Target="../drawings/vmlDrawing17.vml"/><Relationship Id="rId6" Type="http://schemas.openxmlformats.org/officeDocument/2006/relationships/image" Target="../media/image24.emf"/><Relationship Id="rId5" Type="http://schemas.openxmlformats.org/officeDocument/2006/relationships/oleObject" Target="../embeddings/oleObject14.bin"/><Relationship Id="rId4"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53.xml"/><Relationship Id="rId7" Type="http://schemas.openxmlformats.org/officeDocument/2006/relationships/image" Target="../media/image28.emf"/><Relationship Id="rId2" Type="http://schemas.openxmlformats.org/officeDocument/2006/relationships/slideLayout" Target="../slideLayouts/slideLayout2.xml"/><Relationship Id="rId1" Type="http://schemas.openxmlformats.org/officeDocument/2006/relationships/tags" Target="../tags/tag45.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 Id="rId9" Type="http://schemas.openxmlformats.org/officeDocument/2006/relationships/image" Target="../media/image9.wmf"/></Relationships>
</file>

<file path=ppt/slides/_rels/slide63.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notesSlide" Target="../notesSlides/notesSlide54.xml"/><Relationship Id="rId7" Type="http://schemas.openxmlformats.org/officeDocument/2006/relationships/image" Target="../media/image28.emf"/><Relationship Id="rId2" Type="http://schemas.openxmlformats.org/officeDocument/2006/relationships/slideLayout" Target="../slideLayouts/slideLayout2.xml"/><Relationship Id="rId1" Type="http://schemas.openxmlformats.org/officeDocument/2006/relationships/tags" Target="../tags/tag46.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 Id="rId9" Type="http://schemas.openxmlformats.org/officeDocument/2006/relationships/image" Target="../media/image9.wmf"/></Relationships>
</file>

<file path=ppt/slides/_rels/slide6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vmlDrawing" Target="../drawings/vmlDrawing18.vml"/><Relationship Id="rId5" Type="http://schemas.openxmlformats.org/officeDocument/2006/relationships/image" Target="../media/image32.emf"/><Relationship Id="rId4" Type="http://schemas.openxmlformats.org/officeDocument/2006/relationships/oleObject" Target="../embeddings/oleObject15.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vmlDrawing" Target="../drawings/vmlDrawing19.vml"/><Relationship Id="rId6" Type="http://schemas.openxmlformats.org/officeDocument/2006/relationships/image" Target="../media/image36.emf"/><Relationship Id="rId5" Type="http://schemas.openxmlformats.org/officeDocument/2006/relationships/oleObject" Target="../embeddings/oleObject16.bin"/><Relationship Id="rId4" Type="http://schemas.openxmlformats.org/officeDocument/2006/relationships/notesSlide" Target="../notesSlides/notesSlide60.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vmlDrawing" Target="../drawings/vmlDrawing20.vml"/><Relationship Id="rId6" Type="http://schemas.openxmlformats.org/officeDocument/2006/relationships/image" Target="../media/image37.emf"/><Relationship Id="rId5" Type="http://schemas.openxmlformats.org/officeDocument/2006/relationships/oleObject" Target="../embeddings/oleObject17.bin"/><Relationship Id="rId4" Type="http://schemas.openxmlformats.org/officeDocument/2006/relationships/notesSlide" Target="../notesSlides/notesSlide61.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38.emf"/><Relationship Id="rId4" Type="http://schemas.openxmlformats.org/officeDocument/2006/relationships/oleObject" Target="../embeddings/oleObject18.bin"/></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6.xml"/><Relationship Id="rId1" Type="http://schemas.openxmlformats.org/officeDocument/2006/relationships/vmlDrawing" Target="../drawings/vmlDrawing22.vml"/><Relationship Id="rId6" Type="http://schemas.openxmlformats.org/officeDocument/2006/relationships/image" Target="../media/image39.emf"/><Relationship Id="rId5" Type="http://schemas.openxmlformats.org/officeDocument/2006/relationships/oleObject" Target="../embeddings/oleObject19.bin"/><Relationship Id="rId4" Type="http://schemas.openxmlformats.org/officeDocument/2006/relationships/notesSlide" Target="../notesSlides/notesSlide67.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vmlDrawing" Target="../drawings/vmlDrawing23.vml"/><Relationship Id="rId6" Type="http://schemas.openxmlformats.org/officeDocument/2006/relationships/image" Target="../media/image39.emf"/><Relationship Id="rId5" Type="http://schemas.openxmlformats.org/officeDocument/2006/relationships/oleObject" Target="../embeddings/oleObject20.bin"/><Relationship Id="rId4" Type="http://schemas.openxmlformats.org/officeDocument/2006/relationships/notesSlide" Target="../notesSlides/notesSlide68.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8.xml"/><Relationship Id="rId1" Type="http://schemas.openxmlformats.org/officeDocument/2006/relationships/vmlDrawing" Target="../drawings/vmlDrawing24.vml"/><Relationship Id="rId6" Type="http://schemas.openxmlformats.org/officeDocument/2006/relationships/image" Target="../media/image39.emf"/><Relationship Id="rId5" Type="http://schemas.openxmlformats.org/officeDocument/2006/relationships/oleObject" Target="../embeddings/oleObject21.bin"/><Relationship Id="rId4" Type="http://schemas.openxmlformats.org/officeDocument/2006/relationships/notesSlide" Target="../notesSlides/notesSlide69.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vmlDrawing" Target="../drawings/vmlDrawing25.vml"/><Relationship Id="rId6" Type="http://schemas.openxmlformats.org/officeDocument/2006/relationships/image" Target="../media/image39.emf"/><Relationship Id="rId5" Type="http://schemas.openxmlformats.org/officeDocument/2006/relationships/oleObject" Target="../embeddings/oleObject22.bin"/><Relationship Id="rId4" Type="http://schemas.openxmlformats.org/officeDocument/2006/relationships/notesSlide" Target="../notesSlides/notesSlide70.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vmlDrawing" Target="../drawings/vmlDrawing26.vml"/><Relationship Id="rId6" Type="http://schemas.openxmlformats.org/officeDocument/2006/relationships/image" Target="../media/image40.emf"/><Relationship Id="rId5" Type="http://schemas.openxmlformats.org/officeDocument/2006/relationships/oleObject" Target="../embeddings/oleObject23.bin"/><Relationship Id="rId4" Type="http://schemas.openxmlformats.org/officeDocument/2006/relationships/notesSlide" Target="../notesSlides/notesSlide71.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vmlDrawing" Target="../drawings/vmlDrawing27.vml"/><Relationship Id="rId6" Type="http://schemas.openxmlformats.org/officeDocument/2006/relationships/image" Target="../media/image41.emf"/><Relationship Id="rId5" Type="http://schemas.openxmlformats.org/officeDocument/2006/relationships/oleObject" Target="../embeddings/oleObject24.bin"/><Relationship Id="rId4" Type="http://schemas.openxmlformats.org/officeDocument/2006/relationships/notesSlide" Target="../notesSlides/notesSlide72.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2.xml"/><Relationship Id="rId1" Type="http://schemas.openxmlformats.org/officeDocument/2006/relationships/vmlDrawing" Target="../drawings/vmlDrawing28.vml"/><Relationship Id="rId6" Type="http://schemas.openxmlformats.org/officeDocument/2006/relationships/image" Target="../media/image41.emf"/><Relationship Id="rId5" Type="http://schemas.openxmlformats.org/officeDocument/2006/relationships/oleObject" Target="../embeddings/oleObject25.bin"/><Relationship Id="rId4" Type="http://schemas.openxmlformats.org/officeDocument/2006/relationships/notesSlide" Target="../notesSlides/notesSlide73.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vmlDrawing" Target="../drawings/vmlDrawing29.vml"/><Relationship Id="rId5" Type="http://schemas.openxmlformats.org/officeDocument/2006/relationships/image" Target="../media/image42.emf"/><Relationship Id="rId4" Type="http://schemas.openxmlformats.org/officeDocument/2006/relationships/oleObject" Target="../embeddings/oleObject26.bin"/></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vmlDrawing" Target="../drawings/vmlDrawing30.vml"/><Relationship Id="rId5" Type="http://schemas.openxmlformats.org/officeDocument/2006/relationships/image" Target="../media/image43.emf"/><Relationship Id="rId4" Type="http://schemas.openxmlformats.org/officeDocument/2006/relationships/oleObject" Target="../embeddings/oleObject27.bin"/></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vmlDrawing" Target="../drawings/vmlDrawing31.vml"/><Relationship Id="rId5" Type="http://schemas.openxmlformats.org/officeDocument/2006/relationships/image" Target="../media/image44.emf"/><Relationship Id="rId4" Type="http://schemas.openxmlformats.org/officeDocument/2006/relationships/oleObject" Target="../embeddings/oleObject28.bin"/></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Rectangle 4"/>
          <p:cNvSpPr>
            <a:spLocks noChangeArrowheads="1"/>
          </p:cNvSpPr>
          <p:nvPr/>
        </p:nvSpPr>
        <p:spPr bwMode="auto">
          <a:xfrm>
            <a:off x="347473" y="2583673"/>
            <a:ext cx="1961388" cy="2769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r>
              <a:rPr lang="fr-FR" altLang="zh-CN" sz="1200" b="1" dirty="0">
                <a:solidFill>
                  <a:srgbClr val="00B0F0"/>
                </a:solidFill>
                <a:latin typeface="微软雅黑" pitchFamily="34" charset="-122"/>
                <a:ea typeface="微软雅黑" pitchFamily="34" charset="-122"/>
              </a:rPr>
              <a:t>谢希仁 </a:t>
            </a:r>
            <a:r>
              <a:rPr lang="zh-CN" altLang="en-US" sz="1200" b="1" dirty="0">
                <a:solidFill>
                  <a:srgbClr val="00B0F0"/>
                </a:solidFill>
                <a:latin typeface="微软雅黑" pitchFamily="34" charset="-122"/>
                <a:ea typeface="微软雅黑" pitchFamily="34" charset="-122"/>
              </a:rPr>
              <a:t>谢钧 邢长友</a:t>
            </a:r>
            <a:r>
              <a:rPr lang="fr-FR" altLang="zh-CN" sz="1200" b="1" dirty="0">
                <a:solidFill>
                  <a:srgbClr val="00B0F0"/>
                </a:solidFill>
                <a:latin typeface="微软雅黑" pitchFamily="34" charset="-122"/>
                <a:ea typeface="微软雅黑" pitchFamily="34" charset="-122"/>
              </a:rPr>
              <a:t>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a:t>
            </a:r>
            <a:r>
              <a:rPr lang="fr-FR" sz="1600" b="1" dirty="0" smtClean="0">
                <a:solidFill>
                  <a:srgbClr val="00B0F0"/>
                </a:solidFill>
                <a:latin typeface="微软雅黑" pitchFamily="34" charset="-122"/>
                <a:ea typeface="微软雅黑" pitchFamily="34" charset="-122"/>
              </a:rPr>
              <a:t>第 9 版</a:t>
            </a:r>
            <a:r>
              <a:rPr lang="fr-FR" sz="1600" b="1" dirty="0">
                <a:solidFill>
                  <a:srgbClr val="00B0F0"/>
                </a:solidFill>
                <a:latin typeface="微软雅黑" pitchFamily="34" charset="-122"/>
                <a:ea typeface="微软雅黑" pitchFamily="34" charset="-122"/>
              </a:rPr>
              <a:t>）</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4026132" y="2219222"/>
            <a:ext cx="4416594" cy="938719"/>
          </a:xfrm>
          <a:prstGeom prst="rect">
            <a:avLst/>
          </a:prstGeom>
        </p:spPr>
        <p:txBody>
          <a:bodyPr wrap="none">
            <a:spAutoFit/>
          </a:bodyPr>
          <a:lstStyle/>
          <a:p>
            <a:pPr algn="ctr" eaLnBrk="0" hangingPunct="0"/>
            <a:r>
              <a:rPr lang="zh-CN" altLang="en-US" sz="5500" b="1" dirty="0" smtClean="0">
                <a:solidFill>
                  <a:schemeClr val="bg1"/>
                </a:solidFill>
                <a:latin typeface="微软雅黑" pitchFamily="34" charset="-122"/>
                <a:ea typeface="微软雅黑" pitchFamily="34" charset="-122"/>
              </a:rPr>
              <a:t>新型网络技术</a:t>
            </a:r>
            <a:endParaRPr lang="fr-FR" altLang="zh-CN" sz="5500" b="1" dirty="0">
              <a:solidFill>
                <a:schemeClr val="bg1"/>
              </a:solidFill>
              <a:latin typeface="微软雅黑" pitchFamily="34" charset="-122"/>
              <a:ea typeface="微软雅黑" pitchFamily="34" charset="-122"/>
            </a:endParaRPr>
          </a:p>
        </p:txBody>
      </p:sp>
      <p:sp>
        <p:nvSpPr>
          <p:cNvPr id="17" name="矩形 16"/>
          <p:cNvSpPr/>
          <p:nvPr/>
        </p:nvSpPr>
        <p:spPr>
          <a:xfrm>
            <a:off x="5565012" y="1736604"/>
            <a:ext cx="1338828" cy="523220"/>
          </a:xfrm>
          <a:prstGeom prst="rect">
            <a:avLst/>
          </a:prstGeom>
        </p:spPr>
        <p:txBody>
          <a:bodyPr wrap="none">
            <a:spAutoFit/>
          </a:bodyPr>
          <a:lstStyle/>
          <a:p>
            <a:pPr algn="ctr" eaLnBrk="0" hangingPunct="0"/>
            <a:r>
              <a:rPr lang="fr-FR" altLang="zh-CN" sz="2800" b="1" dirty="0" smtClean="0">
                <a:solidFill>
                  <a:schemeClr val="bg1"/>
                </a:solidFill>
                <a:latin typeface="微软雅黑" pitchFamily="34" charset="-122"/>
                <a:ea typeface="微软雅黑" pitchFamily="34" charset="-122"/>
              </a:rPr>
              <a:t>第 9 章</a:t>
            </a:r>
            <a:endParaRPr lang="fr-FR" altLang="zh-CN" sz="28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894782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9"/>
          <p:cNvSpPr>
            <a:spLocks noChangeArrowheads="1"/>
          </p:cNvSpPr>
          <p:nvPr/>
        </p:nvSpPr>
        <p:spPr bwMode="auto">
          <a:xfrm>
            <a:off x="1736635" y="1051616"/>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panose="02010600030101010101" pitchFamily="2" charset="-122"/>
            </a:endParaRPr>
          </a:p>
        </p:txBody>
      </p:sp>
      <p:sp>
        <p:nvSpPr>
          <p:cNvPr id="20" name="Rectangle 10"/>
          <p:cNvSpPr>
            <a:spLocks noChangeArrowheads="1"/>
          </p:cNvSpPr>
          <p:nvPr/>
        </p:nvSpPr>
        <p:spPr bwMode="auto">
          <a:xfrm>
            <a:off x="1736635" y="1531737"/>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panose="02010600030101010101" pitchFamily="2" charset="-122"/>
            </a:endParaRPr>
          </a:p>
        </p:txBody>
      </p:sp>
      <p:sp>
        <p:nvSpPr>
          <p:cNvPr id="21" name="Rectangle 11"/>
          <p:cNvSpPr>
            <a:spLocks noChangeArrowheads="1"/>
          </p:cNvSpPr>
          <p:nvPr/>
        </p:nvSpPr>
        <p:spPr bwMode="auto">
          <a:xfrm>
            <a:off x="1736635" y="2015381"/>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endParaRPr lang="fr-FR">
              <a:solidFill>
                <a:srgbClr val="FFFFFF"/>
              </a:solidFill>
              <a:latin typeface="宋体" panose="02010600030101010101" pitchFamily="2" charset="-122"/>
            </a:endParaRPr>
          </a:p>
        </p:txBody>
      </p:sp>
      <p:sp>
        <p:nvSpPr>
          <p:cNvPr id="25" name="Line 16"/>
          <p:cNvSpPr>
            <a:spLocks noChangeShapeType="1"/>
          </p:cNvSpPr>
          <p:nvPr/>
        </p:nvSpPr>
        <p:spPr bwMode="auto">
          <a:xfrm flipH="1">
            <a:off x="2476500" y="540243"/>
            <a:ext cx="7845" cy="1475136"/>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Rectangle 17"/>
          <p:cNvSpPr>
            <a:spLocks noChangeArrowheads="1"/>
          </p:cNvSpPr>
          <p:nvPr/>
        </p:nvSpPr>
        <p:spPr bwMode="auto">
          <a:xfrm>
            <a:off x="1768382" y="893475"/>
            <a:ext cx="5661539" cy="1554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800"/>
              </a:lnSpc>
            </a:pPr>
            <a:r>
              <a:rPr lang="en-US" altLang="zh-CN" sz="2000" b="1" dirty="0" smtClean="0">
                <a:solidFill>
                  <a:schemeClr val="bg1"/>
                </a:solidFill>
                <a:latin typeface="微软雅黑" panose="020B0503020204020204" pitchFamily="34" charset="-122"/>
                <a:ea typeface="微软雅黑" panose="020B0503020204020204" pitchFamily="34" charset="-122"/>
              </a:rPr>
              <a:t>9.1 </a:t>
            </a:r>
            <a:r>
              <a:rPr lang="en-US" altLang="zh-CN" sz="2000" b="1" dirty="0">
                <a:solidFill>
                  <a:schemeClr val="bg1"/>
                </a:solidFill>
                <a:latin typeface="微软雅黑" panose="020B0503020204020204" pitchFamily="34" charset="-122"/>
                <a:ea typeface="微软雅黑" panose="020B0503020204020204" pitchFamily="34" charset="-122"/>
              </a:rPr>
              <a:t>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软件定义网络</a:t>
            </a:r>
            <a:r>
              <a:rPr lang="zh-CN" altLang="en-US" sz="2000" b="1" dirty="0" smtClean="0">
                <a:solidFill>
                  <a:schemeClr val="bg1"/>
                </a:solidFill>
                <a:latin typeface="微软雅黑" panose="020B0503020204020204" pitchFamily="34" charset="-122"/>
                <a:ea typeface="微软雅黑" panose="020B0503020204020204" pitchFamily="34" charset="-122"/>
              </a:rPr>
              <a:t>技术</a:t>
            </a:r>
            <a:r>
              <a:rPr lang="en-US" altLang="zh-CN" sz="2000" b="1" dirty="0" smtClean="0">
                <a:solidFill>
                  <a:schemeClr val="bg1"/>
                </a:solidFill>
                <a:latin typeface="微软雅黑" panose="020B0503020204020204" pitchFamily="34" charset="-122"/>
                <a:ea typeface="微软雅黑" panose="020B0503020204020204" pitchFamily="34" charset="-122"/>
              </a:rPr>
              <a:t>9</a:t>
            </a:r>
            <a:r>
              <a:rPr lang="en-US" altLang="zh-CN" sz="2000" b="1" dirty="0" smtClean="0">
                <a:solidFill>
                  <a:schemeClr val="bg1"/>
                </a:solidFill>
                <a:latin typeface="微软雅黑" panose="020B0503020204020204" pitchFamily="34" charset="-122"/>
                <a:ea typeface="微软雅黑" panose="020B0503020204020204" pitchFamily="34" charset="-122"/>
              </a:rPr>
              <a:t>.2 			     </a:t>
            </a:r>
            <a:r>
              <a:rPr lang="zh-CN" altLang="en-US" sz="2000" b="1" dirty="0" smtClean="0">
                <a:solidFill>
                  <a:schemeClr val="bg1"/>
                </a:solidFill>
                <a:latin typeface="微软雅黑" panose="020B0503020204020204" pitchFamily="34" charset="-122"/>
                <a:ea typeface="微软雅黑" panose="020B0503020204020204" pitchFamily="34" charset="-122"/>
              </a:rPr>
              <a:t>网络功能虚拟化技术</a:t>
            </a:r>
            <a:endParaRPr lang="en-US" altLang="zh-CN" sz="2000" b="1" dirty="0" smtClean="0">
              <a:solidFill>
                <a:schemeClr val="bg1"/>
              </a:solidFill>
              <a:latin typeface="微软雅黑" panose="020B0503020204020204" pitchFamily="34" charset="-122"/>
              <a:ea typeface="微软雅黑" panose="020B0503020204020204" pitchFamily="34" charset="-122"/>
            </a:endParaRPr>
          </a:p>
          <a:p>
            <a:pPr>
              <a:lnSpc>
                <a:spcPts val="3800"/>
              </a:lnSpc>
            </a:pPr>
            <a:r>
              <a:rPr lang="en-US" altLang="zh-CN" sz="2000" b="1" dirty="0" smtClean="0">
                <a:solidFill>
                  <a:schemeClr val="bg1"/>
                </a:solidFill>
                <a:latin typeface="微软雅黑" panose="020B0503020204020204" pitchFamily="34" charset="-122"/>
                <a:ea typeface="微软雅黑" panose="020B0503020204020204" pitchFamily="34" charset="-122"/>
              </a:rPr>
              <a:t>9.3 </a:t>
            </a:r>
            <a:r>
              <a:rPr lang="en-US" altLang="zh-CN" sz="2000" b="1" dirty="0" smtClean="0">
                <a:solidFill>
                  <a:schemeClr val="bg1"/>
                </a:solidFill>
                <a:latin typeface="微软雅黑" panose="020B0503020204020204" pitchFamily="34" charset="-122"/>
                <a:ea typeface="微软雅黑" panose="020B0503020204020204" pitchFamily="34" charset="-122"/>
              </a:rPr>
              <a:t>				   </a:t>
            </a:r>
            <a:r>
              <a:rPr lang="zh-CN" altLang="en-US" sz="2000" b="1" dirty="0" smtClean="0">
                <a:solidFill>
                  <a:schemeClr val="bg1"/>
                </a:solidFill>
                <a:latin typeface="微软雅黑" panose="020B0503020204020204" pitchFamily="34" charset="-122"/>
                <a:ea typeface="微软雅黑" panose="020B0503020204020204" pitchFamily="34" charset="-122"/>
              </a:rPr>
              <a:t>数据中心网络</a:t>
            </a:r>
            <a:endParaRPr lang="en-US" altLang="zh-CN" sz="2000" b="1"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25330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a:spLocks noChangeArrowheads="1"/>
          </p:cNvSpPr>
          <p:nvPr/>
        </p:nvSpPr>
        <p:spPr bwMode="auto">
          <a:xfrm>
            <a:off x="2629135" y="374000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9" name="Rectangle 9"/>
          <p:cNvSpPr>
            <a:spLocks noChangeArrowheads="1"/>
          </p:cNvSpPr>
          <p:nvPr/>
        </p:nvSpPr>
        <p:spPr bwMode="auto">
          <a:xfrm>
            <a:off x="2629135" y="326512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10" name="Rectangle 10"/>
          <p:cNvSpPr>
            <a:spLocks noChangeArrowheads="1"/>
          </p:cNvSpPr>
          <p:nvPr/>
        </p:nvSpPr>
        <p:spPr bwMode="auto">
          <a:xfrm>
            <a:off x="2629135" y="280657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3" name="Rectangle 9"/>
          <p:cNvSpPr>
            <a:spLocks noChangeArrowheads="1"/>
          </p:cNvSpPr>
          <p:nvPr/>
        </p:nvSpPr>
        <p:spPr bwMode="auto">
          <a:xfrm>
            <a:off x="2629135" y="232298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4" name="Rectangle 9"/>
          <p:cNvSpPr>
            <a:spLocks noChangeArrowheads="1"/>
          </p:cNvSpPr>
          <p:nvPr/>
        </p:nvSpPr>
        <p:spPr bwMode="auto">
          <a:xfrm>
            <a:off x="2629135" y="140068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5" name="Rectangle 10"/>
          <p:cNvSpPr>
            <a:spLocks noChangeArrowheads="1"/>
          </p:cNvSpPr>
          <p:nvPr/>
        </p:nvSpPr>
        <p:spPr bwMode="auto">
          <a:xfrm>
            <a:off x="2629135" y="186443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6" name="Line 16"/>
          <p:cNvSpPr>
            <a:spLocks noChangeShapeType="1"/>
          </p:cNvSpPr>
          <p:nvPr/>
        </p:nvSpPr>
        <p:spPr bwMode="auto">
          <a:xfrm>
            <a:off x="3637197" y="1329242"/>
            <a:ext cx="37336" cy="2740961"/>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Rectangle 27"/>
          <p:cNvSpPr>
            <a:spLocks noChangeArrowheads="1"/>
          </p:cNvSpPr>
          <p:nvPr/>
        </p:nvSpPr>
        <p:spPr bwMode="auto">
          <a:xfrm>
            <a:off x="639730" y="140068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28" name="Rectangle 29"/>
          <p:cNvSpPr>
            <a:spLocks noChangeArrowheads="1"/>
          </p:cNvSpPr>
          <p:nvPr/>
        </p:nvSpPr>
        <p:spPr bwMode="auto">
          <a:xfrm>
            <a:off x="648619" y="149561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2000" b="1" dirty="0" smtClean="0">
                <a:solidFill>
                  <a:srgbClr val="FFFF00"/>
                </a:solidFill>
                <a:latin typeface="微软雅黑" panose="020B0503020204020204" pitchFamily="34" charset="-122"/>
                <a:ea typeface="微软雅黑" panose="020B0503020204020204" pitchFamily="34" charset="-122"/>
              </a:rPr>
              <a:t>9.1</a:t>
            </a:r>
            <a:endParaRPr lang="en-US"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a:solidFill>
                  <a:schemeClr val="bg1"/>
                </a:solidFill>
                <a:latin typeface="微软雅黑" panose="020B0503020204020204" pitchFamily="34" charset="-122"/>
                <a:ea typeface="微软雅黑" panose="020B0503020204020204" pitchFamily="34" charset="-122"/>
              </a:rPr>
              <a:t>软件定义网络技术</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
        <p:nvSpPr>
          <p:cNvPr id="29" name="Rectangle 8"/>
          <p:cNvSpPr>
            <a:spLocks noChangeArrowheads="1"/>
          </p:cNvSpPr>
          <p:nvPr/>
        </p:nvSpPr>
        <p:spPr bwMode="auto">
          <a:xfrm>
            <a:off x="2700573" y="1276373"/>
            <a:ext cx="575600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9.1.1                  </a:t>
            </a:r>
            <a:r>
              <a:rPr lang="zh-CN" altLang="en-US" sz="2000" b="1" dirty="0" smtClean="0">
                <a:solidFill>
                  <a:schemeClr val="bg1"/>
                </a:solidFill>
                <a:latin typeface="微软雅黑" panose="020B0503020204020204" pitchFamily="34" charset="-122"/>
                <a:ea typeface="微软雅黑" panose="020B0503020204020204" pitchFamily="34" charset="-122"/>
              </a:rPr>
              <a:t>数据</a:t>
            </a:r>
            <a:r>
              <a:rPr lang="zh-CN" altLang="en-US" sz="2000" b="1" dirty="0">
                <a:solidFill>
                  <a:schemeClr val="bg1"/>
                </a:solidFill>
                <a:latin typeface="微软雅黑" panose="020B0503020204020204" pitchFamily="34" charset="-122"/>
                <a:ea typeface="微软雅黑" panose="020B0503020204020204" pitchFamily="34" charset="-122"/>
              </a:rPr>
              <a:t>平面与控制平面分离的思想</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9.1.2                                                  SDN</a:t>
            </a:r>
            <a:r>
              <a:rPr lang="zh-CN" altLang="en-US" sz="2000" b="1" dirty="0" smtClean="0">
                <a:solidFill>
                  <a:schemeClr val="bg1"/>
                </a:solidFill>
                <a:latin typeface="微软雅黑" panose="020B0503020204020204" pitchFamily="34" charset="-122"/>
                <a:ea typeface="微软雅黑" panose="020B0503020204020204" pitchFamily="34" charset="-122"/>
              </a:rPr>
              <a:t>架构</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9.1.3                                           SDN</a:t>
            </a:r>
            <a:r>
              <a:rPr lang="zh-CN" altLang="en-US" sz="2000" b="1" dirty="0" smtClean="0">
                <a:solidFill>
                  <a:schemeClr val="bg1"/>
                </a:solidFill>
                <a:latin typeface="微软雅黑" panose="020B0503020204020204" pitchFamily="34" charset="-122"/>
                <a:ea typeface="微软雅黑" panose="020B0503020204020204" pitchFamily="34" charset="-122"/>
              </a:rPr>
              <a:t>数据平面</a:t>
            </a:r>
            <a:endParaRPr lang="en-US" altLang="zh-CN" sz="2000" b="1" dirty="0" smtClean="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9.1.4                                            SDN</a:t>
            </a:r>
            <a:r>
              <a:rPr lang="zh-CN" altLang="en-US" sz="2000" b="1" dirty="0" smtClean="0">
                <a:solidFill>
                  <a:schemeClr val="bg1"/>
                </a:solidFill>
                <a:latin typeface="微软雅黑" panose="020B0503020204020204" pitchFamily="34" charset="-122"/>
                <a:ea typeface="微软雅黑" panose="020B0503020204020204" pitchFamily="34" charset="-122"/>
              </a:rPr>
              <a:t>控制平面</a:t>
            </a:r>
            <a:endParaRPr lang="en-US" altLang="zh-CN" sz="2000" b="1" dirty="0" smtClean="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9.1.5                                         </a:t>
            </a:r>
            <a:r>
              <a:rPr lang="zh-CN" altLang="en-US" sz="2000" b="1" dirty="0" smtClean="0">
                <a:solidFill>
                  <a:schemeClr val="bg1"/>
                </a:solidFill>
                <a:latin typeface="微软雅黑" panose="020B0503020204020204" pitchFamily="34" charset="-122"/>
                <a:ea typeface="微软雅黑" panose="020B0503020204020204" pitchFamily="34" charset="-122"/>
              </a:rPr>
              <a:t>可编程数据平面</a:t>
            </a:r>
            <a:endParaRPr lang="en-US" altLang="zh-CN" sz="2000" b="1" dirty="0" smtClean="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9.1.6                                               SDN</a:t>
            </a:r>
            <a:r>
              <a:rPr lang="zh-CN" altLang="en-US" sz="2000" b="1" dirty="0" smtClean="0">
                <a:solidFill>
                  <a:schemeClr val="bg1"/>
                </a:solidFill>
                <a:latin typeface="微软雅黑" panose="020B0503020204020204" pitchFamily="34" charset="-122"/>
                <a:ea typeface="微软雅黑" panose="020B0503020204020204" pitchFamily="34" charset="-122"/>
              </a:rPr>
              <a:t>的应用</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57708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数据平面与控制平面耦合架构</a:t>
            </a:r>
          </a:p>
        </p:txBody>
      </p:sp>
      <p:sp>
        <p:nvSpPr>
          <p:cNvPr id="4" name="Rectangle 8"/>
          <p:cNvSpPr>
            <a:spLocks noChangeArrowheads="1"/>
          </p:cNvSpPr>
          <p:nvPr/>
        </p:nvSpPr>
        <p:spPr bwMode="auto">
          <a:xfrm>
            <a:off x="545143" y="1009413"/>
            <a:ext cx="8209557"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网络层可以划分</a:t>
            </a:r>
            <a:r>
              <a:rPr lang="zh-CN" altLang="en-US" sz="2000" b="1" dirty="0">
                <a:latin typeface="微软雅黑" pitchFamily="34" charset="-122"/>
                <a:ea typeface="微软雅黑" pitchFamily="34" charset="-122"/>
              </a:rPr>
              <a:t>为</a:t>
            </a:r>
            <a:r>
              <a:rPr lang="zh-CN" altLang="en-US" sz="2000" b="1" dirty="0">
                <a:solidFill>
                  <a:srgbClr val="C00000"/>
                </a:solidFill>
                <a:latin typeface="微软雅黑" pitchFamily="34" charset="-122"/>
                <a:ea typeface="微软雅黑" pitchFamily="34" charset="-122"/>
              </a:rPr>
              <a:t>数据</a:t>
            </a:r>
            <a:r>
              <a:rPr lang="zh-CN" altLang="en-US" sz="2000" b="1" dirty="0" smtClean="0">
                <a:solidFill>
                  <a:srgbClr val="C00000"/>
                </a:solidFill>
                <a:latin typeface="微软雅黑" pitchFamily="34" charset="-122"/>
                <a:ea typeface="微软雅黑" pitchFamily="34" charset="-122"/>
              </a:rPr>
              <a:t>平面</a:t>
            </a:r>
            <a:r>
              <a:rPr lang="zh-CN" altLang="en-US" sz="2000" b="1" dirty="0" smtClean="0">
                <a:latin typeface="微软雅黑" pitchFamily="34" charset="-122"/>
                <a:ea typeface="微软雅黑" pitchFamily="34" charset="-122"/>
              </a:rPr>
              <a:t>和</a:t>
            </a:r>
            <a:r>
              <a:rPr lang="zh-CN" altLang="en-US" sz="2000" b="1" dirty="0">
                <a:solidFill>
                  <a:srgbClr val="C00000"/>
                </a:solidFill>
                <a:latin typeface="微软雅黑" pitchFamily="34" charset="-122"/>
                <a:ea typeface="微软雅黑" pitchFamily="34" charset="-122"/>
              </a:rPr>
              <a:t>控制平面</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742950" lvl="1" indent="-285750">
              <a:lnSpc>
                <a:spcPts val="3300"/>
              </a:lnSpc>
              <a:buClr>
                <a:srgbClr val="0070C0"/>
              </a:buClr>
              <a:buFont typeface="Wingdings" pitchFamily="2" charset="2"/>
              <a:buChar char="l"/>
            </a:pPr>
            <a:r>
              <a:rPr lang="zh-CN" altLang="en-US" sz="2000" b="1" dirty="0" smtClean="0">
                <a:latin typeface="微软雅黑" pitchFamily="34" charset="-122"/>
                <a:ea typeface="微软雅黑" pitchFamily="34" charset="-122"/>
              </a:rPr>
              <a:t>在</a:t>
            </a:r>
            <a:r>
              <a:rPr lang="zh-CN" altLang="en-US" sz="2000" b="1" dirty="0">
                <a:latin typeface="微软雅黑" pitchFamily="34" charset="-122"/>
                <a:ea typeface="微软雅黑" pitchFamily="34" charset="-122"/>
              </a:rPr>
              <a:t>数据</a:t>
            </a:r>
            <a:r>
              <a:rPr lang="zh-CN" altLang="en-US" sz="2000" b="1" dirty="0" smtClean="0">
                <a:latin typeface="微软雅黑" pitchFamily="34" charset="-122"/>
                <a:ea typeface="微软雅黑" pitchFamily="34" charset="-122"/>
              </a:rPr>
              <a:t>平面，</a:t>
            </a:r>
            <a:r>
              <a:rPr lang="zh-CN" altLang="en-US" sz="2000" b="1" dirty="0">
                <a:latin typeface="微软雅黑" pitchFamily="34" charset="-122"/>
                <a:ea typeface="微软雅黑" pitchFamily="34" charset="-122"/>
              </a:rPr>
              <a:t>每一个路由器根据本路由器生成的转发表，把收到的分组，</a:t>
            </a:r>
            <a:r>
              <a:rPr lang="zh-CN" altLang="en-US" sz="2000" b="1" dirty="0">
                <a:solidFill>
                  <a:srgbClr val="C00000"/>
                </a:solidFill>
                <a:latin typeface="微软雅黑" pitchFamily="34" charset="-122"/>
                <a:ea typeface="微软雅黑" pitchFamily="34" charset="-122"/>
              </a:rPr>
              <a:t>从查找到的对应接口转发出去</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742950" lvl="1"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在控制</a:t>
            </a:r>
            <a:r>
              <a:rPr lang="zh-CN" altLang="en-US" sz="2000" b="1" dirty="0" smtClean="0">
                <a:latin typeface="微软雅黑" pitchFamily="34" charset="-122"/>
                <a:ea typeface="微软雅黑" pitchFamily="34" charset="-122"/>
              </a:rPr>
              <a:t>平面，路由器</a:t>
            </a:r>
            <a:r>
              <a:rPr lang="zh-CN" altLang="en-US" sz="2000" b="1" dirty="0">
                <a:latin typeface="微软雅黑" pitchFamily="34" charset="-122"/>
                <a:ea typeface="微软雅黑" pitchFamily="34" charset="-122"/>
              </a:rPr>
              <a:t>必须和相邻的路由器经常交换路由信息</a:t>
            </a:r>
            <a:r>
              <a:rPr lang="zh-CN" altLang="en-US" sz="2000" b="1" dirty="0" smtClean="0">
                <a:latin typeface="微软雅黑" pitchFamily="34" charset="-122"/>
                <a:ea typeface="微软雅黑" pitchFamily="34" charset="-122"/>
              </a:rPr>
              <a:t>，</a:t>
            </a:r>
            <a:r>
              <a:rPr lang="zh-CN" altLang="en-US" sz="2000" b="1" dirty="0">
                <a:latin typeface="微软雅黑" pitchFamily="34" charset="-122"/>
                <a:ea typeface="微软雅黑" pitchFamily="34" charset="-122"/>
              </a:rPr>
              <a:t>根据路由选择协议所用的路由算法</a:t>
            </a:r>
            <a:r>
              <a:rPr lang="zh-CN" altLang="en-US" sz="2000" b="1" dirty="0" smtClean="0">
                <a:latin typeface="微软雅黑" pitchFamily="34" charset="-122"/>
                <a:ea typeface="微软雅黑" pitchFamily="34" charset="-122"/>
              </a:rPr>
              <a:t>，</a:t>
            </a:r>
            <a:r>
              <a:rPr lang="zh-CN" altLang="en-US" sz="2000" b="1" dirty="0" smtClean="0">
                <a:solidFill>
                  <a:srgbClr val="C00000"/>
                </a:solidFill>
                <a:latin typeface="微软雅黑" pitchFamily="34" charset="-122"/>
                <a:ea typeface="微软雅黑" pitchFamily="34" charset="-122"/>
              </a:rPr>
              <a:t>创建</a:t>
            </a:r>
            <a:r>
              <a:rPr lang="zh-CN" altLang="en-US" sz="2000" b="1" dirty="0">
                <a:solidFill>
                  <a:srgbClr val="C00000"/>
                </a:solidFill>
                <a:latin typeface="微软雅黑" pitchFamily="34" charset="-122"/>
                <a:ea typeface="微软雅黑" pitchFamily="34" charset="-122"/>
              </a:rPr>
              <a:t>出本路由器</a:t>
            </a:r>
            <a:r>
              <a:rPr lang="zh-CN" altLang="en-US" sz="2000" b="1" dirty="0" smtClean="0">
                <a:solidFill>
                  <a:srgbClr val="C00000"/>
                </a:solidFill>
                <a:latin typeface="微软雅黑" pitchFamily="34" charset="-122"/>
                <a:ea typeface="微软雅黑" pitchFamily="34" charset="-122"/>
              </a:rPr>
              <a:t>的</a:t>
            </a:r>
            <a:r>
              <a:rPr lang="zh-CN" altLang="en-US" sz="2000" b="1" dirty="0">
                <a:solidFill>
                  <a:srgbClr val="C00000"/>
                </a:solidFill>
                <a:latin typeface="微软雅黑" pitchFamily="34" charset="-122"/>
                <a:ea typeface="微软雅黑" pitchFamily="34" charset="-122"/>
              </a:rPr>
              <a:t>转发</a:t>
            </a:r>
            <a:r>
              <a:rPr lang="zh-CN" altLang="en-US" sz="2000" b="1" dirty="0" smtClean="0">
                <a:solidFill>
                  <a:srgbClr val="C00000"/>
                </a:solidFill>
                <a:latin typeface="微软雅黑" pitchFamily="34" charset="-122"/>
                <a:ea typeface="微软雅黑" pitchFamily="34" charset="-122"/>
              </a:rPr>
              <a:t>表</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每个</a:t>
            </a:r>
            <a:r>
              <a:rPr lang="zh-CN" altLang="en-US" sz="2000" b="1" dirty="0" smtClean="0">
                <a:latin typeface="微软雅黑" pitchFamily="34" charset="-122"/>
                <a:ea typeface="微软雅黑" pitchFamily="34" charset="-122"/>
              </a:rPr>
              <a:t>路由器既有</a:t>
            </a:r>
            <a:r>
              <a:rPr lang="zh-CN" altLang="en-US" sz="2000" b="1" dirty="0">
                <a:latin typeface="微软雅黑" pitchFamily="34" charset="-122"/>
                <a:ea typeface="微软雅黑" pitchFamily="34" charset="-122"/>
              </a:rPr>
              <a:t>数据平面也有控制平面，这种</a:t>
            </a:r>
            <a:r>
              <a:rPr lang="zh-CN" altLang="en-US" sz="2000" b="1" dirty="0">
                <a:solidFill>
                  <a:srgbClr val="C00000"/>
                </a:solidFill>
                <a:latin typeface="微软雅黑" pitchFamily="34" charset="-122"/>
                <a:ea typeface="微软雅黑" pitchFamily="34" charset="-122"/>
              </a:rPr>
              <a:t>控制平面与数据平面紧密耦合</a:t>
            </a:r>
            <a:r>
              <a:rPr lang="zh-CN" altLang="en-US" sz="2000" b="1" dirty="0">
                <a:latin typeface="微软雅黑" pitchFamily="34" charset="-122"/>
                <a:ea typeface="微软雅黑" pitchFamily="34" charset="-122"/>
              </a:rPr>
              <a:t>的特点也是传统路由器的核心特征之一</a:t>
            </a:r>
            <a:r>
              <a:rPr lang="zh-CN" altLang="en-US" sz="2000" b="1" dirty="0" smtClean="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6466207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圆角矩形 364"/>
          <p:cNvSpPr/>
          <p:nvPr/>
        </p:nvSpPr>
        <p:spPr>
          <a:xfrm>
            <a:off x="985520" y="1896553"/>
            <a:ext cx="7307911" cy="2827896"/>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数据平面与控制平面耦合架构</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209557" cy="91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smtClean="0">
                <a:latin typeface="微软雅黑" pitchFamily="34" charset="-122"/>
                <a:ea typeface="微软雅黑" pitchFamily="34" charset="-122"/>
              </a:rPr>
              <a:t>不同路由器中运行的路由算法</a:t>
            </a:r>
            <a:r>
              <a:rPr lang="zh-CN" altLang="en-US" b="1" dirty="0">
                <a:latin typeface="微软雅黑" pitchFamily="34" charset="-122"/>
                <a:ea typeface="微软雅黑" pitchFamily="34" charset="-122"/>
              </a:rPr>
              <a:t>组件在控制平面相互交互</a:t>
            </a:r>
            <a:r>
              <a:rPr lang="zh-CN" altLang="en-US" b="1" dirty="0" smtClean="0">
                <a:latin typeface="微软雅黑" pitchFamily="34" charset="-122"/>
                <a:ea typeface="微软雅黑" pitchFamily="34" charset="-122"/>
              </a:rPr>
              <a:t>，随后各自计算自己的转发表。当有分组到达时，路由器查找转发表以决定如何转发分组。</a:t>
            </a:r>
            <a:endParaRPr lang="zh-CN" altLang="en-US" b="1" dirty="0">
              <a:latin typeface="微软雅黑" pitchFamily="34" charset="-122"/>
              <a:ea typeface="微软雅黑" pitchFamily="34" charset="-122"/>
            </a:endParaRPr>
          </a:p>
        </p:txBody>
      </p:sp>
      <p:cxnSp>
        <p:nvCxnSpPr>
          <p:cNvPr id="172" name="Straight Arrow Connector 402">
            <a:extLst>
              <a:ext uri="{FF2B5EF4-FFF2-40B4-BE49-F238E27FC236}">
                <a16:creationId xmlns:a16="http://schemas.microsoft.com/office/drawing/2014/main" id="{86DA61DF-3320-724E-9861-CF654B1F47AF}"/>
              </a:ext>
            </a:extLst>
          </p:cNvPr>
          <p:cNvCxnSpPr>
            <a:stCxn id="262" idx="7"/>
            <a:endCxn id="271" idx="2"/>
          </p:cNvCxnSpPr>
          <p:nvPr/>
        </p:nvCxnSpPr>
        <p:spPr bwMode="auto">
          <a:xfrm flipV="1">
            <a:off x="3077286" y="2284377"/>
            <a:ext cx="560751" cy="541581"/>
          </a:xfrm>
          <a:prstGeom prst="straightConnector1">
            <a:avLst/>
          </a:prstGeom>
          <a:noFill/>
          <a:ln w="19050" cap="flat" cmpd="sng" algn="ctr">
            <a:solidFill>
              <a:srgbClr val="CC0000"/>
            </a:solidFill>
            <a:prstDash val="solid"/>
            <a:headEnd type="triangle"/>
            <a:tailEnd type="triangle"/>
          </a:ln>
          <a:effectLst/>
        </p:spPr>
      </p:cxnSp>
      <p:sp>
        <p:nvSpPr>
          <p:cNvPr id="239" name="Line 151"/>
          <p:cNvSpPr>
            <a:spLocks noChangeShapeType="1"/>
          </p:cNvSpPr>
          <p:nvPr/>
        </p:nvSpPr>
        <p:spPr bwMode="auto">
          <a:xfrm>
            <a:off x="4043276" y="3888654"/>
            <a:ext cx="932259" cy="331219"/>
          </a:xfrm>
          <a:prstGeom prst="line">
            <a:avLst/>
          </a:prstGeom>
          <a:noFill/>
          <a:ln w="9525">
            <a:solidFill>
              <a:schemeClr val="tx1"/>
            </a:solidFill>
            <a:round/>
            <a:headEnd/>
            <a:tailEnd/>
          </a:ln>
        </p:spPr>
        <p:txBody>
          <a:bodyPr/>
          <a:lstStyle/>
          <a:p>
            <a:endParaRPr lang="zh-CN" altLang="en-US"/>
          </a:p>
        </p:txBody>
      </p:sp>
      <p:sp>
        <p:nvSpPr>
          <p:cNvPr id="240" name="Line 79"/>
          <p:cNvSpPr>
            <a:spLocks noChangeShapeType="1"/>
          </p:cNvSpPr>
          <p:nvPr/>
        </p:nvSpPr>
        <p:spPr bwMode="auto">
          <a:xfrm>
            <a:off x="2195736" y="4149080"/>
            <a:ext cx="720502" cy="216545"/>
          </a:xfrm>
          <a:prstGeom prst="line">
            <a:avLst/>
          </a:prstGeom>
          <a:noFill/>
          <a:ln w="9525">
            <a:solidFill>
              <a:schemeClr val="tx1"/>
            </a:solidFill>
            <a:round/>
            <a:headEnd/>
            <a:tailEnd/>
          </a:ln>
        </p:spPr>
        <p:txBody>
          <a:bodyPr/>
          <a:lstStyle/>
          <a:p>
            <a:endParaRPr lang="zh-CN" altLang="en-US"/>
          </a:p>
        </p:txBody>
      </p:sp>
      <p:pic>
        <p:nvPicPr>
          <p:cNvPr id="241" name="Picture 98"/>
          <p:cNvPicPr>
            <a:picLocks noChangeArrowheads="1"/>
          </p:cNvPicPr>
          <p:nvPr/>
        </p:nvPicPr>
        <p:blipFill>
          <a:blip r:embed="rId3" cstate="print"/>
          <a:srcRect/>
          <a:stretch>
            <a:fillRect/>
          </a:stretch>
        </p:blipFill>
        <p:spPr bwMode="auto">
          <a:xfrm>
            <a:off x="1835696" y="3694113"/>
            <a:ext cx="503237" cy="539750"/>
          </a:xfrm>
          <a:prstGeom prst="rect">
            <a:avLst/>
          </a:prstGeom>
          <a:noFill/>
          <a:ln w="9525">
            <a:noFill/>
            <a:miter lim="800000"/>
            <a:headEnd/>
            <a:tailEnd/>
          </a:ln>
        </p:spPr>
      </p:pic>
      <p:sp>
        <p:nvSpPr>
          <p:cNvPr id="242" name="Line 99"/>
          <p:cNvSpPr>
            <a:spLocks noChangeShapeType="1"/>
          </p:cNvSpPr>
          <p:nvPr/>
        </p:nvSpPr>
        <p:spPr bwMode="auto">
          <a:xfrm>
            <a:off x="3131840" y="4437112"/>
            <a:ext cx="1296417" cy="215206"/>
          </a:xfrm>
          <a:prstGeom prst="line">
            <a:avLst/>
          </a:prstGeom>
          <a:noFill/>
          <a:ln w="9525">
            <a:solidFill>
              <a:schemeClr val="tx1"/>
            </a:solidFill>
            <a:round/>
            <a:headEnd/>
            <a:tailEnd/>
          </a:ln>
        </p:spPr>
        <p:txBody>
          <a:bodyPr/>
          <a:lstStyle/>
          <a:p>
            <a:endParaRPr lang="zh-CN" altLang="en-US"/>
          </a:p>
        </p:txBody>
      </p:sp>
      <p:sp>
        <p:nvSpPr>
          <p:cNvPr id="243" name="Line 100"/>
          <p:cNvSpPr>
            <a:spLocks noChangeShapeType="1"/>
          </p:cNvSpPr>
          <p:nvPr/>
        </p:nvSpPr>
        <p:spPr bwMode="auto">
          <a:xfrm flipV="1">
            <a:off x="3132138" y="4221087"/>
            <a:ext cx="1799902" cy="144536"/>
          </a:xfrm>
          <a:prstGeom prst="line">
            <a:avLst/>
          </a:prstGeom>
          <a:noFill/>
          <a:ln w="9525">
            <a:solidFill>
              <a:schemeClr val="tx1"/>
            </a:solidFill>
            <a:round/>
            <a:headEnd/>
            <a:tailEnd/>
          </a:ln>
        </p:spPr>
        <p:txBody>
          <a:bodyPr/>
          <a:lstStyle/>
          <a:p>
            <a:endParaRPr lang="zh-CN" altLang="en-US"/>
          </a:p>
        </p:txBody>
      </p:sp>
      <p:sp>
        <p:nvSpPr>
          <p:cNvPr id="244" name="Line 101"/>
          <p:cNvSpPr>
            <a:spLocks noChangeShapeType="1"/>
          </p:cNvSpPr>
          <p:nvPr/>
        </p:nvSpPr>
        <p:spPr bwMode="auto">
          <a:xfrm>
            <a:off x="5220072" y="4221088"/>
            <a:ext cx="936253" cy="215974"/>
          </a:xfrm>
          <a:prstGeom prst="line">
            <a:avLst/>
          </a:prstGeom>
          <a:noFill/>
          <a:ln w="9525">
            <a:solidFill>
              <a:schemeClr val="tx1"/>
            </a:solidFill>
            <a:round/>
            <a:headEnd/>
            <a:tailEnd/>
          </a:ln>
        </p:spPr>
        <p:txBody>
          <a:bodyPr/>
          <a:lstStyle/>
          <a:p>
            <a:endParaRPr lang="zh-CN" altLang="en-US"/>
          </a:p>
        </p:txBody>
      </p:sp>
      <p:sp>
        <p:nvSpPr>
          <p:cNvPr id="245" name="Line 102"/>
          <p:cNvSpPr>
            <a:spLocks noChangeShapeType="1"/>
          </p:cNvSpPr>
          <p:nvPr/>
        </p:nvSpPr>
        <p:spPr bwMode="auto">
          <a:xfrm flipV="1">
            <a:off x="4716016" y="4510088"/>
            <a:ext cx="1440309" cy="143048"/>
          </a:xfrm>
          <a:prstGeom prst="line">
            <a:avLst/>
          </a:prstGeom>
          <a:noFill/>
          <a:ln w="9525">
            <a:solidFill>
              <a:schemeClr val="tx1"/>
            </a:solidFill>
            <a:round/>
            <a:headEnd/>
            <a:tailEnd/>
          </a:ln>
        </p:spPr>
        <p:txBody>
          <a:bodyPr/>
          <a:lstStyle/>
          <a:p>
            <a:endParaRPr lang="zh-CN" altLang="en-US"/>
          </a:p>
        </p:txBody>
      </p:sp>
      <p:sp>
        <p:nvSpPr>
          <p:cNvPr id="246" name="Line 103"/>
          <p:cNvSpPr>
            <a:spLocks noChangeShapeType="1"/>
          </p:cNvSpPr>
          <p:nvPr/>
        </p:nvSpPr>
        <p:spPr bwMode="auto">
          <a:xfrm flipV="1">
            <a:off x="6227762" y="4149080"/>
            <a:ext cx="864517" cy="287983"/>
          </a:xfrm>
          <a:prstGeom prst="line">
            <a:avLst/>
          </a:prstGeom>
          <a:noFill/>
          <a:ln w="9525">
            <a:solidFill>
              <a:schemeClr val="tx1"/>
            </a:solidFill>
            <a:round/>
            <a:headEnd/>
            <a:tailEnd/>
          </a:ln>
        </p:spPr>
        <p:txBody>
          <a:bodyPr/>
          <a:lstStyle/>
          <a:p>
            <a:endParaRPr lang="zh-CN" altLang="en-US"/>
          </a:p>
        </p:txBody>
      </p:sp>
      <p:pic>
        <p:nvPicPr>
          <p:cNvPr id="247" name="Picture 106"/>
          <p:cNvPicPr>
            <a:picLocks noChangeArrowheads="1"/>
          </p:cNvPicPr>
          <p:nvPr/>
        </p:nvPicPr>
        <p:blipFill>
          <a:blip r:embed="rId3" cstate="print"/>
          <a:srcRect/>
          <a:stretch>
            <a:fillRect/>
          </a:stretch>
        </p:blipFill>
        <p:spPr bwMode="auto">
          <a:xfrm>
            <a:off x="6877074" y="3716338"/>
            <a:ext cx="503238" cy="539750"/>
          </a:xfrm>
          <a:prstGeom prst="rect">
            <a:avLst/>
          </a:prstGeom>
          <a:noFill/>
          <a:ln w="9525">
            <a:noFill/>
            <a:miter lim="800000"/>
            <a:headEnd/>
            <a:tailEnd/>
          </a:ln>
        </p:spPr>
      </p:pic>
      <p:sp>
        <p:nvSpPr>
          <p:cNvPr id="248" name="Line 107"/>
          <p:cNvSpPr>
            <a:spLocks noChangeShapeType="1"/>
          </p:cNvSpPr>
          <p:nvPr/>
        </p:nvSpPr>
        <p:spPr bwMode="auto">
          <a:xfrm flipV="1">
            <a:off x="3118653" y="3860017"/>
            <a:ext cx="713894" cy="432915"/>
          </a:xfrm>
          <a:prstGeom prst="line">
            <a:avLst/>
          </a:prstGeom>
          <a:noFill/>
          <a:ln w="9525">
            <a:solidFill>
              <a:schemeClr val="tx1"/>
            </a:solidFill>
            <a:round/>
            <a:headEnd/>
            <a:tailEnd/>
          </a:ln>
        </p:spPr>
        <p:txBody>
          <a:bodyPr/>
          <a:lstStyle/>
          <a:p>
            <a:endParaRPr lang="zh-CN" altLang="en-US"/>
          </a:p>
        </p:txBody>
      </p:sp>
      <p:sp>
        <p:nvSpPr>
          <p:cNvPr id="249" name="Line 108"/>
          <p:cNvSpPr>
            <a:spLocks noChangeShapeType="1"/>
          </p:cNvSpPr>
          <p:nvPr/>
        </p:nvSpPr>
        <p:spPr bwMode="auto">
          <a:xfrm>
            <a:off x="4076142" y="3813580"/>
            <a:ext cx="2151622" cy="552043"/>
          </a:xfrm>
          <a:prstGeom prst="line">
            <a:avLst/>
          </a:prstGeom>
          <a:noFill/>
          <a:ln w="9525">
            <a:solidFill>
              <a:schemeClr val="tx1"/>
            </a:solidFill>
            <a:round/>
            <a:headEnd/>
            <a:tailEnd/>
          </a:ln>
        </p:spPr>
        <p:txBody>
          <a:bodyPr/>
          <a:lstStyle/>
          <a:p>
            <a:endParaRPr lang="zh-CN" altLang="en-US"/>
          </a:p>
        </p:txBody>
      </p:sp>
      <p:pic>
        <p:nvPicPr>
          <p:cNvPr id="250" name="Picture 109"/>
          <p:cNvPicPr>
            <a:picLocks noChangeArrowheads="1"/>
          </p:cNvPicPr>
          <p:nvPr/>
        </p:nvPicPr>
        <p:blipFill>
          <a:blip r:embed="rId4" cstate="print"/>
          <a:srcRect/>
          <a:stretch>
            <a:fillRect/>
          </a:stretch>
        </p:blipFill>
        <p:spPr bwMode="auto">
          <a:xfrm>
            <a:off x="2827338" y="4221163"/>
            <a:ext cx="520700" cy="287337"/>
          </a:xfrm>
          <a:prstGeom prst="rect">
            <a:avLst/>
          </a:prstGeom>
          <a:noFill/>
          <a:ln w="12699">
            <a:noFill/>
            <a:miter lim="800000"/>
            <a:headEnd/>
            <a:tailEnd/>
          </a:ln>
        </p:spPr>
      </p:pic>
      <p:pic>
        <p:nvPicPr>
          <p:cNvPr id="251" name="Picture 110"/>
          <p:cNvPicPr>
            <a:picLocks noChangeArrowheads="1"/>
          </p:cNvPicPr>
          <p:nvPr/>
        </p:nvPicPr>
        <p:blipFill>
          <a:blip r:embed="rId4" cstate="print"/>
          <a:srcRect/>
          <a:stretch>
            <a:fillRect/>
          </a:stretch>
        </p:blipFill>
        <p:spPr bwMode="auto">
          <a:xfrm>
            <a:off x="4860032" y="4077072"/>
            <a:ext cx="520700" cy="287337"/>
          </a:xfrm>
          <a:prstGeom prst="rect">
            <a:avLst/>
          </a:prstGeom>
          <a:noFill/>
          <a:ln w="12699">
            <a:noFill/>
            <a:miter lim="800000"/>
            <a:headEnd/>
            <a:tailEnd/>
          </a:ln>
        </p:spPr>
      </p:pic>
      <p:pic>
        <p:nvPicPr>
          <p:cNvPr id="252" name="Picture 111"/>
          <p:cNvPicPr>
            <a:picLocks noChangeArrowheads="1"/>
          </p:cNvPicPr>
          <p:nvPr/>
        </p:nvPicPr>
        <p:blipFill>
          <a:blip r:embed="rId4" cstate="print"/>
          <a:srcRect/>
          <a:stretch>
            <a:fillRect/>
          </a:stretch>
        </p:blipFill>
        <p:spPr bwMode="auto">
          <a:xfrm>
            <a:off x="4283968" y="4437112"/>
            <a:ext cx="520700" cy="287337"/>
          </a:xfrm>
          <a:prstGeom prst="rect">
            <a:avLst/>
          </a:prstGeom>
          <a:noFill/>
          <a:ln w="12699">
            <a:noFill/>
            <a:miter lim="800000"/>
            <a:headEnd/>
            <a:tailEnd/>
          </a:ln>
        </p:spPr>
      </p:pic>
      <p:pic>
        <p:nvPicPr>
          <p:cNvPr id="253" name="Picture 112"/>
          <p:cNvPicPr>
            <a:picLocks noChangeArrowheads="1"/>
          </p:cNvPicPr>
          <p:nvPr/>
        </p:nvPicPr>
        <p:blipFill>
          <a:blip r:embed="rId4" cstate="print"/>
          <a:srcRect/>
          <a:stretch>
            <a:fillRect/>
          </a:stretch>
        </p:blipFill>
        <p:spPr bwMode="auto">
          <a:xfrm>
            <a:off x="5940425" y="4294188"/>
            <a:ext cx="520700" cy="287337"/>
          </a:xfrm>
          <a:prstGeom prst="rect">
            <a:avLst/>
          </a:prstGeom>
          <a:noFill/>
          <a:ln w="12699">
            <a:noFill/>
            <a:miter lim="800000"/>
            <a:headEnd/>
            <a:tailEnd/>
          </a:ln>
        </p:spPr>
      </p:pic>
      <p:pic>
        <p:nvPicPr>
          <p:cNvPr id="254" name="Picture 113"/>
          <p:cNvPicPr>
            <a:picLocks noChangeArrowheads="1"/>
          </p:cNvPicPr>
          <p:nvPr/>
        </p:nvPicPr>
        <p:blipFill>
          <a:blip r:embed="rId4" cstate="print"/>
          <a:srcRect/>
          <a:stretch>
            <a:fillRect/>
          </a:stretch>
        </p:blipFill>
        <p:spPr bwMode="auto">
          <a:xfrm>
            <a:off x="3653148" y="3689852"/>
            <a:ext cx="520700" cy="287338"/>
          </a:xfrm>
          <a:prstGeom prst="rect">
            <a:avLst/>
          </a:prstGeom>
          <a:noFill/>
          <a:ln w="12699">
            <a:noFill/>
            <a:miter lim="800000"/>
            <a:headEnd/>
            <a:tailEnd/>
          </a:ln>
        </p:spPr>
      </p:pic>
      <p:pic>
        <p:nvPicPr>
          <p:cNvPr id="255" name="Picture 113"/>
          <p:cNvPicPr>
            <a:picLocks noChangeArrowheads="1"/>
          </p:cNvPicPr>
          <p:nvPr/>
        </p:nvPicPr>
        <p:blipFill>
          <a:blip r:embed="rId4" cstate="print"/>
          <a:srcRect/>
          <a:stretch>
            <a:fillRect/>
          </a:stretch>
        </p:blipFill>
        <p:spPr bwMode="auto">
          <a:xfrm>
            <a:off x="2774921" y="2594328"/>
            <a:ext cx="351656" cy="144016"/>
          </a:xfrm>
          <a:prstGeom prst="rect">
            <a:avLst/>
          </a:prstGeom>
          <a:noFill/>
          <a:ln w="12699">
            <a:noFill/>
            <a:miter lim="800000"/>
            <a:headEnd/>
            <a:tailEnd/>
          </a:ln>
        </p:spPr>
      </p:pic>
      <p:sp>
        <p:nvSpPr>
          <p:cNvPr id="256" name="矩形 255"/>
          <p:cNvSpPr/>
          <p:nvPr/>
        </p:nvSpPr>
        <p:spPr>
          <a:xfrm>
            <a:off x="2842737" y="3314408"/>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7" name="直接连接符 256"/>
          <p:cNvCxnSpPr/>
          <p:nvPr/>
        </p:nvCxnSpPr>
        <p:spPr>
          <a:xfrm>
            <a:off x="2842737" y="3372014"/>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a:off x="2842737" y="3429621"/>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a:off x="2842737" y="3493934"/>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a:off x="2842737" y="3544834"/>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2950749" y="3323990"/>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62" name="椭圆 261"/>
          <p:cNvSpPr/>
          <p:nvPr/>
        </p:nvSpPr>
        <p:spPr>
          <a:xfrm>
            <a:off x="2771800" y="2804867"/>
            <a:ext cx="357899" cy="144016"/>
          </a:xfrm>
          <a:prstGeom prst="ellipse">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4" name="Picture 113"/>
          <p:cNvPicPr>
            <a:picLocks noChangeArrowheads="1"/>
          </p:cNvPicPr>
          <p:nvPr/>
        </p:nvPicPr>
        <p:blipFill>
          <a:blip r:embed="rId4" cstate="print"/>
          <a:srcRect/>
          <a:stretch>
            <a:fillRect/>
          </a:stretch>
        </p:blipFill>
        <p:spPr bwMode="auto">
          <a:xfrm>
            <a:off x="3641158" y="2001830"/>
            <a:ext cx="351656" cy="144016"/>
          </a:xfrm>
          <a:prstGeom prst="rect">
            <a:avLst/>
          </a:prstGeom>
          <a:noFill/>
          <a:ln w="12699">
            <a:noFill/>
            <a:miter lim="800000"/>
            <a:headEnd/>
            <a:tailEnd/>
          </a:ln>
        </p:spPr>
      </p:pic>
      <p:sp>
        <p:nvSpPr>
          <p:cNvPr id="265" name="矩形 264"/>
          <p:cNvSpPr/>
          <p:nvPr/>
        </p:nvSpPr>
        <p:spPr>
          <a:xfrm>
            <a:off x="3708974" y="3119674"/>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6" name="直接连接符 265"/>
          <p:cNvCxnSpPr/>
          <p:nvPr/>
        </p:nvCxnSpPr>
        <p:spPr>
          <a:xfrm>
            <a:off x="3708974" y="317728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3708974" y="3234887"/>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a:off x="3708974" y="329920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a:xfrm>
            <a:off x="3708974" y="335010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a:off x="3816986" y="3129256"/>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71" name="椭圆 270"/>
          <p:cNvSpPr/>
          <p:nvPr/>
        </p:nvSpPr>
        <p:spPr>
          <a:xfrm>
            <a:off x="3638037" y="2212369"/>
            <a:ext cx="357899" cy="144016"/>
          </a:xfrm>
          <a:prstGeom prst="ellipse">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3" name="Picture 113"/>
          <p:cNvPicPr>
            <a:picLocks noChangeArrowheads="1"/>
          </p:cNvPicPr>
          <p:nvPr/>
        </p:nvPicPr>
        <p:blipFill>
          <a:blip r:embed="rId4" cstate="print"/>
          <a:srcRect/>
          <a:stretch>
            <a:fillRect/>
          </a:stretch>
        </p:blipFill>
        <p:spPr bwMode="auto">
          <a:xfrm>
            <a:off x="4361238" y="2543534"/>
            <a:ext cx="351656" cy="144016"/>
          </a:xfrm>
          <a:prstGeom prst="rect">
            <a:avLst/>
          </a:prstGeom>
          <a:noFill/>
          <a:ln w="12699">
            <a:noFill/>
            <a:miter lim="800000"/>
            <a:headEnd/>
            <a:tailEnd/>
          </a:ln>
        </p:spPr>
      </p:pic>
      <p:sp>
        <p:nvSpPr>
          <p:cNvPr id="274" name="矩形 273"/>
          <p:cNvSpPr/>
          <p:nvPr/>
        </p:nvSpPr>
        <p:spPr>
          <a:xfrm>
            <a:off x="4429054" y="3263614"/>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5" name="直接连接符 274"/>
          <p:cNvCxnSpPr/>
          <p:nvPr/>
        </p:nvCxnSpPr>
        <p:spPr>
          <a:xfrm>
            <a:off x="4429054" y="332122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a:off x="4429054" y="3378827"/>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a:off x="4429054" y="344314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a:off x="4429054" y="349404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直接连接符 278"/>
          <p:cNvCxnSpPr/>
          <p:nvPr/>
        </p:nvCxnSpPr>
        <p:spPr>
          <a:xfrm>
            <a:off x="4537066" y="3273196"/>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椭圆 279"/>
          <p:cNvSpPr/>
          <p:nvPr/>
        </p:nvSpPr>
        <p:spPr>
          <a:xfrm>
            <a:off x="4358117" y="2754073"/>
            <a:ext cx="357899" cy="144016"/>
          </a:xfrm>
          <a:prstGeom prst="ellipse">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2" name="Picture 113"/>
          <p:cNvPicPr>
            <a:picLocks noChangeArrowheads="1"/>
          </p:cNvPicPr>
          <p:nvPr/>
        </p:nvPicPr>
        <p:blipFill>
          <a:blip r:embed="rId4" cstate="print"/>
          <a:srcRect/>
          <a:stretch>
            <a:fillRect/>
          </a:stretch>
        </p:blipFill>
        <p:spPr bwMode="auto">
          <a:xfrm>
            <a:off x="5945414" y="2575707"/>
            <a:ext cx="351656" cy="144016"/>
          </a:xfrm>
          <a:prstGeom prst="rect">
            <a:avLst/>
          </a:prstGeom>
          <a:noFill/>
          <a:ln w="12699">
            <a:noFill/>
            <a:miter lim="800000"/>
            <a:headEnd/>
            <a:tailEnd/>
          </a:ln>
        </p:spPr>
      </p:pic>
      <p:sp>
        <p:nvSpPr>
          <p:cNvPr id="283" name="矩形 282"/>
          <p:cNvSpPr/>
          <p:nvPr/>
        </p:nvSpPr>
        <p:spPr>
          <a:xfrm>
            <a:off x="6013230" y="3295787"/>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4" name="直接连接符 283"/>
          <p:cNvCxnSpPr/>
          <p:nvPr/>
        </p:nvCxnSpPr>
        <p:spPr>
          <a:xfrm>
            <a:off x="6013230" y="3353393"/>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p:nvPr/>
        </p:nvCxnSpPr>
        <p:spPr>
          <a:xfrm>
            <a:off x="6013230" y="341100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直接连接符 285"/>
          <p:cNvCxnSpPr/>
          <p:nvPr/>
        </p:nvCxnSpPr>
        <p:spPr>
          <a:xfrm>
            <a:off x="6013230" y="3475313"/>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p:cNvCxnSpPr/>
          <p:nvPr/>
        </p:nvCxnSpPr>
        <p:spPr>
          <a:xfrm>
            <a:off x="6013230" y="3526213"/>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a:off x="6121242" y="3305369"/>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89" name="椭圆 288"/>
          <p:cNvSpPr/>
          <p:nvPr/>
        </p:nvSpPr>
        <p:spPr>
          <a:xfrm>
            <a:off x="5942293" y="2786246"/>
            <a:ext cx="357899" cy="144016"/>
          </a:xfrm>
          <a:prstGeom prst="ellipse">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1" name="Picture 113"/>
          <p:cNvPicPr>
            <a:picLocks noChangeArrowheads="1"/>
          </p:cNvPicPr>
          <p:nvPr/>
        </p:nvPicPr>
        <p:blipFill>
          <a:blip r:embed="rId4" cstate="print"/>
          <a:srcRect/>
          <a:stretch>
            <a:fillRect/>
          </a:stretch>
        </p:blipFill>
        <p:spPr bwMode="auto">
          <a:xfrm>
            <a:off x="5009310" y="2204864"/>
            <a:ext cx="351656" cy="144016"/>
          </a:xfrm>
          <a:prstGeom prst="rect">
            <a:avLst/>
          </a:prstGeom>
          <a:noFill/>
          <a:ln w="12699">
            <a:noFill/>
            <a:miter lim="800000"/>
            <a:headEnd/>
            <a:tailEnd/>
          </a:ln>
        </p:spPr>
      </p:pic>
      <p:sp>
        <p:nvSpPr>
          <p:cNvPr id="292" name="矩形 291"/>
          <p:cNvSpPr/>
          <p:nvPr/>
        </p:nvSpPr>
        <p:spPr>
          <a:xfrm>
            <a:off x="5077126" y="3252204"/>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3" name="直接连接符 292"/>
          <p:cNvCxnSpPr/>
          <p:nvPr/>
        </p:nvCxnSpPr>
        <p:spPr>
          <a:xfrm>
            <a:off x="5077126" y="330981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p:nvPr/>
        </p:nvCxnSpPr>
        <p:spPr>
          <a:xfrm>
            <a:off x="5077126" y="3367417"/>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直接连接符 294"/>
          <p:cNvCxnSpPr/>
          <p:nvPr/>
        </p:nvCxnSpPr>
        <p:spPr>
          <a:xfrm>
            <a:off x="5077126" y="343173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p:nvPr/>
        </p:nvCxnSpPr>
        <p:spPr>
          <a:xfrm>
            <a:off x="5077126" y="3482630"/>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a:off x="5185138" y="3261786"/>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98" name="椭圆 297"/>
          <p:cNvSpPr/>
          <p:nvPr/>
        </p:nvSpPr>
        <p:spPr>
          <a:xfrm>
            <a:off x="5006189" y="2415403"/>
            <a:ext cx="357899" cy="144016"/>
          </a:xfrm>
          <a:prstGeom prst="ellipse">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0" name="TextBox 175"/>
          <p:cNvSpPr txBox="1"/>
          <p:nvPr/>
        </p:nvSpPr>
        <p:spPr>
          <a:xfrm>
            <a:off x="2040278" y="2576989"/>
            <a:ext cx="390488" cy="415498"/>
          </a:xfrm>
          <a:prstGeom prst="rect">
            <a:avLst/>
          </a:prstGeom>
          <a:noFill/>
        </p:spPr>
        <p:txBody>
          <a:bodyPr wrap="square" lIns="0" rIns="0" rtlCol="0">
            <a:spAutoFit/>
          </a:bodyPr>
          <a:lstStyle/>
          <a:p>
            <a:pPr algn="ctr"/>
            <a:r>
              <a:rPr lang="zh-CN" altLang="en-US" sz="1050" b="1" kern="0" dirty="0">
                <a:solidFill>
                  <a:srgbClr val="000000"/>
                </a:solidFill>
                <a:latin typeface="微软雅黑" panose="020B0503020204020204" pitchFamily="34" charset="-122"/>
                <a:ea typeface="微软雅黑" panose="020B0503020204020204" pitchFamily="34" charset="-122"/>
              </a:rPr>
              <a:t>路由</a:t>
            </a:r>
            <a:endParaRPr lang="en-US" altLang="zh-CN" sz="1050" b="1" kern="0" dirty="0">
              <a:solidFill>
                <a:srgbClr val="000000"/>
              </a:solidFill>
              <a:latin typeface="微软雅黑" panose="020B0503020204020204" pitchFamily="34" charset="-122"/>
              <a:ea typeface="微软雅黑" panose="020B0503020204020204" pitchFamily="34" charset="-122"/>
            </a:endParaRPr>
          </a:p>
          <a:p>
            <a:pPr algn="ctr"/>
            <a:r>
              <a:rPr lang="zh-CN" altLang="en-US" sz="1050" b="1" kern="0" dirty="0">
                <a:solidFill>
                  <a:srgbClr val="000000"/>
                </a:solidFill>
                <a:latin typeface="微软雅黑" panose="020B0503020204020204" pitchFamily="34" charset="-122"/>
                <a:ea typeface="微软雅黑" panose="020B0503020204020204" pitchFamily="34" charset="-122"/>
              </a:rPr>
              <a:t>算法</a:t>
            </a:r>
          </a:p>
        </p:txBody>
      </p:sp>
      <p:sp>
        <p:nvSpPr>
          <p:cNvPr id="301" name="TextBox 176"/>
          <p:cNvSpPr txBox="1"/>
          <p:nvPr/>
        </p:nvSpPr>
        <p:spPr>
          <a:xfrm>
            <a:off x="1890054" y="3280704"/>
            <a:ext cx="620295" cy="253916"/>
          </a:xfrm>
          <a:prstGeom prst="rect">
            <a:avLst/>
          </a:prstGeom>
          <a:noFill/>
        </p:spPr>
        <p:txBody>
          <a:bodyPr wrap="square" rtlCol="0">
            <a:spAutoFit/>
          </a:bodyPr>
          <a:lstStyle/>
          <a:p>
            <a:pPr algn="ctr"/>
            <a:r>
              <a:rPr lang="zh-CN" altLang="en-US" sz="1050" b="1" kern="0" dirty="0" smtClean="0">
                <a:solidFill>
                  <a:srgbClr val="000000"/>
                </a:solidFill>
                <a:latin typeface="微软雅黑" panose="020B0503020204020204" pitchFamily="34" charset="-122"/>
                <a:ea typeface="微软雅黑" panose="020B0503020204020204" pitchFamily="34" charset="-122"/>
              </a:rPr>
              <a:t>转发表</a:t>
            </a:r>
            <a:endParaRPr lang="zh-CN" altLang="en-US" sz="1050" b="1" kern="0" dirty="0">
              <a:solidFill>
                <a:srgbClr val="000000"/>
              </a:solidFill>
              <a:latin typeface="微软雅黑" panose="020B0503020204020204" pitchFamily="34" charset="-122"/>
              <a:ea typeface="微软雅黑" panose="020B0503020204020204" pitchFamily="34" charset="-122"/>
            </a:endParaRPr>
          </a:p>
        </p:txBody>
      </p:sp>
      <p:cxnSp>
        <p:nvCxnSpPr>
          <p:cNvPr id="302" name="直接箭头连接符 301"/>
          <p:cNvCxnSpPr>
            <a:stCxn id="309" idx="2"/>
          </p:cNvCxnSpPr>
          <p:nvPr/>
        </p:nvCxnSpPr>
        <p:spPr>
          <a:xfrm>
            <a:off x="2948233" y="3669992"/>
            <a:ext cx="111599" cy="551096"/>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3" name="直接箭头连接符 302"/>
          <p:cNvCxnSpPr>
            <a:stCxn id="311" idx="2"/>
            <a:endCxn id="253" idx="0"/>
          </p:cNvCxnSpPr>
          <p:nvPr/>
        </p:nvCxnSpPr>
        <p:spPr>
          <a:xfrm>
            <a:off x="6114012" y="3655827"/>
            <a:ext cx="86763" cy="638361"/>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4" name="直接箭头连接符 303"/>
          <p:cNvCxnSpPr>
            <a:stCxn id="313" idx="2"/>
          </p:cNvCxnSpPr>
          <p:nvPr/>
        </p:nvCxnSpPr>
        <p:spPr>
          <a:xfrm flipH="1">
            <a:off x="5151748" y="3645023"/>
            <a:ext cx="22797" cy="469777"/>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5" name="直接箭头连接符 304"/>
          <p:cNvCxnSpPr>
            <a:stCxn id="312" idx="2"/>
          </p:cNvCxnSpPr>
          <p:nvPr/>
        </p:nvCxnSpPr>
        <p:spPr>
          <a:xfrm>
            <a:off x="4531936" y="3607394"/>
            <a:ext cx="40064" cy="884478"/>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6" name="直接箭头连接符 305"/>
          <p:cNvCxnSpPr>
            <a:stCxn id="310" idx="2"/>
            <a:endCxn id="254" idx="0"/>
          </p:cNvCxnSpPr>
          <p:nvPr/>
        </p:nvCxnSpPr>
        <p:spPr>
          <a:xfrm>
            <a:off x="3806072" y="3443141"/>
            <a:ext cx="107426" cy="246711"/>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7" name="直接箭头连接符 306"/>
          <p:cNvCxnSpPr/>
          <p:nvPr/>
        </p:nvCxnSpPr>
        <p:spPr>
          <a:xfrm>
            <a:off x="2438859" y="3415663"/>
            <a:ext cx="393896" cy="8898"/>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308" name="直接箭头连接符 307"/>
          <p:cNvCxnSpPr>
            <a:stCxn id="300" idx="3"/>
            <a:endCxn id="262" idx="2"/>
          </p:cNvCxnSpPr>
          <p:nvPr/>
        </p:nvCxnSpPr>
        <p:spPr>
          <a:xfrm>
            <a:off x="2430766" y="2784738"/>
            <a:ext cx="341034" cy="92137"/>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309" name="矩形 308"/>
          <p:cNvSpPr/>
          <p:nvPr/>
        </p:nvSpPr>
        <p:spPr>
          <a:xfrm>
            <a:off x="2733772" y="2571769"/>
            <a:ext cx="428921" cy="1098223"/>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0" name="矩形 309"/>
          <p:cNvSpPr/>
          <p:nvPr/>
        </p:nvSpPr>
        <p:spPr>
          <a:xfrm>
            <a:off x="3591611" y="1976893"/>
            <a:ext cx="428921" cy="1466248"/>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1" name="矩形 310"/>
          <p:cNvSpPr/>
          <p:nvPr/>
        </p:nvSpPr>
        <p:spPr>
          <a:xfrm>
            <a:off x="5899551" y="2557604"/>
            <a:ext cx="428921" cy="1098223"/>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2" name="矩形 311"/>
          <p:cNvSpPr/>
          <p:nvPr/>
        </p:nvSpPr>
        <p:spPr>
          <a:xfrm>
            <a:off x="4317475" y="2509171"/>
            <a:ext cx="428921" cy="1098223"/>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3" name="矩形 312"/>
          <p:cNvSpPr/>
          <p:nvPr/>
        </p:nvSpPr>
        <p:spPr>
          <a:xfrm>
            <a:off x="4960084" y="2174421"/>
            <a:ext cx="428921" cy="147060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5" name="Straight Arrow Connector 405">
            <a:extLst>
              <a:ext uri="{FF2B5EF4-FFF2-40B4-BE49-F238E27FC236}">
                <a16:creationId xmlns:a16="http://schemas.microsoft.com/office/drawing/2014/main" id="{286126FC-663F-E140-85FF-EA643857EAAB}"/>
              </a:ext>
            </a:extLst>
          </p:cNvPr>
          <p:cNvCxnSpPr>
            <a:endCxn id="289" idx="1"/>
          </p:cNvCxnSpPr>
          <p:nvPr/>
        </p:nvCxnSpPr>
        <p:spPr bwMode="auto">
          <a:xfrm>
            <a:off x="5367659" y="2486005"/>
            <a:ext cx="627047" cy="321332"/>
          </a:xfrm>
          <a:prstGeom prst="straightConnector1">
            <a:avLst/>
          </a:prstGeom>
          <a:noFill/>
          <a:ln w="19050" cap="flat" cmpd="sng" algn="ctr">
            <a:solidFill>
              <a:srgbClr val="CC0000"/>
            </a:solidFill>
            <a:prstDash val="solid"/>
            <a:headEnd type="triangle"/>
            <a:tailEnd type="triangle"/>
          </a:ln>
          <a:effectLst/>
        </p:spPr>
      </p:cxnSp>
      <p:cxnSp>
        <p:nvCxnSpPr>
          <p:cNvPr id="318" name="Straight Arrow Connector 405">
            <a:extLst>
              <a:ext uri="{FF2B5EF4-FFF2-40B4-BE49-F238E27FC236}">
                <a16:creationId xmlns:a16="http://schemas.microsoft.com/office/drawing/2014/main" id="{286126FC-663F-E140-85FF-EA643857EAAB}"/>
              </a:ext>
            </a:extLst>
          </p:cNvPr>
          <p:cNvCxnSpPr>
            <a:stCxn id="280" idx="6"/>
            <a:endCxn id="289" idx="3"/>
          </p:cNvCxnSpPr>
          <p:nvPr/>
        </p:nvCxnSpPr>
        <p:spPr bwMode="auto">
          <a:xfrm>
            <a:off x="4716016" y="2826081"/>
            <a:ext cx="1278690" cy="83090"/>
          </a:xfrm>
          <a:prstGeom prst="straightConnector1">
            <a:avLst/>
          </a:prstGeom>
          <a:noFill/>
          <a:ln w="19050" cap="flat" cmpd="sng" algn="ctr">
            <a:solidFill>
              <a:srgbClr val="CC0000"/>
            </a:solidFill>
            <a:prstDash val="solid"/>
            <a:headEnd type="triangle"/>
            <a:tailEnd type="triangle"/>
          </a:ln>
          <a:effectLst/>
        </p:spPr>
      </p:cxnSp>
      <p:cxnSp>
        <p:nvCxnSpPr>
          <p:cNvPr id="323" name="Straight Arrow Connector 405">
            <a:extLst>
              <a:ext uri="{FF2B5EF4-FFF2-40B4-BE49-F238E27FC236}">
                <a16:creationId xmlns:a16="http://schemas.microsoft.com/office/drawing/2014/main" id="{286126FC-663F-E140-85FF-EA643857EAAB}"/>
              </a:ext>
            </a:extLst>
          </p:cNvPr>
          <p:cNvCxnSpPr>
            <a:stCxn id="271" idx="6"/>
            <a:endCxn id="289" idx="2"/>
          </p:cNvCxnSpPr>
          <p:nvPr/>
        </p:nvCxnSpPr>
        <p:spPr bwMode="auto">
          <a:xfrm>
            <a:off x="3995936" y="2284377"/>
            <a:ext cx="1946357" cy="573877"/>
          </a:xfrm>
          <a:prstGeom prst="straightConnector1">
            <a:avLst/>
          </a:prstGeom>
          <a:noFill/>
          <a:ln w="19050" cap="flat" cmpd="sng" algn="ctr">
            <a:solidFill>
              <a:srgbClr val="CC0000"/>
            </a:solidFill>
            <a:prstDash val="solid"/>
            <a:headEnd type="triangle"/>
            <a:tailEnd type="triangle"/>
          </a:ln>
          <a:effectLst/>
        </p:spPr>
      </p:cxnSp>
      <p:cxnSp>
        <p:nvCxnSpPr>
          <p:cNvPr id="326" name="Straight Arrow Connector 405">
            <a:extLst>
              <a:ext uri="{FF2B5EF4-FFF2-40B4-BE49-F238E27FC236}">
                <a16:creationId xmlns:a16="http://schemas.microsoft.com/office/drawing/2014/main" id="{286126FC-663F-E140-85FF-EA643857EAAB}"/>
              </a:ext>
            </a:extLst>
          </p:cNvPr>
          <p:cNvCxnSpPr>
            <a:stCxn id="271" idx="5"/>
            <a:endCxn id="280" idx="2"/>
          </p:cNvCxnSpPr>
          <p:nvPr/>
        </p:nvCxnSpPr>
        <p:spPr bwMode="auto">
          <a:xfrm>
            <a:off x="3943523" y="2335294"/>
            <a:ext cx="414594" cy="490787"/>
          </a:xfrm>
          <a:prstGeom prst="straightConnector1">
            <a:avLst/>
          </a:prstGeom>
          <a:noFill/>
          <a:ln w="19050" cap="flat" cmpd="sng" algn="ctr">
            <a:solidFill>
              <a:srgbClr val="CC0000"/>
            </a:solidFill>
            <a:prstDash val="solid"/>
            <a:headEnd type="triangle"/>
            <a:tailEnd type="triangle"/>
          </a:ln>
          <a:effectLst/>
        </p:spPr>
      </p:cxnSp>
      <p:cxnSp>
        <p:nvCxnSpPr>
          <p:cNvPr id="329" name="Straight Arrow Connector 405">
            <a:extLst>
              <a:ext uri="{FF2B5EF4-FFF2-40B4-BE49-F238E27FC236}">
                <a16:creationId xmlns:a16="http://schemas.microsoft.com/office/drawing/2014/main" id="{286126FC-663F-E140-85FF-EA643857EAAB}"/>
              </a:ext>
            </a:extLst>
          </p:cNvPr>
          <p:cNvCxnSpPr/>
          <p:nvPr/>
        </p:nvCxnSpPr>
        <p:spPr bwMode="auto">
          <a:xfrm flipV="1">
            <a:off x="3140863" y="2853030"/>
            <a:ext cx="1210742" cy="39870"/>
          </a:xfrm>
          <a:prstGeom prst="straightConnector1">
            <a:avLst/>
          </a:prstGeom>
          <a:noFill/>
          <a:ln w="19050" cap="flat" cmpd="sng" algn="ctr">
            <a:solidFill>
              <a:srgbClr val="CC0000"/>
            </a:solidFill>
            <a:prstDash val="solid"/>
            <a:headEnd type="triangle"/>
            <a:tailEnd type="triangle"/>
          </a:ln>
          <a:effectLst/>
        </p:spPr>
      </p:cxnSp>
      <p:cxnSp>
        <p:nvCxnSpPr>
          <p:cNvPr id="332" name="Straight Arrow Connector 405">
            <a:extLst>
              <a:ext uri="{FF2B5EF4-FFF2-40B4-BE49-F238E27FC236}">
                <a16:creationId xmlns:a16="http://schemas.microsoft.com/office/drawing/2014/main" id="{286126FC-663F-E140-85FF-EA643857EAAB}"/>
              </a:ext>
            </a:extLst>
          </p:cNvPr>
          <p:cNvCxnSpPr>
            <a:endCxn id="298" idx="2"/>
          </p:cNvCxnSpPr>
          <p:nvPr/>
        </p:nvCxnSpPr>
        <p:spPr bwMode="auto">
          <a:xfrm flipV="1">
            <a:off x="4727382" y="2487411"/>
            <a:ext cx="278807" cy="327225"/>
          </a:xfrm>
          <a:prstGeom prst="straightConnector1">
            <a:avLst/>
          </a:prstGeom>
          <a:noFill/>
          <a:ln w="19050" cap="flat" cmpd="sng" algn="ctr">
            <a:solidFill>
              <a:srgbClr val="CC0000"/>
            </a:solidFill>
            <a:prstDash val="solid"/>
            <a:headEnd type="triangle"/>
            <a:tailEnd type="triangle"/>
          </a:ln>
          <a:effectLst/>
        </p:spPr>
      </p:cxnSp>
      <p:cxnSp>
        <p:nvCxnSpPr>
          <p:cNvPr id="335" name="Straight Arrow Connector 405">
            <a:extLst>
              <a:ext uri="{FF2B5EF4-FFF2-40B4-BE49-F238E27FC236}">
                <a16:creationId xmlns:a16="http://schemas.microsoft.com/office/drawing/2014/main" id="{286126FC-663F-E140-85FF-EA643857EAAB}"/>
              </a:ext>
            </a:extLst>
          </p:cNvPr>
          <p:cNvCxnSpPr>
            <a:stCxn id="271" idx="7"/>
            <a:endCxn id="298" idx="2"/>
          </p:cNvCxnSpPr>
          <p:nvPr/>
        </p:nvCxnSpPr>
        <p:spPr bwMode="auto">
          <a:xfrm>
            <a:off x="3943523" y="2233460"/>
            <a:ext cx="1062666" cy="253951"/>
          </a:xfrm>
          <a:prstGeom prst="straightConnector1">
            <a:avLst/>
          </a:prstGeom>
          <a:noFill/>
          <a:ln w="19050" cap="flat" cmpd="sng" algn="ctr">
            <a:solidFill>
              <a:srgbClr val="CC0000"/>
            </a:solidFill>
            <a:prstDash val="solid"/>
            <a:headEnd type="triangle"/>
            <a:tailEnd type="triangle"/>
          </a:ln>
          <a:effectLst/>
        </p:spPr>
      </p:cxnSp>
      <p:cxnSp>
        <p:nvCxnSpPr>
          <p:cNvPr id="338" name="Straight Arrow Connector 405">
            <a:extLst>
              <a:ext uri="{FF2B5EF4-FFF2-40B4-BE49-F238E27FC236}">
                <a16:creationId xmlns:a16="http://schemas.microsoft.com/office/drawing/2014/main" id="{286126FC-663F-E140-85FF-EA643857EAAB}"/>
              </a:ext>
            </a:extLst>
          </p:cNvPr>
          <p:cNvCxnSpPr/>
          <p:nvPr/>
        </p:nvCxnSpPr>
        <p:spPr bwMode="auto">
          <a:xfrm flipV="1">
            <a:off x="3159201" y="2497532"/>
            <a:ext cx="1786335" cy="358448"/>
          </a:xfrm>
          <a:prstGeom prst="straightConnector1">
            <a:avLst/>
          </a:prstGeom>
          <a:noFill/>
          <a:ln w="19050" cap="flat" cmpd="sng" algn="ctr">
            <a:solidFill>
              <a:srgbClr val="CC0000"/>
            </a:solidFill>
            <a:prstDash val="solid"/>
            <a:headEnd type="triangle"/>
            <a:tailEnd type="triangle"/>
          </a:ln>
          <a:effectLst/>
        </p:spPr>
      </p:cxnSp>
      <p:cxnSp>
        <p:nvCxnSpPr>
          <p:cNvPr id="350" name="Straight Connector 417">
            <a:extLst>
              <a:ext uri="{FF2B5EF4-FFF2-40B4-BE49-F238E27FC236}">
                <a16:creationId xmlns:a16="http://schemas.microsoft.com/office/drawing/2014/main" id="{61FEE5A3-FA87-164D-B072-015586DE3B9B}"/>
              </a:ext>
            </a:extLst>
          </p:cNvPr>
          <p:cNvCxnSpPr/>
          <p:nvPr/>
        </p:nvCxnSpPr>
        <p:spPr bwMode="auto">
          <a:xfrm>
            <a:off x="2065043" y="2998613"/>
            <a:ext cx="4924852" cy="3131"/>
          </a:xfrm>
          <a:prstGeom prst="line">
            <a:avLst/>
          </a:prstGeom>
          <a:noFill/>
          <a:ln w="25400" cap="flat" cmpd="sng" algn="ctr">
            <a:solidFill>
              <a:srgbClr val="000000"/>
            </a:solidFill>
            <a:prstDash val="dash"/>
          </a:ln>
          <a:effectLst/>
        </p:spPr>
      </p:cxnSp>
      <p:sp>
        <p:nvSpPr>
          <p:cNvPr id="361" name="TextBox 232">
            <a:extLst>
              <a:ext uri="{FF2B5EF4-FFF2-40B4-BE49-F238E27FC236}">
                <a16:creationId xmlns:a16="http://schemas.microsoft.com/office/drawing/2014/main" id="{97D7EB84-BAC0-D448-A55F-A56C30BB6A4D}"/>
              </a:ext>
            </a:extLst>
          </p:cNvPr>
          <p:cNvSpPr txBox="1">
            <a:spLocks noChangeArrowheads="1"/>
          </p:cNvSpPr>
          <p:nvPr/>
        </p:nvSpPr>
        <p:spPr bwMode="auto">
          <a:xfrm>
            <a:off x="6305905" y="3041791"/>
            <a:ext cx="723275" cy="2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097"/>
              </a:lnSpc>
              <a:spcBef>
                <a:spcPct val="0"/>
              </a:spcBef>
              <a:spcAft>
                <a:spcPct val="0"/>
              </a:spcAft>
              <a:defRPr/>
            </a:pPr>
            <a:r>
              <a:rPr lang="zh-CN" altLang="en-US" sz="1050" b="1" kern="0" dirty="0">
                <a:solidFill>
                  <a:srgbClr val="000000"/>
                </a:solidFill>
                <a:latin typeface="微软雅黑" panose="020B0503020204020204" pitchFamily="34" charset="-122"/>
                <a:ea typeface="微软雅黑" panose="020B0503020204020204" pitchFamily="34" charset="-122"/>
              </a:rPr>
              <a:t>数据平面</a:t>
            </a:r>
            <a:endParaRPr lang="en-US" altLang="en-US" sz="1050" b="1" kern="0" dirty="0">
              <a:solidFill>
                <a:srgbClr val="000000"/>
              </a:solidFill>
              <a:latin typeface="微软雅黑" panose="020B0503020204020204" pitchFamily="34" charset="-122"/>
              <a:ea typeface="微软雅黑" panose="020B0503020204020204" pitchFamily="34" charset="-122"/>
            </a:endParaRPr>
          </a:p>
        </p:txBody>
      </p:sp>
      <p:sp>
        <p:nvSpPr>
          <p:cNvPr id="362" name="TextBox 233">
            <a:extLst>
              <a:ext uri="{FF2B5EF4-FFF2-40B4-BE49-F238E27FC236}">
                <a16:creationId xmlns:a16="http://schemas.microsoft.com/office/drawing/2014/main" id="{24A4F1C7-4BF4-EB42-A291-47BAC2502CDB}"/>
              </a:ext>
            </a:extLst>
          </p:cNvPr>
          <p:cNvSpPr txBox="1">
            <a:spLocks noChangeArrowheads="1"/>
          </p:cNvSpPr>
          <p:nvPr/>
        </p:nvSpPr>
        <p:spPr bwMode="auto">
          <a:xfrm>
            <a:off x="6296974" y="2609594"/>
            <a:ext cx="723275" cy="2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685800" eaLnBrk="0" fontAlgn="base" hangingPunct="0">
              <a:lnSpc>
                <a:spcPts val="1097"/>
              </a:lnSpc>
              <a:spcBef>
                <a:spcPct val="0"/>
              </a:spcBef>
              <a:spcAft>
                <a:spcPct val="0"/>
              </a:spcAft>
              <a:defRPr/>
            </a:pPr>
            <a:r>
              <a:rPr lang="zh-CN" altLang="en-US" sz="1050" b="1" kern="0" dirty="0">
                <a:solidFill>
                  <a:srgbClr val="000000"/>
                </a:solidFill>
                <a:latin typeface="微软雅黑" panose="020B0503020204020204" pitchFamily="34" charset="-122"/>
                <a:ea typeface="微软雅黑" panose="020B0503020204020204" pitchFamily="34" charset="-122"/>
              </a:rPr>
              <a:t>控制平面</a:t>
            </a:r>
            <a:endParaRPr lang="en-US" altLang="en-US" sz="1050" b="1" kern="0" dirty="0">
              <a:solidFill>
                <a:srgbClr val="000000"/>
              </a:solidFill>
              <a:latin typeface="微软雅黑" panose="020B0503020204020204" pitchFamily="34" charset="-122"/>
              <a:ea typeface="微软雅黑" panose="020B0503020204020204" pitchFamily="34" charset="-122"/>
            </a:endParaRPr>
          </a:p>
        </p:txBody>
      </p:sp>
      <p:sp>
        <p:nvSpPr>
          <p:cNvPr id="263" name="下箭头 262"/>
          <p:cNvSpPr/>
          <p:nvPr/>
        </p:nvSpPr>
        <p:spPr>
          <a:xfrm>
            <a:off x="2914745" y="2948883"/>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2" name="下箭头 271"/>
          <p:cNvSpPr/>
          <p:nvPr/>
        </p:nvSpPr>
        <p:spPr>
          <a:xfrm>
            <a:off x="3780982" y="2356385"/>
            <a:ext cx="70601" cy="76329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1" name="下箭头 280"/>
          <p:cNvSpPr/>
          <p:nvPr/>
        </p:nvSpPr>
        <p:spPr>
          <a:xfrm>
            <a:off x="4501062" y="2898089"/>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0" name="下箭头 289"/>
          <p:cNvSpPr/>
          <p:nvPr/>
        </p:nvSpPr>
        <p:spPr>
          <a:xfrm>
            <a:off x="6085238" y="2930262"/>
            <a:ext cx="72008" cy="360040"/>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9" name="下箭头 298"/>
          <p:cNvSpPr/>
          <p:nvPr/>
        </p:nvSpPr>
        <p:spPr>
          <a:xfrm>
            <a:off x="5154084" y="2559418"/>
            <a:ext cx="67057" cy="677365"/>
          </a:xfrm>
          <a:prstGeom prst="downArrow">
            <a:avLst/>
          </a:prstGeom>
          <a:solidFill>
            <a:schemeClr val="bg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42160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wipe(down)">
                                      <p:cBhvr>
                                        <p:cTn id="7" dur="500"/>
                                        <p:tgtEl>
                                          <p:spTgt spid="17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35"/>
                                        </p:tgtEl>
                                        <p:attrNameLst>
                                          <p:attrName>style.visibility</p:attrName>
                                        </p:attrNameLst>
                                      </p:cBhvr>
                                      <p:to>
                                        <p:strVal val="visible"/>
                                      </p:to>
                                    </p:set>
                                    <p:animEffect transition="in" filter="wipe(down)">
                                      <p:cBhvr>
                                        <p:cTn id="11" dur="500"/>
                                        <p:tgtEl>
                                          <p:spTgt spid="335"/>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323"/>
                                        </p:tgtEl>
                                        <p:attrNameLst>
                                          <p:attrName>style.visibility</p:attrName>
                                        </p:attrNameLst>
                                      </p:cBhvr>
                                      <p:to>
                                        <p:strVal val="visible"/>
                                      </p:to>
                                    </p:set>
                                    <p:animEffect transition="in" filter="wipe(down)">
                                      <p:cBhvr>
                                        <p:cTn id="15" dur="500"/>
                                        <p:tgtEl>
                                          <p:spTgt spid="323"/>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26"/>
                                        </p:tgtEl>
                                        <p:attrNameLst>
                                          <p:attrName>style.visibility</p:attrName>
                                        </p:attrNameLst>
                                      </p:cBhvr>
                                      <p:to>
                                        <p:strVal val="visible"/>
                                      </p:to>
                                    </p:set>
                                    <p:animEffect transition="in" filter="wipe(down)">
                                      <p:cBhvr>
                                        <p:cTn id="19" dur="500"/>
                                        <p:tgtEl>
                                          <p:spTgt spid="326"/>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338"/>
                                        </p:tgtEl>
                                        <p:attrNameLst>
                                          <p:attrName>style.visibility</p:attrName>
                                        </p:attrNameLst>
                                      </p:cBhvr>
                                      <p:to>
                                        <p:strVal val="visible"/>
                                      </p:to>
                                    </p:set>
                                    <p:animEffect transition="in" filter="wipe(down)">
                                      <p:cBhvr>
                                        <p:cTn id="23" dur="500"/>
                                        <p:tgtEl>
                                          <p:spTgt spid="338"/>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329"/>
                                        </p:tgtEl>
                                        <p:attrNameLst>
                                          <p:attrName>style.visibility</p:attrName>
                                        </p:attrNameLst>
                                      </p:cBhvr>
                                      <p:to>
                                        <p:strVal val="visible"/>
                                      </p:to>
                                    </p:set>
                                    <p:animEffect transition="in" filter="wipe(down)">
                                      <p:cBhvr>
                                        <p:cTn id="27" dur="500"/>
                                        <p:tgtEl>
                                          <p:spTgt spid="329"/>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332"/>
                                        </p:tgtEl>
                                        <p:attrNameLst>
                                          <p:attrName>style.visibility</p:attrName>
                                        </p:attrNameLst>
                                      </p:cBhvr>
                                      <p:to>
                                        <p:strVal val="visible"/>
                                      </p:to>
                                    </p:set>
                                    <p:animEffect transition="in" filter="wipe(down)">
                                      <p:cBhvr>
                                        <p:cTn id="31" dur="500"/>
                                        <p:tgtEl>
                                          <p:spTgt spid="332"/>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318"/>
                                        </p:tgtEl>
                                        <p:attrNameLst>
                                          <p:attrName>style.visibility</p:attrName>
                                        </p:attrNameLst>
                                      </p:cBhvr>
                                      <p:to>
                                        <p:strVal val="visible"/>
                                      </p:to>
                                    </p:set>
                                    <p:animEffect transition="in" filter="wipe(down)">
                                      <p:cBhvr>
                                        <p:cTn id="35" dur="500"/>
                                        <p:tgtEl>
                                          <p:spTgt spid="318"/>
                                        </p:tgtEl>
                                      </p:cBhvr>
                                    </p:animEffect>
                                  </p:childTnLst>
                                </p:cTn>
                              </p:par>
                            </p:childTnLst>
                          </p:cTn>
                        </p:par>
                        <p:par>
                          <p:cTn id="36" fill="hold">
                            <p:stCondLst>
                              <p:cond delay="4000"/>
                            </p:stCondLst>
                            <p:childTnLst>
                              <p:par>
                                <p:cTn id="37" presetID="22" presetClass="entr" presetSubtype="4" fill="hold" nodeType="afterEffect">
                                  <p:stCondLst>
                                    <p:cond delay="0"/>
                                  </p:stCondLst>
                                  <p:childTnLst>
                                    <p:set>
                                      <p:cBhvr>
                                        <p:cTn id="38" dur="1" fill="hold">
                                          <p:stCondLst>
                                            <p:cond delay="0"/>
                                          </p:stCondLst>
                                        </p:cTn>
                                        <p:tgtEl>
                                          <p:spTgt spid="315"/>
                                        </p:tgtEl>
                                        <p:attrNameLst>
                                          <p:attrName>style.visibility</p:attrName>
                                        </p:attrNameLst>
                                      </p:cBhvr>
                                      <p:to>
                                        <p:strVal val="visible"/>
                                      </p:to>
                                    </p:set>
                                    <p:animEffect transition="in" filter="wipe(down)">
                                      <p:cBhvr>
                                        <p:cTn id="39" dur="500"/>
                                        <p:tgtEl>
                                          <p:spTgt spid="315"/>
                                        </p:tgtEl>
                                      </p:cBhvr>
                                    </p:animEffect>
                                  </p:childTnLst>
                                </p:cTn>
                              </p:par>
                            </p:childTnLst>
                          </p:cTn>
                        </p:par>
                        <p:par>
                          <p:cTn id="40" fill="hold">
                            <p:stCondLst>
                              <p:cond delay="4500"/>
                            </p:stCondLst>
                            <p:childTnLst>
                              <p:par>
                                <p:cTn id="41" presetID="22" presetClass="entr" presetSubtype="1" fill="hold" grpId="0" nodeType="afterEffect">
                                  <p:stCondLst>
                                    <p:cond delay="0"/>
                                  </p:stCondLst>
                                  <p:childTnLst>
                                    <p:set>
                                      <p:cBhvr>
                                        <p:cTn id="42" dur="1" fill="hold">
                                          <p:stCondLst>
                                            <p:cond delay="0"/>
                                          </p:stCondLst>
                                        </p:cTn>
                                        <p:tgtEl>
                                          <p:spTgt spid="263"/>
                                        </p:tgtEl>
                                        <p:attrNameLst>
                                          <p:attrName>style.visibility</p:attrName>
                                        </p:attrNameLst>
                                      </p:cBhvr>
                                      <p:to>
                                        <p:strVal val="visible"/>
                                      </p:to>
                                    </p:set>
                                    <p:animEffect transition="in" filter="wipe(up)">
                                      <p:cBhvr>
                                        <p:cTn id="43" dur="500"/>
                                        <p:tgtEl>
                                          <p:spTgt spid="263"/>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272"/>
                                        </p:tgtEl>
                                        <p:attrNameLst>
                                          <p:attrName>style.visibility</p:attrName>
                                        </p:attrNameLst>
                                      </p:cBhvr>
                                      <p:to>
                                        <p:strVal val="visible"/>
                                      </p:to>
                                    </p:set>
                                    <p:animEffect transition="in" filter="wipe(up)">
                                      <p:cBhvr>
                                        <p:cTn id="46" dur="500"/>
                                        <p:tgtEl>
                                          <p:spTgt spid="272"/>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281"/>
                                        </p:tgtEl>
                                        <p:attrNameLst>
                                          <p:attrName>style.visibility</p:attrName>
                                        </p:attrNameLst>
                                      </p:cBhvr>
                                      <p:to>
                                        <p:strVal val="visible"/>
                                      </p:to>
                                    </p:set>
                                    <p:animEffect transition="in" filter="wipe(up)">
                                      <p:cBhvr>
                                        <p:cTn id="49" dur="500"/>
                                        <p:tgtEl>
                                          <p:spTgt spid="281"/>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99"/>
                                        </p:tgtEl>
                                        <p:attrNameLst>
                                          <p:attrName>style.visibility</p:attrName>
                                        </p:attrNameLst>
                                      </p:cBhvr>
                                      <p:to>
                                        <p:strVal val="visible"/>
                                      </p:to>
                                    </p:set>
                                    <p:animEffect transition="in" filter="wipe(up)">
                                      <p:cBhvr>
                                        <p:cTn id="52" dur="500"/>
                                        <p:tgtEl>
                                          <p:spTgt spid="299"/>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290"/>
                                        </p:tgtEl>
                                        <p:attrNameLst>
                                          <p:attrName>style.visibility</p:attrName>
                                        </p:attrNameLst>
                                      </p:cBhvr>
                                      <p:to>
                                        <p:strVal val="visible"/>
                                      </p:to>
                                    </p:set>
                                    <p:animEffect transition="in" filter="wipe(up)">
                                      <p:cBhvr>
                                        <p:cTn id="55" dur="500"/>
                                        <p:tgtEl>
                                          <p:spTgt spid="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animBg="1"/>
      <p:bldP spid="272" grpId="0" animBg="1"/>
      <p:bldP spid="281" grpId="0" animBg="1"/>
      <p:bldP spid="290" grpId="0" animBg="1"/>
      <p:bldP spid="2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存在的问题</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20955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网络</a:t>
            </a:r>
            <a:r>
              <a:rPr lang="zh-CN" altLang="en-US" sz="2000" b="1" dirty="0">
                <a:solidFill>
                  <a:srgbClr val="C00000"/>
                </a:solidFill>
                <a:latin typeface="微软雅黑" pitchFamily="34" charset="-122"/>
                <a:ea typeface="微软雅黑" pitchFamily="34" charset="-122"/>
              </a:rPr>
              <a:t>设备功能</a:t>
            </a:r>
            <a:r>
              <a:rPr lang="zh-CN" altLang="en-US" sz="2000" b="1" dirty="0" smtClean="0">
                <a:solidFill>
                  <a:srgbClr val="C00000"/>
                </a:solidFill>
                <a:latin typeface="微软雅黑" pitchFamily="34" charset="-122"/>
                <a:ea typeface="微软雅黑" pitchFamily="34" charset="-122"/>
              </a:rPr>
              <a:t>固化</a:t>
            </a:r>
            <a:endParaRPr lang="en-US" altLang="zh-CN" sz="2000" b="1" dirty="0" smtClean="0">
              <a:solidFill>
                <a:srgbClr val="C00000"/>
              </a:solidFill>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设备</a:t>
            </a:r>
            <a:r>
              <a:rPr lang="zh-CN" altLang="en-US" b="1" dirty="0">
                <a:latin typeface="微软雅黑" pitchFamily="34" charset="-122"/>
                <a:ea typeface="微软雅黑" pitchFamily="34" charset="-122"/>
              </a:rPr>
              <a:t>功能由厂商预设，用户无法自定义分组的处理逻辑。增加新功能往往需要更换硬件或者等待厂商更新固件，导致功能升级困难。</a:t>
            </a:r>
          </a:p>
          <a:p>
            <a:pPr marL="285750" indent="-28575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网络</a:t>
            </a:r>
            <a:r>
              <a:rPr lang="zh-CN" altLang="en-US" sz="2000" b="1" dirty="0">
                <a:solidFill>
                  <a:srgbClr val="C00000"/>
                </a:solidFill>
                <a:latin typeface="微软雅黑" pitchFamily="34" charset="-122"/>
                <a:ea typeface="微软雅黑" pitchFamily="34" charset="-122"/>
              </a:rPr>
              <a:t>运维管理</a:t>
            </a:r>
            <a:r>
              <a:rPr lang="zh-CN" altLang="en-US" sz="2000" b="1" dirty="0" smtClean="0">
                <a:solidFill>
                  <a:srgbClr val="C00000"/>
                </a:solidFill>
                <a:latin typeface="微软雅黑" pitchFamily="34" charset="-122"/>
                <a:ea typeface="微软雅黑" pitchFamily="34" charset="-122"/>
              </a:rPr>
              <a:t>复杂</a:t>
            </a:r>
            <a:endParaRPr lang="en-US" altLang="zh-CN" sz="2000" b="1" dirty="0" smtClean="0">
              <a:solidFill>
                <a:srgbClr val="C00000"/>
              </a:solidFill>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网络</a:t>
            </a:r>
            <a:r>
              <a:rPr lang="zh-CN" altLang="en-US" b="1" dirty="0">
                <a:latin typeface="微软雅黑" pitchFamily="34" charset="-122"/>
                <a:ea typeface="微软雅黑" pitchFamily="34" charset="-122"/>
              </a:rPr>
              <a:t>缺乏可编程能力</a:t>
            </a:r>
            <a:r>
              <a:rPr lang="zh-CN" altLang="en-US" b="1" dirty="0" smtClean="0">
                <a:latin typeface="微软雅黑" pitchFamily="34" charset="-122"/>
                <a:ea typeface="微软雅黑" pitchFamily="34" charset="-122"/>
              </a:rPr>
              <a:t>，</a:t>
            </a:r>
            <a:r>
              <a:rPr lang="zh-CN" altLang="en-US" b="1" dirty="0">
                <a:latin typeface="微软雅黑" pitchFamily="34" charset="-122"/>
                <a:ea typeface="微软雅黑" pitchFamily="34" charset="-122"/>
              </a:rPr>
              <a:t>不同厂商设备之间的配置指令差异</a:t>
            </a:r>
            <a:r>
              <a:rPr lang="zh-CN" altLang="en-US" b="1" dirty="0" smtClean="0">
                <a:latin typeface="微软雅黑" pitchFamily="34" charset="-122"/>
                <a:ea typeface="微软雅黑" pitchFamily="34" charset="-122"/>
              </a:rPr>
              <a:t>显著，</a:t>
            </a:r>
            <a:r>
              <a:rPr lang="zh-CN" altLang="en-US" b="1" dirty="0">
                <a:latin typeface="微软雅黑" pitchFamily="34" charset="-122"/>
                <a:ea typeface="微软雅黑" pitchFamily="34" charset="-122"/>
              </a:rPr>
              <a:t>设备</a:t>
            </a:r>
            <a:r>
              <a:rPr lang="zh-CN" altLang="en-US" b="1" dirty="0" smtClean="0">
                <a:latin typeface="微软雅黑" pitchFamily="34" charset="-122"/>
                <a:ea typeface="微软雅黑" pitchFamily="34" charset="-122"/>
              </a:rPr>
              <a:t>配置耗时耗力，且存在策略冲突风险。</a:t>
            </a:r>
            <a:endParaRPr lang="zh-CN" altLang="en-US"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网络</a:t>
            </a:r>
            <a:r>
              <a:rPr lang="zh-CN" altLang="en-US" sz="2000" b="1" dirty="0">
                <a:solidFill>
                  <a:srgbClr val="C00000"/>
                </a:solidFill>
                <a:latin typeface="微软雅黑" pitchFamily="34" charset="-122"/>
                <a:ea typeface="微软雅黑" pitchFamily="34" charset="-122"/>
              </a:rPr>
              <a:t>创新生态</a:t>
            </a:r>
            <a:r>
              <a:rPr lang="zh-CN" altLang="en-US" sz="2000" b="1" dirty="0" smtClean="0">
                <a:solidFill>
                  <a:srgbClr val="C00000"/>
                </a:solidFill>
                <a:latin typeface="微软雅黑" pitchFamily="34" charset="-122"/>
                <a:ea typeface="微软雅黑" pitchFamily="34" charset="-122"/>
              </a:rPr>
              <a:t>封闭</a:t>
            </a:r>
            <a:endParaRPr lang="en-US" altLang="zh-CN" sz="2000" b="1" dirty="0" smtClean="0">
              <a:solidFill>
                <a:srgbClr val="C00000"/>
              </a:solidFill>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网络</a:t>
            </a:r>
            <a:r>
              <a:rPr lang="zh-CN" altLang="en-US" b="1" dirty="0">
                <a:latin typeface="微软雅黑" pitchFamily="34" charset="-122"/>
                <a:ea typeface="微软雅黑" pitchFamily="34" charset="-122"/>
              </a:rPr>
              <a:t>设备对用户开放的接口有限，用户难以参与到网络功能创新过程中，一些网络新技术和新协议也很难在实际网络中进行测试和推广。</a:t>
            </a:r>
          </a:p>
        </p:txBody>
      </p:sp>
    </p:spTree>
    <p:custDataLst>
      <p:tags r:id="rId1"/>
    </p:custDataLst>
    <p:extLst>
      <p:ext uri="{BB962C8B-B14F-4D97-AF65-F5344CB8AC3E}">
        <p14:creationId xmlns:p14="http://schemas.microsoft.com/office/powerpoint/2010/main" val="6925468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圆角矩形 658"/>
          <p:cNvSpPr/>
          <p:nvPr/>
        </p:nvSpPr>
        <p:spPr>
          <a:xfrm>
            <a:off x="948825" y="2178964"/>
            <a:ext cx="7344606" cy="2545484"/>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2" y="586794"/>
            <a:ext cx="52725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将控制平面与数据平面解耦</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20955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sz="2000" b="1" dirty="0" smtClean="0">
                <a:latin typeface="微软雅黑" pitchFamily="34" charset="-122"/>
                <a:ea typeface="微软雅黑" pitchFamily="34" charset="-122"/>
              </a:rPr>
              <a:t>将</a:t>
            </a:r>
            <a:r>
              <a:rPr lang="zh-CN" altLang="en-US" sz="2000" b="1" dirty="0" smtClean="0">
                <a:solidFill>
                  <a:srgbClr val="C00000"/>
                </a:solidFill>
                <a:latin typeface="微软雅黑" pitchFamily="34" charset="-122"/>
                <a:ea typeface="微软雅黑" pitchFamily="34" charset="-122"/>
              </a:rPr>
              <a:t>控制</a:t>
            </a:r>
            <a:r>
              <a:rPr lang="zh-CN" altLang="en-US" sz="2000" b="1" dirty="0">
                <a:solidFill>
                  <a:srgbClr val="C00000"/>
                </a:solidFill>
                <a:latin typeface="微软雅黑" pitchFamily="34" charset="-122"/>
                <a:ea typeface="微软雅黑" pitchFamily="34" charset="-122"/>
              </a:rPr>
              <a:t>平面与数据</a:t>
            </a:r>
            <a:r>
              <a:rPr lang="zh-CN" altLang="en-US" sz="2000" b="1" dirty="0" smtClean="0">
                <a:solidFill>
                  <a:srgbClr val="C00000"/>
                </a:solidFill>
                <a:latin typeface="微软雅黑" pitchFamily="34" charset="-122"/>
                <a:ea typeface="微软雅黑" pitchFamily="34" charset="-122"/>
              </a:rPr>
              <a:t>平面</a:t>
            </a:r>
            <a:r>
              <a:rPr lang="zh-CN" altLang="en-US" sz="2000" b="1" dirty="0">
                <a:solidFill>
                  <a:srgbClr val="C00000"/>
                </a:solidFill>
                <a:latin typeface="微软雅黑" pitchFamily="34" charset="-122"/>
                <a:ea typeface="微软雅黑" pitchFamily="34" charset="-122"/>
              </a:rPr>
              <a:t>解耦</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数据平面用</a:t>
            </a:r>
            <a:r>
              <a:rPr lang="zh-CN" altLang="en-US" b="1" dirty="0">
                <a:latin typeface="微软雅黑" pitchFamily="34" charset="-122"/>
                <a:ea typeface="微软雅黑" pitchFamily="34" charset="-122"/>
              </a:rPr>
              <a:t>简单的硬件，实现</a:t>
            </a:r>
            <a:r>
              <a:rPr lang="zh-CN" altLang="en-US" b="1" dirty="0">
                <a:solidFill>
                  <a:srgbClr val="C00000"/>
                </a:solidFill>
                <a:latin typeface="微软雅黑" pitchFamily="34" charset="-122"/>
                <a:ea typeface="微软雅黑" pitchFamily="34" charset="-122"/>
              </a:rPr>
              <a:t>单纯的分组高速转发</a:t>
            </a:r>
            <a:r>
              <a:rPr lang="zh-CN" altLang="en-US" b="1" dirty="0" smtClean="0">
                <a:solidFill>
                  <a:srgbClr val="C00000"/>
                </a:solidFill>
                <a:latin typeface="微软雅黑" pitchFamily="34" charset="-122"/>
                <a:ea typeface="微软雅黑" pitchFamily="34" charset="-122"/>
              </a:rPr>
              <a:t>功能</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控制平面通过</a:t>
            </a:r>
            <a:r>
              <a:rPr lang="zh-CN" altLang="en-US" b="1" dirty="0" smtClean="0">
                <a:solidFill>
                  <a:srgbClr val="C00000"/>
                </a:solidFill>
                <a:latin typeface="微软雅黑" pitchFamily="34" charset="-122"/>
                <a:ea typeface="微软雅黑" pitchFamily="34" charset="-122"/>
              </a:rPr>
              <a:t>远程</a:t>
            </a:r>
            <a:r>
              <a:rPr lang="zh-CN" altLang="en-US" b="1" dirty="0">
                <a:solidFill>
                  <a:srgbClr val="C00000"/>
                </a:solidFill>
                <a:latin typeface="微软雅黑" pitchFamily="34" charset="-122"/>
                <a:ea typeface="微软雅黑" pitchFamily="34" charset="-122"/>
              </a:rPr>
              <a:t>控制器计算转发表，并将其安装到路由器中</a:t>
            </a:r>
            <a:r>
              <a:rPr lang="zh-CN" altLang="en-US" b="1" dirty="0">
                <a:latin typeface="微软雅黑" pitchFamily="34" charset="-122"/>
                <a:ea typeface="微软雅黑" pitchFamily="34" charset="-122"/>
              </a:rPr>
              <a:t>。</a:t>
            </a:r>
          </a:p>
        </p:txBody>
      </p:sp>
      <p:sp>
        <p:nvSpPr>
          <p:cNvPr id="579" name="Line 107"/>
          <p:cNvSpPr>
            <a:spLocks noChangeShapeType="1"/>
          </p:cNvSpPr>
          <p:nvPr/>
        </p:nvSpPr>
        <p:spPr bwMode="auto">
          <a:xfrm flipH="1">
            <a:off x="2749025" y="2514286"/>
            <a:ext cx="360040" cy="288032"/>
          </a:xfrm>
          <a:prstGeom prst="line">
            <a:avLst/>
          </a:prstGeom>
          <a:noFill/>
          <a:ln w="9525">
            <a:solidFill>
              <a:schemeClr val="tx1"/>
            </a:solidFill>
            <a:round/>
            <a:headEnd/>
            <a:tailEnd/>
          </a:ln>
        </p:spPr>
        <p:txBody>
          <a:bodyPr/>
          <a:lstStyle/>
          <a:p>
            <a:endParaRPr lang="zh-CN" altLang="en-US"/>
          </a:p>
        </p:txBody>
      </p:sp>
      <p:sp>
        <p:nvSpPr>
          <p:cNvPr id="580" name="Line 107"/>
          <p:cNvSpPr>
            <a:spLocks noChangeShapeType="1"/>
          </p:cNvSpPr>
          <p:nvPr/>
        </p:nvSpPr>
        <p:spPr bwMode="auto">
          <a:xfrm flipH="1" flipV="1">
            <a:off x="6997497" y="2586294"/>
            <a:ext cx="549213" cy="150676"/>
          </a:xfrm>
          <a:prstGeom prst="line">
            <a:avLst/>
          </a:prstGeom>
          <a:noFill/>
          <a:ln w="9525">
            <a:solidFill>
              <a:schemeClr val="tx1"/>
            </a:solidFill>
            <a:round/>
            <a:headEnd/>
            <a:tailEnd/>
          </a:ln>
        </p:spPr>
        <p:txBody>
          <a:bodyPr/>
          <a:lstStyle/>
          <a:p>
            <a:endParaRPr lang="zh-CN" altLang="en-US"/>
          </a:p>
        </p:txBody>
      </p:sp>
      <p:sp>
        <p:nvSpPr>
          <p:cNvPr id="581" name="Line 151"/>
          <p:cNvSpPr>
            <a:spLocks noChangeShapeType="1"/>
          </p:cNvSpPr>
          <p:nvPr/>
        </p:nvSpPr>
        <p:spPr bwMode="auto">
          <a:xfrm>
            <a:off x="4571445" y="3923450"/>
            <a:ext cx="900231" cy="387160"/>
          </a:xfrm>
          <a:prstGeom prst="line">
            <a:avLst/>
          </a:prstGeom>
          <a:noFill/>
          <a:ln w="9525">
            <a:solidFill>
              <a:schemeClr val="tx1"/>
            </a:solidFill>
            <a:round/>
            <a:headEnd/>
            <a:tailEnd/>
          </a:ln>
        </p:spPr>
        <p:txBody>
          <a:bodyPr/>
          <a:lstStyle/>
          <a:p>
            <a:endParaRPr lang="zh-CN" altLang="en-US"/>
          </a:p>
        </p:txBody>
      </p:sp>
      <p:sp>
        <p:nvSpPr>
          <p:cNvPr id="582" name="Line 79"/>
          <p:cNvSpPr>
            <a:spLocks noChangeShapeType="1"/>
          </p:cNvSpPr>
          <p:nvPr/>
        </p:nvSpPr>
        <p:spPr bwMode="auto">
          <a:xfrm>
            <a:off x="2749025" y="4246918"/>
            <a:ext cx="720502" cy="216545"/>
          </a:xfrm>
          <a:prstGeom prst="line">
            <a:avLst/>
          </a:prstGeom>
          <a:noFill/>
          <a:ln w="9525">
            <a:solidFill>
              <a:schemeClr val="tx1"/>
            </a:solidFill>
            <a:round/>
            <a:headEnd/>
            <a:tailEnd/>
          </a:ln>
        </p:spPr>
        <p:txBody>
          <a:bodyPr/>
          <a:lstStyle/>
          <a:p>
            <a:endParaRPr lang="zh-CN" altLang="en-US"/>
          </a:p>
        </p:txBody>
      </p:sp>
      <p:pic>
        <p:nvPicPr>
          <p:cNvPr id="583" name="Picture 98"/>
          <p:cNvPicPr>
            <a:picLocks noChangeArrowheads="1"/>
          </p:cNvPicPr>
          <p:nvPr/>
        </p:nvPicPr>
        <p:blipFill>
          <a:blip r:embed="rId4" cstate="print"/>
          <a:srcRect/>
          <a:stretch>
            <a:fillRect/>
          </a:stretch>
        </p:blipFill>
        <p:spPr bwMode="auto">
          <a:xfrm>
            <a:off x="2388985" y="3791951"/>
            <a:ext cx="503237" cy="539750"/>
          </a:xfrm>
          <a:prstGeom prst="rect">
            <a:avLst/>
          </a:prstGeom>
          <a:noFill/>
          <a:ln w="9525">
            <a:noFill/>
            <a:miter lim="800000"/>
            <a:headEnd/>
            <a:tailEnd/>
          </a:ln>
        </p:spPr>
      </p:pic>
      <p:sp>
        <p:nvSpPr>
          <p:cNvPr id="584" name="Line 99"/>
          <p:cNvSpPr>
            <a:spLocks noChangeShapeType="1"/>
          </p:cNvSpPr>
          <p:nvPr/>
        </p:nvSpPr>
        <p:spPr bwMode="auto">
          <a:xfrm>
            <a:off x="3685129" y="4534950"/>
            <a:ext cx="1296417" cy="215206"/>
          </a:xfrm>
          <a:prstGeom prst="line">
            <a:avLst/>
          </a:prstGeom>
          <a:noFill/>
          <a:ln w="9525">
            <a:solidFill>
              <a:schemeClr val="tx1"/>
            </a:solidFill>
            <a:round/>
            <a:headEnd/>
            <a:tailEnd/>
          </a:ln>
        </p:spPr>
        <p:txBody>
          <a:bodyPr/>
          <a:lstStyle/>
          <a:p>
            <a:endParaRPr lang="zh-CN" altLang="en-US"/>
          </a:p>
        </p:txBody>
      </p:sp>
      <p:sp>
        <p:nvSpPr>
          <p:cNvPr id="585" name="Line 100"/>
          <p:cNvSpPr>
            <a:spLocks noChangeShapeType="1"/>
          </p:cNvSpPr>
          <p:nvPr/>
        </p:nvSpPr>
        <p:spPr bwMode="auto">
          <a:xfrm flipV="1">
            <a:off x="3685427" y="4318925"/>
            <a:ext cx="1799902" cy="144536"/>
          </a:xfrm>
          <a:prstGeom prst="line">
            <a:avLst/>
          </a:prstGeom>
          <a:noFill/>
          <a:ln w="9525">
            <a:solidFill>
              <a:schemeClr val="tx1"/>
            </a:solidFill>
            <a:round/>
            <a:headEnd/>
            <a:tailEnd/>
          </a:ln>
        </p:spPr>
        <p:txBody>
          <a:bodyPr/>
          <a:lstStyle/>
          <a:p>
            <a:endParaRPr lang="zh-CN" altLang="en-US"/>
          </a:p>
        </p:txBody>
      </p:sp>
      <p:sp>
        <p:nvSpPr>
          <p:cNvPr id="586" name="Line 101"/>
          <p:cNvSpPr>
            <a:spLocks noChangeShapeType="1"/>
          </p:cNvSpPr>
          <p:nvPr/>
        </p:nvSpPr>
        <p:spPr bwMode="auto">
          <a:xfrm>
            <a:off x="5768177" y="4353926"/>
            <a:ext cx="941437" cy="180974"/>
          </a:xfrm>
          <a:prstGeom prst="line">
            <a:avLst/>
          </a:prstGeom>
          <a:noFill/>
          <a:ln w="9525">
            <a:solidFill>
              <a:schemeClr val="tx1"/>
            </a:solidFill>
            <a:round/>
            <a:headEnd/>
            <a:tailEnd/>
          </a:ln>
        </p:spPr>
        <p:txBody>
          <a:bodyPr/>
          <a:lstStyle/>
          <a:p>
            <a:endParaRPr lang="zh-CN" altLang="en-US"/>
          </a:p>
        </p:txBody>
      </p:sp>
      <p:sp>
        <p:nvSpPr>
          <p:cNvPr id="587" name="Line 102"/>
          <p:cNvSpPr>
            <a:spLocks noChangeShapeType="1"/>
          </p:cNvSpPr>
          <p:nvPr/>
        </p:nvSpPr>
        <p:spPr bwMode="auto">
          <a:xfrm flipV="1">
            <a:off x="5269305" y="4607926"/>
            <a:ext cx="1440309" cy="143048"/>
          </a:xfrm>
          <a:prstGeom prst="line">
            <a:avLst/>
          </a:prstGeom>
          <a:noFill/>
          <a:ln w="9525">
            <a:solidFill>
              <a:schemeClr val="tx1"/>
            </a:solidFill>
            <a:round/>
            <a:headEnd/>
            <a:tailEnd/>
          </a:ln>
        </p:spPr>
        <p:txBody>
          <a:bodyPr/>
          <a:lstStyle/>
          <a:p>
            <a:endParaRPr lang="zh-CN" altLang="en-US"/>
          </a:p>
        </p:txBody>
      </p:sp>
      <p:sp>
        <p:nvSpPr>
          <p:cNvPr id="588" name="Line 103"/>
          <p:cNvSpPr>
            <a:spLocks noChangeShapeType="1"/>
          </p:cNvSpPr>
          <p:nvPr/>
        </p:nvSpPr>
        <p:spPr bwMode="auto">
          <a:xfrm flipV="1">
            <a:off x="6781051" y="4246918"/>
            <a:ext cx="864517" cy="287983"/>
          </a:xfrm>
          <a:prstGeom prst="line">
            <a:avLst/>
          </a:prstGeom>
          <a:noFill/>
          <a:ln w="9525">
            <a:solidFill>
              <a:schemeClr val="tx1"/>
            </a:solidFill>
            <a:round/>
            <a:headEnd/>
            <a:tailEnd/>
          </a:ln>
        </p:spPr>
        <p:txBody>
          <a:bodyPr/>
          <a:lstStyle/>
          <a:p>
            <a:endParaRPr lang="zh-CN" altLang="en-US"/>
          </a:p>
        </p:txBody>
      </p:sp>
      <p:pic>
        <p:nvPicPr>
          <p:cNvPr id="589" name="Picture 106"/>
          <p:cNvPicPr>
            <a:picLocks noChangeArrowheads="1"/>
          </p:cNvPicPr>
          <p:nvPr/>
        </p:nvPicPr>
        <p:blipFill>
          <a:blip r:embed="rId4" cstate="print"/>
          <a:srcRect/>
          <a:stretch>
            <a:fillRect/>
          </a:stretch>
        </p:blipFill>
        <p:spPr bwMode="auto">
          <a:xfrm>
            <a:off x="7430363" y="3814176"/>
            <a:ext cx="503238" cy="539750"/>
          </a:xfrm>
          <a:prstGeom prst="rect">
            <a:avLst/>
          </a:prstGeom>
          <a:noFill/>
          <a:ln w="9525">
            <a:noFill/>
            <a:miter lim="800000"/>
            <a:headEnd/>
            <a:tailEnd/>
          </a:ln>
        </p:spPr>
      </p:pic>
      <p:sp>
        <p:nvSpPr>
          <p:cNvPr id="590" name="Line 107"/>
          <p:cNvSpPr>
            <a:spLocks noChangeShapeType="1"/>
          </p:cNvSpPr>
          <p:nvPr/>
        </p:nvSpPr>
        <p:spPr bwMode="auto">
          <a:xfrm flipV="1">
            <a:off x="3685426" y="3923450"/>
            <a:ext cx="704305" cy="468571"/>
          </a:xfrm>
          <a:prstGeom prst="line">
            <a:avLst/>
          </a:prstGeom>
          <a:noFill/>
          <a:ln w="9525">
            <a:solidFill>
              <a:schemeClr val="tx1"/>
            </a:solidFill>
            <a:round/>
            <a:headEnd/>
            <a:tailEnd/>
          </a:ln>
        </p:spPr>
        <p:txBody>
          <a:bodyPr/>
          <a:lstStyle/>
          <a:p>
            <a:endParaRPr lang="zh-CN" altLang="en-US"/>
          </a:p>
        </p:txBody>
      </p:sp>
      <p:sp>
        <p:nvSpPr>
          <p:cNvPr id="591" name="Line 108"/>
          <p:cNvSpPr>
            <a:spLocks noChangeShapeType="1"/>
          </p:cNvSpPr>
          <p:nvPr/>
        </p:nvSpPr>
        <p:spPr bwMode="auto">
          <a:xfrm>
            <a:off x="4621681" y="3884794"/>
            <a:ext cx="2159372" cy="578667"/>
          </a:xfrm>
          <a:prstGeom prst="line">
            <a:avLst/>
          </a:prstGeom>
          <a:noFill/>
          <a:ln w="9525">
            <a:solidFill>
              <a:schemeClr val="tx1"/>
            </a:solidFill>
            <a:round/>
            <a:headEnd/>
            <a:tailEnd/>
          </a:ln>
        </p:spPr>
        <p:txBody>
          <a:bodyPr/>
          <a:lstStyle/>
          <a:p>
            <a:endParaRPr lang="zh-CN" altLang="en-US"/>
          </a:p>
        </p:txBody>
      </p:sp>
      <p:pic>
        <p:nvPicPr>
          <p:cNvPr id="592" name="Picture 109"/>
          <p:cNvPicPr>
            <a:picLocks noChangeArrowheads="1"/>
          </p:cNvPicPr>
          <p:nvPr/>
        </p:nvPicPr>
        <p:blipFill>
          <a:blip r:embed="rId5" cstate="print"/>
          <a:srcRect/>
          <a:stretch>
            <a:fillRect/>
          </a:stretch>
        </p:blipFill>
        <p:spPr bwMode="auto">
          <a:xfrm>
            <a:off x="3380627" y="4319001"/>
            <a:ext cx="520700" cy="287337"/>
          </a:xfrm>
          <a:prstGeom prst="rect">
            <a:avLst/>
          </a:prstGeom>
          <a:noFill/>
          <a:ln w="12699">
            <a:noFill/>
            <a:miter lim="800000"/>
            <a:headEnd/>
            <a:tailEnd/>
          </a:ln>
        </p:spPr>
      </p:pic>
      <p:pic>
        <p:nvPicPr>
          <p:cNvPr id="593" name="Picture 110"/>
          <p:cNvPicPr>
            <a:picLocks noChangeArrowheads="1"/>
          </p:cNvPicPr>
          <p:nvPr/>
        </p:nvPicPr>
        <p:blipFill>
          <a:blip r:embed="rId5" cstate="print"/>
          <a:srcRect/>
          <a:stretch>
            <a:fillRect/>
          </a:stretch>
        </p:blipFill>
        <p:spPr bwMode="auto">
          <a:xfrm>
            <a:off x="5408137" y="4239248"/>
            <a:ext cx="520700" cy="287337"/>
          </a:xfrm>
          <a:prstGeom prst="rect">
            <a:avLst/>
          </a:prstGeom>
          <a:noFill/>
          <a:ln w="12699">
            <a:noFill/>
            <a:miter lim="800000"/>
            <a:headEnd/>
            <a:tailEnd/>
          </a:ln>
        </p:spPr>
      </p:pic>
      <p:pic>
        <p:nvPicPr>
          <p:cNvPr id="594" name="Picture 111"/>
          <p:cNvPicPr>
            <a:picLocks noChangeArrowheads="1"/>
          </p:cNvPicPr>
          <p:nvPr/>
        </p:nvPicPr>
        <p:blipFill>
          <a:blip r:embed="rId5" cstate="print"/>
          <a:srcRect/>
          <a:stretch>
            <a:fillRect/>
          </a:stretch>
        </p:blipFill>
        <p:spPr bwMode="auto">
          <a:xfrm>
            <a:off x="4848157" y="4613510"/>
            <a:ext cx="520700" cy="287337"/>
          </a:xfrm>
          <a:prstGeom prst="rect">
            <a:avLst/>
          </a:prstGeom>
          <a:noFill/>
          <a:ln w="12699">
            <a:noFill/>
            <a:miter lim="800000"/>
            <a:headEnd/>
            <a:tailEnd/>
          </a:ln>
        </p:spPr>
      </p:pic>
      <p:pic>
        <p:nvPicPr>
          <p:cNvPr id="595" name="Picture 112"/>
          <p:cNvPicPr>
            <a:picLocks noChangeArrowheads="1"/>
          </p:cNvPicPr>
          <p:nvPr/>
        </p:nvPicPr>
        <p:blipFill>
          <a:blip r:embed="rId5" cstate="print"/>
          <a:srcRect/>
          <a:stretch>
            <a:fillRect/>
          </a:stretch>
        </p:blipFill>
        <p:spPr bwMode="auto">
          <a:xfrm>
            <a:off x="6493714" y="4392026"/>
            <a:ext cx="520700" cy="287337"/>
          </a:xfrm>
          <a:prstGeom prst="rect">
            <a:avLst/>
          </a:prstGeom>
          <a:noFill/>
          <a:ln w="12699">
            <a:noFill/>
            <a:miter lim="800000"/>
            <a:headEnd/>
            <a:tailEnd/>
          </a:ln>
        </p:spPr>
      </p:pic>
      <p:pic>
        <p:nvPicPr>
          <p:cNvPr id="596" name="Picture 113"/>
          <p:cNvPicPr>
            <a:picLocks noChangeArrowheads="1"/>
          </p:cNvPicPr>
          <p:nvPr/>
        </p:nvPicPr>
        <p:blipFill>
          <a:blip r:embed="rId5" cstate="print"/>
          <a:srcRect/>
          <a:stretch>
            <a:fillRect/>
          </a:stretch>
        </p:blipFill>
        <p:spPr bwMode="auto">
          <a:xfrm>
            <a:off x="4175068" y="3769582"/>
            <a:ext cx="520700" cy="287338"/>
          </a:xfrm>
          <a:prstGeom prst="rect">
            <a:avLst/>
          </a:prstGeom>
          <a:noFill/>
          <a:ln w="12699">
            <a:noFill/>
            <a:miter lim="800000"/>
            <a:headEnd/>
            <a:tailEnd/>
          </a:ln>
        </p:spPr>
      </p:pic>
      <p:sp>
        <p:nvSpPr>
          <p:cNvPr id="597" name="矩形 596"/>
          <p:cNvSpPr/>
          <p:nvPr/>
        </p:nvSpPr>
        <p:spPr>
          <a:xfrm>
            <a:off x="3396026" y="3241222"/>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8" name="直接连接符 597"/>
          <p:cNvCxnSpPr/>
          <p:nvPr/>
        </p:nvCxnSpPr>
        <p:spPr>
          <a:xfrm>
            <a:off x="3396026" y="32988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9" name="直接连接符 598"/>
          <p:cNvCxnSpPr/>
          <p:nvPr/>
        </p:nvCxnSpPr>
        <p:spPr>
          <a:xfrm>
            <a:off x="3396026" y="3356435"/>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0" name="直接连接符 599"/>
          <p:cNvCxnSpPr/>
          <p:nvPr/>
        </p:nvCxnSpPr>
        <p:spPr>
          <a:xfrm>
            <a:off x="3396026" y="34207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1" name="直接连接符 600"/>
          <p:cNvCxnSpPr/>
          <p:nvPr/>
        </p:nvCxnSpPr>
        <p:spPr>
          <a:xfrm>
            <a:off x="3396026" y="34716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2" name="直接连接符 601"/>
          <p:cNvCxnSpPr/>
          <p:nvPr/>
        </p:nvCxnSpPr>
        <p:spPr>
          <a:xfrm>
            <a:off x="3504038" y="3250804"/>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03" name="矩形 602"/>
          <p:cNvSpPr/>
          <p:nvPr/>
        </p:nvSpPr>
        <p:spPr>
          <a:xfrm>
            <a:off x="4262263" y="3241222"/>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4" name="直接连接符 603"/>
          <p:cNvCxnSpPr/>
          <p:nvPr/>
        </p:nvCxnSpPr>
        <p:spPr>
          <a:xfrm>
            <a:off x="4262263" y="32988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604"/>
          <p:cNvCxnSpPr/>
          <p:nvPr/>
        </p:nvCxnSpPr>
        <p:spPr>
          <a:xfrm>
            <a:off x="4262263" y="3356435"/>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6" name="直接连接符 605"/>
          <p:cNvCxnSpPr/>
          <p:nvPr/>
        </p:nvCxnSpPr>
        <p:spPr>
          <a:xfrm>
            <a:off x="4262263" y="34207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7" name="直接连接符 606"/>
          <p:cNvCxnSpPr/>
          <p:nvPr/>
        </p:nvCxnSpPr>
        <p:spPr>
          <a:xfrm>
            <a:off x="4262263" y="34716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直接连接符 607"/>
          <p:cNvCxnSpPr/>
          <p:nvPr/>
        </p:nvCxnSpPr>
        <p:spPr>
          <a:xfrm>
            <a:off x="4370275" y="3250804"/>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09" name="矩形 608"/>
          <p:cNvSpPr/>
          <p:nvPr/>
        </p:nvSpPr>
        <p:spPr>
          <a:xfrm>
            <a:off x="4982343" y="3241222"/>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0" name="直接连接符 609"/>
          <p:cNvCxnSpPr/>
          <p:nvPr/>
        </p:nvCxnSpPr>
        <p:spPr>
          <a:xfrm>
            <a:off x="4982343" y="32988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直接连接符 610"/>
          <p:cNvCxnSpPr/>
          <p:nvPr/>
        </p:nvCxnSpPr>
        <p:spPr>
          <a:xfrm>
            <a:off x="4982343" y="3356435"/>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直接连接符 611"/>
          <p:cNvCxnSpPr/>
          <p:nvPr/>
        </p:nvCxnSpPr>
        <p:spPr>
          <a:xfrm>
            <a:off x="4982343" y="34207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3" name="直接连接符 612"/>
          <p:cNvCxnSpPr/>
          <p:nvPr/>
        </p:nvCxnSpPr>
        <p:spPr>
          <a:xfrm>
            <a:off x="4982343" y="34716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直接连接符 613"/>
          <p:cNvCxnSpPr/>
          <p:nvPr/>
        </p:nvCxnSpPr>
        <p:spPr>
          <a:xfrm>
            <a:off x="5090355" y="3250804"/>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15" name="矩形 614"/>
          <p:cNvSpPr/>
          <p:nvPr/>
        </p:nvSpPr>
        <p:spPr>
          <a:xfrm>
            <a:off x="6566519" y="3241222"/>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6" name="直接连接符 615"/>
          <p:cNvCxnSpPr/>
          <p:nvPr/>
        </p:nvCxnSpPr>
        <p:spPr>
          <a:xfrm>
            <a:off x="6566519" y="32988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616"/>
          <p:cNvCxnSpPr/>
          <p:nvPr/>
        </p:nvCxnSpPr>
        <p:spPr>
          <a:xfrm>
            <a:off x="6566519" y="3356435"/>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直接连接符 617"/>
          <p:cNvCxnSpPr/>
          <p:nvPr/>
        </p:nvCxnSpPr>
        <p:spPr>
          <a:xfrm>
            <a:off x="6566519" y="34207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9" name="直接连接符 618"/>
          <p:cNvCxnSpPr/>
          <p:nvPr/>
        </p:nvCxnSpPr>
        <p:spPr>
          <a:xfrm>
            <a:off x="6566519" y="34716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直接连接符 619"/>
          <p:cNvCxnSpPr/>
          <p:nvPr/>
        </p:nvCxnSpPr>
        <p:spPr>
          <a:xfrm>
            <a:off x="6674531" y="3250804"/>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21" name="矩形 620"/>
          <p:cNvSpPr/>
          <p:nvPr/>
        </p:nvSpPr>
        <p:spPr>
          <a:xfrm>
            <a:off x="5630415" y="3241222"/>
            <a:ext cx="216024" cy="288032"/>
          </a:xfrm>
          <a:prstGeom prst="rect">
            <a:avLst/>
          </a:prstGeom>
          <a:solidFill>
            <a:schemeClr val="bg2">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2" name="直接连接符 621"/>
          <p:cNvCxnSpPr/>
          <p:nvPr/>
        </p:nvCxnSpPr>
        <p:spPr>
          <a:xfrm>
            <a:off x="5630415" y="329882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p:cNvCxnSpPr/>
          <p:nvPr/>
        </p:nvCxnSpPr>
        <p:spPr>
          <a:xfrm>
            <a:off x="5630415" y="3356435"/>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直接连接符 623"/>
          <p:cNvCxnSpPr/>
          <p:nvPr/>
        </p:nvCxnSpPr>
        <p:spPr>
          <a:xfrm>
            <a:off x="5630415" y="34207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直接连接符 624"/>
          <p:cNvCxnSpPr/>
          <p:nvPr/>
        </p:nvCxnSpPr>
        <p:spPr>
          <a:xfrm>
            <a:off x="5630415" y="3471648"/>
            <a:ext cx="216024" cy="0"/>
          </a:xfrm>
          <a:prstGeom prst="line">
            <a:avLst/>
          </a:prstGeom>
          <a:solidFill>
            <a:schemeClr val="bg2">
              <a:lumMod val="20000"/>
              <a:lumOff val="80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直接连接符 625"/>
          <p:cNvCxnSpPr/>
          <p:nvPr/>
        </p:nvCxnSpPr>
        <p:spPr>
          <a:xfrm>
            <a:off x="5738427" y="3250804"/>
            <a:ext cx="0" cy="277354"/>
          </a:xfrm>
          <a:prstGeom prst="line">
            <a:avLst/>
          </a:prstGeom>
          <a:solidFill>
            <a:schemeClr val="bg2">
              <a:lumMod val="20000"/>
              <a:lumOff val="80000"/>
            </a:schemeClr>
          </a:solidFill>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27" name="TextBox 176"/>
          <p:cNvSpPr txBox="1"/>
          <p:nvPr/>
        </p:nvSpPr>
        <p:spPr>
          <a:xfrm>
            <a:off x="2282079" y="3213199"/>
            <a:ext cx="800219" cy="338554"/>
          </a:xfrm>
          <a:prstGeom prst="rect">
            <a:avLst/>
          </a:prstGeom>
          <a:noFill/>
        </p:spPr>
        <p:txBody>
          <a:bodyPr wrap="none" rtlCol="0">
            <a:spAutoFit/>
          </a:bodyPr>
          <a:lstStyle/>
          <a:p>
            <a:pPr algn="ctr"/>
            <a:r>
              <a:rPr lang="zh-CN" altLang="en-US" sz="1600" dirty="0" smtClean="0"/>
              <a:t>转发表</a:t>
            </a:r>
            <a:endParaRPr lang="zh-CN" altLang="en-US" sz="1600" dirty="0"/>
          </a:p>
        </p:txBody>
      </p:sp>
      <p:cxnSp>
        <p:nvCxnSpPr>
          <p:cNvPr id="628" name="直接连接符 627"/>
          <p:cNvCxnSpPr/>
          <p:nvPr/>
        </p:nvCxnSpPr>
        <p:spPr>
          <a:xfrm>
            <a:off x="948825" y="3025198"/>
            <a:ext cx="6984776"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29" name="TextBox 179"/>
          <p:cNvSpPr txBox="1"/>
          <p:nvPr/>
        </p:nvSpPr>
        <p:spPr>
          <a:xfrm>
            <a:off x="1330713" y="2686644"/>
            <a:ext cx="1049536" cy="338554"/>
          </a:xfrm>
          <a:prstGeom prst="rect">
            <a:avLst/>
          </a:prstGeom>
          <a:noFill/>
        </p:spPr>
        <p:txBody>
          <a:bodyPr wrap="square" rtlCol="0">
            <a:spAutoFit/>
          </a:bodyPr>
          <a:lstStyle/>
          <a:p>
            <a:pPr algn="ctr"/>
            <a:r>
              <a:rPr lang="zh-CN" altLang="en-US" sz="1600" dirty="0" smtClean="0"/>
              <a:t>控制平面</a:t>
            </a:r>
            <a:endParaRPr lang="zh-CN" altLang="en-US" sz="1600" dirty="0"/>
          </a:p>
        </p:txBody>
      </p:sp>
      <p:cxnSp>
        <p:nvCxnSpPr>
          <p:cNvPr id="630" name="直接箭头连接符 629"/>
          <p:cNvCxnSpPr>
            <a:stCxn id="597" idx="2"/>
          </p:cNvCxnSpPr>
          <p:nvPr/>
        </p:nvCxnSpPr>
        <p:spPr>
          <a:xfrm>
            <a:off x="3504038" y="3529254"/>
            <a:ext cx="109083" cy="789672"/>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31" name="直接箭头连接符 630"/>
          <p:cNvCxnSpPr>
            <a:stCxn id="615" idx="2"/>
            <a:endCxn id="595" idx="0"/>
          </p:cNvCxnSpPr>
          <p:nvPr/>
        </p:nvCxnSpPr>
        <p:spPr>
          <a:xfrm>
            <a:off x="6674531" y="3529254"/>
            <a:ext cx="79533" cy="862772"/>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32" name="直接箭头连接符 631"/>
          <p:cNvCxnSpPr>
            <a:stCxn id="621" idx="2"/>
            <a:endCxn id="593" idx="0"/>
          </p:cNvCxnSpPr>
          <p:nvPr/>
        </p:nvCxnSpPr>
        <p:spPr>
          <a:xfrm flipH="1">
            <a:off x="5668487" y="3529254"/>
            <a:ext cx="69940" cy="709994"/>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33" name="直接箭头连接符 632"/>
          <p:cNvCxnSpPr>
            <a:stCxn id="609" idx="2"/>
          </p:cNvCxnSpPr>
          <p:nvPr/>
        </p:nvCxnSpPr>
        <p:spPr>
          <a:xfrm>
            <a:off x="5090355" y="3529254"/>
            <a:ext cx="34934" cy="1060456"/>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34" name="直接箭头连接符 633"/>
          <p:cNvCxnSpPr>
            <a:stCxn id="603" idx="2"/>
            <a:endCxn id="596" idx="0"/>
          </p:cNvCxnSpPr>
          <p:nvPr/>
        </p:nvCxnSpPr>
        <p:spPr>
          <a:xfrm>
            <a:off x="4370275" y="3529254"/>
            <a:ext cx="65143" cy="240328"/>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35" name="直接箭头连接符 634"/>
          <p:cNvCxnSpPr/>
          <p:nvPr/>
        </p:nvCxnSpPr>
        <p:spPr>
          <a:xfrm>
            <a:off x="2992148" y="3376340"/>
            <a:ext cx="393896" cy="8898"/>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636" name="矩形 635"/>
          <p:cNvSpPr/>
          <p:nvPr/>
        </p:nvSpPr>
        <p:spPr>
          <a:xfrm>
            <a:off x="3037057" y="2275978"/>
            <a:ext cx="3960440" cy="533197"/>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7" name="Picture 21"/>
          <p:cNvPicPr>
            <a:picLocks noChangeArrowheads="1"/>
          </p:cNvPicPr>
          <p:nvPr/>
        </p:nvPicPr>
        <p:blipFill>
          <a:blip r:embed="rId6" cstate="print"/>
          <a:srcRect/>
          <a:stretch>
            <a:fillRect/>
          </a:stretch>
        </p:blipFill>
        <p:spPr bwMode="auto">
          <a:xfrm>
            <a:off x="2580591" y="2410162"/>
            <a:ext cx="270543" cy="577889"/>
          </a:xfrm>
          <a:prstGeom prst="rect">
            <a:avLst/>
          </a:prstGeom>
          <a:noFill/>
          <a:ln w="12699">
            <a:noFill/>
            <a:miter lim="800000"/>
            <a:headEnd/>
            <a:tailEnd/>
          </a:ln>
          <a:effectLst/>
        </p:spPr>
      </p:pic>
      <p:sp>
        <p:nvSpPr>
          <p:cNvPr id="639" name="椭圆 638"/>
          <p:cNvSpPr/>
          <p:nvPr/>
        </p:nvSpPr>
        <p:spPr>
          <a:xfrm>
            <a:off x="3397097" y="2382846"/>
            <a:ext cx="3384376" cy="288032"/>
          </a:xfrm>
          <a:prstGeom prst="ellipse">
            <a:avLst/>
          </a:prstGeom>
          <a:solidFill>
            <a:schemeClr val="bg1">
              <a:lumMod val="9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olidFill>
                  <a:schemeClr val="tx1"/>
                </a:solidFill>
              </a:rPr>
              <a:t>远  程  控  制  器</a:t>
            </a:r>
            <a:endParaRPr lang="zh-CN" altLang="en-US" dirty="0"/>
          </a:p>
        </p:txBody>
      </p:sp>
      <p:cxnSp>
        <p:nvCxnSpPr>
          <p:cNvPr id="640" name="直接箭头连接符 639"/>
          <p:cNvCxnSpPr>
            <a:stCxn id="639" idx="3"/>
            <a:endCxn id="597" idx="0"/>
          </p:cNvCxnSpPr>
          <p:nvPr/>
        </p:nvCxnSpPr>
        <p:spPr>
          <a:xfrm flipH="1">
            <a:off x="3504038" y="2628697"/>
            <a:ext cx="388689" cy="612525"/>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41" name="直接箭头连接符 640"/>
          <p:cNvCxnSpPr/>
          <p:nvPr/>
        </p:nvCxnSpPr>
        <p:spPr>
          <a:xfrm flipH="1">
            <a:off x="4375080" y="2670878"/>
            <a:ext cx="103207" cy="572673"/>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42" name="直接箭头连接符 641"/>
          <p:cNvCxnSpPr>
            <a:stCxn id="639" idx="5"/>
            <a:endCxn id="615" idx="0"/>
          </p:cNvCxnSpPr>
          <p:nvPr/>
        </p:nvCxnSpPr>
        <p:spPr>
          <a:xfrm>
            <a:off x="6285843" y="2628697"/>
            <a:ext cx="388688" cy="612525"/>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43" name="直接箭头连接符 642"/>
          <p:cNvCxnSpPr/>
          <p:nvPr/>
        </p:nvCxnSpPr>
        <p:spPr>
          <a:xfrm>
            <a:off x="5630415" y="2680460"/>
            <a:ext cx="109465" cy="562312"/>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44" name="直接箭头连接符 643"/>
          <p:cNvCxnSpPr>
            <a:stCxn id="639" idx="4"/>
            <a:endCxn id="609" idx="0"/>
          </p:cNvCxnSpPr>
          <p:nvPr/>
        </p:nvCxnSpPr>
        <p:spPr>
          <a:xfrm>
            <a:off x="5089285" y="2670878"/>
            <a:ext cx="1070" cy="570344"/>
          </a:xfrm>
          <a:prstGeom prst="straightConnector1">
            <a:avLst/>
          </a:prstGeom>
          <a:ln w="9525">
            <a:solidFill>
              <a:schemeClr val="tx1"/>
            </a:solidFill>
            <a:prstDash val="sysDash"/>
            <a:headEnd type="none" w="med" len="med"/>
            <a:tailEnd type="triangle" w="med" len="lg"/>
          </a:ln>
        </p:spPr>
        <p:style>
          <a:lnRef idx="1">
            <a:schemeClr val="accent1"/>
          </a:lnRef>
          <a:fillRef idx="0">
            <a:schemeClr val="accent1"/>
          </a:fillRef>
          <a:effectRef idx="0">
            <a:schemeClr val="accent1"/>
          </a:effectRef>
          <a:fontRef idx="minor">
            <a:schemeClr val="tx1"/>
          </a:fontRef>
        </p:style>
      </p:cxnSp>
      <p:sp>
        <p:nvSpPr>
          <p:cNvPr id="645" name="TextBox 68"/>
          <p:cNvSpPr txBox="1"/>
          <p:nvPr/>
        </p:nvSpPr>
        <p:spPr>
          <a:xfrm>
            <a:off x="1344854" y="3025198"/>
            <a:ext cx="1005403" cy="338554"/>
          </a:xfrm>
          <a:prstGeom prst="rect">
            <a:avLst/>
          </a:prstGeom>
          <a:noFill/>
        </p:spPr>
        <p:txBody>
          <a:bodyPr wrap="none" rtlCol="0">
            <a:spAutoFit/>
          </a:bodyPr>
          <a:lstStyle/>
          <a:p>
            <a:pPr algn="ctr"/>
            <a:r>
              <a:rPr lang="zh-CN" altLang="en-US" sz="1600" smtClean="0"/>
              <a:t>数据平面</a:t>
            </a:r>
            <a:endParaRPr lang="zh-CN" altLang="en-US" sz="1600" dirty="0"/>
          </a:p>
        </p:txBody>
      </p:sp>
      <p:pic>
        <p:nvPicPr>
          <p:cNvPr id="658" name="Picture 21"/>
          <p:cNvPicPr>
            <a:picLocks noChangeArrowheads="1"/>
          </p:cNvPicPr>
          <p:nvPr/>
        </p:nvPicPr>
        <p:blipFill>
          <a:blip r:embed="rId6" cstate="print"/>
          <a:srcRect/>
          <a:stretch>
            <a:fillRect/>
          </a:stretch>
        </p:blipFill>
        <p:spPr bwMode="auto">
          <a:xfrm>
            <a:off x="7546710" y="2433073"/>
            <a:ext cx="270543" cy="577889"/>
          </a:xfrm>
          <a:prstGeom prst="rect">
            <a:avLst/>
          </a:prstGeom>
          <a:noFill/>
          <a:ln w="12699">
            <a:noFill/>
            <a:miter lim="800000"/>
            <a:headEnd/>
            <a:tailEnd/>
          </a:ln>
          <a:effectLst/>
        </p:spPr>
      </p:pic>
    </p:spTree>
    <p:custDataLst>
      <p:tags r:id="rId1"/>
    </p:custDataLst>
    <p:extLst>
      <p:ext uri="{BB962C8B-B14F-4D97-AF65-F5344CB8AC3E}">
        <p14:creationId xmlns:p14="http://schemas.microsoft.com/office/powerpoint/2010/main" val="5685775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53796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为什么要采用逻辑上集中的控制</a:t>
            </a:r>
            <a:r>
              <a:rPr lang="zh-CN" altLang="en-US" sz="2400" b="1" dirty="0" smtClean="0">
                <a:solidFill>
                  <a:schemeClr val="bg1"/>
                </a:solidFill>
                <a:latin typeface="微软雅黑" pitchFamily="34" charset="-122"/>
                <a:ea typeface="微软雅黑" pitchFamily="34" charset="-122"/>
              </a:rPr>
              <a:t>平面</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20955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远程控制器形成了逻辑上集中的控制平面：</a:t>
            </a:r>
            <a:endParaRPr lang="en-US" altLang="zh-CN" sz="20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简化网络管理</a:t>
            </a:r>
            <a:r>
              <a:rPr lang="zh-CN" altLang="en-US" b="1" dirty="0" smtClean="0">
                <a:latin typeface="微软雅黑" pitchFamily="34" charset="-122"/>
                <a:ea typeface="微软雅黑" pitchFamily="34" charset="-122"/>
              </a:rPr>
              <a:t>：避免路由器的误配置，提高流量调度的灵活性。</a:t>
            </a:r>
            <a:endParaRPr lang="zh-CN" altLang="en-US" b="1" dirty="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实现路由器</a:t>
            </a:r>
            <a:r>
              <a:rPr lang="zh-CN" altLang="en-US" b="1" dirty="0" smtClean="0">
                <a:solidFill>
                  <a:srgbClr val="C00000"/>
                </a:solidFill>
                <a:latin typeface="微软雅黑" pitchFamily="34" charset="-122"/>
                <a:ea typeface="微软雅黑" pitchFamily="34" charset="-122"/>
              </a:rPr>
              <a:t>的编程控制</a:t>
            </a:r>
            <a:r>
              <a:rPr lang="zh-CN" altLang="en-US" b="1" dirty="0" smtClean="0">
                <a:latin typeface="微软雅黑" pitchFamily="34" charset="-122"/>
                <a:ea typeface="微软雅黑" pitchFamily="34" charset="-122"/>
              </a:rPr>
              <a:t>：通过在控制平面编程，计算形成转发表并下发至数据平面。</a:t>
            </a:r>
            <a:endParaRPr lang="zh-CN" altLang="en-US" b="1" dirty="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支持控制</a:t>
            </a:r>
            <a:r>
              <a:rPr lang="zh-CN" altLang="en-US" b="1" dirty="0">
                <a:solidFill>
                  <a:srgbClr val="C00000"/>
                </a:solidFill>
                <a:latin typeface="微软雅黑" pitchFamily="34" charset="-122"/>
                <a:ea typeface="微软雅黑" pitchFamily="34" charset="-122"/>
              </a:rPr>
              <a:t>平面</a:t>
            </a:r>
            <a:r>
              <a:rPr lang="zh-CN" altLang="en-US" b="1" dirty="0" smtClean="0">
                <a:solidFill>
                  <a:srgbClr val="C00000"/>
                </a:solidFill>
                <a:latin typeface="微软雅黑" pitchFamily="34" charset="-122"/>
                <a:ea typeface="微软雅黑" pitchFamily="34" charset="-122"/>
              </a:rPr>
              <a:t>的开放实现</a:t>
            </a:r>
            <a:r>
              <a:rPr lang="zh-CN" altLang="en-US" b="1" dirty="0" smtClean="0">
                <a:latin typeface="微软雅黑" pitchFamily="34" charset="-122"/>
                <a:ea typeface="微软雅黑" pitchFamily="34" charset="-122"/>
              </a:rPr>
              <a:t>：</a:t>
            </a:r>
            <a:r>
              <a:rPr lang="zh-CN" altLang="en-US" b="1" dirty="0">
                <a:latin typeface="微软雅黑" pitchFamily="34" charset="-122"/>
                <a:ea typeface="微软雅黑" pitchFamily="34" charset="-122"/>
              </a:rPr>
              <a:t>不再受限于厂商的私有</a:t>
            </a:r>
            <a:r>
              <a:rPr lang="zh-CN" altLang="en-US" b="1" dirty="0" smtClean="0">
                <a:latin typeface="微软雅黑" pitchFamily="34" charset="-122"/>
                <a:ea typeface="微软雅黑" pitchFamily="34" charset="-122"/>
              </a:rPr>
              <a:t>技术，</a:t>
            </a:r>
            <a:r>
              <a:rPr lang="zh-CN" altLang="en-US" b="1" dirty="0">
                <a:latin typeface="微软雅黑" pitchFamily="34" charset="-122"/>
                <a:ea typeface="微软雅黑" pitchFamily="34" charset="-122"/>
              </a:rPr>
              <a:t>让各种新的想法和应用都能更容易地诞生。</a:t>
            </a:r>
          </a:p>
        </p:txBody>
      </p:sp>
    </p:spTree>
    <p:custDataLst>
      <p:tags r:id="rId1"/>
    </p:custDataLst>
    <p:extLst>
      <p:ext uri="{BB962C8B-B14F-4D97-AF65-F5344CB8AC3E}">
        <p14:creationId xmlns:p14="http://schemas.microsoft.com/office/powerpoint/2010/main" val="15788624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计算机的发展</a:t>
            </a:r>
            <a:endParaRPr lang="zh-CN" altLang="en-US" sz="2400" b="1" dirty="0">
              <a:solidFill>
                <a:schemeClr val="bg1"/>
              </a:solidFill>
              <a:latin typeface="微软雅黑" pitchFamily="34" charset="-122"/>
              <a:ea typeface="微软雅黑" pitchFamily="34" charset="-122"/>
            </a:endParaRPr>
          </a:p>
        </p:txBody>
      </p:sp>
      <p:pic>
        <p:nvPicPr>
          <p:cNvPr id="615" name="Picture 2" descr="The Journey Inside℠: Curriculum for Microprocessor">
            <a:extLst>
              <a:ext uri="{FF2B5EF4-FFF2-40B4-BE49-F238E27FC236}">
                <a16:creationId xmlns:a16="http://schemas.microsoft.com/office/drawing/2014/main" id="{6F4260B5-B666-D740-B13F-4C89BD1FAC0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30032" y="3341007"/>
            <a:ext cx="635697" cy="356843"/>
          </a:xfrm>
          <a:prstGeom prst="rect">
            <a:avLst/>
          </a:prstGeom>
          <a:noFill/>
          <a:extLst>
            <a:ext uri="{909E8E84-426E-40DD-AFC4-6F175D3DCCD1}">
              <a14:hiddenFill xmlns:a14="http://schemas.microsoft.com/office/drawing/2010/main">
                <a:solidFill>
                  <a:srgbClr val="FFFFFF"/>
                </a:solidFill>
              </a14:hiddenFill>
            </a:ext>
          </a:extLst>
        </p:spPr>
      </p:pic>
      <p:sp>
        <p:nvSpPr>
          <p:cNvPr id="617" name="TextBox 6">
            <a:extLst>
              <a:ext uri="{FF2B5EF4-FFF2-40B4-BE49-F238E27FC236}">
                <a16:creationId xmlns:a16="http://schemas.microsoft.com/office/drawing/2014/main" id="{D14B582C-4A3D-524E-902F-B0945D4A724D}"/>
              </a:ext>
            </a:extLst>
          </p:cNvPr>
          <p:cNvSpPr txBox="1">
            <a:spLocks noChangeArrowheads="1"/>
          </p:cNvSpPr>
          <p:nvPr/>
        </p:nvSpPr>
        <p:spPr bwMode="auto">
          <a:xfrm>
            <a:off x="1488220" y="3735354"/>
            <a:ext cx="2047459" cy="1126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Helvetica" charset="0"/>
                <a:ea typeface="ＭＳ Ｐゴシック" charset="0"/>
                <a:cs typeface="ＭＳ Ｐゴシック" charset="0"/>
              </a:defRPr>
            </a:lvl1pPr>
            <a:lvl2pPr marL="37931725" indent="-37474525" eaLnBrk="0" hangingPunct="0">
              <a:defRPr sz="2000" b="1">
                <a:solidFill>
                  <a:schemeClr val="tx1"/>
                </a:solidFill>
                <a:latin typeface="Helvetica" charset="0"/>
                <a:ea typeface="ＭＳ Ｐゴシック" charset="0"/>
              </a:defRPr>
            </a:lvl2pPr>
            <a:lvl3pPr eaLnBrk="0" hangingPunct="0">
              <a:defRPr sz="2000" b="1">
                <a:solidFill>
                  <a:schemeClr val="tx1"/>
                </a:solidFill>
                <a:latin typeface="Helvetica" charset="0"/>
                <a:ea typeface="ＭＳ Ｐゴシック" charset="0"/>
              </a:defRPr>
            </a:lvl3pPr>
            <a:lvl4pPr eaLnBrk="0" hangingPunct="0">
              <a:defRPr sz="2000" b="1">
                <a:solidFill>
                  <a:schemeClr val="tx1"/>
                </a:solidFill>
                <a:latin typeface="Helvetica" charset="0"/>
                <a:ea typeface="ＭＳ Ｐゴシック" charset="0"/>
              </a:defRPr>
            </a:lvl4pPr>
            <a:lvl5pPr eaLnBrk="0" hangingPunct="0">
              <a:defRPr sz="2000" b="1">
                <a:solidFill>
                  <a:schemeClr val="tx1"/>
                </a:solidFill>
                <a:latin typeface="Helvetica" charset="0"/>
                <a:ea typeface="ＭＳ Ｐゴシック" charset="0"/>
              </a:defRPr>
            </a:lvl5pPr>
            <a:lvl6pPr marL="457200" eaLnBrk="0" fontAlgn="base" hangingPunct="0">
              <a:spcBef>
                <a:spcPct val="0"/>
              </a:spcBef>
              <a:spcAft>
                <a:spcPct val="0"/>
              </a:spcAft>
              <a:defRPr sz="2000" b="1">
                <a:solidFill>
                  <a:schemeClr val="tx1"/>
                </a:solidFill>
                <a:latin typeface="Helvetica" charset="0"/>
                <a:ea typeface="ＭＳ Ｐゴシック" charset="0"/>
              </a:defRPr>
            </a:lvl6pPr>
            <a:lvl7pPr marL="914400" eaLnBrk="0" fontAlgn="base" hangingPunct="0">
              <a:spcBef>
                <a:spcPct val="0"/>
              </a:spcBef>
              <a:spcAft>
                <a:spcPct val="0"/>
              </a:spcAft>
              <a:defRPr sz="2000" b="1">
                <a:solidFill>
                  <a:schemeClr val="tx1"/>
                </a:solidFill>
                <a:latin typeface="Helvetica" charset="0"/>
                <a:ea typeface="ＭＳ Ｐゴシック" charset="0"/>
              </a:defRPr>
            </a:lvl7pPr>
            <a:lvl8pPr marL="1371600" eaLnBrk="0" fontAlgn="base" hangingPunct="0">
              <a:spcBef>
                <a:spcPct val="0"/>
              </a:spcBef>
              <a:spcAft>
                <a:spcPct val="0"/>
              </a:spcAft>
              <a:defRPr sz="2000" b="1">
                <a:solidFill>
                  <a:schemeClr val="tx1"/>
                </a:solidFill>
                <a:latin typeface="Helvetica" charset="0"/>
                <a:ea typeface="ＭＳ Ｐゴシック" charset="0"/>
              </a:defRPr>
            </a:lvl8pPr>
            <a:lvl9pPr marL="1828800" eaLnBrk="0" fontAlgn="base" hangingPunct="0">
              <a:spcBef>
                <a:spcPct val="0"/>
              </a:spcBef>
              <a:spcAft>
                <a:spcPct val="0"/>
              </a:spcAft>
              <a:defRPr sz="2000" b="1">
                <a:solidFill>
                  <a:schemeClr val="tx1"/>
                </a:solidFill>
                <a:latin typeface="Helvetica" charset="0"/>
                <a:ea typeface="ＭＳ Ｐゴシック" charset="0"/>
              </a:defRPr>
            </a:lvl9pPr>
          </a:lstStyle>
          <a:p>
            <a:pPr marL="285750" indent="-285750" defTabSz="685800" eaLnBrk="1" fontAlgn="base" hangingPunct="1">
              <a:lnSpc>
                <a:spcPct val="120000"/>
              </a:lnSpc>
              <a:spcBef>
                <a:spcPct val="0"/>
              </a:spcBef>
              <a:spcAft>
                <a:spcPct val="0"/>
              </a:spcAft>
              <a:buFont typeface="Arial" panose="020B0604020202020204" pitchFamily="34" charset="0"/>
              <a:buChar char="•"/>
            </a:pPr>
            <a:r>
              <a:rPr lang="zh-CN" altLang="en-US" sz="1400" dirty="0">
                <a:solidFill>
                  <a:prstClr val="black"/>
                </a:solidFill>
                <a:latin typeface="微软雅黑" panose="020B0503020204020204" pitchFamily="34" charset="-122"/>
                <a:ea typeface="微软雅黑" panose="020B0503020204020204" pitchFamily="34" charset="-122"/>
              </a:rPr>
              <a:t>软硬件耦合</a:t>
            </a:r>
            <a:endParaRPr lang="en-US" altLang="zh-CN" sz="1400" dirty="0" smtClean="0">
              <a:solidFill>
                <a:prstClr val="black"/>
              </a:solidFill>
              <a:latin typeface="微软雅黑" panose="020B0503020204020204" pitchFamily="34" charset="-122"/>
              <a:ea typeface="微软雅黑" panose="020B0503020204020204" pitchFamily="34" charset="-122"/>
            </a:endParaRPr>
          </a:p>
          <a:p>
            <a:pPr marL="285750" indent="-285750" defTabSz="685800" eaLnBrk="1" fontAlgn="base" hangingPunct="1">
              <a:lnSpc>
                <a:spcPct val="120000"/>
              </a:lnSpc>
              <a:spcBef>
                <a:spcPct val="0"/>
              </a:spcBef>
              <a:spcAft>
                <a:spcPct val="0"/>
              </a:spcAft>
              <a:buFont typeface="Arial" panose="020B0604020202020204" pitchFamily="34" charset="0"/>
              <a:buChar char="•"/>
            </a:pPr>
            <a:r>
              <a:rPr lang="zh-CN" altLang="en-US" sz="1400" dirty="0" smtClean="0">
                <a:solidFill>
                  <a:prstClr val="black"/>
                </a:solidFill>
                <a:latin typeface="微软雅黑" panose="020B0503020204020204" pitchFamily="34" charset="-122"/>
                <a:ea typeface="微软雅黑" panose="020B0503020204020204" pitchFamily="34" charset="-122"/>
              </a:rPr>
              <a:t>封闭</a:t>
            </a:r>
            <a:r>
              <a:rPr lang="zh-CN" altLang="en-US" sz="1400" dirty="0">
                <a:solidFill>
                  <a:prstClr val="black"/>
                </a:solidFill>
                <a:latin typeface="微软雅黑" panose="020B0503020204020204" pitchFamily="34" charset="-122"/>
                <a:ea typeface="微软雅黑" panose="020B0503020204020204" pitchFamily="34" charset="-122"/>
              </a:rPr>
              <a:t>、</a:t>
            </a:r>
            <a:r>
              <a:rPr lang="zh-CN" altLang="en-US" sz="1400" dirty="0" smtClean="0">
                <a:solidFill>
                  <a:prstClr val="black"/>
                </a:solidFill>
                <a:latin typeface="微软雅黑" panose="020B0503020204020204" pitchFamily="34" charset="-122"/>
                <a:ea typeface="微软雅黑" panose="020B0503020204020204" pitchFamily="34" charset="-122"/>
              </a:rPr>
              <a:t>专有</a:t>
            </a:r>
            <a:endParaRPr lang="en-US" altLang="zh-CN" sz="1400" dirty="0" smtClean="0">
              <a:solidFill>
                <a:prstClr val="black"/>
              </a:solidFill>
              <a:latin typeface="微软雅黑" panose="020B0503020204020204" pitchFamily="34" charset="-122"/>
              <a:ea typeface="微软雅黑" panose="020B0503020204020204" pitchFamily="34" charset="-122"/>
            </a:endParaRPr>
          </a:p>
          <a:p>
            <a:pPr marL="285750" indent="-285750" defTabSz="685800" eaLnBrk="1" fontAlgn="base" hangingPunct="1">
              <a:lnSpc>
                <a:spcPct val="120000"/>
              </a:lnSpc>
              <a:spcBef>
                <a:spcPct val="0"/>
              </a:spcBef>
              <a:spcAft>
                <a:spcPct val="0"/>
              </a:spcAft>
              <a:buFont typeface="Arial" panose="020B0604020202020204" pitchFamily="34" charset="0"/>
              <a:buChar char="•"/>
            </a:pPr>
            <a:r>
              <a:rPr lang="zh-CN" altLang="en-US" sz="1400" dirty="0" smtClean="0">
                <a:solidFill>
                  <a:prstClr val="black"/>
                </a:solidFill>
                <a:latin typeface="微软雅黑" panose="020B0503020204020204" pitchFamily="34" charset="-122"/>
                <a:ea typeface="微软雅黑" panose="020B0503020204020204" pitchFamily="34" charset="-122"/>
              </a:rPr>
              <a:t>创新缓慢</a:t>
            </a:r>
            <a:endParaRPr lang="zh-CN" altLang="en-US" sz="1400" dirty="0">
              <a:solidFill>
                <a:prstClr val="black"/>
              </a:solidFill>
              <a:latin typeface="微软雅黑" panose="020B0503020204020204" pitchFamily="34" charset="-122"/>
              <a:ea typeface="微软雅黑" panose="020B0503020204020204" pitchFamily="34" charset="-122"/>
            </a:endParaRPr>
          </a:p>
          <a:p>
            <a:pPr marL="285750" indent="-285750" defTabSz="685800" eaLnBrk="1" fontAlgn="base" hangingPunct="1">
              <a:lnSpc>
                <a:spcPct val="120000"/>
              </a:lnSpc>
              <a:spcBef>
                <a:spcPct val="0"/>
              </a:spcBef>
              <a:spcAft>
                <a:spcPct val="0"/>
              </a:spcAft>
              <a:buFont typeface="Arial" panose="020B0604020202020204" pitchFamily="34" charset="0"/>
              <a:buChar char="•"/>
            </a:pPr>
            <a:r>
              <a:rPr lang="zh-CN" altLang="en-US" sz="1400" dirty="0" smtClean="0">
                <a:solidFill>
                  <a:prstClr val="black"/>
                </a:solidFill>
                <a:latin typeface="微软雅黑" panose="020B0503020204020204" pitchFamily="34" charset="-122"/>
                <a:ea typeface="微软雅黑" panose="020B0503020204020204" pitchFamily="34" charset="-122"/>
              </a:rPr>
              <a:t>产业</a:t>
            </a:r>
            <a:r>
              <a:rPr lang="zh-CN" altLang="en-US" sz="1400" dirty="0">
                <a:solidFill>
                  <a:prstClr val="black"/>
                </a:solidFill>
                <a:latin typeface="微软雅黑" panose="020B0503020204020204" pitchFamily="34" charset="-122"/>
                <a:ea typeface="微软雅黑" panose="020B0503020204020204" pitchFamily="34" charset="-122"/>
              </a:rPr>
              <a:t>规模</a:t>
            </a:r>
            <a:r>
              <a:rPr lang="zh-CN" altLang="en-US" sz="1400" dirty="0" smtClean="0">
                <a:solidFill>
                  <a:prstClr val="black"/>
                </a:solidFill>
                <a:latin typeface="微软雅黑" panose="020B0503020204020204" pitchFamily="34" charset="-122"/>
                <a:ea typeface="微软雅黑" panose="020B0503020204020204" pitchFamily="34" charset="-122"/>
              </a:rPr>
              <a:t>较小</a:t>
            </a:r>
            <a:endParaRPr lang="en-US" sz="1400" dirty="0">
              <a:solidFill>
                <a:prstClr val="black"/>
              </a:solidFill>
              <a:latin typeface="微软雅黑" panose="020B0503020204020204" pitchFamily="34" charset="-122"/>
              <a:ea typeface="微软雅黑" panose="020B0503020204020204" pitchFamily="34" charset="-122"/>
            </a:endParaRPr>
          </a:p>
        </p:txBody>
      </p:sp>
      <p:pic>
        <p:nvPicPr>
          <p:cNvPr id="618" name="Picture 7">
            <a:extLst>
              <a:ext uri="{FF2B5EF4-FFF2-40B4-BE49-F238E27FC236}">
                <a16:creationId xmlns:a16="http://schemas.microsoft.com/office/drawing/2014/main" id="{68F68A64-2A5C-2844-A9AB-07E8C144CDB4}"/>
              </a:ext>
            </a:extLst>
          </p:cNvPr>
          <p:cNvPicPr>
            <a:picLocks noChangeAspect="1"/>
          </p:cNvPicPr>
          <p:nvPr/>
        </p:nvPicPr>
        <p:blipFill>
          <a:blip r:embed="rId5">
            <a:extLst>
              <a:ext uri="{28A0092B-C50C-407E-A947-70E740481C1C}">
                <a14:useLocalDpi xmlns:a14="http://schemas.microsoft.com/office/drawing/2010/main" val="0"/>
              </a:ext>
            </a:extLst>
          </a:blip>
          <a:srcRect l="6149" t="1500" r="3650" b="5499"/>
          <a:stretch>
            <a:fillRect/>
          </a:stretch>
        </p:blipFill>
        <p:spPr bwMode="auto">
          <a:xfrm>
            <a:off x="1478321" y="1153838"/>
            <a:ext cx="1872130" cy="26380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19" name="Rounded Rectangle 8">
            <a:extLst>
              <a:ext uri="{FF2B5EF4-FFF2-40B4-BE49-F238E27FC236}">
                <a16:creationId xmlns:a16="http://schemas.microsoft.com/office/drawing/2014/main" id="{00BB31AF-E216-AA46-8DBE-CCADBF4769BC}"/>
              </a:ext>
            </a:extLst>
          </p:cNvPr>
          <p:cNvSpPr/>
          <p:nvPr/>
        </p:nvSpPr>
        <p:spPr>
          <a:xfrm>
            <a:off x="1659698" y="2051095"/>
            <a:ext cx="1428750" cy="72390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defTabSz="685800" fontAlgn="base">
              <a:spcBef>
                <a:spcPct val="0"/>
              </a:spcBef>
              <a:spcAft>
                <a:spcPct val="0"/>
              </a:spcAft>
              <a:defRPr/>
            </a:pPr>
            <a:r>
              <a:rPr lang="zh-CN" altLang="en-US" sz="1500" b="1" dirty="0" smtClean="0">
                <a:solidFill>
                  <a:prstClr val="white"/>
                </a:solidFill>
                <a:latin typeface="微软雅黑" panose="020B0503020204020204" pitchFamily="34" charset="-122"/>
                <a:ea typeface="微软雅黑" panose="020B0503020204020204" pitchFamily="34" charset="-122"/>
                <a:cs typeface="ＭＳ Ｐゴシック" charset="-128"/>
              </a:rPr>
              <a:t>专用操作系统</a:t>
            </a:r>
            <a:endParaRPr lang="en-US" sz="1500" b="1" dirty="0">
              <a:solidFill>
                <a:prstClr val="white"/>
              </a:solidFill>
              <a:latin typeface="微软雅黑" panose="020B0503020204020204" pitchFamily="34" charset="-122"/>
              <a:ea typeface="微软雅黑" panose="020B0503020204020204" pitchFamily="34" charset="-122"/>
              <a:cs typeface="ＭＳ Ｐゴシック" charset="-128"/>
            </a:endParaRPr>
          </a:p>
        </p:txBody>
      </p:sp>
      <p:sp>
        <p:nvSpPr>
          <p:cNvPr id="620" name="Rounded Rectangle 9">
            <a:extLst>
              <a:ext uri="{FF2B5EF4-FFF2-40B4-BE49-F238E27FC236}">
                <a16:creationId xmlns:a16="http://schemas.microsoft.com/office/drawing/2014/main" id="{6B32807C-C0B7-B24D-93E7-7F0C57227BBA}"/>
              </a:ext>
            </a:extLst>
          </p:cNvPr>
          <p:cNvSpPr/>
          <p:nvPr/>
        </p:nvSpPr>
        <p:spPr>
          <a:xfrm>
            <a:off x="1659698" y="2832145"/>
            <a:ext cx="1428750" cy="62865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defTabSz="685800" fontAlgn="base">
              <a:spcBef>
                <a:spcPct val="0"/>
              </a:spcBef>
              <a:spcAft>
                <a:spcPct val="0"/>
              </a:spcAft>
              <a:defRPr/>
            </a:pPr>
            <a:r>
              <a:rPr lang="zh-CN" altLang="en-US" sz="1500" b="1" dirty="0" smtClean="0">
                <a:solidFill>
                  <a:prstClr val="white"/>
                </a:solidFill>
                <a:latin typeface="微软雅黑" panose="020B0503020204020204" pitchFamily="34" charset="-122"/>
                <a:ea typeface="微软雅黑" panose="020B0503020204020204" pitchFamily="34" charset="-122"/>
                <a:cs typeface="ＭＳ Ｐゴシック" charset="-128"/>
              </a:rPr>
              <a:t>专用硬件</a:t>
            </a:r>
            <a:endParaRPr lang="en-US" sz="1500" b="1" dirty="0">
              <a:solidFill>
                <a:prstClr val="white"/>
              </a:solidFill>
              <a:latin typeface="微软雅黑" panose="020B0503020204020204" pitchFamily="34" charset="-122"/>
              <a:ea typeface="微软雅黑" panose="020B0503020204020204" pitchFamily="34" charset="-122"/>
              <a:cs typeface="ＭＳ Ｐゴシック" charset="-128"/>
            </a:endParaRPr>
          </a:p>
        </p:txBody>
      </p:sp>
      <p:grpSp>
        <p:nvGrpSpPr>
          <p:cNvPr id="621" name="Group 47">
            <a:extLst>
              <a:ext uri="{FF2B5EF4-FFF2-40B4-BE49-F238E27FC236}">
                <a16:creationId xmlns:a16="http://schemas.microsoft.com/office/drawing/2014/main" id="{E0A83BF7-262D-3E4B-BFBE-E825E97D4CEE}"/>
              </a:ext>
            </a:extLst>
          </p:cNvPr>
          <p:cNvGrpSpPr>
            <a:grpSpLocks/>
          </p:cNvGrpSpPr>
          <p:nvPr/>
        </p:nvGrpSpPr>
        <p:grpSpPr bwMode="auto">
          <a:xfrm>
            <a:off x="5433422" y="1307843"/>
            <a:ext cx="2286000" cy="313425"/>
            <a:chOff x="5334000" y="1371600"/>
            <a:chExt cx="3657600" cy="685800"/>
          </a:xfrm>
        </p:grpSpPr>
        <p:sp>
          <p:nvSpPr>
            <p:cNvPr id="622" name="Rounded Rectangle 11">
              <a:extLst>
                <a:ext uri="{FF2B5EF4-FFF2-40B4-BE49-F238E27FC236}">
                  <a16:creationId xmlns:a16="http://schemas.microsoft.com/office/drawing/2014/main" id="{E5E6F00E-9A65-BC45-9EA3-044F6CB86022}"/>
                </a:ext>
              </a:extLst>
            </p:cNvPr>
            <p:cNvSpPr/>
            <p:nvPr/>
          </p:nvSpPr>
          <p:spPr bwMode="auto">
            <a:xfrm>
              <a:off x="8382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3" name="Rounded Rectangle 12">
              <a:extLst>
                <a:ext uri="{FF2B5EF4-FFF2-40B4-BE49-F238E27FC236}">
                  <a16:creationId xmlns:a16="http://schemas.microsoft.com/office/drawing/2014/main" id="{27D778C1-1B34-314D-A430-D25E4B993AA8}"/>
                </a:ext>
              </a:extLst>
            </p:cNvPr>
            <p:cNvSpPr/>
            <p:nvPr/>
          </p:nvSpPr>
          <p:spPr bwMode="auto">
            <a:xfrm>
              <a:off x="8077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4" name="Rounded Rectangle 13">
              <a:extLst>
                <a:ext uri="{FF2B5EF4-FFF2-40B4-BE49-F238E27FC236}">
                  <a16:creationId xmlns:a16="http://schemas.microsoft.com/office/drawing/2014/main" id="{70A4B127-8BC2-FE45-9850-DEEF230B0F7E}"/>
                </a:ext>
              </a:extLst>
            </p:cNvPr>
            <p:cNvSpPr/>
            <p:nvPr/>
          </p:nvSpPr>
          <p:spPr bwMode="auto">
            <a:xfrm>
              <a:off x="7772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5" name="Rounded Rectangle 14">
              <a:extLst>
                <a:ext uri="{FF2B5EF4-FFF2-40B4-BE49-F238E27FC236}">
                  <a16:creationId xmlns:a16="http://schemas.microsoft.com/office/drawing/2014/main" id="{EBD99968-0970-E143-98A5-8905B2039C21}"/>
                </a:ext>
              </a:extLst>
            </p:cNvPr>
            <p:cNvSpPr/>
            <p:nvPr/>
          </p:nvSpPr>
          <p:spPr bwMode="auto">
            <a:xfrm>
              <a:off x="7467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6" name="Rounded Rectangle 15">
              <a:extLst>
                <a:ext uri="{FF2B5EF4-FFF2-40B4-BE49-F238E27FC236}">
                  <a16:creationId xmlns:a16="http://schemas.microsoft.com/office/drawing/2014/main" id="{7DC86D72-9D92-D443-8054-DCF935E70F8D}"/>
                </a:ext>
              </a:extLst>
            </p:cNvPr>
            <p:cNvSpPr/>
            <p:nvPr/>
          </p:nvSpPr>
          <p:spPr bwMode="auto">
            <a:xfrm>
              <a:off x="7162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7" name="Rounded Rectangle 16">
              <a:extLst>
                <a:ext uri="{FF2B5EF4-FFF2-40B4-BE49-F238E27FC236}">
                  <a16:creationId xmlns:a16="http://schemas.microsoft.com/office/drawing/2014/main" id="{C6974744-9162-704D-AE50-8D06BDD1DF4F}"/>
                </a:ext>
              </a:extLst>
            </p:cNvPr>
            <p:cNvSpPr/>
            <p:nvPr/>
          </p:nvSpPr>
          <p:spPr bwMode="auto">
            <a:xfrm>
              <a:off x="6858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8" name="Rounded Rectangle 17">
              <a:extLst>
                <a:ext uri="{FF2B5EF4-FFF2-40B4-BE49-F238E27FC236}">
                  <a16:creationId xmlns:a16="http://schemas.microsoft.com/office/drawing/2014/main" id="{C1F5E1D9-EE12-8E4A-AA42-9E6F8CA2A6F6}"/>
                </a:ext>
              </a:extLst>
            </p:cNvPr>
            <p:cNvSpPr/>
            <p:nvPr/>
          </p:nvSpPr>
          <p:spPr bwMode="auto">
            <a:xfrm>
              <a:off x="6553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29" name="Rounded Rectangle 18">
              <a:extLst>
                <a:ext uri="{FF2B5EF4-FFF2-40B4-BE49-F238E27FC236}">
                  <a16:creationId xmlns:a16="http://schemas.microsoft.com/office/drawing/2014/main" id="{09D4BEED-37E3-FD40-9E2C-95D09B647E1A}"/>
                </a:ext>
              </a:extLst>
            </p:cNvPr>
            <p:cNvSpPr/>
            <p:nvPr/>
          </p:nvSpPr>
          <p:spPr bwMode="auto">
            <a:xfrm>
              <a:off x="6248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30" name="Rounded Rectangle 19">
              <a:extLst>
                <a:ext uri="{FF2B5EF4-FFF2-40B4-BE49-F238E27FC236}">
                  <a16:creationId xmlns:a16="http://schemas.microsoft.com/office/drawing/2014/main" id="{5A92E4E3-7FA3-9F4E-8155-A06DA5BB28AB}"/>
                </a:ext>
              </a:extLst>
            </p:cNvPr>
            <p:cNvSpPr/>
            <p:nvPr/>
          </p:nvSpPr>
          <p:spPr bwMode="auto">
            <a:xfrm>
              <a:off x="5943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31" name="Rounded Rectangle 20">
              <a:extLst>
                <a:ext uri="{FF2B5EF4-FFF2-40B4-BE49-F238E27FC236}">
                  <a16:creationId xmlns:a16="http://schemas.microsoft.com/office/drawing/2014/main" id="{E657948B-92D2-FE47-9E12-07B81900D9DB}"/>
                </a:ext>
              </a:extLst>
            </p:cNvPr>
            <p:cNvSpPr/>
            <p:nvPr/>
          </p:nvSpPr>
          <p:spPr bwMode="auto">
            <a:xfrm>
              <a:off x="5638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632" name="Rounded Rectangle 21">
              <a:extLst>
                <a:ext uri="{FF2B5EF4-FFF2-40B4-BE49-F238E27FC236}">
                  <a16:creationId xmlns:a16="http://schemas.microsoft.com/office/drawing/2014/main" id="{1368ABFE-D808-9649-B64C-4850B5E73426}"/>
                </a:ext>
              </a:extLst>
            </p:cNvPr>
            <p:cNvSpPr/>
            <p:nvPr/>
          </p:nvSpPr>
          <p:spPr bwMode="auto">
            <a:xfrm>
              <a:off x="5334000" y="1371600"/>
              <a:ext cx="9144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prstClr val="black"/>
                  </a:solidFill>
                  <a:latin typeface="微软雅黑" panose="020B0503020204020204" pitchFamily="34" charset="-122"/>
                  <a:ea typeface="微软雅黑" panose="020B0503020204020204" pitchFamily="34" charset="-122"/>
                </a:rPr>
                <a:t>App</a:t>
              </a:r>
            </a:p>
          </p:txBody>
        </p:sp>
      </p:grpSp>
      <p:sp>
        <p:nvSpPr>
          <p:cNvPr id="633" name="Rounded Rectangle 22">
            <a:extLst>
              <a:ext uri="{FF2B5EF4-FFF2-40B4-BE49-F238E27FC236}">
                <a16:creationId xmlns:a16="http://schemas.microsoft.com/office/drawing/2014/main" id="{7C1C0D48-1D6C-5749-86FB-67FF039653D9}"/>
              </a:ext>
            </a:extLst>
          </p:cNvPr>
          <p:cNvSpPr/>
          <p:nvPr/>
        </p:nvSpPr>
        <p:spPr>
          <a:xfrm>
            <a:off x="1659698" y="1422445"/>
            <a:ext cx="1428750" cy="55245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defTabSz="685800" fontAlgn="base">
              <a:spcBef>
                <a:spcPct val="0"/>
              </a:spcBef>
              <a:spcAft>
                <a:spcPct val="0"/>
              </a:spcAft>
              <a:defRPr/>
            </a:pPr>
            <a:r>
              <a:rPr lang="zh-CN" altLang="en-US" sz="1500" b="1" dirty="0" smtClean="0">
                <a:solidFill>
                  <a:prstClr val="white"/>
                </a:solidFill>
                <a:latin typeface="微软雅黑" panose="020B0503020204020204" pitchFamily="34" charset="-122"/>
                <a:ea typeface="微软雅黑" panose="020B0503020204020204" pitchFamily="34" charset="-122"/>
                <a:cs typeface="ＭＳ Ｐゴシック" charset="-128"/>
              </a:rPr>
              <a:t>专用应用程序</a:t>
            </a:r>
            <a:endParaRPr lang="en-US" sz="1500" b="1" dirty="0">
              <a:solidFill>
                <a:prstClr val="white"/>
              </a:solidFill>
              <a:latin typeface="微软雅黑" panose="020B0503020204020204" pitchFamily="34" charset="-122"/>
              <a:ea typeface="微软雅黑" panose="020B0503020204020204" pitchFamily="34" charset="-122"/>
              <a:cs typeface="ＭＳ Ｐゴシック" charset="-128"/>
            </a:endParaRPr>
          </a:p>
        </p:txBody>
      </p:sp>
      <p:sp>
        <p:nvSpPr>
          <p:cNvPr id="634" name="TextBox 23">
            <a:extLst>
              <a:ext uri="{FF2B5EF4-FFF2-40B4-BE49-F238E27FC236}">
                <a16:creationId xmlns:a16="http://schemas.microsoft.com/office/drawing/2014/main" id="{92861905-1A74-AA4A-AFCB-AE04EA2CD7A7}"/>
              </a:ext>
            </a:extLst>
          </p:cNvPr>
          <p:cNvSpPr txBox="1">
            <a:spLocks noChangeArrowheads="1"/>
          </p:cNvSpPr>
          <p:nvPr/>
        </p:nvSpPr>
        <p:spPr bwMode="auto">
          <a:xfrm>
            <a:off x="5396163" y="3749613"/>
            <a:ext cx="2713451" cy="11264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defPPr>
              <a:defRPr lang="zh-CN"/>
            </a:defPPr>
            <a:lvl1pPr marL="285750" indent="-285750" defTabSz="685800" fontAlgn="base">
              <a:lnSpc>
                <a:spcPct val="120000"/>
              </a:lnSpc>
              <a:spcBef>
                <a:spcPct val="0"/>
              </a:spcBef>
              <a:spcAft>
                <a:spcPct val="0"/>
              </a:spcAft>
              <a:buFont typeface="Arial" panose="020B0604020202020204" pitchFamily="34" charset="0"/>
              <a:buChar char="•"/>
              <a:defRPr sz="1400" b="1">
                <a:solidFill>
                  <a:prstClr val="black"/>
                </a:solidFill>
                <a:latin typeface="微软雅黑" panose="020B0503020204020204" pitchFamily="34" charset="-122"/>
                <a:ea typeface="微软雅黑" panose="020B0503020204020204" pitchFamily="34" charset="-122"/>
                <a:cs typeface="ＭＳ Ｐゴシック" charset="0"/>
              </a:defRPr>
            </a:lvl1pPr>
            <a:lvl2pPr marL="37931725" indent="-37474525" eaLnBrk="0" hangingPunct="0">
              <a:defRPr sz="2000" b="1">
                <a:latin typeface="Helvetica" charset="0"/>
                <a:ea typeface="ＭＳ Ｐゴシック" charset="0"/>
              </a:defRPr>
            </a:lvl2pPr>
            <a:lvl3pPr eaLnBrk="0" hangingPunct="0">
              <a:defRPr sz="2000" b="1">
                <a:latin typeface="Helvetica" charset="0"/>
                <a:ea typeface="ＭＳ Ｐゴシック" charset="0"/>
              </a:defRPr>
            </a:lvl3pPr>
            <a:lvl4pPr eaLnBrk="0" hangingPunct="0">
              <a:defRPr sz="2000" b="1">
                <a:latin typeface="Helvetica" charset="0"/>
                <a:ea typeface="ＭＳ Ｐゴシック" charset="0"/>
              </a:defRPr>
            </a:lvl4pPr>
            <a:lvl5pPr eaLnBrk="0" hangingPunct="0">
              <a:defRPr sz="2000" b="1">
                <a:latin typeface="Helvetica" charset="0"/>
                <a:ea typeface="ＭＳ Ｐゴシック" charset="0"/>
              </a:defRPr>
            </a:lvl5pPr>
            <a:lvl6pPr marL="457200" eaLnBrk="0" fontAlgn="base" hangingPunct="0">
              <a:spcBef>
                <a:spcPct val="0"/>
              </a:spcBef>
              <a:spcAft>
                <a:spcPct val="0"/>
              </a:spcAft>
              <a:defRPr sz="2000" b="1">
                <a:latin typeface="Helvetica" charset="0"/>
                <a:ea typeface="ＭＳ Ｐゴシック" charset="0"/>
              </a:defRPr>
            </a:lvl6pPr>
            <a:lvl7pPr marL="914400" eaLnBrk="0" fontAlgn="base" hangingPunct="0">
              <a:spcBef>
                <a:spcPct val="0"/>
              </a:spcBef>
              <a:spcAft>
                <a:spcPct val="0"/>
              </a:spcAft>
              <a:defRPr sz="2000" b="1">
                <a:latin typeface="Helvetica" charset="0"/>
                <a:ea typeface="ＭＳ Ｐゴシック" charset="0"/>
              </a:defRPr>
            </a:lvl7pPr>
            <a:lvl8pPr marL="1371600" eaLnBrk="0" fontAlgn="base" hangingPunct="0">
              <a:spcBef>
                <a:spcPct val="0"/>
              </a:spcBef>
              <a:spcAft>
                <a:spcPct val="0"/>
              </a:spcAft>
              <a:defRPr sz="2000" b="1">
                <a:latin typeface="Helvetica" charset="0"/>
                <a:ea typeface="ＭＳ Ｐゴシック" charset="0"/>
              </a:defRPr>
            </a:lvl8pPr>
            <a:lvl9pPr marL="1828800" eaLnBrk="0" fontAlgn="base" hangingPunct="0">
              <a:spcBef>
                <a:spcPct val="0"/>
              </a:spcBef>
              <a:spcAft>
                <a:spcPct val="0"/>
              </a:spcAft>
              <a:defRPr sz="2000" b="1">
                <a:latin typeface="Helvetica" charset="0"/>
                <a:ea typeface="ＭＳ Ｐゴシック" charset="0"/>
              </a:defRPr>
            </a:lvl9pPr>
          </a:lstStyle>
          <a:p>
            <a:r>
              <a:rPr lang="zh-CN" altLang="en-US" dirty="0"/>
              <a:t>分层</a:t>
            </a:r>
            <a:r>
              <a:rPr lang="zh-CN" altLang="en-US" dirty="0" smtClean="0"/>
              <a:t>解耦</a:t>
            </a:r>
            <a:endParaRPr lang="zh-CN" altLang="en-US" dirty="0"/>
          </a:p>
          <a:p>
            <a:r>
              <a:rPr lang="zh-CN" altLang="en-US" dirty="0"/>
              <a:t>开放接口</a:t>
            </a:r>
          </a:p>
          <a:p>
            <a:r>
              <a:rPr lang="zh-CN" altLang="en-US" dirty="0"/>
              <a:t>快速创新</a:t>
            </a:r>
          </a:p>
          <a:p>
            <a:r>
              <a:rPr lang="zh-CN" altLang="en-US" dirty="0"/>
              <a:t>巨大的产业规模</a:t>
            </a:r>
            <a:endParaRPr lang="en-US" dirty="0"/>
          </a:p>
        </p:txBody>
      </p:sp>
      <p:grpSp>
        <p:nvGrpSpPr>
          <p:cNvPr id="635" name="Group 56">
            <a:extLst>
              <a:ext uri="{FF2B5EF4-FFF2-40B4-BE49-F238E27FC236}">
                <a16:creationId xmlns:a16="http://schemas.microsoft.com/office/drawing/2014/main" id="{FACA84D3-EBD1-3842-8204-78C0ECE7E0E8}"/>
              </a:ext>
            </a:extLst>
          </p:cNvPr>
          <p:cNvGrpSpPr>
            <a:grpSpLocks/>
          </p:cNvGrpSpPr>
          <p:nvPr/>
        </p:nvGrpSpPr>
        <p:grpSpPr bwMode="auto">
          <a:xfrm>
            <a:off x="5635115" y="2942158"/>
            <a:ext cx="1899747" cy="783611"/>
            <a:chOff x="5308190" y="3212066"/>
            <a:chExt cx="3212311" cy="1359933"/>
          </a:xfrm>
        </p:grpSpPr>
        <p:sp>
          <p:nvSpPr>
            <p:cNvPr id="636" name="Rounded Rectangle 26">
              <a:extLst>
                <a:ext uri="{FF2B5EF4-FFF2-40B4-BE49-F238E27FC236}">
                  <a16:creationId xmlns:a16="http://schemas.microsoft.com/office/drawing/2014/main" id="{AF4F8BF1-E3C3-C241-9BBC-A61078965EBB}"/>
                </a:ext>
              </a:extLst>
            </p:cNvPr>
            <p:cNvSpPr/>
            <p:nvPr/>
          </p:nvSpPr>
          <p:spPr bwMode="auto">
            <a:xfrm>
              <a:off x="6096000" y="3874196"/>
              <a:ext cx="2424501" cy="697803"/>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defTabSz="685800" fontAlgn="base">
                <a:spcBef>
                  <a:spcPct val="0"/>
                </a:spcBef>
                <a:spcAft>
                  <a:spcPct val="0"/>
                </a:spcAft>
                <a:defRPr/>
              </a:pPr>
              <a:r>
                <a:rPr lang="zh-CN" altLang="en-US" sz="1200" b="1" dirty="0" smtClean="0">
                  <a:solidFill>
                    <a:prstClr val="white"/>
                  </a:solidFill>
                  <a:latin typeface="微软雅黑" panose="020B0503020204020204" pitchFamily="34" charset="-122"/>
                  <a:ea typeface="微软雅黑" panose="020B0503020204020204" pitchFamily="34" charset="-122"/>
                  <a:cs typeface="ＭＳ Ｐゴシック" charset="-128"/>
                </a:rPr>
                <a:t>微处理器</a:t>
              </a:r>
              <a:endParaRPr lang="en-US" sz="1200" b="1" dirty="0">
                <a:solidFill>
                  <a:prstClr val="white"/>
                </a:solidFill>
                <a:latin typeface="微软雅黑" panose="020B0503020204020204" pitchFamily="34" charset="-122"/>
                <a:ea typeface="微软雅黑" panose="020B0503020204020204" pitchFamily="34" charset="-122"/>
                <a:cs typeface="ＭＳ Ｐゴシック" charset="-128"/>
              </a:endParaRPr>
            </a:p>
          </p:txBody>
        </p:sp>
        <p:grpSp>
          <p:nvGrpSpPr>
            <p:cNvPr id="637" name="Group 51">
              <a:extLst>
                <a:ext uri="{FF2B5EF4-FFF2-40B4-BE49-F238E27FC236}">
                  <a16:creationId xmlns:a16="http://schemas.microsoft.com/office/drawing/2014/main" id="{B5637E9E-4E32-4940-846C-B353CC889ACF}"/>
                </a:ext>
              </a:extLst>
            </p:cNvPr>
            <p:cNvGrpSpPr>
              <a:grpSpLocks/>
            </p:cNvGrpSpPr>
            <p:nvPr/>
          </p:nvGrpSpPr>
          <p:grpSpPr bwMode="auto">
            <a:xfrm>
              <a:off x="5308190" y="3212066"/>
              <a:ext cx="3121640" cy="480723"/>
              <a:chOff x="5384390" y="3200398"/>
              <a:chExt cx="3121640" cy="480723"/>
            </a:xfrm>
          </p:grpSpPr>
          <p:cxnSp>
            <p:nvCxnSpPr>
              <p:cNvPr id="638" name="Straight Connector 29">
                <a:extLst>
                  <a:ext uri="{FF2B5EF4-FFF2-40B4-BE49-F238E27FC236}">
                    <a16:creationId xmlns:a16="http://schemas.microsoft.com/office/drawing/2014/main" id="{37974EAD-28B9-A54C-ADA5-9BD26A800CE7}"/>
                  </a:ext>
                </a:extLst>
              </p:cNvPr>
              <p:cNvCxnSpPr/>
              <p:nvPr/>
            </p:nvCxnSpPr>
            <p:spPr>
              <a:xfrm>
                <a:off x="5384390" y="3424423"/>
                <a:ext cx="3121640" cy="45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39" name="TextBox 23">
                <a:extLst>
                  <a:ext uri="{FF2B5EF4-FFF2-40B4-BE49-F238E27FC236}">
                    <a16:creationId xmlns:a16="http://schemas.microsoft.com/office/drawing/2014/main" id="{8CD3B736-6797-F94E-A7DB-43FFFD728C5D}"/>
                  </a:ext>
                </a:extLst>
              </p:cNvPr>
              <p:cNvSpPr txBox="1">
                <a:spLocks noChangeArrowheads="1"/>
              </p:cNvSpPr>
              <p:nvPr/>
            </p:nvSpPr>
            <p:spPr bwMode="auto">
              <a:xfrm>
                <a:off x="6308184" y="3200398"/>
                <a:ext cx="1491064" cy="480723"/>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Helvetica" charset="0"/>
                    <a:ea typeface="ＭＳ Ｐゴシック" charset="0"/>
                    <a:cs typeface="ＭＳ Ｐゴシック" charset="0"/>
                  </a:defRPr>
                </a:lvl1pPr>
                <a:lvl2pPr marL="37931725" indent="-37474525" eaLnBrk="0" hangingPunct="0">
                  <a:defRPr sz="2000" b="1">
                    <a:solidFill>
                      <a:schemeClr val="tx1"/>
                    </a:solidFill>
                    <a:latin typeface="Helvetica" charset="0"/>
                    <a:ea typeface="ＭＳ Ｐゴシック" charset="0"/>
                  </a:defRPr>
                </a:lvl2pPr>
                <a:lvl3pPr eaLnBrk="0" hangingPunct="0">
                  <a:defRPr sz="2000" b="1">
                    <a:solidFill>
                      <a:schemeClr val="tx1"/>
                    </a:solidFill>
                    <a:latin typeface="Helvetica" charset="0"/>
                    <a:ea typeface="ＭＳ Ｐゴシック" charset="0"/>
                  </a:defRPr>
                </a:lvl3pPr>
                <a:lvl4pPr eaLnBrk="0" hangingPunct="0">
                  <a:defRPr sz="2000" b="1">
                    <a:solidFill>
                      <a:schemeClr val="tx1"/>
                    </a:solidFill>
                    <a:latin typeface="Helvetica" charset="0"/>
                    <a:ea typeface="ＭＳ Ｐゴシック" charset="0"/>
                  </a:defRPr>
                </a:lvl4pPr>
                <a:lvl5pPr eaLnBrk="0" hangingPunct="0">
                  <a:defRPr sz="2000" b="1">
                    <a:solidFill>
                      <a:schemeClr val="tx1"/>
                    </a:solidFill>
                    <a:latin typeface="Helvetica" charset="0"/>
                    <a:ea typeface="ＭＳ Ｐゴシック" charset="0"/>
                  </a:defRPr>
                </a:lvl5pPr>
                <a:lvl6pPr marL="457200" eaLnBrk="0" fontAlgn="base" hangingPunct="0">
                  <a:spcBef>
                    <a:spcPct val="0"/>
                  </a:spcBef>
                  <a:spcAft>
                    <a:spcPct val="0"/>
                  </a:spcAft>
                  <a:defRPr sz="2000" b="1">
                    <a:solidFill>
                      <a:schemeClr val="tx1"/>
                    </a:solidFill>
                    <a:latin typeface="Helvetica" charset="0"/>
                    <a:ea typeface="ＭＳ Ｐゴシック" charset="0"/>
                  </a:defRPr>
                </a:lvl6pPr>
                <a:lvl7pPr marL="914400" eaLnBrk="0" fontAlgn="base" hangingPunct="0">
                  <a:spcBef>
                    <a:spcPct val="0"/>
                  </a:spcBef>
                  <a:spcAft>
                    <a:spcPct val="0"/>
                  </a:spcAft>
                  <a:defRPr sz="2000" b="1">
                    <a:solidFill>
                      <a:schemeClr val="tx1"/>
                    </a:solidFill>
                    <a:latin typeface="Helvetica" charset="0"/>
                    <a:ea typeface="ＭＳ Ｐゴシック" charset="0"/>
                  </a:defRPr>
                </a:lvl7pPr>
                <a:lvl8pPr marL="1371600" eaLnBrk="0" fontAlgn="base" hangingPunct="0">
                  <a:spcBef>
                    <a:spcPct val="0"/>
                  </a:spcBef>
                  <a:spcAft>
                    <a:spcPct val="0"/>
                  </a:spcAft>
                  <a:defRPr sz="2000" b="1">
                    <a:solidFill>
                      <a:schemeClr val="tx1"/>
                    </a:solidFill>
                    <a:latin typeface="Helvetica" charset="0"/>
                    <a:ea typeface="ＭＳ Ｐゴシック" charset="0"/>
                  </a:defRPr>
                </a:lvl8pPr>
                <a:lvl9pPr marL="1828800" eaLnBrk="0" fontAlgn="base" hangingPunct="0">
                  <a:spcBef>
                    <a:spcPct val="0"/>
                  </a:spcBef>
                  <a:spcAft>
                    <a:spcPct val="0"/>
                  </a:spcAft>
                  <a:defRPr sz="2000" b="1">
                    <a:solidFill>
                      <a:schemeClr val="tx1"/>
                    </a:solidFill>
                    <a:latin typeface="Helvetica" charset="0"/>
                    <a:ea typeface="ＭＳ Ｐゴシック" charset="0"/>
                  </a:defRPr>
                </a:lvl9pPr>
              </a:lstStyle>
              <a:p>
                <a:pPr algn="ctr" defTabSz="685800" eaLnBrk="1" fontAlgn="base" hangingPunct="1">
                  <a:spcBef>
                    <a:spcPct val="0"/>
                  </a:spcBef>
                  <a:spcAft>
                    <a:spcPct val="0"/>
                  </a:spcAft>
                </a:pPr>
                <a:r>
                  <a:rPr lang="zh-CN" altLang="en-US" sz="1200" dirty="0" smtClean="0">
                    <a:solidFill>
                      <a:prstClr val="black"/>
                    </a:solidFill>
                    <a:latin typeface="微软雅黑" panose="020B0503020204020204" pitchFamily="34" charset="-122"/>
                    <a:ea typeface="微软雅黑" panose="020B0503020204020204" pitchFamily="34" charset="-122"/>
                  </a:rPr>
                  <a:t>开放接口</a:t>
                </a:r>
                <a:endParaRPr lang="en-US" sz="1200" dirty="0">
                  <a:solidFill>
                    <a:prstClr val="black"/>
                  </a:solidFill>
                  <a:latin typeface="微软雅黑" panose="020B0503020204020204" pitchFamily="34" charset="-122"/>
                  <a:ea typeface="微软雅黑" panose="020B0503020204020204" pitchFamily="34" charset="-122"/>
                </a:endParaRPr>
              </a:p>
            </p:txBody>
          </p:sp>
        </p:grpSp>
      </p:grpSp>
      <p:grpSp>
        <p:nvGrpSpPr>
          <p:cNvPr id="640" name="Group 52">
            <a:extLst>
              <a:ext uri="{FF2B5EF4-FFF2-40B4-BE49-F238E27FC236}">
                <a16:creationId xmlns:a16="http://schemas.microsoft.com/office/drawing/2014/main" id="{D74F9DCD-65BF-2B44-93FA-F3BAEA2A5B2F}"/>
              </a:ext>
            </a:extLst>
          </p:cNvPr>
          <p:cNvGrpSpPr/>
          <p:nvPr/>
        </p:nvGrpSpPr>
        <p:grpSpPr>
          <a:xfrm>
            <a:off x="5270327" y="1758187"/>
            <a:ext cx="2841599" cy="1220902"/>
            <a:chOff x="6751530" y="2043623"/>
            <a:chExt cx="3788798" cy="1627868"/>
          </a:xfrm>
        </p:grpSpPr>
        <p:grpSp>
          <p:nvGrpSpPr>
            <p:cNvPr id="643" name="Group 52">
              <a:extLst>
                <a:ext uri="{FF2B5EF4-FFF2-40B4-BE49-F238E27FC236}">
                  <a16:creationId xmlns:a16="http://schemas.microsoft.com/office/drawing/2014/main" id="{F5EFFD42-FF20-9542-A0C8-56A2BD25C0C7}"/>
                </a:ext>
              </a:extLst>
            </p:cNvPr>
            <p:cNvGrpSpPr>
              <a:grpSpLocks/>
            </p:cNvGrpSpPr>
            <p:nvPr/>
          </p:nvGrpSpPr>
          <p:grpSpPr bwMode="auto">
            <a:xfrm>
              <a:off x="7216411" y="2043623"/>
              <a:ext cx="2590800" cy="369332"/>
              <a:chOff x="5806858" y="3260868"/>
              <a:chExt cx="2590800" cy="369332"/>
            </a:xfrm>
          </p:grpSpPr>
          <p:cxnSp>
            <p:nvCxnSpPr>
              <p:cNvPr id="653" name="Straight Connector 38">
                <a:extLst>
                  <a:ext uri="{FF2B5EF4-FFF2-40B4-BE49-F238E27FC236}">
                    <a16:creationId xmlns:a16="http://schemas.microsoft.com/office/drawing/2014/main" id="{397E7461-5099-A44B-806E-2E1E189AA593}"/>
                  </a:ext>
                </a:extLst>
              </p:cNvPr>
              <p:cNvCxnSpPr/>
              <p:nvPr/>
            </p:nvCxnSpPr>
            <p:spPr>
              <a:xfrm>
                <a:off x="5806858" y="3427413"/>
                <a:ext cx="2590800" cy="15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54" name="TextBox 23">
                <a:extLst>
                  <a:ext uri="{FF2B5EF4-FFF2-40B4-BE49-F238E27FC236}">
                    <a16:creationId xmlns:a16="http://schemas.microsoft.com/office/drawing/2014/main" id="{D1451D5C-DF4C-E74B-B024-F0A9F41BA975}"/>
                  </a:ext>
                </a:extLst>
              </p:cNvPr>
              <p:cNvSpPr txBox="1">
                <a:spLocks noChangeArrowheads="1"/>
              </p:cNvSpPr>
              <p:nvPr/>
            </p:nvSpPr>
            <p:spPr bwMode="auto">
              <a:xfrm>
                <a:off x="6564747" y="3260868"/>
                <a:ext cx="1066960" cy="369332"/>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ＭＳ Ｐゴシック" charset="0"/>
                  </a:defRPr>
                </a:lvl1pPr>
                <a:lvl2pPr marL="37931725" indent="-37474525" eaLnBrk="0" hangingPunct="0">
                  <a:defRPr sz="2000" b="1">
                    <a:solidFill>
                      <a:schemeClr val="tx1"/>
                    </a:solidFill>
                    <a:latin typeface="Helvetica" charset="0"/>
                    <a:ea typeface="ＭＳ Ｐゴシック" charset="0"/>
                  </a:defRPr>
                </a:lvl2pPr>
                <a:lvl3pPr eaLnBrk="0" hangingPunct="0">
                  <a:defRPr sz="2000" b="1">
                    <a:solidFill>
                      <a:schemeClr val="tx1"/>
                    </a:solidFill>
                    <a:latin typeface="Helvetica" charset="0"/>
                    <a:ea typeface="ＭＳ Ｐゴシック" charset="0"/>
                  </a:defRPr>
                </a:lvl3pPr>
                <a:lvl4pPr eaLnBrk="0" hangingPunct="0">
                  <a:defRPr sz="2000" b="1">
                    <a:solidFill>
                      <a:schemeClr val="tx1"/>
                    </a:solidFill>
                    <a:latin typeface="Helvetica" charset="0"/>
                    <a:ea typeface="ＭＳ Ｐゴシック" charset="0"/>
                  </a:defRPr>
                </a:lvl4pPr>
                <a:lvl5pPr eaLnBrk="0" hangingPunct="0">
                  <a:defRPr sz="2000" b="1">
                    <a:solidFill>
                      <a:schemeClr val="tx1"/>
                    </a:solidFill>
                    <a:latin typeface="Helvetica" charset="0"/>
                    <a:ea typeface="ＭＳ Ｐゴシック" charset="0"/>
                  </a:defRPr>
                </a:lvl5pPr>
                <a:lvl6pPr marL="457200" eaLnBrk="0" fontAlgn="base" hangingPunct="0">
                  <a:spcBef>
                    <a:spcPct val="0"/>
                  </a:spcBef>
                  <a:spcAft>
                    <a:spcPct val="0"/>
                  </a:spcAft>
                  <a:defRPr sz="2000" b="1">
                    <a:solidFill>
                      <a:schemeClr val="tx1"/>
                    </a:solidFill>
                    <a:latin typeface="Helvetica" charset="0"/>
                    <a:ea typeface="ＭＳ Ｐゴシック" charset="0"/>
                  </a:defRPr>
                </a:lvl6pPr>
                <a:lvl7pPr marL="914400" eaLnBrk="0" fontAlgn="base" hangingPunct="0">
                  <a:spcBef>
                    <a:spcPct val="0"/>
                  </a:spcBef>
                  <a:spcAft>
                    <a:spcPct val="0"/>
                  </a:spcAft>
                  <a:defRPr sz="2000" b="1">
                    <a:solidFill>
                      <a:schemeClr val="tx1"/>
                    </a:solidFill>
                    <a:latin typeface="Helvetica" charset="0"/>
                    <a:ea typeface="ＭＳ Ｐゴシック" charset="0"/>
                  </a:defRPr>
                </a:lvl7pPr>
                <a:lvl8pPr marL="1371600" eaLnBrk="0" fontAlgn="base" hangingPunct="0">
                  <a:spcBef>
                    <a:spcPct val="0"/>
                  </a:spcBef>
                  <a:spcAft>
                    <a:spcPct val="0"/>
                  </a:spcAft>
                  <a:defRPr sz="2000" b="1">
                    <a:solidFill>
                      <a:schemeClr val="tx1"/>
                    </a:solidFill>
                    <a:latin typeface="Helvetica" charset="0"/>
                    <a:ea typeface="ＭＳ Ｐゴシック" charset="0"/>
                  </a:defRPr>
                </a:lvl8pPr>
                <a:lvl9pPr marL="1828800" eaLnBrk="0" fontAlgn="base" hangingPunct="0">
                  <a:spcBef>
                    <a:spcPct val="0"/>
                  </a:spcBef>
                  <a:spcAft>
                    <a:spcPct val="0"/>
                  </a:spcAft>
                  <a:defRPr sz="2000" b="1">
                    <a:solidFill>
                      <a:schemeClr val="tx1"/>
                    </a:solidFill>
                    <a:latin typeface="Helvetica" charset="0"/>
                    <a:ea typeface="ＭＳ Ｐゴシック" charset="0"/>
                  </a:defRPr>
                </a:lvl9pPr>
              </a:lstStyle>
              <a:p>
                <a:pPr algn="ctr" defTabSz="685800" eaLnBrk="1" fontAlgn="base" hangingPunct="1">
                  <a:spcBef>
                    <a:spcPct val="0"/>
                  </a:spcBef>
                  <a:spcAft>
                    <a:spcPct val="0"/>
                  </a:spcAft>
                </a:pPr>
                <a:r>
                  <a:rPr lang="zh-CN" altLang="en-US" sz="1200" dirty="0" smtClean="0">
                    <a:solidFill>
                      <a:prstClr val="black"/>
                    </a:solidFill>
                    <a:latin typeface="微软雅黑" panose="020B0503020204020204" pitchFamily="34" charset="-122"/>
                    <a:ea typeface="微软雅黑" panose="020B0503020204020204" pitchFamily="34" charset="-122"/>
                  </a:rPr>
                  <a:t>开放接口</a:t>
                </a:r>
                <a:endParaRPr lang="en-US" sz="1200" dirty="0">
                  <a:solidFill>
                    <a:prstClr val="black"/>
                  </a:solidFill>
                  <a:latin typeface="微软雅黑" panose="020B0503020204020204" pitchFamily="34" charset="-122"/>
                  <a:ea typeface="微软雅黑" panose="020B0503020204020204" pitchFamily="34" charset="-122"/>
                </a:endParaRPr>
              </a:p>
            </p:txBody>
          </p:sp>
        </p:grpSp>
        <p:grpSp>
          <p:nvGrpSpPr>
            <p:cNvPr id="644" name="Group 47">
              <a:extLst>
                <a:ext uri="{FF2B5EF4-FFF2-40B4-BE49-F238E27FC236}">
                  <a16:creationId xmlns:a16="http://schemas.microsoft.com/office/drawing/2014/main" id="{913C6582-D002-B947-ADEA-9350E7BF41B7}"/>
                </a:ext>
              </a:extLst>
            </p:cNvPr>
            <p:cNvGrpSpPr/>
            <p:nvPr/>
          </p:nvGrpSpPr>
          <p:grpSpPr>
            <a:xfrm>
              <a:off x="6751530" y="2505206"/>
              <a:ext cx="1327714" cy="1139143"/>
              <a:chOff x="6914368" y="2467628"/>
              <a:chExt cx="1327714" cy="1139143"/>
            </a:xfrm>
          </p:grpSpPr>
          <p:pic>
            <p:nvPicPr>
              <p:cNvPr id="651" name="Picture 43">
                <a:extLst>
                  <a:ext uri="{FF2B5EF4-FFF2-40B4-BE49-F238E27FC236}">
                    <a16:creationId xmlns:a16="http://schemas.microsoft.com/office/drawing/2014/main" id="{50E78C78-BCB0-2347-9C1B-233CCCD2C5E8}"/>
                  </a:ext>
                </a:extLst>
              </p:cNvPr>
              <p:cNvPicPr>
                <a:picLocks noChangeAspect="1"/>
              </p:cNvPicPr>
              <p:nvPr/>
            </p:nvPicPr>
            <p:blipFill>
              <a:blip r:embed="rId6"/>
              <a:stretch>
                <a:fillRect/>
              </a:stretch>
            </p:blipFill>
            <p:spPr>
              <a:xfrm>
                <a:off x="6930000" y="2467628"/>
                <a:ext cx="1026811" cy="788444"/>
              </a:xfrm>
              <a:prstGeom prst="rect">
                <a:avLst/>
              </a:prstGeom>
            </p:spPr>
          </p:pic>
          <p:sp>
            <p:nvSpPr>
              <p:cNvPr id="652" name="TextBox 46">
                <a:extLst>
                  <a:ext uri="{FF2B5EF4-FFF2-40B4-BE49-F238E27FC236}">
                    <a16:creationId xmlns:a16="http://schemas.microsoft.com/office/drawing/2014/main" id="{3C85EF8D-B7E7-D84A-86F9-C7DB87B94C88}"/>
                  </a:ext>
                </a:extLst>
              </p:cNvPr>
              <p:cNvSpPr txBox="1"/>
              <p:nvPr/>
            </p:nvSpPr>
            <p:spPr>
              <a:xfrm>
                <a:off x="6914368" y="3206662"/>
                <a:ext cx="1327714" cy="400109"/>
              </a:xfrm>
              <a:prstGeom prst="rect">
                <a:avLst/>
              </a:prstGeom>
              <a:noFill/>
            </p:spPr>
            <p:txBody>
              <a:bodyPr wrap="none" rtlCol="0">
                <a:spAutoFit/>
              </a:bodyPr>
              <a:lstStyle/>
              <a:p>
                <a:r>
                  <a:rPr lang="en-US" sz="1350" b="1" dirty="0">
                    <a:latin typeface="微软雅黑" panose="020B0503020204020204" pitchFamily="34" charset="-122"/>
                    <a:ea typeface="微软雅黑" panose="020B0503020204020204" pitchFamily="34" charset="-122"/>
                  </a:rPr>
                  <a:t>Windows</a:t>
                </a:r>
              </a:p>
            </p:txBody>
          </p:sp>
        </p:grpSp>
        <p:grpSp>
          <p:nvGrpSpPr>
            <p:cNvPr id="645" name="Group 48">
              <a:extLst>
                <a:ext uri="{FF2B5EF4-FFF2-40B4-BE49-F238E27FC236}">
                  <a16:creationId xmlns:a16="http://schemas.microsoft.com/office/drawing/2014/main" id="{558F6482-06CD-7C45-8A8E-3A316A33259A}"/>
                </a:ext>
              </a:extLst>
            </p:cNvPr>
            <p:cNvGrpSpPr/>
            <p:nvPr/>
          </p:nvGrpSpPr>
          <p:grpSpPr>
            <a:xfrm>
              <a:off x="8166970" y="2450566"/>
              <a:ext cx="889213" cy="1220925"/>
              <a:chOff x="5173249" y="6258478"/>
              <a:chExt cx="889213" cy="1220925"/>
            </a:xfrm>
          </p:grpSpPr>
          <p:pic>
            <p:nvPicPr>
              <p:cNvPr id="649" name="Picture 45" descr="A picture containing table, toy, yellow&#10;&#10;Description automatically generated">
                <a:extLst>
                  <a:ext uri="{FF2B5EF4-FFF2-40B4-BE49-F238E27FC236}">
                    <a16:creationId xmlns:a16="http://schemas.microsoft.com/office/drawing/2014/main" id="{265C7ED0-C582-DF48-926F-149A44CA4BF5}"/>
                  </a:ext>
                </a:extLst>
              </p:cNvPr>
              <p:cNvPicPr>
                <a:picLocks noChangeAspect="1"/>
              </p:cNvPicPr>
              <p:nvPr/>
            </p:nvPicPr>
            <p:blipFill>
              <a:blip r:embed="rId7"/>
              <a:stretch>
                <a:fillRect/>
              </a:stretch>
            </p:blipFill>
            <p:spPr>
              <a:xfrm>
                <a:off x="5173249" y="6258478"/>
                <a:ext cx="763916" cy="900148"/>
              </a:xfrm>
              <a:prstGeom prst="rect">
                <a:avLst/>
              </a:prstGeom>
            </p:spPr>
          </p:pic>
          <p:sp>
            <p:nvSpPr>
              <p:cNvPr id="650" name="TextBox 49">
                <a:extLst>
                  <a:ext uri="{FF2B5EF4-FFF2-40B4-BE49-F238E27FC236}">
                    <a16:creationId xmlns:a16="http://schemas.microsoft.com/office/drawing/2014/main" id="{BE7A1F54-7F6C-0244-87D2-CE5D33A25F06}"/>
                  </a:ext>
                </a:extLst>
              </p:cNvPr>
              <p:cNvSpPr txBox="1"/>
              <p:nvPr/>
            </p:nvSpPr>
            <p:spPr>
              <a:xfrm>
                <a:off x="5187864" y="7079294"/>
                <a:ext cx="874598" cy="400109"/>
              </a:xfrm>
              <a:prstGeom prst="rect">
                <a:avLst/>
              </a:prstGeom>
              <a:noFill/>
            </p:spPr>
            <p:txBody>
              <a:bodyPr wrap="none" rtlCol="0">
                <a:spAutoFit/>
              </a:bodyPr>
              <a:lstStyle/>
              <a:p>
                <a:r>
                  <a:rPr lang="en-US" sz="1350" b="1" dirty="0">
                    <a:latin typeface="微软雅黑" panose="020B0503020204020204" pitchFamily="34" charset="-122"/>
                    <a:ea typeface="微软雅黑" panose="020B0503020204020204" pitchFamily="34" charset="-122"/>
                  </a:rPr>
                  <a:t>Linux</a:t>
                </a:r>
              </a:p>
            </p:txBody>
          </p:sp>
        </p:grpSp>
        <p:grpSp>
          <p:nvGrpSpPr>
            <p:cNvPr id="646" name="Group 51">
              <a:extLst>
                <a:ext uri="{FF2B5EF4-FFF2-40B4-BE49-F238E27FC236}">
                  <a16:creationId xmlns:a16="http://schemas.microsoft.com/office/drawing/2014/main" id="{31E83FAE-D11D-824A-9997-5BC344C130CD}"/>
                </a:ext>
              </a:extLst>
            </p:cNvPr>
            <p:cNvGrpSpPr/>
            <p:nvPr/>
          </p:nvGrpSpPr>
          <p:grpSpPr>
            <a:xfrm>
              <a:off x="9331890" y="2343411"/>
              <a:ext cx="1208438" cy="1305115"/>
              <a:chOff x="6125227" y="6163850"/>
              <a:chExt cx="1208438" cy="1305115"/>
            </a:xfrm>
          </p:grpSpPr>
          <p:pic>
            <p:nvPicPr>
              <p:cNvPr id="647" name="Picture 4" descr="How to reset the Mac Os 9 password">
                <a:extLst>
                  <a:ext uri="{FF2B5EF4-FFF2-40B4-BE49-F238E27FC236}">
                    <a16:creationId xmlns:a16="http://schemas.microsoft.com/office/drawing/2014/main" id="{DDBF632B-C75A-2940-8E0A-E3CD6B50371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25227" y="6163850"/>
                <a:ext cx="994775" cy="994775"/>
              </a:xfrm>
              <a:prstGeom prst="rect">
                <a:avLst/>
              </a:prstGeom>
              <a:noFill/>
              <a:extLst>
                <a:ext uri="{909E8E84-426E-40DD-AFC4-6F175D3DCCD1}">
                  <a14:hiddenFill xmlns:a14="http://schemas.microsoft.com/office/drawing/2010/main">
                    <a:solidFill>
                      <a:srgbClr val="FFFFFF"/>
                    </a:solidFill>
                  </a14:hiddenFill>
                </a:ext>
              </a:extLst>
            </p:spPr>
          </p:pic>
          <p:sp>
            <p:nvSpPr>
              <p:cNvPr id="648" name="TextBox 50">
                <a:extLst>
                  <a:ext uri="{FF2B5EF4-FFF2-40B4-BE49-F238E27FC236}">
                    <a16:creationId xmlns:a16="http://schemas.microsoft.com/office/drawing/2014/main" id="{B3BFAAA5-9205-9D46-85D8-6CE3428E2994}"/>
                  </a:ext>
                </a:extLst>
              </p:cNvPr>
              <p:cNvSpPr txBox="1"/>
              <p:nvPr/>
            </p:nvSpPr>
            <p:spPr>
              <a:xfrm>
                <a:off x="6129404" y="7068856"/>
                <a:ext cx="1204261" cy="400109"/>
              </a:xfrm>
              <a:prstGeom prst="rect">
                <a:avLst/>
              </a:prstGeom>
              <a:noFill/>
            </p:spPr>
            <p:txBody>
              <a:bodyPr wrap="none" rtlCol="0">
                <a:spAutoFit/>
              </a:bodyPr>
              <a:lstStyle/>
              <a:p>
                <a:r>
                  <a:rPr lang="en-US" sz="1350" b="1" dirty="0">
                    <a:latin typeface="微软雅黑" panose="020B0503020204020204" pitchFamily="34" charset="-122"/>
                    <a:ea typeface="微软雅黑" panose="020B0503020204020204" pitchFamily="34" charset="-122"/>
                  </a:rPr>
                  <a:t>MAC OS</a:t>
                </a:r>
              </a:p>
            </p:txBody>
          </p:sp>
        </p:grpSp>
      </p:grpSp>
      <p:sp>
        <p:nvSpPr>
          <p:cNvPr id="655" name="Right Arrow 53">
            <a:extLst>
              <a:ext uri="{FF2B5EF4-FFF2-40B4-BE49-F238E27FC236}">
                <a16:creationId xmlns:a16="http://schemas.microsoft.com/office/drawing/2014/main" id="{DA4F0CA8-C578-3F4E-B0B7-7D75647F7D87}"/>
              </a:ext>
            </a:extLst>
          </p:cNvPr>
          <p:cNvSpPr/>
          <p:nvPr/>
        </p:nvSpPr>
        <p:spPr>
          <a:xfrm>
            <a:off x="3955093" y="4002065"/>
            <a:ext cx="884119" cy="573066"/>
          </a:xfrm>
          <a:prstGeom prst="rightArrow">
            <a:avLst/>
          </a:prstGeom>
          <a:gradFill>
            <a:gsLst>
              <a:gs pos="0">
                <a:schemeClr val="bg1"/>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微软雅黑" panose="020B0503020204020204" pitchFamily="34" charset="-122"/>
              <a:ea typeface="微软雅黑" panose="020B0503020204020204" pitchFamily="34" charset="-122"/>
            </a:endParaRPr>
          </a:p>
        </p:txBody>
      </p:sp>
      <p:sp>
        <p:nvSpPr>
          <p:cNvPr id="656" name="Right Arrow 56">
            <a:extLst>
              <a:ext uri="{FF2B5EF4-FFF2-40B4-BE49-F238E27FC236}">
                <a16:creationId xmlns:a16="http://schemas.microsoft.com/office/drawing/2014/main" id="{B5F7B71C-D375-D14B-AFF2-44852436983E}"/>
              </a:ext>
            </a:extLst>
          </p:cNvPr>
          <p:cNvSpPr/>
          <p:nvPr/>
        </p:nvSpPr>
        <p:spPr>
          <a:xfrm>
            <a:off x="3956658" y="2134121"/>
            <a:ext cx="884119" cy="573066"/>
          </a:xfrm>
          <a:prstGeom prst="rightArrow">
            <a:avLst/>
          </a:prstGeom>
          <a:gradFill>
            <a:gsLst>
              <a:gs pos="0">
                <a:schemeClr val="bg1"/>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725944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618"/>
                                        </p:tgtEl>
                                        <p:attrNameLst>
                                          <p:attrName>style.opacity</p:attrName>
                                        </p:attrNameLst>
                                      </p:cBhvr>
                                      <p:to>
                                        <p:strVal val="0.5"/>
                                      </p:to>
                                    </p:set>
                                    <p:animEffect filter="image" prLst="opacity: 0.5">
                                      <p:cBhvr rctx="IE">
                                        <p:cTn id="7" dur="indefinite"/>
                                        <p:tgtEl>
                                          <p:spTgt spid="618"/>
                                        </p:tgtEl>
                                      </p:cBhvr>
                                    </p:animEffect>
                                  </p:childTnLst>
                                </p:cTn>
                              </p:par>
                              <p:par>
                                <p:cTn id="8" presetID="10" presetClass="entr" presetSubtype="0" fill="hold" nodeType="withEffect">
                                  <p:stCondLst>
                                    <p:cond delay="0"/>
                                  </p:stCondLst>
                                  <p:childTnLst>
                                    <p:set>
                                      <p:cBhvr>
                                        <p:cTn id="9" dur="1" fill="hold">
                                          <p:stCondLst>
                                            <p:cond delay="0"/>
                                          </p:stCondLst>
                                        </p:cTn>
                                        <p:tgtEl>
                                          <p:spTgt spid="620"/>
                                        </p:tgtEl>
                                        <p:attrNameLst>
                                          <p:attrName>style.visibility</p:attrName>
                                        </p:attrNameLst>
                                      </p:cBhvr>
                                      <p:to>
                                        <p:strVal val="visible"/>
                                      </p:to>
                                    </p:set>
                                    <p:animEffect transition="in" filter="fade">
                                      <p:cBhvr>
                                        <p:cTn id="10" dur="500"/>
                                        <p:tgtEl>
                                          <p:spTgt spid="62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619"/>
                                        </p:tgtEl>
                                        <p:attrNameLst>
                                          <p:attrName>style.visibility</p:attrName>
                                        </p:attrNameLst>
                                      </p:cBhvr>
                                      <p:to>
                                        <p:strVal val="visible"/>
                                      </p:to>
                                    </p:set>
                                    <p:animEffect transition="in" filter="fade">
                                      <p:cBhvr>
                                        <p:cTn id="14" dur="500"/>
                                        <p:tgtEl>
                                          <p:spTgt spid="619"/>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633"/>
                                        </p:tgtEl>
                                        <p:attrNameLst>
                                          <p:attrName>style.visibility</p:attrName>
                                        </p:attrNameLst>
                                      </p:cBhvr>
                                      <p:to>
                                        <p:strVal val="visible"/>
                                      </p:to>
                                    </p:set>
                                    <p:animEffect transition="in" filter="fade">
                                      <p:cBhvr>
                                        <p:cTn id="18" dur="500"/>
                                        <p:tgtEl>
                                          <p:spTgt spid="63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656"/>
                                        </p:tgtEl>
                                        <p:attrNameLst>
                                          <p:attrName>style.visibility</p:attrName>
                                        </p:attrNameLst>
                                      </p:cBhvr>
                                      <p:to>
                                        <p:strVal val="visible"/>
                                      </p:to>
                                    </p:set>
                                    <p:animEffect transition="in" filter="wipe(left)">
                                      <p:cBhvr>
                                        <p:cTn id="23" dur="500"/>
                                        <p:tgtEl>
                                          <p:spTgt spid="656"/>
                                        </p:tgtEl>
                                      </p:cBhvr>
                                    </p:animEffect>
                                  </p:childTnLst>
                                </p:cTn>
                              </p:par>
                            </p:childTnLst>
                          </p:cTn>
                        </p:par>
                        <p:par>
                          <p:cTn id="24" fill="hold">
                            <p:stCondLst>
                              <p:cond delay="500"/>
                            </p:stCondLst>
                            <p:childTnLst>
                              <p:par>
                                <p:cTn id="25" presetID="10" presetClass="entr" presetSubtype="0" fill="hold" nodeType="afterEffect">
                                  <p:stCondLst>
                                    <p:cond delay="0"/>
                                  </p:stCondLst>
                                  <p:childTnLst>
                                    <p:set>
                                      <p:cBhvr>
                                        <p:cTn id="26" dur="1" fill="hold">
                                          <p:stCondLst>
                                            <p:cond delay="0"/>
                                          </p:stCondLst>
                                        </p:cTn>
                                        <p:tgtEl>
                                          <p:spTgt spid="635"/>
                                        </p:tgtEl>
                                        <p:attrNameLst>
                                          <p:attrName>style.visibility</p:attrName>
                                        </p:attrNameLst>
                                      </p:cBhvr>
                                      <p:to>
                                        <p:strVal val="visible"/>
                                      </p:to>
                                    </p:set>
                                    <p:animEffect transition="in" filter="fade">
                                      <p:cBhvr>
                                        <p:cTn id="27" dur="500"/>
                                        <p:tgtEl>
                                          <p:spTgt spid="635"/>
                                        </p:tgtEl>
                                      </p:cBhvr>
                                    </p:animEffect>
                                  </p:childTnLst>
                                </p:cTn>
                              </p:par>
                              <p:par>
                                <p:cTn id="28" presetID="9" presetClass="entr" presetSubtype="0" fill="hold" nodeType="withEffect">
                                  <p:stCondLst>
                                    <p:cond delay="0"/>
                                  </p:stCondLst>
                                  <p:childTnLst>
                                    <p:set>
                                      <p:cBhvr>
                                        <p:cTn id="29" dur="1" fill="hold">
                                          <p:stCondLst>
                                            <p:cond delay="0"/>
                                          </p:stCondLst>
                                        </p:cTn>
                                        <p:tgtEl>
                                          <p:spTgt spid="615"/>
                                        </p:tgtEl>
                                        <p:attrNameLst>
                                          <p:attrName>style.visibility</p:attrName>
                                        </p:attrNameLst>
                                      </p:cBhvr>
                                      <p:to>
                                        <p:strVal val="visible"/>
                                      </p:to>
                                    </p:set>
                                    <p:animEffect transition="in" filter="dissolve">
                                      <p:cBhvr>
                                        <p:cTn id="30" dur="500"/>
                                        <p:tgtEl>
                                          <p:spTgt spid="615"/>
                                        </p:tgtEl>
                                      </p:cBhvr>
                                    </p:animEffect>
                                  </p:childTnLst>
                                </p:cTn>
                              </p:par>
                            </p:childTnLst>
                          </p:cTn>
                        </p:par>
                        <p:par>
                          <p:cTn id="31" fill="hold">
                            <p:stCondLst>
                              <p:cond delay="1000"/>
                            </p:stCondLst>
                            <p:childTnLst>
                              <p:par>
                                <p:cTn id="32" presetID="9" presetClass="entr" presetSubtype="0" fill="hold" nodeType="afterEffect">
                                  <p:stCondLst>
                                    <p:cond delay="0"/>
                                  </p:stCondLst>
                                  <p:childTnLst>
                                    <p:set>
                                      <p:cBhvr>
                                        <p:cTn id="33" dur="1" fill="hold">
                                          <p:stCondLst>
                                            <p:cond delay="0"/>
                                          </p:stCondLst>
                                        </p:cTn>
                                        <p:tgtEl>
                                          <p:spTgt spid="640"/>
                                        </p:tgtEl>
                                        <p:attrNameLst>
                                          <p:attrName>style.visibility</p:attrName>
                                        </p:attrNameLst>
                                      </p:cBhvr>
                                      <p:to>
                                        <p:strVal val="visible"/>
                                      </p:to>
                                    </p:set>
                                    <p:animEffect transition="in" filter="dissolve">
                                      <p:cBhvr>
                                        <p:cTn id="34" dur="500"/>
                                        <p:tgtEl>
                                          <p:spTgt spid="640"/>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621"/>
                                        </p:tgtEl>
                                        <p:attrNameLst>
                                          <p:attrName>style.visibility</p:attrName>
                                        </p:attrNameLst>
                                      </p:cBhvr>
                                      <p:to>
                                        <p:strVal val="visible"/>
                                      </p:to>
                                    </p:set>
                                    <p:animEffect transition="in" filter="wipe(left)">
                                      <p:cBhvr>
                                        <p:cTn id="38" dur="500"/>
                                        <p:tgtEl>
                                          <p:spTgt spid="62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617"/>
                                        </p:tgtEl>
                                        <p:attrNameLst>
                                          <p:attrName>style.visibility</p:attrName>
                                        </p:attrNameLst>
                                      </p:cBhvr>
                                      <p:to>
                                        <p:strVal val="visible"/>
                                      </p:to>
                                    </p:set>
                                    <p:animEffect transition="in" filter="fade">
                                      <p:cBhvr>
                                        <p:cTn id="43" dur="500"/>
                                        <p:tgtEl>
                                          <p:spTgt spid="617"/>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655"/>
                                        </p:tgtEl>
                                        <p:attrNameLst>
                                          <p:attrName>style.visibility</p:attrName>
                                        </p:attrNameLst>
                                      </p:cBhvr>
                                      <p:to>
                                        <p:strVal val="visible"/>
                                      </p:to>
                                    </p:set>
                                    <p:animEffect transition="in" filter="wipe(left)">
                                      <p:cBhvr>
                                        <p:cTn id="47" dur="500"/>
                                        <p:tgtEl>
                                          <p:spTgt spid="655"/>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634"/>
                                        </p:tgtEl>
                                        <p:attrNameLst>
                                          <p:attrName>style.visibility</p:attrName>
                                        </p:attrNameLst>
                                      </p:cBhvr>
                                      <p:to>
                                        <p:strVal val="visible"/>
                                      </p:to>
                                    </p:set>
                                    <p:animEffect transition="in" filter="fade">
                                      <p:cBhvr>
                                        <p:cTn id="51" dur="500"/>
                                        <p:tgtEl>
                                          <p:spTgt spid="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 grpId="0"/>
      <p:bldP spid="634" grpId="0"/>
      <p:bldP spid="655" grpId="0" animBg="1"/>
      <p:bldP spid="65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交换机</a:t>
            </a:r>
            <a:r>
              <a:rPr lang="en-US" altLang="zh-CN" sz="2400" b="1" dirty="0">
                <a:solidFill>
                  <a:schemeClr val="bg1"/>
                </a:solidFill>
                <a:latin typeface="微软雅黑" pitchFamily="34" charset="-122"/>
                <a:ea typeface="微软雅黑" pitchFamily="34" charset="-122"/>
              </a:rPr>
              <a:t>/</a:t>
            </a:r>
            <a:r>
              <a:rPr lang="zh-CN" altLang="en-US" sz="2400" b="1" dirty="0">
                <a:solidFill>
                  <a:schemeClr val="bg1"/>
                </a:solidFill>
                <a:latin typeface="微软雅黑" pitchFamily="34" charset="-122"/>
                <a:ea typeface="微软雅黑" pitchFamily="34" charset="-122"/>
              </a:rPr>
              <a:t>路由器</a:t>
            </a:r>
          </a:p>
        </p:txBody>
      </p:sp>
      <p:sp>
        <p:nvSpPr>
          <p:cNvPr id="19" name="TextBox 27"/>
          <p:cNvSpPr txBox="1">
            <a:spLocks noChangeArrowheads="1"/>
          </p:cNvSpPr>
          <p:nvPr/>
        </p:nvSpPr>
        <p:spPr bwMode="auto">
          <a:xfrm>
            <a:off x="1018395" y="3881066"/>
            <a:ext cx="1777435" cy="867930"/>
          </a:xfrm>
          <a:prstGeom prst="rect">
            <a:avLst/>
          </a:prstGeom>
          <a:noFill/>
          <a:ln>
            <a:noFill/>
          </a:ln>
          <a:extLst/>
        </p:spPr>
        <p:txBody>
          <a:bodyPr wrap="square">
            <a:spAutoFit/>
          </a:bodyPr>
          <a:lstStyle>
            <a:defPPr>
              <a:defRPr lang="zh-CN"/>
            </a:defPPr>
            <a:lvl1pPr marL="285750" indent="-285750" defTabSz="685800" fontAlgn="base">
              <a:lnSpc>
                <a:spcPct val="120000"/>
              </a:lnSpc>
              <a:spcBef>
                <a:spcPct val="0"/>
              </a:spcBef>
              <a:spcAft>
                <a:spcPct val="0"/>
              </a:spcAft>
              <a:buFont typeface="Arial" panose="020B0604020202020204" pitchFamily="34" charset="0"/>
              <a:buChar char="•"/>
              <a:defRPr sz="1400" b="1">
                <a:solidFill>
                  <a:prstClr val="black"/>
                </a:solidFill>
                <a:latin typeface="微软雅黑" panose="020B0503020204020204" pitchFamily="34" charset="-122"/>
                <a:ea typeface="微软雅黑" panose="020B0503020204020204" pitchFamily="34" charset="-122"/>
                <a:cs typeface="ＭＳ Ｐゴシック" charset="0"/>
              </a:defRPr>
            </a:lvl1pPr>
            <a:lvl2pPr marL="37931725" indent="-37474525" eaLnBrk="0" hangingPunct="0">
              <a:defRPr sz="2000" b="1">
                <a:latin typeface="Helvetica" charset="0"/>
                <a:ea typeface="ＭＳ Ｐゴシック" charset="0"/>
              </a:defRPr>
            </a:lvl2pPr>
            <a:lvl3pPr eaLnBrk="0" hangingPunct="0">
              <a:defRPr sz="2000" b="1">
                <a:latin typeface="Helvetica" charset="0"/>
                <a:ea typeface="ＭＳ Ｐゴシック" charset="0"/>
              </a:defRPr>
            </a:lvl3pPr>
            <a:lvl4pPr eaLnBrk="0" hangingPunct="0">
              <a:defRPr sz="2000" b="1">
                <a:latin typeface="Helvetica" charset="0"/>
                <a:ea typeface="ＭＳ Ｐゴシック" charset="0"/>
              </a:defRPr>
            </a:lvl4pPr>
            <a:lvl5pPr eaLnBrk="0" hangingPunct="0">
              <a:defRPr sz="2000" b="1">
                <a:latin typeface="Helvetica" charset="0"/>
                <a:ea typeface="ＭＳ Ｐゴシック" charset="0"/>
              </a:defRPr>
            </a:lvl5pPr>
            <a:lvl6pPr marL="457200" eaLnBrk="0" fontAlgn="base" hangingPunct="0">
              <a:spcBef>
                <a:spcPct val="0"/>
              </a:spcBef>
              <a:spcAft>
                <a:spcPct val="0"/>
              </a:spcAft>
              <a:defRPr sz="2000" b="1">
                <a:latin typeface="Helvetica" charset="0"/>
                <a:ea typeface="ＭＳ Ｐゴシック" charset="0"/>
              </a:defRPr>
            </a:lvl6pPr>
            <a:lvl7pPr marL="914400" eaLnBrk="0" fontAlgn="base" hangingPunct="0">
              <a:spcBef>
                <a:spcPct val="0"/>
              </a:spcBef>
              <a:spcAft>
                <a:spcPct val="0"/>
              </a:spcAft>
              <a:defRPr sz="2000" b="1">
                <a:latin typeface="Helvetica" charset="0"/>
                <a:ea typeface="ＭＳ Ｐゴシック" charset="0"/>
              </a:defRPr>
            </a:lvl7pPr>
            <a:lvl8pPr marL="1371600" eaLnBrk="0" fontAlgn="base" hangingPunct="0">
              <a:spcBef>
                <a:spcPct val="0"/>
              </a:spcBef>
              <a:spcAft>
                <a:spcPct val="0"/>
              </a:spcAft>
              <a:defRPr sz="2000" b="1">
                <a:latin typeface="Helvetica" charset="0"/>
                <a:ea typeface="ＭＳ Ｐゴシック" charset="0"/>
              </a:defRPr>
            </a:lvl8pPr>
            <a:lvl9pPr marL="1828800" eaLnBrk="0" fontAlgn="base" hangingPunct="0">
              <a:spcBef>
                <a:spcPct val="0"/>
              </a:spcBef>
              <a:spcAft>
                <a:spcPct val="0"/>
              </a:spcAft>
              <a:defRPr sz="2000" b="1">
                <a:latin typeface="Helvetica" charset="0"/>
                <a:ea typeface="ＭＳ Ｐゴシック" charset="0"/>
              </a:defRPr>
            </a:lvl9pPr>
          </a:lstStyle>
          <a:p>
            <a:r>
              <a:rPr lang="zh-CN" altLang="en-US" dirty="0"/>
              <a:t>封闭、专用</a:t>
            </a:r>
            <a:endParaRPr lang="en-US" altLang="zh-CN" dirty="0"/>
          </a:p>
          <a:p>
            <a:r>
              <a:rPr lang="zh-CN" altLang="en-US" dirty="0"/>
              <a:t>定制困难</a:t>
            </a:r>
            <a:endParaRPr lang="en-US" altLang="zh-CN" dirty="0"/>
          </a:p>
          <a:p>
            <a:r>
              <a:rPr lang="zh-CN" altLang="en-US" dirty="0"/>
              <a:t>创新缓慢</a:t>
            </a:r>
            <a:endParaRPr lang="en-US" altLang="zh-CN" dirty="0"/>
          </a:p>
        </p:txBody>
      </p:sp>
      <p:sp>
        <p:nvSpPr>
          <p:cNvPr id="32" name="TextBox 35"/>
          <p:cNvSpPr txBox="1">
            <a:spLocks noChangeArrowheads="1"/>
          </p:cNvSpPr>
          <p:nvPr/>
        </p:nvSpPr>
        <p:spPr bwMode="auto">
          <a:xfrm>
            <a:off x="6224778" y="3992826"/>
            <a:ext cx="1820787" cy="867930"/>
          </a:xfrm>
          <a:prstGeom prst="rect">
            <a:avLst/>
          </a:prstGeom>
          <a:noFill/>
          <a:ln>
            <a:noFill/>
          </a:ln>
          <a:extLst/>
        </p:spPr>
        <p:txBody>
          <a:bodyPr wrap="square">
            <a:spAutoFit/>
          </a:bodyPr>
          <a:lstStyle>
            <a:defPPr>
              <a:defRPr lang="zh-CN"/>
            </a:defPPr>
            <a:lvl1pPr marL="285750" indent="-285750" defTabSz="685800" fontAlgn="base">
              <a:lnSpc>
                <a:spcPct val="120000"/>
              </a:lnSpc>
              <a:spcBef>
                <a:spcPct val="0"/>
              </a:spcBef>
              <a:spcAft>
                <a:spcPct val="0"/>
              </a:spcAft>
              <a:buFont typeface="Arial" panose="020B0604020202020204" pitchFamily="34" charset="0"/>
              <a:buChar char="•"/>
              <a:defRPr sz="1400" b="1">
                <a:solidFill>
                  <a:prstClr val="black"/>
                </a:solidFill>
                <a:latin typeface="微软雅黑" panose="020B0503020204020204" pitchFamily="34" charset="-122"/>
                <a:ea typeface="微软雅黑" panose="020B0503020204020204" pitchFamily="34" charset="-122"/>
                <a:cs typeface="ＭＳ Ｐゴシック" charset="0"/>
              </a:defRPr>
            </a:lvl1pPr>
            <a:lvl2pPr marL="37931725" indent="-37474525" eaLnBrk="0" hangingPunct="0">
              <a:defRPr sz="2000" b="1">
                <a:latin typeface="Helvetica" charset="0"/>
                <a:ea typeface="ＭＳ Ｐゴシック" charset="0"/>
              </a:defRPr>
            </a:lvl2pPr>
            <a:lvl3pPr eaLnBrk="0" hangingPunct="0">
              <a:defRPr sz="2000" b="1">
                <a:latin typeface="Helvetica" charset="0"/>
                <a:ea typeface="ＭＳ Ｐゴシック" charset="0"/>
              </a:defRPr>
            </a:lvl3pPr>
            <a:lvl4pPr eaLnBrk="0" hangingPunct="0">
              <a:defRPr sz="2000" b="1">
                <a:latin typeface="Helvetica" charset="0"/>
                <a:ea typeface="ＭＳ Ｐゴシック" charset="0"/>
              </a:defRPr>
            </a:lvl4pPr>
            <a:lvl5pPr eaLnBrk="0" hangingPunct="0">
              <a:defRPr sz="2000" b="1">
                <a:latin typeface="Helvetica" charset="0"/>
                <a:ea typeface="ＭＳ Ｐゴシック" charset="0"/>
              </a:defRPr>
            </a:lvl5pPr>
            <a:lvl6pPr marL="457200" eaLnBrk="0" fontAlgn="base" hangingPunct="0">
              <a:spcBef>
                <a:spcPct val="0"/>
              </a:spcBef>
              <a:spcAft>
                <a:spcPct val="0"/>
              </a:spcAft>
              <a:defRPr sz="2000" b="1">
                <a:latin typeface="Helvetica" charset="0"/>
                <a:ea typeface="ＭＳ Ｐゴシック" charset="0"/>
              </a:defRPr>
            </a:lvl6pPr>
            <a:lvl7pPr marL="914400" eaLnBrk="0" fontAlgn="base" hangingPunct="0">
              <a:spcBef>
                <a:spcPct val="0"/>
              </a:spcBef>
              <a:spcAft>
                <a:spcPct val="0"/>
              </a:spcAft>
              <a:defRPr sz="2000" b="1">
                <a:latin typeface="Helvetica" charset="0"/>
                <a:ea typeface="ＭＳ Ｐゴシック" charset="0"/>
              </a:defRPr>
            </a:lvl7pPr>
            <a:lvl8pPr marL="1371600" eaLnBrk="0" fontAlgn="base" hangingPunct="0">
              <a:spcBef>
                <a:spcPct val="0"/>
              </a:spcBef>
              <a:spcAft>
                <a:spcPct val="0"/>
              </a:spcAft>
              <a:defRPr sz="2000" b="1">
                <a:latin typeface="Helvetica" charset="0"/>
                <a:ea typeface="ＭＳ Ｐゴシック" charset="0"/>
              </a:defRPr>
            </a:lvl8pPr>
            <a:lvl9pPr marL="1828800" eaLnBrk="0" fontAlgn="base" hangingPunct="0">
              <a:spcBef>
                <a:spcPct val="0"/>
              </a:spcBef>
              <a:spcAft>
                <a:spcPct val="0"/>
              </a:spcAft>
              <a:defRPr sz="2000" b="1">
                <a:latin typeface="Helvetica" charset="0"/>
                <a:ea typeface="ＭＳ Ｐゴシック" charset="0"/>
              </a:defRPr>
            </a:lvl9pPr>
          </a:lstStyle>
          <a:p>
            <a:r>
              <a:rPr lang="zh-CN" altLang="en-US" dirty="0"/>
              <a:t>分层</a:t>
            </a:r>
            <a:r>
              <a:rPr lang="zh-CN" altLang="en-US" dirty="0" smtClean="0"/>
              <a:t>解耦</a:t>
            </a:r>
            <a:endParaRPr lang="en-US" altLang="zh-CN" dirty="0" smtClean="0"/>
          </a:p>
          <a:p>
            <a:r>
              <a:rPr lang="zh-CN" altLang="en-US" dirty="0" smtClean="0"/>
              <a:t>开放</a:t>
            </a:r>
            <a:r>
              <a:rPr lang="zh-CN" altLang="en-US" dirty="0"/>
              <a:t>接口</a:t>
            </a:r>
          </a:p>
          <a:p>
            <a:r>
              <a:rPr lang="zh-CN" altLang="en-US" dirty="0"/>
              <a:t>迅速创新</a:t>
            </a:r>
            <a:endParaRPr lang="en-US" altLang="zh-CN" dirty="0"/>
          </a:p>
        </p:txBody>
      </p:sp>
      <p:pic>
        <p:nvPicPr>
          <p:cNvPr id="44" name="Picture 47"/>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997" y="1019439"/>
            <a:ext cx="3716734" cy="297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Rounded Rectangle 4"/>
          <p:cNvSpPr/>
          <p:nvPr/>
        </p:nvSpPr>
        <p:spPr bwMode="auto">
          <a:xfrm>
            <a:off x="1278469" y="2225841"/>
            <a:ext cx="1642533" cy="60087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r>
              <a:rPr lang="zh-CN" altLang="en-US" b="1" dirty="0" smtClean="0">
                <a:solidFill>
                  <a:schemeClr val="bg1"/>
                </a:solidFill>
                <a:latin typeface="微软雅黑" panose="020B0503020204020204" pitchFamily="34" charset="-122"/>
                <a:ea typeface="微软雅黑" panose="020B0503020204020204" pitchFamily="34" charset="-122"/>
                <a:cs typeface="ＭＳ Ｐゴシック" charset="-128"/>
              </a:rPr>
              <a:t>专用控制平面</a:t>
            </a:r>
            <a:endParaRPr lang="en-US" altLang="zh-CN" b="1" dirty="0" smtClean="0">
              <a:solidFill>
                <a:schemeClr val="bg1"/>
              </a:solidFill>
              <a:latin typeface="微软雅黑" panose="020B0503020204020204" pitchFamily="34" charset="-122"/>
              <a:ea typeface="微软雅黑" panose="020B0503020204020204" pitchFamily="34" charset="-122"/>
              <a:cs typeface="ＭＳ Ｐゴシック" charset="-128"/>
            </a:endParaRPr>
          </a:p>
          <a:p>
            <a:pPr algn="ctr" eaLnBrk="1" hangingPunct="1">
              <a:defRPr/>
            </a:pPr>
            <a:r>
              <a:rPr lang="zh-CN" altLang="en-US" b="1" dirty="0" smtClean="0">
                <a:solidFill>
                  <a:schemeClr val="bg1"/>
                </a:solidFill>
                <a:latin typeface="微软雅黑" panose="020B0503020204020204" pitchFamily="34" charset="-122"/>
                <a:ea typeface="微软雅黑" panose="020B0503020204020204" pitchFamily="34" charset="-122"/>
                <a:cs typeface="ＭＳ Ｐゴシック" charset="-128"/>
              </a:rPr>
              <a:t>（设备商实现）</a:t>
            </a:r>
            <a:endParaRPr lang="en-US" b="1" dirty="0">
              <a:solidFill>
                <a:schemeClr val="bg1"/>
              </a:solidFill>
              <a:latin typeface="微软雅黑" panose="020B0503020204020204" pitchFamily="34" charset="-122"/>
              <a:ea typeface="微软雅黑" panose="020B0503020204020204" pitchFamily="34" charset="-122"/>
              <a:cs typeface="ＭＳ Ｐゴシック" charset="-128"/>
            </a:endParaRPr>
          </a:p>
        </p:txBody>
      </p:sp>
      <p:sp>
        <p:nvSpPr>
          <p:cNvPr id="61" name="Rounded Rectangle 13"/>
          <p:cNvSpPr/>
          <p:nvPr/>
        </p:nvSpPr>
        <p:spPr bwMode="auto">
          <a:xfrm>
            <a:off x="1278469" y="3022593"/>
            <a:ext cx="1642533" cy="600870"/>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r>
              <a:rPr lang="zh-CN" altLang="en-US" b="1" dirty="0" smtClean="0">
                <a:solidFill>
                  <a:schemeClr val="bg1"/>
                </a:solidFill>
                <a:latin typeface="微软雅黑" panose="020B0503020204020204" pitchFamily="34" charset="-122"/>
                <a:ea typeface="微软雅黑" panose="020B0503020204020204" pitchFamily="34" charset="-122"/>
                <a:cs typeface="ＭＳ Ｐゴシック" charset="-128"/>
              </a:rPr>
              <a:t>专用硬件</a:t>
            </a:r>
            <a:endParaRPr lang="en-US" altLang="zh-CN" b="1" dirty="0" smtClean="0">
              <a:solidFill>
                <a:schemeClr val="bg1"/>
              </a:solidFill>
              <a:latin typeface="微软雅黑" panose="020B0503020204020204" pitchFamily="34" charset="-122"/>
              <a:ea typeface="微软雅黑" panose="020B0503020204020204" pitchFamily="34" charset="-122"/>
              <a:cs typeface="ＭＳ Ｐゴシック" charset="-128"/>
            </a:endParaRPr>
          </a:p>
          <a:p>
            <a:pPr algn="ctr" eaLnBrk="1" hangingPunct="1">
              <a:defRPr/>
            </a:pPr>
            <a:r>
              <a:rPr lang="zh-CN" altLang="en-US" b="1" dirty="0" smtClean="0">
                <a:solidFill>
                  <a:schemeClr val="bg1"/>
                </a:solidFill>
                <a:latin typeface="微软雅黑" panose="020B0503020204020204" pitchFamily="34" charset="-122"/>
                <a:ea typeface="微软雅黑" panose="020B0503020204020204" pitchFamily="34" charset="-122"/>
                <a:cs typeface="ＭＳ Ｐゴシック" charset="-128"/>
              </a:rPr>
              <a:t>（设备商实现）</a:t>
            </a:r>
            <a:endParaRPr lang="en-US" b="1" dirty="0">
              <a:solidFill>
                <a:schemeClr val="bg1"/>
              </a:solidFill>
              <a:latin typeface="微软雅黑" panose="020B0503020204020204" pitchFamily="34" charset="-122"/>
              <a:ea typeface="微软雅黑" panose="020B0503020204020204" pitchFamily="34" charset="-122"/>
              <a:cs typeface="ＭＳ Ｐゴシック" charset="-128"/>
            </a:endParaRPr>
          </a:p>
        </p:txBody>
      </p:sp>
      <p:sp>
        <p:nvSpPr>
          <p:cNvPr id="62" name="Rounded Rectangle 34"/>
          <p:cNvSpPr/>
          <p:nvPr/>
        </p:nvSpPr>
        <p:spPr bwMode="auto">
          <a:xfrm>
            <a:off x="1278469" y="1436034"/>
            <a:ext cx="1642533" cy="593925"/>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r>
              <a:rPr lang="zh-CN" altLang="en-US" b="1" dirty="0" smtClean="0">
                <a:solidFill>
                  <a:schemeClr val="bg1"/>
                </a:solidFill>
                <a:latin typeface="微软雅黑" panose="020B0503020204020204" pitchFamily="34" charset="-122"/>
                <a:ea typeface="微软雅黑" panose="020B0503020204020204" pitchFamily="34" charset="-122"/>
                <a:cs typeface="ＭＳ Ｐゴシック" charset="-128"/>
              </a:rPr>
              <a:t>专用网络功能</a:t>
            </a:r>
            <a:endParaRPr lang="en-US" altLang="zh-CN" b="1" dirty="0" smtClean="0">
              <a:solidFill>
                <a:schemeClr val="bg1"/>
              </a:solidFill>
              <a:latin typeface="微软雅黑" panose="020B0503020204020204" pitchFamily="34" charset="-122"/>
              <a:ea typeface="微软雅黑" panose="020B0503020204020204" pitchFamily="34" charset="-122"/>
              <a:cs typeface="ＭＳ Ｐゴシック" charset="-128"/>
            </a:endParaRPr>
          </a:p>
          <a:p>
            <a:pPr algn="ctr">
              <a:defRPr/>
            </a:pPr>
            <a:r>
              <a:rPr lang="zh-CN" altLang="en-US" b="1" dirty="0">
                <a:solidFill>
                  <a:schemeClr val="bg1"/>
                </a:solidFill>
                <a:latin typeface="微软雅黑" panose="020B0503020204020204" pitchFamily="34" charset="-122"/>
                <a:ea typeface="微软雅黑" panose="020B0503020204020204" pitchFamily="34" charset="-122"/>
                <a:cs typeface="ＭＳ Ｐゴシック" charset="-128"/>
              </a:rPr>
              <a:t>（设备商实现）</a:t>
            </a:r>
            <a:endParaRPr lang="en-US" b="1" dirty="0">
              <a:solidFill>
                <a:schemeClr val="bg1"/>
              </a:solidFill>
              <a:latin typeface="微软雅黑" panose="020B0503020204020204" pitchFamily="34" charset="-122"/>
              <a:ea typeface="微软雅黑" panose="020B0503020204020204" pitchFamily="34" charset="-122"/>
              <a:cs typeface="ＭＳ Ｐゴシック" charset="-128"/>
            </a:endParaRPr>
          </a:p>
        </p:txBody>
      </p:sp>
      <p:sp>
        <p:nvSpPr>
          <p:cNvPr id="69" name="Right Arrow 53">
            <a:extLst>
              <a:ext uri="{FF2B5EF4-FFF2-40B4-BE49-F238E27FC236}">
                <a16:creationId xmlns:a16="http://schemas.microsoft.com/office/drawing/2014/main" id="{DA4F0CA8-C578-3F4E-B0B7-7D75647F7D87}"/>
              </a:ext>
            </a:extLst>
          </p:cNvPr>
          <p:cNvSpPr/>
          <p:nvPr/>
        </p:nvSpPr>
        <p:spPr>
          <a:xfrm>
            <a:off x="4145179" y="4022690"/>
            <a:ext cx="884119" cy="573066"/>
          </a:xfrm>
          <a:prstGeom prst="rightArrow">
            <a:avLst/>
          </a:prstGeom>
          <a:gradFill>
            <a:gsLst>
              <a:gs pos="0">
                <a:schemeClr val="bg1"/>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微软雅黑" panose="020B0503020204020204" pitchFamily="34" charset="-122"/>
              <a:ea typeface="微软雅黑" panose="020B0503020204020204" pitchFamily="34" charset="-122"/>
            </a:endParaRPr>
          </a:p>
        </p:txBody>
      </p:sp>
      <p:sp>
        <p:nvSpPr>
          <p:cNvPr id="70" name="Right Arrow 56">
            <a:extLst>
              <a:ext uri="{FF2B5EF4-FFF2-40B4-BE49-F238E27FC236}">
                <a16:creationId xmlns:a16="http://schemas.microsoft.com/office/drawing/2014/main" id="{B5F7B71C-D375-D14B-AFF2-44852436983E}"/>
              </a:ext>
            </a:extLst>
          </p:cNvPr>
          <p:cNvSpPr/>
          <p:nvPr/>
        </p:nvSpPr>
        <p:spPr>
          <a:xfrm>
            <a:off x="4134461" y="1592254"/>
            <a:ext cx="884119" cy="573066"/>
          </a:xfrm>
          <a:prstGeom prst="rightArrow">
            <a:avLst/>
          </a:prstGeom>
          <a:gradFill>
            <a:gsLst>
              <a:gs pos="0">
                <a:schemeClr val="bg1"/>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1" dirty="0">
              <a:latin typeface="微软雅黑" panose="020B0503020204020204" pitchFamily="34" charset="-122"/>
              <a:ea typeface="微软雅黑" panose="020B0503020204020204" pitchFamily="34" charset="-122"/>
            </a:endParaRPr>
          </a:p>
        </p:txBody>
      </p:sp>
      <p:grpSp>
        <p:nvGrpSpPr>
          <p:cNvPr id="71" name="Group 47">
            <a:extLst>
              <a:ext uri="{FF2B5EF4-FFF2-40B4-BE49-F238E27FC236}">
                <a16:creationId xmlns:a16="http://schemas.microsoft.com/office/drawing/2014/main" id="{E0A83BF7-262D-3E4B-BFBE-E825E97D4CEE}"/>
              </a:ext>
            </a:extLst>
          </p:cNvPr>
          <p:cNvGrpSpPr>
            <a:grpSpLocks/>
          </p:cNvGrpSpPr>
          <p:nvPr/>
        </p:nvGrpSpPr>
        <p:grpSpPr bwMode="auto">
          <a:xfrm>
            <a:off x="5759565" y="1435541"/>
            <a:ext cx="2286000" cy="313425"/>
            <a:chOff x="5334000" y="1371600"/>
            <a:chExt cx="3657600" cy="685800"/>
          </a:xfrm>
        </p:grpSpPr>
        <p:sp>
          <p:nvSpPr>
            <p:cNvPr id="72" name="Rounded Rectangle 11">
              <a:extLst>
                <a:ext uri="{FF2B5EF4-FFF2-40B4-BE49-F238E27FC236}">
                  <a16:creationId xmlns:a16="http://schemas.microsoft.com/office/drawing/2014/main" id="{E5E6F00E-9A65-BC45-9EA3-044F6CB86022}"/>
                </a:ext>
              </a:extLst>
            </p:cNvPr>
            <p:cNvSpPr/>
            <p:nvPr/>
          </p:nvSpPr>
          <p:spPr bwMode="auto">
            <a:xfrm>
              <a:off x="8382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3" name="Rounded Rectangle 12">
              <a:extLst>
                <a:ext uri="{FF2B5EF4-FFF2-40B4-BE49-F238E27FC236}">
                  <a16:creationId xmlns:a16="http://schemas.microsoft.com/office/drawing/2014/main" id="{27D778C1-1B34-314D-A430-D25E4B993AA8}"/>
                </a:ext>
              </a:extLst>
            </p:cNvPr>
            <p:cNvSpPr/>
            <p:nvPr/>
          </p:nvSpPr>
          <p:spPr bwMode="auto">
            <a:xfrm>
              <a:off x="8077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4" name="Rounded Rectangle 13">
              <a:extLst>
                <a:ext uri="{FF2B5EF4-FFF2-40B4-BE49-F238E27FC236}">
                  <a16:creationId xmlns:a16="http://schemas.microsoft.com/office/drawing/2014/main" id="{70A4B127-8BC2-FE45-9850-DEEF230B0F7E}"/>
                </a:ext>
              </a:extLst>
            </p:cNvPr>
            <p:cNvSpPr/>
            <p:nvPr/>
          </p:nvSpPr>
          <p:spPr bwMode="auto">
            <a:xfrm>
              <a:off x="7772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5" name="Rounded Rectangle 14">
              <a:extLst>
                <a:ext uri="{FF2B5EF4-FFF2-40B4-BE49-F238E27FC236}">
                  <a16:creationId xmlns:a16="http://schemas.microsoft.com/office/drawing/2014/main" id="{EBD99968-0970-E143-98A5-8905B2039C21}"/>
                </a:ext>
              </a:extLst>
            </p:cNvPr>
            <p:cNvSpPr/>
            <p:nvPr/>
          </p:nvSpPr>
          <p:spPr bwMode="auto">
            <a:xfrm>
              <a:off x="7467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6" name="Rounded Rectangle 15">
              <a:extLst>
                <a:ext uri="{FF2B5EF4-FFF2-40B4-BE49-F238E27FC236}">
                  <a16:creationId xmlns:a16="http://schemas.microsoft.com/office/drawing/2014/main" id="{7DC86D72-9D92-D443-8054-DCF935E70F8D}"/>
                </a:ext>
              </a:extLst>
            </p:cNvPr>
            <p:cNvSpPr/>
            <p:nvPr/>
          </p:nvSpPr>
          <p:spPr bwMode="auto">
            <a:xfrm>
              <a:off x="7162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7" name="Rounded Rectangle 16">
              <a:extLst>
                <a:ext uri="{FF2B5EF4-FFF2-40B4-BE49-F238E27FC236}">
                  <a16:creationId xmlns:a16="http://schemas.microsoft.com/office/drawing/2014/main" id="{C6974744-9162-704D-AE50-8D06BDD1DF4F}"/>
                </a:ext>
              </a:extLst>
            </p:cNvPr>
            <p:cNvSpPr/>
            <p:nvPr/>
          </p:nvSpPr>
          <p:spPr bwMode="auto">
            <a:xfrm>
              <a:off x="68580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8" name="Rounded Rectangle 17">
              <a:extLst>
                <a:ext uri="{FF2B5EF4-FFF2-40B4-BE49-F238E27FC236}">
                  <a16:creationId xmlns:a16="http://schemas.microsoft.com/office/drawing/2014/main" id="{C1F5E1D9-EE12-8E4A-AA42-9E6F8CA2A6F6}"/>
                </a:ext>
              </a:extLst>
            </p:cNvPr>
            <p:cNvSpPr/>
            <p:nvPr/>
          </p:nvSpPr>
          <p:spPr bwMode="auto">
            <a:xfrm>
              <a:off x="65532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79" name="Rounded Rectangle 18">
              <a:extLst>
                <a:ext uri="{FF2B5EF4-FFF2-40B4-BE49-F238E27FC236}">
                  <a16:creationId xmlns:a16="http://schemas.microsoft.com/office/drawing/2014/main" id="{09D4BEED-37E3-FD40-9E2C-95D09B647E1A}"/>
                </a:ext>
              </a:extLst>
            </p:cNvPr>
            <p:cNvSpPr/>
            <p:nvPr/>
          </p:nvSpPr>
          <p:spPr bwMode="auto">
            <a:xfrm>
              <a:off x="62484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80" name="Rounded Rectangle 19">
              <a:extLst>
                <a:ext uri="{FF2B5EF4-FFF2-40B4-BE49-F238E27FC236}">
                  <a16:creationId xmlns:a16="http://schemas.microsoft.com/office/drawing/2014/main" id="{5A92E4E3-7FA3-9F4E-8155-A06DA5BB28AB}"/>
                </a:ext>
              </a:extLst>
            </p:cNvPr>
            <p:cNvSpPr/>
            <p:nvPr/>
          </p:nvSpPr>
          <p:spPr bwMode="auto">
            <a:xfrm>
              <a:off x="59436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81" name="Rounded Rectangle 20">
              <a:extLst>
                <a:ext uri="{FF2B5EF4-FFF2-40B4-BE49-F238E27FC236}">
                  <a16:creationId xmlns:a16="http://schemas.microsoft.com/office/drawing/2014/main" id="{E657948B-92D2-FE47-9E12-07B81900D9DB}"/>
                </a:ext>
              </a:extLst>
            </p:cNvPr>
            <p:cNvSpPr/>
            <p:nvPr/>
          </p:nvSpPr>
          <p:spPr bwMode="auto">
            <a:xfrm>
              <a:off x="5638800" y="1371600"/>
              <a:ext cx="6096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srgbClr val="FFCC66"/>
                  </a:solidFill>
                  <a:latin typeface="微软雅黑" panose="020B0503020204020204" pitchFamily="34" charset="-122"/>
                  <a:ea typeface="微软雅黑" panose="020B0503020204020204" pitchFamily="34" charset="-122"/>
                </a:rPr>
                <a:t>App</a:t>
              </a:r>
            </a:p>
          </p:txBody>
        </p:sp>
        <p:sp>
          <p:nvSpPr>
            <p:cNvPr id="82" name="Rounded Rectangle 21">
              <a:extLst>
                <a:ext uri="{FF2B5EF4-FFF2-40B4-BE49-F238E27FC236}">
                  <a16:creationId xmlns:a16="http://schemas.microsoft.com/office/drawing/2014/main" id="{1368ABFE-D808-9649-B64C-4850B5E73426}"/>
                </a:ext>
              </a:extLst>
            </p:cNvPr>
            <p:cNvSpPr/>
            <p:nvPr/>
          </p:nvSpPr>
          <p:spPr bwMode="auto">
            <a:xfrm>
              <a:off x="5334000" y="1371600"/>
              <a:ext cx="914400" cy="685800"/>
            </a:xfrm>
            <a:prstGeom prst="roundRect">
              <a:avLst/>
            </a:prstGeom>
            <a:solidFill>
              <a:srgbClr val="FFCC66"/>
            </a:solidFill>
          </p:spPr>
          <p:style>
            <a:lnRef idx="0">
              <a:schemeClr val="accent6"/>
            </a:lnRef>
            <a:fillRef idx="3">
              <a:schemeClr val="accent6"/>
            </a:fillRef>
            <a:effectRef idx="3">
              <a:schemeClr val="accent6"/>
            </a:effectRef>
            <a:fontRef idx="minor">
              <a:schemeClr val="lt1"/>
            </a:fontRef>
          </p:style>
          <p:txBody>
            <a:bodyPr lIns="0" rIns="0" anchor="ctr"/>
            <a:lstStyle/>
            <a:p>
              <a:pPr algn="ctr" defTabSz="685800">
                <a:defRPr/>
              </a:pPr>
              <a:r>
                <a:rPr lang="en-US" sz="1050" b="1" dirty="0">
                  <a:solidFill>
                    <a:prstClr val="black"/>
                  </a:solidFill>
                  <a:latin typeface="微软雅黑" panose="020B0503020204020204" pitchFamily="34" charset="-122"/>
                  <a:ea typeface="微软雅黑" panose="020B0503020204020204" pitchFamily="34" charset="-122"/>
                </a:rPr>
                <a:t>App</a:t>
              </a:r>
            </a:p>
          </p:txBody>
        </p:sp>
      </p:grpSp>
      <p:grpSp>
        <p:nvGrpSpPr>
          <p:cNvPr id="2" name="组合 1"/>
          <p:cNvGrpSpPr/>
          <p:nvPr/>
        </p:nvGrpSpPr>
        <p:grpSpPr>
          <a:xfrm>
            <a:off x="5913712" y="3008896"/>
            <a:ext cx="2294976" cy="1019344"/>
            <a:chOff x="5913712" y="3069856"/>
            <a:chExt cx="2294976" cy="1019344"/>
          </a:xfrm>
        </p:grpSpPr>
        <p:pic>
          <p:nvPicPr>
            <p:cNvPr id="101" name="Picture 6" descr="48HD10Gbs.pn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13712" y="3617733"/>
              <a:ext cx="2294976" cy="471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3" name="Group 56">
              <a:extLst>
                <a:ext uri="{FF2B5EF4-FFF2-40B4-BE49-F238E27FC236}">
                  <a16:creationId xmlns:a16="http://schemas.microsoft.com/office/drawing/2014/main" id="{FACA84D3-EBD1-3842-8204-78C0ECE7E0E8}"/>
                </a:ext>
              </a:extLst>
            </p:cNvPr>
            <p:cNvGrpSpPr>
              <a:grpSpLocks/>
            </p:cNvGrpSpPr>
            <p:nvPr/>
          </p:nvGrpSpPr>
          <p:grpSpPr bwMode="auto">
            <a:xfrm>
              <a:off x="5961258" y="3069856"/>
              <a:ext cx="1899747" cy="783611"/>
              <a:chOff x="5308190" y="3212066"/>
              <a:chExt cx="3212311" cy="1359933"/>
            </a:xfrm>
          </p:grpSpPr>
          <p:sp>
            <p:nvSpPr>
              <p:cNvPr id="84" name="Rounded Rectangle 26">
                <a:extLst>
                  <a:ext uri="{FF2B5EF4-FFF2-40B4-BE49-F238E27FC236}">
                    <a16:creationId xmlns:a16="http://schemas.microsoft.com/office/drawing/2014/main" id="{AF4F8BF1-E3C3-C241-9BBC-A61078965EBB}"/>
                  </a:ext>
                </a:extLst>
              </p:cNvPr>
              <p:cNvSpPr/>
              <p:nvPr/>
            </p:nvSpPr>
            <p:spPr bwMode="auto">
              <a:xfrm>
                <a:off x="6096000" y="3874196"/>
                <a:ext cx="2424501" cy="697803"/>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p>
                <a:pPr algn="ctr" defTabSz="685800" fontAlgn="base">
                  <a:spcBef>
                    <a:spcPct val="0"/>
                  </a:spcBef>
                  <a:spcAft>
                    <a:spcPct val="0"/>
                  </a:spcAft>
                  <a:defRPr/>
                </a:pPr>
                <a:r>
                  <a:rPr lang="zh-CN" altLang="en-US" sz="1200" b="1" dirty="0">
                    <a:solidFill>
                      <a:prstClr val="white"/>
                    </a:solidFill>
                    <a:latin typeface="微软雅黑" panose="020B0503020204020204" pitchFamily="34" charset="-122"/>
                    <a:ea typeface="微软雅黑" panose="020B0503020204020204" pitchFamily="34" charset="-122"/>
                    <a:cs typeface="ＭＳ Ｐゴシック" charset="-128"/>
                  </a:rPr>
                  <a:t>通用交换芯片</a:t>
                </a:r>
              </a:p>
            </p:txBody>
          </p:sp>
          <p:grpSp>
            <p:nvGrpSpPr>
              <p:cNvPr id="85" name="Group 51">
                <a:extLst>
                  <a:ext uri="{FF2B5EF4-FFF2-40B4-BE49-F238E27FC236}">
                    <a16:creationId xmlns:a16="http://schemas.microsoft.com/office/drawing/2014/main" id="{B5637E9E-4E32-4940-846C-B353CC889ACF}"/>
                  </a:ext>
                </a:extLst>
              </p:cNvPr>
              <p:cNvGrpSpPr>
                <a:grpSpLocks/>
              </p:cNvGrpSpPr>
              <p:nvPr/>
            </p:nvGrpSpPr>
            <p:grpSpPr bwMode="auto">
              <a:xfrm>
                <a:off x="5308190" y="3212066"/>
                <a:ext cx="3121640" cy="480723"/>
                <a:chOff x="5384390" y="3200398"/>
                <a:chExt cx="3121640" cy="480723"/>
              </a:xfrm>
            </p:grpSpPr>
            <p:cxnSp>
              <p:nvCxnSpPr>
                <p:cNvPr id="86" name="Straight Connector 29">
                  <a:extLst>
                    <a:ext uri="{FF2B5EF4-FFF2-40B4-BE49-F238E27FC236}">
                      <a16:creationId xmlns:a16="http://schemas.microsoft.com/office/drawing/2014/main" id="{37974EAD-28B9-A54C-ADA5-9BD26A800CE7}"/>
                    </a:ext>
                  </a:extLst>
                </p:cNvPr>
                <p:cNvCxnSpPr/>
                <p:nvPr/>
              </p:nvCxnSpPr>
              <p:spPr>
                <a:xfrm>
                  <a:off x="5384390" y="3424423"/>
                  <a:ext cx="3121640" cy="450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87" name="TextBox 23">
                  <a:extLst>
                    <a:ext uri="{FF2B5EF4-FFF2-40B4-BE49-F238E27FC236}">
                      <a16:creationId xmlns:a16="http://schemas.microsoft.com/office/drawing/2014/main" id="{8CD3B736-6797-F94E-A7DB-43FFFD728C5D}"/>
                    </a:ext>
                  </a:extLst>
                </p:cNvPr>
                <p:cNvSpPr txBox="1">
                  <a:spLocks noChangeArrowheads="1"/>
                </p:cNvSpPr>
                <p:nvPr/>
              </p:nvSpPr>
              <p:spPr bwMode="auto">
                <a:xfrm>
                  <a:off x="6308184" y="3200398"/>
                  <a:ext cx="1491064" cy="480723"/>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Helvetica" charset="0"/>
                      <a:ea typeface="ＭＳ Ｐゴシック" charset="0"/>
                      <a:cs typeface="ＭＳ Ｐゴシック" charset="0"/>
                    </a:defRPr>
                  </a:lvl1pPr>
                  <a:lvl2pPr marL="37931725" indent="-37474525" eaLnBrk="0" hangingPunct="0">
                    <a:defRPr sz="2000" b="1">
                      <a:solidFill>
                        <a:schemeClr val="tx1"/>
                      </a:solidFill>
                      <a:latin typeface="Helvetica" charset="0"/>
                      <a:ea typeface="ＭＳ Ｐゴシック" charset="0"/>
                    </a:defRPr>
                  </a:lvl2pPr>
                  <a:lvl3pPr eaLnBrk="0" hangingPunct="0">
                    <a:defRPr sz="2000" b="1">
                      <a:solidFill>
                        <a:schemeClr val="tx1"/>
                      </a:solidFill>
                      <a:latin typeface="Helvetica" charset="0"/>
                      <a:ea typeface="ＭＳ Ｐゴシック" charset="0"/>
                    </a:defRPr>
                  </a:lvl3pPr>
                  <a:lvl4pPr eaLnBrk="0" hangingPunct="0">
                    <a:defRPr sz="2000" b="1">
                      <a:solidFill>
                        <a:schemeClr val="tx1"/>
                      </a:solidFill>
                      <a:latin typeface="Helvetica" charset="0"/>
                      <a:ea typeface="ＭＳ Ｐゴシック" charset="0"/>
                    </a:defRPr>
                  </a:lvl4pPr>
                  <a:lvl5pPr eaLnBrk="0" hangingPunct="0">
                    <a:defRPr sz="2000" b="1">
                      <a:solidFill>
                        <a:schemeClr val="tx1"/>
                      </a:solidFill>
                      <a:latin typeface="Helvetica" charset="0"/>
                      <a:ea typeface="ＭＳ Ｐゴシック" charset="0"/>
                    </a:defRPr>
                  </a:lvl5pPr>
                  <a:lvl6pPr marL="457200" eaLnBrk="0" fontAlgn="base" hangingPunct="0">
                    <a:spcBef>
                      <a:spcPct val="0"/>
                    </a:spcBef>
                    <a:spcAft>
                      <a:spcPct val="0"/>
                    </a:spcAft>
                    <a:defRPr sz="2000" b="1">
                      <a:solidFill>
                        <a:schemeClr val="tx1"/>
                      </a:solidFill>
                      <a:latin typeface="Helvetica" charset="0"/>
                      <a:ea typeface="ＭＳ Ｐゴシック" charset="0"/>
                    </a:defRPr>
                  </a:lvl6pPr>
                  <a:lvl7pPr marL="914400" eaLnBrk="0" fontAlgn="base" hangingPunct="0">
                    <a:spcBef>
                      <a:spcPct val="0"/>
                    </a:spcBef>
                    <a:spcAft>
                      <a:spcPct val="0"/>
                    </a:spcAft>
                    <a:defRPr sz="2000" b="1">
                      <a:solidFill>
                        <a:schemeClr val="tx1"/>
                      </a:solidFill>
                      <a:latin typeface="Helvetica" charset="0"/>
                      <a:ea typeface="ＭＳ Ｐゴシック" charset="0"/>
                    </a:defRPr>
                  </a:lvl7pPr>
                  <a:lvl8pPr marL="1371600" eaLnBrk="0" fontAlgn="base" hangingPunct="0">
                    <a:spcBef>
                      <a:spcPct val="0"/>
                    </a:spcBef>
                    <a:spcAft>
                      <a:spcPct val="0"/>
                    </a:spcAft>
                    <a:defRPr sz="2000" b="1">
                      <a:solidFill>
                        <a:schemeClr val="tx1"/>
                      </a:solidFill>
                      <a:latin typeface="Helvetica" charset="0"/>
                      <a:ea typeface="ＭＳ Ｐゴシック" charset="0"/>
                    </a:defRPr>
                  </a:lvl8pPr>
                  <a:lvl9pPr marL="1828800" eaLnBrk="0" fontAlgn="base" hangingPunct="0">
                    <a:spcBef>
                      <a:spcPct val="0"/>
                    </a:spcBef>
                    <a:spcAft>
                      <a:spcPct val="0"/>
                    </a:spcAft>
                    <a:defRPr sz="2000" b="1">
                      <a:solidFill>
                        <a:schemeClr val="tx1"/>
                      </a:solidFill>
                      <a:latin typeface="Helvetica" charset="0"/>
                      <a:ea typeface="ＭＳ Ｐゴシック" charset="0"/>
                    </a:defRPr>
                  </a:lvl9pPr>
                </a:lstStyle>
                <a:p>
                  <a:pPr algn="ctr" defTabSz="685800" eaLnBrk="1" fontAlgn="base" hangingPunct="1">
                    <a:spcBef>
                      <a:spcPct val="0"/>
                    </a:spcBef>
                    <a:spcAft>
                      <a:spcPct val="0"/>
                    </a:spcAft>
                  </a:pPr>
                  <a:r>
                    <a:rPr lang="zh-CN" altLang="en-US" sz="1200" dirty="0" smtClean="0">
                      <a:solidFill>
                        <a:prstClr val="black"/>
                      </a:solidFill>
                      <a:latin typeface="微软雅黑" panose="020B0503020204020204" pitchFamily="34" charset="-122"/>
                      <a:ea typeface="微软雅黑" panose="020B0503020204020204" pitchFamily="34" charset="-122"/>
                    </a:rPr>
                    <a:t>开放接口</a:t>
                  </a:r>
                  <a:endParaRPr lang="en-US" sz="1200" dirty="0">
                    <a:solidFill>
                      <a:prstClr val="black"/>
                    </a:solidFill>
                    <a:latin typeface="微软雅黑" panose="020B0503020204020204" pitchFamily="34" charset="-122"/>
                    <a:ea typeface="微软雅黑" panose="020B0503020204020204" pitchFamily="34" charset="-122"/>
                  </a:endParaRPr>
                </a:p>
              </p:txBody>
            </p:sp>
          </p:grpSp>
        </p:grpSp>
      </p:grpSp>
      <p:grpSp>
        <p:nvGrpSpPr>
          <p:cNvPr id="4" name="组合 3"/>
          <p:cNvGrpSpPr/>
          <p:nvPr/>
        </p:nvGrpSpPr>
        <p:grpSpPr>
          <a:xfrm>
            <a:off x="5849625" y="1885884"/>
            <a:ext cx="2302463" cy="1013856"/>
            <a:chOff x="5849625" y="1885884"/>
            <a:chExt cx="2302463" cy="1013856"/>
          </a:xfrm>
        </p:grpSpPr>
        <p:grpSp>
          <p:nvGrpSpPr>
            <p:cNvPr id="89" name="Group 52">
              <a:extLst>
                <a:ext uri="{FF2B5EF4-FFF2-40B4-BE49-F238E27FC236}">
                  <a16:creationId xmlns:a16="http://schemas.microsoft.com/office/drawing/2014/main" id="{F5EFFD42-FF20-9542-A0C8-56A2BD25C0C7}"/>
                </a:ext>
              </a:extLst>
            </p:cNvPr>
            <p:cNvGrpSpPr>
              <a:grpSpLocks/>
            </p:cNvGrpSpPr>
            <p:nvPr/>
          </p:nvGrpSpPr>
          <p:grpSpPr bwMode="auto">
            <a:xfrm>
              <a:off x="5945129" y="1885884"/>
              <a:ext cx="1943100" cy="276999"/>
              <a:chOff x="5806858" y="3260868"/>
              <a:chExt cx="2590800" cy="369332"/>
            </a:xfrm>
          </p:grpSpPr>
          <p:cxnSp>
            <p:nvCxnSpPr>
              <p:cNvPr id="99" name="Straight Connector 38">
                <a:extLst>
                  <a:ext uri="{FF2B5EF4-FFF2-40B4-BE49-F238E27FC236}">
                    <a16:creationId xmlns:a16="http://schemas.microsoft.com/office/drawing/2014/main" id="{397E7461-5099-A44B-806E-2E1E189AA593}"/>
                  </a:ext>
                </a:extLst>
              </p:cNvPr>
              <p:cNvCxnSpPr/>
              <p:nvPr/>
            </p:nvCxnSpPr>
            <p:spPr>
              <a:xfrm>
                <a:off x="5806858" y="3427413"/>
                <a:ext cx="2590800" cy="15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0" name="TextBox 23">
                <a:extLst>
                  <a:ext uri="{FF2B5EF4-FFF2-40B4-BE49-F238E27FC236}">
                    <a16:creationId xmlns:a16="http://schemas.microsoft.com/office/drawing/2014/main" id="{D1451D5C-DF4C-E74B-B024-F0A9F41BA975}"/>
                  </a:ext>
                </a:extLst>
              </p:cNvPr>
              <p:cNvSpPr txBox="1">
                <a:spLocks noChangeArrowheads="1"/>
              </p:cNvSpPr>
              <p:nvPr/>
            </p:nvSpPr>
            <p:spPr bwMode="auto">
              <a:xfrm>
                <a:off x="6564747" y="3260868"/>
                <a:ext cx="1066960" cy="369332"/>
              </a:xfrm>
              <a:prstGeom prst="rect">
                <a:avLst/>
              </a:prstGeom>
              <a:solidFill>
                <a:srgbClr val="FFFFF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000" b="1">
                    <a:solidFill>
                      <a:schemeClr val="tx1"/>
                    </a:solidFill>
                    <a:latin typeface="Helvetica" charset="0"/>
                    <a:ea typeface="ＭＳ Ｐゴシック" charset="0"/>
                    <a:cs typeface="ＭＳ Ｐゴシック" charset="0"/>
                  </a:defRPr>
                </a:lvl1pPr>
                <a:lvl2pPr marL="37931725" indent="-37474525" eaLnBrk="0" hangingPunct="0">
                  <a:defRPr sz="2000" b="1">
                    <a:solidFill>
                      <a:schemeClr val="tx1"/>
                    </a:solidFill>
                    <a:latin typeface="Helvetica" charset="0"/>
                    <a:ea typeface="ＭＳ Ｐゴシック" charset="0"/>
                  </a:defRPr>
                </a:lvl2pPr>
                <a:lvl3pPr eaLnBrk="0" hangingPunct="0">
                  <a:defRPr sz="2000" b="1">
                    <a:solidFill>
                      <a:schemeClr val="tx1"/>
                    </a:solidFill>
                    <a:latin typeface="Helvetica" charset="0"/>
                    <a:ea typeface="ＭＳ Ｐゴシック" charset="0"/>
                  </a:defRPr>
                </a:lvl3pPr>
                <a:lvl4pPr eaLnBrk="0" hangingPunct="0">
                  <a:defRPr sz="2000" b="1">
                    <a:solidFill>
                      <a:schemeClr val="tx1"/>
                    </a:solidFill>
                    <a:latin typeface="Helvetica" charset="0"/>
                    <a:ea typeface="ＭＳ Ｐゴシック" charset="0"/>
                  </a:defRPr>
                </a:lvl4pPr>
                <a:lvl5pPr eaLnBrk="0" hangingPunct="0">
                  <a:defRPr sz="2000" b="1">
                    <a:solidFill>
                      <a:schemeClr val="tx1"/>
                    </a:solidFill>
                    <a:latin typeface="Helvetica" charset="0"/>
                    <a:ea typeface="ＭＳ Ｐゴシック" charset="0"/>
                  </a:defRPr>
                </a:lvl5pPr>
                <a:lvl6pPr marL="457200" eaLnBrk="0" fontAlgn="base" hangingPunct="0">
                  <a:spcBef>
                    <a:spcPct val="0"/>
                  </a:spcBef>
                  <a:spcAft>
                    <a:spcPct val="0"/>
                  </a:spcAft>
                  <a:defRPr sz="2000" b="1">
                    <a:solidFill>
                      <a:schemeClr val="tx1"/>
                    </a:solidFill>
                    <a:latin typeface="Helvetica" charset="0"/>
                    <a:ea typeface="ＭＳ Ｐゴシック" charset="0"/>
                  </a:defRPr>
                </a:lvl6pPr>
                <a:lvl7pPr marL="914400" eaLnBrk="0" fontAlgn="base" hangingPunct="0">
                  <a:spcBef>
                    <a:spcPct val="0"/>
                  </a:spcBef>
                  <a:spcAft>
                    <a:spcPct val="0"/>
                  </a:spcAft>
                  <a:defRPr sz="2000" b="1">
                    <a:solidFill>
                      <a:schemeClr val="tx1"/>
                    </a:solidFill>
                    <a:latin typeface="Helvetica" charset="0"/>
                    <a:ea typeface="ＭＳ Ｐゴシック" charset="0"/>
                  </a:defRPr>
                </a:lvl7pPr>
                <a:lvl8pPr marL="1371600" eaLnBrk="0" fontAlgn="base" hangingPunct="0">
                  <a:spcBef>
                    <a:spcPct val="0"/>
                  </a:spcBef>
                  <a:spcAft>
                    <a:spcPct val="0"/>
                  </a:spcAft>
                  <a:defRPr sz="2000" b="1">
                    <a:solidFill>
                      <a:schemeClr val="tx1"/>
                    </a:solidFill>
                    <a:latin typeface="Helvetica" charset="0"/>
                    <a:ea typeface="ＭＳ Ｐゴシック" charset="0"/>
                  </a:defRPr>
                </a:lvl8pPr>
                <a:lvl9pPr marL="1828800" eaLnBrk="0" fontAlgn="base" hangingPunct="0">
                  <a:spcBef>
                    <a:spcPct val="0"/>
                  </a:spcBef>
                  <a:spcAft>
                    <a:spcPct val="0"/>
                  </a:spcAft>
                  <a:defRPr sz="2000" b="1">
                    <a:solidFill>
                      <a:schemeClr val="tx1"/>
                    </a:solidFill>
                    <a:latin typeface="Helvetica" charset="0"/>
                    <a:ea typeface="ＭＳ Ｐゴシック" charset="0"/>
                  </a:defRPr>
                </a:lvl9pPr>
              </a:lstStyle>
              <a:p>
                <a:pPr algn="ctr" defTabSz="685800" eaLnBrk="1" fontAlgn="base" hangingPunct="1">
                  <a:spcBef>
                    <a:spcPct val="0"/>
                  </a:spcBef>
                  <a:spcAft>
                    <a:spcPct val="0"/>
                  </a:spcAft>
                </a:pPr>
                <a:r>
                  <a:rPr lang="zh-CN" altLang="en-US" sz="1200" dirty="0" smtClean="0">
                    <a:solidFill>
                      <a:prstClr val="black"/>
                    </a:solidFill>
                    <a:latin typeface="微软雅黑" panose="020B0503020204020204" pitchFamily="34" charset="-122"/>
                    <a:ea typeface="微软雅黑" panose="020B0503020204020204" pitchFamily="34" charset="-122"/>
                  </a:rPr>
                  <a:t>开放接口</a:t>
                </a:r>
                <a:endParaRPr lang="en-US" sz="1200" dirty="0">
                  <a:solidFill>
                    <a:prstClr val="black"/>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5849625" y="2389465"/>
              <a:ext cx="2302463" cy="510275"/>
              <a:chOff x="5849625" y="2501225"/>
              <a:chExt cx="2302463" cy="510275"/>
            </a:xfrm>
          </p:grpSpPr>
          <p:sp>
            <p:nvSpPr>
              <p:cNvPr id="37" name="Rounded Rectangle 23"/>
              <p:cNvSpPr/>
              <p:nvPr/>
            </p:nvSpPr>
            <p:spPr bwMode="auto">
              <a:xfrm>
                <a:off x="5849625" y="2501225"/>
                <a:ext cx="726818" cy="510275"/>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eaLnBrk="1" fontAlgn="auto" hangingPunct="1">
                  <a:spcBef>
                    <a:spcPts val="0"/>
                  </a:spcBef>
                  <a:spcAft>
                    <a:spcPts val="0"/>
                  </a:spcAft>
                  <a:defRPr/>
                </a:pPr>
                <a:r>
                  <a:rPr lang="zh-CN" altLang="en-US" sz="1600" b="1" dirty="0" smtClean="0">
                    <a:solidFill>
                      <a:srgbClr val="FFFFFF"/>
                    </a:solidFill>
                    <a:latin typeface="微软雅黑" panose="020B0503020204020204" pitchFamily="34" charset="-122"/>
                    <a:ea typeface="微软雅黑" panose="020B0503020204020204" pitchFamily="34" charset="-122"/>
                  </a:rPr>
                  <a:t>控制</a:t>
                </a:r>
                <a:endParaRPr lang="en-US" altLang="zh-CN" sz="1600" b="1" dirty="0" smtClean="0">
                  <a:solidFill>
                    <a:srgbClr val="FFFFFF"/>
                  </a:solidFill>
                  <a:latin typeface="微软雅黑" panose="020B0503020204020204" pitchFamily="34" charset="-122"/>
                  <a:ea typeface="微软雅黑" panose="020B0503020204020204" pitchFamily="34" charset="-122"/>
                </a:endParaRPr>
              </a:p>
              <a:p>
                <a:pPr algn="ctr" eaLnBrk="1" fontAlgn="auto" hangingPunct="1">
                  <a:spcBef>
                    <a:spcPts val="0"/>
                  </a:spcBef>
                  <a:spcAft>
                    <a:spcPts val="0"/>
                  </a:spcAft>
                  <a:defRPr/>
                </a:pPr>
                <a:r>
                  <a:rPr lang="zh-CN" altLang="en-US" sz="1600" b="1" dirty="0" smtClean="0">
                    <a:solidFill>
                      <a:srgbClr val="FFFFFF"/>
                    </a:solidFill>
                    <a:latin typeface="微软雅黑" panose="020B0503020204020204" pitchFamily="34" charset="-122"/>
                    <a:ea typeface="微软雅黑" panose="020B0503020204020204" pitchFamily="34" charset="-122"/>
                  </a:rPr>
                  <a:t>平面</a:t>
                </a:r>
                <a:endParaRPr lang="en-US" sz="1600" b="1" dirty="0">
                  <a:solidFill>
                    <a:srgbClr val="FFFFFF"/>
                  </a:solidFill>
                  <a:latin typeface="微软雅黑" panose="020B0503020204020204" pitchFamily="34" charset="-122"/>
                  <a:ea typeface="微软雅黑" panose="020B0503020204020204" pitchFamily="34" charset="-122"/>
                </a:endParaRPr>
              </a:p>
            </p:txBody>
          </p:sp>
          <p:sp>
            <p:nvSpPr>
              <p:cNvPr id="102" name="Rounded Rectangle 23"/>
              <p:cNvSpPr/>
              <p:nvPr/>
            </p:nvSpPr>
            <p:spPr bwMode="auto">
              <a:xfrm>
                <a:off x="6637447" y="2501225"/>
                <a:ext cx="726818" cy="510275"/>
              </a:xfrm>
              <a:prstGeom prst="roundRect">
                <a:avLst/>
              </a:prstGeom>
              <a:solidFill>
                <a:srgbClr val="05BD51"/>
              </a:solidFill>
              <a:ln>
                <a:solidFill>
                  <a:srgbClr val="05BD51"/>
                </a:solidFill>
              </a:ln>
            </p:spPr>
            <p:style>
              <a:lnRef idx="0">
                <a:schemeClr val="accent6"/>
              </a:lnRef>
              <a:fillRef idx="3">
                <a:schemeClr val="accent6"/>
              </a:fillRef>
              <a:effectRef idx="3">
                <a:schemeClr val="accent6"/>
              </a:effectRef>
              <a:fontRef idx="minor">
                <a:schemeClr val="lt1"/>
              </a:fontRef>
            </p:style>
            <p:txBody>
              <a:bodyPr anchor="ctr"/>
              <a:lstStyle/>
              <a:p>
                <a:pPr algn="ctr" eaLnBrk="1" fontAlgn="auto" hangingPunct="1">
                  <a:spcBef>
                    <a:spcPts val="0"/>
                  </a:spcBef>
                  <a:spcAft>
                    <a:spcPts val="0"/>
                  </a:spcAft>
                  <a:defRPr/>
                </a:pPr>
                <a:r>
                  <a:rPr lang="zh-CN" altLang="en-US" sz="1600" b="1" dirty="0" smtClean="0">
                    <a:solidFill>
                      <a:srgbClr val="FFFFFF"/>
                    </a:solidFill>
                    <a:latin typeface="微软雅黑" panose="020B0503020204020204" pitchFamily="34" charset="-122"/>
                    <a:ea typeface="微软雅黑" panose="020B0503020204020204" pitchFamily="34" charset="-122"/>
                  </a:rPr>
                  <a:t>控制</a:t>
                </a:r>
                <a:endParaRPr lang="en-US" altLang="zh-CN" sz="1600" b="1" dirty="0" smtClean="0">
                  <a:solidFill>
                    <a:srgbClr val="FFFFFF"/>
                  </a:solidFill>
                  <a:latin typeface="微软雅黑" panose="020B0503020204020204" pitchFamily="34" charset="-122"/>
                  <a:ea typeface="微软雅黑" panose="020B0503020204020204" pitchFamily="34" charset="-122"/>
                </a:endParaRPr>
              </a:p>
              <a:p>
                <a:pPr algn="ctr" eaLnBrk="1" fontAlgn="auto" hangingPunct="1">
                  <a:spcBef>
                    <a:spcPts val="0"/>
                  </a:spcBef>
                  <a:spcAft>
                    <a:spcPts val="0"/>
                  </a:spcAft>
                  <a:defRPr/>
                </a:pPr>
                <a:r>
                  <a:rPr lang="zh-CN" altLang="en-US" sz="1600" b="1" dirty="0" smtClean="0">
                    <a:solidFill>
                      <a:srgbClr val="FFFFFF"/>
                    </a:solidFill>
                    <a:latin typeface="微软雅黑" panose="020B0503020204020204" pitchFamily="34" charset="-122"/>
                    <a:ea typeface="微软雅黑" panose="020B0503020204020204" pitchFamily="34" charset="-122"/>
                  </a:rPr>
                  <a:t>平面</a:t>
                </a:r>
                <a:endParaRPr lang="en-US" sz="1600" b="1" dirty="0">
                  <a:solidFill>
                    <a:srgbClr val="FFFFFF"/>
                  </a:solidFill>
                  <a:latin typeface="微软雅黑" panose="020B0503020204020204" pitchFamily="34" charset="-122"/>
                  <a:ea typeface="微软雅黑" panose="020B0503020204020204" pitchFamily="34" charset="-122"/>
                </a:endParaRPr>
              </a:p>
            </p:txBody>
          </p:sp>
          <p:sp>
            <p:nvSpPr>
              <p:cNvPr id="103" name="Rounded Rectangle 23"/>
              <p:cNvSpPr/>
              <p:nvPr/>
            </p:nvSpPr>
            <p:spPr bwMode="auto">
              <a:xfrm>
                <a:off x="7425270" y="2501225"/>
                <a:ext cx="726818" cy="510275"/>
              </a:xfrm>
              <a:prstGeom prst="roundRect">
                <a:avLst/>
              </a:prstGeom>
              <a:solidFill>
                <a:srgbClr val="FF7DFE"/>
              </a:solidFill>
            </p:spPr>
            <p:style>
              <a:lnRef idx="0">
                <a:schemeClr val="accent6"/>
              </a:lnRef>
              <a:fillRef idx="3">
                <a:schemeClr val="accent6"/>
              </a:fillRef>
              <a:effectRef idx="3">
                <a:schemeClr val="accent6"/>
              </a:effectRef>
              <a:fontRef idx="minor">
                <a:schemeClr val="lt1"/>
              </a:fontRef>
            </p:style>
            <p:txBody>
              <a:bodyPr anchor="ctr"/>
              <a:lstStyle/>
              <a:p>
                <a:pPr algn="ctr" eaLnBrk="1" fontAlgn="auto" hangingPunct="1">
                  <a:spcBef>
                    <a:spcPts val="0"/>
                  </a:spcBef>
                  <a:spcAft>
                    <a:spcPts val="0"/>
                  </a:spcAft>
                  <a:defRPr/>
                </a:pPr>
                <a:r>
                  <a:rPr lang="zh-CN" altLang="en-US" sz="1600" b="1" dirty="0" smtClean="0">
                    <a:solidFill>
                      <a:srgbClr val="FFFFFF"/>
                    </a:solidFill>
                    <a:latin typeface="微软雅黑" panose="020B0503020204020204" pitchFamily="34" charset="-122"/>
                    <a:ea typeface="微软雅黑" panose="020B0503020204020204" pitchFamily="34" charset="-122"/>
                  </a:rPr>
                  <a:t>控制</a:t>
                </a:r>
                <a:endParaRPr lang="en-US" altLang="zh-CN" sz="1600" b="1" dirty="0" smtClean="0">
                  <a:solidFill>
                    <a:srgbClr val="FFFFFF"/>
                  </a:solidFill>
                  <a:latin typeface="微软雅黑" panose="020B0503020204020204" pitchFamily="34" charset="-122"/>
                  <a:ea typeface="微软雅黑" panose="020B0503020204020204" pitchFamily="34" charset="-122"/>
                </a:endParaRPr>
              </a:p>
              <a:p>
                <a:pPr algn="ctr" eaLnBrk="1" fontAlgn="auto" hangingPunct="1">
                  <a:spcBef>
                    <a:spcPts val="0"/>
                  </a:spcBef>
                  <a:spcAft>
                    <a:spcPts val="0"/>
                  </a:spcAft>
                  <a:defRPr/>
                </a:pPr>
                <a:r>
                  <a:rPr lang="zh-CN" altLang="en-US" sz="1600" b="1" dirty="0" smtClean="0">
                    <a:solidFill>
                      <a:srgbClr val="FFFFFF"/>
                    </a:solidFill>
                    <a:latin typeface="微软雅黑" panose="020B0503020204020204" pitchFamily="34" charset="-122"/>
                    <a:ea typeface="微软雅黑" panose="020B0503020204020204" pitchFamily="34" charset="-122"/>
                  </a:rPr>
                  <a:t>平面</a:t>
                </a:r>
                <a:endParaRPr lang="en-US" sz="1600" b="1" dirty="0">
                  <a:solidFill>
                    <a:srgbClr val="FFFFFF"/>
                  </a:solidFill>
                  <a:latin typeface="微软雅黑" panose="020B0503020204020204" pitchFamily="34" charset="-122"/>
                  <a:ea typeface="微软雅黑" panose="020B0503020204020204" pitchFamily="34" charset="-122"/>
                </a:endParaRPr>
              </a:p>
            </p:txBody>
          </p:sp>
        </p:grpSp>
      </p:grpSp>
    </p:spTree>
    <p:custDataLst>
      <p:tags r:id="rId1"/>
    </p:custDataLst>
    <p:extLst>
      <p:ext uri="{BB962C8B-B14F-4D97-AF65-F5344CB8AC3E}">
        <p14:creationId xmlns:p14="http://schemas.microsoft.com/office/powerpoint/2010/main" val="34656255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44"/>
                                        </p:tgtEl>
                                        <p:attrNameLst>
                                          <p:attrName>style.opacity</p:attrName>
                                        </p:attrNameLst>
                                      </p:cBhvr>
                                      <p:to>
                                        <p:strVal val="0.5"/>
                                      </p:to>
                                    </p:set>
                                    <p:animEffect filter="image" prLst="opacity: 0.5">
                                      <p:cBhvr rctx="IE">
                                        <p:cTn id="7" dur="indefinite"/>
                                        <p:tgtEl>
                                          <p:spTgt spid="44"/>
                                        </p:tgtEl>
                                      </p:cBhvr>
                                    </p:animEffect>
                                  </p:childTnLst>
                                </p:cTn>
                              </p:par>
                            </p:childTnLst>
                          </p:cTn>
                        </p:par>
                        <p:par>
                          <p:cTn id="8" fill="hold">
                            <p:stCondLst>
                              <p:cond delay="0"/>
                            </p:stCondLst>
                            <p:childTnLst>
                              <p:par>
                                <p:cTn id="9" presetID="10" presetClass="entr" presetSubtype="0" fill="hold" nodeType="afterEffect">
                                  <p:stCondLst>
                                    <p:cond delay="0"/>
                                  </p:stCondLst>
                                  <p:childTnLst>
                                    <p:set>
                                      <p:cBhvr>
                                        <p:cTn id="10" dur="1" fill="hold">
                                          <p:stCondLst>
                                            <p:cond delay="0"/>
                                          </p:stCondLst>
                                        </p:cTn>
                                        <p:tgtEl>
                                          <p:spTgt spid="61"/>
                                        </p:tgtEl>
                                        <p:attrNameLst>
                                          <p:attrName>style.visibility</p:attrName>
                                        </p:attrNameLst>
                                      </p:cBhvr>
                                      <p:to>
                                        <p:strVal val="visible"/>
                                      </p:to>
                                    </p:set>
                                    <p:animEffect transition="in" filter="fade">
                                      <p:cBhvr>
                                        <p:cTn id="11" dur="500"/>
                                        <p:tgtEl>
                                          <p:spTgt spid="61"/>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500"/>
                                        <p:tgtEl>
                                          <p:spTgt spid="6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0"/>
                                        </p:tgtEl>
                                        <p:attrNameLst>
                                          <p:attrName>style.visibility</p:attrName>
                                        </p:attrNameLst>
                                      </p:cBhvr>
                                      <p:to>
                                        <p:strVal val="visible"/>
                                      </p:to>
                                    </p:set>
                                    <p:animEffect transition="in" filter="wipe(left)">
                                      <p:cBhvr>
                                        <p:cTn id="29" dur="500"/>
                                        <p:tgtEl>
                                          <p:spTgt spid="70"/>
                                        </p:tgtEl>
                                      </p:cBhvr>
                                    </p:animEffect>
                                  </p:childTnLst>
                                </p:cTn>
                              </p:par>
                            </p:childTnLst>
                          </p:cTn>
                        </p:par>
                        <p:par>
                          <p:cTn id="30" fill="hold">
                            <p:stCondLst>
                              <p:cond delay="500"/>
                            </p:stCondLst>
                            <p:childTnLst>
                              <p:par>
                                <p:cTn id="31" presetID="10" presetClass="entr" presetSubtype="0"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par>
                          <p:cTn id="34" fill="hold">
                            <p:stCondLst>
                              <p:cond delay="1000"/>
                            </p:stCondLst>
                            <p:childTnLst>
                              <p:par>
                                <p:cTn id="35" presetID="10" presetClass="entr" presetSubtype="0" fill="hold" nodeType="after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par>
                          <p:cTn id="38" fill="hold">
                            <p:stCondLst>
                              <p:cond delay="1500"/>
                            </p:stCondLst>
                            <p:childTnLst>
                              <p:par>
                                <p:cTn id="39" presetID="22" presetClass="entr" presetSubtype="8" fill="hold" nodeType="afterEffect">
                                  <p:stCondLst>
                                    <p:cond delay="0"/>
                                  </p:stCondLst>
                                  <p:childTnLst>
                                    <p:set>
                                      <p:cBhvr>
                                        <p:cTn id="40" dur="1" fill="hold">
                                          <p:stCondLst>
                                            <p:cond delay="0"/>
                                          </p:stCondLst>
                                        </p:cTn>
                                        <p:tgtEl>
                                          <p:spTgt spid="71"/>
                                        </p:tgtEl>
                                        <p:attrNameLst>
                                          <p:attrName>style.visibility</p:attrName>
                                        </p:attrNameLst>
                                      </p:cBhvr>
                                      <p:to>
                                        <p:strVal val="visible"/>
                                      </p:to>
                                    </p:set>
                                    <p:animEffect transition="in" filter="wipe(left)">
                                      <p:cBhvr>
                                        <p:cTn id="41" dur="500"/>
                                        <p:tgtEl>
                                          <p:spTgt spid="7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69"/>
                                        </p:tgtEl>
                                        <p:attrNameLst>
                                          <p:attrName>style.visibility</p:attrName>
                                        </p:attrNameLst>
                                      </p:cBhvr>
                                      <p:to>
                                        <p:strVal val="visible"/>
                                      </p:to>
                                    </p:set>
                                    <p:animEffect transition="in" filter="wipe(left)">
                                      <p:cBhvr>
                                        <p:cTn id="46" dur="500"/>
                                        <p:tgtEl>
                                          <p:spTgt spid="69"/>
                                        </p:tgtEl>
                                      </p:cBhvr>
                                    </p:animEffec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2" grpId="0"/>
      <p:bldP spid="69" grpId="0" animBg="1"/>
      <p:bldP spid="7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461374" y="2790905"/>
            <a:ext cx="1144190" cy="982265"/>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050">
              <a:solidFill>
                <a:srgbClr val="FFFFFF"/>
              </a:solidFill>
              <a:latin typeface="微软雅黑" panose="020B0503020204020204" pitchFamily="34" charset="-122"/>
              <a:ea typeface="微软雅黑" panose="020B0503020204020204" pitchFamily="34" charset="-122"/>
            </a:endParaRPr>
          </a:p>
        </p:txBody>
      </p:sp>
      <p:sp>
        <p:nvSpPr>
          <p:cNvPr id="3" name="Rounded Rectangle 2"/>
          <p:cNvSpPr/>
          <p:nvPr/>
        </p:nvSpPr>
        <p:spPr>
          <a:xfrm>
            <a:off x="1536893" y="3391142"/>
            <a:ext cx="1004715" cy="315098"/>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100" dirty="0" smtClean="0">
                <a:solidFill>
                  <a:schemeClr val="bg1"/>
                </a:solidFill>
                <a:latin typeface="微软雅黑" panose="020B0503020204020204" pitchFamily="34" charset="-122"/>
                <a:ea typeface="微软雅黑" panose="020B0503020204020204" pitchFamily="34" charset="-122"/>
              </a:rPr>
              <a:t>数据平面</a:t>
            </a:r>
            <a:endParaRPr lang="en-US" altLang="zh-CN" sz="1050" dirty="0">
              <a:solidFill>
                <a:schemeClr val="bg1"/>
              </a:solidFill>
              <a:latin typeface="微软雅黑" panose="020B0503020204020204" pitchFamily="34" charset="-122"/>
              <a:ea typeface="微软雅黑" panose="020B0503020204020204" pitchFamily="34" charset="-122"/>
            </a:endParaRPr>
          </a:p>
        </p:txBody>
      </p:sp>
      <p:grpSp>
        <p:nvGrpSpPr>
          <p:cNvPr id="2" name="Group 54"/>
          <p:cNvGrpSpPr>
            <a:grpSpLocks/>
          </p:cNvGrpSpPr>
          <p:nvPr/>
        </p:nvGrpSpPr>
        <p:grpSpPr bwMode="auto">
          <a:xfrm>
            <a:off x="1536382" y="2838530"/>
            <a:ext cx="1004888" cy="258365"/>
            <a:chOff x="558086" y="3810293"/>
            <a:chExt cx="1339620" cy="343744"/>
          </a:xfrm>
        </p:grpSpPr>
        <p:sp>
          <p:nvSpPr>
            <p:cNvPr id="5" name="Rounded Rectangle 4"/>
            <p:cNvSpPr/>
            <p:nvPr/>
          </p:nvSpPr>
          <p:spPr>
            <a:xfrm>
              <a:off x="558086" y="3810293"/>
              <a:ext cx="533308"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0" rIns="0"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eaLnBrk="1" hangingPunct="1">
                <a:defRPr/>
              </a:pPr>
              <a:r>
                <a:rPr lang="zh-CN" altLang="en-US" sz="1050" dirty="0" smtClean="0">
                  <a:solidFill>
                    <a:srgbClr val="FFFFFF"/>
                  </a:solidFill>
                  <a:latin typeface="微软雅黑" panose="020B0503020204020204" pitchFamily="34" charset="-122"/>
                  <a:ea typeface="微软雅黑" panose="020B0503020204020204" pitchFamily="34" charset="-122"/>
                </a:rPr>
                <a:t>功能</a:t>
              </a:r>
              <a:endParaRPr lang="en-US" altLang="zh-CN" sz="1050" dirty="0">
                <a:solidFill>
                  <a:srgbClr val="FFFFFF"/>
                </a:solidFill>
                <a:latin typeface="微软雅黑" panose="020B0503020204020204" pitchFamily="34" charset="-122"/>
                <a:ea typeface="微软雅黑" panose="020B0503020204020204" pitchFamily="34" charset="-122"/>
              </a:endParaRPr>
            </a:p>
          </p:txBody>
        </p:sp>
        <p:sp>
          <p:nvSpPr>
            <p:cNvPr id="7" name="Rounded Rectangle 6"/>
            <p:cNvSpPr/>
            <p:nvPr/>
          </p:nvSpPr>
          <p:spPr>
            <a:xfrm>
              <a:off x="1396142" y="3810293"/>
              <a:ext cx="501564"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36000" rIns="36000"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rgbClr val="FFFFFF"/>
                  </a:solidFill>
                  <a:latin typeface="微软雅黑" panose="020B0503020204020204" pitchFamily="34" charset="-122"/>
                  <a:ea typeface="微软雅黑" panose="020B0503020204020204" pitchFamily="34" charset="-122"/>
                </a:rPr>
                <a:t>功能</a:t>
              </a:r>
              <a:endParaRPr lang="en-US" altLang="zh-CN" sz="1050" dirty="0">
                <a:solidFill>
                  <a:srgbClr val="FFFFFF"/>
                </a:solidFill>
                <a:latin typeface="微软雅黑" panose="020B0503020204020204" pitchFamily="34" charset="-122"/>
                <a:ea typeface="微软雅黑" panose="020B0503020204020204" pitchFamily="34" charset="-122"/>
              </a:endParaRPr>
            </a:p>
          </p:txBody>
        </p:sp>
        <p:cxnSp>
          <p:nvCxnSpPr>
            <p:cNvPr id="8" name="Straight Connector 7"/>
            <p:cNvCxnSpPr/>
            <p:nvPr/>
          </p:nvCxnSpPr>
          <p:spPr>
            <a:xfrm>
              <a:off x="1091394" y="3982957"/>
              <a:ext cx="304748" cy="1585"/>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12" name="Rectangle 11"/>
          <p:cNvSpPr/>
          <p:nvPr/>
        </p:nvSpPr>
        <p:spPr>
          <a:xfrm>
            <a:off x="3506868" y="2031683"/>
            <a:ext cx="1144190" cy="981075"/>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050">
              <a:solidFill>
                <a:srgbClr val="FFFFFF"/>
              </a:solidFill>
              <a:latin typeface="微软雅黑" panose="020B0503020204020204" pitchFamily="34" charset="-122"/>
              <a:ea typeface="微软雅黑" panose="020B0503020204020204" pitchFamily="34" charset="-122"/>
            </a:endParaRPr>
          </a:p>
        </p:txBody>
      </p:sp>
      <p:sp>
        <p:nvSpPr>
          <p:cNvPr id="13" name="Rounded Rectangle 12"/>
          <p:cNvSpPr/>
          <p:nvPr/>
        </p:nvSpPr>
        <p:spPr>
          <a:xfrm>
            <a:off x="3582231" y="2631455"/>
            <a:ext cx="1004715" cy="315098"/>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eaLnBrk="1" hangingPunct="1">
              <a:defRPr/>
            </a:pPr>
            <a:r>
              <a:rPr lang="zh-CN" altLang="en-US" sz="1100" dirty="0" smtClean="0">
                <a:solidFill>
                  <a:schemeClr val="bg1"/>
                </a:solidFill>
                <a:latin typeface="微软雅黑" panose="020B0503020204020204" pitchFamily="34" charset="-122"/>
                <a:ea typeface="微软雅黑" panose="020B0503020204020204" pitchFamily="34" charset="-122"/>
              </a:rPr>
              <a:t>数据平面</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20" name="Rectangle 19"/>
          <p:cNvSpPr/>
          <p:nvPr/>
        </p:nvSpPr>
        <p:spPr>
          <a:xfrm>
            <a:off x="6303645" y="2478167"/>
            <a:ext cx="1144191" cy="981075"/>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050">
              <a:solidFill>
                <a:srgbClr val="FFFFFF"/>
              </a:solidFill>
              <a:latin typeface="微软雅黑" panose="020B0503020204020204" pitchFamily="34" charset="-122"/>
              <a:ea typeface="微软雅黑" panose="020B0503020204020204" pitchFamily="34" charset="-122"/>
            </a:endParaRPr>
          </a:p>
        </p:txBody>
      </p:sp>
      <p:sp>
        <p:nvSpPr>
          <p:cNvPr id="21" name="Rounded Rectangle 20"/>
          <p:cNvSpPr/>
          <p:nvPr/>
        </p:nvSpPr>
        <p:spPr>
          <a:xfrm>
            <a:off x="6379253" y="3078124"/>
            <a:ext cx="1004715" cy="315098"/>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100" dirty="0" smtClean="0">
                <a:solidFill>
                  <a:schemeClr val="bg1"/>
                </a:solidFill>
                <a:latin typeface="微软雅黑" panose="020B0503020204020204" pitchFamily="34" charset="-122"/>
                <a:ea typeface="微软雅黑" panose="020B0503020204020204" pitchFamily="34" charset="-122"/>
              </a:rPr>
              <a:t>数据平面</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28" name="Rectangle 27"/>
          <p:cNvSpPr/>
          <p:nvPr/>
        </p:nvSpPr>
        <p:spPr>
          <a:xfrm>
            <a:off x="3028633" y="3706893"/>
            <a:ext cx="1144191" cy="982265"/>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050">
              <a:solidFill>
                <a:srgbClr val="FFFFFF"/>
              </a:solidFill>
              <a:latin typeface="微软雅黑" panose="020B0503020204020204" pitchFamily="34" charset="-122"/>
              <a:ea typeface="微软雅黑" panose="020B0503020204020204" pitchFamily="34" charset="-122"/>
            </a:endParaRPr>
          </a:p>
        </p:txBody>
      </p:sp>
      <p:sp>
        <p:nvSpPr>
          <p:cNvPr id="29" name="Rounded Rectangle 28"/>
          <p:cNvSpPr/>
          <p:nvPr/>
        </p:nvSpPr>
        <p:spPr>
          <a:xfrm>
            <a:off x="3103819" y="4307643"/>
            <a:ext cx="1004715" cy="315098"/>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100" dirty="0" smtClean="0">
                <a:solidFill>
                  <a:schemeClr val="bg1"/>
                </a:solidFill>
                <a:latin typeface="微软雅黑" panose="020B0503020204020204" pitchFamily="34" charset="-122"/>
                <a:ea typeface="微软雅黑" panose="020B0503020204020204" pitchFamily="34" charset="-122"/>
              </a:rPr>
              <a:t>数据平面</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36" name="Rectangle 35"/>
          <p:cNvSpPr/>
          <p:nvPr/>
        </p:nvSpPr>
        <p:spPr>
          <a:xfrm>
            <a:off x="4657012" y="3393758"/>
            <a:ext cx="1144190" cy="981075"/>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050">
              <a:solidFill>
                <a:srgbClr val="FFFFFF"/>
              </a:solidFill>
              <a:latin typeface="微软雅黑" panose="020B0503020204020204" pitchFamily="34" charset="-122"/>
              <a:ea typeface="微软雅黑" panose="020B0503020204020204" pitchFamily="34" charset="-122"/>
            </a:endParaRPr>
          </a:p>
        </p:txBody>
      </p:sp>
      <p:sp>
        <p:nvSpPr>
          <p:cNvPr id="37" name="Rounded Rectangle 36"/>
          <p:cNvSpPr/>
          <p:nvPr/>
        </p:nvSpPr>
        <p:spPr>
          <a:xfrm>
            <a:off x="4732467" y="3993537"/>
            <a:ext cx="1004715" cy="315098"/>
          </a:xfrm>
          <a:prstGeom prst="roundRect">
            <a:avLst/>
          </a:prstGeom>
          <a:solidFill>
            <a:srgbClr val="000090"/>
          </a:solidFill>
        </p:spPr>
        <p:style>
          <a:lnRef idx="0">
            <a:schemeClr val="accent2"/>
          </a:lnRef>
          <a:fillRef idx="3">
            <a:schemeClr val="accent2"/>
          </a:fillRef>
          <a:effectRef idx="3">
            <a:schemeClr val="accent2"/>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100" dirty="0" smtClean="0">
                <a:solidFill>
                  <a:schemeClr val="bg1"/>
                </a:solidFill>
                <a:latin typeface="微软雅黑" panose="020B0503020204020204" pitchFamily="34" charset="-122"/>
                <a:ea typeface="微软雅黑" panose="020B0503020204020204" pitchFamily="34" charset="-122"/>
              </a:rPr>
              <a:t>数据平面</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4" name="Rounded Rectangle 3"/>
          <p:cNvSpPr/>
          <p:nvPr/>
        </p:nvSpPr>
        <p:spPr>
          <a:xfrm>
            <a:off x="1536892" y="3115811"/>
            <a:ext cx="1004715" cy="26534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1050" b="1" dirty="0" smtClean="0">
                <a:solidFill>
                  <a:srgbClr val="FFFFFF"/>
                </a:solidFill>
                <a:latin typeface="微软雅黑" panose="020B0503020204020204" pitchFamily="34" charset="-122"/>
                <a:ea typeface="微软雅黑" panose="020B0503020204020204" pitchFamily="34" charset="-122"/>
              </a:rPr>
              <a:t>控制平面</a:t>
            </a:r>
            <a:endParaRPr lang="en-US" sz="1050" b="1" dirty="0">
              <a:solidFill>
                <a:srgbClr val="FFFFFF"/>
              </a:solidFill>
              <a:latin typeface="微软雅黑" panose="020B0503020204020204" pitchFamily="34" charset="-122"/>
              <a:ea typeface="微软雅黑" panose="020B0503020204020204" pitchFamily="34" charset="-122"/>
            </a:endParaRPr>
          </a:p>
        </p:txBody>
      </p:sp>
      <p:sp>
        <p:nvSpPr>
          <p:cNvPr id="14" name="Rounded Rectangle 13"/>
          <p:cNvSpPr/>
          <p:nvPr/>
        </p:nvSpPr>
        <p:spPr>
          <a:xfrm>
            <a:off x="3582230" y="2356124"/>
            <a:ext cx="1004715" cy="26534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1100" b="1" dirty="0" smtClean="0">
                <a:solidFill>
                  <a:srgbClr val="FFFFFF"/>
                </a:solidFill>
                <a:latin typeface="微软雅黑" panose="020B0503020204020204" pitchFamily="34" charset="-122"/>
                <a:ea typeface="微软雅黑" panose="020B0503020204020204" pitchFamily="34" charset="-122"/>
              </a:rPr>
              <a:t>控制平面</a:t>
            </a:r>
            <a:endParaRPr lang="en-US" altLang="zh-CN" sz="1100" b="1" dirty="0">
              <a:solidFill>
                <a:srgbClr val="FFFFFF"/>
              </a:solidFill>
              <a:latin typeface="微软雅黑" panose="020B0503020204020204" pitchFamily="34" charset="-122"/>
              <a:ea typeface="微软雅黑" panose="020B0503020204020204" pitchFamily="34" charset="-122"/>
            </a:endParaRPr>
          </a:p>
        </p:txBody>
      </p:sp>
      <p:sp>
        <p:nvSpPr>
          <p:cNvPr id="22" name="Rounded Rectangle 21"/>
          <p:cNvSpPr/>
          <p:nvPr/>
        </p:nvSpPr>
        <p:spPr>
          <a:xfrm>
            <a:off x="6379252" y="2802793"/>
            <a:ext cx="1004715" cy="26534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1100" b="1" dirty="0" smtClean="0">
                <a:solidFill>
                  <a:srgbClr val="FFFFFF"/>
                </a:solidFill>
                <a:latin typeface="微软雅黑" panose="020B0503020204020204" pitchFamily="34" charset="-122"/>
                <a:ea typeface="微软雅黑" panose="020B0503020204020204" pitchFamily="34" charset="-122"/>
              </a:rPr>
              <a:t>控制平面</a:t>
            </a:r>
            <a:endParaRPr lang="en-US" altLang="zh-CN" sz="1100" b="1" dirty="0">
              <a:solidFill>
                <a:srgbClr val="FFFFFF"/>
              </a:solidFill>
              <a:latin typeface="微软雅黑" panose="020B0503020204020204" pitchFamily="34" charset="-122"/>
              <a:ea typeface="微软雅黑" panose="020B0503020204020204" pitchFamily="34" charset="-122"/>
            </a:endParaRPr>
          </a:p>
        </p:txBody>
      </p:sp>
      <p:sp>
        <p:nvSpPr>
          <p:cNvPr id="30" name="Rounded Rectangle 29"/>
          <p:cNvSpPr/>
          <p:nvPr/>
        </p:nvSpPr>
        <p:spPr>
          <a:xfrm>
            <a:off x="3103819" y="4032311"/>
            <a:ext cx="1004715" cy="26534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1100" b="1" dirty="0" smtClean="0">
                <a:solidFill>
                  <a:srgbClr val="FFFFFF"/>
                </a:solidFill>
                <a:latin typeface="微软雅黑" panose="020B0503020204020204" pitchFamily="34" charset="-122"/>
                <a:ea typeface="微软雅黑" panose="020B0503020204020204" pitchFamily="34" charset="-122"/>
              </a:rPr>
              <a:t>控制平面</a:t>
            </a:r>
            <a:endParaRPr lang="en-US" altLang="zh-CN" sz="1100" b="1" dirty="0">
              <a:solidFill>
                <a:srgbClr val="FFFFFF"/>
              </a:solidFill>
              <a:latin typeface="微软雅黑" panose="020B0503020204020204" pitchFamily="34" charset="-122"/>
              <a:ea typeface="微软雅黑" panose="020B0503020204020204" pitchFamily="34" charset="-122"/>
            </a:endParaRPr>
          </a:p>
        </p:txBody>
      </p:sp>
      <p:sp>
        <p:nvSpPr>
          <p:cNvPr id="38" name="Rounded Rectangle 37"/>
          <p:cNvSpPr/>
          <p:nvPr/>
        </p:nvSpPr>
        <p:spPr>
          <a:xfrm>
            <a:off x="4732466" y="3718205"/>
            <a:ext cx="1004715" cy="265344"/>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1100" b="1" dirty="0" smtClean="0">
                <a:solidFill>
                  <a:srgbClr val="FFFFFF"/>
                </a:solidFill>
                <a:latin typeface="微软雅黑" panose="020B0503020204020204" pitchFamily="34" charset="-122"/>
                <a:ea typeface="微软雅黑" panose="020B0503020204020204" pitchFamily="34" charset="-122"/>
              </a:rPr>
              <a:t>控制平面</a:t>
            </a:r>
            <a:endParaRPr lang="en-US" altLang="zh-CN" sz="1100" b="1" dirty="0">
              <a:solidFill>
                <a:srgbClr val="FFFFFF"/>
              </a:solidFill>
              <a:latin typeface="微软雅黑" panose="020B0503020204020204" pitchFamily="34" charset="-122"/>
              <a:ea typeface="微软雅黑" panose="020B0503020204020204" pitchFamily="34" charset="-122"/>
            </a:endParaRPr>
          </a:p>
        </p:txBody>
      </p:sp>
      <p:cxnSp>
        <p:nvCxnSpPr>
          <p:cNvPr id="44" name="Straight Connector 43"/>
          <p:cNvCxnSpPr>
            <a:stCxn id="9" idx="3"/>
            <a:endCxn id="12" idx="2"/>
          </p:cNvCxnSpPr>
          <p:nvPr/>
        </p:nvCxnSpPr>
        <p:spPr>
          <a:xfrm flipV="1">
            <a:off x="2605564" y="3012758"/>
            <a:ext cx="1473399" cy="26928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a:stCxn id="12" idx="3"/>
            <a:endCxn id="36" idx="0"/>
          </p:cNvCxnSpPr>
          <p:nvPr/>
        </p:nvCxnSpPr>
        <p:spPr>
          <a:xfrm>
            <a:off x="4651057" y="2522220"/>
            <a:ext cx="577454" cy="871538"/>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p:cNvCxnSpPr>
            <a:stCxn id="28" idx="3"/>
            <a:endCxn id="36" idx="1"/>
          </p:cNvCxnSpPr>
          <p:nvPr/>
        </p:nvCxnSpPr>
        <p:spPr>
          <a:xfrm flipV="1">
            <a:off x="4172824" y="3884296"/>
            <a:ext cx="484188" cy="313730"/>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p:cNvCxnSpPr>
            <a:stCxn id="9" idx="2"/>
            <a:endCxn id="28" idx="1"/>
          </p:cNvCxnSpPr>
          <p:nvPr/>
        </p:nvCxnSpPr>
        <p:spPr>
          <a:xfrm>
            <a:off x="2033469" y="3773170"/>
            <a:ext cx="995164" cy="424856"/>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p:cNvCxnSpPr>
            <a:stCxn id="36" idx="3"/>
            <a:endCxn id="20" idx="2"/>
          </p:cNvCxnSpPr>
          <p:nvPr/>
        </p:nvCxnSpPr>
        <p:spPr>
          <a:xfrm flipV="1">
            <a:off x="5801202" y="3459243"/>
            <a:ext cx="1075135" cy="425053"/>
          </a:xfrm>
          <a:prstGeom prst="line">
            <a:avLst/>
          </a:prstGeom>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1957070" y="1580901"/>
            <a:ext cx="4997450" cy="312233"/>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1600" b="1" dirty="0" smtClean="0">
                <a:solidFill>
                  <a:srgbClr val="FFFFFF"/>
                </a:solidFill>
                <a:latin typeface="微软雅黑" panose="020B0503020204020204" pitchFamily="34" charset="-122"/>
                <a:ea typeface="微软雅黑" panose="020B0503020204020204" pitchFamily="34" charset="-122"/>
              </a:rPr>
              <a:t>控制平面</a:t>
            </a:r>
            <a:endParaRPr lang="en-US" sz="1600" b="1" dirty="0">
              <a:solidFill>
                <a:srgbClr val="FFFFFF"/>
              </a:solidFill>
              <a:latin typeface="微软雅黑" panose="020B0503020204020204" pitchFamily="34" charset="-122"/>
              <a:ea typeface="微软雅黑" panose="020B0503020204020204" pitchFamily="34" charset="-122"/>
            </a:endParaRPr>
          </a:p>
        </p:txBody>
      </p:sp>
      <p:grpSp>
        <p:nvGrpSpPr>
          <p:cNvPr id="6" name="Group 62"/>
          <p:cNvGrpSpPr>
            <a:grpSpLocks/>
          </p:cNvGrpSpPr>
          <p:nvPr/>
        </p:nvGrpSpPr>
        <p:grpSpPr bwMode="auto">
          <a:xfrm>
            <a:off x="2769871" y="1137126"/>
            <a:ext cx="3223022" cy="371475"/>
            <a:chOff x="2682095" y="715997"/>
            <a:chExt cx="2758877" cy="495228"/>
          </a:xfrm>
        </p:grpSpPr>
        <p:sp>
          <p:nvSpPr>
            <p:cNvPr id="60" name="Rounded Rectangle 59"/>
            <p:cNvSpPr/>
            <p:nvPr/>
          </p:nvSpPr>
          <p:spPr>
            <a:xfrm>
              <a:off x="2682095" y="719194"/>
              <a:ext cx="1312373" cy="492031"/>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2000" b="1" dirty="0" smtClean="0">
                  <a:solidFill>
                    <a:srgbClr val="FFFFFF"/>
                  </a:solidFill>
                  <a:latin typeface="微软雅黑" panose="020B0503020204020204" pitchFamily="34" charset="-122"/>
                  <a:ea typeface="微软雅黑" panose="020B0503020204020204" pitchFamily="34" charset="-122"/>
                </a:rPr>
                <a:t>控制程序</a:t>
              </a:r>
              <a:endParaRPr lang="en-US" sz="2000" b="1" dirty="0">
                <a:solidFill>
                  <a:srgbClr val="FFFFFF"/>
                </a:solidFill>
                <a:latin typeface="微软雅黑" panose="020B0503020204020204" pitchFamily="34" charset="-122"/>
                <a:ea typeface="微软雅黑" panose="020B0503020204020204" pitchFamily="34" charset="-122"/>
              </a:endParaRPr>
            </a:p>
          </p:txBody>
        </p:sp>
        <p:sp>
          <p:nvSpPr>
            <p:cNvPr id="62" name="Rounded Rectangle 61"/>
            <p:cNvSpPr/>
            <p:nvPr/>
          </p:nvSpPr>
          <p:spPr>
            <a:xfrm>
              <a:off x="4157529" y="715997"/>
              <a:ext cx="1283443" cy="492031"/>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sz="2000" b="1" dirty="0">
                  <a:solidFill>
                    <a:srgbClr val="FFFFFF"/>
                  </a:solidFill>
                  <a:latin typeface="微软雅黑" panose="020B0503020204020204" pitchFamily="34" charset="-122"/>
                  <a:ea typeface="微软雅黑" panose="020B0503020204020204" pitchFamily="34" charset="-122"/>
                </a:rPr>
                <a:t>控制程序</a:t>
              </a:r>
              <a:endParaRPr lang="en-US" altLang="zh-CN" sz="2000" b="1" dirty="0">
                <a:solidFill>
                  <a:srgbClr val="FFFFFF"/>
                </a:solidFill>
                <a:latin typeface="微软雅黑" panose="020B0503020204020204" pitchFamily="34" charset="-122"/>
                <a:ea typeface="微软雅黑" panose="020B0503020204020204" pitchFamily="34" charset="-122"/>
              </a:endParaRPr>
            </a:p>
          </p:txBody>
        </p:sp>
      </p:grpSp>
      <p:grpSp>
        <p:nvGrpSpPr>
          <p:cNvPr id="10" name="Group 54"/>
          <p:cNvGrpSpPr>
            <a:grpSpLocks/>
          </p:cNvGrpSpPr>
          <p:nvPr/>
        </p:nvGrpSpPr>
        <p:grpSpPr bwMode="auto">
          <a:xfrm>
            <a:off x="3575923" y="2078118"/>
            <a:ext cx="1004888" cy="258365"/>
            <a:chOff x="558086" y="3810293"/>
            <a:chExt cx="1339620" cy="343744"/>
          </a:xfrm>
        </p:grpSpPr>
        <p:sp>
          <p:nvSpPr>
            <p:cNvPr id="56" name="Rounded Rectangle 55"/>
            <p:cNvSpPr/>
            <p:nvPr/>
          </p:nvSpPr>
          <p:spPr>
            <a:xfrm>
              <a:off x="558086" y="3810293"/>
              <a:ext cx="533308"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0" rIns="0"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rgbClr val="FFFFFF"/>
                  </a:solidFill>
                  <a:latin typeface="微软雅黑" panose="020B0503020204020204" pitchFamily="34" charset="-122"/>
                  <a:ea typeface="微软雅黑" panose="020B0503020204020204" pitchFamily="34" charset="-122"/>
                </a:rPr>
                <a:t>功能</a:t>
              </a:r>
              <a:endParaRPr lang="en-US" altLang="zh-CN" sz="1050" dirty="0">
                <a:solidFill>
                  <a:srgbClr val="FFFFFF"/>
                </a:solidFill>
                <a:latin typeface="微软雅黑" panose="020B0503020204020204" pitchFamily="34" charset="-122"/>
                <a:ea typeface="微软雅黑" panose="020B0503020204020204" pitchFamily="34" charset="-122"/>
              </a:endParaRPr>
            </a:p>
          </p:txBody>
        </p:sp>
        <p:sp>
          <p:nvSpPr>
            <p:cNvPr id="57" name="Rounded Rectangle 56"/>
            <p:cNvSpPr/>
            <p:nvPr/>
          </p:nvSpPr>
          <p:spPr>
            <a:xfrm>
              <a:off x="1396142" y="3810293"/>
              <a:ext cx="501564"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36000" rIns="36000" anchor="ctr"/>
            <a:lstStyle/>
            <a:p>
              <a:pPr algn="ctr"/>
              <a:r>
                <a:rPr lang="zh-CN" altLang="en-US" sz="1050" b="1" dirty="0">
                  <a:solidFill>
                    <a:srgbClr val="FFFFFF"/>
                  </a:solidFill>
                  <a:latin typeface="微软雅黑" panose="020B0503020204020204" pitchFamily="34" charset="-122"/>
                  <a:ea typeface="微软雅黑" panose="020B0503020204020204" pitchFamily="34" charset="-122"/>
                </a:rPr>
                <a:t>功能</a:t>
              </a:r>
              <a:endParaRPr lang="en-US" sz="1050" b="1" dirty="0">
                <a:solidFill>
                  <a:srgbClr val="FFFFFF"/>
                </a:solidFill>
                <a:latin typeface="微软雅黑" panose="020B0503020204020204" pitchFamily="34" charset="-122"/>
                <a:ea typeface="微软雅黑" panose="020B0503020204020204" pitchFamily="34" charset="-122"/>
              </a:endParaRPr>
            </a:p>
          </p:txBody>
        </p:sp>
        <p:cxnSp>
          <p:nvCxnSpPr>
            <p:cNvPr id="58" name="Straight Connector 57"/>
            <p:cNvCxnSpPr/>
            <p:nvPr/>
          </p:nvCxnSpPr>
          <p:spPr>
            <a:xfrm>
              <a:off x="1091394" y="3982957"/>
              <a:ext cx="304748" cy="1585"/>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1" name="Group 54"/>
          <p:cNvGrpSpPr>
            <a:grpSpLocks/>
          </p:cNvGrpSpPr>
          <p:nvPr/>
        </p:nvGrpSpPr>
        <p:grpSpPr bwMode="auto">
          <a:xfrm>
            <a:off x="4726067" y="3439001"/>
            <a:ext cx="1004888" cy="258366"/>
            <a:chOff x="558086" y="3810293"/>
            <a:chExt cx="1339620" cy="343744"/>
          </a:xfrm>
        </p:grpSpPr>
        <p:sp>
          <p:nvSpPr>
            <p:cNvPr id="63" name="Rounded Rectangle 62"/>
            <p:cNvSpPr/>
            <p:nvPr/>
          </p:nvSpPr>
          <p:spPr>
            <a:xfrm>
              <a:off x="558086" y="3810293"/>
              <a:ext cx="533308"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0" rIns="0"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rgbClr val="FFFFFF"/>
                  </a:solidFill>
                  <a:latin typeface="微软雅黑" panose="020B0503020204020204" pitchFamily="34" charset="-122"/>
                  <a:ea typeface="微软雅黑" panose="020B0503020204020204" pitchFamily="34" charset="-122"/>
                </a:rPr>
                <a:t>功能</a:t>
              </a:r>
              <a:endParaRPr lang="en-US" altLang="zh-CN" sz="1050" dirty="0">
                <a:solidFill>
                  <a:srgbClr val="FFFFFF"/>
                </a:solidFill>
                <a:latin typeface="微软雅黑" panose="020B0503020204020204" pitchFamily="34" charset="-122"/>
                <a:ea typeface="微软雅黑" panose="020B0503020204020204" pitchFamily="34" charset="-122"/>
              </a:endParaRPr>
            </a:p>
          </p:txBody>
        </p:sp>
        <p:sp>
          <p:nvSpPr>
            <p:cNvPr id="64" name="Rounded Rectangle 63"/>
            <p:cNvSpPr/>
            <p:nvPr/>
          </p:nvSpPr>
          <p:spPr>
            <a:xfrm>
              <a:off x="1396142" y="3810293"/>
              <a:ext cx="501564"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36000" rIns="36000" anchor="ctr"/>
            <a:lstStyle/>
            <a:p>
              <a:pPr algn="ctr">
                <a:defRPr/>
              </a:pPr>
              <a:r>
                <a:rPr lang="zh-CN" altLang="en-US" sz="1050" b="1" dirty="0">
                  <a:solidFill>
                    <a:srgbClr val="FFFFFF"/>
                  </a:solidFill>
                  <a:latin typeface="微软雅黑" panose="020B0503020204020204" pitchFamily="34" charset="-122"/>
                  <a:ea typeface="微软雅黑" panose="020B0503020204020204" pitchFamily="34" charset="-122"/>
                </a:rPr>
                <a:t>功能</a:t>
              </a:r>
              <a:endParaRPr lang="en-US" sz="1050" b="1" dirty="0">
                <a:solidFill>
                  <a:srgbClr val="FFFFFF"/>
                </a:solidFill>
                <a:latin typeface="微软雅黑" panose="020B0503020204020204" pitchFamily="34" charset="-122"/>
                <a:ea typeface="微软雅黑" panose="020B0503020204020204" pitchFamily="34" charset="-122"/>
              </a:endParaRPr>
            </a:p>
          </p:txBody>
        </p:sp>
        <p:cxnSp>
          <p:nvCxnSpPr>
            <p:cNvPr id="65" name="Straight Connector 64"/>
            <p:cNvCxnSpPr/>
            <p:nvPr/>
          </p:nvCxnSpPr>
          <p:spPr>
            <a:xfrm>
              <a:off x="1091394" y="3982957"/>
              <a:ext cx="304748" cy="1584"/>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5" name="Group 54"/>
          <p:cNvGrpSpPr>
            <a:grpSpLocks/>
          </p:cNvGrpSpPr>
          <p:nvPr/>
        </p:nvGrpSpPr>
        <p:grpSpPr bwMode="auto">
          <a:xfrm>
            <a:off x="3097689" y="3749759"/>
            <a:ext cx="1004888" cy="258367"/>
            <a:chOff x="558086" y="3810291"/>
            <a:chExt cx="1339620" cy="343746"/>
          </a:xfrm>
        </p:grpSpPr>
        <p:sp>
          <p:nvSpPr>
            <p:cNvPr id="67" name="Rounded Rectangle 66"/>
            <p:cNvSpPr/>
            <p:nvPr/>
          </p:nvSpPr>
          <p:spPr>
            <a:xfrm>
              <a:off x="558086" y="3810293"/>
              <a:ext cx="533308"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0" rIns="0"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rgbClr val="FFFFFF"/>
                  </a:solidFill>
                  <a:latin typeface="微软雅黑" panose="020B0503020204020204" pitchFamily="34" charset="-122"/>
                  <a:ea typeface="微软雅黑" panose="020B0503020204020204" pitchFamily="34" charset="-122"/>
                </a:rPr>
                <a:t>功能</a:t>
              </a:r>
              <a:endParaRPr lang="en-US" altLang="zh-CN" sz="1050" dirty="0">
                <a:solidFill>
                  <a:srgbClr val="FFFFFF"/>
                </a:solidFill>
                <a:latin typeface="微软雅黑" panose="020B0503020204020204" pitchFamily="34" charset="-122"/>
                <a:ea typeface="微软雅黑" panose="020B0503020204020204" pitchFamily="34" charset="-122"/>
              </a:endParaRPr>
            </a:p>
          </p:txBody>
        </p:sp>
        <p:sp>
          <p:nvSpPr>
            <p:cNvPr id="68" name="Rounded Rectangle 67"/>
            <p:cNvSpPr/>
            <p:nvPr/>
          </p:nvSpPr>
          <p:spPr>
            <a:xfrm>
              <a:off x="1396142" y="3810291"/>
              <a:ext cx="501564" cy="343743"/>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36000" rIns="36000" anchor="ctr"/>
            <a:lstStyle/>
            <a:p>
              <a:pPr algn="ctr">
                <a:defRPr/>
              </a:pPr>
              <a:r>
                <a:rPr lang="zh-CN" altLang="en-US" sz="1050" b="1" dirty="0">
                  <a:solidFill>
                    <a:srgbClr val="FFFFFF"/>
                  </a:solidFill>
                  <a:latin typeface="微软雅黑" panose="020B0503020204020204" pitchFamily="34" charset="-122"/>
                  <a:ea typeface="微软雅黑" panose="020B0503020204020204" pitchFamily="34" charset="-122"/>
                </a:rPr>
                <a:t>功能</a:t>
              </a:r>
              <a:endParaRPr lang="en-US" sz="1050" b="1" dirty="0">
                <a:solidFill>
                  <a:srgbClr val="FFFFFF"/>
                </a:solidFill>
                <a:latin typeface="微软雅黑" panose="020B0503020204020204" pitchFamily="34" charset="-122"/>
                <a:ea typeface="微软雅黑" panose="020B0503020204020204" pitchFamily="34" charset="-122"/>
              </a:endParaRPr>
            </a:p>
          </p:txBody>
        </p:sp>
        <p:cxnSp>
          <p:nvCxnSpPr>
            <p:cNvPr id="69" name="Straight Connector 68"/>
            <p:cNvCxnSpPr/>
            <p:nvPr/>
          </p:nvCxnSpPr>
          <p:spPr>
            <a:xfrm>
              <a:off x="1091394" y="3982957"/>
              <a:ext cx="304748" cy="1585"/>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6" name="Group 54"/>
          <p:cNvGrpSpPr>
            <a:grpSpLocks/>
          </p:cNvGrpSpPr>
          <p:nvPr/>
        </p:nvGrpSpPr>
        <p:grpSpPr bwMode="auto">
          <a:xfrm>
            <a:off x="6378655" y="2516268"/>
            <a:ext cx="1004888" cy="258365"/>
            <a:chOff x="558086" y="3810293"/>
            <a:chExt cx="1339620" cy="343744"/>
          </a:xfrm>
        </p:grpSpPr>
        <p:sp>
          <p:nvSpPr>
            <p:cNvPr id="71" name="Rounded Rectangle 70"/>
            <p:cNvSpPr/>
            <p:nvPr/>
          </p:nvSpPr>
          <p:spPr>
            <a:xfrm>
              <a:off x="558086" y="3810293"/>
              <a:ext cx="533308"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0" rIns="0"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37931725" indent="-37474525">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rgbClr val="FFFFFF"/>
                  </a:solidFill>
                  <a:latin typeface="微软雅黑" panose="020B0503020204020204" pitchFamily="34" charset="-122"/>
                  <a:ea typeface="微软雅黑" panose="020B0503020204020204" pitchFamily="34" charset="-122"/>
                </a:rPr>
                <a:t>功能</a:t>
              </a:r>
              <a:endParaRPr lang="en-US" altLang="zh-CN" sz="1050" dirty="0">
                <a:solidFill>
                  <a:srgbClr val="FFFFFF"/>
                </a:solidFill>
                <a:latin typeface="微软雅黑" panose="020B0503020204020204" pitchFamily="34" charset="-122"/>
                <a:ea typeface="微软雅黑" panose="020B0503020204020204" pitchFamily="34" charset="-122"/>
              </a:endParaRPr>
            </a:p>
          </p:txBody>
        </p:sp>
        <p:sp>
          <p:nvSpPr>
            <p:cNvPr id="72" name="Rounded Rectangle 71"/>
            <p:cNvSpPr/>
            <p:nvPr/>
          </p:nvSpPr>
          <p:spPr>
            <a:xfrm>
              <a:off x="1396142" y="3810293"/>
              <a:ext cx="501564" cy="343744"/>
            </a:xfrm>
            <a:prstGeom prst="roundRect">
              <a:avLst/>
            </a:prstGeom>
            <a:gradFill>
              <a:gsLst>
                <a:gs pos="0">
                  <a:schemeClr val="accent6">
                    <a:tint val="100000"/>
                    <a:shade val="100000"/>
                    <a:satMod val="130000"/>
                    <a:alpha val="60000"/>
                  </a:schemeClr>
                </a:gs>
                <a:gs pos="100000">
                  <a:schemeClr val="accent6">
                    <a:tint val="50000"/>
                    <a:shade val="100000"/>
                    <a:satMod val="350000"/>
                    <a:alpha val="45000"/>
                  </a:schemeClr>
                </a:gs>
              </a:gsLst>
            </a:gradFill>
          </p:spPr>
          <p:style>
            <a:lnRef idx="0">
              <a:schemeClr val="accent6"/>
            </a:lnRef>
            <a:fillRef idx="3">
              <a:schemeClr val="accent6"/>
            </a:fillRef>
            <a:effectRef idx="3">
              <a:schemeClr val="accent6"/>
            </a:effectRef>
            <a:fontRef idx="minor">
              <a:schemeClr val="lt1"/>
            </a:fontRef>
          </p:style>
          <p:txBody>
            <a:bodyPr lIns="36000" rIns="36000" anchor="ctr"/>
            <a:lstStyle/>
            <a:p>
              <a:pPr algn="ctr"/>
              <a:r>
                <a:rPr lang="zh-CN" altLang="en-US" sz="1050" b="1" dirty="0">
                  <a:solidFill>
                    <a:srgbClr val="FFFFFF"/>
                  </a:solidFill>
                  <a:latin typeface="微软雅黑" panose="020B0503020204020204" pitchFamily="34" charset="-122"/>
                  <a:ea typeface="微软雅黑" panose="020B0503020204020204" pitchFamily="34" charset="-122"/>
                </a:rPr>
                <a:t>功能</a:t>
              </a:r>
              <a:endParaRPr lang="en-US" sz="1050" b="1" dirty="0">
                <a:solidFill>
                  <a:srgbClr val="FFFFFF"/>
                </a:solidFill>
                <a:latin typeface="微软雅黑" panose="020B0503020204020204" pitchFamily="34" charset="-122"/>
                <a:ea typeface="微软雅黑" panose="020B0503020204020204" pitchFamily="34" charset="-122"/>
              </a:endParaRPr>
            </a:p>
          </p:txBody>
        </p:sp>
        <p:cxnSp>
          <p:nvCxnSpPr>
            <p:cNvPr id="73" name="Straight Connector 72"/>
            <p:cNvCxnSpPr/>
            <p:nvPr/>
          </p:nvCxnSpPr>
          <p:spPr>
            <a:xfrm>
              <a:off x="1091394" y="3982957"/>
              <a:ext cx="304748" cy="1585"/>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49"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51"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软件定义网络 </a:t>
            </a: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简介</a:t>
            </a:r>
            <a:endParaRPr lang="zh-CN" altLang="en-US" sz="2400" b="1" dirty="0">
              <a:solidFill>
                <a:schemeClr val="bg1"/>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9874858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fill="hold" nodeType="clickEffect">
                                  <p:stCondLst>
                                    <p:cond delay="0"/>
                                  </p:stCondLst>
                                  <p:childTnLst>
                                    <p:animMotion origin="layout" path="M 3.33333E-6 -1.48148E-6 L 3.33333E-6 -0.32315 " pathEditMode="relative" rAng="0" ptsTypes="AA">
                                      <p:cBhvr>
                                        <p:cTn id="6" dur="500" fill="hold"/>
                                        <p:tgtEl>
                                          <p:spTgt spid="4"/>
                                        </p:tgtEl>
                                        <p:attrNameLst>
                                          <p:attrName>ppt_x</p:attrName>
                                          <p:attrName>ppt_y</p:attrName>
                                        </p:attrNameLst>
                                      </p:cBhvr>
                                      <p:rCtr x="0" y="-16173"/>
                                    </p:animMotion>
                                  </p:childTnLst>
                                </p:cTn>
                              </p:par>
                              <p:par>
                                <p:cTn id="7" presetID="0" presetClass="path" presetSubtype="0" accel="50000" decel="50000" fill="hold" nodeType="withEffect">
                                  <p:stCondLst>
                                    <p:cond delay="0"/>
                                  </p:stCondLst>
                                  <p:childTnLst>
                                    <p:animMotion origin="layout" path="M -1.38889E-6 -1.97531E-6 L 0.00087 -0.13734 " pathEditMode="relative" rAng="0" ptsTypes="AA">
                                      <p:cBhvr>
                                        <p:cTn id="8" dur="500" fill="hold"/>
                                        <p:tgtEl>
                                          <p:spTgt spid="14"/>
                                        </p:tgtEl>
                                        <p:attrNameLst>
                                          <p:attrName>ppt_x</p:attrName>
                                          <p:attrName>ppt_y</p:attrName>
                                        </p:attrNameLst>
                                      </p:cBhvr>
                                      <p:rCtr x="35" y="-6883"/>
                                    </p:animMotion>
                                  </p:childTnLst>
                                </p:cTn>
                              </p:par>
                              <p:par>
                                <p:cTn id="9" presetID="0" presetClass="path" presetSubtype="0" accel="50000" decel="50000" fill="hold" nodeType="withEffect">
                                  <p:stCondLst>
                                    <p:cond delay="0"/>
                                  </p:stCondLst>
                                  <p:childTnLst>
                                    <p:animMotion origin="layout" path="M -5.55556E-7 9.87654E-7 L 0.00295 -0.22408 " pathEditMode="relative" rAng="0" ptsTypes="AA">
                                      <p:cBhvr>
                                        <p:cTn id="10" dur="500" fill="hold"/>
                                        <p:tgtEl>
                                          <p:spTgt spid="22"/>
                                        </p:tgtEl>
                                        <p:attrNameLst>
                                          <p:attrName>ppt_x</p:attrName>
                                          <p:attrName>ppt_y</p:attrName>
                                        </p:attrNameLst>
                                      </p:cBhvr>
                                      <p:rCtr x="139" y="-11204"/>
                                    </p:animMotion>
                                  </p:childTnLst>
                                </p:cTn>
                              </p:par>
                              <p:par>
                                <p:cTn id="11" presetID="0" presetClass="path" presetSubtype="0" accel="50000" decel="50000" fill="hold" nodeType="withEffect">
                                  <p:stCondLst>
                                    <p:cond delay="0"/>
                                  </p:stCondLst>
                                  <p:childTnLst>
                                    <p:animMotion origin="layout" path="M -8.33333E-7 2.09877E-6 L -0.00087 -0.52747 " pathEditMode="relative" rAng="0" ptsTypes="AA">
                                      <p:cBhvr>
                                        <p:cTn id="12" dur="500" fill="hold"/>
                                        <p:tgtEl>
                                          <p:spTgt spid="30"/>
                                        </p:tgtEl>
                                        <p:attrNameLst>
                                          <p:attrName>ppt_x</p:attrName>
                                          <p:attrName>ppt_y</p:attrName>
                                        </p:attrNameLst>
                                      </p:cBhvr>
                                      <p:rCtr x="-52" y="-26389"/>
                                    </p:animMotion>
                                  </p:childTnLst>
                                </p:cTn>
                              </p:par>
                              <p:par>
                                <p:cTn id="13" presetID="0" presetClass="path" presetSubtype="0" accel="50000" decel="50000" fill="hold" nodeType="withEffect">
                                  <p:stCondLst>
                                    <p:cond delay="0"/>
                                  </p:stCondLst>
                                  <p:childTnLst>
                                    <p:animMotion origin="layout" path="M 4.16667E-6 3.20988E-6 L 0.00017 -0.40186 " pathEditMode="relative" rAng="0" ptsTypes="AA">
                                      <p:cBhvr>
                                        <p:cTn id="14" dur="500" fill="hold"/>
                                        <p:tgtEl>
                                          <p:spTgt spid="38"/>
                                        </p:tgtEl>
                                        <p:attrNameLst>
                                          <p:attrName>ppt_x</p:attrName>
                                          <p:attrName>ppt_y</p:attrName>
                                        </p:attrNameLst>
                                      </p:cBhvr>
                                      <p:rCtr x="0" y="-20093"/>
                                    </p:animMotion>
                                  </p:childTnLst>
                                </p:cTn>
                              </p:par>
                              <p:par>
                                <p:cTn id="15" presetID="10" presetClass="exit" presetSubtype="0" fill="hold" nodeType="withEffect">
                                  <p:stCondLst>
                                    <p:cond delay="0"/>
                                  </p:stCondLst>
                                  <p:childTnLst>
                                    <p:animEffect transition="out" filter="fade">
                                      <p:cBhvr>
                                        <p:cTn id="16" dur="1000"/>
                                        <p:tgtEl>
                                          <p:spTgt spid="4"/>
                                        </p:tgtEl>
                                      </p:cBhvr>
                                    </p:animEffect>
                                    <p:set>
                                      <p:cBhvr>
                                        <p:cTn id="17" dur="1" fill="hold">
                                          <p:stCondLst>
                                            <p:cond delay="999"/>
                                          </p:stCondLst>
                                        </p:cTn>
                                        <p:tgtEl>
                                          <p:spTgt spid="4"/>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1000"/>
                                        <p:tgtEl>
                                          <p:spTgt spid="38"/>
                                        </p:tgtEl>
                                      </p:cBhvr>
                                    </p:animEffect>
                                    <p:set>
                                      <p:cBhvr>
                                        <p:cTn id="20" dur="1" fill="hold">
                                          <p:stCondLst>
                                            <p:cond delay="999"/>
                                          </p:stCondLst>
                                        </p:cTn>
                                        <p:tgtEl>
                                          <p:spTgt spid="38"/>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000"/>
                                        <p:tgtEl>
                                          <p:spTgt spid="30"/>
                                        </p:tgtEl>
                                      </p:cBhvr>
                                    </p:animEffect>
                                    <p:set>
                                      <p:cBhvr>
                                        <p:cTn id="23" dur="1" fill="hold">
                                          <p:stCondLst>
                                            <p:cond delay="999"/>
                                          </p:stCondLst>
                                        </p:cTn>
                                        <p:tgtEl>
                                          <p:spTgt spid="30"/>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1000"/>
                                        <p:tgtEl>
                                          <p:spTgt spid="14"/>
                                        </p:tgtEl>
                                      </p:cBhvr>
                                    </p:animEffect>
                                    <p:set>
                                      <p:cBhvr>
                                        <p:cTn id="26" dur="1" fill="hold">
                                          <p:stCondLst>
                                            <p:cond delay="999"/>
                                          </p:stCondLst>
                                        </p:cTn>
                                        <p:tgtEl>
                                          <p:spTgt spid="14"/>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1000"/>
                                        <p:tgtEl>
                                          <p:spTgt spid="22"/>
                                        </p:tgtEl>
                                      </p:cBhvr>
                                    </p:animEffect>
                                    <p:set>
                                      <p:cBhvr>
                                        <p:cTn id="29" dur="1" fill="hold">
                                          <p:stCondLst>
                                            <p:cond delay="999"/>
                                          </p:stCondLst>
                                        </p:cTn>
                                        <p:tgtEl>
                                          <p:spTgt spid="22"/>
                                        </p:tgtEl>
                                        <p:attrNameLst>
                                          <p:attrName>style.visibility</p:attrName>
                                        </p:attrNameLst>
                                      </p:cBhvr>
                                      <p:to>
                                        <p:strVal val="hidden"/>
                                      </p:to>
                                    </p:set>
                                  </p:childTnLst>
                                </p:cTn>
                              </p:par>
                            </p:childTnLst>
                          </p:cTn>
                        </p:par>
                        <p:par>
                          <p:cTn id="30" fill="hold" nodeType="afterGroup">
                            <p:stCondLst>
                              <p:cond delay="1000"/>
                            </p:stCondLst>
                            <p:childTnLst>
                              <p:par>
                                <p:cTn id="31" presetID="1" presetClass="entr" presetSubtype="0" fill="hold" nodeType="afterEffect">
                                  <p:stCondLst>
                                    <p:cond delay="0"/>
                                  </p:stCondLst>
                                  <p:childTnLst>
                                    <p:set>
                                      <p:cBhvr>
                                        <p:cTn id="32" dur="1" fill="hold">
                                          <p:stCondLst>
                                            <p:cond delay="0"/>
                                          </p:stCondLst>
                                        </p:cTn>
                                        <p:tgtEl>
                                          <p:spTgt spid="5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0" presetClass="path" presetSubtype="0" fill="hold" nodeType="clickEffect">
                                  <p:stCondLst>
                                    <p:cond delay="0"/>
                                  </p:stCondLst>
                                  <p:childTnLst>
                                    <p:animMotion origin="layout" path="M 3.33333E-6 -1.85185E-6 L 0.00017 -0.34784 " pathEditMode="relative" rAng="0" ptsTypes="AA">
                                      <p:cBhvr>
                                        <p:cTn id="36" dur="500" fill="hold"/>
                                        <p:tgtEl>
                                          <p:spTgt spid="2"/>
                                        </p:tgtEl>
                                        <p:attrNameLst>
                                          <p:attrName>ppt_x</p:attrName>
                                          <p:attrName>ppt_y</p:attrName>
                                        </p:attrNameLst>
                                      </p:cBhvr>
                                      <p:rCtr x="0" y="-17407"/>
                                    </p:animMotion>
                                  </p:childTnLst>
                                </p:cTn>
                              </p:par>
                              <p:par>
                                <p:cTn id="37" presetID="10" presetClass="exit" presetSubtype="0" fill="hold" nodeType="withEffect">
                                  <p:stCondLst>
                                    <p:cond delay="0"/>
                                  </p:stCondLst>
                                  <p:childTnLst>
                                    <p:animEffect transition="out" filter="fade">
                                      <p:cBhvr>
                                        <p:cTn id="38" dur="500"/>
                                        <p:tgtEl>
                                          <p:spTgt spid="2"/>
                                        </p:tgtEl>
                                      </p:cBhvr>
                                    </p:animEffect>
                                    <p:set>
                                      <p:cBhvr>
                                        <p:cTn id="39" dur="1" fill="hold">
                                          <p:stCondLst>
                                            <p:cond delay="499"/>
                                          </p:stCondLst>
                                        </p:cTn>
                                        <p:tgtEl>
                                          <p:spTgt spid="2"/>
                                        </p:tgtEl>
                                        <p:attrNameLst>
                                          <p:attrName>style.visibility</p:attrName>
                                        </p:attrNameLst>
                                      </p:cBhvr>
                                      <p:to>
                                        <p:strVal val="hidden"/>
                                      </p:to>
                                    </p:set>
                                  </p:childTnLst>
                                </p:cTn>
                              </p:par>
                              <p:par>
                                <p:cTn id="40" presetID="0" presetClass="path" presetSubtype="0" fill="hold" nodeType="withEffect">
                                  <p:stCondLst>
                                    <p:cond delay="0"/>
                                  </p:stCondLst>
                                  <p:childTnLst>
                                    <p:animMotion origin="layout" path="M 3.05556E-6 -2.34568E-6 L 0.00087 -0.16142 " pathEditMode="relative" rAng="0" ptsTypes="AA">
                                      <p:cBhvr>
                                        <p:cTn id="41" dur="500" fill="hold"/>
                                        <p:tgtEl>
                                          <p:spTgt spid="10"/>
                                        </p:tgtEl>
                                        <p:attrNameLst>
                                          <p:attrName>ppt_x</p:attrName>
                                          <p:attrName>ppt_y</p:attrName>
                                        </p:attrNameLst>
                                      </p:cBhvr>
                                      <p:rCtr x="35" y="-8086"/>
                                    </p:animMotion>
                                  </p:childTnLst>
                                </p:cTn>
                              </p:par>
                              <p:par>
                                <p:cTn id="42" presetID="10" presetClass="exit" presetSubtype="0" fill="hold" nodeType="withEffect">
                                  <p:stCondLst>
                                    <p:cond delay="0"/>
                                  </p:stCondLst>
                                  <p:childTnLst>
                                    <p:animEffect transition="out" filter="fade">
                                      <p:cBhvr>
                                        <p:cTn id="43" dur="500"/>
                                        <p:tgtEl>
                                          <p:spTgt spid="10"/>
                                        </p:tgtEl>
                                      </p:cBhvr>
                                    </p:animEffect>
                                    <p:set>
                                      <p:cBhvr>
                                        <p:cTn id="44" dur="1" fill="hold">
                                          <p:stCondLst>
                                            <p:cond delay="499"/>
                                          </p:stCondLst>
                                        </p:cTn>
                                        <p:tgtEl>
                                          <p:spTgt spid="10"/>
                                        </p:tgtEl>
                                        <p:attrNameLst>
                                          <p:attrName>style.visibility</p:attrName>
                                        </p:attrNameLst>
                                      </p:cBhvr>
                                      <p:to>
                                        <p:strVal val="hidden"/>
                                      </p:to>
                                    </p:set>
                                  </p:childTnLst>
                                </p:cTn>
                              </p:par>
                              <p:par>
                                <p:cTn id="45" presetID="0" presetClass="path" presetSubtype="0" fill="hold" nodeType="withEffect">
                                  <p:stCondLst>
                                    <p:cond delay="0"/>
                                  </p:stCondLst>
                                  <p:childTnLst>
                                    <p:animMotion origin="layout" path="M -1.38889E-6 1.48148E-6 L 0.00087 -0.40432 " pathEditMode="relative" rAng="0" ptsTypes="AA">
                                      <p:cBhvr>
                                        <p:cTn id="46" dur="500" fill="hold"/>
                                        <p:tgtEl>
                                          <p:spTgt spid="11"/>
                                        </p:tgtEl>
                                        <p:attrNameLst>
                                          <p:attrName>ppt_x</p:attrName>
                                          <p:attrName>ppt_y</p:attrName>
                                        </p:attrNameLst>
                                      </p:cBhvr>
                                      <p:rCtr x="35" y="-20216"/>
                                    </p:animMotion>
                                  </p:childTnLst>
                                </p:cTn>
                              </p:par>
                              <p:par>
                                <p:cTn id="47" presetID="10" presetClass="exit" presetSubtype="0" fill="hold" nodeType="withEffect">
                                  <p:stCondLst>
                                    <p:cond delay="0"/>
                                  </p:stCondLst>
                                  <p:childTnLst>
                                    <p:animEffect transition="out" filter="fade">
                                      <p:cBhvr>
                                        <p:cTn id="48" dur="500"/>
                                        <p:tgtEl>
                                          <p:spTgt spid="11"/>
                                        </p:tgtEl>
                                      </p:cBhvr>
                                    </p:animEffect>
                                    <p:set>
                                      <p:cBhvr>
                                        <p:cTn id="49" dur="1" fill="hold">
                                          <p:stCondLst>
                                            <p:cond delay="499"/>
                                          </p:stCondLst>
                                        </p:cTn>
                                        <p:tgtEl>
                                          <p:spTgt spid="11"/>
                                        </p:tgtEl>
                                        <p:attrNameLst>
                                          <p:attrName>style.visibility</p:attrName>
                                        </p:attrNameLst>
                                      </p:cBhvr>
                                      <p:to>
                                        <p:strVal val="hidden"/>
                                      </p:to>
                                    </p:set>
                                  </p:childTnLst>
                                </p:cTn>
                              </p:par>
                              <p:par>
                                <p:cTn id="50" presetID="0" presetClass="path" presetSubtype="0" fill="hold" nodeType="withEffect">
                                  <p:stCondLst>
                                    <p:cond delay="0"/>
                                  </p:stCondLst>
                                  <p:childTnLst>
                                    <p:animMotion origin="layout" path="M 3.61111E-6 -2.34568E-6 L 3.61111E-6 -0.55308 " pathEditMode="relative" rAng="0" ptsTypes="AA">
                                      <p:cBhvr>
                                        <p:cTn id="51" dur="500" fill="hold"/>
                                        <p:tgtEl>
                                          <p:spTgt spid="15"/>
                                        </p:tgtEl>
                                        <p:attrNameLst>
                                          <p:attrName>ppt_x</p:attrName>
                                          <p:attrName>ppt_y</p:attrName>
                                        </p:attrNameLst>
                                      </p:cBhvr>
                                      <p:rCtr x="0" y="-27654"/>
                                    </p:animMotion>
                                  </p:childTnLst>
                                </p:cTn>
                              </p:par>
                              <p:par>
                                <p:cTn id="52" presetID="10" presetClass="exit" presetSubtype="0" fill="hold" nodeType="withEffect">
                                  <p:stCondLst>
                                    <p:cond delay="0"/>
                                  </p:stCondLst>
                                  <p:childTnLst>
                                    <p:animEffect transition="out" filter="fade">
                                      <p:cBhvr>
                                        <p:cTn id="53" dur="500"/>
                                        <p:tgtEl>
                                          <p:spTgt spid="15"/>
                                        </p:tgtEl>
                                      </p:cBhvr>
                                    </p:animEffect>
                                    <p:set>
                                      <p:cBhvr>
                                        <p:cTn id="54" dur="1" fill="hold">
                                          <p:stCondLst>
                                            <p:cond delay="499"/>
                                          </p:stCondLst>
                                        </p:cTn>
                                        <p:tgtEl>
                                          <p:spTgt spid="15"/>
                                        </p:tgtEl>
                                        <p:attrNameLst>
                                          <p:attrName>style.visibility</p:attrName>
                                        </p:attrNameLst>
                                      </p:cBhvr>
                                      <p:to>
                                        <p:strVal val="hidden"/>
                                      </p:to>
                                    </p:set>
                                  </p:childTnLst>
                                </p:cTn>
                              </p:par>
                              <p:par>
                                <p:cTn id="55" presetID="0" presetClass="path" presetSubtype="0" fill="hold" nodeType="withEffect">
                                  <p:stCondLst>
                                    <p:cond delay="0"/>
                                  </p:stCondLst>
                                  <p:childTnLst>
                                    <p:animMotion origin="layout" path="M -5.55556E-7 2.46914E-6 L -5.55556E-7 -0.24661 " pathEditMode="relative" rAng="0" ptsTypes="AA">
                                      <p:cBhvr>
                                        <p:cTn id="56" dur="500" fill="hold"/>
                                        <p:tgtEl>
                                          <p:spTgt spid="16"/>
                                        </p:tgtEl>
                                        <p:attrNameLst>
                                          <p:attrName>ppt_x</p:attrName>
                                          <p:attrName>ppt_y</p:attrName>
                                        </p:attrNameLst>
                                      </p:cBhvr>
                                      <p:rCtr x="0" y="-12346"/>
                                    </p:animMotion>
                                  </p:childTnLst>
                                </p:cTn>
                              </p:par>
                              <p:par>
                                <p:cTn id="57" presetID="10" presetClass="exit" presetSubtype="0" fill="hold" nodeType="withEffect">
                                  <p:stCondLst>
                                    <p:cond delay="0"/>
                                  </p:stCondLst>
                                  <p:childTnLst>
                                    <p:animEffect transition="out" filter="fade">
                                      <p:cBhvr>
                                        <p:cTn id="58" dur="500"/>
                                        <p:tgtEl>
                                          <p:spTgt spid="16"/>
                                        </p:tgtEl>
                                      </p:cBhvr>
                                    </p:animEffect>
                                    <p:set>
                                      <p:cBhvr>
                                        <p:cTn id="59" dur="1" fill="hold">
                                          <p:stCondLst>
                                            <p:cond delay="499"/>
                                          </p:stCondLst>
                                        </p:cTn>
                                        <p:tgtEl>
                                          <p:spTgt spid="16"/>
                                        </p:tgtEl>
                                        <p:attrNameLst>
                                          <p:attrName>style.visibility</p:attrName>
                                        </p:attrNameLst>
                                      </p:cBhvr>
                                      <p:to>
                                        <p:strVal val="hidden"/>
                                      </p:to>
                                    </p:se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软件定义网络 </a:t>
            </a: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简介</a:t>
            </a:r>
            <a:endParaRPr lang="zh-CN" altLang="en-US" sz="2400" b="1" dirty="0">
              <a:solidFill>
                <a:schemeClr val="bg1"/>
              </a:solidFill>
              <a:latin typeface="微软雅黑" pitchFamily="34" charset="-122"/>
              <a:ea typeface="微软雅黑" pitchFamily="34" charset="-122"/>
            </a:endParaRPr>
          </a:p>
        </p:txBody>
      </p:sp>
      <p:sp>
        <p:nvSpPr>
          <p:cNvPr id="8" name="Rectangle 8"/>
          <p:cNvSpPr>
            <a:spLocks noChangeArrowheads="1"/>
          </p:cNvSpPr>
          <p:nvPr/>
        </p:nvSpPr>
        <p:spPr bwMode="auto">
          <a:xfrm>
            <a:off x="545143" y="1009413"/>
            <a:ext cx="8053713" cy="2144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a:latin typeface="微软雅黑" pitchFamily="34" charset="-122"/>
                <a:ea typeface="微软雅黑" pitchFamily="34" charset="-122"/>
              </a:rPr>
              <a:t>软件定义网</a:t>
            </a:r>
            <a:r>
              <a:rPr lang="zh-CN" altLang="en-US" sz="2000" b="1" dirty="0" smtClean="0">
                <a:latin typeface="微软雅黑" pitchFamily="34" charset="-122"/>
                <a:ea typeface="微软雅黑" pitchFamily="34" charset="-122"/>
              </a:rPr>
              <a:t>络 </a:t>
            </a:r>
            <a:r>
              <a:rPr lang="en-US" altLang="zh-CN" sz="2000" b="1" dirty="0" smtClean="0">
                <a:latin typeface="微软雅黑" pitchFamily="34" charset="-122"/>
                <a:ea typeface="微软雅黑" pitchFamily="34" charset="-122"/>
              </a:rPr>
              <a:t>SDN</a:t>
            </a:r>
            <a:r>
              <a:rPr lang="zh-CN" altLang="en-US" sz="2000" b="1" dirty="0" smtClean="0">
                <a:latin typeface="微软雅黑" pitchFamily="34" charset="-122"/>
                <a:ea typeface="微软雅黑" pitchFamily="34" charset="-122"/>
              </a:rPr>
              <a:t>（</a:t>
            </a:r>
            <a:r>
              <a:rPr lang="en-US" altLang="zh-CN" sz="2000" b="1" dirty="0" smtClean="0">
                <a:latin typeface="微软雅黑" pitchFamily="34" charset="-122"/>
                <a:ea typeface="微软雅黑" pitchFamily="34" charset="-122"/>
              </a:rPr>
              <a:t>Software </a:t>
            </a:r>
            <a:r>
              <a:rPr lang="en-US" altLang="zh-CN" sz="2000" b="1" dirty="0">
                <a:latin typeface="微软雅黑" pitchFamily="34" charset="-122"/>
                <a:ea typeface="微软雅黑" pitchFamily="34" charset="-122"/>
              </a:rPr>
              <a:t>Defined </a:t>
            </a:r>
            <a:r>
              <a:rPr lang="en-US" altLang="zh-CN" sz="2000" b="1" dirty="0" smtClean="0">
                <a:latin typeface="微软雅黑" pitchFamily="34" charset="-122"/>
                <a:ea typeface="微软雅黑" pitchFamily="34" charset="-122"/>
              </a:rPr>
              <a:t>Networking</a:t>
            </a:r>
            <a:r>
              <a:rPr lang="zh-CN" altLang="en-US" sz="2000" b="1" dirty="0" smtClean="0">
                <a:latin typeface="微软雅黑" pitchFamily="34" charset="-122"/>
                <a:ea typeface="微软雅黑" pitchFamily="34" charset="-122"/>
              </a:rPr>
              <a:t>）的概念由斯坦福大学的</a:t>
            </a:r>
            <a:r>
              <a:rPr lang="en-US" altLang="zh-CN" sz="2000" b="1" dirty="0" smtClean="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en-US" altLang="zh-CN" sz="2000" b="1" dirty="0" err="1" smtClean="0">
                <a:latin typeface="微软雅黑" pitchFamily="34" charset="-122"/>
                <a:ea typeface="微软雅黑" pitchFamily="34" charset="-122"/>
              </a:rPr>
              <a:t>McKeown</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教授在 </a:t>
            </a:r>
            <a:r>
              <a:rPr lang="en-US" altLang="zh-CN" sz="2000" b="1" dirty="0" smtClean="0">
                <a:latin typeface="微软雅黑" pitchFamily="34" charset="-122"/>
                <a:ea typeface="微软雅黑" pitchFamily="34" charset="-122"/>
              </a:rPr>
              <a:t>2008 </a:t>
            </a:r>
            <a:r>
              <a:rPr lang="zh-CN" altLang="en-US" sz="2000" b="1" dirty="0" smtClean="0">
                <a:latin typeface="微软雅黑" pitchFamily="34" charset="-122"/>
                <a:ea typeface="微软雅黑" pitchFamily="34" charset="-122"/>
              </a:rPr>
              <a:t>年首先</a:t>
            </a:r>
            <a:r>
              <a:rPr lang="zh-CN" altLang="en-US" sz="2000" b="1" dirty="0">
                <a:latin typeface="微软雅黑" pitchFamily="34" charset="-122"/>
                <a:ea typeface="微软雅黑" pitchFamily="34" charset="-122"/>
              </a:rPr>
              <a:t>提出</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2011</a:t>
            </a:r>
            <a:r>
              <a:rPr lang="zh-CN" altLang="en-US" sz="2000" b="1" dirty="0">
                <a:latin typeface="微软雅黑" pitchFamily="34" charset="-122"/>
                <a:ea typeface="微软雅黑" pitchFamily="34" charset="-122"/>
              </a:rPr>
              <a:t>年</a:t>
            </a:r>
            <a:r>
              <a:rPr lang="zh-CN" altLang="en-US" sz="2000" b="1" dirty="0" smtClean="0">
                <a:latin typeface="微软雅黑" pitchFamily="34" charset="-122"/>
                <a:ea typeface="微软雅黑" pitchFamily="34" charset="-122"/>
              </a:rPr>
              <a:t>，谷歌</a:t>
            </a:r>
            <a:r>
              <a:rPr lang="zh-CN" altLang="en-US" sz="2000" b="1" dirty="0">
                <a:latin typeface="微软雅黑" pitchFamily="34" charset="-122"/>
                <a:ea typeface="微软雅黑" pitchFamily="34" charset="-122"/>
              </a:rPr>
              <a:t>、脸书、微软等公司共同发起成立了非营利性的产业联盟</a:t>
            </a:r>
            <a:r>
              <a:rPr lang="zh-CN" altLang="en-US" sz="2000" b="1" dirty="0">
                <a:solidFill>
                  <a:srgbClr val="C00000"/>
                </a:solidFill>
                <a:latin typeface="微软雅黑" pitchFamily="34" charset="-122"/>
                <a:ea typeface="微软雅黑" pitchFamily="34" charset="-122"/>
              </a:rPr>
              <a:t>开放网络基金会</a:t>
            </a:r>
            <a:r>
              <a:rPr lang="en-US" altLang="zh-CN" sz="2000" b="1" dirty="0">
                <a:solidFill>
                  <a:srgbClr val="C00000"/>
                </a:solidFill>
                <a:latin typeface="微软雅黑" pitchFamily="34" charset="-122"/>
                <a:ea typeface="微软雅黑" pitchFamily="34" charset="-122"/>
              </a:rPr>
              <a:t>ONF </a:t>
            </a:r>
            <a:r>
              <a:rPr lang="en-US" altLang="zh-CN" sz="2000" b="1" dirty="0">
                <a:latin typeface="微软雅黑" pitchFamily="34" charset="-122"/>
                <a:ea typeface="微软雅黑" pitchFamily="34" charset="-122"/>
              </a:rPr>
              <a:t>(Open Networking Foundation)</a:t>
            </a:r>
            <a:r>
              <a:rPr lang="zh-CN" altLang="en-US" sz="2000" b="1" dirty="0">
                <a:latin typeface="微软雅黑" pitchFamily="34" charset="-122"/>
                <a:ea typeface="微软雅黑" pitchFamily="34" charset="-122"/>
              </a:rPr>
              <a:t>，致力于制定开放标准来</a:t>
            </a:r>
            <a:r>
              <a:rPr lang="zh-CN" altLang="en-US" sz="2000" b="1" dirty="0" smtClean="0">
                <a:latin typeface="微软雅黑" pitchFamily="34" charset="-122"/>
                <a:ea typeface="微软雅黑" pitchFamily="34" charset="-122"/>
              </a:rPr>
              <a:t>推动 </a:t>
            </a:r>
            <a:r>
              <a:rPr lang="en-US" altLang="zh-CN" sz="2000" b="1" dirty="0" smtClean="0">
                <a:latin typeface="微软雅黑" pitchFamily="34" charset="-122"/>
                <a:ea typeface="微软雅黑" pitchFamily="34" charset="-122"/>
              </a:rPr>
              <a:t>SDN </a:t>
            </a:r>
            <a:r>
              <a:rPr lang="zh-CN" altLang="en-US" sz="2000" b="1" dirty="0" smtClean="0">
                <a:latin typeface="微软雅黑" pitchFamily="34" charset="-122"/>
                <a:ea typeface="微软雅黑" pitchFamily="34" charset="-122"/>
              </a:rPr>
              <a:t>技术</a:t>
            </a:r>
            <a:r>
              <a:rPr lang="zh-CN" altLang="en-US" sz="2000" b="1" dirty="0">
                <a:latin typeface="微软雅黑" pitchFamily="34" charset="-122"/>
                <a:ea typeface="微软雅黑" pitchFamily="34" charset="-122"/>
              </a:rPr>
              <a:t>的规范化和</a:t>
            </a:r>
            <a:r>
              <a:rPr lang="zh-CN" altLang="en-US" sz="2000" b="1" dirty="0" smtClean="0">
                <a:latin typeface="微软雅黑" pitchFamily="34" charset="-122"/>
                <a:ea typeface="微软雅黑" pitchFamily="34" charset="-122"/>
              </a:rPr>
              <a:t>发展。</a:t>
            </a:r>
            <a:endParaRPr lang="en-US" altLang="zh-CN" sz="2000"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087104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定义</a:t>
            </a:r>
            <a:endParaRPr lang="zh-CN" altLang="en-US" sz="2400" b="1" dirty="0">
              <a:solidFill>
                <a:schemeClr val="bg1"/>
              </a:solidFill>
              <a:latin typeface="微软雅黑" pitchFamily="34" charset="-122"/>
              <a:ea typeface="微软雅黑" pitchFamily="34" charset="-122"/>
            </a:endParaRPr>
          </a:p>
        </p:txBody>
      </p:sp>
      <p:sp>
        <p:nvSpPr>
          <p:cNvPr id="8" name="Rectangle 8"/>
          <p:cNvSpPr>
            <a:spLocks noChangeArrowheads="1"/>
          </p:cNvSpPr>
          <p:nvPr/>
        </p:nvSpPr>
        <p:spPr bwMode="auto">
          <a:xfrm>
            <a:off x="545143" y="1009413"/>
            <a:ext cx="8053713" cy="3670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100"/>
              </a:lnSpc>
              <a:buClr>
                <a:srgbClr val="0070C0"/>
              </a:buClr>
              <a:buFont typeface="Wingdings" pitchFamily="2" charset="2"/>
              <a:buChar char="l"/>
            </a:pPr>
            <a:r>
              <a:rPr lang="zh-CN" altLang="en-US" sz="2000" b="1" dirty="0">
                <a:latin typeface="微软雅黑" pitchFamily="34" charset="-122"/>
                <a:ea typeface="微软雅黑" pitchFamily="34" charset="-122"/>
              </a:rPr>
              <a:t>在</a:t>
            </a:r>
            <a:r>
              <a:rPr lang="en-US" altLang="zh-CN" sz="2000" b="1" dirty="0">
                <a:latin typeface="微软雅黑" pitchFamily="34" charset="-122"/>
                <a:ea typeface="微软雅黑" pitchFamily="34" charset="-122"/>
              </a:rPr>
              <a:t>2012</a:t>
            </a:r>
            <a:r>
              <a:rPr lang="zh-CN" altLang="en-US" sz="2000" b="1" dirty="0">
                <a:latin typeface="微软雅黑" pitchFamily="34" charset="-122"/>
                <a:ea typeface="微软雅黑" pitchFamily="34" charset="-122"/>
              </a:rPr>
              <a:t>年</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月份发布的一份白皮书中，</a:t>
            </a:r>
            <a:r>
              <a:rPr lang="en-US" altLang="zh-CN" sz="2000" b="1" dirty="0">
                <a:latin typeface="微软雅黑" pitchFamily="34" charset="-122"/>
                <a:ea typeface="微软雅黑" pitchFamily="34" charset="-122"/>
              </a:rPr>
              <a:t>ONF</a:t>
            </a:r>
            <a:r>
              <a:rPr lang="zh-CN" altLang="en-US" sz="2000" b="1" dirty="0">
                <a:latin typeface="微软雅黑" pitchFamily="34" charset="-122"/>
                <a:ea typeface="微软雅黑" pitchFamily="34" charset="-122"/>
              </a:rPr>
              <a:t>对</a:t>
            </a:r>
            <a:r>
              <a:rPr lang="en-US" altLang="zh-CN" sz="2000" b="1" dirty="0">
                <a:latin typeface="微软雅黑" pitchFamily="34" charset="-122"/>
                <a:ea typeface="微软雅黑" pitchFamily="34" charset="-122"/>
              </a:rPr>
              <a:t>SDN</a:t>
            </a:r>
            <a:r>
              <a:rPr lang="zh-CN" altLang="en-US" sz="2000" b="1" dirty="0">
                <a:latin typeface="微软雅黑" pitchFamily="34" charset="-122"/>
                <a:ea typeface="微软雅黑" pitchFamily="34" charset="-122"/>
              </a:rPr>
              <a:t>给</a:t>
            </a:r>
            <a:r>
              <a:rPr lang="zh-CN" altLang="en-US" sz="2000" b="1" dirty="0" smtClean="0">
                <a:latin typeface="微软雅黑" pitchFamily="34" charset="-122"/>
                <a:ea typeface="微软雅黑" pitchFamily="34" charset="-122"/>
              </a:rPr>
              <a:t>出</a:t>
            </a:r>
            <a:r>
              <a:rPr lang="zh-CN" altLang="en-US" sz="2000" b="1" dirty="0">
                <a:latin typeface="微软雅黑" pitchFamily="34" charset="-122"/>
                <a:ea typeface="微软雅黑" pitchFamily="34" charset="-122"/>
              </a:rPr>
              <a:t>的</a:t>
            </a:r>
            <a:r>
              <a:rPr lang="zh-CN" altLang="en-US" sz="2000" b="1" dirty="0" smtClean="0">
                <a:latin typeface="微软雅黑" pitchFamily="34" charset="-122"/>
                <a:ea typeface="微软雅黑" pitchFamily="34" charset="-122"/>
              </a:rPr>
              <a:t>定义：</a:t>
            </a:r>
            <a:endParaRPr lang="en-US" altLang="zh-CN" sz="2000" b="1" dirty="0" smtClean="0">
              <a:latin typeface="微软雅黑" pitchFamily="34" charset="-122"/>
              <a:ea typeface="微软雅黑" pitchFamily="34" charset="-122"/>
            </a:endParaRPr>
          </a:p>
          <a:p>
            <a:pPr marL="742950" lvl="1" indent="-285750">
              <a:lnSpc>
                <a:spcPts val="3100"/>
              </a:lnSpc>
              <a:buClr>
                <a:srgbClr val="0070C0"/>
              </a:buClr>
              <a:buFont typeface="Wingdings" pitchFamily="2" charset="2"/>
              <a:buChar char="l"/>
            </a:pPr>
            <a:r>
              <a:rPr lang="en-US" altLang="zh-CN" b="1" dirty="0" smtClean="0">
                <a:latin typeface="微软雅黑" pitchFamily="34" charset="-122"/>
                <a:ea typeface="微软雅黑" pitchFamily="34" charset="-122"/>
              </a:rPr>
              <a:t>SDN</a:t>
            </a:r>
            <a:r>
              <a:rPr lang="zh-CN" altLang="en-US" b="1" dirty="0">
                <a:latin typeface="微软雅黑" pitchFamily="34" charset="-122"/>
                <a:ea typeface="微软雅黑" pitchFamily="34" charset="-122"/>
              </a:rPr>
              <a:t>是一种将</a:t>
            </a:r>
            <a:r>
              <a:rPr lang="zh-CN" altLang="en-US" b="1" dirty="0">
                <a:solidFill>
                  <a:srgbClr val="C00000"/>
                </a:solidFill>
                <a:latin typeface="微软雅黑" pitchFamily="34" charset="-122"/>
                <a:ea typeface="微软雅黑" pitchFamily="34" charset="-122"/>
              </a:rPr>
              <a:t>控制平面与数据平面相分离的网络架构</a:t>
            </a:r>
            <a:r>
              <a:rPr lang="zh-CN" altLang="en-US" b="1" dirty="0">
                <a:latin typeface="微软雅黑" pitchFamily="34" charset="-122"/>
                <a:ea typeface="微软雅黑" pitchFamily="34" charset="-122"/>
              </a:rPr>
              <a:t>，通过基于软件的控制器</a:t>
            </a:r>
            <a:r>
              <a:rPr lang="zh-CN" altLang="en-US" b="1" dirty="0">
                <a:solidFill>
                  <a:srgbClr val="C00000"/>
                </a:solidFill>
                <a:latin typeface="微软雅黑" pitchFamily="34" charset="-122"/>
                <a:ea typeface="微软雅黑" pitchFamily="34" charset="-122"/>
              </a:rPr>
              <a:t>集中管理网络智能</a:t>
            </a:r>
            <a:r>
              <a:rPr lang="zh-CN" altLang="en-US" b="1" dirty="0">
                <a:latin typeface="微软雅黑" pitchFamily="34" charset="-122"/>
                <a:ea typeface="微软雅黑" pitchFamily="34" charset="-122"/>
              </a:rPr>
              <a:t>。这种架构使得网络能够通过</a:t>
            </a:r>
            <a:r>
              <a:rPr lang="zh-CN" altLang="en-US" b="1" dirty="0">
                <a:solidFill>
                  <a:srgbClr val="C00000"/>
                </a:solidFill>
                <a:latin typeface="微软雅黑" pitchFamily="34" charset="-122"/>
                <a:ea typeface="微软雅黑" pitchFamily="34" charset="-122"/>
              </a:rPr>
              <a:t>编程方式进行配置和管理</a:t>
            </a:r>
            <a:r>
              <a:rPr lang="zh-CN" altLang="en-US" b="1" dirty="0">
                <a:latin typeface="微软雅黑" pitchFamily="34" charset="-122"/>
                <a:ea typeface="微软雅黑" pitchFamily="34" charset="-122"/>
              </a:rPr>
              <a:t>，并通过</a:t>
            </a:r>
            <a:r>
              <a:rPr lang="zh-CN" altLang="en-US" b="1" dirty="0">
                <a:solidFill>
                  <a:srgbClr val="C00000"/>
                </a:solidFill>
                <a:latin typeface="微软雅黑" pitchFamily="34" charset="-122"/>
                <a:ea typeface="微软雅黑" pitchFamily="34" charset="-122"/>
              </a:rPr>
              <a:t>开放接口促进</a:t>
            </a:r>
            <a:r>
              <a:rPr lang="zh-CN" altLang="en-US" b="1" dirty="0" smtClean="0">
                <a:solidFill>
                  <a:srgbClr val="C00000"/>
                </a:solidFill>
                <a:latin typeface="微软雅黑" pitchFamily="34" charset="-122"/>
                <a:ea typeface="微软雅黑" pitchFamily="34" charset="-122"/>
              </a:rPr>
              <a:t>创新</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3100"/>
              </a:lnSpc>
              <a:buClr>
                <a:srgbClr val="0070C0"/>
              </a:buClr>
              <a:buFont typeface="Wingdings" pitchFamily="2" charset="2"/>
              <a:buChar char="l"/>
            </a:pPr>
            <a:r>
              <a:rPr lang="zh-CN" altLang="en-US" sz="2000" b="1" dirty="0" smtClean="0">
                <a:latin typeface="微软雅黑" pitchFamily="34" charset="-122"/>
                <a:ea typeface="微软雅黑" pitchFamily="34" charset="-122"/>
              </a:rPr>
              <a:t>三</a:t>
            </a:r>
            <a:r>
              <a:rPr lang="zh-CN" altLang="en-US" sz="2000" b="1" dirty="0">
                <a:latin typeface="微软雅黑" pitchFamily="34" charset="-122"/>
                <a:ea typeface="微软雅黑" pitchFamily="34" charset="-122"/>
              </a:rPr>
              <a:t>个核心要素</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742950" lvl="1" indent="-285750">
              <a:lnSpc>
                <a:spcPts val="31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控制</a:t>
            </a:r>
            <a:r>
              <a:rPr lang="zh-CN" altLang="en-US" b="1" dirty="0">
                <a:solidFill>
                  <a:srgbClr val="C00000"/>
                </a:solidFill>
                <a:latin typeface="微软雅黑" pitchFamily="34" charset="-122"/>
                <a:ea typeface="微软雅黑" pitchFamily="34" charset="-122"/>
              </a:rPr>
              <a:t>平面与数据平面分离</a:t>
            </a:r>
            <a:r>
              <a:rPr lang="zh-CN" altLang="en-US" b="1" dirty="0">
                <a:latin typeface="微软雅黑" pitchFamily="34" charset="-122"/>
                <a:ea typeface="微软雅黑" pitchFamily="34" charset="-122"/>
              </a:rPr>
              <a:t>，数据平面仅负责转发，而</a:t>
            </a:r>
            <a:r>
              <a:rPr lang="zh-CN" altLang="en-US" b="1" dirty="0" smtClean="0">
                <a:latin typeface="微软雅黑" pitchFamily="34" charset="-122"/>
                <a:ea typeface="微软雅黑" pitchFamily="34" charset="-122"/>
              </a:rPr>
              <a:t>控制逻辑则由控制器</a:t>
            </a:r>
            <a:r>
              <a:rPr lang="zh-CN" altLang="en-US" b="1" dirty="0">
                <a:latin typeface="微软雅黑" pitchFamily="34" charset="-122"/>
                <a:ea typeface="微软雅黑" pitchFamily="34" charset="-122"/>
              </a:rPr>
              <a:t>实现</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31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逻辑</a:t>
            </a:r>
            <a:r>
              <a:rPr lang="zh-CN" altLang="en-US" b="1" dirty="0">
                <a:solidFill>
                  <a:srgbClr val="C00000"/>
                </a:solidFill>
                <a:latin typeface="微软雅黑" pitchFamily="34" charset="-122"/>
                <a:ea typeface="微软雅黑" pitchFamily="34" charset="-122"/>
              </a:rPr>
              <a:t>上集中式的控制</a:t>
            </a:r>
            <a:r>
              <a:rPr lang="zh-CN" altLang="en-US" b="1" dirty="0">
                <a:latin typeface="微软雅黑" pitchFamily="34" charset="-122"/>
                <a:ea typeface="微软雅黑" pitchFamily="34" charset="-122"/>
              </a:rPr>
              <a:t>，控制器维护全局网络视图，优化网络的管理控制</a:t>
            </a:r>
            <a:r>
              <a:rPr lang="zh-CN" altLang="en-US" b="1" dirty="0" smtClean="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742950" lvl="1" indent="-285750">
              <a:lnSpc>
                <a:spcPts val="31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开放</a:t>
            </a:r>
            <a:r>
              <a:rPr lang="zh-CN" altLang="en-US" b="1" dirty="0">
                <a:solidFill>
                  <a:srgbClr val="C00000"/>
                </a:solidFill>
                <a:latin typeface="微软雅黑" pitchFamily="34" charset="-122"/>
                <a:ea typeface="微软雅黑" pitchFamily="34" charset="-122"/>
              </a:rPr>
              <a:t>可编程接口</a:t>
            </a:r>
            <a:r>
              <a:rPr lang="zh-CN" altLang="en-US" b="1" dirty="0">
                <a:latin typeface="微软雅黑" pitchFamily="34" charset="-122"/>
                <a:ea typeface="微软雅黑" pitchFamily="34" charset="-122"/>
              </a:rPr>
              <a:t>，通过标准化的开放接口实现网络可编程性。</a:t>
            </a:r>
            <a:endParaRPr lang="en-US" altLang="zh-CN"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573926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50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fade">
                                      <p:cBhvr>
                                        <p:cTn id="12" dur="50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架构</a:t>
            </a:r>
            <a:endParaRPr lang="zh-CN" altLang="en-US" sz="2400" b="1" dirty="0">
              <a:solidFill>
                <a:schemeClr val="bg1"/>
              </a:solidFill>
              <a:latin typeface="微软雅黑" pitchFamily="34" charset="-122"/>
              <a:ea typeface="微软雅黑" pitchFamily="34" charset="-122"/>
            </a:endParaRPr>
          </a:p>
        </p:txBody>
      </p:sp>
      <p:sp>
        <p:nvSpPr>
          <p:cNvPr id="8" name="Rectangle 8"/>
          <p:cNvSpPr>
            <a:spLocks noChangeArrowheads="1"/>
          </p:cNvSpPr>
          <p:nvPr/>
        </p:nvSpPr>
        <p:spPr bwMode="auto">
          <a:xfrm>
            <a:off x="494343" y="1151653"/>
            <a:ext cx="4042097" cy="277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根据 </a:t>
            </a:r>
            <a:r>
              <a:rPr lang="en-US" altLang="zh-CN" b="1" dirty="0" smtClean="0">
                <a:latin typeface="微软雅黑" pitchFamily="34" charset="-122"/>
                <a:ea typeface="微软雅黑" pitchFamily="34" charset="-122"/>
              </a:rPr>
              <a:t>ONF </a:t>
            </a:r>
            <a:r>
              <a:rPr lang="zh-CN" altLang="en-US" b="1" dirty="0" smtClean="0">
                <a:latin typeface="微软雅黑" pitchFamily="34" charset="-122"/>
                <a:ea typeface="微软雅黑" pitchFamily="34" charset="-122"/>
              </a:rPr>
              <a:t>的定义，</a:t>
            </a:r>
            <a:r>
              <a:rPr lang="en-US" altLang="zh-CN" b="1" dirty="0" smtClean="0">
                <a:latin typeface="微软雅黑" pitchFamily="34" charset="-122"/>
                <a:ea typeface="微软雅黑" pitchFamily="34" charset="-122"/>
              </a:rPr>
              <a:t>SDN </a:t>
            </a:r>
            <a:r>
              <a:rPr lang="zh-CN" altLang="en-US" b="1" dirty="0" smtClean="0">
                <a:latin typeface="微软雅黑" pitchFamily="34" charset="-122"/>
                <a:ea typeface="微软雅黑" pitchFamily="34" charset="-122"/>
              </a:rPr>
              <a:t>在架构上包括</a:t>
            </a:r>
            <a:r>
              <a:rPr lang="zh-CN" altLang="en-US" b="1" dirty="0" smtClean="0">
                <a:solidFill>
                  <a:srgbClr val="C00000"/>
                </a:solidFill>
                <a:latin typeface="微软雅黑" pitchFamily="34" charset="-122"/>
                <a:ea typeface="微软雅黑" pitchFamily="34" charset="-122"/>
              </a:rPr>
              <a:t>基础</a:t>
            </a:r>
            <a:r>
              <a:rPr lang="zh-CN" altLang="en-US" b="1" dirty="0">
                <a:solidFill>
                  <a:srgbClr val="C00000"/>
                </a:solidFill>
                <a:latin typeface="微软雅黑" pitchFamily="34" charset="-122"/>
                <a:ea typeface="微软雅黑" pitchFamily="34" charset="-122"/>
              </a:rPr>
              <a:t>设施层、控制层和应用层</a:t>
            </a:r>
            <a:r>
              <a:rPr lang="zh-CN" altLang="en-US" b="1" dirty="0">
                <a:latin typeface="微软雅黑" pitchFamily="34" charset="-122"/>
                <a:ea typeface="微软雅黑" pitchFamily="34" charset="-122"/>
              </a:rPr>
              <a:t>三个层次</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基础</a:t>
            </a:r>
            <a:r>
              <a:rPr lang="zh-CN" altLang="en-US" sz="1600" b="1" dirty="0">
                <a:latin typeface="微软雅黑" pitchFamily="34" charset="-122"/>
                <a:ea typeface="微软雅黑" pitchFamily="34" charset="-122"/>
              </a:rPr>
              <a:t>设施层即</a:t>
            </a:r>
            <a:r>
              <a:rPr lang="zh-CN" altLang="en-US" sz="1600" b="1" dirty="0">
                <a:solidFill>
                  <a:srgbClr val="C00000"/>
                </a:solidFill>
                <a:latin typeface="微软雅黑" pitchFamily="34" charset="-122"/>
                <a:ea typeface="微软雅黑" pitchFamily="34" charset="-122"/>
              </a:rPr>
              <a:t>数据平面</a:t>
            </a:r>
            <a:r>
              <a:rPr lang="zh-CN" altLang="en-US" sz="1600" b="1" dirty="0">
                <a:latin typeface="微软雅黑" pitchFamily="34" charset="-122"/>
                <a:ea typeface="微软雅黑" pitchFamily="34" charset="-122"/>
              </a:rPr>
              <a:t>，由网络设备构成，主要完成</a:t>
            </a:r>
            <a:r>
              <a:rPr lang="zh-CN" altLang="en-US" sz="1600" b="1" dirty="0">
                <a:solidFill>
                  <a:srgbClr val="C00000"/>
                </a:solidFill>
                <a:latin typeface="微软雅黑" pitchFamily="34" charset="-122"/>
                <a:ea typeface="微软雅黑" pitchFamily="34" charset="-122"/>
              </a:rPr>
              <a:t>分组处理、转发和</a:t>
            </a:r>
            <a:r>
              <a:rPr lang="zh-CN" altLang="en-US" sz="1600" b="1" dirty="0" smtClean="0">
                <a:solidFill>
                  <a:srgbClr val="C00000"/>
                </a:solidFill>
                <a:latin typeface="微软雅黑" pitchFamily="34" charset="-122"/>
                <a:ea typeface="微软雅黑" pitchFamily="34" charset="-122"/>
              </a:rPr>
              <a:t>统计等功能</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快速</a:t>
            </a:r>
            <a:r>
              <a:rPr lang="zh-CN" altLang="en-US" sz="1600" b="1" dirty="0">
                <a:latin typeface="微软雅黑" pitchFamily="34" charset="-122"/>
                <a:ea typeface="微软雅黑" pitchFamily="34" charset="-122"/>
              </a:rPr>
              <a:t>、简单、通用的商用交换机，通过硬件实现</a:t>
            </a:r>
            <a:r>
              <a:rPr lang="zh-CN" altLang="en-US" sz="1600" b="1" dirty="0">
                <a:solidFill>
                  <a:srgbClr val="C00000"/>
                </a:solidFill>
                <a:latin typeface="微软雅黑" pitchFamily="34" charset="-122"/>
                <a:ea typeface="微软雅黑" pitchFamily="34" charset="-122"/>
              </a:rPr>
              <a:t>通用的数据平面转发</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sp>
        <p:nvSpPr>
          <p:cNvPr id="10" name="圆角矩形 9"/>
          <p:cNvSpPr/>
          <p:nvPr/>
        </p:nvSpPr>
        <p:spPr>
          <a:xfrm>
            <a:off x="4718654" y="1151653"/>
            <a:ext cx="3729681" cy="3191933"/>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aphicFrame>
        <p:nvGraphicFramePr>
          <p:cNvPr id="11" name="对象 10"/>
          <p:cNvGraphicFramePr>
            <a:graphicFrameLocks noChangeAspect="1"/>
          </p:cNvGraphicFramePr>
          <p:nvPr>
            <p:extLst/>
          </p:nvPr>
        </p:nvGraphicFramePr>
        <p:xfrm>
          <a:off x="4833985" y="1355555"/>
          <a:ext cx="3532904" cy="2778765"/>
        </p:xfrm>
        <a:graphic>
          <a:graphicData uri="http://schemas.openxmlformats.org/presentationml/2006/ole">
            <mc:AlternateContent xmlns:mc="http://schemas.openxmlformats.org/markup-compatibility/2006">
              <mc:Choice xmlns:v="urn:schemas-microsoft-com:vml" Requires="v">
                <p:oleObj spid="_x0000_s1032" name="Visio" r:id="rId4" imgW="2679791" imgH="2133678" progId="Visio.Drawing.15">
                  <p:embed/>
                </p:oleObj>
              </mc:Choice>
              <mc:Fallback>
                <p:oleObj name="Visio" r:id="rId4" imgW="2679791" imgH="2133678" progId="Visio.Drawing.15">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3985" y="1355555"/>
                        <a:ext cx="3532904" cy="2778765"/>
                      </a:xfrm>
                      <a:prstGeom prst="rect">
                        <a:avLst/>
                      </a:prstGeom>
                      <a:noFill/>
                    </p:spPr>
                  </p:pic>
                </p:oleObj>
              </mc:Fallback>
            </mc:AlternateContent>
          </a:graphicData>
        </a:graphic>
      </p:graphicFrame>
      <p:sp>
        <p:nvSpPr>
          <p:cNvPr id="12" name="Rectangle 970">
            <a:extLst>
              <a:ext uri="{FF2B5EF4-FFF2-40B4-BE49-F238E27FC236}">
                <a16:creationId xmlns:a16="http://schemas.microsoft.com/office/drawing/2014/main" id="{CF79C9C5-C35F-9D4D-A4B3-C17F7845845A}"/>
              </a:ext>
            </a:extLst>
          </p:cNvPr>
          <p:cNvSpPr/>
          <p:nvPr/>
        </p:nvSpPr>
        <p:spPr bwMode="auto">
          <a:xfrm>
            <a:off x="4810760" y="1305560"/>
            <a:ext cx="3576449" cy="2169160"/>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Tree>
    <p:custDataLst>
      <p:tags r:id="rId2"/>
    </p:custDataLst>
    <p:extLst>
      <p:ext uri="{BB962C8B-B14F-4D97-AF65-F5344CB8AC3E}">
        <p14:creationId xmlns:p14="http://schemas.microsoft.com/office/powerpoint/2010/main" val="34100750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架构</a:t>
            </a:r>
            <a:endParaRPr lang="zh-CN" altLang="en-US" sz="2400" b="1" dirty="0">
              <a:solidFill>
                <a:schemeClr val="bg1"/>
              </a:solidFill>
              <a:latin typeface="微软雅黑" pitchFamily="34" charset="-122"/>
              <a:ea typeface="微软雅黑" pitchFamily="34" charset="-122"/>
            </a:endParaRPr>
          </a:p>
        </p:txBody>
      </p:sp>
      <p:sp>
        <p:nvSpPr>
          <p:cNvPr id="10" name="Rectangle 8"/>
          <p:cNvSpPr>
            <a:spLocks noChangeArrowheads="1"/>
          </p:cNvSpPr>
          <p:nvPr/>
        </p:nvSpPr>
        <p:spPr bwMode="auto">
          <a:xfrm>
            <a:off x="494343" y="1151653"/>
            <a:ext cx="4026857" cy="338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根据 </a:t>
            </a:r>
            <a:r>
              <a:rPr lang="en-US" altLang="zh-CN" b="1" dirty="0">
                <a:latin typeface="微软雅黑" pitchFamily="34" charset="-122"/>
                <a:ea typeface="微软雅黑" pitchFamily="34" charset="-122"/>
              </a:rPr>
              <a:t>ONF </a:t>
            </a:r>
            <a:r>
              <a:rPr lang="zh-CN" altLang="en-US" b="1" dirty="0">
                <a:latin typeface="微软雅黑" pitchFamily="34" charset="-122"/>
                <a:ea typeface="微软雅黑" pitchFamily="34" charset="-122"/>
              </a:rPr>
              <a:t>的定义，</a:t>
            </a:r>
            <a:r>
              <a:rPr lang="en-US" altLang="zh-CN" b="1" dirty="0" smtClean="0">
                <a:latin typeface="微软雅黑" pitchFamily="34" charset="-122"/>
                <a:ea typeface="微软雅黑" pitchFamily="34" charset="-122"/>
              </a:rPr>
              <a:t>SDN </a:t>
            </a:r>
            <a:r>
              <a:rPr lang="zh-CN" altLang="en-US" b="1" dirty="0" smtClean="0">
                <a:latin typeface="微软雅黑" pitchFamily="34" charset="-122"/>
                <a:ea typeface="微软雅黑" pitchFamily="34" charset="-122"/>
              </a:rPr>
              <a:t>在</a:t>
            </a:r>
            <a:r>
              <a:rPr lang="zh-CN" altLang="en-US" b="1" dirty="0">
                <a:latin typeface="微软雅黑" pitchFamily="34" charset="-122"/>
                <a:ea typeface="微软雅黑" pitchFamily="34" charset="-122"/>
              </a:rPr>
              <a:t>架构上包括基础设施层、控制层和应用层三个层次。</a:t>
            </a:r>
            <a:endParaRPr lang="en-US" altLang="zh-CN"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控制</a:t>
            </a:r>
            <a:r>
              <a:rPr lang="zh-CN" altLang="en-US" sz="1600" b="1" dirty="0">
                <a:latin typeface="微软雅黑" pitchFamily="34" charset="-122"/>
                <a:ea typeface="微软雅黑" pitchFamily="34" charset="-122"/>
              </a:rPr>
              <a:t>层即</a:t>
            </a:r>
            <a:r>
              <a:rPr lang="zh-CN" altLang="en-US" sz="1600" b="1" dirty="0">
                <a:solidFill>
                  <a:srgbClr val="C00000"/>
                </a:solidFill>
                <a:latin typeface="微软雅黑" pitchFamily="34" charset="-122"/>
                <a:ea typeface="微软雅黑" pitchFamily="34" charset="-122"/>
              </a:rPr>
              <a:t>控制平面</a:t>
            </a:r>
            <a:r>
              <a:rPr lang="zh-CN" altLang="en-US" sz="1600" b="1" dirty="0">
                <a:latin typeface="微软雅黑" pitchFamily="34" charset="-122"/>
                <a:ea typeface="微软雅黑" pitchFamily="34" charset="-122"/>
              </a:rPr>
              <a:t>，运行</a:t>
            </a:r>
            <a:r>
              <a:rPr lang="en-US" altLang="zh-CN" sz="1600" b="1" dirty="0">
                <a:latin typeface="微软雅黑" pitchFamily="34" charset="-122"/>
                <a:ea typeface="微软雅黑" pitchFamily="34" charset="-122"/>
              </a:rPr>
              <a:t>SDN</a:t>
            </a:r>
            <a:r>
              <a:rPr lang="zh-CN" altLang="en-US" sz="1600" b="1" dirty="0">
                <a:latin typeface="微软雅黑" pitchFamily="34" charset="-122"/>
                <a:ea typeface="微软雅黑" pitchFamily="34" charset="-122"/>
              </a:rPr>
              <a:t>控制器，负责</a:t>
            </a:r>
            <a:r>
              <a:rPr lang="zh-CN" altLang="en-US" sz="1600" b="1" dirty="0">
                <a:solidFill>
                  <a:srgbClr val="C00000"/>
                </a:solidFill>
                <a:latin typeface="微软雅黑" pitchFamily="34" charset="-122"/>
                <a:ea typeface="微软雅黑" pitchFamily="34" charset="-122"/>
              </a:rPr>
              <a:t>维护全网的网络状态信息</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a:latin typeface="微软雅黑" pitchFamily="34" charset="-122"/>
                <a:ea typeface="微软雅黑" pitchFamily="34" charset="-122"/>
              </a:rPr>
              <a:t>通过</a:t>
            </a:r>
            <a:r>
              <a:rPr lang="zh-CN" altLang="en-US" sz="1600" b="1" dirty="0">
                <a:solidFill>
                  <a:srgbClr val="C00000"/>
                </a:solidFill>
                <a:latin typeface="微软雅黑" pitchFamily="34" charset="-122"/>
                <a:ea typeface="微软雅黑" pitchFamily="34" charset="-122"/>
              </a:rPr>
              <a:t>南向接口</a:t>
            </a:r>
            <a:r>
              <a:rPr lang="zh-CN" altLang="en-US" sz="1600" b="1" dirty="0">
                <a:latin typeface="微软雅黑" pitchFamily="34" charset="-122"/>
                <a:ea typeface="微软雅黑" pitchFamily="34" charset="-122"/>
              </a:rPr>
              <a:t>对网络设备进行管理和配置，目前南向接口主要是</a:t>
            </a:r>
            <a:r>
              <a:rPr lang="en-US" altLang="zh-CN" sz="1600" b="1" dirty="0">
                <a:latin typeface="微软雅黑" pitchFamily="34" charset="-122"/>
                <a:ea typeface="微软雅黑" pitchFamily="34" charset="-122"/>
              </a:rPr>
              <a:t>OpenFlow</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a:latin typeface="微软雅黑" pitchFamily="34" charset="-122"/>
                <a:ea typeface="微软雅黑" pitchFamily="34" charset="-122"/>
              </a:rPr>
              <a:t>通过</a:t>
            </a:r>
            <a:r>
              <a:rPr lang="zh-CN" altLang="en-US" sz="1600" b="1" dirty="0">
                <a:solidFill>
                  <a:srgbClr val="C00000"/>
                </a:solidFill>
                <a:latin typeface="微软雅黑" pitchFamily="34" charset="-122"/>
                <a:ea typeface="微软雅黑" pitchFamily="34" charset="-122"/>
              </a:rPr>
              <a:t>北向接口</a:t>
            </a:r>
            <a:r>
              <a:rPr lang="zh-CN" altLang="en-US" sz="1600" b="1" dirty="0">
                <a:latin typeface="微软雅黑" pitchFamily="34" charset="-122"/>
                <a:ea typeface="微软雅黑" pitchFamily="34" charset="-122"/>
              </a:rPr>
              <a:t>为应用程序提供服务，目前北向接口尚未有统一的标准。</a:t>
            </a:r>
            <a:endParaRPr lang="en-US" altLang="zh-CN" sz="1600" b="1" dirty="0">
              <a:latin typeface="微软雅黑" pitchFamily="34" charset="-122"/>
              <a:ea typeface="微软雅黑" pitchFamily="34" charset="-122"/>
            </a:endParaRPr>
          </a:p>
        </p:txBody>
      </p:sp>
      <p:sp>
        <p:nvSpPr>
          <p:cNvPr id="11" name="圆角矩形 10"/>
          <p:cNvSpPr/>
          <p:nvPr/>
        </p:nvSpPr>
        <p:spPr>
          <a:xfrm>
            <a:off x="4718654" y="1151653"/>
            <a:ext cx="3729681" cy="3191933"/>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aphicFrame>
        <p:nvGraphicFramePr>
          <p:cNvPr id="12" name="对象 11"/>
          <p:cNvGraphicFramePr>
            <a:graphicFrameLocks noChangeAspect="1"/>
          </p:cNvGraphicFramePr>
          <p:nvPr>
            <p:extLst/>
          </p:nvPr>
        </p:nvGraphicFramePr>
        <p:xfrm>
          <a:off x="4833985" y="1355555"/>
          <a:ext cx="3532904" cy="2778765"/>
        </p:xfrm>
        <a:graphic>
          <a:graphicData uri="http://schemas.openxmlformats.org/presentationml/2006/ole">
            <mc:AlternateContent xmlns:mc="http://schemas.openxmlformats.org/markup-compatibility/2006">
              <mc:Choice xmlns:v="urn:schemas-microsoft-com:vml" Requires="v">
                <p:oleObj spid="_x0000_s2056" name="Visio" r:id="rId4" imgW="2679791" imgH="2133678" progId="Visio.Drawing.15">
                  <p:embed/>
                </p:oleObj>
              </mc:Choice>
              <mc:Fallback>
                <p:oleObj name="Visio" r:id="rId4" imgW="2679791" imgH="2133678" progId="Visio.Drawing.15">
                  <p:embed/>
                  <p:pic>
                    <p:nvPicPr>
                      <p:cNvPr id="12" name="对象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3985" y="1355555"/>
                        <a:ext cx="3532904" cy="2778765"/>
                      </a:xfrm>
                      <a:prstGeom prst="rect">
                        <a:avLst/>
                      </a:prstGeom>
                      <a:noFill/>
                    </p:spPr>
                  </p:pic>
                </p:oleObj>
              </mc:Fallback>
            </mc:AlternateContent>
          </a:graphicData>
        </a:graphic>
      </p:graphicFrame>
      <p:sp>
        <p:nvSpPr>
          <p:cNvPr id="13" name="Rectangle 970">
            <a:extLst>
              <a:ext uri="{FF2B5EF4-FFF2-40B4-BE49-F238E27FC236}">
                <a16:creationId xmlns:a16="http://schemas.microsoft.com/office/drawing/2014/main" id="{CF79C9C5-C35F-9D4D-A4B3-C17F7845845A}"/>
              </a:ext>
            </a:extLst>
          </p:cNvPr>
          <p:cNvSpPr/>
          <p:nvPr/>
        </p:nvSpPr>
        <p:spPr bwMode="auto">
          <a:xfrm>
            <a:off x="4810760" y="1305560"/>
            <a:ext cx="3576449" cy="746760"/>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4" name="Rectangle 970">
            <a:extLst>
              <a:ext uri="{FF2B5EF4-FFF2-40B4-BE49-F238E27FC236}">
                <a16:creationId xmlns:a16="http://schemas.microsoft.com/office/drawing/2014/main" id="{CF79C9C5-C35F-9D4D-A4B3-C17F7845845A}"/>
              </a:ext>
            </a:extLst>
          </p:cNvPr>
          <p:cNvSpPr/>
          <p:nvPr/>
        </p:nvSpPr>
        <p:spPr bwMode="auto">
          <a:xfrm>
            <a:off x="4813665" y="3459480"/>
            <a:ext cx="3576449" cy="726440"/>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Tree>
    <p:custDataLst>
      <p:tags r:id="rId2"/>
    </p:custDataLst>
    <p:extLst>
      <p:ext uri="{BB962C8B-B14F-4D97-AF65-F5344CB8AC3E}">
        <p14:creationId xmlns:p14="http://schemas.microsoft.com/office/powerpoint/2010/main" val="39437245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架构</a:t>
            </a:r>
            <a:endParaRPr lang="zh-CN" altLang="en-US" sz="2400" b="1" dirty="0">
              <a:solidFill>
                <a:schemeClr val="bg1"/>
              </a:solidFill>
              <a:latin typeface="微软雅黑" pitchFamily="34" charset="-122"/>
              <a:ea typeface="微软雅黑" pitchFamily="34" charset="-122"/>
            </a:endParaRPr>
          </a:p>
        </p:txBody>
      </p:sp>
      <p:sp>
        <p:nvSpPr>
          <p:cNvPr id="12" name="Rectangle 8"/>
          <p:cNvSpPr>
            <a:spLocks noChangeArrowheads="1"/>
          </p:cNvSpPr>
          <p:nvPr/>
        </p:nvSpPr>
        <p:spPr bwMode="auto">
          <a:xfrm>
            <a:off x="494343" y="1151653"/>
            <a:ext cx="4062417" cy="3734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根据 </a:t>
            </a:r>
            <a:r>
              <a:rPr lang="en-US" altLang="zh-CN" b="1" dirty="0">
                <a:latin typeface="微软雅黑" pitchFamily="34" charset="-122"/>
                <a:ea typeface="微软雅黑" pitchFamily="34" charset="-122"/>
              </a:rPr>
              <a:t>ONF </a:t>
            </a:r>
            <a:r>
              <a:rPr lang="zh-CN" altLang="en-US" b="1" dirty="0">
                <a:latin typeface="微软雅黑" pitchFamily="34" charset="-122"/>
                <a:ea typeface="微软雅黑" pitchFamily="34" charset="-122"/>
              </a:rPr>
              <a:t>的定义，</a:t>
            </a:r>
            <a:r>
              <a:rPr lang="en-US" altLang="zh-CN" b="1" dirty="0" smtClean="0">
                <a:latin typeface="微软雅黑" pitchFamily="34" charset="-122"/>
                <a:ea typeface="微软雅黑" pitchFamily="34" charset="-122"/>
              </a:rPr>
              <a:t>SDN </a:t>
            </a:r>
            <a:r>
              <a:rPr lang="zh-CN" altLang="en-US" b="1" dirty="0" smtClean="0">
                <a:latin typeface="微软雅黑" pitchFamily="34" charset="-122"/>
                <a:ea typeface="微软雅黑" pitchFamily="34" charset="-122"/>
              </a:rPr>
              <a:t>在</a:t>
            </a:r>
            <a:r>
              <a:rPr lang="zh-CN" altLang="en-US" b="1" dirty="0">
                <a:latin typeface="微软雅黑" pitchFamily="34" charset="-122"/>
                <a:ea typeface="微软雅黑" pitchFamily="34" charset="-122"/>
              </a:rPr>
              <a:t>架构上包括基础设施层、控制层和应用层三个层次。</a:t>
            </a:r>
            <a:endParaRPr lang="en-US" altLang="zh-CN"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应用层</a:t>
            </a:r>
            <a:r>
              <a:rPr lang="zh-CN" altLang="en-US" sz="1600" b="1" dirty="0">
                <a:latin typeface="微软雅黑" pitchFamily="34" charset="-122"/>
                <a:ea typeface="微软雅黑" pitchFamily="34" charset="-122"/>
              </a:rPr>
              <a:t>又被称为</a:t>
            </a:r>
            <a:r>
              <a:rPr lang="zh-CN" altLang="en-US" sz="1600" b="1" dirty="0">
                <a:solidFill>
                  <a:srgbClr val="C00000"/>
                </a:solidFill>
                <a:latin typeface="微软雅黑" pitchFamily="34" charset="-122"/>
                <a:ea typeface="微软雅黑" pitchFamily="34" charset="-122"/>
              </a:rPr>
              <a:t>应用平面</a:t>
            </a:r>
            <a:r>
              <a:rPr lang="zh-CN" altLang="en-US" sz="1600" b="1" dirty="0">
                <a:latin typeface="微软雅黑" pitchFamily="34" charset="-122"/>
                <a:ea typeface="微软雅黑" pitchFamily="34" charset="-122"/>
              </a:rPr>
              <a:t>，通过调用控制层提供的服务</a:t>
            </a:r>
            <a:r>
              <a:rPr lang="zh-CN" altLang="en-US" sz="1600" b="1" dirty="0" smtClean="0">
                <a:latin typeface="微软雅黑" pitchFamily="34" charset="-122"/>
                <a:ea typeface="微软雅黑" pitchFamily="34" charset="-122"/>
              </a:rPr>
              <a:t>来实现各种</a:t>
            </a:r>
            <a:r>
              <a:rPr lang="zh-CN" altLang="en-US" sz="1600" b="1" dirty="0">
                <a:latin typeface="微软雅黑" pitchFamily="34" charset="-122"/>
                <a:ea typeface="微软雅黑" pitchFamily="34" charset="-122"/>
              </a:rPr>
              <a:t>具体应用。</a:t>
            </a:r>
            <a:endParaRPr lang="en-US" altLang="zh-CN" sz="1600" b="1" dirty="0">
              <a:latin typeface="微软雅黑" pitchFamily="34" charset="-122"/>
              <a:ea typeface="微软雅黑" pitchFamily="34" charset="-122"/>
            </a:endParaRPr>
          </a:p>
          <a:p>
            <a:pPr marL="1200150" lvl="2"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流量工程、负载均衡、接入控制等。</a:t>
            </a:r>
            <a:endParaRPr lang="en-US" altLang="zh-CN" sz="14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a:latin typeface="微软雅黑" pitchFamily="34" charset="-122"/>
                <a:ea typeface="微软雅黑" pitchFamily="34" charset="-122"/>
              </a:rPr>
              <a:t> 利用 </a:t>
            </a:r>
            <a:r>
              <a:rPr lang="en-US" altLang="zh-CN" sz="1600" b="1" dirty="0">
                <a:latin typeface="微软雅黑" pitchFamily="34" charset="-122"/>
                <a:ea typeface="微软雅黑" pitchFamily="34" charset="-122"/>
              </a:rPr>
              <a:t>SDN </a:t>
            </a:r>
            <a:r>
              <a:rPr lang="zh-CN" altLang="en-US" sz="1600" b="1" dirty="0">
                <a:latin typeface="微软雅黑" pitchFamily="34" charset="-122"/>
                <a:ea typeface="微软雅黑" pitchFamily="34" charset="-122"/>
              </a:rPr>
              <a:t>控制器提供的</a:t>
            </a:r>
            <a:r>
              <a:rPr lang="zh-CN" altLang="en-US" sz="1600" b="1" dirty="0">
                <a:solidFill>
                  <a:srgbClr val="C00000"/>
                </a:solidFill>
                <a:latin typeface="微软雅黑" pitchFamily="34" charset="-122"/>
                <a:ea typeface="微软雅黑" pitchFamily="34" charset="-122"/>
              </a:rPr>
              <a:t>服务和 </a:t>
            </a:r>
            <a:r>
              <a:rPr lang="en-US" altLang="zh-CN" sz="1600" b="1" dirty="0" smtClean="0">
                <a:solidFill>
                  <a:srgbClr val="C00000"/>
                </a:solidFill>
                <a:latin typeface="微软雅黑" pitchFamily="34" charset="-122"/>
                <a:ea typeface="微软雅黑" pitchFamily="34" charset="-122"/>
              </a:rPr>
              <a:t>API</a:t>
            </a:r>
            <a:r>
              <a:rPr lang="en-US" altLang="zh-CN" sz="1600" b="1" dirty="0" smtClean="0">
                <a:latin typeface="微软雅黑" pitchFamily="34" charset="-122"/>
                <a:ea typeface="微软雅黑" pitchFamily="34" charset="-122"/>
              </a:rPr>
              <a:t> </a:t>
            </a:r>
            <a:r>
              <a:rPr lang="zh-CN" altLang="en-US" sz="1600" b="1" dirty="0">
                <a:latin typeface="微软雅黑" pitchFamily="34" charset="-122"/>
                <a:ea typeface="微软雅黑" pitchFamily="34" charset="-122"/>
              </a:rPr>
              <a:t>来</a:t>
            </a:r>
            <a:r>
              <a:rPr lang="zh-CN" altLang="en-US" sz="1600" b="1" dirty="0" smtClean="0">
                <a:latin typeface="微软雅黑" pitchFamily="34" charset="-122"/>
                <a:ea typeface="微软雅黑" pitchFamily="34" charset="-122"/>
              </a:rPr>
              <a:t>实现网络控制功能</a:t>
            </a:r>
            <a:r>
              <a:rPr lang="zh-CN" altLang="en-US" sz="1600" b="1" dirty="0">
                <a:latin typeface="微软雅黑" pitchFamily="34" charset="-122"/>
                <a:ea typeface="微软雅黑" pitchFamily="34" charset="-122"/>
              </a:rPr>
              <a:t>。</a:t>
            </a:r>
          </a:p>
          <a:p>
            <a:pPr marL="742950" lvl="1" indent="-285750">
              <a:lnSpc>
                <a:spcPts val="2500"/>
              </a:lnSpc>
              <a:buClr>
                <a:srgbClr val="0070C0"/>
              </a:buClr>
              <a:buFont typeface="Wingdings" pitchFamily="2" charset="2"/>
              <a:buChar char="l"/>
            </a:pPr>
            <a:r>
              <a:rPr lang="zh-CN" altLang="en-US" sz="1600" b="1" dirty="0">
                <a:latin typeface="微软雅黑" pitchFamily="34" charset="-122"/>
                <a:ea typeface="微软雅黑" pitchFamily="34" charset="-122"/>
              </a:rPr>
              <a:t>应用程序</a:t>
            </a:r>
            <a:r>
              <a:rPr lang="zh-CN" altLang="en-US" sz="1600" b="1" dirty="0">
                <a:solidFill>
                  <a:srgbClr val="C00000"/>
                </a:solidFill>
                <a:latin typeface="微软雅黑" pitchFamily="34" charset="-122"/>
                <a:ea typeface="微软雅黑" pitchFamily="34" charset="-122"/>
              </a:rPr>
              <a:t>独立</a:t>
            </a:r>
            <a:r>
              <a:rPr lang="zh-CN" altLang="en-US" sz="1600" b="1" dirty="0" smtClean="0">
                <a:solidFill>
                  <a:srgbClr val="C00000"/>
                </a:solidFill>
                <a:latin typeface="微软雅黑" pitchFamily="34" charset="-122"/>
                <a:ea typeface="微软雅黑" pitchFamily="34" charset="-122"/>
              </a:rPr>
              <a:t>于 </a:t>
            </a:r>
            <a:r>
              <a:rPr lang="en-US" altLang="zh-CN" sz="1600" b="1" dirty="0" smtClean="0">
                <a:solidFill>
                  <a:srgbClr val="C00000"/>
                </a:solidFill>
                <a:latin typeface="微软雅黑" pitchFamily="34" charset="-122"/>
                <a:ea typeface="微软雅黑" pitchFamily="34" charset="-122"/>
              </a:rPr>
              <a:t>SDN </a:t>
            </a:r>
            <a:r>
              <a:rPr lang="zh-CN" altLang="en-US" sz="1600" b="1" dirty="0" smtClean="0">
                <a:solidFill>
                  <a:srgbClr val="C00000"/>
                </a:solidFill>
                <a:latin typeface="微软雅黑" pitchFamily="34" charset="-122"/>
                <a:ea typeface="微软雅黑" pitchFamily="34" charset="-122"/>
              </a:rPr>
              <a:t>控制器</a:t>
            </a:r>
            <a:r>
              <a:rPr lang="zh-CN" altLang="en-US" sz="1600" b="1" dirty="0">
                <a:solidFill>
                  <a:srgbClr val="C00000"/>
                </a:solidFill>
                <a:latin typeface="微软雅黑" pitchFamily="34" charset="-122"/>
                <a:ea typeface="微软雅黑" pitchFamily="34" charset="-122"/>
              </a:rPr>
              <a:t>和网络设备</a:t>
            </a:r>
            <a:r>
              <a:rPr lang="zh-CN" altLang="en-US" sz="1600" b="1" dirty="0">
                <a:latin typeface="微软雅黑" pitchFamily="34" charset="-122"/>
                <a:ea typeface="微软雅黑" pitchFamily="34" charset="-122"/>
              </a:rPr>
              <a:t>，可以由第三方独立开发</a:t>
            </a:r>
            <a:r>
              <a:rPr lang="zh-CN" altLang="en-US" sz="1600" b="1" dirty="0" smtClean="0">
                <a:latin typeface="微软雅黑" pitchFamily="34" charset="-122"/>
                <a:ea typeface="微软雅黑" pitchFamily="34" charset="-122"/>
              </a:rPr>
              <a:t>。</a:t>
            </a:r>
            <a:endParaRPr lang="zh-CN" altLang="en-US" sz="1600" b="1" dirty="0">
              <a:latin typeface="微软雅黑" pitchFamily="34" charset="-122"/>
              <a:ea typeface="微软雅黑" pitchFamily="34" charset="-122"/>
            </a:endParaRPr>
          </a:p>
        </p:txBody>
      </p:sp>
      <p:sp>
        <p:nvSpPr>
          <p:cNvPr id="13" name="圆角矩形 12"/>
          <p:cNvSpPr/>
          <p:nvPr/>
        </p:nvSpPr>
        <p:spPr>
          <a:xfrm>
            <a:off x="4718654" y="1151653"/>
            <a:ext cx="3729681" cy="3191933"/>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aphicFrame>
        <p:nvGraphicFramePr>
          <p:cNvPr id="14" name="对象 13"/>
          <p:cNvGraphicFramePr>
            <a:graphicFrameLocks noChangeAspect="1"/>
          </p:cNvGraphicFramePr>
          <p:nvPr>
            <p:extLst/>
          </p:nvPr>
        </p:nvGraphicFramePr>
        <p:xfrm>
          <a:off x="4833985" y="1355555"/>
          <a:ext cx="3532904" cy="2778765"/>
        </p:xfrm>
        <a:graphic>
          <a:graphicData uri="http://schemas.openxmlformats.org/presentationml/2006/ole">
            <mc:AlternateContent xmlns:mc="http://schemas.openxmlformats.org/markup-compatibility/2006">
              <mc:Choice xmlns:v="urn:schemas-microsoft-com:vml" Requires="v">
                <p:oleObj spid="_x0000_s3080" name="Visio" r:id="rId4" imgW="2679791" imgH="2133678" progId="Visio.Drawing.15">
                  <p:embed/>
                </p:oleObj>
              </mc:Choice>
              <mc:Fallback>
                <p:oleObj name="Visio" r:id="rId4" imgW="2679791" imgH="2133678" progId="Visio.Drawing.15">
                  <p:embed/>
                  <p:pic>
                    <p:nvPicPr>
                      <p:cNvPr id="14" name="对象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3985" y="1355555"/>
                        <a:ext cx="3532904" cy="2778765"/>
                      </a:xfrm>
                      <a:prstGeom prst="rect">
                        <a:avLst/>
                      </a:prstGeom>
                      <a:noFill/>
                    </p:spPr>
                  </p:pic>
                </p:oleObj>
              </mc:Fallback>
            </mc:AlternateContent>
          </a:graphicData>
        </a:graphic>
      </p:graphicFrame>
      <p:sp>
        <p:nvSpPr>
          <p:cNvPr id="15" name="Rectangle 970">
            <a:extLst>
              <a:ext uri="{FF2B5EF4-FFF2-40B4-BE49-F238E27FC236}">
                <a16:creationId xmlns:a16="http://schemas.microsoft.com/office/drawing/2014/main" id="{CF79C9C5-C35F-9D4D-A4B3-C17F7845845A}"/>
              </a:ext>
            </a:extLst>
          </p:cNvPr>
          <p:cNvSpPr/>
          <p:nvPr/>
        </p:nvSpPr>
        <p:spPr bwMode="auto">
          <a:xfrm>
            <a:off x="4810760" y="2265680"/>
            <a:ext cx="3576449" cy="1899920"/>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Tree>
    <p:custDataLst>
      <p:tags r:id="rId2"/>
    </p:custDataLst>
    <p:extLst>
      <p:ext uri="{BB962C8B-B14F-4D97-AF65-F5344CB8AC3E}">
        <p14:creationId xmlns:p14="http://schemas.microsoft.com/office/powerpoint/2010/main" val="41120081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animEffect transition="in" filter="fade">
                                      <p:cBhvr>
                                        <p:cTn id="7" dur="500"/>
                                        <p:tgtEl>
                                          <p:spTgt spid="1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4" end="4"/>
                                            </p:txEl>
                                          </p:spTgt>
                                        </p:tgtEl>
                                        <p:attrNameLst>
                                          <p:attrName>style.visibility</p:attrName>
                                        </p:attrNameLst>
                                      </p:cBhvr>
                                      <p:to>
                                        <p:strVal val="visible"/>
                                      </p:to>
                                    </p:set>
                                    <p:animEffect transition="in" filter="fade">
                                      <p:cBhvr>
                                        <p:cTn id="12"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8" name="Rectangle 6"/>
          <p:cNvSpPr>
            <a:spLocks noChangeArrowheads="1"/>
          </p:cNvSpPr>
          <p:nvPr/>
        </p:nvSpPr>
        <p:spPr bwMode="auto">
          <a:xfrm>
            <a:off x="2549660" y="576646"/>
            <a:ext cx="40446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中</a:t>
            </a:r>
            <a:r>
              <a:rPr lang="zh-CN" altLang="en-US" sz="2400" b="1" dirty="0">
                <a:solidFill>
                  <a:schemeClr val="bg1"/>
                </a:solidFill>
                <a:latin typeface="微软雅黑" pitchFamily="34" charset="-122"/>
                <a:ea typeface="微软雅黑" pitchFamily="34" charset="-122"/>
              </a:rPr>
              <a:t>的网络功能抽象表示</a:t>
            </a:r>
          </a:p>
        </p:txBody>
      </p:sp>
      <p:grpSp>
        <p:nvGrpSpPr>
          <p:cNvPr id="3" name="组合 2"/>
          <p:cNvGrpSpPr/>
          <p:nvPr/>
        </p:nvGrpSpPr>
        <p:grpSpPr>
          <a:xfrm>
            <a:off x="4438496" y="1372698"/>
            <a:ext cx="4160360" cy="2139027"/>
            <a:chOff x="1051455" y="1274517"/>
            <a:chExt cx="6640512" cy="3936017"/>
          </a:xfrm>
        </p:grpSpPr>
        <p:sp>
          <p:nvSpPr>
            <p:cNvPr id="73" name="Line 27"/>
            <p:cNvSpPr>
              <a:spLocks noChangeShapeType="1"/>
            </p:cNvSpPr>
            <p:nvPr/>
          </p:nvSpPr>
          <p:spPr bwMode="auto">
            <a:xfrm flipV="1">
              <a:off x="3204327" y="4578443"/>
              <a:ext cx="1304704" cy="102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4" name="Line 25"/>
            <p:cNvSpPr>
              <a:spLocks noChangeShapeType="1"/>
            </p:cNvSpPr>
            <p:nvPr/>
          </p:nvSpPr>
          <p:spPr bwMode="auto">
            <a:xfrm>
              <a:off x="4578881" y="4627658"/>
              <a:ext cx="677860" cy="2738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5" name="Line 26"/>
            <p:cNvSpPr>
              <a:spLocks noChangeShapeType="1"/>
            </p:cNvSpPr>
            <p:nvPr/>
          </p:nvSpPr>
          <p:spPr bwMode="auto">
            <a:xfrm>
              <a:off x="4578880" y="4586383"/>
              <a:ext cx="1546223" cy="364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6" name="Line 27"/>
            <p:cNvSpPr>
              <a:spLocks noChangeShapeType="1"/>
            </p:cNvSpPr>
            <p:nvPr/>
          </p:nvSpPr>
          <p:spPr bwMode="auto">
            <a:xfrm>
              <a:off x="3204326" y="4627658"/>
              <a:ext cx="655418"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7" name="Line 30"/>
            <p:cNvSpPr>
              <a:spLocks noChangeShapeType="1"/>
            </p:cNvSpPr>
            <p:nvPr/>
          </p:nvSpPr>
          <p:spPr bwMode="auto">
            <a:xfrm flipV="1">
              <a:off x="3929593" y="4906359"/>
              <a:ext cx="1282700" cy="1037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8" name="Line 26"/>
            <p:cNvSpPr>
              <a:spLocks noChangeShapeType="1"/>
            </p:cNvSpPr>
            <p:nvPr/>
          </p:nvSpPr>
          <p:spPr bwMode="auto">
            <a:xfrm flipH="1">
              <a:off x="3929592" y="4627658"/>
              <a:ext cx="579437"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7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0580" y="4557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82" name="Line 25"/>
            <p:cNvSpPr>
              <a:spLocks noChangeShapeType="1"/>
            </p:cNvSpPr>
            <p:nvPr/>
          </p:nvSpPr>
          <p:spPr bwMode="auto">
            <a:xfrm flipV="1">
              <a:off x="5431876" y="4680933"/>
              <a:ext cx="751968" cy="2254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85" name="Text Box 69"/>
            <p:cNvSpPr txBox="1">
              <a:spLocks noChangeArrowheads="1"/>
            </p:cNvSpPr>
            <p:nvPr/>
          </p:nvSpPr>
          <p:spPr bwMode="auto">
            <a:xfrm>
              <a:off x="6346984" y="3799776"/>
              <a:ext cx="1297730"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a:t>南向接口</a:t>
              </a:r>
              <a:endParaRPr lang="en-US" altLang="zh-CN" sz="1000"/>
            </a:p>
            <a:p>
              <a:pPr algn="ctr" eaLnBrk="1" hangingPunct="1">
                <a:spcBef>
                  <a:spcPct val="0"/>
                </a:spcBef>
                <a:buFontTx/>
                <a:buNone/>
              </a:pPr>
              <a:r>
                <a:rPr lang="en-US" altLang="zh-CN" sz="1000"/>
                <a:t>(OpenFlow)</a:t>
              </a:r>
            </a:p>
          </p:txBody>
        </p:sp>
        <p:sp>
          <p:nvSpPr>
            <p:cNvPr id="86" name="Rounded Rectangle 78"/>
            <p:cNvSpPr/>
            <p:nvPr/>
          </p:nvSpPr>
          <p:spPr>
            <a:xfrm>
              <a:off x="1581680" y="2805208"/>
              <a:ext cx="6110287" cy="939800"/>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87" name="Rounded Rectangle 78"/>
            <p:cNvSpPr/>
            <p:nvPr/>
          </p:nvSpPr>
          <p:spPr>
            <a:xfrm>
              <a:off x="1581680" y="1274517"/>
              <a:ext cx="6110287" cy="1103652"/>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88" name="Line 24"/>
            <p:cNvSpPr>
              <a:spLocks noChangeShapeType="1"/>
            </p:cNvSpPr>
            <p:nvPr/>
          </p:nvSpPr>
          <p:spPr bwMode="auto">
            <a:xfrm flipV="1">
              <a:off x="3125200" y="3743421"/>
              <a:ext cx="15404" cy="809624"/>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89" name="Line 24"/>
            <p:cNvSpPr>
              <a:spLocks noChangeShapeType="1"/>
            </p:cNvSpPr>
            <p:nvPr/>
          </p:nvSpPr>
          <p:spPr bwMode="auto">
            <a:xfrm flipV="1">
              <a:off x="3896786" y="3745008"/>
              <a:ext cx="12169" cy="1156493"/>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0" name="Line 24"/>
            <p:cNvSpPr>
              <a:spLocks noChangeShapeType="1"/>
            </p:cNvSpPr>
            <p:nvPr/>
          </p:nvSpPr>
          <p:spPr bwMode="auto">
            <a:xfrm flipH="1" flipV="1">
              <a:off x="4534430" y="3745008"/>
              <a:ext cx="0" cy="6937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1" name="Line 24"/>
            <p:cNvSpPr>
              <a:spLocks noChangeShapeType="1"/>
            </p:cNvSpPr>
            <p:nvPr/>
          </p:nvSpPr>
          <p:spPr bwMode="auto">
            <a:xfrm flipH="1" flipV="1">
              <a:off x="6317192" y="3745008"/>
              <a:ext cx="7938" cy="8334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2" name="Line 24"/>
            <p:cNvSpPr>
              <a:spLocks noChangeShapeType="1"/>
            </p:cNvSpPr>
            <p:nvPr/>
          </p:nvSpPr>
          <p:spPr bwMode="auto">
            <a:xfrm flipH="1" flipV="1">
              <a:off x="5326591" y="3745008"/>
              <a:ext cx="14757" cy="1066800"/>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3" name="上下箭头 6"/>
            <p:cNvSpPr>
              <a:spLocks noChangeArrowheads="1"/>
            </p:cNvSpPr>
            <p:nvPr/>
          </p:nvSpPr>
          <p:spPr bwMode="auto">
            <a:xfrm>
              <a:off x="4534430" y="2376583"/>
              <a:ext cx="295275" cy="412750"/>
            </a:xfrm>
            <a:prstGeom prst="upDownArrow">
              <a:avLst>
                <a:gd name="adj1" fmla="val 46315"/>
                <a:gd name="adj2" fmla="val 34836"/>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200"/>
            </a:p>
          </p:txBody>
        </p:sp>
        <p:sp>
          <p:nvSpPr>
            <p:cNvPr id="94" name="Text Box 69"/>
            <p:cNvSpPr txBox="1">
              <a:spLocks noChangeArrowheads="1"/>
            </p:cNvSpPr>
            <p:nvPr/>
          </p:nvSpPr>
          <p:spPr bwMode="auto">
            <a:xfrm>
              <a:off x="1143496" y="4474293"/>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数据</a:t>
              </a:r>
              <a:endParaRPr lang="en-US" altLang="zh-CN" dirty="0"/>
            </a:p>
            <a:p>
              <a:r>
                <a:rPr lang="zh-CN" altLang="en-US" dirty="0"/>
                <a:t>平面</a:t>
              </a:r>
              <a:endParaRPr lang="en-US" altLang="zh-CN" dirty="0"/>
            </a:p>
          </p:txBody>
        </p:sp>
        <p:sp>
          <p:nvSpPr>
            <p:cNvPr id="95" name="Text Box 69"/>
            <p:cNvSpPr txBox="1">
              <a:spLocks noChangeArrowheads="1"/>
            </p:cNvSpPr>
            <p:nvPr/>
          </p:nvSpPr>
          <p:spPr bwMode="auto">
            <a:xfrm>
              <a:off x="1090903" y="3020705"/>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控制</a:t>
              </a:r>
              <a:endParaRPr lang="en-US" altLang="zh-CN" dirty="0"/>
            </a:p>
            <a:p>
              <a:r>
                <a:rPr lang="zh-CN" altLang="en-US" dirty="0"/>
                <a:t>平面</a:t>
              </a:r>
              <a:endParaRPr lang="en-US" altLang="zh-CN" dirty="0"/>
            </a:p>
          </p:txBody>
        </p:sp>
        <p:sp>
          <p:nvSpPr>
            <p:cNvPr id="96" name="Text Box 69"/>
            <p:cNvSpPr txBox="1">
              <a:spLocks noChangeArrowheads="1"/>
            </p:cNvSpPr>
            <p:nvPr/>
          </p:nvSpPr>
          <p:spPr bwMode="auto">
            <a:xfrm>
              <a:off x="4741261" y="2416269"/>
              <a:ext cx="111351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a:t>北向接口</a:t>
              </a:r>
              <a:endParaRPr lang="en-US" altLang="zh-CN" sz="1000"/>
            </a:p>
          </p:txBody>
        </p:sp>
        <p:sp>
          <p:nvSpPr>
            <p:cNvPr id="97" name="Text Box 69"/>
            <p:cNvSpPr txBox="1">
              <a:spLocks noChangeArrowheads="1"/>
            </p:cNvSpPr>
            <p:nvPr/>
          </p:nvSpPr>
          <p:spPr bwMode="auto">
            <a:xfrm>
              <a:off x="1051455" y="1512832"/>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dirty="0" smtClean="0"/>
                <a:t>应用</a:t>
              </a:r>
              <a:endParaRPr lang="en-US" altLang="zh-CN" sz="1000" dirty="0" smtClean="0"/>
            </a:p>
            <a:p>
              <a:pPr algn="ctr" eaLnBrk="1" hangingPunct="1">
                <a:spcBef>
                  <a:spcPct val="0"/>
                </a:spcBef>
                <a:buFontTx/>
                <a:buNone/>
              </a:pPr>
              <a:r>
                <a:rPr lang="zh-CN" altLang="en-US" sz="1000" dirty="0" smtClean="0"/>
                <a:t>平面</a:t>
              </a:r>
              <a:endParaRPr lang="en-US" altLang="zh-CN" sz="1000" dirty="0"/>
            </a:p>
          </p:txBody>
        </p:sp>
        <p:sp>
          <p:nvSpPr>
            <p:cNvPr id="98" name="矩形 8"/>
            <p:cNvSpPr>
              <a:spLocks noChangeArrowheads="1"/>
            </p:cNvSpPr>
            <p:nvPr/>
          </p:nvSpPr>
          <p:spPr bwMode="auto">
            <a:xfrm>
              <a:off x="1607080" y="2882995"/>
              <a:ext cx="1328736" cy="76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网络操作系统</a:t>
              </a:r>
              <a:endParaRPr lang="en-US" altLang="zh-CN" sz="1000" dirty="0"/>
            </a:p>
            <a:p>
              <a:pPr algn="ctr" eaLnBrk="1" hangingPunct="1">
                <a:lnSpc>
                  <a:spcPct val="120000"/>
                </a:lnSpc>
                <a:spcBef>
                  <a:spcPct val="0"/>
                </a:spcBef>
                <a:buFontTx/>
                <a:buNone/>
              </a:pPr>
              <a:r>
                <a:rPr lang="en-US" altLang="zh-CN" sz="1000" dirty="0"/>
                <a:t>(SDN</a:t>
              </a:r>
              <a:r>
                <a:rPr lang="zh-CN" altLang="en-US" sz="1000" dirty="0"/>
                <a:t>控制器</a:t>
              </a:r>
              <a:r>
                <a:rPr lang="en-US" altLang="zh-CN" sz="1000" dirty="0"/>
                <a:t>)</a:t>
              </a:r>
            </a:p>
          </p:txBody>
        </p:sp>
        <p:sp>
          <p:nvSpPr>
            <p:cNvPr id="99" name="矩形 113"/>
            <p:cNvSpPr>
              <a:spLocks noChangeArrowheads="1"/>
            </p:cNvSpPr>
            <p:nvPr/>
          </p:nvSpPr>
          <p:spPr bwMode="auto">
            <a:xfrm>
              <a:off x="1581679" y="1636022"/>
              <a:ext cx="1128695" cy="37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网络应用</a:t>
              </a:r>
              <a:endParaRPr lang="en-US" altLang="zh-CN" sz="1000" dirty="0"/>
            </a:p>
          </p:txBody>
        </p:sp>
        <p:sp>
          <p:nvSpPr>
            <p:cNvPr id="100" name="圆角矩形 99"/>
            <p:cNvSpPr/>
            <p:nvPr/>
          </p:nvSpPr>
          <p:spPr bwMode="auto">
            <a:xfrm>
              <a:off x="2827868" y="1373291"/>
              <a:ext cx="941388" cy="335481"/>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1</a:t>
              </a:r>
              <a:endParaRPr lang="zh-CN" altLang="en-US" sz="900" dirty="0"/>
            </a:p>
          </p:txBody>
        </p:sp>
        <p:sp>
          <p:nvSpPr>
            <p:cNvPr id="101" name="圆角矩形 100"/>
            <p:cNvSpPr/>
            <p:nvPr/>
          </p:nvSpPr>
          <p:spPr bwMode="auto">
            <a:xfrm>
              <a:off x="4156606" y="1367929"/>
              <a:ext cx="1011236" cy="34084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2</a:t>
              </a:r>
              <a:endParaRPr lang="zh-CN" altLang="en-US" sz="900" dirty="0"/>
            </a:p>
          </p:txBody>
        </p:sp>
        <p:sp>
          <p:nvSpPr>
            <p:cNvPr id="102" name="圆角矩形 101"/>
            <p:cNvSpPr/>
            <p:nvPr/>
          </p:nvSpPr>
          <p:spPr bwMode="auto">
            <a:xfrm>
              <a:off x="6275917" y="1367929"/>
              <a:ext cx="911225" cy="296394"/>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i="1" dirty="0"/>
                <a:t>n</a:t>
              </a:r>
              <a:endParaRPr lang="zh-CN" altLang="en-US" sz="900" i="1" dirty="0"/>
            </a:p>
          </p:txBody>
        </p:sp>
        <p:grpSp>
          <p:nvGrpSpPr>
            <p:cNvPr id="103" name="组合 122"/>
            <p:cNvGrpSpPr>
              <a:grpSpLocks/>
            </p:cNvGrpSpPr>
            <p:nvPr/>
          </p:nvGrpSpPr>
          <p:grpSpPr bwMode="auto">
            <a:xfrm>
              <a:off x="5212292" y="2863945"/>
              <a:ext cx="1409700" cy="769938"/>
              <a:chOff x="2493878" y="4797152"/>
              <a:chExt cx="4227265" cy="1944216"/>
            </a:xfrm>
          </p:grpSpPr>
          <p:pic>
            <p:nvPicPr>
              <p:cNvPr id="104"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3878" y="4797152"/>
                <a:ext cx="4227265"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Line 27"/>
              <p:cNvSpPr>
                <a:spLocks noChangeShapeType="1"/>
              </p:cNvSpPr>
              <p:nvPr/>
            </p:nvSpPr>
            <p:spPr bwMode="auto">
              <a:xfrm flipV="1">
                <a:off x="3022169" y="5279005"/>
                <a:ext cx="1452572" cy="486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6" name="Line 25"/>
              <p:cNvSpPr>
                <a:spLocks noChangeShapeType="1"/>
              </p:cNvSpPr>
              <p:nvPr/>
            </p:nvSpPr>
            <p:spPr bwMode="auto">
              <a:xfrm>
                <a:off x="4544582" y="5328220"/>
                <a:ext cx="827086" cy="6927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7" name="Line 26"/>
              <p:cNvSpPr>
                <a:spLocks noChangeShapeType="1"/>
              </p:cNvSpPr>
              <p:nvPr/>
            </p:nvSpPr>
            <p:spPr bwMode="auto">
              <a:xfrm>
                <a:off x="4544582" y="5286870"/>
                <a:ext cx="1746248" cy="4292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8" name="Line 27"/>
              <p:cNvSpPr>
                <a:spLocks noChangeShapeType="1"/>
              </p:cNvSpPr>
              <p:nvPr/>
            </p:nvSpPr>
            <p:spPr bwMode="auto">
              <a:xfrm>
                <a:off x="2880882" y="5898728"/>
                <a:ext cx="996848" cy="2983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9" name="Line 30"/>
              <p:cNvSpPr>
                <a:spLocks noChangeShapeType="1"/>
              </p:cNvSpPr>
              <p:nvPr/>
            </p:nvSpPr>
            <p:spPr bwMode="auto">
              <a:xfrm flipV="1">
                <a:off x="3960280" y="5925716"/>
                <a:ext cx="1411389" cy="2888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10" name="Line 26"/>
              <p:cNvSpPr>
                <a:spLocks noChangeShapeType="1"/>
              </p:cNvSpPr>
              <p:nvPr/>
            </p:nvSpPr>
            <p:spPr bwMode="auto">
              <a:xfrm flipH="1">
                <a:off x="3877731" y="5328219"/>
                <a:ext cx="597010" cy="8370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1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7519" y="5733628"/>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7326" y="6082879"/>
                <a:ext cx="5032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9831" y="5140408"/>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4" name="Line 25"/>
              <p:cNvSpPr>
                <a:spLocks noChangeShapeType="1"/>
              </p:cNvSpPr>
              <p:nvPr/>
            </p:nvSpPr>
            <p:spPr bwMode="auto">
              <a:xfrm flipV="1">
                <a:off x="5371669" y="5765376"/>
                <a:ext cx="919162" cy="1944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1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7818" y="5855072"/>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1594" y="5601865"/>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17" name="矩形 136"/>
            <p:cNvSpPr>
              <a:spLocks noChangeArrowheads="1"/>
            </p:cNvSpPr>
            <p:nvPr/>
          </p:nvSpPr>
          <p:spPr bwMode="auto">
            <a:xfrm>
              <a:off x="6498168" y="2943319"/>
              <a:ext cx="1133474" cy="6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20000"/>
                </a:lnSpc>
                <a:spcBef>
                  <a:spcPct val="0"/>
                </a:spcBef>
                <a:buFontTx/>
                <a:buNone/>
              </a:pPr>
              <a:r>
                <a:rPr lang="zh-CN" altLang="en-US" sz="1000" dirty="0"/>
                <a:t>全局网</a:t>
              </a:r>
              <a:endParaRPr lang="en-US" altLang="zh-CN" sz="1000" dirty="0"/>
            </a:p>
            <a:p>
              <a:pPr marL="0" lvl="1" algn="ctr" eaLnBrk="1" hangingPunct="1">
                <a:lnSpc>
                  <a:spcPct val="120000"/>
                </a:lnSpc>
                <a:spcBef>
                  <a:spcPct val="0"/>
                </a:spcBef>
                <a:buFontTx/>
                <a:buNone/>
              </a:pPr>
              <a:r>
                <a:rPr lang="zh-CN" altLang="en-US" sz="1000" dirty="0"/>
                <a:t>络视图</a:t>
              </a:r>
              <a:endParaRPr lang="en-US" altLang="zh-CN" sz="1000" dirty="0"/>
            </a:p>
          </p:txBody>
        </p:sp>
        <p:sp>
          <p:nvSpPr>
            <p:cNvPr id="118" name="圆角矩形 117"/>
            <p:cNvSpPr/>
            <p:nvPr/>
          </p:nvSpPr>
          <p:spPr bwMode="auto">
            <a:xfrm>
              <a:off x="4461405" y="2924270"/>
              <a:ext cx="4540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en-US" altLang="zh-CN" sz="900" dirty="0"/>
                <a:t>…</a:t>
              </a:r>
              <a:endParaRPr lang="zh-CN" altLang="en-US" sz="900" dirty="0"/>
            </a:p>
          </p:txBody>
        </p:sp>
        <p:sp>
          <p:nvSpPr>
            <p:cNvPr id="119" name="圆角矩形 118"/>
            <p:cNvSpPr/>
            <p:nvPr/>
          </p:nvSpPr>
          <p:spPr bwMode="auto">
            <a:xfrm>
              <a:off x="3742267" y="2924270"/>
              <a:ext cx="487363"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路由计算</a:t>
              </a:r>
            </a:p>
          </p:txBody>
        </p:sp>
        <p:sp>
          <p:nvSpPr>
            <p:cNvPr id="120" name="圆角矩形 119"/>
            <p:cNvSpPr/>
            <p:nvPr/>
          </p:nvSpPr>
          <p:spPr bwMode="auto">
            <a:xfrm>
              <a:off x="3034242" y="2924270"/>
              <a:ext cx="4921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a:t>拓扑发现</a:t>
              </a:r>
              <a:endParaRPr lang="zh-CN" altLang="en-US" sz="900" dirty="0"/>
            </a:p>
          </p:txBody>
        </p:sp>
        <p:grpSp>
          <p:nvGrpSpPr>
            <p:cNvPr id="121" name="组合 3"/>
            <p:cNvGrpSpPr>
              <a:grpSpLocks/>
            </p:cNvGrpSpPr>
            <p:nvPr/>
          </p:nvGrpSpPr>
          <p:grpSpPr bwMode="auto">
            <a:xfrm>
              <a:off x="2977092" y="1782694"/>
              <a:ext cx="981075" cy="433551"/>
              <a:chOff x="2771800" y="1864953"/>
              <a:chExt cx="980513" cy="598848"/>
            </a:xfrm>
          </p:grpSpPr>
          <p:pic>
            <p:nvPicPr>
              <p:cNvPr id="122"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1800" y="1864953"/>
                <a:ext cx="980513" cy="59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Line 25"/>
              <p:cNvSpPr>
                <a:spLocks noChangeShapeType="1"/>
              </p:cNvSpPr>
              <p:nvPr/>
            </p:nvSpPr>
            <p:spPr bwMode="auto">
              <a:xfrm>
                <a:off x="3158353" y="2028530"/>
                <a:ext cx="225703" cy="2133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4" name="Line 26"/>
              <p:cNvSpPr>
                <a:spLocks noChangeShapeType="1"/>
              </p:cNvSpPr>
              <p:nvPr/>
            </p:nvSpPr>
            <p:spPr bwMode="auto">
              <a:xfrm>
                <a:off x="3158353" y="2015794"/>
                <a:ext cx="476533" cy="1322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5" name="Line 30"/>
              <p:cNvSpPr>
                <a:spLocks noChangeShapeType="1"/>
              </p:cNvSpPr>
              <p:nvPr/>
            </p:nvSpPr>
            <p:spPr bwMode="auto">
              <a:xfrm flipV="1">
                <a:off x="2998904" y="2212568"/>
                <a:ext cx="385153" cy="889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6" name="Line 26"/>
              <p:cNvSpPr>
                <a:spLocks noChangeShapeType="1"/>
              </p:cNvSpPr>
              <p:nvPr/>
            </p:nvSpPr>
            <p:spPr bwMode="auto">
              <a:xfrm flipH="1">
                <a:off x="2976377" y="2028530"/>
                <a:ext cx="162918" cy="2578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2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0773" y="2260976"/>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5190" y="1970681"/>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29" name="Line 25"/>
              <p:cNvSpPr>
                <a:spLocks noChangeShapeType="1"/>
              </p:cNvSpPr>
              <p:nvPr/>
            </p:nvSpPr>
            <p:spPr bwMode="auto">
              <a:xfrm flipV="1">
                <a:off x="3384057" y="2163181"/>
                <a:ext cx="250830" cy="59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3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5681" y="2190808"/>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6872" y="2112817"/>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32" name="组合 1"/>
            <p:cNvGrpSpPr>
              <a:grpSpLocks/>
            </p:cNvGrpSpPr>
            <p:nvPr/>
          </p:nvGrpSpPr>
          <p:grpSpPr bwMode="auto">
            <a:xfrm>
              <a:off x="4407430" y="1838420"/>
              <a:ext cx="1062037" cy="439738"/>
              <a:chOff x="4584568" y="1881503"/>
              <a:chExt cx="1062760" cy="644690"/>
            </a:xfrm>
          </p:grpSpPr>
          <p:pic>
            <p:nvPicPr>
              <p:cNvPr id="133"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4568" y="1881503"/>
                <a:ext cx="1062760" cy="64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 name="Line 27"/>
              <p:cNvSpPr>
                <a:spLocks noChangeShapeType="1"/>
              </p:cNvSpPr>
              <p:nvPr/>
            </p:nvSpPr>
            <p:spPr bwMode="auto">
              <a:xfrm flipV="1">
                <a:off x="4717384" y="2041282"/>
                <a:ext cx="365185" cy="161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35" name="Line 25"/>
              <p:cNvSpPr>
                <a:spLocks noChangeShapeType="1"/>
              </p:cNvSpPr>
              <p:nvPr/>
            </p:nvSpPr>
            <p:spPr bwMode="auto">
              <a:xfrm>
                <a:off x="5100127" y="2057602"/>
                <a:ext cx="140535" cy="3086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36" name="Line 26"/>
              <p:cNvSpPr>
                <a:spLocks noChangeShapeType="1"/>
              </p:cNvSpPr>
              <p:nvPr/>
            </p:nvSpPr>
            <p:spPr bwMode="auto">
              <a:xfrm>
                <a:off x="5100127" y="2043890"/>
                <a:ext cx="439017" cy="1423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3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3194" y="2192033"/>
                <a:ext cx="126916"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3511" y="1995325"/>
                <a:ext cx="126517" cy="95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9" name="Line 25"/>
              <p:cNvSpPr>
                <a:spLocks noChangeShapeType="1"/>
              </p:cNvSpPr>
              <p:nvPr/>
            </p:nvSpPr>
            <p:spPr bwMode="auto">
              <a:xfrm flipV="1">
                <a:off x="5265670" y="2202559"/>
                <a:ext cx="273476" cy="147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0"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70653" y="2328672"/>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6485" y="2148341"/>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42" name="组合 2"/>
            <p:cNvGrpSpPr>
              <a:grpSpLocks/>
            </p:cNvGrpSpPr>
            <p:nvPr/>
          </p:nvGrpSpPr>
          <p:grpSpPr bwMode="auto">
            <a:xfrm>
              <a:off x="6468005" y="1782694"/>
              <a:ext cx="874712" cy="441489"/>
              <a:chOff x="6386505" y="1851028"/>
              <a:chExt cx="873749" cy="620713"/>
            </a:xfrm>
          </p:grpSpPr>
          <p:pic>
            <p:nvPicPr>
              <p:cNvPr id="143"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86505" y="1851028"/>
                <a:ext cx="873749"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Line 25"/>
              <p:cNvSpPr>
                <a:spLocks noChangeShapeType="1"/>
              </p:cNvSpPr>
              <p:nvPr/>
            </p:nvSpPr>
            <p:spPr bwMode="auto">
              <a:xfrm>
                <a:off x="6724062" y="2030252"/>
                <a:ext cx="80186" cy="3093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45" name="Line 26"/>
              <p:cNvSpPr>
                <a:spLocks noChangeShapeType="1"/>
              </p:cNvSpPr>
              <p:nvPr/>
            </p:nvSpPr>
            <p:spPr bwMode="auto">
              <a:xfrm>
                <a:off x="6724062" y="2015680"/>
                <a:ext cx="448023" cy="15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5874" y="1964062"/>
                <a:ext cx="129112" cy="10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47" name="Line 25"/>
              <p:cNvSpPr>
                <a:spLocks noChangeShapeType="1"/>
              </p:cNvSpPr>
              <p:nvPr/>
            </p:nvSpPr>
            <p:spPr bwMode="auto">
              <a:xfrm flipV="1">
                <a:off x="6804248" y="2184319"/>
                <a:ext cx="367837" cy="14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6984" y="2299301"/>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8140" y="2126693"/>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50" name="Text Box 69"/>
            <p:cNvSpPr txBox="1">
              <a:spLocks noChangeArrowheads="1"/>
            </p:cNvSpPr>
            <p:nvPr/>
          </p:nvSpPr>
          <p:spPr bwMode="auto">
            <a:xfrm>
              <a:off x="5434584" y="1317986"/>
              <a:ext cx="70413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000" dirty="0"/>
                <a:t>……</a:t>
              </a:r>
            </a:p>
          </p:txBody>
        </p:sp>
        <p:sp>
          <p:nvSpPr>
            <p:cNvPr id="151" name="矩形 136"/>
            <p:cNvSpPr>
              <a:spLocks noChangeArrowheads="1"/>
            </p:cNvSpPr>
            <p:nvPr/>
          </p:nvSpPr>
          <p:spPr bwMode="auto">
            <a:xfrm>
              <a:off x="5421841" y="1762220"/>
              <a:ext cx="1133474" cy="59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10000"/>
                </a:lnSpc>
                <a:spcBef>
                  <a:spcPct val="0"/>
                </a:spcBef>
                <a:buFontTx/>
                <a:buNone/>
              </a:pPr>
              <a:r>
                <a:rPr lang="zh-CN" altLang="en-US" sz="1000" dirty="0"/>
                <a:t>抽象网</a:t>
              </a:r>
              <a:endParaRPr lang="en-US" altLang="zh-CN" sz="1000" dirty="0"/>
            </a:p>
            <a:p>
              <a:pPr marL="0" lvl="1" algn="ctr" eaLnBrk="1" hangingPunct="1">
                <a:lnSpc>
                  <a:spcPct val="110000"/>
                </a:lnSpc>
                <a:spcBef>
                  <a:spcPct val="0"/>
                </a:spcBef>
                <a:buFontTx/>
                <a:buNone/>
              </a:pPr>
              <a:r>
                <a:rPr lang="zh-CN" altLang="en-US" sz="1000" dirty="0" smtClean="0"/>
                <a:t>络视图</a:t>
              </a:r>
              <a:endParaRPr lang="en-US" altLang="zh-CN" sz="1000" dirty="0"/>
            </a:p>
          </p:txBody>
        </p:sp>
        <p:sp>
          <p:nvSpPr>
            <p:cNvPr id="152" name="Cloud 4"/>
            <p:cNvSpPr>
              <a:spLocks noChangeArrowheads="1"/>
            </p:cNvSpPr>
            <p:nvPr/>
          </p:nvSpPr>
          <p:spPr bwMode="auto">
            <a:xfrm>
              <a:off x="2234142" y="4257770"/>
              <a:ext cx="4646613" cy="865188"/>
            </a:xfrm>
            <a:custGeom>
              <a:avLst/>
              <a:gdLst>
                <a:gd name="T0" fmla="*/ 2147483646 w 43200"/>
                <a:gd name="T1" fmla="*/ 2147483646 h 43200"/>
                <a:gd name="T2" fmla="*/ 2147483646 w 43200"/>
                <a:gd name="T3" fmla="*/ 2147483646 h 43200"/>
                <a:gd name="T4" fmla="*/ 2147483646 w 43200"/>
                <a:gd name="T5" fmla="*/ 2147483646 h 43200"/>
                <a:gd name="T6" fmla="*/ 2147483646 w 43200"/>
                <a:gd name="T7" fmla="*/ 2147483646 h 43200"/>
                <a:gd name="T8" fmla="*/ 0 60000 65536"/>
                <a:gd name="T9" fmla="*/ 0 60000 65536"/>
                <a:gd name="T10" fmla="*/ 0 60000 65536"/>
                <a:gd name="T11" fmla="*/ 0 60000 65536"/>
                <a:gd name="T12" fmla="*/ 5954 w 43200"/>
                <a:gd name="T13" fmla="*/ 6524 h 43200"/>
                <a:gd name="T14" fmla="*/ 34174 w 43200"/>
                <a:gd name="T15" fmla="*/ 34674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lnTo>
                    <a:pt x="3900" y="14370"/>
                  </a:ln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noFill/>
            <a:ln w="9525">
              <a:solidFill>
                <a:schemeClr val="tx1"/>
              </a:solidFill>
              <a:miter lim="800000"/>
              <a:headEnd/>
              <a:tailEnd/>
            </a:ln>
            <a:effectLst>
              <a:outerShdw dist="23000" dir="5400000" rotWithShape="0">
                <a:srgbClr val="808080">
                  <a:alpha val="34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sz="1050"/>
            </a:p>
          </p:txBody>
        </p:sp>
        <p:pic>
          <p:nvPicPr>
            <p:cNvPr id="15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5187" y="4888103"/>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5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2711" y="4461860"/>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5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6729" y="4811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5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5103" y="4553045"/>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57" name="Rectangle 8"/>
          <p:cNvSpPr>
            <a:spLocks noChangeArrowheads="1"/>
          </p:cNvSpPr>
          <p:nvPr/>
        </p:nvSpPr>
        <p:spPr bwMode="auto">
          <a:xfrm>
            <a:off x="545144" y="1009413"/>
            <a:ext cx="3685473" cy="340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基于这种数据平面与控制平面相分离的思想，</a:t>
            </a: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对网络功能进行了多个层面的</a:t>
            </a:r>
            <a:r>
              <a:rPr lang="zh-CN" altLang="en-US" b="1" dirty="0" smtClean="0">
                <a:latin typeface="微软雅黑" pitchFamily="34" charset="-122"/>
                <a:ea typeface="微软雅黑" pitchFamily="34" charset="-122"/>
              </a:rPr>
              <a:t>抽象。</a:t>
            </a:r>
            <a:endParaRPr lang="en-US" altLang="zh-CN" b="1" dirty="0" smtClean="0">
              <a:latin typeface="微软雅黑" pitchFamily="34" charset="-122"/>
              <a:ea typeface="微软雅黑" pitchFamily="34" charset="-122"/>
            </a:endParaRPr>
          </a:p>
          <a:p>
            <a:pPr marL="742950" lvl="1" indent="-285750" algn="just">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基于</a:t>
            </a:r>
            <a:r>
              <a:rPr lang="zh-CN" altLang="en-US" sz="1600" b="1" dirty="0">
                <a:latin typeface="微软雅黑" pitchFamily="34" charset="-122"/>
                <a:ea typeface="微软雅黑" pitchFamily="34" charset="-122"/>
              </a:rPr>
              <a:t>南向接口</a:t>
            </a:r>
            <a:r>
              <a:rPr lang="zh-CN" altLang="en-US" sz="1600" b="1" dirty="0" smtClean="0">
                <a:latin typeface="微软雅黑" pitchFamily="34" charset="-122"/>
                <a:ea typeface="微软雅黑" pitchFamily="34" charset="-122"/>
              </a:rPr>
              <a:t>，实现</a:t>
            </a:r>
            <a:r>
              <a:rPr lang="zh-CN" altLang="en-US" sz="1600" b="1" dirty="0">
                <a:latin typeface="微软雅黑" pitchFamily="34" charset="-122"/>
                <a:ea typeface="微软雅黑" pitchFamily="34" charset="-122"/>
              </a:rPr>
              <a:t>了</a:t>
            </a:r>
            <a:r>
              <a:rPr lang="zh-CN" altLang="en-US" sz="1600" b="1" dirty="0">
                <a:solidFill>
                  <a:srgbClr val="C00000"/>
                </a:solidFill>
                <a:latin typeface="微软雅黑" pitchFamily="34" charset="-122"/>
                <a:ea typeface="微软雅黑" pitchFamily="34" charset="-122"/>
              </a:rPr>
              <a:t>转发功能</a:t>
            </a:r>
            <a:r>
              <a:rPr lang="zh-CN" altLang="en-US" sz="1600" b="1" dirty="0" smtClean="0">
                <a:solidFill>
                  <a:srgbClr val="C00000"/>
                </a:solidFill>
                <a:latin typeface="微软雅黑" pitchFamily="34" charset="-122"/>
                <a:ea typeface="微软雅黑" pitchFamily="34" charset="-122"/>
              </a:rPr>
              <a:t>抽象</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gn="just">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在</a:t>
            </a:r>
            <a:r>
              <a:rPr lang="zh-CN" altLang="en-US" sz="1600" b="1" dirty="0">
                <a:latin typeface="微软雅黑" pitchFamily="34" charset="-122"/>
                <a:ea typeface="微软雅黑" pitchFamily="34" charset="-122"/>
              </a:rPr>
              <a:t>隐藏底层硬件实现细节的基础上，支持上层应用</a:t>
            </a:r>
            <a:r>
              <a:rPr lang="zh-CN" altLang="en-US" sz="1600" b="1" dirty="0">
                <a:solidFill>
                  <a:srgbClr val="C00000"/>
                </a:solidFill>
                <a:latin typeface="微软雅黑" pitchFamily="34" charset="-122"/>
                <a:ea typeface="微软雅黑" pitchFamily="34" charset="-122"/>
              </a:rPr>
              <a:t>通过统一的</a:t>
            </a:r>
            <a:r>
              <a:rPr lang="zh-CN" altLang="en-US" sz="1600" b="1" dirty="0" smtClean="0">
                <a:solidFill>
                  <a:srgbClr val="C00000"/>
                </a:solidFill>
                <a:latin typeface="微软雅黑" pitchFamily="34" charset="-122"/>
                <a:ea typeface="微软雅黑" pitchFamily="34" charset="-122"/>
              </a:rPr>
              <a:t>接口定义 </a:t>
            </a:r>
            <a:r>
              <a:rPr lang="en-US" altLang="zh-CN" sz="1600" b="1" dirty="0" smtClean="0">
                <a:solidFill>
                  <a:srgbClr val="C00000"/>
                </a:solidFill>
                <a:latin typeface="微软雅黑" pitchFamily="34" charset="-122"/>
                <a:ea typeface="微软雅黑" pitchFamily="34" charset="-122"/>
              </a:rPr>
              <a:t>SDN </a:t>
            </a:r>
            <a:r>
              <a:rPr lang="zh-CN" altLang="en-US" sz="1600" b="1" dirty="0" smtClean="0">
                <a:solidFill>
                  <a:srgbClr val="C00000"/>
                </a:solidFill>
                <a:latin typeface="微软雅黑" pitchFamily="34" charset="-122"/>
                <a:ea typeface="微软雅黑" pitchFamily="34" charset="-122"/>
              </a:rPr>
              <a:t>交换机</a:t>
            </a:r>
            <a:r>
              <a:rPr lang="zh-CN" altLang="en-US" sz="1600" b="1" dirty="0">
                <a:solidFill>
                  <a:srgbClr val="C00000"/>
                </a:solidFill>
                <a:latin typeface="微软雅黑" pitchFamily="34" charset="-122"/>
                <a:ea typeface="微软雅黑" pitchFamily="34" charset="-122"/>
              </a:rPr>
              <a:t>的分组转发行为</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29478644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8" name="Rectangle 6"/>
          <p:cNvSpPr>
            <a:spLocks noChangeArrowheads="1"/>
          </p:cNvSpPr>
          <p:nvPr/>
        </p:nvSpPr>
        <p:spPr bwMode="auto">
          <a:xfrm>
            <a:off x="2549659" y="576646"/>
            <a:ext cx="40446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中的网络功能抽象表示</a:t>
            </a:r>
          </a:p>
        </p:txBody>
      </p:sp>
      <p:grpSp>
        <p:nvGrpSpPr>
          <p:cNvPr id="158" name="组合 157"/>
          <p:cNvGrpSpPr/>
          <p:nvPr/>
        </p:nvGrpSpPr>
        <p:grpSpPr>
          <a:xfrm>
            <a:off x="4438496" y="1372698"/>
            <a:ext cx="4160360" cy="2139027"/>
            <a:chOff x="1051455" y="1274517"/>
            <a:chExt cx="6640512" cy="3936017"/>
          </a:xfrm>
        </p:grpSpPr>
        <p:sp>
          <p:nvSpPr>
            <p:cNvPr id="159" name="Line 27"/>
            <p:cNvSpPr>
              <a:spLocks noChangeShapeType="1"/>
            </p:cNvSpPr>
            <p:nvPr/>
          </p:nvSpPr>
          <p:spPr bwMode="auto">
            <a:xfrm flipV="1">
              <a:off x="3204327" y="4578443"/>
              <a:ext cx="1304704" cy="102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0" name="Line 25"/>
            <p:cNvSpPr>
              <a:spLocks noChangeShapeType="1"/>
            </p:cNvSpPr>
            <p:nvPr/>
          </p:nvSpPr>
          <p:spPr bwMode="auto">
            <a:xfrm>
              <a:off x="4578881" y="4627658"/>
              <a:ext cx="677860" cy="2738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1" name="Line 26"/>
            <p:cNvSpPr>
              <a:spLocks noChangeShapeType="1"/>
            </p:cNvSpPr>
            <p:nvPr/>
          </p:nvSpPr>
          <p:spPr bwMode="auto">
            <a:xfrm>
              <a:off x="4578880" y="4586383"/>
              <a:ext cx="1546223" cy="364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2" name="Line 27"/>
            <p:cNvSpPr>
              <a:spLocks noChangeShapeType="1"/>
            </p:cNvSpPr>
            <p:nvPr/>
          </p:nvSpPr>
          <p:spPr bwMode="auto">
            <a:xfrm>
              <a:off x="3204326" y="4627658"/>
              <a:ext cx="655418"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3" name="Line 30"/>
            <p:cNvSpPr>
              <a:spLocks noChangeShapeType="1"/>
            </p:cNvSpPr>
            <p:nvPr/>
          </p:nvSpPr>
          <p:spPr bwMode="auto">
            <a:xfrm flipV="1">
              <a:off x="3929593" y="4906359"/>
              <a:ext cx="1282700" cy="1037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4" name="Line 26"/>
            <p:cNvSpPr>
              <a:spLocks noChangeShapeType="1"/>
            </p:cNvSpPr>
            <p:nvPr/>
          </p:nvSpPr>
          <p:spPr bwMode="auto">
            <a:xfrm flipH="1">
              <a:off x="3929592" y="4627658"/>
              <a:ext cx="579437"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6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0580" y="4557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66" name="Line 25"/>
            <p:cNvSpPr>
              <a:spLocks noChangeShapeType="1"/>
            </p:cNvSpPr>
            <p:nvPr/>
          </p:nvSpPr>
          <p:spPr bwMode="auto">
            <a:xfrm flipV="1">
              <a:off x="5431876" y="4680933"/>
              <a:ext cx="751968" cy="2254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7" name="Text Box 69"/>
            <p:cNvSpPr txBox="1">
              <a:spLocks noChangeArrowheads="1"/>
            </p:cNvSpPr>
            <p:nvPr/>
          </p:nvSpPr>
          <p:spPr bwMode="auto">
            <a:xfrm>
              <a:off x="6346984" y="3799776"/>
              <a:ext cx="1297730"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a:t>南向接口</a:t>
              </a:r>
              <a:endParaRPr lang="en-US" altLang="zh-CN" sz="1000"/>
            </a:p>
            <a:p>
              <a:pPr algn="ctr" eaLnBrk="1" hangingPunct="1">
                <a:spcBef>
                  <a:spcPct val="0"/>
                </a:spcBef>
                <a:buFontTx/>
                <a:buNone/>
              </a:pPr>
              <a:r>
                <a:rPr lang="en-US" altLang="zh-CN" sz="1000"/>
                <a:t>(OpenFlow)</a:t>
              </a:r>
            </a:p>
          </p:txBody>
        </p:sp>
        <p:sp>
          <p:nvSpPr>
            <p:cNvPr id="168" name="Rounded Rectangle 78"/>
            <p:cNvSpPr/>
            <p:nvPr/>
          </p:nvSpPr>
          <p:spPr>
            <a:xfrm>
              <a:off x="1581680" y="2805208"/>
              <a:ext cx="6110287" cy="939800"/>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169" name="Rounded Rectangle 78"/>
            <p:cNvSpPr/>
            <p:nvPr/>
          </p:nvSpPr>
          <p:spPr>
            <a:xfrm>
              <a:off x="1581680" y="1274517"/>
              <a:ext cx="6110287" cy="1103652"/>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170" name="Line 24"/>
            <p:cNvSpPr>
              <a:spLocks noChangeShapeType="1"/>
            </p:cNvSpPr>
            <p:nvPr/>
          </p:nvSpPr>
          <p:spPr bwMode="auto">
            <a:xfrm flipV="1">
              <a:off x="3125200" y="3743421"/>
              <a:ext cx="15404" cy="809624"/>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1" name="Line 24"/>
            <p:cNvSpPr>
              <a:spLocks noChangeShapeType="1"/>
            </p:cNvSpPr>
            <p:nvPr/>
          </p:nvSpPr>
          <p:spPr bwMode="auto">
            <a:xfrm flipV="1">
              <a:off x="3896786" y="3745008"/>
              <a:ext cx="12169" cy="1156493"/>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2" name="Line 24"/>
            <p:cNvSpPr>
              <a:spLocks noChangeShapeType="1"/>
            </p:cNvSpPr>
            <p:nvPr/>
          </p:nvSpPr>
          <p:spPr bwMode="auto">
            <a:xfrm flipH="1" flipV="1">
              <a:off x="4534430" y="3745008"/>
              <a:ext cx="0" cy="6937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3" name="Line 24"/>
            <p:cNvSpPr>
              <a:spLocks noChangeShapeType="1"/>
            </p:cNvSpPr>
            <p:nvPr/>
          </p:nvSpPr>
          <p:spPr bwMode="auto">
            <a:xfrm flipH="1" flipV="1">
              <a:off x="6317192" y="3745008"/>
              <a:ext cx="7938" cy="8334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4" name="Line 24"/>
            <p:cNvSpPr>
              <a:spLocks noChangeShapeType="1"/>
            </p:cNvSpPr>
            <p:nvPr/>
          </p:nvSpPr>
          <p:spPr bwMode="auto">
            <a:xfrm flipH="1" flipV="1">
              <a:off x="5326591" y="3745008"/>
              <a:ext cx="14757" cy="1066800"/>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5" name="上下箭头 6"/>
            <p:cNvSpPr>
              <a:spLocks noChangeArrowheads="1"/>
            </p:cNvSpPr>
            <p:nvPr/>
          </p:nvSpPr>
          <p:spPr bwMode="auto">
            <a:xfrm>
              <a:off x="4534430" y="2376583"/>
              <a:ext cx="295275" cy="412750"/>
            </a:xfrm>
            <a:prstGeom prst="upDownArrow">
              <a:avLst>
                <a:gd name="adj1" fmla="val 46315"/>
                <a:gd name="adj2" fmla="val 34836"/>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200"/>
            </a:p>
          </p:txBody>
        </p:sp>
        <p:sp>
          <p:nvSpPr>
            <p:cNvPr id="176" name="Text Box 69"/>
            <p:cNvSpPr txBox="1">
              <a:spLocks noChangeArrowheads="1"/>
            </p:cNvSpPr>
            <p:nvPr/>
          </p:nvSpPr>
          <p:spPr bwMode="auto">
            <a:xfrm>
              <a:off x="1143496" y="4474293"/>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数据</a:t>
              </a:r>
              <a:endParaRPr lang="en-US" altLang="zh-CN" dirty="0"/>
            </a:p>
            <a:p>
              <a:r>
                <a:rPr lang="zh-CN" altLang="en-US" dirty="0"/>
                <a:t>平面</a:t>
              </a:r>
              <a:endParaRPr lang="en-US" altLang="zh-CN" dirty="0"/>
            </a:p>
          </p:txBody>
        </p:sp>
        <p:sp>
          <p:nvSpPr>
            <p:cNvPr id="177" name="Text Box 69"/>
            <p:cNvSpPr txBox="1">
              <a:spLocks noChangeArrowheads="1"/>
            </p:cNvSpPr>
            <p:nvPr/>
          </p:nvSpPr>
          <p:spPr bwMode="auto">
            <a:xfrm>
              <a:off x="1090903" y="3020705"/>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控制</a:t>
              </a:r>
              <a:endParaRPr lang="en-US" altLang="zh-CN" dirty="0"/>
            </a:p>
            <a:p>
              <a:r>
                <a:rPr lang="zh-CN" altLang="en-US" dirty="0"/>
                <a:t>平面</a:t>
              </a:r>
              <a:endParaRPr lang="en-US" altLang="zh-CN" dirty="0"/>
            </a:p>
          </p:txBody>
        </p:sp>
        <p:sp>
          <p:nvSpPr>
            <p:cNvPr id="178" name="Text Box 69"/>
            <p:cNvSpPr txBox="1">
              <a:spLocks noChangeArrowheads="1"/>
            </p:cNvSpPr>
            <p:nvPr/>
          </p:nvSpPr>
          <p:spPr bwMode="auto">
            <a:xfrm>
              <a:off x="4741261" y="2416269"/>
              <a:ext cx="111351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a:t>北向接口</a:t>
              </a:r>
              <a:endParaRPr lang="en-US" altLang="zh-CN" sz="1000"/>
            </a:p>
          </p:txBody>
        </p:sp>
        <p:sp>
          <p:nvSpPr>
            <p:cNvPr id="179" name="Text Box 69"/>
            <p:cNvSpPr txBox="1">
              <a:spLocks noChangeArrowheads="1"/>
            </p:cNvSpPr>
            <p:nvPr/>
          </p:nvSpPr>
          <p:spPr bwMode="auto">
            <a:xfrm>
              <a:off x="1051455" y="1512832"/>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dirty="0" smtClean="0"/>
                <a:t>应用</a:t>
              </a:r>
              <a:endParaRPr lang="en-US" altLang="zh-CN" sz="1000" dirty="0" smtClean="0"/>
            </a:p>
            <a:p>
              <a:pPr algn="ctr" eaLnBrk="1" hangingPunct="1">
                <a:spcBef>
                  <a:spcPct val="0"/>
                </a:spcBef>
                <a:buFontTx/>
                <a:buNone/>
              </a:pPr>
              <a:r>
                <a:rPr lang="zh-CN" altLang="en-US" sz="1000" dirty="0" smtClean="0"/>
                <a:t>平面</a:t>
              </a:r>
              <a:endParaRPr lang="en-US" altLang="zh-CN" sz="1000" dirty="0"/>
            </a:p>
          </p:txBody>
        </p:sp>
        <p:sp>
          <p:nvSpPr>
            <p:cNvPr id="180" name="矩形 8"/>
            <p:cNvSpPr>
              <a:spLocks noChangeArrowheads="1"/>
            </p:cNvSpPr>
            <p:nvPr/>
          </p:nvSpPr>
          <p:spPr bwMode="auto">
            <a:xfrm>
              <a:off x="1607080" y="2882995"/>
              <a:ext cx="1328736" cy="76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网络操作系统</a:t>
              </a:r>
              <a:endParaRPr lang="en-US" altLang="zh-CN" sz="1000" dirty="0"/>
            </a:p>
            <a:p>
              <a:pPr algn="ctr" eaLnBrk="1" hangingPunct="1">
                <a:lnSpc>
                  <a:spcPct val="120000"/>
                </a:lnSpc>
                <a:spcBef>
                  <a:spcPct val="0"/>
                </a:spcBef>
                <a:buFontTx/>
                <a:buNone/>
              </a:pPr>
              <a:r>
                <a:rPr lang="en-US" altLang="zh-CN" sz="1000" dirty="0"/>
                <a:t>(SDN</a:t>
              </a:r>
              <a:r>
                <a:rPr lang="zh-CN" altLang="en-US" sz="1000" dirty="0"/>
                <a:t>控制器</a:t>
              </a:r>
              <a:r>
                <a:rPr lang="en-US" altLang="zh-CN" sz="1000" dirty="0"/>
                <a:t>)</a:t>
              </a:r>
            </a:p>
          </p:txBody>
        </p:sp>
        <p:sp>
          <p:nvSpPr>
            <p:cNvPr id="181" name="矩形 113"/>
            <p:cNvSpPr>
              <a:spLocks noChangeArrowheads="1"/>
            </p:cNvSpPr>
            <p:nvPr/>
          </p:nvSpPr>
          <p:spPr bwMode="auto">
            <a:xfrm>
              <a:off x="1581679" y="1636022"/>
              <a:ext cx="1128695" cy="37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网络应用</a:t>
              </a:r>
              <a:endParaRPr lang="en-US" altLang="zh-CN" sz="1000" dirty="0"/>
            </a:p>
          </p:txBody>
        </p:sp>
        <p:sp>
          <p:nvSpPr>
            <p:cNvPr id="182" name="圆角矩形 181"/>
            <p:cNvSpPr/>
            <p:nvPr/>
          </p:nvSpPr>
          <p:spPr bwMode="auto">
            <a:xfrm>
              <a:off x="2827868" y="1373291"/>
              <a:ext cx="941388" cy="335481"/>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1</a:t>
              </a:r>
              <a:endParaRPr lang="zh-CN" altLang="en-US" sz="900" dirty="0"/>
            </a:p>
          </p:txBody>
        </p:sp>
        <p:sp>
          <p:nvSpPr>
            <p:cNvPr id="183" name="圆角矩形 182"/>
            <p:cNvSpPr/>
            <p:nvPr/>
          </p:nvSpPr>
          <p:spPr bwMode="auto">
            <a:xfrm>
              <a:off x="4156606" y="1367929"/>
              <a:ext cx="1011236" cy="34084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2</a:t>
              </a:r>
              <a:endParaRPr lang="zh-CN" altLang="en-US" sz="900" dirty="0"/>
            </a:p>
          </p:txBody>
        </p:sp>
        <p:sp>
          <p:nvSpPr>
            <p:cNvPr id="184" name="圆角矩形 183"/>
            <p:cNvSpPr/>
            <p:nvPr/>
          </p:nvSpPr>
          <p:spPr bwMode="auto">
            <a:xfrm>
              <a:off x="6275917" y="1367929"/>
              <a:ext cx="911225" cy="296394"/>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i="1" dirty="0"/>
                <a:t>n</a:t>
              </a:r>
              <a:endParaRPr lang="zh-CN" altLang="en-US" sz="900" i="1" dirty="0"/>
            </a:p>
          </p:txBody>
        </p:sp>
        <p:grpSp>
          <p:nvGrpSpPr>
            <p:cNvPr id="185" name="组合 122"/>
            <p:cNvGrpSpPr>
              <a:grpSpLocks/>
            </p:cNvGrpSpPr>
            <p:nvPr/>
          </p:nvGrpSpPr>
          <p:grpSpPr bwMode="auto">
            <a:xfrm>
              <a:off x="5212292" y="2863945"/>
              <a:ext cx="1409700" cy="769938"/>
              <a:chOff x="2493878" y="4797152"/>
              <a:chExt cx="4227265" cy="1944216"/>
            </a:xfrm>
          </p:grpSpPr>
          <p:pic>
            <p:nvPicPr>
              <p:cNvPr id="226"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3878" y="4797152"/>
                <a:ext cx="4227265"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Line 27"/>
              <p:cNvSpPr>
                <a:spLocks noChangeShapeType="1"/>
              </p:cNvSpPr>
              <p:nvPr/>
            </p:nvSpPr>
            <p:spPr bwMode="auto">
              <a:xfrm flipV="1">
                <a:off x="3022169" y="5279005"/>
                <a:ext cx="1452572" cy="486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28" name="Line 25"/>
              <p:cNvSpPr>
                <a:spLocks noChangeShapeType="1"/>
              </p:cNvSpPr>
              <p:nvPr/>
            </p:nvSpPr>
            <p:spPr bwMode="auto">
              <a:xfrm>
                <a:off x="4544582" y="5328220"/>
                <a:ext cx="827086" cy="6927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29" name="Line 26"/>
              <p:cNvSpPr>
                <a:spLocks noChangeShapeType="1"/>
              </p:cNvSpPr>
              <p:nvPr/>
            </p:nvSpPr>
            <p:spPr bwMode="auto">
              <a:xfrm>
                <a:off x="4544582" y="5286870"/>
                <a:ext cx="1746248" cy="4292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30" name="Line 27"/>
              <p:cNvSpPr>
                <a:spLocks noChangeShapeType="1"/>
              </p:cNvSpPr>
              <p:nvPr/>
            </p:nvSpPr>
            <p:spPr bwMode="auto">
              <a:xfrm>
                <a:off x="2880882" y="5898728"/>
                <a:ext cx="996848" cy="2983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31" name="Line 30"/>
              <p:cNvSpPr>
                <a:spLocks noChangeShapeType="1"/>
              </p:cNvSpPr>
              <p:nvPr/>
            </p:nvSpPr>
            <p:spPr bwMode="auto">
              <a:xfrm flipV="1">
                <a:off x="3960280" y="5925716"/>
                <a:ext cx="1411389" cy="2888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32" name="Line 26"/>
              <p:cNvSpPr>
                <a:spLocks noChangeShapeType="1"/>
              </p:cNvSpPr>
              <p:nvPr/>
            </p:nvSpPr>
            <p:spPr bwMode="auto">
              <a:xfrm flipH="1">
                <a:off x="3877731" y="5328219"/>
                <a:ext cx="597010" cy="8370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3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7519" y="5733628"/>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3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7326" y="6082879"/>
                <a:ext cx="5032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3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9831" y="5140408"/>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36" name="Line 25"/>
              <p:cNvSpPr>
                <a:spLocks noChangeShapeType="1"/>
              </p:cNvSpPr>
              <p:nvPr/>
            </p:nvSpPr>
            <p:spPr bwMode="auto">
              <a:xfrm flipV="1">
                <a:off x="5371669" y="5765376"/>
                <a:ext cx="919162" cy="1944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3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7818" y="5855072"/>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3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1594" y="5601865"/>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86" name="矩形 136"/>
            <p:cNvSpPr>
              <a:spLocks noChangeArrowheads="1"/>
            </p:cNvSpPr>
            <p:nvPr/>
          </p:nvSpPr>
          <p:spPr bwMode="auto">
            <a:xfrm>
              <a:off x="6498168" y="2943319"/>
              <a:ext cx="1133474" cy="6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20000"/>
                </a:lnSpc>
                <a:spcBef>
                  <a:spcPct val="0"/>
                </a:spcBef>
                <a:buFontTx/>
                <a:buNone/>
              </a:pPr>
              <a:r>
                <a:rPr lang="zh-CN" altLang="en-US" sz="1000" dirty="0"/>
                <a:t>全局网</a:t>
              </a:r>
              <a:endParaRPr lang="en-US" altLang="zh-CN" sz="1000" dirty="0"/>
            </a:p>
            <a:p>
              <a:pPr marL="0" lvl="1" algn="ctr" eaLnBrk="1" hangingPunct="1">
                <a:lnSpc>
                  <a:spcPct val="120000"/>
                </a:lnSpc>
                <a:spcBef>
                  <a:spcPct val="0"/>
                </a:spcBef>
                <a:buFontTx/>
                <a:buNone/>
              </a:pPr>
              <a:r>
                <a:rPr lang="zh-CN" altLang="en-US" sz="1000" dirty="0"/>
                <a:t>络视图</a:t>
              </a:r>
              <a:endParaRPr lang="en-US" altLang="zh-CN" sz="1000" dirty="0"/>
            </a:p>
          </p:txBody>
        </p:sp>
        <p:sp>
          <p:nvSpPr>
            <p:cNvPr id="187" name="圆角矩形 186"/>
            <p:cNvSpPr/>
            <p:nvPr/>
          </p:nvSpPr>
          <p:spPr bwMode="auto">
            <a:xfrm>
              <a:off x="4461405" y="2924270"/>
              <a:ext cx="4540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en-US" altLang="zh-CN" sz="900" dirty="0"/>
                <a:t>…</a:t>
              </a:r>
              <a:endParaRPr lang="zh-CN" altLang="en-US" sz="900" dirty="0"/>
            </a:p>
          </p:txBody>
        </p:sp>
        <p:sp>
          <p:nvSpPr>
            <p:cNvPr id="188" name="圆角矩形 187"/>
            <p:cNvSpPr/>
            <p:nvPr/>
          </p:nvSpPr>
          <p:spPr bwMode="auto">
            <a:xfrm>
              <a:off x="3742267" y="2924270"/>
              <a:ext cx="487363"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路由计算</a:t>
              </a:r>
            </a:p>
          </p:txBody>
        </p:sp>
        <p:sp>
          <p:nvSpPr>
            <p:cNvPr id="189" name="圆角矩形 188"/>
            <p:cNvSpPr/>
            <p:nvPr/>
          </p:nvSpPr>
          <p:spPr bwMode="auto">
            <a:xfrm>
              <a:off x="3034242" y="2924270"/>
              <a:ext cx="4921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a:t>拓扑发现</a:t>
              </a:r>
              <a:endParaRPr lang="zh-CN" altLang="en-US" sz="900" dirty="0"/>
            </a:p>
          </p:txBody>
        </p:sp>
        <p:grpSp>
          <p:nvGrpSpPr>
            <p:cNvPr id="190" name="组合 3"/>
            <p:cNvGrpSpPr>
              <a:grpSpLocks/>
            </p:cNvGrpSpPr>
            <p:nvPr/>
          </p:nvGrpSpPr>
          <p:grpSpPr bwMode="auto">
            <a:xfrm>
              <a:off x="2977092" y="1782694"/>
              <a:ext cx="981075" cy="433551"/>
              <a:chOff x="2771800" y="1864953"/>
              <a:chExt cx="980513" cy="598848"/>
            </a:xfrm>
          </p:grpSpPr>
          <p:pic>
            <p:nvPicPr>
              <p:cNvPr id="216"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1800" y="1864953"/>
                <a:ext cx="980513" cy="59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Line 25"/>
              <p:cNvSpPr>
                <a:spLocks noChangeShapeType="1"/>
              </p:cNvSpPr>
              <p:nvPr/>
            </p:nvSpPr>
            <p:spPr bwMode="auto">
              <a:xfrm>
                <a:off x="3158353" y="2028530"/>
                <a:ext cx="225703" cy="2133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18" name="Line 26"/>
              <p:cNvSpPr>
                <a:spLocks noChangeShapeType="1"/>
              </p:cNvSpPr>
              <p:nvPr/>
            </p:nvSpPr>
            <p:spPr bwMode="auto">
              <a:xfrm>
                <a:off x="3158353" y="2015794"/>
                <a:ext cx="476533" cy="1322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19" name="Line 30"/>
              <p:cNvSpPr>
                <a:spLocks noChangeShapeType="1"/>
              </p:cNvSpPr>
              <p:nvPr/>
            </p:nvSpPr>
            <p:spPr bwMode="auto">
              <a:xfrm flipV="1">
                <a:off x="2998904" y="2212568"/>
                <a:ext cx="385153" cy="889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20" name="Line 26"/>
              <p:cNvSpPr>
                <a:spLocks noChangeShapeType="1"/>
              </p:cNvSpPr>
              <p:nvPr/>
            </p:nvSpPr>
            <p:spPr bwMode="auto">
              <a:xfrm flipH="1">
                <a:off x="2976377" y="2028530"/>
                <a:ext cx="162918" cy="2578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2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0773" y="2260976"/>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22"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5190" y="1970681"/>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23" name="Line 25"/>
              <p:cNvSpPr>
                <a:spLocks noChangeShapeType="1"/>
              </p:cNvSpPr>
              <p:nvPr/>
            </p:nvSpPr>
            <p:spPr bwMode="auto">
              <a:xfrm flipV="1">
                <a:off x="3384057" y="2163181"/>
                <a:ext cx="250830" cy="59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2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5681" y="2190808"/>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2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6872" y="2112817"/>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91" name="组合 1"/>
            <p:cNvGrpSpPr>
              <a:grpSpLocks/>
            </p:cNvGrpSpPr>
            <p:nvPr/>
          </p:nvGrpSpPr>
          <p:grpSpPr bwMode="auto">
            <a:xfrm>
              <a:off x="4407430" y="1838420"/>
              <a:ext cx="1062037" cy="439738"/>
              <a:chOff x="4584568" y="1881503"/>
              <a:chExt cx="1062760" cy="644690"/>
            </a:xfrm>
          </p:grpSpPr>
          <p:pic>
            <p:nvPicPr>
              <p:cNvPr id="207"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4568" y="1881503"/>
                <a:ext cx="1062760" cy="64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Line 27"/>
              <p:cNvSpPr>
                <a:spLocks noChangeShapeType="1"/>
              </p:cNvSpPr>
              <p:nvPr/>
            </p:nvSpPr>
            <p:spPr bwMode="auto">
              <a:xfrm flipV="1">
                <a:off x="4717384" y="2041282"/>
                <a:ext cx="365185" cy="161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09" name="Line 25"/>
              <p:cNvSpPr>
                <a:spLocks noChangeShapeType="1"/>
              </p:cNvSpPr>
              <p:nvPr/>
            </p:nvSpPr>
            <p:spPr bwMode="auto">
              <a:xfrm>
                <a:off x="5100127" y="2057602"/>
                <a:ext cx="140535" cy="3086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10" name="Line 26"/>
              <p:cNvSpPr>
                <a:spLocks noChangeShapeType="1"/>
              </p:cNvSpPr>
              <p:nvPr/>
            </p:nvSpPr>
            <p:spPr bwMode="auto">
              <a:xfrm>
                <a:off x="5100127" y="2043890"/>
                <a:ext cx="439017" cy="1423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1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3194" y="2192033"/>
                <a:ext cx="126916"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2"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3511" y="1995325"/>
                <a:ext cx="126517" cy="95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13" name="Line 25"/>
              <p:cNvSpPr>
                <a:spLocks noChangeShapeType="1"/>
              </p:cNvSpPr>
              <p:nvPr/>
            </p:nvSpPr>
            <p:spPr bwMode="auto">
              <a:xfrm flipV="1">
                <a:off x="5265670" y="2202559"/>
                <a:ext cx="273476" cy="147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1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70653" y="2328672"/>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6485" y="2148341"/>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92" name="组合 2"/>
            <p:cNvGrpSpPr>
              <a:grpSpLocks/>
            </p:cNvGrpSpPr>
            <p:nvPr/>
          </p:nvGrpSpPr>
          <p:grpSpPr bwMode="auto">
            <a:xfrm>
              <a:off x="6468005" y="1782694"/>
              <a:ext cx="874712" cy="441489"/>
              <a:chOff x="6386505" y="1851028"/>
              <a:chExt cx="873749" cy="620713"/>
            </a:xfrm>
          </p:grpSpPr>
          <p:pic>
            <p:nvPicPr>
              <p:cNvPr id="200"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86505" y="1851028"/>
                <a:ext cx="873749"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Line 25"/>
              <p:cNvSpPr>
                <a:spLocks noChangeShapeType="1"/>
              </p:cNvSpPr>
              <p:nvPr/>
            </p:nvSpPr>
            <p:spPr bwMode="auto">
              <a:xfrm>
                <a:off x="6724062" y="2030252"/>
                <a:ext cx="80186" cy="3093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02" name="Line 26"/>
              <p:cNvSpPr>
                <a:spLocks noChangeShapeType="1"/>
              </p:cNvSpPr>
              <p:nvPr/>
            </p:nvSpPr>
            <p:spPr bwMode="auto">
              <a:xfrm>
                <a:off x="6724062" y="2015680"/>
                <a:ext cx="448023" cy="15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0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5874" y="1964062"/>
                <a:ext cx="129112" cy="10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04" name="Line 25"/>
              <p:cNvSpPr>
                <a:spLocks noChangeShapeType="1"/>
              </p:cNvSpPr>
              <p:nvPr/>
            </p:nvSpPr>
            <p:spPr bwMode="auto">
              <a:xfrm flipV="1">
                <a:off x="6804248" y="2184319"/>
                <a:ext cx="367837" cy="14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0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6984" y="2299301"/>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0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8140" y="2126693"/>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93" name="Text Box 69"/>
            <p:cNvSpPr txBox="1">
              <a:spLocks noChangeArrowheads="1"/>
            </p:cNvSpPr>
            <p:nvPr/>
          </p:nvSpPr>
          <p:spPr bwMode="auto">
            <a:xfrm>
              <a:off x="5434584" y="1317986"/>
              <a:ext cx="70413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000" dirty="0"/>
                <a:t>……</a:t>
              </a:r>
            </a:p>
          </p:txBody>
        </p:sp>
        <p:sp>
          <p:nvSpPr>
            <p:cNvPr id="194" name="矩形 136"/>
            <p:cNvSpPr>
              <a:spLocks noChangeArrowheads="1"/>
            </p:cNvSpPr>
            <p:nvPr/>
          </p:nvSpPr>
          <p:spPr bwMode="auto">
            <a:xfrm>
              <a:off x="5421841" y="1762220"/>
              <a:ext cx="1133474" cy="59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10000"/>
                </a:lnSpc>
                <a:spcBef>
                  <a:spcPct val="0"/>
                </a:spcBef>
                <a:buFontTx/>
                <a:buNone/>
              </a:pPr>
              <a:r>
                <a:rPr lang="zh-CN" altLang="en-US" sz="1000" dirty="0"/>
                <a:t>抽象网</a:t>
              </a:r>
              <a:endParaRPr lang="en-US" altLang="zh-CN" sz="1000" dirty="0"/>
            </a:p>
            <a:p>
              <a:pPr marL="0" lvl="1" algn="ctr" eaLnBrk="1" hangingPunct="1">
                <a:lnSpc>
                  <a:spcPct val="110000"/>
                </a:lnSpc>
                <a:spcBef>
                  <a:spcPct val="0"/>
                </a:spcBef>
                <a:buFontTx/>
                <a:buNone/>
              </a:pPr>
              <a:r>
                <a:rPr lang="zh-CN" altLang="en-US" sz="1000" dirty="0" smtClean="0"/>
                <a:t>络视图</a:t>
              </a:r>
              <a:endParaRPr lang="en-US" altLang="zh-CN" sz="1000" dirty="0"/>
            </a:p>
          </p:txBody>
        </p:sp>
        <p:sp>
          <p:nvSpPr>
            <p:cNvPr id="195" name="Cloud 4"/>
            <p:cNvSpPr>
              <a:spLocks noChangeArrowheads="1"/>
            </p:cNvSpPr>
            <p:nvPr/>
          </p:nvSpPr>
          <p:spPr bwMode="auto">
            <a:xfrm>
              <a:off x="2234142" y="4257770"/>
              <a:ext cx="4646613" cy="865188"/>
            </a:xfrm>
            <a:custGeom>
              <a:avLst/>
              <a:gdLst>
                <a:gd name="T0" fmla="*/ 2147483646 w 43200"/>
                <a:gd name="T1" fmla="*/ 2147483646 h 43200"/>
                <a:gd name="T2" fmla="*/ 2147483646 w 43200"/>
                <a:gd name="T3" fmla="*/ 2147483646 h 43200"/>
                <a:gd name="T4" fmla="*/ 2147483646 w 43200"/>
                <a:gd name="T5" fmla="*/ 2147483646 h 43200"/>
                <a:gd name="T6" fmla="*/ 2147483646 w 43200"/>
                <a:gd name="T7" fmla="*/ 2147483646 h 43200"/>
                <a:gd name="T8" fmla="*/ 0 60000 65536"/>
                <a:gd name="T9" fmla="*/ 0 60000 65536"/>
                <a:gd name="T10" fmla="*/ 0 60000 65536"/>
                <a:gd name="T11" fmla="*/ 0 60000 65536"/>
                <a:gd name="T12" fmla="*/ 5954 w 43200"/>
                <a:gd name="T13" fmla="*/ 6524 h 43200"/>
                <a:gd name="T14" fmla="*/ 34174 w 43200"/>
                <a:gd name="T15" fmla="*/ 34674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lnTo>
                    <a:pt x="3900" y="14370"/>
                  </a:ln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noFill/>
            <a:ln w="9525">
              <a:solidFill>
                <a:schemeClr val="tx1"/>
              </a:solidFill>
              <a:miter lim="800000"/>
              <a:headEnd/>
              <a:tailEnd/>
            </a:ln>
            <a:effectLst>
              <a:outerShdw dist="23000" dir="5400000" rotWithShape="0">
                <a:srgbClr val="808080">
                  <a:alpha val="34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sz="1050"/>
            </a:p>
          </p:txBody>
        </p:sp>
        <p:pic>
          <p:nvPicPr>
            <p:cNvPr id="19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5187" y="4888103"/>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9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2711" y="4461860"/>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9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6729" y="4811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9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5103" y="4553045"/>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239" name="Rectangle 8"/>
          <p:cNvSpPr>
            <a:spLocks noChangeArrowheads="1"/>
          </p:cNvSpPr>
          <p:nvPr/>
        </p:nvSpPr>
        <p:spPr bwMode="auto">
          <a:xfrm>
            <a:off x="545145" y="1009413"/>
            <a:ext cx="352620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通过逻辑上集中的控制器，</a:t>
            </a:r>
            <a:r>
              <a:rPr lang="en-US" altLang="zh-CN" b="1" dirty="0" smtClean="0">
                <a:latin typeface="微软雅黑" pitchFamily="34" charset="-122"/>
                <a:ea typeface="微软雅黑" pitchFamily="34" charset="-122"/>
              </a:rPr>
              <a:t>SDN </a:t>
            </a:r>
            <a:r>
              <a:rPr lang="zh-CN" altLang="en-US" b="1" dirty="0" smtClean="0">
                <a:latin typeface="微软雅黑" pitchFamily="34" charset="-122"/>
                <a:ea typeface="微软雅黑" pitchFamily="34" charset="-122"/>
              </a:rPr>
              <a:t>实现</a:t>
            </a:r>
            <a:r>
              <a:rPr lang="zh-CN" altLang="en-US" b="1" dirty="0">
                <a:latin typeface="微软雅黑" pitchFamily="34" charset="-122"/>
                <a:ea typeface="微软雅黑" pitchFamily="34" charset="-122"/>
              </a:rPr>
              <a:t>了</a:t>
            </a:r>
            <a:r>
              <a:rPr lang="zh-CN" altLang="en-US" b="1" dirty="0">
                <a:solidFill>
                  <a:srgbClr val="C00000"/>
                </a:solidFill>
                <a:latin typeface="微软雅黑" pitchFamily="34" charset="-122"/>
                <a:ea typeface="微软雅黑" pitchFamily="34" charset="-122"/>
              </a:rPr>
              <a:t>网络状态抽象</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742950" lvl="1" indent="-285750" algn="just">
              <a:lnSpc>
                <a:spcPts val="2800"/>
              </a:lnSpc>
              <a:buClr>
                <a:srgbClr val="0070C0"/>
              </a:buClr>
              <a:buFont typeface="Wingdings" pitchFamily="2" charset="2"/>
              <a:buChar char="l"/>
            </a:pPr>
            <a:r>
              <a:rPr lang="en-US" altLang="zh-CN" sz="1600" b="1" dirty="0" smtClean="0">
                <a:latin typeface="微软雅黑" pitchFamily="34" charset="-122"/>
                <a:ea typeface="微软雅黑" pitchFamily="34" charset="-122"/>
              </a:rPr>
              <a:t>SDN </a:t>
            </a:r>
            <a:r>
              <a:rPr lang="zh-CN" altLang="en-US" sz="1600" b="1" dirty="0" smtClean="0">
                <a:latin typeface="微软雅黑" pitchFamily="34" charset="-122"/>
                <a:ea typeface="微软雅黑" pitchFamily="34" charset="-122"/>
              </a:rPr>
              <a:t>控制器</a:t>
            </a:r>
            <a:r>
              <a:rPr lang="zh-CN" altLang="en-US" sz="1600" b="1" dirty="0">
                <a:latin typeface="微软雅黑" pitchFamily="34" charset="-122"/>
                <a:ea typeface="微软雅黑" pitchFamily="34" charset="-122"/>
              </a:rPr>
              <a:t>收集并处理数据平面的状态信息，形成</a:t>
            </a:r>
            <a:r>
              <a:rPr lang="zh-CN" altLang="en-US" sz="1600" b="1" dirty="0">
                <a:solidFill>
                  <a:srgbClr val="C00000"/>
                </a:solidFill>
                <a:latin typeface="微软雅黑" pitchFamily="34" charset="-122"/>
                <a:ea typeface="微软雅黑" pitchFamily="34" charset="-122"/>
              </a:rPr>
              <a:t>全局网络</a:t>
            </a:r>
            <a:r>
              <a:rPr lang="zh-CN" altLang="en-US" sz="1600" b="1" dirty="0" smtClean="0">
                <a:solidFill>
                  <a:srgbClr val="C00000"/>
                </a:solidFill>
                <a:latin typeface="微软雅黑" pitchFamily="34" charset="-122"/>
                <a:ea typeface="微软雅黑" pitchFamily="34" charset="-122"/>
              </a:rPr>
              <a:t>视图</a:t>
            </a:r>
            <a:r>
              <a:rPr lang="zh-CN" altLang="en-US" sz="1600" b="1" dirty="0" smtClean="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gn="just">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根据决策结果向网络设备下发控制指令，将网络的分布式控制转化为</a:t>
            </a:r>
            <a:r>
              <a:rPr lang="zh-CN" altLang="en-US" sz="1600" b="1" dirty="0">
                <a:solidFill>
                  <a:srgbClr val="C00000"/>
                </a:solidFill>
                <a:latin typeface="微软雅黑" pitchFamily="34" charset="-122"/>
                <a:ea typeface="微软雅黑" pitchFamily="34" charset="-122"/>
              </a:rPr>
              <a:t>逻辑上的集中控制</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34339566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8" name="Rectangle 6"/>
          <p:cNvSpPr>
            <a:spLocks noChangeArrowheads="1"/>
          </p:cNvSpPr>
          <p:nvPr/>
        </p:nvSpPr>
        <p:spPr bwMode="auto">
          <a:xfrm>
            <a:off x="2549659" y="576646"/>
            <a:ext cx="40446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中的网络功能抽象表示</a:t>
            </a:r>
          </a:p>
        </p:txBody>
      </p:sp>
      <p:grpSp>
        <p:nvGrpSpPr>
          <p:cNvPr id="158" name="组合 157"/>
          <p:cNvGrpSpPr/>
          <p:nvPr/>
        </p:nvGrpSpPr>
        <p:grpSpPr>
          <a:xfrm>
            <a:off x="4438496" y="1372698"/>
            <a:ext cx="4160360" cy="2139027"/>
            <a:chOff x="1051455" y="1274517"/>
            <a:chExt cx="6640512" cy="3936017"/>
          </a:xfrm>
        </p:grpSpPr>
        <p:sp>
          <p:nvSpPr>
            <p:cNvPr id="159" name="Line 27"/>
            <p:cNvSpPr>
              <a:spLocks noChangeShapeType="1"/>
            </p:cNvSpPr>
            <p:nvPr/>
          </p:nvSpPr>
          <p:spPr bwMode="auto">
            <a:xfrm flipV="1">
              <a:off x="3204327" y="4578443"/>
              <a:ext cx="1304704" cy="102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0" name="Line 25"/>
            <p:cNvSpPr>
              <a:spLocks noChangeShapeType="1"/>
            </p:cNvSpPr>
            <p:nvPr/>
          </p:nvSpPr>
          <p:spPr bwMode="auto">
            <a:xfrm>
              <a:off x="4578881" y="4627658"/>
              <a:ext cx="677860" cy="2738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1" name="Line 26"/>
            <p:cNvSpPr>
              <a:spLocks noChangeShapeType="1"/>
            </p:cNvSpPr>
            <p:nvPr/>
          </p:nvSpPr>
          <p:spPr bwMode="auto">
            <a:xfrm>
              <a:off x="4578880" y="4586383"/>
              <a:ext cx="1546223" cy="364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2" name="Line 27"/>
            <p:cNvSpPr>
              <a:spLocks noChangeShapeType="1"/>
            </p:cNvSpPr>
            <p:nvPr/>
          </p:nvSpPr>
          <p:spPr bwMode="auto">
            <a:xfrm>
              <a:off x="3204326" y="4627658"/>
              <a:ext cx="655418"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3" name="Line 30"/>
            <p:cNvSpPr>
              <a:spLocks noChangeShapeType="1"/>
            </p:cNvSpPr>
            <p:nvPr/>
          </p:nvSpPr>
          <p:spPr bwMode="auto">
            <a:xfrm flipV="1">
              <a:off x="3929593" y="4906359"/>
              <a:ext cx="1282700" cy="1037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4" name="Line 26"/>
            <p:cNvSpPr>
              <a:spLocks noChangeShapeType="1"/>
            </p:cNvSpPr>
            <p:nvPr/>
          </p:nvSpPr>
          <p:spPr bwMode="auto">
            <a:xfrm flipH="1">
              <a:off x="3929592" y="4627658"/>
              <a:ext cx="579437"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6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0580" y="4557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66" name="Line 25"/>
            <p:cNvSpPr>
              <a:spLocks noChangeShapeType="1"/>
            </p:cNvSpPr>
            <p:nvPr/>
          </p:nvSpPr>
          <p:spPr bwMode="auto">
            <a:xfrm flipV="1">
              <a:off x="5431876" y="4680933"/>
              <a:ext cx="751968" cy="2254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67" name="Text Box 69"/>
            <p:cNvSpPr txBox="1">
              <a:spLocks noChangeArrowheads="1"/>
            </p:cNvSpPr>
            <p:nvPr/>
          </p:nvSpPr>
          <p:spPr bwMode="auto">
            <a:xfrm>
              <a:off x="6346984" y="3799776"/>
              <a:ext cx="1297730"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dirty="0"/>
                <a:t>南向接口</a:t>
              </a:r>
              <a:endParaRPr lang="en-US" altLang="zh-CN" sz="1000" dirty="0"/>
            </a:p>
            <a:p>
              <a:pPr algn="ctr" eaLnBrk="1" hangingPunct="1">
                <a:spcBef>
                  <a:spcPct val="0"/>
                </a:spcBef>
                <a:buFontTx/>
                <a:buNone/>
              </a:pPr>
              <a:r>
                <a:rPr lang="en-US" altLang="zh-CN" sz="1000" dirty="0"/>
                <a:t>(OpenFlow)</a:t>
              </a:r>
            </a:p>
          </p:txBody>
        </p:sp>
        <p:sp>
          <p:nvSpPr>
            <p:cNvPr id="168" name="Rounded Rectangle 78"/>
            <p:cNvSpPr/>
            <p:nvPr/>
          </p:nvSpPr>
          <p:spPr>
            <a:xfrm>
              <a:off x="1581680" y="2805208"/>
              <a:ext cx="6110287" cy="939800"/>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169" name="Rounded Rectangle 78"/>
            <p:cNvSpPr/>
            <p:nvPr/>
          </p:nvSpPr>
          <p:spPr>
            <a:xfrm>
              <a:off x="1581680" y="1274517"/>
              <a:ext cx="6110287" cy="1103652"/>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170" name="Line 24"/>
            <p:cNvSpPr>
              <a:spLocks noChangeShapeType="1"/>
            </p:cNvSpPr>
            <p:nvPr/>
          </p:nvSpPr>
          <p:spPr bwMode="auto">
            <a:xfrm flipV="1">
              <a:off x="3125200" y="3743421"/>
              <a:ext cx="15404" cy="809624"/>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1" name="Line 24"/>
            <p:cNvSpPr>
              <a:spLocks noChangeShapeType="1"/>
            </p:cNvSpPr>
            <p:nvPr/>
          </p:nvSpPr>
          <p:spPr bwMode="auto">
            <a:xfrm flipV="1">
              <a:off x="3896786" y="3745008"/>
              <a:ext cx="12169" cy="1156493"/>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2" name="Line 24"/>
            <p:cNvSpPr>
              <a:spLocks noChangeShapeType="1"/>
            </p:cNvSpPr>
            <p:nvPr/>
          </p:nvSpPr>
          <p:spPr bwMode="auto">
            <a:xfrm flipH="1" flipV="1">
              <a:off x="4534430" y="3745008"/>
              <a:ext cx="0" cy="6937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3" name="Line 24"/>
            <p:cNvSpPr>
              <a:spLocks noChangeShapeType="1"/>
            </p:cNvSpPr>
            <p:nvPr/>
          </p:nvSpPr>
          <p:spPr bwMode="auto">
            <a:xfrm flipH="1" flipV="1">
              <a:off x="6317192" y="3745008"/>
              <a:ext cx="7938" cy="8334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4" name="Line 24"/>
            <p:cNvSpPr>
              <a:spLocks noChangeShapeType="1"/>
            </p:cNvSpPr>
            <p:nvPr/>
          </p:nvSpPr>
          <p:spPr bwMode="auto">
            <a:xfrm flipH="1" flipV="1">
              <a:off x="5326591" y="3745008"/>
              <a:ext cx="14757" cy="1066800"/>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175" name="上下箭头 6"/>
            <p:cNvSpPr>
              <a:spLocks noChangeArrowheads="1"/>
            </p:cNvSpPr>
            <p:nvPr/>
          </p:nvSpPr>
          <p:spPr bwMode="auto">
            <a:xfrm>
              <a:off x="4534430" y="2376583"/>
              <a:ext cx="295275" cy="412750"/>
            </a:xfrm>
            <a:prstGeom prst="upDownArrow">
              <a:avLst>
                <a:gd name="adj1" fmla="val 46315"/>
                <a:gd name="adj2" fmla="val 34836"/>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200"/>
            </a:p>
          </p:txBody>
        </p:sp>
        <p:sp>
          <p:nvSpPr>
            <p:cNvPr id="176" name="Text Box 69"/>
            <p:cNvSpPr txBox="1">
              <a:spLocks noChangeArrowheads="1"/>
            </p:cNvSpPr>
            <p:nvPr/>
          </p:nvSpPr>
          <p:spPr bwMode="auto">
            <a:xfrm>
              <a:off x="1143496" y="4474293"/>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数据</a:t>
              </a:r>
              <a:endParaRPr lang="en-US" altLang="zh-CN" dirty="0"/>
            </a:p>
            <a:p>
              <a:r>
                <a:rPr lang="zh-CN" altLang="en-US" dirty="0"/>
                <a:t>平面</a:t>
              </a:r>
              <a:endParaRPr lang="en-US" altLang="zh-CN" dirty="0"/>
            </a:p>
          </p:txBody>
        </p:sp>
        <p:sp>
          <p:nvSpPr>
            <p:cNvPr id="177" name="Text Box 69"/>
            <p:cNvSpPr txBox="1">
              <a:spLocks noChangeArrowheads="1"/>
            </p:cNvSpPr>
            <p:nvPr/>
          </p:nvSpPr>
          <p:spPr bwMode="auto">
            <a:xfrm>
              <a:off x="1090903" y="3020705"/>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控制</a:t>
              </a:r>
              <a:endParaRPr lang="en-US" altLang="zh-CN" dirty="0"/>
            </a:p>
            <a:p>
              <a:r>
                <a:rPr lang="zh-CN" altLang="en-US" dirty="0"/>
                <a:t>平面</a:t>
              </a:r>
              <a:endParaRPr lang="en-US" altLang="zh-CN" dirty="0"/>
            </a:p>
          </p:txBody>
        </p:sp>
        <p:sp>
          <p:nvSpPr>
            <p:cNvPr id="178" name="Text Box 69"/>
            <p:cNvSpPr txBox="1">
              <a:spLocks noChangeArrowheads="1"/>
            </p:cNvSpPr>
            <p:nvPr/>
          </p:nvSpPr>
          <p:spPr bwMode="auto">
            <a:xfrm>
              <a:off x="4741261" y="2416269"/>
              <a:ext cx="111351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a:t>北向接口</a:t>
              </a:r>
              <a:endParaRPr lang="en-US" altLang="zh-CN" sz="1000"/>
            </a:p>
          </p:txBody>
        </p:sp>
        <p:sp>
          <p:nvSpPr>
            <p:cNvPr id="179" name="Text Box 69"/>
            <p:cNvSpPr txBox="1">
              <a:spLocks noChangeArrowheads="1"/>
            </p:cNvSpPr>
            <p:nvPr/>
          </p:nvSpPr>
          <p:spPr bwMode="auto">
            <a:xfrm>
              <a:off x="1051455" y="1512832"/>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dirty="0" smtClean="0"/>
                <a:t>应用</a:t>
              </a:r>
              <a:endParaRPr lang="en-US" altLang="zh-CN" sz="1000" dirty="0" smtClean="0"/>
            </a:p>
            <a:p>
              <a:pPr algn="ctr" eaLnBrk="1" hangingPunct="1">
                <a:spcBef>
                  <a:spcPct val="0"/>
                </a:spcBef>
                <a:buFontTx/>
                <a:buNone/>
              </a:pPr>
              <a:r>
                <a:rPr lang="zh-CN" altLang="en-US" sz="1000" dirty="0" smtClean="0"/>
                <a:t>平面</a:t>
              </a:r>
              <a:endParaRPr lang="en-US" altLang="zh-CN" sz="1000" dirty="0"/>
            </a:p>
          </p:txBody>
        </p:sp>
        <p:sp>
          <p:nvSpPr>
            <p:cNvPr id="180" name="矩形 8"/>
            <p:cNvSpPr>
              <a:spLocks noChangeArrowheads="1"/>
            </p:cNvSpPr>
            <p:nvPr/>
          </p:nvSpPr>
          <p:spPr bwMode="auto">
            <a:xfrm>
              <a:off x="1607080" y="2882995"/>
              <a:ext cx="1328736" cy="76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网络操作系统</a:t>
              </a:r>
              <a:endParaRPr lang="en-US" altLang="zh-CN" sz="1000" dirty="0"/>
            </a:p>
            <a:p>
              <a:pPr algn="ctr" eaLnBrk="1" hangingPunct="1">
                <a:lnSpc>
                  <a:spcPct val="120000"/>
                </a:lnSpc>
                <a:spcBef>
                  <a:spcPct val="0"/>
                </a:spcBef>
                <a:buFontTx/>
                <a:buNone/>
              </a:pPr>
              <a:r>
                <a:rPr lang="en-US" altLang="zh-CN" sz="1000" dirty="0"/>
                <a:t>(SDN</a:t>
              </a:r>
              <a:r>
                <a:rPr lang="zh-CN" altLang="en-US" sz="1000" dirty="0"/>
                <a:t>控制器</a:t>
              </a:r>
              <a:r>
                <a:rPr lang="en-US" altLang="zh-CN" sz="1000" dirty="0"/>
                <a:t>)</a:t>
              </a:r>
            </a:p>
          </p:txBody>
        </p:sp>
        <p:sp>
          <p:nvSpPr>
            <p:cNvPr id="181" name="矩形 113"/>
            <p:cNvSpPr>
              <a:spLocks noChangeArrowheads="1"/>
            </p:cNvSpPr>
            <p:nvPr/>
          </p:nvSpPr>
          <p:spPr bwMode="auto">
            <a:xfrm>
              <a:off x="1581679" y="1636022"/>
              <a:ext cx="1128695" cy="37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网络应用</a:t>
              </a:r>
              <a:endParaRPr lang="en-US" altLang="zh-CN" sz="1000" dirty="0"/>
            </a:p>
          </p:txBody>
        </p:sp>
        <p:sp>
          <p:nvSpPr>
            <p:cNvPr id="182" name="圆角矩形 181"/>
            <p:cNvSpPr/>
            <p:nvPr/>
          </p:nvSpPr>
          <p:spPr bwMode="auto">
            <a:xfrm>
              <a:off x="2827868" y="1373291"/>
              <a:ext cx="941388" cy="335481"/>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1</a:t>
              </a:r>
              <a:endParaRPr lang="zh-CN" altLang="en-US" sz="900" dirty="0"/>
            </a:p>
          </p:txBody>
        </p:sp>
        <p:sp>
          <p:nvSpPr>
            <p:cNvPr id="183" name="圆角矩形 182"/>
            <p:cNvSpPr/>
            <p:nvPr/>
          </p:nvSpPr>
          <p:spPr bwMode="auto">
            <a:xfrm>
              <a:off x="4156606" y="1367929"/>
              <a:ext cx="1011236" cy="34084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2</a:t>
              </a:r>
              <a:endParaRPr lang="zh-CN" altLang="en-US" sz="900" dirty="0"/>
            </a:p>
          </p:txBody>
        </p:sp>
        <p:sp>
          <p:nvSpPr>
            <p:cNvPr id="184" name="圆角矩形 183"/>
            <p:cNvSpPr/>
            <p:nvPr/>
          </p:nvSpPr>
          <p:spPr bwMode="auto">
            <a:xfrm>
              <a:off x="6275917" y="1367929"/>
              <a:ext cx="911225" cy="296394"/>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i="1" dirty="0"/>
                <a:t>n</a:t>
              </a:r>
              <a:endParaRPr lang="zh-CN" altLang="en-US" sz="900" i="1" dirty="0"/>
            </a:p>
          </p:txBody>
        </p:sp>
        <p:grpSp>
          <p:nvGrpSpPr>
            <p:cNvPr id="185" name="组合 122"/>
            <p:cNvGrpSpPr>
              <a:grpSpLocks/>
            </p:cNvGrpSpPr>
            <p:nvPr/>
          </p:nvGrpSpPr>
          <p:grpSpPr bwMode="auto">
            <a:xfrm>
              <a:off x="5212292" y="2863945"/>
              <a:ext cx="1409700" cy="769938"/>
              <a:chOff x="2493878" y="4797152"/>
              <a:chExt cx="4227265" cy="1944216"/>
            </a:xfrm>
          </p:grpSpPr>
          <p:pic>
            <p:nvPicPr>
              <p:cNvPr id="226"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3878" y="4797152"/>
                <a:ext cx="4227265"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 name="Line 27"/>
              <p:cNvSpPr>
                <a:spLocks noChangeShapeType="1"/>
              </p:cNvSpPr>
              <p:nvPr/>
            </p:nvSpPr>
            <p:spPr bwMode="auto">
              <a:xfrm flipV="1">
                <a:off x="3022169" y="5279005"/>
                <a:ext cx="1452572" cy="486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28" name="Line 25"/>
              <p:cNvSpPr>
                <a:spLocks noChangeShapeType="1"/>
              </p:cNvSpPr>
              <p:nvPr/>
            </p:nvSpPr>
            <p:spPr bwMode="auto">
              <a:xfrm>
                <a:off x="4544582" y="5328220"/>
                <a:ext cx="827086" cy="6927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29" name="Line 26"/>
              <p:cNvSpPr>
                <a:spLocks noChangeShapeType="1"/>
              </p:cNvSpPr>
              <p:nvPr/>
            </p:nvSpPr>
            <p:spPr bwMode="auto">
              <a:xfrm>
                <a:off x="4544582" y="5286870"/>
                <a:ext cx="1746248" cy="4292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30" name="Line 27"/>
              <p:cNvSpPr>
                <a:spLocks noChangeShapeType="1"/>
              </p:cNvSpPr>
              <p:nvPr/>
            </p:nvSpPr>
            <p:spPr bwMode="auto">
              <a:xfrm>
                <a:off x="2880882" y="5898728"/>
                <a:ext cx="996848" cy="2983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31" name="Line 30"/>
              <p:cNvSpPr>
                <a:spLocks noChangeShapeType="1"/>
              </p:cNvSpPr>
              <p:nvPr/>
            </p:nvSpPr>
            <p:spPr bwMode="auto">
              <a:xfrm flipV="1">
                <a:off x="3960280" y="5925716"/>
                <a:ext cx="1411389" cy="2888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32" name="Line 26"/>
              <p:cNvSpPr>
                <a:spLocks noChangeShapeType="1"/>
              </p:cNvSpPr>
              <p:nvPr/>
            </p:nvSpPr>
            <p:spPr bwMode="auto">
              <a:xfrm flipH="1">
                <a:off x="3877731" y="5328219"/>
                <a:ext cx="597010" cy="8370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3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7519" y="5733628"/>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3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7326" y="6082879"/>
                <a:ext cx="5032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3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9831" y="5140408"/>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36" name="Line 25"/>
              <p:cNvSpPr>
                <a:spLocks noChangeShapeType="1"/>
              </p:cNvSpPr>
              <p:nvPr/>
            </p:nvSpPr>
            <p:spPr bwMode="auto">
              <a:xfrm flipV="1">
                <a:off x="5371669" y="5765376"/>
                <a:ext cx="919162" cy="1944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3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47818" y="5855072"/>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3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1594" y="5601865"/>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86" name="矩形 136"/>
            <p:cNvSpPr>
              <a:spLocks noChangeArrowheads="1"/>
            </p:cNvSpPr>
            <p:nvPr/>
          </p:nvSpPr>
          <p:spPr bwMode="auto">
            <a:xfrm>
              <a:off x="6498168" y="2943319"/>
              <a:ext cx="1133474" cy="6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20000"/>
                </a:lnSpc>
                <a:spcBef>
                  <a:spcPct val="0"/>
                </a:spcBef>
                <a:buFontTx/>
                <a:buNone/>
              </a:pPr>
              <a:r>
                <a:rPr lang="zh-CN" altLang="en-US" sz="1000" dirty="0"/>
                <a:t>全局网</a:t>
              </a:r>
              <a:endParaRPr lang="en-US" altLang="zh-CN" sz="1000" dirty="0"/>
            </a:p>
            <a:p>
              <a:pPr marL="0" lvl="1" algn="ctr" eaLnBrk="1" hangingPunct="1">
                <a:lnSpc>
                  <a:spcPct val="120000"/>
                </a:lnSpc>
                <a:spcBef>
                  <a:spcPct val="0"/>
                </a:spcBef>
                <a:buFontTx/>
                <a:buNone/>
              </a:pPr>
              <a:r>
                <a:rPr lang="zh-CN" altLang="en-US" sz="1000" dirty="0"/>
                <a:t>络视图</a:t>
              </a:r>
              <a:endParaRPr lang="en-US" altLang="zh-CN" sz="1000" dirty="0"/>
            </a:p>
          </p:txBody>
        </p:sp>
        <p:sp>
          <p:nvSpPr>
            <p:cNvPr id="187" name="圆角矩形 186"/>
            <p:cNvSpPr/>
            <p:nvPr/>
          </p:nvSpPr>
          <p:spPr bwMode="auto">
            <a:xfrm>
              <a:off x="4461405" y="2924270"/>
              <a:ext cx="4540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en-US" altLang="zh-CN" sz="900" dirty="0"/>
                <a:t>…</a:t>
              </a:r>
              <a:endParaRPr lang="zh-CN" altLang="en-US" sz="900" dirty="0"/>
            </a:p>
          </p:txBody>
        </p:sp>
        <p:sp>
          <p:nvSpPr>
            <p:cNvPr id="188" name="圆角矩形 187"/>
            <p:cNvSpPr/>
            <p:nvPr/>
          </p:nvSpPr>
          <p:spPr bwMode="auto">
            <a:xfrm>
              <a:off x="3742267" y="2924270"/>
              <a:ext cx="487363"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路由计算</a:t>
              </a:r>
            </a:p>
          </p:txBody>
        </p:sp>
        <p:sp>
          <p:nvSpPr>
            <p:cNvPr id="189" name="圆角矩形 188"/>
            <p:cNvSpPr/>
            <p:nvPr/>
          </p:nvSpPr>
          <p:spPr bwMode="auto">
            <a:xfrm>
              <a:off x="3034242" y="2924270"/>
              <a:ext cx="4921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a:t>拓扑发现</a:t>
              </a:r>
              <a:endParaRPr lang="zh-CN" altLang="en-US" sz="900" dirty="0"/>
            </a:p>
          </p:txBody>
        </p:sp>
        <p:grpSp>
          <p:nvGrpSpPr>
            <p:cNvPr id="190" name="组合 3"/>
            <p:cNvGrpSpPr>
              <a:grpSpLocks/>
            </p:cNvGrpSpPr>
            <p:nvPr/>
          </p:nvGrpSpPr>
          <p:grpSpPr bwMode="auto">
            <a:xfrm>
              <a:off x="2977092" y="1782694"/>
              <a:ext cx="981075" cy="433551"/>
              <a:chOff x="2771800" y="1864953"/>
              <a:chExt cx="980513" cy="598848"/>
            </a:xfrm>
          </p:grpSpPr>
          <p:pic>
            <p:nvPicPr>
              <p:cNvPr id="216"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71800" y="1864953"/>
                <a:ext cx="980513" cy="59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 name="Line 25"/>
              <p:cNvSpPr>
                <a:spLocks noChangeShapeType="1"/>
              </p:cNvSpPr>
              <p:nvPr/>
            </p:nvSpPr>
            <p:spPr bwMode="auto">
              <a:xfrm>
                <a:off x="3158353" y="2028530"/>
                <a:ext cx="225703" cy="2133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18" name="Line 26"/>
              <p:cNvSpPr>
                <a:spLocks noChangeShapeType="1"/>
              </p:cNvSpPr>
              <p:nvPr/>
            </p:nvSpPr>
            <p:spPr bwMode="auto">
              <a:xfrm>
                <a:off x="3158353" y="2015794"/>
                <a:ext cx="476533" cy="1322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19" name="Line 30"/>
              <p:cNvSpPr>
                <a:spLocks noChangeShapeType="1"/>
              </p:cNvSpPr>
              <p:nvPr/>
            </p:nvSpPr>
            <p:spPr bwMode="auto">
              <a:xfrm flipV="1">
                <a:off x="2998904" y="2212568"/>
                <a:ext cx="385153" cy="889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20" name="Line 26"/>
              <p:cNvSpPr>
                <a:spLocks noChangeShapeType="1"/>
              </p:cNvSpPr>
              <p:nvPr/>
            </p:nvSpPr>
            <p:spPr bwMode="auto">
              <a:xfrm flipH="1">
                <a:off x="2976377" y="2028530"/>
                <a:ext cx="162918" cy="2578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2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0773" y="2260976"/>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22"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75190" y="1970681"/>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23" name="Line 25"/>
              <p:cNvSpPr>
                <a:spLocks noChangeShapeType="1"/>
              </p:cNvSpPr>
              <p:nvPr/>
            </p:nvSpPr>
            <p:spPr bwMode="auto">
              <a:xfrm flipV="1">
                <a:off x="3384057" y="2163181"/>
                <a:ext cx="250830" cy="59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2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5681" y="2190808"/>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2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6872" y="2112817"/>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91" name="组合 1"/>
            <p:cNvGrpSpPr>
              <a:grpSpLocks/>
            </p:cNvGrpSpPr>
            <p:nvPr/>
          </p:nvGrpSpPr>
          <p:grpSpPr bwMode="auto">
            <a:xfrm>
              <a:off x="4407430" y="1838420"/>
              <a:ext cx="1062037" cy="439738"/>
              <a:chOff x="4584568" y="1881503"/>
              <a:chExt cx="1062760" cy="644690"/>
            </a:xfrm>
          </p:grpSpPr>
          <p:pic>
            <p:nvPicPr>
              <p:cNvPr id="207"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4568" y="1881503"/>
                <a:ext cx="1062760" cy="64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 name="Line 27"/>
              <p:cNvSpPr>
                <a:spLocks noChangeShapeType="1"/>
              </p:cNvSpPr>
              <p:nvPr/>
            </p:nvSpPr>
            <p:spPr bwMode="auto">
              <a:xfrm flipV="1">
                <a:off x="4717384" y="2041282"/>
                <a:ext cx="365185" cy="161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09" name="Line 25"/>
              <p:cNvSpPr>
                <a:spLocks noChangeShapeType="1"/>
              </p:cNvSpPr>
              <p:nvPr/>
            </p:nvSpPr>
            <p:spPr bwMode="auto">
              <a:xfrm>
                <a:off x="5100127" y="2057602"/>
                <a:ext cx="140535" cy="3086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10" name="Line 26"/>
              <p:cNvSpPr>
                <a:spLocks noChangeShapeType="1"/>
              </p:cNvSpPr>
              <p:nvPr/>
            </p:nvSpPr>
            <p:spPr bwMode="auto">
              <a:xfrm>
                <a:off x="5100127" y="2043890"/>
                <a:ext cx="439017" cy="1423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11"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3194" y="2192033"/>
                <a:ext cx="126916"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2"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3511" y="1995325"/>
                <a:ext cx="126517" cy="95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13" name="Line 25"/>
              <p:cNvSpPr>
                <a:spLocks noChangeShapeType="1"/>
              </p:cNvSpPr>
              <p:nvPr/>
            </p:nvSpPr>
            <p:spPr bwMode="auto">
              <a:xfrm flipV="1">
                <a:off x="5265670" y="2202559"/>
                <a:ext cx="273476" cy="147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14"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70653" y="2328672"/>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1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6485" y="2148341"/>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92" name="组合 2"/>
            <p:cNvGrpSpPr>
              <a:grpSpLocks/>
            </p:cNvGrpSpPr>
            <p:nvPr/>
          </p:nvGrpSpPr>
          <p:grpSpPr bwMode="auto">
            <a:xfrm>
              <a:off x="6468005" y="1782694"/>
              <a:ext cx="874712" cy="441489"/>
              <a:chOff x="6386505" y="1851028"/>
              <a:chExt cx="873749" cy="620713"/>
            </a:xfrm>
          </p:grpSpPr>
          <p:pic>
            <p:nvPicPr>
              <p:cNvPr id="200" name="图片 123"/>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86505" y="1851028"/>
                <a:ext cx="873749"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Line 25"/>
              <p:cNvSpPr>
                <a:spLocks noChangeShapeType="1"/>
              </p:cNvSpPr>
              <p:nvPr/>
            </p:nvSpPr>
            <p:spPr bwMode="auto">
              <a:xfrm>
                <a:off x="6724062" y="2030252"/>
                <a:ext cx="80186" cy="3093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202" name="Line 26"/>
              <p:cNvSpPr>
                <a:spLocks noChangeShapeType="1"/>
              </p:cNvSpPr>
              <p:nvPr/>
            </p:nvSpPr>
            <p:spPr bwMode="auto">
              <a:xfrm>
                <a:off x="6724062" y="2015680"/>
                <a:ext cx="448023" cy="15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03"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5874" y="1964062"/>
                <a:ext cx="129112" cy="10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204" name="Line 25"/>
              <p:cNvSpPr>
                <a:spLocks noChangeShapeType="1"/>
              </p:cNvSpPr>
              <p:nvPr/>
            </p:nvSpPr>
            <p:spPr bwMode="auto">
              <a:xfrm flipV="1">
                <a:off x="6804248" y="2184319"/>
                <a:ext cx="367837" cy="14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205"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6984" y="2299301"/>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0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8140" y="2126693"/>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93" name="Text Box 69"/>
            <p:cNvSpPr txBox="1">
              <a:spLocks noChangeArrowheads="1"/>
            </p:cNvSpPr>
            <p:nvPr/>
          </p:nvSpPr>
          <p:spPr bwMode="auto">
            <a:xfrm>
              <a:off x="5434584" y="1317986"/>
              <a:ext cx="70413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000" dirty="0"/>
                <a:t>……</a:t>
              </a:r>
            </a:p>
          </p:txBody>
        </p:sp>
        <p:sp>
          <p:nvSpPr>
            <p:cNvPr id="194" name="矩形 136"/>
            <p:cNvSpPr>
              <a:spLocks noChangeArrowheads="1"/>
            </p:cNvSpPr>
            <p:nvPr/>
          </p:nvSpPr>
          <p:spPr bwMode="auto">
            <a:xfrm>
              <a:off x="5421841" y="1762220"/>
              <a:ext cx="1133474" cy="59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10000"/>
                </a:lnSpc>
                <a:spcBef>
                  <a:spcPct val="0"/>
                </a:spcBef>
                <a:buFontTx/>
                <a:buNone/>
              </a:pPr>
              <a:r>
                <a:rPr lang="zh-CN" altLang="en-US" sz="1000" dirty="0"/>
                <a:t>抽象网</a:t>
              </a:r>
              <a:endParaRPr lang="en-US" altLang="zh-CN" sz="1000" dirty="0"/>
            </a:p>
            <a:p>
              <a:pPr marL="0" lvl="1" algn="ctr" eaLnBrk="1" hangingPunct="1">
                <a:lnSpc>
                  <a:spcPct val="110000"/>
                </a:lnSpc>
                <a:spcBef>
                  <a:spcPct val="0"/>
                </a:spcBef>
                <a:buFontTx/>
                <a:buNone/>
              </a:pPr>
              <a:r>
                <a:rPr lang="zh-CN" altLang="en-US" sz="1000" dirty="0" smtClean="0"/>
                <a:t>络视图</a:t>
              </a:r>
              <a:endParaRPr lang="en-US" altLang="zh-CN" sz="1000" dirty="0"/>
            </a:p>
          </p:txBody>
        </p:sp>
        <p:sp>
          <p:nvSpPr>
            <p:cNvPr id="195" name="Cloud 4"/>
            <p:cNvSpPr>
              <a:spLocks noChangeArrowheads="1"/>
            </p:cNvSpPr>
            <p:nvPr/>
          </p:nvSpPr>
          <p:spPr bwMode="auto">
            <a:xfrm>
              <a:off x="2234142" y="4257770"/>
              <a:ext cx="4646613" cy="865188"/>
            </a:xfrm>
            <a:custGeom>
              <a:avLst/>
              <a:gdLst>
                <a:gd name="T0" fmla="*/ 2147483646 w 43200"/>
                <a:gd name="T1" fmla="*/ 2147483646 h 43200"/>
                <a:gd name="T2" fmla="*/ 2147483646 w 43200"/>
                <a:gd name="T3" fmla="*/ 2147483646 h 43200"/>
                <a:gd name="T4" fmla="*/ 2147483646 w 43200"/>
                <a:gd name="T5" fmla="*/ 2147483646 h 43200"/>
                <a:gd name="T6" fmla="*/ 2147483646 w 43200"/>
                <a:gd name="T7" fmla="*/ 2147483646 h 43200"/>
                <a:gd name="T8" fmla="*/ 0 60000 65536"/>
                <a:gd name="T9" fmla="*/ 0 60000 65536"/>
                <a:gd name="T10" fmla="*/ 0 60000 65536"/>
                <a:gd name="T11" fmla="*/ 0 60000 65536"/>
                <a:gd name="T12" fmla="*/ 5954 w 43200"/>
                <a:gd name="T13" fmla="*/ 6524 h 43200"/>
                <a:gd name="T14" fmla="*/ 34174 w 43200"/>
                <a:gd name="T15" fmla="*/ 34674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lnTo>
                    <a:pt x="3900" y="14370"/>
                  </a:ln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noFill/>
            <a:ln w="9525">
              <a:solidFill>
                <a:schemeClr val="tx1"/>
              </a:solidFill>
              <a:miter lim="800000"/>
              <a:headEnd/>
              <a:tailEnd/>
            </a:ln>
            <a:effectLst>
              <a:outerShdw dist="23000" dir="5400000" rotWithShape="0">
                <a:srgbClr val="808080">
                  <a:alpha val="34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sz="1050"/>
            </a:p>
          </p:txBody>
        </p:sp>
        <p:pic>
          <p:nvPicPr>
            <p:cNvPr id="196"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5187" y="4888103"/>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97"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2711" y="4461860"/>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98"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56729" y="4811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99"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25103" y="4553045"/>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239" name="Rectangle 8"/>
          <p:cNvSpPr>
            <a:spLocks noChangeArrowheads="1"/>
          </p:cNvSpPr>
          <p:nvPr/>
        </p:nvSpPr>
        <p:spPr bwMode="auto">
          <a:xfrm>
            <a:off x="545144" y="1009413"/>
            <a:ext cx="3582983" cy="2964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通过北向接口，</a:t>
            </a:r>
            <a:r>
              <a:rPr lang="en-US" altLang="zh-CN" b="1" dirty="0" smtClean="0">
                <a:latin typeface="微软雅黑" pitchFamily="34" charset="-122"/>
                <a:ea typeface="微软雅黑" pitchFamily="34" charset="-122"/>
              </a:rPr>
              <a:t>SDN </a:t>
            </a:r>
            <a:r>
              <a:rPr lang="zh-CN" altLang="en-US" b="1" dirty="0" smtClean="0">
                <a:latin typeface="微软雅黑" pitchFamily="34" charset="-122"/>
                <a:ea typeface="微软雅黑" pitchFamily="34" charset="-122"/>
              </a:rPr>
              <a:t>实现</a:t>
            </a:r>
            <a:r>
              <a:rPr lang="zh-CN" altLang="en-US" b="1" dirty="0">
                <a:latin typeface="微软雅黑" pitchFamily="34" charset="-122"/>
                <a:ea typeface="微软雅黑" pitchFamily="34" charset="-122"/>
              </a:rPr>
              <a:t>了</a:t>
            </a:r>
            <a:r>
              <a:rPr lang="zh-CN" altLang="en-US" b="1" dirty="0">
                <a:solidFill>
                  <a:srgbClr val="C00000"/>
                </a:solidFill>
                <a:latin typeface="微软雅黑" pitchFamily="34" charset="-122"/>
                <a:ea typeface="微软雅黑" pitchFamily="34" charset="-122"/>
              </a:rPr>
              <a:t>网络行为抽象</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742950" lvl="1" indent="-285750" algn="just">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网络应用结合获取到的抽象网络视图，</a:t>
            </a:r>
            <a:r>
              <a:rPr lang="zh-CN" altLang="en-US" sz="1600" b="1" dirty="0">
                <a:solidFill>
                  <a:srgbClr val="C00000"/>
                </a:solidFill>
                <a:latin typeface="微软雅黑" pitchFamily="34" charset="-122"/>
                <a:ea typeface="微软雅黑" pitchFamily="34" charset="-122"/>
              </a:rPr>
              <a:t>编程定义所期望的网络行为</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gn="just">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通过 </a:t>
            </a:r>
            <a:r>
              <a:rPr lang="en-US" altLang="zh-CN" sz="1600" b="1" dirty="0" smtClean="0">
                <a:latin typeface="微软雅黑" pitchFamily="34" charset="-122"/>
                <a:ea typeface="微软雅黑" pitchFamily="34" charset="-122"/>
              </a:rPr>
              <a:t>SDN </a:t>
            </a:r>
            <a:r>
              <a:rPr lang="zh-CN" altLang="en-US" sz="1600" b="1" dirty="0" smtClean="0">
                <a:latin typeface="微软雅黑" pitchFamily="34" charset="-122"/>
                <a:ea typeface="微软雅黑" pitchFamily="34" charset="-122"/>
              </a:rPr>
              <a:t>控制器</a:t>
            </a:r>
            <a:r>
              <a:rPr lang="zh-CN" altLang="en-US" sz="1600" b="1" dirty="0">
                <a:latin typeface="微软雅黑" pitchFamily="34" charset="-122"/>
                <a:ea typeface="微软雅黑" pitchFamily="34" charset="-122"/>
              </a:rPr>
              <a:t>，将定义的网络行为</a:t>
            </a:r>
            <a:r>
              <a:rPr lang="zh-CN" altLang="en-US" sz="1600" b="1" dirty="0">
                <a:solidFill>
                  <a:srgbClr val="C00000"/>
                </a:solidFill>
                <a:latin typeface="微软雅黑" pitchFamily="34" charset="-122"/>
                <a:ea typeface="微软雅黑" pitchFamily="34" charset="-122"/>
              </a:rPr>
              <a:t>映射</a:t>
            </a:r>
            <a:r>
              <a:rPr lang="zh-CN" altLang="en-US" sz="1600" b="1" dirty="0">
                <a:latin typeface="微软雅黑" pitchFamily="34" charset="-122"/>
                <a:ea typeface="微软雅黑" pitchFamily="34" charset="-122"/>
              </a:rPr>
              <a:t>为对应物理网络设备的配置指令。</a:t>
            </a:r>
            <a:endParaRPr lang="en-US" altLang="zh-CN" sz="1600" b="1" dirty="0">
              <a:latin typeface="微软雅黑" pitchFamily="34" charset="-122"/>
              <a:ea typeface="微软雅黑" pitchFamily="34" charset="-122"/>
            </a:endParaRPr>
          </a:p>
        </p:txBody>
      </p:sp>
    </p:spTree>
    <p:extLst>
      <p:ext uri="{BB962C8B-B14F-4D97-AF65-F5344CB8AC3E}">
        <p14:creationId xmlns:p14="http://schemas.microsoft.com/office/powerpoint/2010/main" val="21538672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8" name="Rectangle 6"/>
          <p:cNvSpPr>
            <a:spLocks noChangeArrowheads="1"/>
          </p:cNvSpPr>
          <p:nvPr/>
        </p:nvSpPr>
        <p:spPr bwMode="auto">
          <a:xfrm>
            <a:off x="2549659" y="576646"/>
            <a:ext cx="40446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中的网络功能抽象表示</a:t>
            </a:r>
          </a:p>
        </p:txBody>
      </p:sp>
      <p:grpSp>
        <p:nvGrpSpPr>
          <p:cNvPr id="3" name="组合 2"/>
          <p:cNvGrpSpPr/>
          <p:nvPr/>
        </p:nvGrpSpPr>
        <p:grpSpPr>
          <a:xfrm>
            <a:off x="4694002" y="1493336"/>
            <a:ext cx="4160360" cy="2139027"/>
            <a:chOff x="1051455" y="1274517"/>
            <a:chExt cx="6640512" cy="3936017"/>
          </a:xfrm>
        </p:grpSpPr>
        <p:sp>
          <p:nvSpPr>
            <p:cNvPr id="73" name="Line 27"/>
            <p:cNvSpPr>
              <a:spLocks noChangeShapeType="1"/>
            </p:cNvSpPr>
            <p:nvPr/>
          </p:nvSpPr>
          <p:spPr bwMode="auto">
            <a:xfrm flipV="1">
              <a:off x="3204327" y="4578443"/>
              <a:ext cx="1304704" cy="102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4" name="Line 25"/>
            <p:cNvSpPr>
              <a:spLocks noChangeShapeType="1"/>
            </p:cNvSpPr>
            <p:nvPr/>
          </p:nvSpPr>
          <p:spPr bwMode="auto">
            <a:xfrm>
              <a:off x="4578881" y="4627658"/>
              <a:ext cx="677860" cy="27384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5" name="Line 26"/>
            <p:cNvSpPr>
              <a:spLocks noChangeShapeType="1"/>
            </p:cNvSpPr>
            <p:nvPr/>
          </p:nvSpPr>
          <p:spPr bwMode="auto">
            <a:xfrm>
              <a:off x="4578880" y="4586383"/>
              <a:ext cx="1546223" cy="364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6" name="Line 27"/>
            <p:cNvSpPr>
              <a:spLocks noChangeShapeType="1"/>
            </p:cNvSpPr>
            <p:nvPr/>
          </p:nvSpPr>
          <p:spPr bwMode="auto">
            <a:xfrm>
              <a:off x="3204326" y="4627658"/>
              <a:ext cx="655418"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7" name="Line 30"/>
            <p:cNvSpPr>
              <a:spLocks noChangeShapeType="1"/>
            </p:cNvSpPr>
            <p:nvPr/>
          </p:nvSpPr>
          <p:spPr bwMode="auto">
            <a:xfrm flipV="1">
              <a:off x="3929593" y="4906359"/>
              <a:ext cx="1282700" cy="1037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78" name="Line 26"/>
            <p:cNvSpPr>
              <a:spLocks noChangeShapeType="1"/>
            </p:cNvSpPr>
            <p:nvPr/>
          </p:nvSpPr>
          <p:spPr bwMode="auto">
            <a:xfrm flipH="1">
              <a:off x="3929592" y="4627658"/>
              <a:ext cx="579437" cy="37394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79"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40580" y="4557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82" name="Line 25"/>
            <p:cNvSpPr>
              <a:spLocks noChangeShapeType="1"/>
            </p:cNvSpPr>
            <p:nvPr/>
          </p:nvSpPr>
          <p:spPr bwMode="auto">
            <a:xfrm flipV="1">
              <a:off x="5431876" y="4680933"/>
              <a:ext cx="751968" cy="2254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85" name="Text Box 69"/>
            <p:cNvSpPr txBox="1">
              <a:spLocks noChangeArrowheads="1"/>
            </p:cNvSpPr>
            <p:nvPr/>
          </p:nvSpPr>
          <p:spPr bwMode="auto">
            <a:xfrm>
              <a:off x="6346984" y="3799776"/>
              <a:ext cx="1297730"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dirty="0"/>
                <a:t>南向接口</a:t>
              </a:r>
              <a:endParaRPr lang="en-US" altLang="zh-CN" sz="1000" dirty="0"/>
            </a:p>
            <a:p>
              <a:pPr algn="ctr" eaLnBrk="1" hangingPunct="1">
                <a:spcBef>
                  <a:spcPct val="0"/>
                </a:spcBef>
                <a:buFontTx/>
                <a:buNone/>
              </a:pPr>
              <a:r>
                <a:rPr lang="en-US" altLang="zh-CN" sz="1000" dirty="0"/>
                <a:t>(OpenFlow)</a:t>
              </a:r>
            </a:p>
          </p:txBody>
        </p:sp>
        <p:sp>
          <p:nvSpPr>
            <p:cNvPr id="86" name="Rounded Rectangle 78"/>
            <p:cNvSpPr/>
            <p:nvPr/>
          </p:nvSpPr>
          <p:spPr>
            <a:xfrm>
              <a:off x="1581680" y="2805208"/>
              <a:ext cx="6110287" cy="939800"/>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87" name="Rounded Rectangle 78"/>
            <p:cNvSpPr/>
            <p:nvPr/>
          </p:nvSpPr>
          <p:spPr>
            <a:xfrm>
              <a:off x="1581680" y="1274517"/>
              <a:ext cx="6110287" cy="1103652"/>
            </a:xfrm>
            <a:prstGeom prst="roundRect">
              <a:avLst/>
            </a:prstGeom>
            <a:solidFill>
              <a:srgbClr val="CCECFF"/>
            </a:solidFill>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endParaRPr lang="en-US" sz="1050" dirty="0">
                <a:solidFill>
                  <a:schemeClr val="tx1"/>
                </a:solidFill>
                <a:latin typeface="+mj-lt"/>
              </a:endParaRPr>
            </a:p>
          </p:txBody>
        </p:sp>
        <p:sp>
          <p:nvSpPr>
            <p:cNvPr id="88" name="Line 24"/>
            <p:cNvSpPr>
              <a:spLocks noChangeShapeType="1"/>
            </p:cNvSpPr>
            <p:nvPr/>
          </p:nvSpPr>
          <p:spPr bwMode="auto">
            <a:xfrm flipV="1">
              <a:off x="3125200" y="3743421"/>
              <a:ext cx="15404" cy="809624"/>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89" name="Line 24"/>
            <p:cNvSpPr>
              <a:spLocks noChangeShapeType="1"/>
            </p:cNvSpPr>
            <p:nvPr/>
          </p:nvSpPr>
          <p:spPr bwMode="auto">
            <a:xfrm flipV="1">
              <a:off x="3896786" y="3745008"/>
              <a:ext cx="12169" cy="1156493"/>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0" name="Line 24"/>
            <p:cNvSpPr>
              <a:spLocks noChangeShapeType="1"/>
            </p:cNvSpPr>
            <p:nvPr/>
          </p:nvSpPr>
          <p:spPr bwMode="auto">
            <a:xfrm flipH="1" flipV="1">
              <a:off x="4534430" y="3745008"/>
              <a:ext cx="0" cy="6937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1" name="Line 24"/>
            <p:cNvSpPr>
              <a:spLocks noChangeShapeType="1"/>
            </p:cNvSpPr>
            <p:nvPr/>
          </p:nvSpPr>
          <p:spPr bwMode="auto">
            <a:xfrm flipH="1" flipV="1">
              <a:off x="6317192" y="3745008"/>
              <a:ext cx="7938" cy="833437"/>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2" name="Line 24"/>
            <p:cNvSpPr>
              <a:spLocks noChangeShapeType="1"/>
            </p:cNvSpPr>
            <p:nvPr/>
          </p:nvSpPr>
          <p:spPr bwMode="auto">
            <a:xfrm flipH="1" flipV="1">
              <a:off x="5326591" y="3745008"/>
              <a:ext cx="14757" cy="1066800"/>
            </a:xfrm>
            <a:prstGeom prst="line">
              <a:avLst/>
            </a:prstGeom>
            <a:noFill/>
            <a:ln w="158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sz="1050"/>
            </a:p>
          </p:txBody>
        </p:sp>
        <p:sp>
          <p:nvSpPr>
            <p:cNvPr id="93" name="上下箭头 6"/>
            <p:cNvSpPr>
              <a:spLocks noChangeArrowheads="1"/>
            </p:cNvSpPr>
            <p:nvPr/>
          </p:nvSpPr>
          <p:spPr bwMode="auto">
            <a:xfrm>
              <a:off x="4534430" y="2376583"/>
              <a:ext cx="295275" cy="412750"/>
            </a:xfrm>
            <a:prstGeom prst="upDownArrow">
              <a:avLst>
                <a:gd name="adj1" fmla="val 46315"/>
                <a:gd name="adj2" fmla="val 34836"/>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1200"/>
            </a:p>
          </p:txBody>
        </p:sp>
        <p:sp>
          <p:nvSpPr>
            <p:cNvPr id="94" name="Text Box 69"/>
            <p:cNvSpPr txBox="1">
              <a:spLocks noChangeArrowheads="1"/>
            </p:cNvSpPr>
            <p:nvPr/>
          </p:nvSpPr>
          <p:spPr bwMode="auto">
            <a:xfrm>
              <a:off x="1143496" y="4474293"/>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数据</a:t>
              </a:r>
              <a:endParaRPr lang="en-US" altLang="zh-CN" dirty="0"/>
            </a:p>
            <a:p>
              <a:r>
                <a:rPr lang="zh-CN" altLang="en-US" dirty="0"/>
                <a:t>平面</a:t>
              </a:r>
              <a:endParaRPr lang="en-US" altLang="zh-CN" dirty="0"/>
            </a:p>
          </p:txBody>
        </p:sp>
        <p:sp>
          <p:nvSpPr>
            <p:cNvPr id="95" name="Text Box 69"/>
            <p:cNvSpPr txBox="1">
              <a:spLocks noChangeArrowheads="1"/>
            </p:cNvSpPr>
            <p:nvPr/>
          </p:nvSpPr>
          <p:spPr bwMode="auto">
            <a:xfrm>
              <a:off x="1090903" y="3020705"/>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defPPr>
                <a:defRPr lang="zh-CN"/>
              </a:defPPr>
              <a:lvl1pPr algn="ctr">
                <a:spcBef>
                  <a:spcPct val="0"/>
                </a:spcBef>
                <a:buFontTx/>
                <a:buNone/>
                <a:defRPr kumimoji="1" sz="1000">
                  <a:latin typeface="Times New Roman" panose="02020603050405020304" pitchFamily="18" charset="0"/>
                  <a:ea typeface="宋体" panose="02010600030101010101" pitchFamily="2" charset="-122"/>
                </a:defRPr>
              </a:lvl1pPr>
              <a:lvl2pPr marL="742950" indent="-285750">
                <a:spcBef>
                  <a:spcPct val="20000"/>
                </a:spcBef>
                <a:buChar char="–"/>
                <a:defRPr kumimoji="1" sz="2800">
                  <a:latin typeface="Times New Roman" panose="02020603050405020304" pitchFamily="18" charset="0"/>
                  <a:ea typeface="宋体" panose="02010600030101010101" pitchFamily="2" charset="-122"/>
                </a:defRPr>
              </a:lvl2pPr>
              <a:lvl3pPr marL="1143000" indent="-228600">
                <a:spcBef>
                  <a:spcPct val="20000"/>
                </a:spcBef>
                <a:buChar char="•"/>
                <a:defRPr kumimoji="1" sz="2400">
                  <a:latin typeface="Times New Roman" panose="02020603050405020304" pitchFamily="18" charset="0"/>
                  <a:ea typeface="宋体" panose="02010600030101010101" pitchFamily="2" charset="-122"/>
                </a:defRPr>
              </a:lvl3pPr>
              <a:lvl4pPr marL="1600200" indent="-228600">
                <a:spcBef>
                  <a:spcPct val="20000"/>
                </a:spcBef>
                <a:buChar char="–"/>
                <a:defRPr kumimoji="1" sz="2000">
                  <a:latin typeface="Times New Roman" panose="02020603050405020304" pitchFamily="18" charset="0"/>
                  <a:ea typeface="宋体" panose="02010600030101010101" pitchFamily="2" charset="-122"/>
                </a:defRPr>
              </a:lvl4pPr>
              <a:lvl5pPr marL="2057400" indent="-228600">
                <a:spcBef>
                  <a:spcPct val="20000"/>
                </a:spcBef>
                <a:buChar char="»"/>
                <a:defRPr kumimoji="1" sz="2000">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latin typeface="Times New Roman" panose="02020603050405020304" pitchFamily="18" charset="0"/>
                  <a:ea typeface="宋体" panose="02010600030101010101" pitchFamily="2" charset="-122"/>
                </a:defRPr>
              </a:lvl9pPr>
            </a:lstStyle>
            <a:p>
              <a:r>
                <a:rPr lang="zh-CN" altLang="en-US" dirty="0"/>
                <a:t>控制</a:t>
              </a:r>
              <a:endParaRPr lang="en-US" altLang="zh-CN" dirty="0"/>
            </a:p>
            <a:p>
              <a:r>
                <a:rPr lang="zh-CN" altLang="en-US" dirty="0"/>
                <a:t>平面</a:t>
              </a:r>
              <a:endParaRPr lang="en-US" altLang="zh-CN" dirty="0"/>
            </a:p>
          </p:txBody>
        </p:sp>
        <p:sp>
          <p:nvSpPr>
            <p:cNvPr id="96" name="Text Box 69"/>
            <p:cNvSpPr txBox="1">
              <a:spLocks noChangeArrowheads="1"/>
            </p:cNvSpPr>
            <p:nvPr/>
          </p:nvSpPr>
          <p:spPr bwMode="auto">
            <a:xfrm>
              <a:off x="4741261" y="2416269"/>
              <a:ext cx="111351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a:t>北向接口</a:t>
              </a:r>
              <a:endParaRPr lang="en-US" altLang="zh-CN" sz="1000"/>
            </a:p>
          </p:txBody>
        </p:sp>
        <p:sp>
          <p:nvSpPr>
            <p:cNvPr id="97" name="Text Box 69"/>
            <p:cNvSpPr txBox="1">
              <a:spLocks noChangeArrowheads="1"/>
            </p:cNvSpPr>
            <p:nvPr/>
          </p:nvSpPr>
          <p:spPr bwMode="auto">
            <a:xfrm>
              <a:off x="1051455" y="1512832"/>
              <a:ext cx="409378" cy="736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r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1000" dirty="0" smtClean="0"/>
                <a:t>应用</a:t>
              </a:r>
              <a:endParaRPr lang="en-US" altLang="zh-CN" sz="1000" dirty="0" smtClean="0"/>
            </a:p>
            <a:p>
              <a:pPr algn="ctr" eaLnBrk="1" hangingPunct="1">
                <a:spcBef>
                  <a:spcPct val="0"/>
                </a:spcBef>
                <a:buFontTx/>
                <a:buNone/>
              </a:pPr>
              <a:r>
                <a:rPr lang="zh-CN" altLang="en-US" sz="1000" dirty="0" smtClean="0"/>
                <a:t>平面</a:t>
              </a:r>
              <a:endParaRPr lang="en-US" altLang="zh-CN" sz="1000" dirty="0"/>
            </a:p>
          </p:txBody>
        </p:sp>
        <p:sp>
          <p:nvSpPr>
            <p:cNvPr id="98" name="矩形 8"/>
            <p:cNvSpPr>
              <a:spLocks noChangeArrowheads="1"/>
            </p:cNvSpPr>
            <p:nvPr/>
          </p:nvSpPr>
          <p:spPr bwMode="auto">
            <a:xfrm>
              <a:off x="1607080" y="2882995"/>
              <a:ext cx="1328736" cy="764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网络操作系统</a:t>
              </a:r>
              <a:endParaRPr lang="en-US" altLang="zh-CN" sz="1000" dirty="0"/>
            </a:p>
            <a:p>
              <a:pPr algn="ctr" eaLnBrk="1" hangingPunct="1">
                <a:lnSpc>
                  <a:spcPct val="120000"/>
                </a:lnSpc>
                <a:spcBef>
                  <a:spcPct val="0"/>
                </a:spcBef>
                <a:buFontTx/>
                <a:buNone/>
              </a:pPr>
              <a:r>
                <a:rPr lang="en-US" altLang="zh-CN" sz="1000" dirty="0"/>
                <a:t>(SDN</a:t>
              </a:r>
              <a:r>
                <a:rPr lang="zh-CN" altLang="en-US" sz="1000" dirty="0"/>
                <a:t>控制器</a:t>
              </a:r>
              <a:r>
                <a:rPr lang="en-US" altLang="zh-CN" sz="1000" dirty="0"/>
                <a:t>)</a:t>
              </a:r>
            </a:p>
          </p:txBody>
        </p:sp>
        <p:sp>
          <p:nvSpPr>
            <p:cNvPr id="99" name="矩形 113"/>
            <p:cNvSpPr>
              <a:spLocks noChangeArrowheads="1"/>
            </p:cNvSpPr>
            <p:nvPr/>
          </p:nvSpPr>
          <p:spPr bwMode="auto">
            <a:xfrm>
              <a:off x="1581679" y="1636022"/>
              <a:ext cx="1128695" cy="37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50000"/>
                </a:lnSpc>
                <a:spcBef>
                  <a:spcPct val="0"/>
                </a:spcBef>
                <a:buFontTx/>
                <a:buNone/>
              </a:pPr>
              <a:r>
                <a:rPr lang="zh-CN" altLang="en-US" sz="1000" dirty="0"/>
                <a:t>网络应用</a:t>
              </a:r>
              <a:endParaRPr lang="en-US" altLang="zh-CN" sz="1000" dirty="0"/>
            </a:p>
          </p:txBody>
        </p:sp>
        <p:sp>
          <p:nvSpPr>
            <p:cNvPr id="100" name="圆角矩形 99"/>
            <p:cNvSpPr/>
            <p:nvPr/>
          </p:nvSpPr>
          <p:spPr bwMode="auto">
            <a:xfrm>
              <a:off x="2827868" y="1373291"/>
              <a:ext cx="941388" cy="335481"/>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1</a:t>
              </a:r>
              <a:endParaRPr lang="zh-CN" altLang="en-US" sz="900" dirty="0"/>
            </a:p>
          </p:txBody>
        </p:sp>
        <p:sp>
          <p:nvSpPr>
            <p:cNvPr id="101" name="圆角矩形 100"/>
            <p:cNvSpPr/>
            <p:nvPr/>
          </p:nvSpPr>
          <p:spPr bwMode="auto">
            <a:xfrm>
              <a:off x="4156606" y="1367929"/>
              <a:ext cx="1011236" cy="340843"/>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dirty="0"/>
                <a:t>2</a:t>
              </a:r>
              <a:endParaRPr lang="zh-CN" altLang="en-US" sz="900" dirty="0"/>
            </a:p>
          </p:txBody>
        </p:sp>
        <p:sp>
          <p:nvSpPr>
            <p:cNvPr id="102" name="圆角矩形 101"/>
            <p:cNvSpPr/>
            <p:nvPr/>
          </p:nvSpPr>
          <p:spPr bwMode="auto">
            <a:xfrm>
              <a:off x="6275917" y="1367929"/>
              <a:ext cx="911225" cy="296394"/>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网络应用</a:t>
              </a:r>
              <a:r>
                <a:rPr lang="en-US" altLang="zh-CN" sz="900" i="1" dirty="0"/>
                <a:t>n</a:t>
              </a:r>
              <a:endParaRPr lang="zh-CN" altLang="en-US" sz="900" i="1" dirty="0"/>
            </a:p>
          </p:txBody>
        </p:sp>
        <p:grpSp>
          <p:nvGrpSpPr>
            <p:cNvPr id="103" name="组合 122"/>
            <p:cNvGrpSpPr>
              <a:grpSpLocks/>
            </p:cNvGrpSpPr>
            <p:nvPr/>
          </p:nvGrpSpPr>
          <p:grpSpPr bwMode="auto">
            <a:xfrm>
              <a:off x="5212292" y="2863945"/>
              <a:ext cx="1409700" cy="769938"/>
              <a:chOff x="2493878" y="4797152"/>
              <a:chExt cx="4227265" cy="1944216"/>
            </a:xfrm>
          </p:grpSpPr>
          <p:pic>
            <p:nvPicPr>
              <p:cNvPr id="104" name="图片 12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93878" y="4797152"/>
                <a:ext cx="4227265"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 name="Line 27"/>
              <p:cNvSpPr>
                <a:spLocks noChangeShapeType="1"/>
              </p:cNvSpPr>
              <p:nvPr/>
            </p:nvSpPr>
            <p:spPr bwMode="auto">
              <a:xfrm flipV="1">
                <a:off x="3022169" y="5279005"/>
                <a:ext cx="1452572" cy="4863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6" name="Line 25"/>
              <p:cNvSpPr>
                <a:spLocks noChangeShapeType="1"/>
              </p:cNvSpPr>
              <p:nvPr/>
            </p:nvSpPr>
            <p:spPr bwMode="auto">
              <a:xfrm>
                <a:off x="4544582" y="5328220"/>
                <a:ext cx="827086" cy="6927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7" name="Line 26"/>
              <p:cNvSpPr>
                <a:spLocks noChangeShapeType="1"/>
              </p:cNvSpPr>
              <p:nvPr/>
            </p:nvSpPr>
            <p:spPr bwMode="auto">
              <a:xfrm>
                <a:off x="4544582" y="5286870"/>
                <a:ext cx="1746248" cy="42929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8" name="Line 27"/>
              <p:cNvSpPr>
                <a:spLocks noChangeShapeType="1"/>
              </p:cNvSpPr>
              <p:nvPr/>
            </p:nvSpPr>
            <p:spPr bwMode="auto">
              <a:xfrm>
                <a:off x="2880882" y="5898728"/>
                <a:ext cx="996848" cy="2983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9" name="Line 30"/>
              <p:cNvSpPr>
                <a:spLocks noChangeShapeType="1"/>
              </p:cNvSpPr>
              <p:nvPr/>
            </p:nvSpPr>
            <p:spPr bwMode="auto">
              <a:xfrm flipV="1">
                <a:off x="3960280" y="5925716"/>
                <a:ext cx="1411389" cy="28880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10" name="Line 26"/>
              <p:cNvSpPr>
                <a:spLocks noChangeShapeType="1"/>
              </p:cNvSpPr>
              <p:nvPr/>
            </p:nvSpPr>
            <p:spPr bwMode="auto">
              <a:xfrm flipH="1">
                <a:off x="3877731" y="5328219"/>
                <a:ext cx="597010" cy="8370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11"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47519" y="5733628"/>
                <a:ext cx="5048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37326" y="6082879"/>
                <a:ext cx="5032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3"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39831" y="5140408"/>
                <a:ext cx="5032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14" name="Line 25"/>
              <p:cNvSpPr>
                <a:spLocks noChangeShapeType="1"/>
              </p:cNvSpPr>
              <p:nvPr/>
            </p:nvSpPr>
            <p:spPr bwMode="auto">
              <a:xfrm flipV="1">
                <a:off x="5371669" y="5765376"/>
                <a:ext cx="919162" cy="1944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15"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47818" y="5855072"/>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6"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41594" y="5601865"/>
                <a:ext cx="503238"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17" name="矩形 136"/>
            <p:cNvSpPr>
              <a:spLocks noChangeArrowheads="1"/>
            </p:cNvSpPr>
            <p:nvPr/>
          </p:nvSpPr>
          <p:spPr bwMode="auto">
            <a:xfrm>
              <a:off x="6498168" y="2943319"/>
              <a:ext cx="1133474" cy="679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20000"/>
                </a:lnSpc>
                <a:spcBef>
                  <a:spcPct val="0"/>
                </a:spcBef>
                <a:buFontTx/>
                <a:buNone/>
              </a:pPr>
              <a:r>
                <a:rPr lang="zh-CN" altLang="en-US" sz="1000" dirty="0"/>
                <a:t>全局网</a:t>
              </a:r>
              <a:endParaRPr lang="en-US" altLang="zh-CN" sz="1000" dirty="0"/>
            </a:p>
            <a:p>
              <a:pPr marL="0" lvl="1" algn="ctr" eaLnBrk="1" hangingPunct="1">
                <a:lnSpc>
                  <a:spcPct val="120000"/>
                </a:lnSpc>
                <a:spcBef>
                  <a:spcPct val="0"/>
                </a:spcBef>
                <a:buFontTx/>
                <a:buNone/>
              </a:pPr>
              <a:r>
                <a:rPr lang="zh-CN" altLang="en-US" sz="1000" dirty="0"/>
                <a:t>络视图</a:t>
              </a:r>
              <a:endParaRPr lang="en-US" altLang="zh-CN" sz="1000" dirty="0"/>
            </a:p>
          </p:txBody>
        </p:sp>
        <p:sp>
          <p:nvSpPr>
            <p:cNvPr id="118" name="圆角矩形 117"/>
            <p:cNvSpPr/>
            <p:nvPr/>
          </p:nvSpPr>
          <p:spPr bwMode="auto">
            <a:xfrm>
              <a:off x="4461405" y="2924270"/>
              <a:ext cx="4540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en-US" altLang="zh-CN" sz="900" dirty="0"/>
                <a:t>…</a:t>
              </a:r>
              <a:endParaRPr lang="zh-CN" altLang="en-US" sz="900" dirty="0"/>
            </a:p>
          </p:txBody>
        </p:sp>
        <p:sp>
          <p:nvSpPr>
            <p:cNvPr id="119" name="圆角矩形 118"/>
            <p:cNvSpPr/>
            <p:nvPr/>
          </p:nvSpPr>
          <p:spPr bwMode="auto">
            <a:xfrm>
              <a:off x="3742267" y="2924270"/>
              <a:ext cx="487363"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dirty="0"/>
                <a:t>路由计算</a:t>
              </a:r>
            </a:p>
          </p:txBody>
        </p:sp>
        <p:sp>
          <p:nvSpPr>
            <p:cNvPr id="120" name="圆角矩形 119"/>
            <p:cNvSpPr/>
            <p:nvPr/>
          </p:nvSpPr>
          <p:spPr bwMode="auto">
            <a:xfrm>
              <a:off x="3034242" y="2924270"/>
              <a:ext cx="492125" cy="647700"/>
            </a:xfrm>
            <a:prstGeom prst="round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lIns="0" tIns="0" rIns="0" bIns="0" anchor="ctr"/>
            <a:lstStyle/>
            <a:p>
              <a:pPr algn="ctr" eaLnBrk="1" hangingPunct="1">
                <a:defRPr/>
              </a:pPr>
              <a:r>
                <a:rPr lang="zh-CN" altLang="en-US" sz="900"/>
                <a:t>拓扑发现</a:t>
              </a:r>
              <a:endParaRPr lang="zh-CN" altLang="en-US" sz="900" dirty="0"/>
            </a:p>
          </p:txBody>
        </p:sp>
        <p:grpSp>
          <p:nvGrpSpPr>
            <p:cNvPr id="121" name="组合 3"/>
            <p:cNvGrpSpPr>
              <a:grpSpLocks/>
            </p:cNvGrpSpPr>
            <p:nvPr/>
          </p:nvGrpSpPr>
          <p:grpSpPr bwMode="auto">
            <a:xfrm>
              <a:off x="2977092" y="1782694"/>
              <a:ext cx="981075" cy="433551"/>
              <a:chOff x="2771800" y="1864953"/>
              <a:chExt cx="980513" cy="598848"/>
            </a:xfrm>
          </p:grpSpPr>
          <p:pic>
            <p:nvPicPr>
              <p:cNvPr id="122" name="图片 12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71800" y="1864953"/>
                <a:ext cx="980513" cy="59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Line 25"/>
              <p:cNvSpPr>
                <a:spLocks noChangeShapeType="1"/>
              </p:cNvSpPr>
              <p:nvPr/>
            </p:nvSpPr>
            <p:spPr bwMode="auto">
              <a:xfrm>
                <a:off x="3158353" y="2028530"/>
                <a:ext cx="225703" cy="2133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4" name="Line 26"/>
              <p:cNvSpPr>
                <a:spLocks noChangeShapeType="1"/>
              </p:cNvSpPr>
              <p:nvPr/>
            </p:nvSpPr>
            <p:spPr bwMode="auto">
              <a:xfrm>
                <a:off x="3158353" y="2015794"/>
                <a:ext cx="476533" cy="13222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5" name="Line 30"/>
              <p:cNvSpPr>
                <a:spLocks noChangeShapeType="1"/>
              </p:cNvSpPr>
              <p:nvPr/>
            </p:nvSpPr>
            <p:spPr bwMode="auto">
              <a:xfrm flipV="1">
                <a:off x="2998904" y="2212568"/>
                <a:ext cx="385153" cy="889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6" name="Line 26"/>
              <p:cNvSpPr>
                <a:spLocks noChangeShapeType="1"/>
              </p:cNvSpPr>
              <p:nvPr/>
            </p:nvSpPr>
            <p:spPr bwMode="auto">
              <a:xfrm flipH="1">
                <a:off x="2976377" y="2028530"/>
                <a:ext cx="162918" cy="25783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27"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10773" y="2260976"/>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8"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75190" y="1970681"/>
                <a:ext cx="137328" cy="88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29" name="Line 25"/>
              <p:cNvSpPr>
                <a:spLocks noChangeShapeType="1"/>
              </p:cNvSpPr>
              <p:nvPr/>
            </p:nvSpPr>
            <p:spPr bwMode="auto">
              <a:xfrm flipV="1">
                <a:off x="3384057" y="2163181"/>
                <a:ext cx="250830" cy="59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30"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95681" y="2190808"/>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1"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6872" y="2112817"/>
                <a:ext cx="137328" cy="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32" name="组合 1"/>
            <p:cNvGrpSpPr>
              <a:grpSpLocks/>
            </p:cNvGrpSpPr>
            <p:nvPr/>
          </p:nvGrpSpPr>
          <p:grpSpPr bwMode="auto">
            <a:xfrm>
              <a:off x="4407430" y="1838420"/>
              <a:ext cx="1062037" cy="439738"/>
              <a:chOff x="4584568" y="1881503"/>
              <a:chExt cx="1062760" cy="644690"/>
            </a:xfrm>
          </p:grpSpPr>
          <p:pic>
            <p:nvPicPr>
              <p:cNvPr id="133" name="图片 12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84568" y="1881503"/>
                <a:ext cx="1062760" cy="644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 name="Line 27"/>
              <p:cNvSpPr>
                <a:spLocks noChangeShapeType="1"/>
              </p:cNvSpPr>
              <p:nvPr/>
            </p:nvSpPr>
            <p:spPr bwMode="auto">
              <a:xfrm flipV="1">
                <a:off x="4717384" y="2041282"/>
                <a:ext cx="365185" cy="1612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35" name="Line 25"/>
              <p:cNvSpPr>
                <a:spLocks noChangeShapeType="1"/>
              </p:cNvSpPr>
              <p:nvPr/>
            </p:nvSpPr>
            <p:spPr bwMode="auto">
              <a:xfrm>
                <a:off x="5100127" y="2057602"/>
                <a:ext cx="140535" cy="3086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36" name="Line 26"/>
              <p:cNvSpPr>
                <a:spLocks noChangeShapeType="1"/>
              </p:cNvSpPr>
              <p:nvPr/>
            </p:nvSpPr>
            <p:spPr bwMode="auto">
              <a:xfrm>
                <a:off x="5100127" y="2043890"/>
                <a:ext cx="439017" cy="1423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37"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3194" y="2192033"/>
                <a:ext cx="126916"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8"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23511" y="1995325"/>
                <a:ext cx="126517" cy="95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9" name="Line 25"/>
              <p:cNvSpPr>
                <a:spLocks noChangeShapeType="1"/>
              </p:cNvSpPr>
              <p:nvPr/>
            </p:nvSpPr>
            <p:spPr bwMode="auto">
              <a:xfrm flipV="1">
                <a:off x="5265670" y="2202559"/>
                <a:ext cx="273476" cy="147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0"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70653" y="2328672"/>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1"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76485" y="2148341"/>
                <a:ext cx="126517" cy="9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grpSp>
          <p:nvGrpSpPr>
            <p:cNvPr id="142" name="组合 2"/>
            <p:cNvGrpSpPr>
              <a:grpSpLocks/>
            </p:cNvGrpSpPr>
            <p:nvPr/>
          </p:nvGrpSpPr>
          <p:grpSpPr bwMode="auto">
            <a:xfrm>
              <a:off x="6468005" y="1782694"/>
              <a:ext cx="874712" cy="441489"/>
              <a:chOff x="6386505" y="1851028"/>
              <a:chExt cx="873749" cy="620713"/>
            </a:xfrm>
          </p:grpSpPr>
          <p:pic>
            <p:nvPicPr>
              <p:cNvPr id="143" name="图片 123"/>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86505" y="1851028"/>
                <a:ext cx="873749" cy="62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 name="Line 25"/>
              <p:cNvSpPr>
                <a:spLocks noChangeShapeType="1"/>
              </p:cNvSpPr>
              <p:nvPr/>
            </p:nvSpPr>
            <p:spPr bwMode="auto">
              <a:xfrm>
                <a:off x="6724062" y="2030252"/>
                <a:ext cx="80186" cy="3093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45" name="Line 26"/>
              <p:cNvSpPr>
                <a:spLocks noChangeShapeType="1"/>
              </p:cNvSpPr>
              <p:nvPr/>
            </p:nvSpPr>
            <p:spPr bwMode="auto">
              <a:xfrm>
                <a:off x="6724062" y="2015680"/>
                <a:ext cx="448023" cy="1512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6"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45874" y="1964062"/>
                <a:ext cx="129112" cy="101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47" name="Line 25"/>
              <p:cNvSpPr>
                <a:spLocks noChangeShapeType="1"/>
              </p:cNvSpPr>
              <p:nvPr/>
            </p:nvSpPr>
            <p:spPr bwMode="auto">
              <a:xfrm flipV="1">
                <a:off x="6804248" y="2184319"/>
                <a:ext cx="367837" cy="14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8"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36984" y="2299301"/>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49"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08140" y="2126693"/>
                <a:ext cx="129112" cy="101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50" name="Text Box 69"/>
            <p:cNvSpPr txBox="1">
              <a:spLocks noChangeArrowheads="1"/>
            </p:cNvSpPr>
            <p:nvPr/>
          </p:nvSpPr>
          <p:spPr bwMode="auto">
            <a:xfrm>
              <a:off x="5434584" y="1317986"/>
              <a:ext cx="704130" cy="453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en-US" altLang="zh-CN" sz="1000" dirty="0"/>
                <a:t>……</a:t>
              </a:r>
            </a:p>
          </p:txBody>
        </p:sp>
        <p:sp>
          <p:nvSpPr>
            <p:cNvPr id="151" name="矩形 136"/>
            <p:cNvSpPr>
              <a:spLocks noChangeArrowheads="1"/>
            </p:cNvSpPr>
            <p:nvPr/>
          </p:nvSpPr>
          <p:spPr bwMode="auto">
            <a:xfrm>
              <a:off x="5421841" y="1762220"/>
              <a:ext cx="1133474" cy="597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lnSpc>
                  <a:spcPct val="110000"/>
                </a:lnSpc>
                <a:spcBef>
                  <a:spcPct val="0"/>
                </a:spcBef>
                <a:buFontTx/>
                <a:buNone/>
              </a:pPr>
              <a:r>
                <a:rPr lang="zh-CN" altLang="en-US" sz="1000" dirty="0"/>
                <a:t>抽象网</a:t>
              </a:r>
              <a:endParaRPr lang="en-US" altLang="zh-CN" sz="1000" dirty="0"/>
            </a:p>
            <a:p>
              <a:pPr marL="0" lvl="1" algn="ctr" eaLnBrk="1" hangingPunct="1">
                <a:lnSpc>
                  <a:spcPct val="110000"/>
                </a:lnSpc>
                <a:spcBef>
                  <a:spcPct val="0"/>
                </a:spcBef>
                <a:buFontTx/>
                <a:buNone/>
              </a:pPr>
              <a:r>
                <a:rPr lang="zh-CN" altLang="en-US" sz="1000" dirty="0" smtClean="0"/>
                <a:t>络视图</a:t>
              </a:r>
              <a:endParaRPr lang="en-US" altLang="zh-CN" sz="1000" dirty="0"/>
            </a:p>
          </p:txBody>
        </p:sp>
        <p:sp>
          <p:nvSpPr>
            <p:cNvPr id="152" name="Cloud 4"/>
            <p:cNvSpPr>
              <a:spLocks noChangeArrowheads="1"/>
            </p:cNvSpPr>
            <p:nvPr/>
          </p:nvSpPr>
          <p:spPr bwMode="auto">
            <a:xfrm>
              <a:off x="2234142" y="4257770"/>
              <a:ext cx="4646613" cy="865188"/>
            </a:xfrm>
            <a:custGeom>
              <a:avLst/>
              <a:gdLst>
                <a:gd name="T0" fmla="*/ 2147483646 w 43200"/>
                <a:gd name="T1" fmla="*/ 2147483646 h 43200"/>
                <a:gd name="T2" fmla="*/ 2147483646 w 43200"/>
                <a:gd name="T3" fmla="*/ 2147483646 h 43200"/>
                <a:gd name="T4" fmla="*/ 2147483646 w 43200"/>
                <a:gd name="T5" fmla="*/ 2147483646 h 43200"/>
                <a:gd name="T6" fmla="*/ 2147483646 w 43200"/>
                <a:gd name="T7" fmla="*/ 2147483646 h 43200"/>
                <a:gd name="T8" fmla="*/ 0 60000 65536"/>
                <a:gd name="T9" fmla="*/ 0 60000 65536"/>
                <a:gd name="T10" fmla="*/ 0 60000 65536"/>
                <a:gd name="T11" fmla="*/ 0 60000 65536"/>
                <a:gd name="T12" fmla="*/ 5954 w 43200"/>
                <a:gd name="T13" fmla="*/ 6524 h 43200"/>
                <a:gd name="T14" fmla="*/ 34174 w 43200"/>
                <a:gd name="T15" fmla="*/ 34674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lnTo>
                    <a:pt x="3900" y="14370"/>
                  </a:ln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noFill/>
            <a:ln w="9525">
              <a:solidFill>
                <a:schemeClr val="tx1"/>
              </a:solidFill>
              <a:miter lim="800000"/>
              <a:headEnd/>
              <a:tailEnd/>
            </a:ln>
            <a:effectLst>
              <a:outerShdw dist="23000" dir="5400000" rotWithShape="0">
                <a:srgbClr val="808080">
                  <a:alpha val="34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sz="1050"/>
            </a:p>
          </p:txBody>
        </p:sp>
        <p:pic>
          <p:nvPicPr>
            <p:cNvPr id="153"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15187" y="4888103"/>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54"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2711" y="4461860"/>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55"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6729" y="4811808"/>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56"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25103" y="4553045"/>
              <a:ext cx="4159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sp>
        <p:nvSpPr>
          <p:cNvPr id="157" name="Rectangle 8"/>
          <p:cNvSpPr>
            <a:spLocks noChangeArrowheads="1"/>
          </p:cNvSpPr>
          <p:nvPr/>
        </p:nvSpPr>
        <p:spPr bwMode="auto">
          <a:xfrm>
            <a:off x="452009" y="1102544"/>
            <a:ext cx="4202660" cy="356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smtClean="0">
                <a:latin typeface="微软雅黑" pitchFamily="34" charset="-122"/>
                <a:ea typeface="微软雅黑" pitchFamily="34" charset="-122"/>
              </a:rPr>
              <a:t>SDN</a:t>
            </a:r>
            <a:r>
              <a:rPr lang="zh-CN" altLang="en-US" b="1" dirty="0" smtClean="0">
                <a:latin typeface="微软雅黑" pitchFamily="34" charset="-122"/>
                <a:ea typeface="微软雅黑" pitchFamily="34" charset="-122"/>
              </a:rPr>
              <a:t>控制器承上启下</a:t>
            </a:r>
            <a:r>
              <a:rPr lang="zh-CN" altLang="en-US" b="1" dirty="0">
                <a:latin typeface="微软雅黑" pitchFamily="34" charset="-122"/>
                <a:ea typeface="微软雅黑" pitchFamily="34" charset="-122"/>
              </a:rPr>
              <a:t>的核心</a:t>
            </a:r>
            <a:r>
              <a:rPr lang="zh-CN" altLang="en-US" b="1" dirty="0" smtClean="0">
                <a:latin typeface="微软雅黑" pitchFamily="34" charset="-122"/>
                <a:ea typeface="微软雅黑" pitchFamily="34" charset="-122"/>
              </a:rPr>
              <a:t>作用</a:t>
            </a:r>
            <a:r>
              <a:rPr lang="zh-CN" altLang="en-US" b="1" dirty="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管理</a:t>
            </a:r>
            <a:r>
              <a:rPr lang="zh-CN" altLang="en-US" sz="1600" b="1" dirty="0">
                <a:solidFill>
                  <a:srgbClr val="C00000"/>
                </a:solidFill>
                <a:latin typeface="微软雅黑" pitchFamily="34" charset="-122"/>
                <a:ea typeface="微软雅黑" pitchFamily="34" charset="-122"/>
              </a:rPr>
              <a:t>网络设备资源</a:t>
            </a:r>
            <a:r>
              <a:rPr lang="zh-CN" altLang="en-US" sz="1600" b="1" dirty="0" smtClean="0">
                <a:latin typeface="微软雅黑" pitchFamily="34" charset="-122"/>
                <a:ea typeface="微软雅黑" pitchFamily="34" charset="-122"/>
              </a:rPr>
              <a:t>，向</a:t>
            </a:r>
            <a:r>
              <a:rPr lang="zh-CN" altLang="en-US" sz="1600" b="1" dirty="0">
                <a:latin typeface="微软雅黑" pitchFamily="34" charset="-122"/>
                <a:ea typeface="微软雅黑" pitchFamily="34" charset="-122"/>
              </a:rPr>
              <a:t>网络应用</a:t>
            </a:r>
            <a:r>
              <a:rPr lang="zh-CN" altLang="en-US" sz="1600" b="1" dirty="0">
                <a:solidFill>
                  <a:srgbClr val="C00000"/>
                </a:solidFill>
                <a:latin typeface="微软雅黑" pitchFamily="34" charset="-122"/>
                <a:ea typeface="微软雅黑" pitchFamily="34" charset="-122"/>
              </a:rPr>
              <a:t>提供抽象网络视图</a:t>
            </a:r>
            <a:r>
              <a:rPr lang="zh-CN" altLang="en-US" sz="1600" b="1" dirty="0">
                <a:latin typeface="微软雅黑" pitchFamily="34" charset="-122"/>
                <a:ea typeface="微软雅黑" pitchFamily="34" charset="-122"/>
              </a:rPr>
              <a:t>，</a:t>
            </a:r>
            <a:r>
              <a:rPr lang="zh-CN" altLang="en-US" sz="1600" b="1" dirty="0" smtClean="0">
                <a:solidFill>
                  <a:srgbClr val="C00000"/>
                </a:solidFill>
                <a:latin typeface="微软雅黑" pitchFamily="34" charset="-122"/>
                <a:ea typeface="微软雅黑" pitchFamily="34" charset="-122"/>
              </a:rPr>
              <a:t>屏蔽</a:t>
            </a:r>
            <a:r>
              <a:rPr lang="zh-CN" altLang="en-US" sz="1600" b="1" dirty="0" smtClean="0">
                <a:latin typeface="微软雅黑" pitchFamily="34" charset="-122"/>
                <a:ea typeface="微软雅黑" pitchFamily="34" charset="-122"/>
              </a:rPr>
              <a:t>数据平面设备</a:t>
            </a:r>
            <a:r>
              <a:rPr lang="zh-CN" altLang="en-US" sz="1600" b="1" dirty="0">
                <a:latin typeface="微软雅黑" pitchFamily="34" charset="-122"/>
                <a:ea typeface="微软雅黑" pitchFamily="34" charset="-122"/>
              </a:rPr>
              <a:t>的</a:t>
            </a:r>
            <a:r>
              <a:rPr lang="zh-CN" altLang="en-US" sz="1600" b="1" dirty="0">
                <a:solidFill>
                  <a:srgbClr val="C00000"/>
                </a:solidFill>
                <a:latin typeface="微软雅黑" pitchFamily="34" charset="-122"/>
                <a:ea typeface="微软雅黑" pitchFamily="34" charset="-122"/>
              </a:rPr>
              <a:t>异构性</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计算</a:t>
            </a:r>
            <a:r>
              <a:rPr lang="zh-CN" altLang="en-US" sz="1600" b="1" dirty="0">
                <a:solidFill>
                  <a:srgbClr val="C00000"/>
                </a:solidFill>
                <a:latin typeface="微软雅黑" pitchFamily="34" charset="-122"/>
                <a:ea typeface="微软雅黑" pitchFamily="34" charset="-122"/>
              </a:rPr>
              <a:t>转发路径、下发转发规则、协调全网转发行为</a:t>
            </a:r>
            <a:r>
              <a:rPr lang="zh-CN" altLang="en-US" sz="1600" b="1" dirty="0">
                <a:latin typeface="微软雅黑" pitchFamily="34" charset="-122"/>
                <a:ea typeface="微软雅黑" pitchFamily="34" charset="-122"/>
              </a:rPr>
              <a:t>等</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latin typeface="微软雅黑" pitchFamily="34" charset="-122"/>
                <a:ea typeface="微软雅黑" pitchFamily="34" charset="-122"/>
              </a:rPr>
              <a:t>与</a:t>
            </a:r>
            <a:r>
              <a:rPr lang="zh-CN" altLang="en-US" sz="1600" b="1" dirty="0">
                <a:latin typeface="微软雅黑" pitchFamily="34" charset="-122"/>
                <a:ea typeface="微软雅黑" pitchFamily="34" charset="-122"/>
              </a:rPr>
              <a:t>操作系统管理调度主机资源，</a:t>
            </a:r>
            <a:r>
              <a:rPr lang="zh-CN" altLang="en-US" sz="1600" b="1" dirty="0" smtClean="0">
                <a:latin typeface="微软雅黑" pitchFamily="34" charset="-122"/>
                <a:ea typeface="微软雅黑" pitchFamily="34" charset="-122"/>
              </a:rPr>
              <a:t>并提供</a:t>
            </a:r>
            <a:r>
              <a:rPr lang="zh-CN" altLang="en-US" sz="1600" b="1" dirty="0">
                <a:latin typeface="微软雅黑" pitchFamily="34" charset="-122"/>
                <a:ea typeface="微软雅黑" pitchFamily="34" charset="-122"/>
              </a:rPr>
              <a:t>调用接口的特征非常类似，因此控制器又被称为</a:t>
            </a:r>
            <a:r>
              <a:rPr lang="zh-CN" altLang="en-US" sz="1600" b="1" dirty="0">
                <a:solidFill>
                  <a:srgbClr val="C00000"/>
                </a:solidFill>
                <a:latin typeface="微软雅黑" pitchFamily="34" charset="-122"/>
                <a:ea typeface="微软雅黑" pitchFamily="34" charset="-122"/>
              </a:rPr>
              <a:t>网络操作系统</a:t>
            </a:r>
            <a:r>
              <a:rPr lang="en-US" altLang="zh-CN" sz="1600" b="1" dirty="0">
                <a:solidFill>
                  <a:srgbClr val="C00000"/>
                </a:solidFill>
                <a:latin typeface="微软雅黑" pitchFamily="34" charset="-122"/>
                <a:ea typeface="微软雅黑" pitchFamily="34" charset="-122"/>
              </a:rPr>
              <a:t>NOS (Network Operating System)</a:t>
            </a:r>
            <a:r>
              <a:rPr lang="zh-CN" altLang="en-US" sz="1600" b="1" dirty="0" smtClean="0">
                <a:latin typeface="微软雅黑" pitchFamily="34" charset="-122"/>
                <a:ea typeface="微软雅黑" pitchFamily="34" charset="-122"/>
              </a:rPr>
              <a:t>。</a:t>
            </a:r>
            <a:endParaRPr lang="zh-CN" altLang="en-US" sz="14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40362935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
                                            <p:txEl>
                                              <p:pRg st="2" end="2"/>
                                            </p:txEl>
                                          </p:spTgt>
                                        </p:tgtEl>
                                        <p:attrNameLst>
                                          <p:attrName>style.visibility</p:attrName>
                                        </p:attrNameLst>
                                      </p:cBhvr>
                                      <p:to>
                                        <p:strVal val="visible"/>
                                      </p:to>
                                    </p:set>
                                    <p:animEffect transition="in" filter="fade">
                                      <p:cBhvr>
                                        <p:cTn id="7" dur="500"/>
                                        <p:tgtEl>
                                          <p:spTgt spid="15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7">
                                            <p:txEl>
                                              <p:pRg st="3" end="3"/>
                                            </p:txEl>
                                          </p:spTgt>
                                        </p:tgtEl>
                                        <p:attrNameLst>
                                          <p:attrName>style.visibility</p:attrName>
                                        </p:attrNameLst>
                                      </p:cBhvr>
                                      <p:to>
                                        <p:strVal val="visible"/>
                                      </p:to>
                                    </p:set>
                                    <p:animEffect transition="in" filter="fade">
                                      <p:cBhvr>
                                        <p:cTn id="12" dur="500"/>
                                        <p:tgtEl>
                                          <p:spTgt spid="1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SDN</a:t>
            </a:r>
            <a:r>
              <a:rPr lang="zh-CN" altLang="en-US" sz="2400" b="1" dirty="0">
                <a:solidFill>
                  <a:schemeClr val="bg1"/>
                </a:solidFill>
                <a:latin typeface="微软雅黑" pitchFamily="34" charset="-122"/>
                <a:ea typeface="微软雅黑" pitchFamily="34" charset="-122"/>
              </a:rPr>
              <a:t> </a:t>
            </a:r>
            <a:r>
              <a:rPr lang="zh-CN" altLang="en-US" sz="2400" b="1" dirty="0" smtClean="0">
                <a:solidFill>
                  <a:schemeClr val="bg1"/>
                </a:solidFill>
                <a:latin typeface="微软雅黑" pitchFamily="34" charset="-122"/>
                <a:ea typeface="微软雅黑" pitchFamily="34" charset="-122"/>
              </a:rPr>
              <a:t>的主要</a:t>
            </a:r>
            <a:r>
              <a:rPr lang="zh-CN" altLang="en-US" sz="2400" b="1" dirty="0">
                <a:solidFill>
                  <a:schemeClr val="bg1"/>
                </a:solidFill>
                <a:latin typeface="微软雅黑" pitchFamily="34" charset="-122"/>
                <a:ea typeface="微软雅黑" pitchFamily="34" charset="-122"/>
              </a:rPr>
              <a:t>特征</a:t>
            </a:r>
          </a:p>
        </p:txBody>
      </p:sp>
      <p:sp>
        <p:nvSpPr>
          <p:cNvPr id="487" name="Rectangle 8"/>
          <p:cNvSpPr>
            <a:spLocks noChangeArrowheads="1"/>
          </p:cNvSpPr>
          <p:nvPr/>
        </p:nvSpPr>
        <p:spPr bwMode="auto">
          <a:xfrm>
            <a:off x="545143" y="1009413"/>
            <a:ext cx="796385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控制</a:t>
            </a:r>
            <a:r>
              <a:rPr lang="zh-CN" altLang="en-US" sz="2000" b="1" dirty="0">
                <a:solidFill>
                  <a:srgbClr val="C00000"/>
                </a:solidFill>
                <a:latin typeface="微软雅黑" pitchFamily="34" charset="-122"/>
                <a:ea typeface="微软雅黑" pitchFamily="34" charset="-122"/>
              </a:rPr>
              <a:t>平面与数据平面相</a:t>
            </a:r>
            <a:r>
              <a:rPr lang="zh-CN" altLang="en-US" sz="2000" b="1" dirty="0" smtClean="0">
                <a:solidFill>
                  <a:srgbClr val="C00000"/>
                </a:solidFill>
                <a:latin typeface="微软雅黑" pitchFamily="34" charset="-122"/>
                <a:ea typeface="微软雅黑" pitchFamily="34" charset="-122"/>
              </a:rPr>
              <a:t>分离。</a:t>
            </a:r>
            <a:endParaRPr lang="en-US" altLang="zh-CN" sz="2000" b="1" dirty="0" smtClean="0">
              <a:solidFill>
                <a:srgbClr val="C00000"/>
              </a:solidFill>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数据</a:t>
            </a:r>
            <a:r>
              <a:rPr lang="zh-CN" altLang="en-US" b="1" dirty="0" smtClean="0">
                <a:latin typeface="微软雅黑" pitchFamily="34" charset="-122"/>
                <a:ea typeface="微软雅黑" pitchFamily="34" charset="-122"/>
              </a:rPr>
              <a:t>平面由许多</a:t>
            </a:r>
            <a:r>
              <a:rPr lang="zh-CN" altLang="en-US" b="1" dirty="0">
                <a:latin typeface="微软雅黑" pitchFamily="34" charset="-122"/>
                <a:ea typeface="微软雅黑" pitchFamily="34" charset="-122"/>
              </a:rPr>
              <a:t>相对简单但快速的网络</a:t>
            </a:r>
            <a:r>
              <a:rPr lang="zh-CN" altLang="en-US" b="1" dirty="0" smtClean="0">
                <a:latin typeface="微软雅黑" pitchFamily="34" charset="-122"/>
                <a:ea typeface="微软雅黑" pitchFamily="34" charset="-122"/>
              </a:rPr>
              <a:t>交换机组成，</a:t>
            </a:r>
            <a:r>
              <a:rPr lang="zh-CN" altLang="en-US" b="1" dirty="0">
                <a:latin typeface="微软雅黑" pitchFamily="34" charset="-122"/>
                <a:ea typeface="微软雅黑" pitchFamily="34" charset="-122"/>
              </a:rPr>
              <a:t>这些交换机执行分组转发规则，而控制平面则由</a:t>
            </a: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控制器组成。</a:t>
            </a:r>
          </a:p>
          <a:p>
            <a:pPr marL="285750" indent="-28575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网络</a:t>
            </a:r>
            <a:r>
              <a:rPr lang="zh-CN" altLang="en-US" sz="2000" b="1" dirty="0">
                <a:latin typeface="微软雅黑" pitchFamily="34" charset="-122"/>
                <a:ea typeface="微软雅黑" pitchFamily="34" charset="-122"/>
              </a:rPr>
              <a:t>决策控制由</a:t>
            </a:r>
            <a:r>
              <a:rPr lang="zh-CN" altLang="en-US" sz="2000" b="1" dirty="0">
                <a:solidFill>
                  <a:srgbClr val="C00000"/>
                </a:solidFill>
                <a:latin typeface="微软雅黑" pitchFamily="34" charset="-122"/>
                <a:ea typeface="微软雅黑" pitchFamily="34" charset="-122"/>
              </a:rPr>
              <a:t>逻辑上集中式的</a:t>
            </a:r>
            <a:r>
              <a:rPr lang="en-US" altLang="zh-CN" sz="2000" b="1" dirty="0">
                <a:solidFill>
                  <a:srgbClr val="C00000"/>
                </a:solidFill>
                <a:latin typeface="微软雅黑" pitchFamily="34" charset="-122"/>
                <a:ea typeface="微软雅黑" pitchFamily="34" charset="-122"/>
              </a:rPr>
              <a:t>SDN</a:t>
            </a:r>
            <a:r>
              <a:rPr lang="zh-CN" altLang="en-US" sz="2000" b="1" dirty="0">
                <a:solidFill>
                  <a:srgbClr val="C00000"/>
                </a:solidFill>
                <a:latin typeface="微软雅黑" pitchFamily="34" charset="-122"/>
                <a:ea typeface="微软雅黑" pitchFamily="34" charset="-122"/>
              </a:rPr>
              <a:t>控制器</a:t>
            </a:r>
            <a:r>
              <a:rPr lang="zh-CN" altLang="en-US" sz="2000" b="1" dirty="0" smtClean="0">
                <a:latin typeface="微软雅黑" pitchFamily="34" charset="-122"/>
                <a:ea typeface="微软雅黑" pitchFamily="34" charset="-122"/>
              </a:rPr>
              <a:t>实现。</a:t>
            </a:r>
            <a:endParaRPr lang="en-US" altLang="zh-CN" sz="20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控制器可以结合应用需求、网络状态、以及管理策略等进行控制决策，并将决策结果以指令方式下发给数据平面网络设备</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9128303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7">
                                            <p:txEl>
                                              <p:pRg st="2" end="2"/>
                                            </p:txEl>
                                          </p:spTgt>
                                        </p:tgtEl>
                                        <p:attrNameLst>
                                          <p:attrName>style.visibility</p:attrName>
                                        </p:attrNameLst>
                                      </p:cBhvr>
                                      <p:to>
                                        <p:strVal val="visible"/>
                                      </p:to>
                                    </p:set>
                                    <p:animEffect transition="in" filter="fade">
                                      <p:cBhvr>
                                        <p:cTn id="7" dur="500"/>
                                        <p:tgtEl>
                                          <p:spTgt spid="48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87">
                                            <p:txEl>
                                              <p:pRg st="3" end="3"/>
                                            </p:txEl>
                                          </p:spTgt>
                                        </p:tgtEl>
                                        <p:attrNameLst>
                                          <p:attrName>style.visibility</p:attrName>
                                        </p:attrNameLst>
                                      </p:cBhvr>
                                      <p:to>
                                        <p:strVal val="visible"/>
                                      </p:to>
                                    </p:set>
                                    <p:animEffect transition="in" filter="fade">
                                      <p:cBhvr>
                                        <p:cTn id="10" dur="500"/>
                                        <p:tgtEl>
                                          <p:spTgt spid="4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SDN</a:t>
            </a:r>
            <a:r>
              <a:rPr lang="zh-CN" altLang="en-US" sz="2400" b="1" dirty="0">
                <a:solidFill>
                  <a:schemeClr val="bg1"/>
                </a:solidFill>
                <a:latin typeface="微软雅黑" pitchFamily="34" charset="-122"/>
                <a:ea typeface="微软雅黑" pitchFamily="34" charset="-122"/>
              </a:rPr>
              <a:t> </a:t>
            </a:r>
            <a:r>
              <a:rPr lang="zh-CN" altLang="en-US" sz="2400" b="1" dirty="0" smtClean="0">
                <a:solidFill>
                  <a:schemeClr val="bg1"/>
                </a:solidFill>
                <a:latin typeface="微软雅黑" pitchFamily="34" charset="-122"/>
                <a:ea typeface="微软雅黑" pitchFamily="34" charset="-122"/>
              </a:rPr>
              <a:t>的主要</a:t>
            </a:r>
            <a:r>
              <a:rPr lang="zh-CN" altLang="en-US" sz="2400" b="1" dirty="0">
                <a:solidFill>
                  <a:schemeClr val="bg1"/>
                </a:solidFill>
                <a:latin typeface="微软雅黑" pitchFamily="34" charset="-122"/>
                <a:ea typeface="微软雅黑" pitchFamily="34" charset="-122"/>
              </a:rPr>
              <a:t>特征</a:t>
            </a:r>
          </a:p>
        </p:txBody>
      </p:sp>
      <p:sp>
        <p:nvSpPr>
          <p:cNvPr id="487" name="Rectangle 8"/>
          <p:cNvSpPr>
            <a:spLocks noChangeArrowheads="1"/>
          </p:cNvSpPr>
          <p:nvPr/>
        </p:nvSpPr>
        <p:spPr bwMode="auto">
          <a:xfrm>
            <a:off x="545143" y="1009413"/>
            <a:ext cx="796385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控制</a:t>
            </a:r>
            <a:r>
              <a:rPr lang="zh-CN" altLang="en-US" sz="2000" b="1" dirty="0">
                <a:latin typeface="微软雅黑" pitchFamily="34" charset="-122"/>
                <a:ea typeface="微软雅黑" pitchFamily="34" charset="-122"/>
              </a:rPr>
              <a:t>平面与数据平面设备的交互遵循</a:t>
            </a:r>
            <a:r>
              <a:rPr lang="zh-CN" altLang="en-US" sz="2000" b="1" dirty="0">
                <a:solidFill>
                  <a:srgbClr val="C00000"/>
                </a:solidFill>
                <a:latin typeface="微软雅黑" pitchFamily="34" charset="-122"/>
                <a:ea typeface="微软雅黑" pitchFamily="34" charset="-122"/>
              </a:rPr>
              <a:t>标准化</a:t>
            </a:r>
            <a:r>
              <a:rPr lang="zh-CN" altLang="en-US" sz="2000" b="1" dirty="0" smtClean="0">
                <a:solidFill>
                  <a:srgbClr val="C00000"/>
                </a:solidFill>
                <a:latin typeface="微软雅黑" pitchFamily="34" charset="-122"/>
                <a:ea typeface="微软雅黑" pitchFamily="34" charset="-122"/>
              </a:rPr>
              <a:t>接口</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b="1" dirty="0" smtClean="0">
                <a:latin typeface="微软雅黑" pitchFamily="34" charset="-122"/>
                <a:ea typeface="微软雅黑" pitchFamily="34" charset="-122"/>
              </a:rPr>
              <a:t>包括 </a:t>
            </a:r>
            <a:r>
              <a:rPr lang="en-US" altLang="zh-CN" b="1" dirty="0" smtClean="0">
                <a:latin typeface="微软雅黑" pitchFamily="34" charset="-122"/>
                <a:ea typeface="微软雅黑" pitchFamily="34" charset="-122"/>
              </a:rPr>
              <a:t>OpenFlow </a:t>
            </a:r>
            <a:r>
              <a:rPr lang="zh-CN" altLang="en-US" b="1" dirty="0" smtClean="0">
                <a:latin typeface="微软雅黑" pitchFamily="34" charset="-122"/>
                <a:ea typeface="微软雅黑" pitchFamily="34" charset="-122"/>
              </a:rPr>
              <a:t>等</a:t>
            </a:r>
            <a:r>
              <a:rPr lang="zh-CN" altLang="en-US" b="1" dirty="0">
                <a:latin typeface="微软雅黑" pitchFamily="34" charset="-122"/>
                <a:ea typeface="微软雅黑" pitchFamily="34" charset="-122"/>
              </a:rPr>
              <a:t>，支持控制平面以统一的方式定义数据平面的分组转发行为。</a:t>
            </a:r>
          </a:p>
          <a:p>
            <a:pPr marL="285750" indent="-28575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通过 </a:t>
            </a:r>
            <a:r>
              <a:rPr lang="en-US" altLang="zh-CN" sz="2000" b="1" dirty="0" smtClean="0">
                <a:latin typeface="微软雅黑" pitchFamily="34" charset="-122"/>
                <a:ea typeface="微软雅黑" pitchFamily="34" charset="-122"/>
              </a:rPr>
              <a:t>SDN </a:t>
            </a:r>
            <a:r>
              <a:rPr lang="zh-CN" altLang="en-US" sz="2000" b="1" dirty="0" smtClean="0">
                <a:latin typeface="微软雅黑" pitchFamily="34" charset="-122"/>
                <a:ea typeface="微软雅黑" pitchFamily="34" charset="-122"/>
              </a:rPr>
              <a:t>控制器</a:t>
            </a:r>
            <a:r>
              <a:rPr lang="zh-CN" altLang="en-US" sz="2000" b="1" dirty="0">
                <a:latin typeface="微软雅黑" pitchFamily="34" charset="-122"/>
                <a:ea typeface="微软雅黑" pitchFamily="34" charset="-122"/>
              </a:rPr>
              <a:t>提供的北向接口，网络应用</a:t>
            </a:r>
            <a:r>
              <a:rPr lang="zh-CN" altLang="en-US" sz="2000" b="1" dirty="0">
                <a:solidFill>
                  <a:srgbClr val="C00000"/>
                </a:solidFill>
                <a:latin typeface="微软雅黑" pitchFamily="34" charset="-122"/>
                <a:ea typeface="微软雅黑" pitchFamily="34" charset="-122"/>
              </a:rPr>
              <a:t>对网络进行编程控制</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en-US" altLang="zh-CN" b="1" dirty="0" smtClean="0">
                <a:latin typeface="微软雅黑" pitchFamily="34" charset="-122"/>
                <a:ea typeface="微软雅黑" pitchFamily="34" charset="-122"/>
              </a:rPr>
              <a:t>SDN </a:t>
            </a:r>
            <a:r>
              <a:rPr lang="zh-CN" altLang="en-US" b="1" dirty="0" smtClean="0">
                <a:latin typeface="微软雅黑" pitchFamily="34" charset="-122"/>
                <a:ea typeface="微软雅黑" pitchFamily="34" charset="-122"/>
              </a:rPr>
              <a:t>控制器</a:t>
            </a:r>
            <a:r>
              <a:rPr lang="zh-CN" altLang="en-US" b="1" dirty="0">
                <a:latin typeface="微软雅黑" pitchFamily="34" charset="-122"/>
                <a:ea typeface="微软雅黑" pitchFamily="34" charset="-122"/>
              </a:rPr>
              <a:t>向网络应用提供抽象网络视图，支持其编程定义所期望的网络行为。</a:t>
            </a:r>
          </a:p>
        </p:txBody>
      </p:sp>
    </p:spTree>
    <p:custDataLst>
      <p:tags r:id="rId1"/>
    </p:custDataLst>
    <p:extLst>
      <p:ext uri="{BB962C8B-B14F-4D97-AF65-F5344CB8AC3E}">
        <p14:creationId xmlns:p14="http://schemas.microsoft.com/office/powerpoint/2010/main" val="15633013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7">
                                            <p:txEl>
                                              <p:pRg st="2" end="2"/>
                                            </p:txEl>
                                          </p:spTgt>
                                        </p:tgtEl>
                                        <p:attrNameLst>
                                          <p:attrName>style.visibility</p:attrName>
                                        </p:attrNameLst>
                                      </p:cBhvr>
                                      <p:to>
                                        <p:strVal val="visible"/>
                                      </p:to>
                                    </p:set>
                                    <p:animEffect transition="in" filter="fade">
                                      <p:cBhvr>
                                        <p:cTn id="7" dur="500"/>
                                        <p:tgtEl>
                                          <p:spTgt spid="487">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87">
                                            <p:txEl>
                                              <p:pRg st="3" end="3"/>
                                            </p:txEl>
                                          </p:spTgt>
                                        </p:tgtEl>
                                        <p:attrNameLst>
                                          <p:attrName>style.visibility</p:attrName>
                                        </p:attrNameLst>
                                      </p:cBhvr>
                                      <p:to>
                                        <p:strVal val="visible"/>
                                      </p:to>
                                    </p:set>
                                    <p:animEffect transition="in" filter="fade">
                                      <p:cBhvr>
                                        <p:cTn id="10" dur="500"/>
                                        <p:tgtEl>
                                          <p:spTgt spid="4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圆角矩形 74"/>
          <p:cNvSpPr/>
          <p:nvPr/>
        </p:nvSpPr>
        <p:spPr>
          <a:xfrm>
            <a:off x="939844" y="1093191"/>
            <a:ext cx="6999452" cy="3919075"/>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44" name="Straight Connector 43"/>
          <p:cNvCxnSpPr>
            <a:stCxn id="34" idx="4"/>
          </p:cNvCxnSpPr>
          <p:nvPr/>
        </p:nvCxnSpPr>
        <p:spPr bwMode="auto">
          <a:xfrm flipV="1">
            <a:off x="2976563" y="3872834"/>
            <a:ext cx="1045369" cy="441087"/>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bwMode="auto">
          <a:xfrm>
            <a:off x="4154092" y="3785918"/>
            <a:ext cx="829865" cy="553641"/>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p:cNvCxnSpPr>
            <a:endCxn id="37" idx="2"/>
          </p:cNvCxnSpPr>
          <p:nvPr/>
        </p:nvCxnSpPr>
        <p:spPr bwMode="auto">
          <a:xfrm flipV="1">
            <a:off x="4172534" y="4222996"/>
            <a:ext cx="529730" cy="557597"/>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bwMode="auto">
          <a:xfrm>
            <a:off x="2546152" y="4481801"/>
            <a:ext cx="1050131" cy="198834"/>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bwMode="auto">
          <a:xfrm flipV="1">
            <a:off x="5404445" y="4156205"/>
            <a:ext cx="957065" cy="60913"/>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p:cNvCxnSpPr>
            <a:endCxn id="34" idx="1"/>
          </p:cNvCxnSpPr>
          <p:nvPr/>
        </p:nvCxnSpPr>
        <p:spPr bwMode="auto">
          <a:xfrm>
            <a:off x="2546152" y="3003354"/>
            <a:ext cx="0" cy="1059345"/>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2233" name="TextBox 44"/>
          <p:cNvSpPr txBox="1">
            <a:spLocks noChangeArrowheads="1"/>
          </p:cNvSpPr>
          <p:nvPr/>
        </p:nvSpPr>
        <p:spPr bwMode="auto">
          <a:xfrm>
            <a:off x="3832314" y="2658467"/>
            <a:ext cx="12234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全局网络视图</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sp>
        <p:nvSpPr>
          <p:cNvPr id="39" name="Rounded Rectangle 38"/>
          <p:cNvSpPr/>
          <p:nvPr/>
        </p:nvSpPr>
        <p:spPr bwMode="auto">
          <a:xfrm>
            <a:off x="1943100" y="2192862"/>
            <a:ext cx="4997054" cy="369023"/>
          </a:xfrm>
          <a:prstGeom prst="roundRect">
            <a:avLst/>
          </a:prstGeom>
          <a:solidFill>
            <a:schemeClr val="accent3">
              <a:lumMod val="75000"/>
            </a:schemeClr>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b="1" dirty="0" smtClean="0">
                <a:solidFill>
                  <a:srgbClr val="FFFFFF"/>
                </a:solidFill>
                <a:latin typeface="微软雅黑" panose="020B0503020204020204" pitchFamily="34" charset="-122"/>
                <a:ea typeface="微软雅黑" panose="020B0503020204020204" pitchFamily="34" charset="-122"/>
              </a:rPr>
              <a:t>网络虚拟化</a:t>
            </a:r>
            <a:endParaRPr lang="en-US" b="1" dirty="0">
              <a:solidFill>
                <a:srgbClr val="FFFFFF"/>
              </a:solidFill>
              <a:latin typeface="微软雅黑" panose="020B0503020204020204" pitchFamily="34" charset="-122"/>
              <a:ea typeface="微软雅黑" panose="020B0503020204020204" pitchFamily="34" charset="-122"/>
            </a:endParaRPr>
          </a:p>
        </p:txBody>
      </p:sp>
      <p:cxnSp>
        <p:nvCxnSpPr>
          <p:cNvPr id="135" name="Straight Connector 134"/>
          <p:cNvCxnSpPr/>
          <p:nvPr/>
        </p:nvCxnSpPr>
        <p:spPr bwMode="auto">
          <a:xfrm>
            <a:off x="3829050" y="3107262"/>
            <a:ext cx="0" cy="742950"/>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7" name="Straight Connector 136"/>
          <p:cNvCxnSpPr/>
          <p:nvPr/>
        </p:nvCxnSpPr>
        <p:spPr bwMode="auto">
          <a:xfrm>
            <a:off x="5200650" y="3164412"/>
            <a:ext cx="0" cy="1314450"/>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bwMode="auto">
          <a:xfrm>
            <a:off x="6457950" y="3221562"/>
            <a:ext cx="0" cy="742950"/>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4" name="AutoShape 7"/>
          <p:cNvSpPr>
            <a:spLocks noChangeArrowheads="1"/>
          </p:cNvSpPr>
          <p:nvPr/>
        </p:nvSpPr>
        <p:spPr bwMode="auto">
          <a:xfrm>
            <a:off x="2115741" y="4062699"/>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smtClean="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35" name="AutoShape 7"/>
          <p:cNvSpPr>
            <a:spLocks noChangeArrowheads="1"/>
          </p:cNvSpPr>
          <p:nvPr/>
        </p:nvSpPr>
        <p:spPr bwMode="auto">
          <a:xfrm>
            <a:off x="3520519" y="4448240"/>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36" name="AutoShape 7"/>
          <p:cNvSpPr>
            <a:spLocks noChangeArrowheads="1"/>
          </p:cNvSpPr>
          <p:nvPr/>
        </p:nvSpPr>
        <p:spPr bwMode="auto">
          <a:xfrm>
            <a:off x="3392091" y="3496597"/>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37" name="AutoShape 7"/>
          <p:cNvSpPr>
            <a:spLocks noChangeArrowheads="1"/>
          </p:cNvSpPr>
          <p:nvPr/>
        </p:nvSpPr>
        <p:spPr bwMode="auto">
          <a:xfrm>
            <a:off x="4702264" y="3971774"/>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38" name="AutoShape 7"/>
          <p:cNvSpPr>
            <a:spLocks noChangeArrowheads="1"/>
          </p:cNvSpPr>
          <p:nvPr/>
        </p:nvSpPr>
        <p:spPr bwMode="auto">
          <a:xfrm>
            <a:off x="5997178" y="3747819"/>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79" name="Rounded Rectangle 78"/>
          <p:cNvSpPr/>
          <p:nvPr/>
        </p:nvSpPr>
        <p:spPr>
          <a:xfrm>
            <a:off x="1943100" y="2992962"/>
            <a:ext cx="4997450" cy="328166"/>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altLang="zh-CN" b="1" dirty="0" smtClean="0">
                <a:solidFill>
                  <a:srgbClr val="FFFFFF"/>
                </a:solidFill>
                <a:latin typeface="微软雅黑" panose="020B0503020204020204" pitchFamily="34" charset="-122"/>
                <a:ea typeface="微软雅黑" panose="020B0503020204020204" pitchFamily="34" charset="-122"/>
              </a:rPr>
              <a:t>SDN</a:t>
            </a:r>
            <a:r>
              <a:rPr lang="zh-CN" altLang="en-US" b="1" dirty="0" smtClean="0">
                <a:solidFill>
                  <a:srgbClr val="FFFFFF"/>
                </a:solidFill>
                <a:latin typeface="微软雅黑" panose="020B0503020204020204" pitchFamily="34" charset="-122"/>
                <a:ea typeface="微软雅黑" panose="020B0503020204020204" pitchFamily="34" charset="-122"/>
              </a:rPr>
              <a:t>控制器</a:t>
            </a:r>
            <a:r>
              <a:rPr lang="en-US" altLang="zh-CN" b="1" dirty="0" smtClean="0">
                <a:solidFill>
                  <a:srgbClr val="FFFFFF"/>
                </a:solidFill>
                <a:latin typeface="微软雅黑" panose="020B0503020204020204" pitchFamily="34" charset="-122"/>
                <a:ea typeface="微软雅黑" panose="020B0503020204020204" pitchFamily="34" charset="-122"/>
              </a:rPr>
              <a:t>/</a:t>
            </a:r>
            <a:r>
              <a:rPr lang="zh-CN" altLang="en-US" b="1" dirty="0" smtClean="0">
                <a:solidFill>
                  <a:srgbClr val="FFFFFF"/>
                </a:solidFill>
                <a:latin typeface="微软雅黑" panose="020B0503020204020204" pitchFamily="34" charset="-122"/>
                <a:ea typeface="微软雅黑" panose="020B0503020204020204" pitchFamily="34" charset="-122"/>
              </a:rPr>
              <a:t>网络操作系统</a:t>
            </a:r>
            <a:endParaRPr lang="en-US" b="1" dirty="0">
              <a:solidFill>
                <a:srgbClr val="FFFFFF"/>
              </a:solidFill>
              <a:latin typeface="微软雅黑" panose="020B0503020204020204" pitchFamily="34" charset="-122"/>
              <a:ea typeface="微软雅黑" panose="020B0503020204020204" pitchFamily="34" charset="-122"/>
            </a:endParaRPr>
          </a:p>
        </p:txBody>
      </p:sp>
      <p:grpSp>
        <p:nvGrpSpPr>
          <p:cNvPr id="10" name="Group 1"/>
          <p:cNvGrpSpPr/>
          <p:nvPr/>
        </p:nvGrpSpPr>
        <p:grpSpPr>
          <a:xfrm>
            <a:off x="5486400" y="2592913"/>
            <a:ext cx="868680" cy="410441"/>
            <a:chOff x="5257800" y="3124200"/>
            <a:chExt cx="1158240" cy="547255"/>
          </a:xfrm>
          <a:effectLst>
            <a:outerShdw blurRad="50800" dist="50800" dir="10260000" algn="tl" rotWithShape="0">
              <a:srgbClr val="000000">
                <a:alpha val="54000"/>
              </a:srgbClr>
            </a:outerShdw>
          </a:effectLst>
        </p:grpSpPr>
        <p:sp>
          <p:nvSpPr>
            <p:cNvPr id="33" name="Oval 32"/>
            <p:cNvSpPr/>
            <p:nvPr/>
          </p:nvSpPr>
          <p:spPr>
            <a:xfrm>
              <a:off x="5257800" y="33528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40" name="Oval 39"/>
            <p:cNvSpPr/>
            <p:nvPr/>
          </p:nvSpPr>
          <p:spPr>
            <a:xfrm>
              <a:off x="5562600" y="31242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41" name="Oval 40"/>
            <p:cNvSpPr/>
            <p:nvPr/>
          </p:nvSpPr>
          <p:spPr>
            <a:xfrm>
              <a:off x="5943600" y="33528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42" name="Oval 41"/>
            <p:cNvSpPr/>
            <p:nvPr/>
          </p:nvSpPr>
          <p:spPr>
            <a:xfrm>
              <a:off x="6248400" y="32004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43" name="Oval 42"/>
            <p:cNvSpPr/>
            <p:nvPr/>
          </p:nvSpPr>
          <p:spPr>
            <a:xfrm>
              <a:off x="5638800" y="35052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47" name="Straight Connector 46"/>
            <p:cNvCxnSpPr>
              <a:stCxn id="33" idx="7"/>
              <a:endCxn id="40" idx="3"/>
            </p:cNvCxnSpPr>
            <p:nvPr/>
          </p:nvCxnSpPr>
          <p:spPr>
            <a:xfrm flipV="1">
              <a:off x="5400890" y="3266108"/>
              <a:ext cx="186260" cy="111039"/>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3" idx="2"/>
              <a:endCxn id="33" idx="5"/>
            </p:cNvCxnSpPr>
            <p:nvPr/>
          </p:nvCxnSpPr>
          <p:spPr>
            <a:xfrm flipH="1" flipV="1">
              <a:off x="5400890" y="3494708"/>
              <a:ext cx="237910" cy="93620"/>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1" idx="1"/>
              <a:endCxn id="40" idx="5"/>
            </p:cNvCxnSpPr>
            <p:nvPr/>
          </p:nvCxnSpPr>
          <p:spPr>
            <a:xfrm flipH="1" flipV="1">
              <a:off x="5705690" y="3266108"/>
              <a:ext cx="262460" cy="111039"/>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43" idx="6"/>
              <a:endCxn id="41" idx="3"/>
            </p:cNvCxnSpPr>
            <p:nvPr/>
          </p:nvCxnSpPr>
          <p:spPr>
            <a:xfrm flipV="1">
              <a:off x="5806440" y="3494708"/>
              <a:ext cx="161710" cy="93620"/>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1" idx="6"/>
              <a:endCxn id="42" idx="3"/>
            </p:cNvCxnSpPr>
            <p:nvPr/>
          </p:nvCxnSpPr>
          <p:spPr>
            <a:xfrm flipV="1">
              <a:off x="6111240" y="3342308"/>
              <a:ext cx="161710" cy="93620"/>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81948" name="TextBox 44"/>
          <p:cNvSpPr txBox="1">
            <a:spLocks noChangeArrowheads="1"/>
          </p:cNvSpPr>
          <p:nvPr/>
        </p:nvSpPr>
        <p:spPr bwMode="auto">
          <a:xfrm>
            <a:off x="3906845" y="1907552"/>
            <a:ext cx="12234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抽象网络视图</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sp>
        <p:nvSpPr>
          <p:cNvPr id="71"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b="1">
              <a:latin typeface="微软雅黑" panose="020B0503020204020204" pitchFamily="34" charset="-122"/>
              <a:ea typeface="微软雅黑" panose="020B0503020204020204" pitchFamily="34" charset="-122"/>
            </a:endParaRPr>
          </a:p>
        </p:txBody>
      </p:sp>
      <p:sp>
        <p:nvSpPr>
          <p:cNvPr id="73"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的逻辑上集中式控制</a:t>
            </a:r>
            <a:r>
              <a:rPr lang="zh-CN" altLang="en-US" sz="2400" b="1" dirty="0">
                <a:solidFill>
                  <a:schemeClr val="bg1"/>
                </a:solidFill>
                <a:latin typeface="微软雅黑" pitchFamily="34" charset="-122"/>
                <a:ea typeface="微软雅黑" pitchFamily="34" charset="-122"/>
              </a:rPr>
              <a:t>方式</a:t>
            </a:r>
          </a:p>
        </p:txBody>
      </p:sp>
      <p:grpSp>
        <p:nvGrpSpPr>
          <p:cNvPr id="17" name="组合 16"/>
          <p:cNvGrpSpPr/>
          <p:nvPr/>
        </p:nvGrpSpPr>
        <p:grpSpPr>
          <a:xfrm>
            <a:off x="2057401" y="1149948"/>
            <a:ext cx="1314450" cy="795547"/>
            <a:chOff x="2057401" y="1149948"/>
            <a:chExt cx="1314450" cy="795547"/>
          </a:xfrm>
        </p:grpSpPr>
        <p:grpSp>
          <p:nvGrpSpPr>
            <p:cNvPr id="52267" name="Group 27"/>
            <p:cNvGrpSpPr>
              <a:grpSpLocks/>
            </p:cNvGrpSpPr>
            <p:nvPr/>
          </p:nvGrpSpPr>
          <p:grpSpPr bwMode="auto">
            <a:xfrm>
              <a:off x="2057401" y="1450080"/>
              <a:ext cx="1314450" cy="495415"/>
              <a:chOff x="1066800" y="1108169"/>
              <a:chExt cx="1752600" cy="660688"/>
            </a:xfrm>
          </p:grpSpPr>
          <p:sp>
            <p:nvSpPr>
              <p:cNvPr id="81" name="Rounded Rectangle 80"/>
              <p:cNvSpPr/>
              <p:nvPr/>
            </p:nvSpPr>
            <p:spPr>
              <a:xfrm>
                <a:off x="1066800" y="1108169"/>
                <a:ext cx="1752600" cy="6444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500">
                  <a:solidFill>
                    <a:srgbClr val="000000"/>
                  </a:solidFill>
                  <a:latin typeface="微软雅黑" panose="020B0503020204020204" pitchFamily="34" charset="-122"/>
                  <a:ea typeface="微软雅黑" panose="020B0503020204020204" pitchFamily="34" charset="-122"/>
                </a:endParaRPr>
              </a:p>
            </p:txBody>
          </p:sp>
          <p:grpSp>
            <p:nvGrpSpPr>
              <p:cNvPr id="4" name="Group 24"/>
              <p:cNvGrpSpPr/>
              <p:nvPr/>
            </p:nvGrpSpPr>
            <p:grpSpPr>
              <a:xfrm>
                <a:off x="2133600" y="1219200"/>
                <a:ext cx="609600" cy="457200"/>
                <a:chOff x="2057400" y="1219200"/>
                <a:chExt cx="609600" cy="457200"/>
              </a:xfrm>
              <a:effectLst>
                <a:outerShdw blurRad="50800" dist="50800" dir="12780000" algn="tl" rotWithShape="0">
                  <a:srgbClr val="000000">
                    <a:alpha val="57000"/>
                  </a:srgbClr>
                </a:outerShdw>
              </a:effectLst>
            </p:grpSpPr>
            <p:sp>
              <p:nvSpPr>
                <p:cNvPr id="56" name="Oval 55"/>
                <p:cNvSpPr/>
                <p:nvPr/>
              </p:nvSpPr>
              <p:spPr bwMode="auto">
                <a:xfrm>
                  <a:off x="2286000" y="1371600"/>
                  <a:ext cx="167627"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66" name="Straight Connector 65"/>
                <p:cNvCxnSpPr>
                  <a:stCxn id="56" idx="7"/>
                </p:cNvCxnSpPr>
                <p:nvPr/>
              </p:nvCxnSpPr>
              <p:spPr bwMode="auto">
                <a:xfrm flipV="1">
                  <a:off x="2429079" y="1219200"/>
                  <a:ext cx="161721" cy="176747"/>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a:endCxn id="56" idx="3"/>
                </p:cNvCxnSpPr>
                <p:nvPr/>
              </p:nvCxnSpPr>
              <p:spPr bwMode="auto">
                <a:xfrm flipV="1">
                  <a:off x="2133600" y="1513508"/>
                  <a:ext cx="176948" cy="162892"/>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a:stCxn id="56" idx="5"/>
                </p:cNvCxnSpPr>
                <p:nvPr/>
              </p:nvCxnSpPr>
              <p:spPr bwMode="auto">
                <a:xfrm>
                  <a:off x="2429079" y="1513508"/>
                  <a:ext cx="161721" cy="162892"/>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56" idx="1"/>
                </p:cNvCxnSpPr>
                <p:nvPr/>
              </p:nvCxnSpPr>
              <p:spPr bwMode="auto">
                <a:xfrm flipH="1" flipV="1">
                  <a:off x="2133600" y="1219200"/>
                  <a:ext cx="176948" cy="176747"/>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56" idx="2"/>
                </p:cNvCxnSpPr>
                <p:nvPr/>
              </p:nvCxnSpPr>
              <p:spPr bwMode="auto">
                <a:xfrm flipH="1" flipV="1">
                  <a:off x="2057400" y="1447800"/>
                  <a:ext cx="228600" cy="6928"/>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a:endCxn id="56" idx="6"/>
                </p:cNvCxnSpPr>
                <p:nvPr/>
              </p:nvCxnSpPr>
              <p:spPr bwMode="auto">
                <a:xfrm flipH="1">
                  <a:off x="2453627" y="1447800"/>
                  <a:ext cx="213373" cy="6928"/>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52273" name="TextBox 23"/>
              <p:cNvSpPr txBox="1">
                <a:spLocks noChangeArrowheads="1"/>
              </p:cNvSpPr>
              <p:nvPr/>
            </p:nvSpPr>
            <p:spPr bwMode="auto">
              <a:xfrm>
                <a:off x="1355652" y="1153179"/>
                <a:ext cx="656591" cy="615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algn="r" eaLnBrk="1" hangingPunct="1">
                  <a:spcBef>
                    <a:spcPct val="0"/>
                  </a:spcBef>
                  <a:buFontTx/>
                  <a:buNone/>
                </a:pPr>
                <a:r>
                  <a:rPr lang="zh-CN" altLang="en-US" sz="1200" b="1" dirty="0" smtClean="0">
                    <a:solidFill>
                      <a:schemeClr val="tx1"/>
                    </a:solidFill>
                    <a:latin typeface="微软雅黑" panose="020B0503020204020204" pitchFamily="34" charset="-122"/>
                    <a:ea typeface="微软雅黑" panose="020B0503020204020204" pitchFamily="34" charset="-122"/>
                  </a:rPr>
                  <a:t>控制</a:t>
                </a:r>
                <a:endParaRPr lang="en-US" altLang="zh-CN" sz="1200" b="1" dirty="0" smtClean="0">
                  <a:solidFill>
                    <a:schemeClr val="tx1"/>
                  </a:solidFill>
                  <a:latin typeface="微软雅黑" panose="020B0503020204020204" pitchFamily="34" charset="-122"/>
                  <a:ea typeface="微软雅黑" panose="020B0503020204020204" pitchFamily="34" charset="-122"/>
                </a:endParaRPr>
              </a:p>
              <a:p>
                <a:pPr algn="r" eaLnBrk="1" hangingPunct="1">
                  <a:spcBef>
                    <a:spcPct val="0"/>
                  </a:spcBef>
                  <a:buFontTx/>
                  <a:buNone/>
                </a:pPr>
                <a:r>
                  <a:rPr lang="zh-CN" altLang="en-US" sz="1200" b="1" dirty="0" smtClean="0">
                    <a:solidFill>
                      <a:schemeClr val="tx1"/>
                    </a:solidFill>
                    <a:latin typeface="微软雅黑" panose="020B0503020204020204" pitchFamily="34" charset="-122"/>
                    <a:ea typeface="微软雅黑" panose="020B0503020204020204" pitchFamily="34" charset="-122"/>
                  </a:rPr>
                  <a:t>程序</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sp>
          <p:nvSpPr>
            <p:cNvPr id="83" name="TextBox 44"/>
            <p:cNvSpPr txBox="1">
              <a:spLocks noChangeArrowheads="1"/>
            </p:cNvSpPr>
            <p:nvPr/>
          </p:nvSpPr>
          <p:spPr bwMode="auto">
            <a:xfrm>
              <a:off x="2272253" y="1149948"/>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网络应用</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3675457" y="1149948"/>
            <a:ext cx="1335880" cy="795564"/>
            <a:chOff x="3675457" y="1149948"/>
            <a:chExt cx="1335880" cy="795564"/>
          </a:xfrm>
        </p:grpSpPr>
        <p:grpSp>
          <p:nvGrpSpPr>
            <p:cNvPr id="52260" name="Group 26"/>
            <p:cNvGrpSpPr>
              <a:grpSpLocks/>
            </p:cNvGrpSpPr>
            <p:nvPr/>
          </p:nvGrpSpPr>
          <p:grpSpPr bwMode="auto">
            <a:xfrm>
              <a:off x="3675457" y="1450098"/>
              <a:ext cx="1335880" cy="495414"/>
              <a:chOff x="3325060" y="1066800"/>
              <a:chExt cx="1780339" cy="660712"/>
            </a:xfrm>
          </p:grpSpPr>
          <p:sp>
            <p:nvSpPr>
              <p:cNvPr id="82" name="Rounded Rectangle 81"/>
              <p:cNvSpPr/>
              <p:nvPr/>
            </p:nvSpPr>
            <p:spPr>
              <a:xfrm>
                <a:off x="3325060" y="1066800"/>
                <a:ext cx="1780339" cy="6444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500">
                  <a:solidFill>
                    <a:srgbClr val="000000"/>
                  </a:solidFill>
                  <a:latin typeface="微软雅黑" panose="020B0503020204020204" pitchFamily="34" charset="-122"/>
                  <a:ea typeface="微软雅黑" panose="020B0503020204020204" pitchFamily="34" charset="-122"/>
                </a:endParaRPr>
              </a:p>
            </p:txBody>
          </p:sp>
          <p:sp>
            <p:nvSpPr>
              <p:cNvPr id="52265" name="TextBox 92"/>
              <p:cNvSpPr txBox="1">
                <a:spLocks noChangeArrowheads="1"/>
              </p:cNvSpPr>
              <p:nvPr/>
            </p:nvSpPr>
            <p:spPr bwMode="auto">
              <a:xfrm>
                <a:off x="3659378" y="1111811"/>
                <a:ext cx="656283" cy="615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控制</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程序</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nvGrpSpPr>
              <p:cNvPr id="7" name="Group 64"/>
              <p:cNvGrpSpPr/>
              <p:nvPr/>
            </p:nvGrpSpPr>
            <p:grpSpPr bwMode="auto">
              <a:xfrm>
                <a:off x="4343400" y="1066800"/>
                <a:ext cx="558756" cy="609600"/>
                <a:chOff x="7848600" y="1752600"/>
                <a:chExt cx="762000" cy="838200"/>
              </a:xfrm>
              <a:solidFill>
                <a:schemeClr val="bg1"/>
              </a:solidFill>
            </p:grpSpPr>
            <p:sp>
              <p:nvSpPr>
                <p:cNvPr id="53" name="Oval 52"/>
                <p:cNvSpPr/>
                <p:nvPr/>
              </p:nvSpPr>
              <p:spPr>
                <a:xfrm>
                  <a:off x="8001000" y="1981200"/>
                  <a:ext cx="228600" cy="22860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54" name="Oval 53"/>
                <p:cNvSpPr/>
                <p:nvPr/>
              </p:nvSpPr>
              <p:spPr>
                <a:xfrm>
                  <a:off x="8382000" y="1752600"/>
                  <a:ext cx="228600" cy="22860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60" name="Oval 59"/>
                <p:cNvSpPr/>
                <p:nvPr/>
              </p:nvSpPr>
              <p:spPr>
                <a:xfrm>
                  <a:off x="7848600" y="2362200"/>
                  <a:ext cx="228600" cy="22860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61" name="Straight Connector 60"/>
                <p:cNvCxnSpPr>
                  <a:stCxn id="53" idx="7"/>
                  <a:endCxn id="54" idx="3"/>
                </p:cNvCxnSpPr>
                <p:nvPr/>
              </p:nvCxnSpPr>
              <p:spPr>
                <a:xfrm rot="5400000" flipH="1" flipV="1">
                  <a:off x="8272322" y="1871522"/>
                  <a:ext cx="66956" cy="2193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a:stCxn id="60" idx="0"/>
                  <a:endCxn id="53" idx="3"/>
                </p:cNvCxnSpPr>
                <p:nvPr/>
              </p:nvCxnSpPr>
              <p:spPr>
                <a:xfrm rot="5400000" flipH="1" flipV="1">
                  <a:off x="7905750" y="2233472"/>
                  <a:ext cx="185878" cy="71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5" name="Straight Connector 64"/>
                <p:cNvCxnSpPr>
                  <a:stCxn id="60" idx="7"/>
                  <a:endCxn id="54" idx="4"/>
                </p:cNvCxnSpPr>
                <p:nvPr/>
              </p:nvCxnSpPr>
              <p:spPr>
                <a:xfrm rot="5400000" flipH="1" flipV="1">
                  <a:off x="8062772" y="1962150"/>
                  <a:ext cx="414478" cy="452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grpSp>
        <p:sp>
          <p:nvSpPr>
            <p:cNvPr id="85" name="TextBox 44"/>
            <p:cNvSpPr txBox="1">
              <a:spLocks noChangeArrowheads="1"/>
            </p:cNvSpPr>
            <p:nvPr/>
          </p:nvSpPr>
          <p:spPr bwMode="auto">
            <a:xfrm>
              <a:off x="3932322" y="1149948"/>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网络应用</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5314950" y="1149948"/>
            <a:ext cx="1428750" cy="795582"/>
            <a:chOff x="5314950" y="1149948"/>
            <a:chExt cx="1428750" cy="795582"/>
          </a:xfrm>
        </p:grpSpPr>
        <p:grpSp>
          <p:nvGrpSpPr>
            <p:cNvPr id="52253" name="Group 25"/>
            <p:cNvGrpSpPr>
              <a:grpSpLocks/>
            </p:cNvGrpSpPr>
            <p:nvPr/>
          </p:nvGrpSpPr>
          <p:grpSpPr bwMode="auto">
            <a:xfrm>
              <a:off x="5314950" y="1450117"/>
              <a:ext cx="1428750" cy="495413"/>
              <a:chOff x="5410200" y="1066800"/>
              <a:chExt cx="1905000" cy="660737"/>
            </a:xfrm>
          </p:grpSpPr>
          <p:sp>
            <p:nvSpPr>
              <p:cNvPr id="95" name="Rounded Rectangle 94"/>
              <p:cNvSpPr/>
              <p:nvPr/>
            </p:nvSpPr>
            <p:spPr>
              <a:xfrm>
                <a:off x="5410200" y="1066800"/>
                <a:ext cx="1905000" cy="6444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500">
                  <a:solidFill>
                    <a:srgbClr val="000000"/>
                  </a:solidFill>
                  <a:latin typeface="微软雅黑" panose="020B0503020204020204" pitchFamily="34" charset="-122"/>
                  <a:ea typeface="微软雅黑" panose="020B0503020204020204" pitchFamily="34" charset="-122"/>
                </a:endParaRPr>
              </a:p>
            </p:txBody>
          </p:sp>
          <p:sp>
            <p:nvSpPr>
              <p:cNvPr id="52258" name="TextBox 95"/>
              <p:cNvSpPr txBox="1">
                <a:spLocks noChangeArrowheads="1"/>
              </p:cNvSpPr>
              <p:nvPr/>
            </p:nvSpPr>
            <p:spPr bwMode="auto">
              <a:xfrm>
                <a:off x="5744208" y="1111811"/>
                <a:ext cx="656591" cy="61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控制</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程序</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nvGrpSpPr>
              <p:cNvPr id="9" name="Group 64"/>
              <p:cNvGrpSpPr/>
              <p:nvPr/>
            </p:nvGrpSpPr>
            <p:grpSpPr bwMode="auto">
              <a:xfrm>
                <a:off x="6400866" y="1212273"/>
                <a:ext cx="838134" cy="387927"/>
                <a:chOff x="7848600" y="2057400"/>
                <a:chExt cx="1143000" cy="533400"/>
              </a:xfrm>
              <a:solidFill>
                <a:schemeClr val="bg1"/>
              </a:solidFill>
            </p:grpSpPr>
            <p:sp>
              <p:nvSpPr>
                <p:cNvPr id="77" name="Oval 76"/>
                <p:cNvSpPr/>
                <p:nvPr/>
              </p:nvSpPr>
              <p:spPr>
                <a:xfrm>
                  <a:off x="8382000" y="2362200"/>
                  <a:ext cx="228600" cy="228600"/>
                </a:xfrm>
                <a:prstGeom prst="ellipse">
                  <a:avLst/>
                </a:prstGeom>
                <a:solidFill>
                  <a:schemeClr val="accent1"/>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78" name="Oval 77"/>
                <p:cNvSpPr/>
                <p:nvPr/>
              </p:nvSpPr>
              <p:spPr>
                <a:xfrm>
                  <a:off x="8763000" y="2057400"/>
                  <a:ext cx="228600" cy="228600"/>
                </a:xfrm>
                <a:prstGeom prst="ellipse">
                  <a:avLst/>
                </a:prstGeom>
                <a:solidFill>
                  <a:schemeClr val="accent1"/>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80" name="Oval 79"/>
                <p:cNvSpPr/>
                <p:nvPr/>
              </p:nvSpPr>
              <p:spPr>
                <a:xfrm>
                  <a:off x="7848600" y="2362200"/>
                  <a:ext cx="228600" cy="228600"/>
                </a:xfrm>
                <a:prstGeom prst="ellipse">
                  <a:avLst/>
                </a:prstGeom>
                <a:solidFill>
                  <a:schemeClr val="accent1"/>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84" name="Straight Connector 83"/>
                <p:cNvCxnSpPr>
                  <a:stCxn id="80" idx="5"/>
                  <a:endCxn id="77" idx="3"/>
                </p:cNvCxnSpPr>
                <p:nvPr/>
              </p:nvCxnSpPr>
              <p:spPr>
                <a:xfrm rot="16200000" flipH="1">
                  <a:off x="8229600" y="2371444"/>
                  <a:ext cx="1588" cy="3717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a:stCxn id="77" idx="6"/>
                  <a:endCxn id="78" idx="3"/>
                </p:cNvCxnSpPr>
                <p:nvPr/>
              </p:nvCxnSpPr>
              <p:spPr>
                <a:xfrm flipV="1">
                  <a:off x="8610600" y="2252522"/>
                  <a:ext cx="185878" cy="2239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grpSp>
        <p:sp>
          <p:nvSpPr>
            <p:cNvPr id="87" name="TextBox 44"/>
            <p:cNvSpPr txBox="1">
              <a:spLocks noChangeArrowheads="1"/>
            </p:cNvSpPr>
            <p:nvPr/>
          </p:nvSpPr>
          <p:spPr bwMode="auto">
            <a:xfrm>
              <a:off x="5650966" y="1149948"/>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网络应用</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grpSp>
    </p:spTree>
    <p:custDataLst>
      <p:tags r:id="rId1"/>
    </p:custDataLst>
    <p:extLst>
      <p:ext uri="{BB962C8B-B14F-4D97-AF65-F5344CB8AC3E}">
        <p14:creationId xmlns:p14="http://schemas.microsoft.com/office/powerpoint/2010/main" val="17150656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down)">
                                      <p:cBhvr>
                                        <p:cTn id="7" dur="500"/>
                                        <p:tgtEl>
                                          <p:spTgt spid="70"/>
                                        </p:tgtEl>
                                      </p:cBhvr>
                                    </p:animEffect>
                                  </p:childTnLst>
                                </p:cTn>
                              </p:par>
                              <p:par>
                                <p:cTn id="8" presetID="22" presetClass="entr" presetSubtype="4"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wipe(down)">
                                      <p:cBhvr>
                                        <p:cTn id="10" dur="500"/>
                                        <p:tgtEl>
                                          <p:spTgt spid="135"/>
                                        </p:tgtEl>
                                      </p:cBhvr>
                                    </p:animEffect>
                                  </p:childTnLst>
                                </p:cTn>
                              </p:par>
                              <p:par>
                                <p:cTn id="11" presetID="22" presetClass="entr" presetSubtype="4" fill="hold" nodeType="withEffect">
                                  <p:stCondLst>
                                    <p:cond delay="0"/>
                                  </p:stCondLst>
                                  <p:childTnLst>
                                    <p:set>
                                      <p:cBhvr>
                                        <p:cTn id="12" dur="1" fill="hold">
                                          <p:stCondLst>
                                            <p:cond delay="0"/>
                                          </p:stCondLst>
                                        </p:cTn>
                                        <p:tgtEl>
                                          <p:spTgt spid="137"/>
                                        </p:tgtEl>
                                        <p:attrNameLst>
                                          <p:attrName>style.visibility</p:attrName>
                                        </p:attrNameLst>
                                      </p:cBhvr>
                                      <p:to>
                                        <p:strVal val="visible"/>
                                      </p:to>
                                    </p:set>
                                    <p:animEffect transition="in" filter="wipe(down)">
                                      <p:cBhvr>
                                        <p:cTn id="13" dur="500"/>
                                        <p:tgtEl>
                                          <p:spTgt spid="137"/>
                                        </p:tgtEl>
                                      </p:cBhvr>
                                    </p:animEffect>
                                  </p:childTnLst>
                                </p:cTn>
                              </p:par>
                              <p:par>
                                <p:cTn id="14" presetID="22" presetClass="entr" presetSubtype="4" fill="hold" nodeType="withEffect">
                                  <p:stCondLst>
                                    <p:cond delay="0"/>
                                  </p:stCondLst>
                                  <p:childTnLst>
                                    <p:set>
                                      <p:cBhvr>
                                        <p:cTn id="15" dur="1" fill="hold">
                                          <p:stCondLst>
                                            <p:cond delay="0"/>
                                          </p:stCondLst>
                                        </p:cTn>
                                        <p:tgtEl>
                                          <p:spTgt spid="141"/>
                                        </p:tgtEl>
                                        <p:attrNameLst>
                                          <p:attrName>style.visibility</p:attrName>
                                        </p:attrNameLst>
                                      </p:cBhvr>
                                      <p:to>
                                        <p:strVal val="visible"/>
                                      </p:to>
                                    </p:set>
                                    <p:animEffect transition="in" filter="wipe(down)">
                                      <p:cBhvr>
                                        <p:cTn id="16" dur="500"/>
                                        <p:tgtEl>
                                          <p:spTgt spid="141"/>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52233"/>
                                        </p:tgtEl>
                                        <p:attrNameLst>
                                          <p:attrName>style.visibility</p:attrName>
                                        </p:attrNameLst>
                                      </p:cBhvr>
                                      <p:to>
                                        <p:strVal val="visible"/>
                                      </p:to>
                                    </p:set>
                                    <p:animEffect transition="in" filter="fade">
                                      <p:cBhvr>
                                        <p:cTn id="20" dur="500"/>
                                        <p:tgtEl>
                                          <p:spTgt spid="522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9"/>
                                        </p:tgtEl>
                                        <p:attrNameLst>
                                          <p:attrName>style.visibility</p:attrName>
                                        </p:attrNameLst>
                                      </p:cBhvr>
                                      <p:to>
                                        <p:strVal val="visible"/>
                                      </p:to>
                                    </p:set>
                                    <p:animEffect transition="in" filter="fade">
                                      <p:cBhvr>
                                        <p:cTn id="23" dur="500"/>
                                        <p:tgtEl>
                                          <p:spTgt spid="79"/>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1948"/>
                                        </p:tgtEl>
                                        <p:attrNameLst>
                                          <p:attrName>style.visibility</p:attrName>
                                        </p:attrNameLst>
                                      </p:cBhvr>
                                      <p:to>
                                        <p:strVal val="visible"/>
                                      </p:to>
                                    </p:set>
                                    <p:animEffect transition="in" filter="fade">
                                      <p:cBhvr>
                                        <p:cTn id="34" dur="500"/>
                                        <p:tgtEl>
                                          <p:spTgt spid="81948"/>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par>
                          <p:cTn id="43" fill="hold">
                            <p:stCondLst>
                              <p:cond delay="1500"/>
                            </p:stCondLst>
                            <p:childTnLst>
                              <p:par>
                                <p:cTn id="44" presetID="10" presetClass="entr" presetSubtype="0"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3" grpId="0"/>
      <p:bldP spid="79" grpId="0" animBg="1"/>
      <p:bldP spid="819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圆角矩形 102"/>
          <p:cNvSpPr/>
          <p:nvPr/>
        </p:nvSpPr>
        <p:spPr>
          <a:xfrm>
            <a:off x="939844" y="1093191"/>
            <a:ext cx="6999452" cy="3919075"/>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118" name="Straight Connector 43"/>
          <p:cNvCxnSpPr>
            <a:stCxn id="127" idx="4"/>
          </p:cNvCxnSpPr>
          <p:nvPr/>
        </p:nvCxnSpPr>
        <p:spPr bwMode="auto">
          <a:xfrm flipV="1">
            <a:off x="2976563" y="3872834"/>
            <a:ext cx="1045369" cy="441087"/>
          </a:xfrm>
          <a:prstGeom prst="line">
            <a:avLst/>
          </a:prstGeom>
        </p:spPr>
        <p:style>
          <a:lnRef idx="2">
            <a:schemeClr val="accent1"/>
          </a:lnRef>
          <a:fillRef idx="0">
            <a:schemeClr val="accent1"/>
          </a:fillRef>
          <a:effectRef idx="1">
            <a:schemeClr val="accent1"/>
          </a:effectRef>
          <a:fontRef idx="minor">
            <a:schemeClr val="tx1"/>
          </a:fontRef>
        </p:style>
      </p:cxnSp>
      <p:cxnSp>
        <p:nvCxnSpPr>
          <p:cNvPr id="119" name="Straight Connector 45"/>
          <p:cNvCxnSpPr/>
          <p:nvPr/>
        </p:nvCxnSpPr>
        <p:spPr bwMode="auto">
          <a:xfrm>
            <a:off x="4154092" y="3785918"/>
            <a:ext cx="829865" cy="553641"/>
          </a:xfrm>
          <a:prstGeom prst="line">
            <a:avLst/>
          </a:prstGeom>
        </p:spPr>
        <p:style>
          <a:lnRef idx="2">
            <a:schemeClr val="accent1"/>
          </a:lnRef>
          <a:fillRef idx="0">
            <a:schemeClr val="accent1"/>
          </a:fillRef>
          <a:effectRef idx="1">
            <a:schemeClr val="accent1"/>
          </a:effectRef>
          <a:fontRef idx="minor">
            <a:schemeClr val="tx1"/>
          </a:fontRef>
        </p:style>
      </p:cxnSp>
      <p:cxnSp>
        <p:nvCxnSpPr>
          <p:cNvPr id="120" name="Straight Connector 47"/>
          <p:cNvCxnSpPr>
            <a:endCxn id="130" idx="2"/>
          </p:cNvCxnSpPr>
          <p:nvPr/>
        </p:nvCxnSpPr>
        <p:spPr bwMode="auto">
          <a:xfrm flipV="1">
            <a:off x="4172534" y="4222996"/>
            <a:ext cx="529730" cy="557597"/>
          </a:xfrm>
          <a:prstGeom prst="line">
            <a:avLst/>
          </a:prstGeom>
        </p:spPr>
        <p:style>
          <a:lnRef idx="2">
            <a:schemeClr val="accent1"/>
          </a:lnRef>
          <a:fillRef idx="0">
            <a:schemeClr val="accent1"/>
          </a:fillRef>
          <a:effectRef idx="1">
            <a:schemeClr val="accent1"/>
          </a:effectRef>
          <a:fontRef idx="minor">
            <a:schemeClr val="tx1"/>
          </a:fontRef>
        </p:style>
      </p:cxnSp>
      <p:cxnSp>
        <p:nvCxnSpPr>
          <p:cNvPr id="121" name="Straight Connector 49"/>
          <p:cNvCxnSpPr/>
          <p:nvPr/>
        </p:nvCxnSpPr>
        <p:spPr bwMode="auto">
          <a:xfrm>
            <a:off x="2546152" y="4481801"/>
            <a:ext cx="1050131" cy="198834"/>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Straight Connector 51"/>
          <p:cNvCxnSpPr/>
          <p:nvPr/>
        </p:nvCxnSpPr>
        <p:spPr bwMode="auto">
          <a:xfrm flipV="1">
            <a:off x="5404445" y="4156205"/>
            <a:ext cx="957065" cy="60913"/>
          </a:xfrm>
          <a:prstGeom prst="line">
            <a:avLst/>
          </a:prstGeom>
        </p:spPr>
        <p:style>
          <a:lnRef idx="2">
            <a:schemeClr val="accent1"/>
          </a:lnRef>
          <a:fillRef idx="0">
            <a:schemeClr val="accent1"/>
          </a:fillRef>
          <a:effectRef idx="1">
            <a:schemeClr val="accent1"/>
          </a:effectRef>
          <a:fontRef idx="minor">
            <a:schemeClr val="tx1"/>
          </a:fontRef>
        </p:style>
      </p:cxnSp>
      <p:cxnSp>
        <p:nvCxnSpPr>
          <p:cNvPr id="124" name="Straight Connector 134"/>
          <p:cNvCxnSpPr/>
          <p:nvPr/>
        </p:nvCxnSpPr>
        <p:spPr bwMode="auto">
          <a:xfrm>
            <a:off x="3829050" y="3107262"/>
            <a:ext cx="0" cy="742950"/>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5" name="Straight Connector 136"/>
          <p:cNvCxnSpPr/>
          <p:nvPr/>
        </p:nvCxnSpPr>
        <p:spPr bwMode="auto">
          <a:xfrm>
            <a:off x="5200650" y="3164412"/>
            <a:ext cx="0" cy="1314450"/>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6" name="Straight Connector 140"/>
          <p:cNvCxnSpPr/>
          <p:nvPr/>
        </p:nvCxnSpPr>
        <p:spPr bwMode="auto">
          <a:xfrm>
            <a:off x="6457950" y="3221562"/>
            <a:ext cx="0" cy="742950"/>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27" name="AutoShape 7"/>
          <p:cNvSpPr>
            <a:spLocks noChangeArrowheads="1"/>
          </p:cNvSpPr>
          <p:nvPr/>
        </p:nvSpPr>
        <p:spPr bwMode="auto">
          <a:xfrm>
            <a:off x="2115741" y="4062699"/>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smtClean="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28" name="AutoShape 7"/>
          <p:cNvSpPr>
            <a:spLocks noChangeArrowheads="1"/>
          </p:cNvSpPr>
          <p:nvPr/>
        </p:nvSpPr>
        <p:spPr bwMode="auto">
          <a:xfrm>
            <a:off x="3520519" y="4448240"/>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29" name="AutoShape 7"/>
          <p:cNvSpPr>
            <a:spLocks noChangeArrowheads="1"/>
          </p:cNvSpPr>
          <p:nvPr/>
        </p:nvSpPr>
        <p:spPr bwMode="auto">
          <a:xfrm>
            <a:off x="3392091" y="3496597"/>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30" name="AutoShape 7"/>
          <p:cNvSpPr>
            <a:spLocks noChangeArrowheads="1"/>
          </p:cNvSpPr>
          <p:nvPr/>
        </p:nvSpPr>
        <p:spPr bwMode="auto">
          <a:xfrm>
            <a:off x="4702264" y="3971774"/>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sp>
        <p:nvSpPr>
          <p:cNvPr id="131" name="AutoShape 7"/>
          <p:cNvSpPr>
            <a:spLocks noChangeArrowheads="1"/>
          </p:cNvSpPr>
          <p:nvPr/>
        </p:nvSpPr>
        <p:spPr bwMode="auto">
          <a:xfrm>
            <a:off x="5997178" y="3747819"/>
            <a:ext cx="860822" cy="502444"/>
          </a:xfrm>
          <a:prstGeom prst="can">
            <a:avLst>
              <a:gd name="adj" fmla="val 43620"/>
            </a:avLst>
          </a:prstGeom>
          <a:solidFill>
            <a:schemeClr val="tx2"/>
          </a:solidFill>
          <a:ln w="9525">
            <a:noFill/>
            <a:round/>
            <a:headEnd/>
            <a:tailEnd/>
          </a:ln>
          <a:effectLst>
            <a:outerShdw blurRad="63500" dist="38099" dir="2700000" algn="ctr" rotWithShape="0">
              <a:schemeClr val="bg2">
                <a:alpha val="74998"/>
              </a:schemeClr>
            </a:outerShdw>
          </a:effectLst>
        </p:spPr>
        <p:txBody>
          <a:bodyPr wrap="none"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r>
              <a:rPr lang="zh-CN" altLang="en-US" sz="1050" dirty="0">
                <a:solidFill>
                  <a:schemeClr val="bg1"/>
                </a:solidFill>
                <a:latin typeface="微软雅黑" panose="020B0503020204020204" pitchFamily="34" charset="-122"/>
                <a:ea typeface="微软雅黑" panose="020B0503020204020204" pitchFamily="34" charset="-122"/>
              </a:rPr>
              <a:t>分组转发</a:t>
            </a:r>
            <a:endParaRPr lang="en-US" altLang="zh-CN" sz="1050" dirty="0">
              <a:solidFill>
                <a:schemeClr val="bg1"/>
              </a:solidFill>
              <a:latin typeface="微软雅黑" panose="020B0503020204020204" pitchFamily="34" charset="-122"/>
              <a:ea typeface="微软雅黑" panose="020B0503020204020204" pitchFamily="34" charset="-122"/>
            </a:endParaRPr>
          </a:p>
        </p:txBody>
      </p:sp>
      <p:cxnSp>
        <p:nvCxnSpPr>
          <p:cNvPr id="70" name="Straight Connector 69"/>
          <p:cNvCxnSpPr/>
          <p:nvPr/>
        </p:nvCxnSpPr>
        <p:spPr bwMode="auto">
          <a:xfrm flipH="1">
            <a:off x="2546152" y="3164412"/>
            <a:ext cx="14640" cy="898287"/>
          </a:xfrm>
          <a:prstGeom prst="line">
            <a:avLst/>
          </a:prstGeom>
          <a:ln w="25400" cap="flat" cmpd="sng" algn="ctr">
            <a:solidFill>
              <a:schemeClr val="accent1"/>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4281" name="TextBox 44"/>
          <p:cNvSpPr txBox="1">
            <a:spLocks noChangeArrowheads="1"/>
          </p:cNvSpPr>
          <p:nvPr/>
        </p:nvSpPr>
        <p:spPr bwMode="auto">
          <a:xfrm>
            <a:off x="3675460" y="2590680"/>
            <a:ext cx="1223412"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全局网络视图</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sp>
        <p:nvSpPr>
          <p:cNvPr id="39" name="Rounded Rectangle 38"/>
          <p:cNvSpPr/>
          <p:nvPr/>
        </p:nvSpPr>
        <p:spPr bwMode="auto">
          <a:xfrm>
            <a:off x="1943100" y="2125145"/>
            <a:ext cx="4997054" cy="369023"/>
          </a:xfrm>
          <a:prstGeom prst="roundRect">
            <a:avLst/>
          </a:prstGeom>
          <a:solidFill>
            <a:schemeClr val="accent3">
              <a:lumMod val="75000"/>
            </a:schemeClr>
          </a:soli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zh-CN" altLang="en-US" b="1" dirty="0" smtClean="0">
                <a:solidFill>
                  <a:srgbClr val="FFFFFF"/>
                </a:solidFill>
                <a:latin typeface="微软雅黑" panose="020B0503020204020204" pitchFamily="34" charset="-122"/>
                <a:ea typeface="微软雅黑" panose="020B0503020204020204" pitchFamily="34" charset="-122"/>
              </a:rPr>
              <a:t>网络虚拟化</a:t>
            </a:r>
            <a:endParaRPr lang="en-US" b="1" dirty="0">
              <a:solidFill>
                <a:srgbClr val="FFFFFF"/>
              </a:solidFill>
              <a:latin typeface="微软雅黑" panose="020B0503020204020204" pitchFamily="34" charset="-122"/>
              <a:ea typeface="微软雅黑" panose="020B0503020204020204" pitchFamily="34" charset="-122"/>
            </a:endParaRPr>
          </a:p>
        </p:txBody>
      </p:sp>
      <p:sp>
        <p:nvSpPr>
          <p:cNvPr id="54292" name="TextBox 44"/>
          <p:cNvSpPr txBox="1">
            <a:spLocks noChangeArrowheads="1"/>
          </p:cNvSpPr>
          <p:nvPr/>
        </p:nvSpPr>
        <p:spPr bwMode="auto">
          <a:xfrm>
            <a:off x="3644503" y="1839395"/>
            <a:ext cx="1247457"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a:solidFill>
                  <a:schemeClr val="tx1"/>
                </a:solidFill>
                <a:latin typeface="微软雅黑" panose="020B0503020204020204" pitchFamily="34" charset="-122"/>
                <a:ea typeface="微软雅黑" panose="020B0503020204020204" pitchFamily="34" charset="-122"/>
              </a:rPr>
              <a:t>抽象网络视图</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grpSp>
        <p:nvGrpSpPr>
          <p:cNvPr id="54327" name="Group 27"/>
          <p:cNvGrpSpPr>
            <a:grpSpLocks/>
          </p:cNvGrpSpPr>
          <p:nvPr/>
        </p:nvGrpSpPr>
        <p:grpSpPr bwMode="auto">
          <a:xfrm>
            <a:off x="2057400" y="1382363"/>
            <a:ext cx="1314450" cy="495415"/>
            <a:chOff x="1066800" y="1108169"/>
            <a:chExt cx="1752600" cy="660688"/>
          </a:xfrm>
        </p:grpSpPr>
        <p:sp>
          <p:nvSpPr>
            <p:cNvPr id="81" name="Rounded Rectangle 80"/>
            <p:cNvSpPr/>
            <p:nvPr/>
          </p:nvSpPr>
          <p:spPr>
            <a:xfrm>
              <a:off x="1066800" y="1108169"/>
              <a:ext cx="1752600" cy="6444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500">
                <a:solidFill>
                  <a:srgbClr val="000000"/>
                </a:solidFill>
                <a:latin typeface="微软雅黑" panose="020B0503020204020204" pitchFamily="34" charset="-122"/>
                <a:ea typeface="微软雅黑" panose="020B0503020204020204" pitchFamily="34" charset="-122"/>
              </a:endParaRPr>
            </a:p>
          </p:txBody>
        </p:sp>
        <p:grpSp>
          <p:nvGrpSpPr>
            <p:cNvPr id="4" name="Group 24"/>
            <p:cNvGrpSpPr/>
            <p:nvPr/>
          </p:nvGrpSpPr>
          <p:grpSpPr>
            <a:xfrm>
              <a:off x="2133600" y="1219200"/>
              <a:ext cx="609600" cy="457200"/>
              <a:chOff x="2057400" y="1219200"/>
              <a:chExt cx="609600" cy="457200"/>
            </a:xfrm>
            <a:effectLst>
              <a:outerShdw blurRad="50800" dist="50800" dir="12780000" algn="tl" rotWithShape="0">
                <a:srgbClr val="000000">
                  <a:alpha val="57000"/>
                </a:srgbClr>
              </a:outerShdw>
            </a:effectLst>
          </p:grpSpPr>
          <p:sp>
            <p:nvSpPr>
              <p:cNvPr id="56" name="Oval 55"/>
              <p:cNvSpPr/>
              <p:nvPr/>
            </p:nvSpPr>
            <p:spPr bwMode="auto">
              <a:xfrm>
                <a:off x="2286000" y="1371600"/>
                <a:ext cx="167627"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66" name="Straight Connector 65"/>
              <p:cNvCxnSpPr>
                <a:stCxn id="56" idx="7"/>
              </p:cNvCxnSpPr>
              <p:nvPr/>
            </p:nvCxnSpPr>
            <p:spPr bwMode="auto">
              <a:xfrm flipV="1">
                <a:off x="2429079" y="1219200"/>
                <a:ext cx="161721" cy="176747"/>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a:endCxn id="56" idx="3"/>
              </p:cNvCxnSpPr>
              <p:nvPr/>
            </p:nvCxnSpPr>
            <p:spPr bwMode="auto">
              <a:xfrm flipV="1">
                <a:off x="2133600" y="1513508"/>
                <a:ext cx="176948" cy="162892"/>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a:stCxn id="56" idx="5"/>
              </p:cNvCxnSpPr>
              <p:nvPr/>
            </p:nvCxnSpPr>
            <p:spPr bwMode="auto">
              <a:xfrm>
                <a:off x="2429079" y="1513508"/>
                <a:ext cx="161721" cy="162892"/>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a:stCxn id="56" idx="1"/>
              </p:cNvCxnSpPr>
              <p:nvPr/>
            </p:nvCxnSpPr>
            <p:spPr bwMode="auto">
              <a:xfrm flipH="1" flipV="1">
                <a:off x="2133600" y="1219200"/>
                <a:ext cx="176948" cy="176747"/>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a:stCxn id="56" idx="2"/>
              </p:cNvCxnSpPr>
              <p:nvPr/>
            </p:nvCxnSpPr>
            <p:spPr bwMode="auto">
              <a:xfrm flipH="1" flipV="1">
                <a:off x="2057400" y="1447800"/>
                <a:ext cx="228600" cy="6928"/>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Straight Connector 75"/>
              <p:cNvCxnSpPr>
                <a:endCxn id="56" idx="6"/>
              </p:cNvCxnSpPr>
              <p:nvPr/>
            </p:nvCxnSpPr>
            <p:spPr bwMode="auto">
              <a:xfrm flipH="1">
                <a:off x="2453627" y="1447800"/>
                <a:ext cx="213373" cy="6928"/>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grpSp>
        <p:sp>
          <p:nvSpPr>
            <p:cNvPr id="54333" name="TextBox 23"/>
            <p:cNvSpPr txBox="1">
              <a:spLocks noChangeArrowheads="1"/>
            </p:cNvSpPr>
            <p:nvPr/>
          </p:nvSpPr>
          <p:spPr bwMode="auto">
            <a:xfrm>
              <a:off x="1400811" y="1153179"/>
              <a:ext cx="656591" cy="615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控制</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程序</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grpSp>
        <p:nvGrpSpPr>
          <p:cNvPr id="54320" name="Group 26"/>
          <p:cNvGrpSpPr>
            <a:grpSpLocks/>
          </p:cNvGrpSpPr>
          <p:nvPr/>
        </p:nvGrpSpPr>
        <p:grpSpPr bwMode="auto">
          <a:xfrm>
            <a:off x="3675460" y="1382381"/>
            <a:ext cx="1335881" cy="495414"/>
            <a:chOff x="3325060" y="1066800"/>
            <a:chExt cx="1780339" cy="660712"/>
          </a:xfrm>
        </p:grpSpPr>
        <p:sp>
          <p:nvSpPr>
            <p:cNvPr id="82" name="Rounded Rectangle 81"/>
            <p:cNvSpPr/>
            <p:nvPr/>
          </p:nvSpPr>
          <p:spPr>
            <a:xfrm>
              <a:off x="3325060" y="1066800"/>
              <a:ext cx="1780339" cy="6444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500">
                <a:solidFill>
                  <a:srgbClr val="000000"/>
                </a:solidFill>
                <a:latin typeface="微软雅黑" panose="020B0503020204020204" pitchFamily="34" charset="-122"/>
                <a:ea typeface="微软雅黑" panose="020B0503020204020204" pitchFamily="34" charset="-122"/>
              </a:endParaRPr>
            </a:p>
          </p:txBody>
        </p:sp>
        <p:sp>
          <p:nvSpPr>
            <p:cNvPr id="54325" name="TextBox 92"/>
            <p:cNvSpPr txBox="1">
              <a:spLocks noChangeArrowheads="1"/>
            </p:cNvSpPr>
            <p:nvPr/>
          </p:nvSpPr>
          <p:spPr bwMode="auto">
            <a:xfrm>
              <a:off x="3614243" y="1111811"/>
              <a:ext cx="656283" cy="615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控制</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程序</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nvGrpSpPr>
            <p:cNvPr id="7" name="Group 64"/>
            <p:cNvGrpSpPr/>
            <p:nvPr/>
          </p:nvGrpSpPr>
          <p:grpSpPr bwMode="auto">
            <a:xfrm>
              <a:off x="4343400" y="1066800"/>
              <a:ext cx="558756" cy="609600"/>
              <a:chOff x="7848600" y="1752600"/>
              <a:chExt cx="762000" cy="838200"/>
            </a:xfrm>
            <a:solidFill>
              <a:schemeClr val="bg1"/>
            </a:solidFill>
          </p:grpSpPr>
          <p:sp>
            <p:nvSpPr>
              <p:cNvPr id="53" name="Oval 52"/>
              <p:cNvSpPr/>
              <p:nvPr/>
            </p:nvSpPr>
            <p:spPr>
              <a:xfrm>
                <a:off x="8001000" y="1981200"/>
                <a:ext cx="228600" cy="22860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54" name="Oval 53"/>
              <p:cNvSpPr/>
              <p:nvPr/>
            </p:nvSpPr>
            <p:spPr>
              <a:xfrm>
                <a:off x="8382000" y="1752600"/>
                <a:ext cx="228600" cy="22860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60" name="Oval 59"/>
              <p:cNvSpPr/>
              <p:nvPr/>
            </p:nvSpPr>
            <p:spPr>
              <a:xfrm>
                <a:off x="7848600" y="2362200"/>
                <a:ext cx="228600" cy="228600"/>
              </a:xfrm>
              <a:prstGeom prst="ellipse">
                <a:avLst/>
              </a:prstGeom>
              <a:solidFill>
                <a:srgbClr val="FF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61" name="Straight Connector 60"/>
              <p:cNvCxnSpPr>
                <a:stCxn id="53" idx="7"/>
                <a:endCxn id="54" idx="3"/>
              </p:cNvCxnSpPr>
              <p:nvPr/>
            </p:nvCxnSpPr>
            <p:spPr>
              <a:xfrm rot="5400000" flipH="1" flipV="1">
                <a:off x="8272322" y="1871522"/>
                <a:ext cx="66956" cy="2193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 name="Straight Connector 62"/>
              <p:cNvCxnSpPr>
                <a:stCxn id="60" idx="0"/>
                <a:endCxn id="53" idx="3"/>
              </p:cNvCxnSpPr>
              <p:nvPr/>
            </p:nvCxnSpPr>
            <p:spPr>
              <a:xfrm rot="5400000" flipH="1" flipV="1">
                <a:off x="7905750" y="2233472"/>
                <a:ext cx="185878" cy="71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5" name="Straight Connector 64"/>
              <p:cNvCxnSpPr>
                <a:stCxn id="60" idx="7"/>
                <a:endCxn id="54" idx="4"/>
              </p:cNvCxnSpPr>
              <p:nvPr/>
            </p:nvCxnSpPr>
            <p:spPr>
              <a:xfrm rot="5400000" flipH="1" flipV="1">
                <a:off x="8062772" y="1962150"/>
                <a:ext cx="414478" cy="4525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grpSp>
      <p:grpSp>
        <p:nvGrpSpPr>
          <p:cNvPr id="54313" name="Group 25"/>
          <p:cNvGrpSpPr>
            <a:grpSpLocks/>
          </p:cNvGrpSpPr>
          <p:nvPr/>
        </p:nvGrpSpPr>
        <p:grpSpPr bwMode="auto">
          <a:xfrm>
            <a:off x="5314950" y="1382400"/>
            <a:ext cx="1428750" cy="495413"/>
            <a:chOff x="5410200" y="1066800"/>
            <a:chExt cx="1905000" cy="660737"/>
          </a:xfrm>
        </p:grpSpPr>
        <p:sp>
          <p:nvSpPr>
            <p:cNvPr id="95" name="Rounded Rectangle 94"/>
            <p:cNvSpPr/>
            <p:nvPr/>
          </p:nvSpPr>
          <p:spPr>
            <a:xfrm>
              <a:off x="5410200" y="1066800"/>
              <a:ext cx="1905000" cy="644431"/>
            </a:xfrm>
            <a:prstGeom prst="roundRect">
              <a:avLst/>
            </a:prstGeom>
          </p:spPr>
          <p:style>
            <a:lnRef idx="0">
              <a:schemeClr val="accent6"/>
            </a:lnRef>
            <a:fillRef idx="3">
              <a:schemeClr val="accent6"/>
            </a:fillRef>
            <a:effectRef idx="3">
              <a:schemeClr val="accent6"/>
            </a:effectRef>
            <a:fontRef idx="minor">
              <a:schemeClr val="lt1"/>
            </a:fontRef>
          </p:style>
          <p:txBody>
            <a:bodyPr anchor="ct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lgn="ctr">
                <a:defRPr/>
              </a:pPr>
              <a:endParaRPr lang="en-US" altLang="zh-CN" sz="1500">
                <a:solidFill>
                  <a:srgbClr val="000000"/>
                </a:solidFill>
                <a:latin typeface="微软雅黑" panose="020B0503020204020204" pitchFamily="34" charset="-122"/>
                <a:ea typeface="微软雅黑" panose="020B0503020204020204" pitchFamily="34" charset="-122"/>
              </a:endParaRPr>
            </a:p>
          </p:txBody>
        </p:sp>
        <p:sp>
          <p:nvSpPr>
            <p:cNvPr id="54318" name="TextBox 95"/>
            <p:cNvSpPr txBox="1">
              <a:spLocks noChangeArrowheads="1"/>
            </p:cNvSpPr>
            <p:nvPr/>
          </p:nvSpPr>
          <p:spPr bwMode="auto">
            <a:xfrm>
              <a:off x="5699053" y="1111811"/>
              <a:ext cx="656591" cy="61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控制</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r">
                <a:spcBef>
                  <a:spcPct val="0"/>
                </a:spcBef>
                <a:buNone/>
              </a:pPr>
              <a:r>
                <a:rPr lang="zh-CN" altLang="en-US" sz="1200" b="1" dirty="0">
                  <a:solidFill>
                    <a:schemeClr val="tx1"/>
                  </a:solidFill>
                  <a:latin typeface="微软雅黑" panose="020B0503020204020204" pitchFamily="34" charset="-122"/>
                  <a:ea typeface="微软雅黑" panose="020B0503020204020204" pitchFamily="34" charset="-122"/>
                </a:rPr>
                <a:t>程序</a:t>
              </a:r>
              <a:endParaRPr lang="en-US" altLang="zh-CN" sz="1200" b="1" dirty="0">
                <a:solidFill>
                  <a:schemeClr val="tx1"/>
                </a:solidFill>
                <a:latin typeface="微软雅黑" panose="020B0503020204020204" pitchFamily="34" charset="-122"/>
                <a:ea typeface="微软雅黑" panose="020B0503020204020204" pitchFamily="34" charset="-122"/>
              </a:endParaRPr>
            </a:p>
          </p:txBody>
        </p:sp>
        <p:grpSp>
          <p:nvGrpSpPr>
            <p:cNvPr id="9" name="Group 64"/>
            <p:cNvGrpSpPr/>
            <p:nvPr/>
          </p:nvGrpSpPr>
          <p:grpSpPr bwMode="auto">
            <a:xfrm>
              <a:off x="6400866" y="1212273"/>
              <a:ext cx="838134" cy="387927"/>
              <a:chOff x="7848600" y="2057400"/>
              <a:chExt cx="1143000" cy="533400"/>
            </a:xfrm>
            <a:solidFill>
              <a:schemeClr val="bg1"/>
            </a:solidFill>
          </p:grpSpPr>
          <p:sp>
            <p:nvSpPr>
              <p:cNvPr id="77" name="Oval 76"/>
              <p:cNvSpPr/>
              <p:nvPr/>
            </p:nvSpPr>
            <p:spPr>
              <a:xfrm>
                <a:off x="8382000" y="2362200"/>
                <a:ext cx="228600" cy="228600"/>
              </a:xfrm>
              <a:prstGeom prst="ellipse">
                <a:avLst/>
              </a:prstGeom>
              <a:solidFill>
                <a:schemeClr val="accent1"/>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78" name="Oval 77"/>
              <p:cNvSpPr/>
              <p:nvPr/>
            </p:nvSpPr>
            <p:spPr>
              <a:xfrm>
                <a:off x="8763000" y="2057400"/>
                <a:ext cx="228600" cy="228600"/>
              </a:xfrm>
              <a:prstGeom prst="ellipse">
                <a:avLst/>
              </a:prstGeom>
              <a:solidFill>
                <a:schemeClr val="accent1"/>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sp>
            <p:nvSpPr>
              <p:cNvPr id="80" name="Oval 79"/>
              <p:cNvSpPr/>
              <p:nvPr/>
            </p:nvSpPr>
            <p:spPr>
              <a:xfrm>
                <a:off x="7848600" y="2362200"/>
                <a:ext cx="228600" cy="228600"/>
              </a:xfrm>
              <a:prstGeom prst="ellipse">
                <a:avLst/>
              </a:prstGeom>
              <a:solidFill>
                <a:schemeClr val="accent1"/>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b="1">
                  <a:latin typeface="微软雅黑" panose="020B0503020204020204" pitchFamily="34" charset="-122"/>
                  <a:ea typeface="微软雅黑" panose="020B0503020204020204" pitchFamily="34" charset="-122"/>
                </a:endParaRPr>
              </a:p>
            </p:txBody>
          </p:sp>
          <p:cxnSp>
            <p:nvCxnSpPr>
              <p:cNvPr id="84" name="Straight Connector 83"/>
              <p:cNvCxnSpPr>
                <a:stCxn id="80" idx="5"/>
                <a:endCxn id="77" idx="3"/>
              </p:cNvCxnSpPr>
              <p:nvPr/>
            </p:nvCxnSpPr>
            <p:spPr>
              <a:xfrm rot="16200000" flipH="1">
                <a:off x="8229600" y="2371444"/>
                <a:ext cx="1588" cy="371756"/>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86" name="Straight Connector 85"/>
              <p:cNvCxnSpPr>
                <a:stCxn id="77" idx="6"/>
                <a:endCxn id="78" idx="3"/>
              </p:cNvCxnSpPr>
              <p:nvPr/>
            </p:nvCxnSpPr>
            <p:spPr>
              <a:xfrm flipV="1">
                <a:off x="8610600" y="2252522"/>
                <a:ext cx="185878" cy="223978"/>
              </a:xfrm>
              <a:prstGeom prst="line">
                <a:avLst/>
              </a:prstGeom>
              <a:grpFill/>
              <a:ln>
                <a:solidFill>
                  <a:srgbClr val="000000"/>
                </a:solidFill>
              </a:ln>
            </p:spPr>
            <p:style>
              <a:lnRef idx="2">
                <a:schemeClr val="accent1"/>
              </a:lnRef>
              <a:fillRef idx="0">
                <a:schemeClr val="accent1"/>
              </a:fillRef>
              <a:effectRef idx="1">
                <a:schemeClr val="accent1"/>
              </a:effectRef>
              <a:fontRef idx="minor">
                <a:schemeClr val="tx1"/>
              </a:fontRef>
            </p:style>
          </p:cxnSp>
        </p:grpSp>
      </p:grpSp>
      <p:cxnSp>
        <p:nvCxnSpPr>
          <p:cNvPr id="94" name="Straight Connector 93"/>
          <p:cNvCxnSpPr/>
          <p:nvPr/>
        </p:nvCxnSpPr>
        <p:spPr bwMode="auto">
          <a:xfrm flipH="1">
            <a:off x="2682671" y="3164412"/>
            <a:ext cx="1" cy="928965"/>
          </a:xfrm>
          <a:prstGeom prst="line">
            <a:avLst/>
          </a:prstGeom>
          <a:ln w="76200" cap="flat" cmpd="sng" algn="ctr">
            <a:solidFill>
              <a:schemeClr val="accent1"/>
            </a:solidFill>
            <a:prstDash val="solid"/>
            <a:round/>
            <a:headEnd type="none" w="med" len="med"/>
            <a:tailEnd type="arrow" w="sm" len="sm"/>
          </a:ln>
        </p:spPr>
        <p:style>
          <a:lnRef idx="2">
            <a:schemeClr val="accent1"/>
          </a:lnRef>
          <a:fillRef idx="0">
            <a:schemeClr val="accent1"/>
          </a:fillRef>
          <a:effectRef idx="1">
            <a:schemeClr val="accent1"/>
          </a:effectRef>
          <a:fontRef idx="minor">
            <a:schemeClr val="tx1"/>
          </a:fontRef>
        </p:style>
      </p:cxnSp>
      <p:cxnSp>
        <p:nvCxnSpPr>
          <p:cNvPr id="97" name="Straight Connector 96"/>
          <p:cNvCxnSpPr>
            <a:endCxn id="130" idx="1"/>
          </p:cNvCxnSpPr>
          <p:nvPr/>
        </p:nvCxnSpPr>
        <p:spPr bwMode="auto">
          <a:xfrm>
            <a:off x="5116117" y="3221562"/>
            <a:ext cx="16558" cy="750212"/>
          </a:xfrm>
          <a:prstGeom prst="line">
            <a:avLst/>
          </a:prstGeom>
          <a:ln w="76200" cap="flat" cmpd="sng" algn="ctr">
            <a:solidFill>
              <a:schemeClr val="accent1"/>
            </a:solidFill>
            <a:prstDash val="solid"/>
            <a:round/>
            <a:headEnd type="none" w="med" len="med"/>
            <a:tailEnd type="arrow" w="sm" len="sm"/>
          </a:ln>
        </p:spPr>
        <p:style>
          <a:lnRef idx="2">
            <a:schemeClr val="accent1"/>
          </a:lnRef>
          <a:fillRef idx="0">
            <a:schemeClr val="accent1"/>
          </a:fillRef>
          <a:effectRef idx="1">
            <a:schemeClr val="accent1"/>
          </a:effectRef>
          <a:fontRef idx="minor">
            <a:schemeClr val="tx1"/>
          </a:fontRef>
        </p:style>
      </p:cxnSp>
      <p:cxnSp>
        <p:nvCxnSpPr>
          <p:cNvPr id="98" name="Straight Connector 97"/>
          <p:cNvCxnSpPr>
            <a:endCxn id="131" idx="1"/>
          </p:cNvCxnSpPr>
          <p:nvPr/>
        </p:nvCxnSpPr>
        <p:spPr bwMode="auto">
          <a:xfrm>
            <a:off x="6414157" y="3164412"/>
            <a:ext cx="13432" cy="583407"/>
          </a:xfrm>
          <a:prstGeom prst="line">
            <a:avLst/>
          </a:prstGeom>
          <a:ln w="76200" cap="flat" cmpd="sng" algn="ctr">
            <a:solidFill>
              <a:schemeClr val="accent1"/>
            </a:solidFill>
            <a:prstDash val="solid"/>
            <a:round/>
            <a:headEnd type="none" w="med" len="med"/>
            <a:tailEnd type="arrow" w="sm" len="sm"/>
          </a:ln>
        </p:spPr>
        <p:style>
          <a:lnRef idx="2">
            <a:schemeClr val="accent1"/>
          </a:lnRef>
          <a:fillRef idx="0">
            <a:schemeClr val="accent1"/>
          </a:fillRef>
          <a:effectRef idx="1">
            <a:schemeClr val="accent1"/>
          </a:effectRef>
          <a:fontRef idx="minor">
            <a:schemeClr val="tx1"/>
          </a:fontRef>
        </p:style>
      </p:cxnSp>
      <p:cxnSp>
        <p:nvCxnSpPr>
          <p:cNvPr id="99" name="Straight Connector 98"/>
          <p:cNvCxnSpPr>
            <a:endCxn id="128" idx="1"/>
          </p:cNvCxnSpPr>
          <p:nvPr/>
        </p:nvCxnSpPr>
        <p:spPr bwMode="auto">
          <a:xfrm flipH="1">
            <a:off x="3950930" y="3231282"/>
            <a:ext cx="10281" cy="1216958"/>
          </a:xfrm>
          <a:prstGeom prst="line">
            <a:avLst/>
          </a:prstGeom>
          <a:ln w="76200" cap="flat" cmpd="sng" algn="ctr">
            <a:solidFill>
              <a:schemeClr val="accent1"/>
            </a:solidFill>
            <a:prstDash val="solid"/>
            <a:round/>
            <a:headEnd type="none" w="med" len="med"/>
            <a:tailEnd type="arrow" w="sm" len="sm"/>
          </a:ln>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bwMode="auto">
          <a:xfrm flipH="1">
            <a:off x="3759181" y="3248933"/>
            <a:ext cx="5953" cy="394097"/>
          </a:xfrm>
          <a:prstGeom prst="line">
            <a:avLst/>
          </a:prstGeom>
          <a:ln w="76200" cap="flat" cmpd="sng" algn="ctr">
            <a:solidFill>
              <a:schemeClr val="accent1"/>
            </a:solidFill>
            <a:prstDash val="solid"/>
            <a:round/>
            <a:headEnd type="none" w="med" len="med"/>
            <a:tailEnd type="arrow" w="sm" len="sm"/>
          </a:ln>
        </p:spPr>
        <p:style>
          <a:lnRef idx="2">
            <a:schemeClr val="accent1"/>
          </a:lnRef>
          <a:fillRef idx="0">
            <a:schemeClr val="accent1"/>
          </a:fillRef>
          <a:effectRef idx="1">
            <a:schemeClr val="accent1"/>
          </a:effectRef>
          <a:fontRef idx="minor">
            <a:schemeClr val="tx1"/>
          </a:fontRef>
        </p:style>
      </p:cxnSp>
      <p:sp>
        <p:nvSpPr>
          <p:cNvPr id="79" name="Rounded Rectangle 78"/>
          <p:cNvSpPr/>
          <p:nvPr/>
        </p:nvSpPr>
        <p:spPr>
          <a:xfrm>
            <a:off x="1943100" y="2925245"/>
            <a:ext cx="4997450" cy="328166"/>
          </a:xfrm>
          <a:prstGeom prst="roundRect">
            <a:avLst/>
          </a:prstGeom>
          <a:gradFill>
            <a:gsLst>
              <a:gs pos="0">
                <a:srgbClr val="FF0000"/>
              </a:gs>
              <a:gs pos="100000">
                <a:srgbClr val="F7545C"/>
              </a:gs>
            </a:gsLst>
          </a:gradFill>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altLang="zh-CN" b="1" dirty="0">
                <a:solidFill>
                  <a:srgbClr val="FFFFFF"/>
                </a:solidFill>
                <a:latin typeface="微软雅黑" panose="020B0503020204020204" pitchFamily="34" charset="-122"/>
                <a:ea typeface="微软雅黑" panose="020B0503020204020204" pitchFamily="34" charset="-122"/>
              </a:rPr>
              <a:t>SDN</a:t>
            </a:r>
            <a:r>
              <a:rPr lang="zh-CN" altLang="en-US" b="1" dirty="0">
                <a:solidFill>
                  <a:srgbClr val="FFFFFF"/>
                </a:solidFill>
                <a:latin typeface="微软雅黑" panose="020B0503020204020204" pitchFamily="34" charset="-122"/>
                <a:ea typeface="微软雅黑" panose="020B0503020204020204" pitchFamily="34" charset="-122"/>
              </a:rPr>
              <a:t>控制器</a:t>
            </a:r>
            <a:r>
              <a:rPr lang="en-US" altLang="zh-CN" b="1" dirty="0">
                <a:solidFill>
                  <a:srgbClr val="FFFFFF"/>
                </a:solidFill>
                <a:latin typeface="微软雅黑" panose="020B0503020204020204" pitchFamily="34" charset="-122"/>
                <a:ea typeface="微软雅黑" panose="020B0503020204020204" pitchFamily="34" charset="-122"/>
              </a:rPr>
              <a:t>/</a:t>
            </a:r>
            <a:r>
              <a:rPr lang="zh-CN" altLang="en-US" b="1" dirty="0">
                <a:solidFill>
                  <a:srgbClr val="FFFFFF"/>
                </a:solidFill>
                <a:latin typeface="微软雅黑" panose="020B0503020204020204" pitchFamily="34" charset="-122"/>
                <a:ea typeface="微软雅黑" panose="020B0503020204020204" pitchFamily="34" charset="-122"/>
              </a:rPr>
              <a:t>网络操作系统</a:t>
            </a:r>
            <a:endParaRPr lang="en-US" altLang="zh-CN" b="1" dirty="0">
              <a:solidFill>
                <a:srgbClr val="FFFFFF"/>
              </a:solidFill>
              <a:latin typeface="微软雅黑" panose="020B0503020204020204" pitchFamily="34" charset="-122"/>
              <a:ea typeface="微软雅黑" panose="020B0503020204020204" pitchFamily="34" charset="-122"/>
            </a:endParaRPr>
          </a:p>
        </p:txBody>
      </p:sp>
      <p:grpSp>
        <p:nvGrpSpPr>
          <p:cNvPr id="10" name="Group 1"/>
          <p:cNvGrpSpPr/>
          <p:nvPr/>
        </p:nvGrpSpPr>
        <p:grpSpPr>
          <a:xfrm>
            <a:off x="5486400" y="2525196"/>
            <a:ext cx="868680" cy="410441"/>
            <a:chOff x="5257800" y="3124200"/>
            <a:chExt cx="1158240" cy="547255"/>
          </a:xfrm>
          <a:effectLst>
            <a:outerShdw blurRad="50800" dist="50800" dir="10260000" algn="tl" rotWithShape="0">
              <a:srgbClr val="000000">
                <a:alpha val="54000"/>
              </a:srgbClr>
            </a:outerShdw>
          </a:effectLst>
        </p:grpSpPr>
        <p:sp>
          <p:nvSpPr>
            <p:cNvPr id="33" name="Oval 32"/>
            <p:cNvSpPr/>
            <p:nvPr/>
          </p:nvSpPr>
          <p:spPr>
            <a:xfrm>
              <a:off x="5257800" y="33528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latin typeface="微软雅黑" panose="020B0503020204020204" pitchFamily="34" charset="-122"/>
                <a:ea typeface="微软雅黑" panose="020B0503020204020204" pitchFamily="34" charset="-122"/>
              </a:endParaRPr>
            </a:p>
          </p:txBody>
        </p:sp>
        <p:sp>
          <p:nvSpPr>
            <p:cNvPr id="40" name="Oval 39"/>
            <p:cNvSpPr/>
            <p:nvPr/>
          </p:nvSpPr>
          <p:spPr>
            <a:xfrm>
              <a:off x="5562600" y="31242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latin typeface="微软雅黑" panose="020B0503020204020204" pitchFamily="34" charset="-122"/>
                <a:ea typeface="微软雅黑" panose="020B0503020204020204" pitchFamily="34" charset="-122"/>
              </a:endParaRPr>
            </a:p>
          </p:txBody>
        </p:sp>
        <p:sp>
          <p:nvSpPr>
            <p:cNvPr id="41" name="Oval 40"/>
            <p:cNvSpPr/>
            <p:nvPr/>
          </p:nvSpPr>
          <p:spPr>
            <a:xfrm>
              <a:off x="5943600" y="33528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latin typeface="微软雅黑" panose="020B0503020204020204" pitchFamily="34" charset="-122"/>
                <a:ea typeface="微软雅黑" panose="020B0503020204020204" pitchFamily="34" charset="-122"/>
              </a:endParaRPr>
            </a:p>
          </p:txBody>
        </p:sp>
        <p:sp>
          <p:nvSpPr>
            <p:cNvPr id="42" name="Oval 41"/>
            <p:cNvSpPr/>
            <p:nvPr/>
          </p:nvSpPr>
          <p:spPr>
            <a:xfrm>
              <a:off x="6248400" y="32004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latin typeface="微软雅黑" panose="020B0503020204020204" pitchFamily="34" charset="-122"/>
                <a:ea typeface="微软雅黑" panose="020B0503020204020204" pitchFamily="34" charset="-122"/>
              </a:endParaRPr>
            </a:p>
          </p:txBody>
        </p:sp>
        <p:sp>
          <p:nvSpPr>
            <p:cNvPr id="43" name="Oval 42"/>
            <p:cNvSpPr/>
            <p:nvPr/>
          </p:nvSpPr>
          <p:spPr>
            <a:xfrm>
              <a:off x="5638800" y="3505200"/>
              <a:ext cx="167640" cy="166255"/>
            </a:xfrm>
            <a:prstGeom prst="ellipse">
              <a:avLst/>
            </a:prstGeom>
            <a:solidFill>
              <a:srgbClr val="FFFF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latin typeface="微软雅黑" panose="020B0503020204020204" pitchFamily="34" charset="-122"/>
                <a:ea typeface="微软雅黑" panose="020B0503020204020204" pitchFamily="34" charset="-122"/>
              </a:endParaRPr>
            </a:p>
          </p:txBody>
        </p:sp>
        <p:cxnSp>
          <p:nvCxnSpPr>
            <p:cNvPr id="47" name="Straight Connector 46"/>
            <p:cNvCxnSpPr>
              <a:stCxn id="33" idx="7"/>
              <a:endCxn id="40" idx="3"/>
            </p:cNvCxnSpPr>
            <p:nvPr/>
          </p:nvCxnSpPr>
          <p:spPr>
            <a:xfrm flipV="1">
              <a:off x="5400890" y="3266108"/>
              <a:ext cx="186260" cy="111039"/>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5" name="Straight Connector 54"/>
            <p:cNvCxnSpPr>
              <a:stCxn id="43" idx="2"/>
              <a:endCxn id="33" idx="5"/>
            </p:cNvCxnSpPr>
            <p:nvPr/>
          </p:nvCxnSpPr>
          <p:spPr>
            <a:xfrm flipH="1" flipV="1">
              <a:off x="5400890" y="3494708"/>
              <a:ext cx="237910" cy="93620"/>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Straight Connector 56"/>
            <p:cNvCxnSpPr>
              <a:stCxn id="41" idx="1"/>
              <a:endCxn id="40" idx="5"/>
            </p:cNvCxnSpPr>
            <p:nvPr/>
          </p:nvCxnSpPr>
          <p:spPr>
            <a:xfrm flipH="1" flipV="1">
              <a:off x="5705690" y="3266108"/>
              <a:ext cx="262460" cy="111039"/>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43" idx="6"/>
              <a:endCxn id="41" idx="3"/>
            </p:cNvCxnSpPr>
            <p:nvPr/>
          </p:nvCxnSpPr>
          <p:spPr>
            <a:xfrm flipV="1">
              <a:off x="5806440" y="3494708"/>
              <a:ext cx="161710" cy="93620"/>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a:stCxn id="41" idx="6"/>
              <a:endCxn id="42" idx="3"/>
            </p:cNvCxnSpPr>
            <p:nvPr/>
          </p:nvCxnSpPr>
          <p:spPr>
            <a:xfrm flipV="1">
              <a:off x="6111240" y="3342308"/>
              <a:ext cx="161710" cy="93620"/>
            </a:xfrm>
            <a:prstGeom prst="line">
              <a:avLst/>
            </a:prstGeom>
            <a:solidFill>
              <a:schemeClr val="bg1"/>
            </a:solidFill>
            <a:ln>
              <a:solidFill>
                <a:srgbClr val="000000"/>
              </a:solidFill>
            </a:ln>
          </p:spPr>
          <p:style>
            <a:lnRef idx="2">
              <a:schemeClr val="accent1"/>
            </a:lnRef>
            <a:fillRef idx="0">
              <a:schemeClr val="accent1"/>
            </a:fillRef>
            <a:effectRef idx="1">
              <a:schemeClr val="accent1"/>
            </a:effectRef>
            <a:fontRef idx="minor">
              <a:schemeClr val="tx1"/>
            </a:fontRef>
          </p:style>
        </p:cxnSp>
      </p:grpSp>
      <p:grpSp>
        <p:nvGrpSpPr>
          <p:cNvPr id="24" name="Group 23"/>
          <p:cNvGrpSpPr>
            <a:grpSpLocks/>
          </p:cNvGrpSpPr>
          <p:nvPr/>
        </p:nvGrpSpPr>
        <p:grpSpPr bwMode="auto">
          <a:xfrm>
            <a:off x="1499838" y="3364518"/>
            <a:ext cx="6154689" cy="1556310"/>
            <a:chOff x="538488" y="3736984"/>
            <a:chExt cx="8205708" cy="2074400"/>
          </a:xfrm>
        </p:grpSpPr>
        <p:sp>
          <p:nvSpPr>
            <p:cNvPr id="89" name="Rounded Rectangle 88"/>
            <p:cNvSpPr/>
            <p:nvPr/>
          </p:nvSpPr>
          <p:spPr>
            <a:xfrm>
              <a:off x="7467463" y="3812086"/>
              <a:ext cx="1276733" cy="896390"/>
            </a:xfrm>
            <a:prstGeom prst="roundRect">
              <a:avLst>
                <a:gd name="adj" fmla="val 5163"/>
              </a:avLst>
            </a:prstGeom>
            <a:solidFill>
              <a:schemeClr val="tx1">
                <a:alpha val="73000"/>
              </a:schemeClr>
            </a:solidFill>
            <a:ln>
              <a:solidFill>
                <a:schemeClr val="tx1"/>
              </a:solidFill>
            </a:ln>
          </p:spPr>
          <p:style>
            <a:lnRef idx="1">
              <a:schemeClr val="dk1"/>
            </a:lnRef>
            <a:fillRef idx="3">
              <a:schemeClr val="dk1"/>
            </a:fillRef>
            <a:effectRef idx="2">
              <a:schemeClr val="dk1"/>
            </a:effectRef>
            <a:fontRef idx="minor">
              <a:schemeClr val="lt1"/>
            </a:fontRef>
          </p:style>
          <p:txBody>
            <a:bodyPr anchor="ctr"/>
            <a:lstStyle/>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0" name="Rounded Rectangle 89"/>
            <p:cNvSpPr/>
            <p:nvPr/>
          </p:nvSpPr>
          <p:spPr>
            <a:xfrm>
              <a:off x="5678472" y="4496072"/>
              <a:ext cx="1243251" cy="1028094"/>
            </a:xfrm>
            <a:prstGeom prst="roundRect">
              <a:avLst>
                <a:gd name="adj" fmla="val 5163"/>
              </a:avLst>
            </a:prstGeom>
            <a:solidFill>
              <a:schemeClr val="tx1">
                <a:alpha val="73000"/>
              </a:schemeClr>
            </a:solidFill>
            <a:ln>
              <a:solidFill>
                <a:schemeClr val="tx1"/>
              </a:solidFill>
            </a:ln>
          </p:spPr>
          <p:style>
            <a:lnRef idx="1">
              <a:schemeClr val="dk1"/>
            </a:lnRef>
            <a:fillRef idx="3">
              <a:schemeClr val="dk1"/>
            </a:fillRef>
            <a:effectRef idx="2">
              <a:schemeClr val="dk1"/>
            </a:effectRef>
            <a:fontRef idx="minor">
              <a:schemeClr val="lt1"/>
            </a:fontRef>
          </p:style>
          <p:txBody>
            <a:bodyPr anchor="ctr"/>
            <a:lstStyle/>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1" name="Rounded Rectangle 90"/>
            <p:cNvSpPr/>
            <p:nvPr/>
          </p:nvSpPr>
          <p:spPr>
            <a:xfrm>
              <a:off x="3891067" y="4963390"/>
              <a:ext cx="1271174" cy="847994"/>
            </a:xfrm>
            <a:prstGeom prst="roundRect">
              <a:avLst>
                <a:gd name="adj" fmla="val 5163"/>
              </a:avLst>
            </a:prstGeom>
            <a:solidFill>
              <a:schemeClr val="tx1">
                <a:alpha val="73000"/>
              </a:schemeClr>
            </a:solidFill>
            <a:ln>
              <a:solidFill>
                <a:schemeClr val="tx1"/>
              </a:solidFill>
            </a:ln>
          </p:spPr>
          <p:style>
            <a:lnRef idx="1">
              <a:schemeClr val="dk1"/>
            </a:lnRef>
            <a:fillRef idx="3">
              <a:schemeClr val="dk1"/>
            </a:fillRef>
            <a:effectRef idx="2">
              <a:schemeClr val="dk1"/>
            </a:effectRef>
            <a:fontRef idx="minor">
              <a:schemeClr val="lt1"/>
            </a:fontRef>
          </p:style>
          <p:txBody>
            <a:bodyPr anchor="ctr"/>
            <a:lstStyle/>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2" name="Rounded Rectangle 91"/>
            <p:cNvSpPr/>
            <p:nvPr/>
          </p:nvSpPr>
          <p:spPr>
            <a:xfrm>
              <a:off x="3989485" y="3736984"/>
              <a:ext cx="1309321" cy="1000417"/>
            </a:xfrm>
            <a:prstGeom prst="roundRect">
              <a:avLst>
                <a:gd name="adj" fmla="val 5163"/>
              </a:avLst>
            </a:prstGeom>
            <a:solidFill>
              <a:schemeClr val="tx1">
                <a:alpha val="73000"/>
              </a:schemeClr>
            </a:solidFill>
            <a:ln>
              <a:solidFill>
                <a:schemeClr val="tx1"/>
              </a:solidFill>
            </a:ln>
          </p:spPr>
          <p:style>
            <a:lnRef idx="1">
              <a:schemeClr val="dk1"/>
            </a:lnRef>
            <a:fillRef idx="3">
              <a:schemeClr val="dk1"/>
            </a:fillRef>
            <a:effectRef idx="2">
              <a:schemeClr val="dk1"/>
            </a:effectRef>
            <a:fontRef idx="minor">
              <a:schemeClr val="lt1"/>
            </a:fontRef>
          </p:style>
          <p:txBody>
            <a:bodyPr anchor="ctr"/>
            <a:lstStyle>
              <a:lvl1pPr marL="112713" indent="-112713">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marL="0" indent="0">
                <a:buFontTx/>
                <a:buAutoNum type="arabicPeriod"/>
                <a:defRPr/>
              </a:pP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b="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Tx/>
                <a:buAutoNum type="arabicPeriod"/>
                <a:defRPr/>
              </a:pP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b="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Tx/>
                <a:buAutoNum type="arabicPeriod"/>
                <a:defRPr/>
              </a:pP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b="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Tx/>
                <a:buAutoNum type="arabicPeriod" startAt="4"/>
                <a:defRPr/>
              </a:pP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b="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Tx/>
                <a:buAutoNum type="arabicPeriod" startAt="4"/>
                <a:defRPr/>
              </a:pP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b="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Tx/>
                <a:buAutoNum type="arabicPeriod" startAt="4"/>
                <a:defRPr/>
              </a:pPr>
              <a:r>
                <a:rPr lang="en-US" altLang="zh-CN" sz="750" b="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750" b="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3" name="Rounded Rectangle 92"/>
            <p:cNvSpPr/>
            <p:nvPr/>
          </p:nvSpPr>
          <p:spPr>
            <a:xfrm>
              <a:off x="538488" y="4562727"/>
              <a:ext cx="1288101" cy="928505"/>
            </a:xfrm>
            <a:prstGeom prst="roundRect">
              <a:avLst>
                <a:gd name="adj" fmla="val 5163"/>
              </a:avLst>
            </a:prstGeom>
            <a:solidFill>
              <a:schemeClr val="tx1">
                <a:alpha val="73000"/>
              </a:schemeClr>
            </a:solidFill>
            <a:ln>
              <a:solidFill>
                <a:schemeClr val="tx1"/>
              </a:solidFill>
            </a:ln>
          </p:spPr>
          <p:style>
            <a:lnRef idx="1">
              <a:schemeClr val="dk1"/>
            </a:lnRef>
            <a:fillRef idx="3">
              <a:schemeClr val="dk1"/>
            </a:fillRef>
            <a:effectRef idx="2">
              <a:schemeClr val="dk1"/>
            </a:effectRef>
            <a:fontRef idx="minor">
              <a:schemeClr val="lt1"/>
            </a:fontRef>
          </p:style>
          <p:txBody>
            <a:bodyPr anchor="ctr"/>
            <a:lstStyle/>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动作</a:t>
              </a: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a:p>
              <a:pPr>
                <a:buFontTx/>
                <a:buAutoNum type="arabicPeriod"/>
              </a:pPr>
              <a:r>
                <a:rPr lang="en-US" altLang="zh-CN" sz="750" dirty="0" smtClean="0">
                  <a:solidFill>
                    <a:srgbClr val="FFFFFF"/>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750" dirty="0">
                <a:solidFill>
                  <a:srgbClr val="FFFFFF"/>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3"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微软雅黑" panose="020B0503020204020204" pitchFamily="34" charset="-122"/>
              <a:ea typeface="微软雅黑" panose="020B0503020204020204" pitchFamily="34" charset="-122"/>
            </a:endParaRPr>
          </a:p>
        </p:txBody>
      </p:sp>
      <p:sp>
        <p:nvSpPr>
          <p:cNvPr id="85"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的逻辑上集中式</a:t>
            </a:r>
            <a:r>
              <a:rPr lang="zh-CN" altLang="en-US" sz="2400" b="1" dirty="0" smtClean="0">
                <a:solidFill>
                  <a:schemeClr val="bg1"/>
                </a:solidFill>
                <a:latin typeface="微软雅黑" pitchFamily="34" charset="-122"/>
                <a:ea typeface="微软雅黑" pitchFamily="34" charset="-122"/>
              </a:rPr>
              <a:t>控制</a:t>
            </a:r>
            <a:r>
              <a:rPr lang="zh-CN" altLang="en-US" sz="2400" b="1" dirty="0">
                <a:solidFill>
                  <a:schemeClr val="bg1"/>
                </a:solidFill>
                <a:latin typeface="微软雅黑" pitchFamily="34" charset="-122"/>
                <a:ea typeface="微软雅黑" pitchFamily="34" charset="-122"/>
              </a:rPr>
              <a:t>方式</a:t>
            </a:r>
          </a:p>
        </p:txBody>
      </p:sp>
      <p:sp>
        <p:nvSpPr>
          <p:cNvPr id="100" name="TextBox 44"/>
          <p:cNvSpPr txBox="1">
            <a:spLocks noChangeArrowheads="1"/>
          </p:cNvSpPr>
          <p:nvPr/>
        </p:nvSpPr>
        <p:spPr bwMode="auto">
          <a:xfrm>
            <a:off x="2263786" y="109914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网络应用</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sp>
        <p:nvSpPr>
          <p:cNvPr id="101" name="TextBox 44"/>
          <p:cNvSpPr txBox="1">
            <a:spLocks noChangeArrowheads="1"/>
          </p:cNvSpPr>
          <p:nvPr/>
        </p:nvSpPr>
        <p:spPr bwMode="auto">
          <a:xfrm>
            <a:off x="3923855" y="109914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网络应用</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sp>
        <p:nvSpPr>
          <p:cNvPr id="102" name="TextBox 44"/>
          <p:cNvSpPr txBox="1">
            <a:spLocks noChangeArrowheads="1"/>
          </p:cNvSpPr>
          <p:nvPr/>
        </p:nvSpPr>
        <p:spPr bwMode="auto">
          <a:xfrm>
            <a:off x="5642499" y="1099146"/>
            <a:ext cx="877163"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rgbClr val="800000"/>
                </a:solidFill>
                <a:latin typeface="Comic Sans MS" panose="030F0702030302020204" pitchFamily="66" charset="0"/>
                <a:ea typeface="ＭＳ Ｐゴシック" panose="020B0600070205080204" pitchFamily="34" charset="-128"/>
                <a:cs typeface="Comic Sans MS" panose="030F0702030302020204" pitchFamily="66" charset="0"/>
              </a:defRPr>
            </a:lvl1pPr>
            <a:lvl2pPr marL="742950" indent="-285750">
              <a:spcBef>
                <a:spcPct val="20000"/>
              </a:spcBef>
              <a:buFont typeface="Arial" panose="020B0604020202020204" pitchFamily="34" charset="0"/>
              <a:buChar char="–"/>
              <a:defRPr sz="2800">
                <a:solidFill>
                  <a:schemeClr val="tx1"/>
                </a:solidFill>
                <a:latin typeface="Comic Sans MS" panose="030F0702030302020204" pitchFamily="66"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omic Sans MS" panose="030F0702030302020204" pitchFamily="66" charset="0"/>
                <a:ea typeface="ＭＳ Ｐゴシック" panose="020B0600070205080204" pitchFamily="34" charset="-128"/>
              </a:defRPr>
            </a:lvl9pPr>
          </a:lstStyle>
          <a:p>
            <a:pPr eaLnBrk="1" hangingPunct="1">
              <a:spcBef>
                <a:spcPct val="0"/>
              </a:spcBef>
              <a:buFontTx/>
              <a:buNone/>
            </a:pPr>
            <a:r>
              <a:rPr lang="zh-CN" altLang="en-US" sz="1350" b="1" dirty="0" smtClean="0">
                <a:solidFill>
                  <a:schemeClr val="tx1"/>
                </a:solidFill>
                <a:latin typeface="微软雅黑" panose="020B0503020204020204" pitchFamily="34" charset="-122"/>
                <a:ea typeface="微软雅黑" panose="020B0503020204020204" pitchFamily="34" charset="-122"/>
              </a:rPr>
              <a:t>网络应用</a:t>
            </a:r>
            <a:endParaRPr lang="en-US" altLang="zh-CN" sz="1350" b="1" dirty="0">
              <a:solidFill>
                <a:schemeClr val="tx1"/>
              </a:solidFill>
              <a:latin typeface="微软雅黑" panose="020B0503020204020204" pitchFamily="34" charset="-122"/>
              <a:ea typeface="微软雅黑" panose="020B0503020204020204" pitchFamily="34" charset="-122"/>
            </a:endParaRPr>
          </a:p>
        </p:txBody>
      </p:sp>
      <p:sp>
        <p:nvSpPr>
          <p:cNvPr id="87" name="TextBox 86"/>
          <p:cNvSpPr txBox="1"/>
          <p:nvPr/>
        </p:nvSpPr>
        <p:spPr>
          <a:xfrm>
            <a:off x="3275960" y="1129609"/>
            <a:ext cx="3526631" cy="1223412"/>
          </a:xfrm>
          <a:prstGeom prst="rect">
            <a:avLst/>
          </a:prstGeom>
          <a:solidFill>
            <a:srgbClr val="FFFFFF"/>
          </a:solidFill>
          <a:ln>
            <a:solidFill>
              <a:schemeClr val="bg1">
                <a:lumMod val="50000"/>
              </a:schemeClr>
            </a:solidFill>
          </a:ln>
          <a:effectLst>
            <a:outerShdw blurRad="50800" dist="38100" dir="8100000" algn="tr" rotWithShape="0">
              <a:prstClr val="black">
                <a:alpha val="40000"/>
              </a:prstClr>
            </a:outerShdw>
          </a:effectLst>
        </p:spPr>
        <p:txBody>
          <a:bodyPr>
            <a:spAutoFit/>
          </a:bodyPr>
          <a:lstStyle>
            <a:lvl1pPr>
              <a:defRPr sz="2000" b="1">
                <a:solidFill>
                  <a:schemeClr val="tx1"/>
                </a:solidFill>
                <a:latin typeface="Courier New" panose="02070309020205020404" pitchFamily="49" charset="0"/>
                <a:ea typeface="ＭＳ Ｐゴシック" panose="020B0600070205080204" pitchFamily="34" charset="-128"/>
              </a:defRPr>
            </a:lvl1pPr>
            <a:lvl2pPr marL="742950" indent="-285750">
              <a:defRPr sz="2000" b="1">
                <a:solidFill>
                  <a:schemeClr val="tx1"/>
                </a:solidFill>
                <a:latin typeface="Courier New" panose="02070309020205020404" pitchFamily="49" charset="0"/>
                <a:ea typeface="ＭＳ Ｐゴシック" panose="020B0600070205080204" pitchFamily="34" charset="-128"/>
              </a:defRPr>
            </a:lvl2pPr>
            <a:lvl3pPr marL="1143000" indent="-228600">
              <a:defRPr sz="2000" b="1">
                <a:solidFill>
                  <a:schemeClr val="tx1"/>
                </a:solidFill>
                <a:latin typeface="Courier New" panose="02070309020205020404" pitchFamily="49" charset="0"/>
                <a:ea typeface="ＭＳ Ｐゴシック" panose="020B0600070205080204" pitchFamily="34" charset="-128"/>
              </a:defRPr>
            </a:lvl3pPr>
            <a:lvl4pPr marL="1600200" indent="-228600">
              <a:defRPr sz="2000" b="1">
                <a:solidFill>
                  <a:schemeClr val="tx1"/>
                </a:solidFill>
                <a:latin typeface="Courier New" panose="02070309020205020404" pitchFamily="49" charset="0"/>
                <a:ea typeface="ＭＳ Ｐゴシック" panose="020B0600070205080204" pitchFamily="34" charset="-128"/>
              </a:defRPr>
            </a:lvl4pPr>
            <a:lvl5pPr marL="2057400" indent="-228600">
              <a:defRPr sz="2000" b="1">
                <a:solidFill>
                  <a:schemeClr val="tx1"/>
                </a:solidFill>
                <a:latin typeface="Courier New" panose="02070309020205020404" pitchFamily="49" charset="0"/>
                <a:ea typeface="ＭＳ Ｐゴシック" panose="020B0600070205080204" pitchFamily="34" charset="-128"/>
              </a:defRPr>
            </a:lvl5pPr>
            <a:lvl6pPr marL="25146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6pPr>
            <a:lvl7pPr marL="29718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7pPr>
            <a:lvl8pPr marL="34290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8pPr>
            <a:lvl9pPr marL="3886200" indent="-228600" eaLnBrk="0" fontAlgn="base" hangingPunct="0">
              <a:spcBef>
                <a:spcPct val="0"/>
              </a:spcBef>
              <a:spcAft>
                <a:spcPct val="0"/>
              </a:spcAft>
              <a:defRPr sz="2000" b="1">
                <a:solidFill>
                  <a:schemeClr val="tx1"/>
                </a:solidFill>
                <a:latin typeface="Courier New" panose="02070309020205020404" pitchFamily="49" charset="0"/>
                <a:ea typeface="ＭＳ Ｐゴシック" panose="020B0600070205080204" pitchFamily="34" charset="-128"/>
              </a:defRPr>
            </a:lvl9pPr>
          </a:lstStyle>
          <a:p>
            <a:pPr>
              <a:defRPr/>
            </a:pPr>
            <a:r>
              <a:rPr lang="en-US" altLang="zh-CN" sz="1050" b="0" dirty="0" err="1">
                <a:latin typeface="微软雅黑" panose="020B0503020204020204" pitchFamily="34" charset="-122"/>
                <a:ea typeface="微软雅黑" panose="020B0503020204020204" pitchFamily="34" charset="-122"/>
                <a:cs typeface="Courier New" panose="02070309020205020404" pitchFamily="49" charset="0"/>
              </a:rPr>
              <a:t>firewall.c</a:t>
            </a:r>
            <a:endParaRPr lang="en-US" altLang="zh-CN" sz="1050" b="0" dirty="0">
              <a:latin typeface="微软雅黑" panose="020B0503020204020204" pitchFamily="34" charset="-122"/>
              <a:ea typeface="微软雅黑" panose="020B0503020204020204" pitchFamily="34" charset="-122"/>
              <a:cs typeface="Courier New" panose="02070309020205020404" pitchFamily="49" charset="0"/>
            </a:endParaRPr>
          </a:p>
          <a:p>
            <a:pPr>
              <a:defRPr/>
            </a:pP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	…</a:t>
            </a:r>
          </a:p>
          <a:p>
            <a:pPr>
              <a:defRPr/>
            </a:pP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	</a:t>
            </a:r>
          </a:p>
          <a:p>
            <a:pPr>
              <a:defRPr/>
            </a:pP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	if( </a:t>
            </a:r>
            <a:r>
              <a:rPr lang="en-US" altLang="zh-CN" sz="1050" b="0" dirty="0" err="1">
                <a:latin typeface="微软雅黑" panose="020B0503020204020204" pitchFamily="34" charset="-122"/>
                <a:ea typeface="微软雅黑" panose="020B0503020204020204" pitchFamily="34" charset="-122"/>
                <a:cs typeface="Courier New" panose="02070309020205020404" pitchFamily="49" charset="0"/>
              </a:rPr>
              <a:t>pkt</a:t>
            </a: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-&gt;</a:t>
            </a:r>
            <a:r>
              <a:rPr lang="en-US" altLang="zh-CN" sz="1050" b="0" dirty="0" err="1">
                <a:latin typeface="微软雅黑" panose="020B0503020204020204" pitchFamily="34" charset="-122"/>
                <a:ea typeface="微软雅黑" panose="020B0503020204020204" pitchFamily="34" charset="-122"/>
                <a:cs typeface="Courier New" panose="02070309020205020404" pitchFamily="49" charset="0"/>
              </a:rPr>
              <a:t>tcp</a:t>
            </a: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-&gt;</a:t>
            </a:r>
            <a:r>
              <a:rPr lang="en-US" altLang="zh-CN" sz="1050" b="0" dirty="0" err="1">
                <a:latin typeface="微软雅黑" panose="020B0503020204020204" pitchFamily="34" charset="-122"/>
                <a:ea typeface="微软雅黑" panose="020B0503020204020204" pitchFamily="34" charset="-122"/>
                <a:cs typeface="Courier New" panose="02070309020205020404" pitchFamily="49" charset="0"/>
              </a:rPr>
              <a:t>dport</a:t>
            </a: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 == 22)</a:t>
            </a:r>
          </a:p>
          <a:p>
            <a:pPr>
              <a:defRPr/>
            </a:pP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			</a:t>
            </a:r>
            <a:r>
              <a:rPr lang="en-US" altLang="zh-CN" sz="1050" b="0" dirty="0" err="1">
                <a:latin typeface="微软雅黑" panose="020B0503020204020204" pitchFamily="34" charset="-122"/>
                <a:ea typeface="微软雅黑" panose="020B0503020204020204" pitchFamily="34" charset="-122"/>
                <a:cs typeface="Courier New" panose="02070309020205020404" pitchFamily="49" charset="0"/>
              </a:rPr>
              <a:t>dropPacket</a:t>
            </a: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a:t>
            </a:r>
            <a:r>
              <a:rPr lang="en-US" altLang="zh-CN" sz="1050" b="0" dirty="0" err="1">
                <a:latin typeface="微软雅黑" panose="020B0503020204020204" pitchFamily="34" charset="-122"/>
                <a:ea typeface="微软雅黑" panose="020B0503020204020204" pitchFamily="34" charset="-122"/>
                <a:cs typeface="Courier New" panose="02070309020205020404" pitchFamily="49" charset="0"/>
              </a:rPr>
              <a:t>pkt</a:t>
            </a: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a:t>
            </a:r>
          </a:p>
          <a:p>
            <a:pPr>
              <a:defRPr/>
            </a:pPr>
            <a:r>
              <a:rPr lang="en-US" altLang="zh-CN" sz="1050" b="0" dirty="0">
                <a:latin typeface="微软雅黑" panose="020B0503020204020204" pitchFamily="34" charset="-122"/>
                <a:ea typeface="微软雅黑" panose="020B0503020204020204" pitchFamily="34" charset="-122"/>
                <a:cs typeface="Courier New" panose="02070309020205020404" pitchFamily="49" charset="0"/>
              </a:rPr>
              <a:t>	…</a:t>
            </a:r>
          </a:p>
        </p:txBody>
      </p:sp>
    </p:spTree>
    <p:custDataLst>
      <p:tags r:id="rId1"/>
    </p:custDataLst>
    <p:extLst>
      <p:ext uri="{BB962C8B-B14F-4D97-AF65-F5344CB8AC3E}">
        <p14:creationId xmlns:p14="http://schemas.microsoft.com/office/powerpoint/2010/main" val="39648133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wipe(up)">
                                      <p:cBhvr>
                                        <p:cTn id="11" dur="500"/>
                                        <p:tgtEl>
                                          <p:spTgt spid="94"/>
                                        </p:tgtEl>
                                      </p:cBhvr>
                                    </p:animEffect>
                                  </p:childTnLst>
                                </p:cTn>
                              </p:par>
                              <p:par>
                                <p:cTn id="12" presetID="22" presetClass="entr" presetSubtype="1" fill="hold" nodeType="withEffect">
                                  <p:stCondLst>
                                    <p:cond delay="0"/>
                                  </p:stCondLst>
                                  <p:childTnLst>
                                    <p:set>
                                      <p:cBhvr>
                                        <p:cTn id="13" dur="1" fill="hold">
                                          <p:stCondLst>
                                            <p:cond delay="0"/>
                                          </p:stCondLst>
                                        </p:cTn>
                                        <p:tgtEl>
                                          <p:spTgt spid="96"/>
                                        </p:tgtEl>
                                        <p:attrNameLst>
                                          <p:attrName>style.visibility</p:attrName>
                                        </p:attrNameLst>
                                      </p:cBhvr>
                                      <p:to>
                                        <p:strVal val="visible"/>
                                      </p:to>
                                    </p:set>
                                    <p:animEffect transition="in" filter="wipe(up)">
                                      <p:cBhvr>
                                        <p:cTn id="14" dur="500"/>
                                        <p:tgtEl>
                                          <p:spTgt spid="96"/>
                                        </p:tgtEl>
                                      </p:cBhvr>
                                    </p:animEffect>
                                  </p:childTnLst>
                                </p:cTn>
                              </p:par>
                              <p:par>
                                <p:cTn id="15" presetID="22" presetClass="entr" presetSubtype="1" fill="hold" nodeType="with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up)">
                                      <p:cBhvr>
                                        <p:cTn id="17" dur="500"/>
                                        <p:tgtEl>
                                          <p:spTgt spid="99"/>
                                        </p:tgtEl>
                                      </p:cBhvr>
                                    </p:animEffect>
                                  </p:childTnLst>
                                </p:cTn>
                              </p:par>
                              <p:par>
                                <p:cTn id="18" presetID="22" presetClass="entr" presetSubtype="1" fill="hold" nodeType="withEffect">
                                  <p:stCondLst>
                                    <p:cond delay="0"/>
                                  </p:stCondLst>
                                  <p:childTnLst>
                                    <p:set>
                                      <p:cBhvr>
                                        <p:cTn id="19" dur="1" fill="hold">
                                          <p:stCondLst>
                                            <p:cond delay="0"/>
                                          </p:stCondLst>
                                        </p:cTn>
                                        <p:tgtEl>
                                          <p:spTgt spid="97"/>
                                        </p:tgtEl>
                                        <p:attrNameLst>
                                          <p:attrName>style.visibility</p:attrName>
                                        </p:attrNameLst>
                                      </p:cBhvr>
                                      <p:to>
                                        <p:strVal val="visible"/>
                                      </p:to>
                                    </p:set>
                                    <p:animEffect transition="in" filter="wipe(up)">
                                      <p:cBhvr>
                                        <p:cTn id="20" dur="500"/>
                                        <p:tgtEl>
                                          <p:spTgt spid="97"/>
                                        </p:tgtEl>
                                      </p:cBhvr>
                                    </p:animEffect>
                                  </p:childTnLst>
                                </p:cTn>
                              </p:par>
                              <p:par>
                                <p:cTn id="21" presetID="22" presetClass="entr" presetSubtype="1" fill="hold" nodeType="withEffect">
                                  <p:stCondLst>
                                    <p:cond delay="0"/>
                                  </p:stCondLst>
                                  <p:childTnLst>
                                    <p:set>
                                      <p:cBhvr>
                                        <p:cTn id="22" dur="1" fill="hold">
                                          <p:stCondLst>
                                            <p:cond delay="0"/>
                                          </p:stCondLst>
                                        </p:cTn>
                                        <p:tgtEl>
                                          <p:spTgt spid="98"/>
                                        </p:tgtEl>
                                        <p:attrNameLst>
                                          <p:attrName>style.visibility</p:attrName>
                                        </p:attrNameLst>
                                      </p:cBhvr>
                                      <p:to>
                                        <p:strVal val="visible"/>
                                      </p:to>
                                    </p:set>
                                    <p:animEffect transition="in" filter="wipe(up)">
                                      <p:cBhvr>
                                        <p:cTn id="23" dur="500"/>
                                        <p:tgtEl>
                                          <p:spTgt spid="9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0" presetClass="entr" presetSubtype="0"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圆角矩形 308"/>
          <p:cNvSpPr/>
          <p:nvPr/>
        </p:nvSpPr>
        <p:spPr>
          <a:xfrm>
            <a:off x="627449" y="2694094"/>
            <a:ext cx="7582899" cy="1926031"/>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SDN </a:t>
            </a:r>
            <a:r>
              <a:rPr lang="zh-CN" altLang="en-US" sz="2400" b="1" dirty="0" smtClean="0">
                <a:solidFill>
                  <a:schemeClr val="bg1"/>
                </a:solidFill>
                <a:latin typeface="微软雅黑" pitchFamily="34" charset="-122"/>
                <a:ea typeface="微软雅黑" pitchFamily="34" charset="-122"/>
              </a:rPr>
              <a:t>数据平面</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4" y="1009413"/>
            <a:ext cx="8033440" cy="1528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根据</a:t>
            </a:r>
            <a:r>
              <a:rPr lang="en-US" altLang="zh-CN" b="1" dirty="0">
                <a:latin typeface="微软雅黑" pitchFamily="34" charset="-122"/>
                <a:ea typeface="微软雅黑" pitchFamily="34" charset="-122"/>
              </a:rPr>
              <a:t>ONF</a:t>
            </a:r>
            <a:r>
              <a:rPr lang="zh-CN" altLang="en-US" b="1" dirty="0">
                <a:latin typeface="微软雅黑" pitchFamily="34" charset="-122"/>
                <a:ea typeface="微软雅黑" pitchFamily="34" charset="-122"/>
              </a:rPr>
              <a:t>的定义，</a:t>
            </a: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数据平面</a:t>
            </a:r>
            <a:r>
              <a:rPr lang="zh-CN" altLang="en-US" b="1" dirty="0">
                <a:solidFill>
                  <a:srgbClr val="C00000"/>
                </a:solidFill>
                <a:latin typeface="微软雅黑" pitchFamily="34" charset="-122"/>
                <a:ea typeface="微软雅黑" pitchFamily="34" charset="-122"/>
              </a:rPr>
              <a:t>由支持分组转发功能的设备所组成</a:t>
            </a:r>
            <a:r>
              <a:rPr lang="zh-CN" altLang="en-US" b="1" dirty="0">
                <a:latin typeface="微软雅黑" pitchFamily="34" charset="-122"/>
                <a:ea typeface="微软雅黑" pitchFamily="34" charset="-122"/>
              </a:rPr>
              <a:t>，主要功能就是</a:t>
            </a:r>
            <a:r>
              <a:rPr lang="zh-CN" altLang="en-US" b="1" dirty="0" smtClean="0">
                <a:solidFill>
                  <a:srgbClr val="C00000"/>
                </a:solidFill>
                <a:latin typeface="微软雅黑" pitchFamily="34" charset="-122"/>
                <a:ea typeface="微软雅黑" pitchFamily="34" charset="-122"/>
              </a:rPr>
              <a:t>根据规则对</a:t>
            </a:r>
            <a:r>
              <a:rPr lang="zh-CN" altLang="en-US" b="1" dirty="0">
                <a:solidFill>
                  <a:srgbClr val="C00000"/>
                </a:solidFill>
                <a:latin typeface="微软雅黑" pitchFamily="34" charset="-122"/>
                <a:ea typeface="微软雅黑" pitchFamily="34" charset="-122"/>
              </a:rPr>
              <a:t>到达的分组进行处理</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转发、修改、丢弃等。</a:t>
            </a:r>
            <a:endParaRPr lang="en-US" altLang="zh-CN" sz="1600"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分组</a:t>
            </a:r>
            <a:r>
              <a:rPr lang="zh-CN" altLang="en-US" b="1" dirty="0" smtClean="0">
                <a:solidFill>
                  <a:srgbClr val="C00000"/>
                </a:solidFill>
                <a:latin typeface="微软雅黑" pitchFamily="34" charset="-122"/>
                <a:ea typeface="微软雅黑" pitchFamily="34" charset="-122"/>
              </a:rPr>
              <a:t>处理规则由控制</a:t>
            </a:r>
            <a:r>
              <a:rPr lang="zh-CN" altLang="en-US" b="1" dirty="0">
                <a:solidFill>
                  <a:srgbClr val="C00000"/>
                </a:solidFill>
                <a:latin typeface="微软雅黑" pitchFamily="34" charset="-122"/>
                <a:ea typeface="微软雅黑" pitchFamily="34" charset="-122"/>
              </a:rPr>
              <a:t>平面</a:t>
            </a:r>
            <a:r>
              <a:rPr lang="zh-CN" altLang="en-US" b="1" dirty="0" smtClean="0">
                <a:latin typeface="微软雅黑" pitchFamily="34" charset="-122"/>
                <a:ea typeface="微软雅黑" pitchFamily="34" charset="-122"/>
              </a:rPr>
              <a:t>下发，</a:t>
            </a:r>
            <a:r>
              <a:rPr lang="zh-CN" altLang="en-US" b="1" dirty="0">
                <a:latin typeface="微软雅黑" pitchFamily="34" charset="-122"/>
                <a:ea typeface="微软雅黑" pitchFamily="34" charset="-122"/>
              </a:rPr>
              <a:t>并且</a:t>
            </a:r>
            <a:r>
              <a:rPr lang="zh-CN" altLang="en-US" b="1" dirty="0" smtClean="0">
                <a:latin typeface="微软雅黑" pitchFamily="34" charset="-122"/>
                <a:ea typeface="微软雅黑" pitchFamily="34" charset="-122"/>
              </a:rPr>
              <a:t>维护在设备的转发</a:t>
            </a:r>
            <a:r>
              <a:rPr lang="zh-CN" altLang="en-US" b="1" dirty="0">
                <a:latin typeface="微软雅黑" pitchFamily="34" charset="-122"/>
                <a:ea typeface="微软雅黑" pitchFamily="34" charset="-122"/>
              </a:rPr>
              <a:t>表</a:t>
            </a:r>
            <a:r>
              <a:rPr lang="zh-CN" altLang="en-US" b="1" dirty="0" smtClean="0">
                <a:latin typeface="微软雅黑" pitchFamily="34" charset="-122"/>
                <a:ea typeface="微软雅黑" pitchFamily="34" charset="-122"/>
              </a:rPr>
              <a:t>中。</a:t>
            </a:r>
            <a:endParaRPr lang="en-US" altLang="zh-CN" b="1" dirty="0" smtClean="0">
              <a:latin typeface="微软雅黑" pitchFamily="34" charset="-122"/>
              <a:ea typeface="微软雅黑" pitchFamily="34" charset="-122"/>
            </a:endParaRPr>
          </a:p>
        </p:txBody>
      </p:sp>
      <p:sp>
        <p:nvSpPr>
          <p:cNvPr id="8" name="Line 27"/>
          <p:cNvSpPr>
            <a:spLocks noChangeShapeType="1"/>
          </p:cNvSpPr>
          <p:nvPr/>
        </p:nvSpPr>
        <p:spPr bwMode="auto">
          <a:xfrm flipV="1">
            <a:off x="3970339" y="3913466"/>
            <a:ext cx="1200526" cy="1757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9" name="Line 25"/>
          <p:cNvSpPr>
            <a:spLocks noChangeShapeType="1"/>
          </p:cNvSpPr>
          <p:nvPr/>
        </p:nvSpPr>
        <p:spPr bwMode="auto">
          <a:xfrm>
            <a:off x="5226512" y="3954740"/>
            <a:ext cx="451247" cy="34538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0" name="Line 26"/>
          <p:cNvSpPr>
            <a:spLocks noChangeShapeType="1"/>
          </p:cNvSpPr>
          <p:nvPr/>
        </p:nvSpPr>
        <p:spPr bwMode="auto">
          <a:xfrm>
            <a:off x="5347294" y="3959126"/>
            <a:ext cx="1347205" cy="1295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1" name="Line 27"/>
          <p:cNvSpPr>
            <a:spLocks noChangeShapeType="1"/>
          </p:cNvSpPr>
          <p:nvPr/>
        </p:nvSpPr>
        <p:spPr bwMode="auto">
          <a:xfrm>
            <a:off x="3943066" y="4115629"/>
            <a:ext cx="905503" cy="2182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2" name="Line 30"/>
          <p:cNvSpPr>
            <a:spLocks noChangeShapeType="1"/>
          </p:cNvSpPr>
          <p:nvPr/>
        </p:nvSpPr>
        <p:spPr bwMode="auto">
          <a:xfrm flipV="1">
            <a:off x="4919378" y="4334570"/>
            <a:ext cx="709897" cy="7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13" name="Line 26"/>
          <p:cNvSpPr>
            <a:spLocks noChangeShapeType="1"/>
          </p:cNvSpPr>
          <p:nvPr/>
        </p:nvSpPr>
        <p:spPr bwMode="auto">
          <a:xfrm flipH="1">
            <a:off x="4882501" y="3948208"/>
            <a:ext cx="254433" cy="3641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pic>
        <p:nvPicPr>
          <p:cNvPr id="14"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22068" y="4011872"/>
            <a:ext cx="466584" cy="2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5" name="Line 25"/>
          <p:cNvSpPr>
            <a:spLocks noChangeShapeType="1"/>
          </p:cNvSpPr>
          <p:nvPr/>
        </p:nvSpPr>
        <p:spPr bwMode="auto">
          <a:xfrm flipV="1">
            <a:off x="5702489" y="4174392"/>
            <a:ext cx="1018632" cy="139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a:p>
        </p:txBody>
      </p:sp>
      <p:sp>
        <p:nvSpPr>
          <p:cNvPr id="44" name="Cloud 4"/>
          <p:cNvSpPr>
            <a:spLocks noChangeArrowheads="1"/>
          </p:cNvSpPr>
          <p:nvPr/>
        </p:nvSpPr>
        <p:spPr bwMode="auto">
          <a:xfrm>
            <a:off x="3359130" y="3807103"/>
            <a:ext cx="4224736" cy="670821"/>
          </a:xfrm>
          <a:custGeom>
            <a:avLst/>
            <a:gdLst>
              <a:gd name="T0" fmla="*/ 2147483646 w 43200"/>
              <a:gd name="T1" fmla="*/ 2147483646 h 43200"/>
              <a:gd name="T2" fmla="*/ 2147483646 w 43200"/>
              <a:gd name="T3" fmla="*/ 2147483646 h 43200"/>
              <a:gd name="T4" fmla="*/ 2147483646 w 43200"/>
              <a:gd name="T5" fmla="*/ 2147483646 h 43200"/>
              <a:gd name="T6" fmla="*/ 2147483646 w 43200"/>
              <a:gd name="T7" fmla="*/ 2147483646 h 43200"/>
              <a:gd name="T8" fmla="*/ 0 60000 65536"/>
              <a:gd name="T9" fmla="*/ 0 60000 65536"/>
              <a:gd name="T10" fmla="*/ 0 60000 65536"/>
              <a:gd name="T11" fmla="*/ 0 60000 65536"/>
              <a:gd name="T12" fmla="*/ 5954 w 43200"/>
              <a:gd name="T13" fmla="*/ 6524 h 43200"/>
              <a:gd name="T14" fmla="*/ 34174 w 43200"/>
              <a:gd name="T15" fmla="*/ 34674 h 43200"/>
            </a:gdLst>
            <a:ahLst/>
            <a:cxnLst>
              <a:cxn ang="T8">
                <a:pos x="T0" y="T1"/>
              </a:cxn>
              <a:cxn ang="T9">
                <a:pos x="T2" y="T3"/>
              </a:cxn>
              <a:cxn ang="T10">
                <a:pos x="T4" y="T5"/>
              </a:cxn>
              <a:cxn ang="T11">
                <a:pos x="T6" y="T7"/>
              </a:cxn>
            </a:cxnLst>
            <a:rect l="T12" t="T13" r="T14" b="T15"/>
            <a:pathLst>
              <a:path w="43200" h="43200">
                <a:moveTo>
                  <a:pt x="3900" y="14370"/>
                </a:moveTo>
                <a:lnTo>
                  <a:pt x="3899" y="14370"/>
                </a:lnTo>
                <a:cubicBezTo>
                  <a:pt x="3858" y="13959"/>
                  <a:pt x="3838" y="13545"/>
                  <a:pt x="3838" y="13131"/>
                </a:cubicBezTo>
                <a:cubicBezTo>
                  <a:pt x="3838" y="8055"/>
                  <a:pt x="6861" y="3941"/>
                  <a:pt x="10591" y="3941"/>
                </a:cubicBezTo>
                <a:cubicBezTo>
                  <a:pt x="11791" y="3940"/>
                  <a:pt x="12969" y="4376"/>
                  <a:pt x="14005" y="5201"/>
                </a:cubicBezTo>
                <a:lnTo>
                  <a:pt x="14005" y="5202"/>
                </a:lnTo>
                <a:cubicBezTo>
                  <a:pt x="14930" y="2828"/>
                  <a:pt x="16742" y="1343"/>
                  <a:pt x="18715" y="1344"/>
                </a:cubicBezTo>
                <a:cubicBezTo>
                  <a:pt x="20114" y="1344"/>
                  <a:pt x="21458" y="2093"/>
                  <a:pt x="22456" y="3431"/>
                </a:cubicBezTo>
                <a:lnTo>
                  <a:pt x="22456" y="3432"/>
                </a:lnTo>
                <a:cubicBezTo>
                  <a:pt x="23194" y="1415"/>
                  <a:pt x="24707" y="140"/>
                  <a:pt x="26362" y="141"/>
                </a:cubicBezTo>
                <a:cubicBezTo>
                  <a:pt x="27723" y="141"/>
                  <a:pt x="29007" y="1006"/>
                  <a:pt x="29832" y="2481"/>
                </a:cubicBezTo>
                <a:lnTo>
                  <a:pt x="29832" y="2480"/>
                </a:lnTo>
                <a:cubicBezTo>
                  <a:pt x="30755" y="1002"/>
                  <a:pt x="32110" y="149"/>
                  <a:pt x="33538" y="150"/>
                </a:cubicBezTo>
                <a:cubicBezTo>
                  <a:pt x="35888" y="150"/>
                  <a:pt x="37901" y="2435"/>
                  <a:pt x="38318" y="5575"/>
                </a:cubicBezTo>
                <a:lnTo>
                  <a:pt x="38317" y="5576"/>
                </a:lnTo>
                <a:cubicBezTo>
                  <a:pt x="40639" y="6438"/>
                  <a:pt x="42250" y="9313"/>
                  <a:pt x="42250" y="12594"/>
                </a:cubicBezTo>
                <a:cubicBezTo>
                  <a:pt x="42250" y="13579"/>
                  <a:pt x="42103" y="14554"/>
                  <a:pt x="41818" y="15460"/>
                </a:cubicBezTo>
                <a:lnTo>
                  <a:pt x="41818" y="15459"/>
                </a:lnTo>
                <a:cubicBezTo>
                  <a:pt x="42727" y="17070"/>
                  <a:pt x="43220" y="19044"/>
                  <a:pt x="43220" y="21076"/>
                </a:cubicBezTo>
                <a:cubicBezTo>
                  <a:pt x="43220" y="25663"/>
                  <a:pt x="40741" y="29553"/>
                  <a:pt x="37404" y="30203"/>
                </a:cubicBezTo>
                <a:lnTo>
                  <a:pt x="37403" y="30202"/>
                </a:lnTo>
                <a:cubicBezTo>
                  <a:pt x="37378" y="34523"/>
                  <a:pt x="34795" y="38006"/>
                  <a:pt x="31619" y="38007"/>
                </a:cubicBezTo>
                <a:cubicBezTo>
                  <a:pt x="30535" y="38007"/>
                  <a:pt x="29474" y="37593"/>
                  <a:pt x="28555" y="36813"/>
                </a:cubicBezTo>
                <a:lnTo>
                  <a:pt x="28556" y="36813"/>
                </a:lnTo>
                <a:cubicBezTo>
                  <a:pt x="27694" y="40699"/>
                  <a:pt x="25069" y="43357"/>
                  <a:pt x="22094" y="43358"/>
                </a:cubicBezTo>
                <a:cubicBezTo>
                  <a:pt x="19839" y="43358"/>
                  <a:pt x="17733" y="41821"/>
                  <a:pt x="16480" y="39263"/>
                </a:cubicBezTo>
                <a:lnTo>
                  <a:pt x="16480" y="39264"/>
                </a:lnTo>
                <a:cubicBezTo>
                  <a:pt x="15279" y="40250"/>
                  <a:pt x="13904" y="40770"/>
                  <a:pt x="12503" y="40771"/>
                </a:cubicBezTo>
                <a:cubicBezTo>
                  <a:pt x="9735" y="40771"/>
                  <a:pt x="7180" y="38748"/>
                  <a:pt x="5804" y="35469"/>
                </a:cubicBezTo>
                <a:lnTo>
                  <a:pt x="5803" y="35469"/>
                </a:lnTo>
                <a:cubicBezTo>
                  <a:pt x="5635" y="35496"/>
                  <a:pt x="5465" y="35509"/>
                  <a:pt x="5296" y="35510"/>
                </a:cubicBezTo>
                <a:cubicBezTo>
                  <a:pt x="2888" y="35510"/>
                  <a:pt x="936" y="32860"/>
                  <a:pt x="936" y="29592"/>
                </a:cubicBezTo>
                <a:cubicBezTo>
                  <a:pt x="935" y="28090"/>
                  <a:pt x="1356" y="26644"/>
                  <a:pt x="2112" y="25547"/>
                </a:cubicBezTo>
                <a:lnTo>
                  <a:pt x="2113" y="25547"/>
                </a:lnTo>
                <a:cubicBezTo>
                  <a:pt x="781" y="24481"/>
                  <a:pt x="-36" y="22528"/>
                  <a:pt x="-36" y="20418"/>
                </a:cubicBezTo>
                <a:cubicBezTo>
                  <a:pt x="-37" y="17370"/>
                  <a:pt x="1647" y="14817"/>
                  <a:pt x="3863" y="14504"/>
                </a:cubicBezTo>
                <a:lnTo>
                  <a:pt x="3900" y="14370"/>
                </a:lnTo>
                <a:close/>
              </a:path>
              <a:path w="43200" h="43200" fill="none">
                <a:moveTo>
                  <a:pt x="4693" y="26177"/>
                </a:moveTo>
                <a:lnTo>
                  <a:pt x="4693" y="26177"/>
                </a:lnTo>
                <a:cubicBezTo>
                  <a:pt x="4580" y="26189"/>
                  <a:pt x="4468" y="26194"/>
                  <a:pt x="4356" y="26195"/>
                </a:cubicBezTo>
                <a:cubicBezTo>
                  <a:pt x="3584" y="26195"/>
                  <a:pt x="2826" y="25913"/>
                  <a:pt x="2160" y="25379"/>
                </a:cubicBezTo>
                <a:moveTo>
                  <a:pt x="6928" y="34899"/>
                </a:moveTo>
                <a:lnTo>
                  <a:pt x="6927" y="34898"/>
                </a:lnTo>
                <a:cubicBezTo>
                  <a:pt x="6572" y="35091"/>
                  <a:pt x="6200" y="35219"/>
                  <a:pt x="5820" y="35280"/>
                </a:cubicBezTo>
                <a:moveTo>
                  <a:pt x="16478" y="39090"/>
                </a:moveTo>
                <a:lnTo>
                  <a:pt x="16477" y="39090"/>
                </a:lnTo>
                <a:cubicBezTo>
                  <a:pt x="16210" y="38544"/>
                  <a:pt x="15986" y="37960"/>
                  <a:pt x="15809" y="37350"/>
                </a:cubicBezTo>
                <a:moveTo>
                  <a:pt x="28827" y="34751"/>
                </a:moveTo>
                <a:lnTo>
                  <a:pt x="28826" y="34750"/>
                </a:lnTo>
                <a:cubicBezTo>
                  <a:pt x="28787" y="35398"/>
                  <a:pt x="28698" y="36038"/>
                  <a:pt x="28560" y="36660"/>
                </a:cubicBezTo>
                <a:moveTo>
                  <a:pt x="34129" y="22954"/>
                </a:moveTo>
                <a:lnTo>
                  <a:pt x="34128" y="22954"/>
                </a:lnTo>
                <a:cubicBezTo>
                  <a:pt x="36118" y="24271"/>
                  <a:pt x="37381" y="27017"/>
                  <a:pt x="37381" y="30027"/>
                </a:cubicBezTo>
                <a:cubicBezTo>
                  <a:pt x="37381" y="30048"/>
                  <a:pt x="37380" y="30069"/>
                  <a:pt x="37380" y="30090"/>
                </a:cubicBezTo>
                <a:moveTo>
                  <a:pt x="41798" y="15354"/>
                </a:moveTo>
                <a:lnTo>
                  <a:pt x="41798" y="15354"/>
                </a:lnTo>
                <a:cubicBezTo>
                  <a:pt x="41473" y="16386"/>
                  <a:pt x="40978" y="17302"/>
                  <a:pt x="40350" y="18030"/>
                </a:cubicBezTo>
                <a:moveTo>
                  <a:pt x="38324" y="5426"/>
                </a:moveTo>
                <a:lnTo>
                  <a:pt x="38324" y="5425"/>
                </a:lnTo>
                <a:cubicBezTo>
                  <a:pt x="38375" y="5811"/>
                  <a:pt x="38401" y="6202"/>
                  <a:pt x="38401" y="6595"/>
                </a:cubicBezTo>
                <a:cubicBezTo>
                  <a:pt x="38401" y="6626"/>
                  <a:pt x="38400" y="6658"/>
                  <a:pt x="38400" y="6690"/>
                </a:cubicBezTo>
                <a:moveTo>
                  <a:pt x="29078" y="3952"/>
                </a:moveTo>
                <a:lnTo>
                  <a:pt x="29078" y="3952"/>
                </a:lnTo>
                <a:cubicBezTo>
                  <a:pt x="29266" y="3369"/>
                  <a:pt x="29516" y="2826"/>
                  <a:pt x="29820" y="2340"/>
                </a:cubicBezTo>
                <a:moveTo>
                  <a:pt x="22141" y="4720"/>
                </a:moveTo>
                <a:lnTo>
                  <a:pt x="22140" y="4719"/>
                </a:lnTo>
                <a:cubicBezTo>
                  <a:pt x="22217" y="4238"/>
                  <a:pt x="22338" y="3771"/>
                  <a:pt x="22500" y="3330"/>
                </a:cubicBezTo>
                <a:moveTo>
                  <a:pt x="14000" y="5192"/>
                </a:moveTo>
                <a:lnTo>
                  <a:pt x="14000" y="5191"/>
                </a:lnTo>
                <a:cubicBezTo>
                  <a:pt x="14471" y="5568"/>
                  <a:pt x="14908" y="6020"/>
                  <a:pt x="15299" y="6540"/>
                </a:cubicBezTo>
                <a:moveTo>
                  <a:pt x="4127" y="15789"/>
                </a:moveTo>
                <a:lnTo>
                  <a:pt x="4127" y="15788"/>
                </a:lnTo>
                <a:cubicBezTo>
                  <a:pt x="4024" y="15324"/>
                  <a:pt x="3948" y="14850"/>
                  <a:pt x="3900" y="14369"/>
                </a:cubicBezTo>
              </a:path>
            </a:pathLst>
          </a:custGeom>
          <a:noFill/>
          <a:ln w="9525">
            <a:solidFill>
              <a:schemeClr val="tx1"/>
            </a:solidFill>
            <a:miter lim="800000"/>
            <a:headEnd/>
            <a:tailEnd/>
          </a:ln>
          <a:effectLst>
            <a:outerShdw dist="23000" dir="5400000" rotWithShape="0">
              <a:srgbClr val="808080">
                <a:alpha val="34998"/>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sz="1050"/>
          </a:p>
        </p:txBody>
      </p:sp>
      <p:grpSp>
        <p:nvGrpSpPr>
          <p:cNvPr id="88" name="Group 19">
            <a:extLst>
              <a:ext uri="{FF2B5EF4-FFF2-40B4-BE49-F238E27FC236}">
                <a16:creationId xmlns:a16="http://schemas.microsoft.com/office/drawing/2014/main" id="{0FA1230D-A91E-6143-A1BD-6E58E7FDBB95}"/>
              </a:ext>
            </a:extLst>
          </p:cNvPr>
          <p:cNvGrpSpPr/>
          <p:nvPr/>
        </p:nvGrpSpPr>
        <p:grpSpPr>
          <a:xfrm>
            <a:off x="2644487" y="2813017"/>
            <a:ext cx="5200655" cy="1603604"/>
            <a:chOff x="3590654" y="4136605"/>
            <a:chExt cx="5200655" cy="1960831"/>
          </a:xfrm>
        </p:grpSpPr>
        <p:grpSp>
          <p:nvGrpSpPr>
            <p:cNvPr id="89" name="Group 14">
              <a:extLst>
                <a:ext uri="{FF2B5EF4-FFF2-40B4-BE49-F238E27FC236}">
                  <a16:creationId xmlns:a16="http://schemas.microsoft.com/office/drawing/2014/main" id="{C6DFFE27-3F70-6243-BA21-8DE3EBD8025C}"/>
                </a:ext>
              </a:extLst>
            </p:cNvPr>
            <p:cNvGrpSpPr/>
            <p:nvPr/>
          </p:nvGrpSpPr>
          <p:grpSpPr>
            <a:xfrm>
              <a:off x="3590654" y="4136605"/>
              <a:ext cx="1401445" cy="1632546"/>
              <a:chOff x="3590654" y="4136605"/>
              <a:chExt cx="1401445" cy="1632546"/>
            </a:xfrm>
          </p:grpSpPr>
          <p:sp>
            <p:nvSpPr>
              <p:cNvPr id="178" name="Freeform 926">
                <a:extLst>
                  <a:ext uri="{FF2B5EF4-FFF2-40B4-BE49-F238E27FC236}">
                    <a16:creationId xmlns:a16="http://schemas.microsoft.com/office/drawing/2014/main" id="{875BCAC4-B573-D54B-BF32-094096F89D98}"/>
                  </a:ext>
                </a:extLst>
              </p:cNvPr>
              <p:cNvSpPr/>
              <p:nvPr/>
            </p:nvSpPr>
            <p:spPr bwMode="auto">
              <a:xfrm>
                <a:off x="3608120" y="5291451"/>
                <a:ext cx="1383979" cy="477700"/>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499" h="759828">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79" name="Rectangle 1016">
                <a:extLst>
                  <a:ext uri="{FF2B5EF4-FFF2-40B4-BE49-F238E27FC236}">
                    <a16:creationId xmlns:a16="http://schemas.microsoft.com/office/drawing/2014/main" id="{F031C840-E404-B943-9DD7-6487F36B8BC7}"/>
                  </a:ext>
                </a:extLst>
              </p:cNvPr>
              <p:cNvSpPr/>
              <p:nvPr/>
            </p:nvSpPr>
            <p:spPr bwMode="auto">
              <a:xfrm rot="10800000">
                <a:off x="3610169" y="4392826"/>
                <a:ext cx="1027113" cy="447284"/>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180" name="Group 498">
                <a:extLst>
                  <a:ext uri="{FF2B5EF4-FFF2-40B4-BE49-F238E27FC236}">
                    <a16:creationId xmlns:a16="http://schemas.microsoft.com/office/drawing/2014/main" id="{11E4B476-A94C-6141-A48C-F22AAD7C573A}"/>
                  </a:ext>
                </a:extLst>
              </p:cNvPr>
              <p:cNvGrpSpPr>
                <a:grpSpLocks/>
              </p:cNvGrpSpPr>
              <p:nvPr/>
            </p:nvGrpSpPr>
            <p:grpSpPr bwMode="auto">
              <a:xfrm>
                <a:off x="3590654" y="5050151"/>
                <a:ext cx="1035050" cy="360363"/>
                <a:chOff x="4129067" y="3606966"/>
                <a:chExt cx="567968" cy="338045"/>
              </a:xfrm>
            </p:grpSpPr>
            <p:sp>
              <p:nvSpPr>
                <p:cNvPr id="195" name="Oval 1031">
                  <a:extLst>
                    <a:ext uri="{FF2B5EF4-FFF2-40B4-BE49-F238E27FC236}">
                      <a16:creationId xmlns:a16="http://schemas.microsoft.com/office/drawing/2014/main" id="{6285E922-4389-6747-873A-ED742F93B7B8}"/>
                    </a:ext>
                  </a:extLst>
                </p:cNvPr>
                <p:cNvSpPr/>
                <p:nvPr/>
              </p:nvSpPr>
              <p:spPr>
                <a:xfrm>
                  <a:off x="4130589" y="3720144"/>
                  <a:ext cx="566445"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96" name="Rectangle 1032">
                  <a:extLst>
                    <a:ext uri="{FF2B5EF4-FFF2-40B4-BE49-F238E27FC236}">
                      <a16:creationId xmlns:a16="http://schemas.microsoft.com/office/drawing/2014/main" id="{681399F7-9F7D-8247-A86B-B0C42C17B7BD}"/>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97" name="Oval 1033">
                  <a:extLst>
                    <a:ext uri="{FF2B5EF4-FFF2-40B4-BE49-F238E27FC236}">
                      <a16:creationId xmlns:a16="http://schemas.microsoft.com/office/drawing/2014/main" id="{22EC9AA8-544A-8B4A-88A6-2074F49F53D4}"/>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98" name="Straight Connector 1034">
                  <a:extLst>
                    <a:ext uri="{FF2B5EF4-FFF2-40B4-BE49-F238E27FC236}">
                      <a16:creationId xmlns:a16="http://schemas.microsoft.com/office/drawing/2014/main" id="{C98CC5A1-6137-AD47-8DAD-1CE3995E4F4E}"/>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199" name="Straight Connector 1035">
                  <a:extLst>
                    <a:ext uri="{FF2B5EF4-FFF2-40B4-BE49-F238E27FC236}">
                      <a16:creationId xmlns:a16="http://schemas.microsoft.com/office/drawing/2014/main" id="{D6DBD6DE-4277-6E43-8F0F-101EA88CC186}"/>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181" name="Rectangle 1018">
                <a:extLst>
                  <a:ext uri="{FF2B5EF4-FFF2-40B4-BE49-F238E27FC236}">
                    <a16:creationId xmlns:a16="http://schemas.microsoft.com/office/drawing/2014/main" id="{511198B5-F79E-C74D-B56E-01ADB1EAA4C1}"/>
                  </a:ext>
                </a:extLst>
              </p:cNvPr>
              <p:cNvSpPr/>
              <p:nvPr/>
            </p:nvSpPr>
            <p:spPr bwMode="auto">
              <a:xfrm>
                <a:off x="3592076" y="4851683"/>
                <a:ext cx="1028700" cy="336579"/>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82" name="Straight Connector 1019">
                <a:extLst>
                  <a:ext uri="{FF2B5EF4-FFF2-40B4-BE49-F238E27FC236}">
                    <a16:creationId xmlns:a16="http://schemas.microsoft.com/office/drawing/2014/main" id="{D3ADC60A-D45A-1346-84AC-B4714AE1CB27}"/>
                  </a:ext>
                </a:extLst>
              </p:cNvPr>
              <p:cNvCxnSpPr>
                <a:cxnSpLocks/>
              </p:cNvCxnSpPr>
              <p:nvPr/>
            </p:nvCxnSpPr>
            <p:spPr bwMode="auto">
              <a:xfrm>
                <a:off x="3609708" y="5243825"/>
                <a:ext cx="0" cy="0"/>
              </a:xfrm>
              <a:prstGeom prst="line">
                <a:avLst/>
              </a:prstGeom>
              <a:noFill/>
              <a:ln w="3175" cap="flat" cmpd="sng" algn="ctr">
                <a:solidFill>
                  <a:srgbClr val="000000"/>
                </a:solidFill>
                <a:prstDash val="sysDash"/>
              </a:ln>
              <a:effectLst/>
            </p:spPr>
          </p:cxnSp>
          <p:cxnSp>
            <p:nvCxnSpPr>
              <p:cNvPr id="183" name="Straight Connector 1020">
                <a:extLst>
                  <a:ext uri="{FF2B5EF4-FFF2-40B4-BE49-F238E27FC236}">
                    <a16:creationId xmlns:a16="http://schemas.microsoft.com/office/drawing/2014/main" id="{8C732665-0AF3-514A-8491-058D584AA66C}"/>
                  </a:ext>
                </a:extLst>
              </p:cNvPr>
              <p:cNvCxnSpPr>
                <a:cxnSpLocks/>
              </p:cNvCxnSpPr>
              <p:nvPr/>
            </p:nvCxnSpPr>
            <p:spPr bwMode="auto">
              <a:xfrm>
                <a:off x="4625708" y="4396154"/>
                <a:ext cx="0" cy="806396"/>
              </a:xfrm>
              <a:prstGeom prst="line">
                <a:avLst/>
              </a:prstGeom>
              <a:noFill/>
              <a:ln w="3175" cap="flat" cmpd="sng" algn="ctr">
                <a:solidFill>
                  <a:srgbClr val="000000"/>
                </a:solidFill>
                <a:prstDash val="sysDash"/>
              </a:ln>
              <a:effectLst/>
            </p:spPr>
          </p:cxnSp>
          <p:grpSp>
            <p:nvGrpSpPr>
              <p:cNvPr id="184" name="Group 504">
                <a:extLst>
                  <a:ext uri="{FF2B5EF4-FFF2-40B4-BE49-F238E27FC236}">
                    <a16:creationId xmlns:a16="http://schemas.microsoft.com/office/drawing/2014/main" id="{87E38306-3DC6-B044-991D-BEE6F6FD2E77}"/>
                  </a:ext>
                </a:extLst>
              </p:cNvPr>
              <p:cNvGrpSpPr>
                <a:grpSpLocks/>
              </p:cNvGrpSpPr>
              <p:nvPr/>
            </p:nvGrpSpPr>
            <p:grpSpPr bwMode="auto">
              <a:xfrm>
                <a:off x="3609241" y="4136605"/>
                <a:ext cx="1019909" cy="399123"/>
                <a:chOff x="2183302" y="1574638"/>
                <a:chExt cx="1200154" cy="430218"/>
              </a:xfrm>
            </p:grpSpPr>
            <p:sp>
              <p:nvSpPr>
                <p:cNvPr id="186" name="Oval 1022">
                  <a:extLst>
                    <a:ext uri="{FF2B5EF4-FFF2-40B4-BE49-F238E27FC236}">
                      <a16:creationId xmlns:a16="http://schemas.microsoft.com/office/drawing/2014/main" id="{55E5FA1C-CAB4-8341-8DAA-EDAE9CFD84E2}"/>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87" name="Rectangle 1023">
                  <a:extLst>
                    <a:ext uri="{FF2B5EF4-FFF2-40B4-BE49-F238E27FC236}">
                      <a16:creationId xmlns:a16="http://schemas.microsoft.com/office/drawing/2014/main" id="{44108165-9E65-5F4A-BAAB-C6ACE38D3C65}"/>
                    </a:ext>
                  </a:extLst>
                </p:cNvPr>
                <p:cNvSpPr/>
                <p:nvPr/>
              </p:nvSpPr>
              <p:spPr bwMode="auto">
                <a:xfrm>
                  <a:off x="2183302" y="1735489"/>
                  <a:ext cx="1198172"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88" name="Oval 1024">
                  <a:extLst>
                    <a:ext uri="{FF2B5EF4-FFF2-40B4-BE49-F238E27FC236}">
                      <a16:creationId xmlns:a16="http://schemas.microsoft.com/office/drawing/2014/main" id="{5220D9A0-FC71-C848-AA4B-AC3EAD73DB6B}"/>
                    </a:ext>
                  </a:extLst>
                </p:cNvPr>
                <p:cNvSpPr>
                  <a:spLocks noChangeArrowheads="1"/>
                </p:cNvSpPr>
                <p:nvPr/>
              </p:nvSpPr>
              <p:spPr bwMode="auto">
                <a:xfrm flipV="1">
                  <a:off x="2183302"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89" name="Freeform 1025">
                  <a:extLst>
                    <a:ext uri="{FF2B5EF4-FFF2-40B4-BE49-F238E27FC236}">
                      <a16:creationId xmlns:a16="http://schemas.microsoft.com/office/drawing/2014/main" id="{0E8501FC-8102-1648-8958-E425AC1A0FB8}"/>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90" name="Freeform 1026">
                  <a:extLst>
                    <a:ext uri="{FF2B5EF4-FFF2-40B4-BE49-F238E27FC236}">
                      <a16:creationId xmlns:a16="http://schemas.microsoft.com/office/drawing/2014/main" id="{AF49A14A-FE33-EB4B-ADEA-BA7B348615CA}"/>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1" name="Freeform 1027">
                  <a:extLst>
                    <a:ext uri="{FF2B5EF4-FFF2-40B4-BE49-F238E27FC236}">
                      <a16:creationId xmlns:a16="http://schemas.microsoft.com/office/drawing/2014/main" id="{FEBE179E-02E9-C64E-89FC-F45503783F7D}"/>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2" name="Freeform 1028">
                  <a:extLst>
                    <a:ext uri="{FF2B5EF4-FFF2-40B4-BE49-F238E27FC236}">
                      <a16:creationId xmlns:a16="http://schemas.microsoft.com/office/drawing/2014/main" id="{56DF1AAD-D538-1C44-A286-465AD81A046E}"/>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93" name="Straight Connector 1029">
                  <a:extLst>
                    <a:ext uri="{FF2B5EF4-FFF2-40B4-BE49-F238E27FC236}">
                      <a16:creationId xmlns:a16="http://schemas.microsoft.com/office/drawing/2014/main" id="{60701F8E-3F5A-734C-A498-AA55BCD5CFE1}"/>
                    </a:ext>
                  </a:extLst>
                </p:cNvPr>
                <p:cNvCxnSpPr>
                  <a:cxnSpLocks noChangeShapeType="1"/>
                  <a:endCxn id="188" idx="2"/>
                </p:cNvCxnSpPr>
                <p:nvPr/>
              </p:nvCxnSpPr>
              <p:spPr bwMode="auto">
                <a:xfrm flipH="1" flipV="1">
                  <a:off x="2183302"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94" name="Straight Connector 1030">
                  <a:extLst>
                    <a:ext uri="{FF2B5EF4-FFF2-40B4-BE49-F238E27FC236}">
                      <a16:creationId xmlns:a16="http://schemas.microsoft.com/office/drawing/2014/main" id="{299ED768-B7C5-C447-A0CA-015C1D4D47F2}"/>
                    </a:ext>
                  </a:extLst>
                </p:cNvPr>
                <p:cNvCxnSpPr>
                  <a:cxnSpLocks noChangeShapeType="1"/>
                </p:cNvCxnSpPr>
                <p:nvPr/>
              </p:nvCxnSpPr>
              <p:spPr bwMode="auto">
                <a:xfrm flipH="1" flipV="1">
                  <a:off x="3381474"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cxnSp>
            <p:nvCxnSpPr>
              <p:cNvPr id="185" name="Straight Connector 370">
                <a:extLst>
                  <a:ext uri="{FF2B5EF4-FFF2-40B4-BE49-F238E27FC236}">
                    <a16:creationId xmlns:a16="http://schemas.microsoft.com/office/drawing/2014/main" id="{E67B7110-869C-734E-A391-2DDC0CCD436E}"/>
                  </a:ext>
                </a:extLst>
              </p:cNvPr>
              <p:cNvCxnSpPr>
                <a:cxnSpLocks/>
              </p:cNvCxnSpPr>
              <p:nvPr/>
            </p:nvCxnSpPr>
            <p:spPr bwMode="auto">
              <a:xfrm>
                <a:off x="3607035" y="4388133"/>
                <a:ext cx="0" cy="806396"/>
              </a:xfrm>
              <a:prstGeom prst="line">
                <a:avLst/>
              </a:prstGeom>
              <a:noFill/>
              <a:ln w="3175" cap="flat" cmpd="sng" algn="ctr">
                <a:solidFill>
                  <a:srgbClr val="000000"/>
                </a:solidFill>
                <a:prstDash val="sysDash"/>
              </a:ln>
              <a:effectLst/>
            </p:spPr>
          </p:cxnSp>
        </p:grpSp>
        <p:grpSp>
          <p:nvGrpSpPr>
            <p:cNvPr id="90" name="Group 15">
              <a:extLst>
                <a:ext uri="{FF2B5EF4-FFF2-40B4-BE49-F238E27FC236}">
                  <a16:creationId xmlns:a16="http://schemas.microsoft.com/office/drawing/2014/main" id="{C3C97C5E-8F3D-B348-9E9A-3D250616B623}"/>
                </a:ext>
              </a:extLst>
            </p:cNvPr>
            <p:cNvGrpSpPr/>
            <p:nvPr/>
          </p:nvGrpSpPr>
          <p:grpSpPr>
            <a:xfrm>
              <a:off x="5292458" y="4247514"/>
              <a:ext cx="573087" cy="1746894"/>
              <a:chOff x="5292458" y="4247514"/>
              <a:chExt cx="573087" cy="1746894"/>
            </a:xfrm>
          </p:grpSpPr>
          <p:sp>
            <p:nvSpPr>
              <p:cNvPr id="157" name="Freeform 930">
                <a:extLst>
                  <a:ext uri="{FF2B5EF4-FFF2-40B4-BE49-F238E27FC236}">
                    <a16:creationId xmlns:a16="http://schemas.microsoft.com/office/drawing/2014/main" id="{E78920D8-D684-1642-B41B-2CC538B9202E}"/>
                  </a:ext>
                </a:extLst>
              </p:cNvPr>
              <p:cNvSpPr/>
              <p:nvPr/>
            </p:nvSpPr>
            <p:spPr bwMode="auto">
              <a:xfrm>
                <a:off x="5292458" y="5394638"/>
                <a:ext cx="573087" cy="599770"/>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 name="connsiteX0" fmla="*/ 403236 w 574100"/>
                  <a:gd name="connsiteY0" fmla="*/ 1215612 h 1215612"/>
                  <a:gd name="connsiteX1" fmla="*/ 0 w 574100"/>
                  <a:gd name="connsiteY1" fmla="*/ 4757 h 1215612"/>
                  <a:gd name="connsiteX2" fmla="*/ 502783 w 574100"/>
                  <a:gd name="connsiteY2" fmla="*/ 0 h 1215612"/>
                  <a:gd name="connsiteX3" fmla="*/ 574100 w 574100"/>
                  <a:gd name="connsiteY3" fmla="*/ 1014877 h 1215612"/>
                  <a:gd name="connsiteX4" fmla="*/ 403236 w 574100"/>
                  <a:gd name="connsiteY4" fmla="*/ 1215612 h 1215612"/>
                  <a:gd name="connsiteX0" fmla="*/ 333190 w 574100"/>
                  <a:gd name="connsiteY0" fmla="*/ 985695 h 1015244"/>
                  <a:gd name="connsiteX1" fmla="*/ 0 w 574100"/>
                  <a:gd name="connsiteY1" fmla="*/ 4757 h 1015244"/>
                  <a:gd name="connsiteX2" fmla="*/ 502783 w 574100"/>
                  <a:gd name="connsiteY2" fmla="*/ 0 h 1015244"/>
                  <a:gd name="connsiteX3" fmla="*/ 574100 w 574100"/>
                  <a:gd name="connsiteY3" fmla="*/ 1014877 h 1015244"/>
                  <a:gd name="connsiteX4" fmla="*/ 333190 w 574100"/>
                  <a:gd name="connsiteY4" fmla="*/ 985695 h 1015244"/>
                  <a:gd name="connsiteX0" fmla="*/ 323648 w 574100"/>
                  <a:gd name="connsiteY0" fmla="*/ 1001558 h 1015510"/>
                  <a:gd name="connsiteX1" fmla="*/ 0 w 574100"/>
                  <a:gd name="connsiteY1" fmla="*/ 4757 h 1015510"/>
                  <a:gd name="connsiteX2" fmla="*/ 502783 w 574100"/>
                  <a:gd name="connsiteY2" fmla="*/ 0 h 1015510"/>
                  <a:gd name="connsiteX3" fmla="*/ 574100 w 574100"/>
                  <a:gd name="connsiteY3" fmla="*/ 1014877 h 1015510"/>
                  <a:gd name="connsiteX4" fmla="*/ 323648 w 574100"/>
                  <a:gd name="connsiteY4" fmla="*/ 1001558 h 1015510"/>
                  <a:gd name="connsiteX0" fmla="*/ 323648 w 574100"/>
                  <a:gd name="connsiteY0" fmla="*/ 1001558 h 1015194"/>
                  <a:gd name="connsiteX1" fmla="*/ 0 w 574100"/>
                  <a:gd name="connsiteY1" fmla="*/ 4757 h 1015194"/>
                  <a:gd name="connsiteX2" fmla="*/ 502783 w 574100"/>
                  <a:gd name="connsiteY2" fmla="*/ 0 h 1015194"/>
                  <a:gd name="connsiteX3" fmla="*/ 574100 w 574100"/>
                  <a:gd name="connsiteY3" fmla="*/ 1014877 h 1015194"/>
                  <a:gd name="connsiteX4" fmla="*/ 323648 w 574100"/>
                  <a:gd name="connsiteY4" fmla="*/ 1001558 h 1015194"/>
                  <a:gd name="connsiteX0" fmla="*/ 323648 w 574100"/>
                  <a:gd name="connsiteY0" fmla="*/ 1001558 h 1014877"/>
                  <a:gd name="connsiteX1" fmla="*/ 0 w 574100"/>
                  <a:gd name="connsiteY1" fmla="*/ 4757 h 1014877"/>
                  <a:gd name="connsiteX2" fmla="*/ 502783 w 574100"/>
                  <a:gd name="connsiteY2" fmla="*/ 0 h 1014877"/>
                  <a:gd name="connsiteX3" fmla="*/ 574100 w 574100"/>
                  <a:gd name="connsiteY3" fmla="*/ 1014877 h 1014877"/>
                  <a:gd name="connsiteX4" fmla="*/ 323648 w 574100"/>
                  <a:gd name="connsiteY4" fmla="*/ 1001558 h 1014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100" h="1014877">
                    <a:moveTo>
                      <a:pt x="323648" y="1001558"/>
                    </a:moveTo>
                    <a:cubicBezTo>
                      <a:pt x="144359" y="448953"/>
                      <a:pt x="295574" y="908506"/>
                      <a:pt x="0" y="4757"/>
                    </a:cubicBezTo>
                    <a:cubicBezTo>
                      <a:pt x="166537" y="861"/>
                      <a:pt x="336246" y="3896"/>
                      <a:pt x="502783" y="0"/>
                    </a:cubicBezTo>
                    <a:cubicBezTo>
                      <a:pt x="555943" y="995541"/>
                      <a:pt x="537473" y="350120"/>
                      <a:pt x="574100" y="1014877"/>
                    </a:cubicBezTo>
                    <a:cubicBezTo>
                      <a:pt x="492318" y="996974"/>
                      <a:pt x="472137" y="977884"/>
                      <a:pt x="323648" y="1001558"/>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58" name="Rectangle 996">
                <a:extLst>
                  <a:ext uri="{FF2B5EF4-FFF2-40B4-BE49-F238E27FC236}">
                    <a16:creationId xmlns:a16="http://schemas.microsoft.com/office/drawing/2014/main" id="{7F242236-8B77-9144-8038-81B9BCAB1509}"/>
                  </a:ext>
                </a:extLst>
              </p:cNvPr>
              <p:cNvSpPr/>
              <p:nvPr/>
            </p:nvSpPr>
            <p:spPr bwMode="auto">
              <a:xfrm rot="10800000">
                <a:off x="5300268" y="4442752"/>
                <a:ext cx="498084" cy="52340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59" name="Straight Connector 997">
                <a:extLst>
                  <a:ext uri="{FF2B5EF4-FFF2-40B4-BE49-F238E27FC236}">
                    <a16:creationId xmlns:a16="http://schemas.microsoft.com/office/drawing/2014/main" id="{855E433C-9E28-D243-A7F8-5DC166631717}"/>
                  </a:ext>
                </a:extLst>
              </p:cNvPr>
              <p:cNvCxnSpPr>
                <a:cxnSpLocks/>
                <a:stCxn id="165" idx="3"/>
              </p:cNvCxnSpPr>
              <p:nvPr/>
            </p:nvCxnSpPr>
            <p:spPr bwMode="auto">
              <a:xfrm>
                <a:off x="5798598" y="4376078"/>
                <a:ext cx="11386" cy="969347"/>
              </a:xfrm>
              <a:prstGeom prst="line">
                <a:avLst/>
              </a:prstGeom>
              <a:noFill/>
              <a:ln w="3175" cap="flat" cmpd="sng" algn="ctr">
                <a:solidFill>
                  <a:srgbClr val="000000"/>
                </a:solidFill>
                <a:prstDash val="sysDash"/>
              </a:ln>
              <a:effectLst/>
            </p:spPr>
          </p:cxnSp>
          <p:grpSp>
            <p:nvGrpSpPr>
              <p:cNvPr id="160" name="Group 552">
                <a:extLst>
                  <a:ext uri="{FF2B5EF4-FFF2-40B4-BE49-F238E27FC236}">
                    <a16:creationId xmlns:a16="http://schemas.microsoft.com/office/drawing/2014/main" id="{2095E3B0-B1DF-9747-A4B6-739AFCB17CA7}"/>
                  </a:ext>
                </a:extLst>
              </p:cNvPr>
              <p:cNvGrpSpPr>
                <a:grpSpLocks/>
              </p:cNvGrpSpPr>
              <p:nvPr/>
            </p:nvGrpSpPr>
            <p:grpSpPr bwMode="auto">
              <a:xfrm>
                <a:off x="5302369" y="5271607"/>
                <a:ext cx="507588" cy="221730"/>
                <a:chOff x="4128636" y="3606589"/>
                <a:chExt cx="568145" cy="338667"/>
              </a:xfrm>
            </p:grpSpPr>
            <p:sp>
              <p:nvSpPr>
                <p:cNvPr id="173" name="Oval 1011">
                  <a:extLst>
                    <a:ext uri="{FF2B5EF4-FFF2-40B4-BE49-F238E27FC236}">
                      <a16:creationId xmlns:a16="http://schemas.microsoft.com/office/drawing/2014/main" id="{77BE98D0-B8F8-0542-81BA-550DCDDBED58}"/>
                    </a:ext>
                  </a:extLst>
                </p:cNvPr>
                <p:cNvSpPr/>
                <p:nvPr/>
              </p:nvSpPr>
              <p:spPr>
                <a:xfrm>
                  <a:off x="4128204" y="3719337"/>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74" name="Rectangle 1012">
                  <a:extLst>
                    <a:ext uri="{FF2B5EF4-FFF2-40B4-BE49-F238E27FC236}">
                      <a16:creationId xmlns:a16="http://schemas.microsoft.com/office/drawing/2014/main" id="{FF81DF11-B403-0242-9BBF-4028E5002511}"/>
                    </a:ext>
                  </a:extLst>
                </p:cNvPr>
                <p:cNvSpPr/>
                <p:nvPr/>
              </p:nvSpPr>
              <p:spPr>
                <a:xfrm>
                  <a:off x="4128204" y="3719337"/>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75" name="Oval 1013">
                  <a:extLst>
                    <a:ext uri="{FF2B5EF4-FFF2-40B4-BE49-F238E27FC236}">
                      <a16:creationId xmlns:a16="http://schemas.microsoft.com/office/drawing/2014/main" id="{DA7CD07E-7BFA-EA40-A63C-19BD545F9FBB}"/>
                    </a:ext>
                  </a:extLst>
                </p:cNvPr>
                <p:cNvSpPr/>
                <p:nvPr/>
              </p:nvSpPr>
              <p:spPr>
                <a:xfrm>
                  <a:off x="4128204" y="3600527"/>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76" name="Straight Connector 1014">
                  <a:extLst>
                    <a:ext uri="{FF2B5EF4-FFF2-40B4-BE49-F238E27FC236}">
                      <a16:creationId xmlns:a16="http://schemas.microsoft.com/office/drawing/2014/main" id="{B2F8B11B-A555-1F4E-A7E6-540E16F7A0A8}"/>
                    </a:ext>
                  </a:extLst>
                </p:cNvPr>
                <p:cNvCxnSpPr/>
                <p:nvPr/>
              </p:nvCxnSpPr>
              <p:spPr>
                <a:xfrm>
                  <a:off x="4696810" y="3719337"/>
                  <a:ext cx="0" cy="111537"/>
                </a:xfrm>
                <a:prstGeom prst="line">
                  <a:avLst/>
                </a:prstGeom>
                <a:noFill/>
                <a:ln w="6350" cap="flat" cmpd="sng" algn="ctr">
                  <a:solidFill>
                    <a:srgbClr val="000000"/>
                  </a:solidFill>
                  <a:prstDash val="solid"/>
                </a:ln>
                <a:effectLst/>
              </p:spPr>
            </p:cxnSp>
            <p:cxnSp>
              <p:nvCxnSpPr>
                <p:cNvPr id="177" name="Straight Connector 1015">
                  <a:extLst>
                    <a:ext uri="{FF2B5EF4-FFF2-40B4-BE49-F238E27FC236}">
                      <a16:creationId xmlns:a16="http://schemas.microsoft.com/office/drawing/2014/main" id="{DC5D2573-EDE8-D044-BD08-61DD678EC15B}"/>
                    </a:ext>
                  </a:extLst>
                </p:cNvPr>
                <p:cNvCxnSpPr/>
                <p:nvPr/>
              </p:nvCxnSpPr>
              <p:spPr>
                <a:xfrm>
                  <a:off x="4128204" y="3719337"/>
                  <a:ext cx="0" cy="111537"/>
                </a:xfrm>
                <a:prstGeom prst="line">
                  <a:avLst/>
                </a:prstGeom>
                <a:noFill/>
                <a:ln w="6350" cap="flat" cmpd="sng" algn="ctr">
                  <a:solidFill>
                    <a:srgbClr val="000000"/>
                  </a:solidFill>
                  <a:prstDash val="solid"/>
                </a:ln>
                <a:effectLst/>
              </p:spPr>
            </p:cxnSp>
          </p:grpSp>
          <p:sp>
            <p:nvSpPr>
              <p:cNvPr id="161" name="Rectangle 999">
                <a:extLst>
                  <a:ext uri="{FF2B5EF4-FFF2-40B4-BE49-F238E27FC236}">
                    <a16:creationId xmlns:a16="http://schemas.microsoft.com/office/drawing/2014/main" id="{1CD2ADDF-DE6E-274D-9173-D493921DFE9F}"/>
                  </a:ext>
                </a:extLst>
              </p:cNvPr>
              <p:cNvSpPr/>
              <p:nvPr/>
            </p:nvSpPr>
            <p:spPr bwMode="auto">
              <a:xfrm>
                <a:off x="5303570" y="4851684"/>
                <a:ext cx="496888" cy="496916"/>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62" name="Straight Connector 1000">
                <a:extLst>
                  <a:ext uri="{FF2B5EF4-FFF2-40B4-BE49-F238E27FC236}">
                    <a16:creationId xmlns:a16="http://schemas.microsoft.com/office/drawing/2014/main" id="{3926DE25-E9FB-D540-98B7-27C7DBB56A43}"/>
                  </a:ext>
                </a:extLst>
              </p:cNvPr>
              <p:cNvCxnSpPr>
                <a:cxnSpLocks/>
                <a:stCxn id="164" idx="2"/>
              </p:cNvCxnSpPr>
              <p:nvPr/>
            </p:nvCxnSpPr>
            <p:spPr bwMode="auto">
              <a:xfrm flipH="1">
                <a:off x="5297221" y="4407034"/>
                <a:ext cx="4739" cy="1032054"/>
              </a:xfrm>
              <a:prstGeom prst="line">
                <a:avLst/>
              </a:prstGeom>
              <a:noFill/>
              <a:ln w="3175" cap="flat" cmpd="sng" algn="ctr">
                <a:solidFill>
                  <a:srgbClr val="000000"/>
                </a:solidFill>
                <a:prstDash val="sysDash"/>
              </a:ln>
              <a:effectLst/>
            </p:spPr>
          </p:cxnSp>
          <p:grpSp>
            <p:nvGrpSpPr>
              <p:cNvPr id="163" name="Group 538">
                <a:extLst>
                  <a:ext uri="{FF2B5EF4-FFF2-40B4-BE49-F238E27FC236}">
                    <a16:creationId xmlns:a16="http://schemas.microsoft.com/office/drawing/2014/main" id="{FA32E138-3569-9943-8F38-8BFBBEE94E0D}"/>
                  </a:ext>
                </a:extLst>
              </p:cNvPr>
              <p:cNvGrpSpPr>
                <a:grpSpLocks/>
              </p:cNvGrpSpPr>
              <p:nvPr/>
            </p:nvGrpSpPr>
            <p:grpSpPr bwMode="auto">
              <a:xfrm>
                <a:off x="5299734" y="4247514"/>
                <a:ext cx="498793" cy="248286"/>
                <a:chOff x="2183302" y="1564542"/>
                <a:chExt cx="1200154" cy="440314"/>
              </a:xfrm>
            </p:grpSpPr>
            <p:sp>
              <p:nvSpPr>
                <p:cNvPr id="164" name="Oval 1002">
                  <a:extLst>
                    <a:ext uri="{FF2B5EF4-FFF2-40B4-BE49-F238E27FC236}">
                      <a16:creationId xmlns:a16="http://schemas.microsoft.com/office/drawing/2014/main" id="{172BF76E-3582-364D-ACA4-688518FFF091}"/>
                    </a:ext>
                  </a:extLst>
                </p:cNvPr>
                <p:cNvSpPr/>
                <p:nvPr/>
              </p:nvSpPr>
              <p:spPr bwMode="auto">
                <a:xfrm flipV="1">
                  <a:off x="2188659" y="1691189"/>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65" name="Rectangle 1003">
                  <a:extLst>
                    <a:ext uri="{FF2B5EF4-FFF2-40B4-BE49-F238E27FC236}">
                      <a16:creationId xmlns:a16="http://schemas.microsoft.com/office/drawing/2014/main" id="{3A78A2F4-E393-6E42-BE3F-0FCA6714AEB4}"/>
                    </a:ext>
                  </a:extLst>
                </p:cNvPr>
                <p:cNvSpPr/>
                <p:nvPr/>
              </p:nvSpPr>
              <p:spPr bwMode="auto">
                <a:xfrm>
                  <a:off x="2184877" y="1736233"/>
                  <a:ext cx="1198749"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66" name="Oval 1004">
                  <a:extLst>
                    <a:ext uri="{FF2B5EF4-FFF2-40B4-BE49-F238E27FC236}">
                      <a16:creationId xmlns:a16="http://schemas.microsoft.com/office/drawing/2014/main" id="{940143FD-143D-914C-BE2C-37F2F665D24A}"/>
                    </a:ext>
                  </a:extLst>
                </p:cNvPr>
                <p:cNvSpPr>
                  <a:spLocks noChangeArrowheads="1"/>
                </p:cNvSpPr>
                <p:nvPr/>
              </p:nvSpPr>
              <p:spPr bwMode="auto">
                <a:xfrm flipV="1">
                  <a:off x="2184877" y="1564501"/>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67" name="Freeform 1005">
                  <a:extLst>
                    <a:ext uri="{FF2B5EF4-FFF2-40B4-BE49-F238E27FC236}">
                      <a16:creationId xmlns:a16="http://schemas.microsoft.com/office/drawing/2014/main" id="{E3E8B10C-6B82-EC4C-A959-82D1FA770D43}"/>
                    </a:ext>
                  </a:extLst>
                </p:cNvPr>
                <p:cNvSpPr/>
                <p:nvPr/>
              </p:nvSpPr>
              <p:spPr bwMode="auto">
                <a:xfrm>
                  <a:off x="2491182" y="1671482"/>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68" name="Freeform 1006">
                  <a:extLst>
                    <a:ext uri="{FF2B5EF4-FFF2-40B4-BE49-F238E27FC236}">
                      <a16:creationId xmlns:a16="http://schemas.microsoft.com/office/drawing/2014/main" id="{0B23900C-40C2-5447-A8A5-DB9E4C1FBD25}"/>
                    </a:ext>
                  </a:extLst>
                </p:cNvPr>
                <p:cNvSpPr>
                  <a:spLocks/>
                </p:cNvSpPr>
                <p:nvPr/>
              </p:nvSpPr>
              <p:spPr bwMode="auto">
                <a:xfrm>
                  <a:off x="2430678" y="1629252"/>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9" name="Freeform 1007">
                  <a:extLst>
                    <a:ext uri="{FF2B5EF4-FFF2-40B4-BE49-F238E27FC236}">
                      <a16:creationId xmlns:a16="http://schemas.microsoft.com/office/drawing/2014/main" id="{8EDB510B-0DD2-AE4F-82C5-7A7D8DC924A6}"/>
                    </a:ext>
                  </a:extLst>
                </p:cNvPr>
                <p:cNvSpPr>
                  <a:spLocks/>
                </p:cNvSpPr>
                <p:nvPr/>
              </p:nvSpPr>
              <p:spPr bwMode="auto">
                <a:xfrm>
                  <a:off x="2892025" y="1722158"/>
                  <a:ext cx="260925" cy="95720"/>
                </a:xfrm>
                <a:custGeom>
                  <a:avLst/>
                  <a:gdLst>
                    <a:gd name="T0" fmla="*/ 0 w 1366596"/>
                    <a:gd name="T1" fmla="*/ 0 h 809868"/>
                    <a:gd name="T2" fmla="*/ 260925 w 1366596"/>
                    <a:gd name="T3" fmla="*/ 73965 h 809868"/>
                    <a:gd name="T4" fmla="*/ 165165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0" name="Freeform 1008">
                  <a:extLst>
                    <a:ext uri="{FF2B5EF4-FFF2-40B4-BE49-F238E27FC236}">
                      <a16:creationId xmlns:a16="http://schemas.microsoft.com/office/drawing/2014/main" id="{8DBE17FA-57C2-EB4B-A9B7-514F4336E298}"/>
                    </a:ext>
                  </a:extLst>
                </p:cNvPr>
                <p:cNvSpPr>
                  <a:spLocks/>
                </p:cNvSpPr>
                <p:nvPr/>
              </p:nvSpPr>
              <p:spPr bwMode="auto">
                <a:xfrm>
                  <a:off x="2419332" y="1724972"/>
                  <a:ext cx="253364" cy="95720"/>
                </a:xfrm>
                <a:custGeom>
                  <a:avLst/>
                  <a:gdLst>
                    <a:gd name="T0" fmla="*/ 249905 w 1348191"/>
                    <a:gd name="T1" fmla="*/ 0 h 791462"/>
                    <a:gd name="T2" fmla="*/ 253364 w 1348191"/>
                    <a:gd name="T3" fmla="*/ 46190 h 791462"/>
                    <a:gd name="T4" fmla="*/ 91661 w 1348191"/>
                    <a:gd name="T5" fmla="*/ 95720 h 791462"/>
                    <a:gd name="T6" fmla="*/ 0 w 1348191"/>
                    <a:gd name="T7" fmla="*/ 74016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71" name="Straight Connector 1009">
                  <a:extLst>
                    <a:ext uri="{FF2B5EF4-FFF2-40B4-BE49-F238E27FC236}">
                      <a16:creationId xmlns:a16="http://schemas.microsoft.com/office/drawing/2014/main" id="{6D72BFF1-097B-E940-AAD0-E8A2E1D2A096}"/>
                    </a:ext>
                  </a:extLst>
                </p:cNvPr>
                <p:cNvCxnSpPr>
                  <a:cxnSpLocks noChangeShapeType="1"/>
                  <a:endCxn id="166" idx="2"/>
                </p:cNvCxnSpPr>
                <p:nvPr/>
              </p:nvCxnSpPr>
              <p:spPr bwMode="auto">
                <a:xfrm flipH="1" flipV="1">
                  <a:off x="2184877" y="172215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72" name="Straight Connector 1010">
                  <a:extLst>
                    <a:ext uri="{FF2B5EF4-FFF2-40B4-BE49-F238E27FC236}">
                      <a16:creationId xmlns:a16="http://schemas.microsoft.com/office/drawing/2014/main" id="{088863E0-982B-8A4D-853F-851CE3F1F144}"/>
                    </a:ext>
                  </a:extLst>
                </p:cNvPr>
                <p:cNvCxnSpPr>
                  <a:cxnSpLocks noChangeShapeType="1"/>
                </p:cNvCxnSpPr>
                <p:nvPr/>
              </p:nvCxnSpPr>
              <p:spPr bwMode="auto">
                <a:xfrm flipH="1" flipV="1">
                  <a:off x="3379842" y="172778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1" name="Group 16">
              <a:extLst>
                <a:ext uri="{FF2B5EF4-FFF2-40B4-BE49-F238E27FC236}">
                  <a16:creationId xmlns:a16="http://schemas.microsoft.com/office/drawing/2014/main" id="{A711EF0F-FDD8-CC4B-B701-3F459FFDE65F}"/>
                </a:ext>
              </a:extLst>
            </p:cNvPr>
            <p:cNvGrpSpPr/>
            <p:nvPr/>
          </p:nvGrpSpPr>
          <p:grpSpPr>
            <a:xfrm>
              <a:off x="6071920" y="4247514"/>
              <a:ext cx="520674" cy="1450198"/>
              <a:chOff x="6071920" y="4247514"/>
              <a:chExt cx="520674" cy="1450198"/>
            </a:xfrm>
          </p:grpSpPr>
          <p:sp>
            <p:nvSpPr>
              <p:cNvPr id="136" name="Freeform 929">
                <a:extLst>
                  <a:ext uri="{FF2B5EF4-FFF2-40B4-BE49-F238E27FC236}">
                    <a16:creationId xmlns:a16="http://schemas.microsoft.com/office/drawing/2014/main" id="{BD4E8E8A-5281-2546-8825-0786245B15DA}"/>
                  </a:ext>
                </a:extLst>
              </p:cNvPr>
              <p:cNvSpPr/>
              <p:nvPr/>
            </p:nvSpPr>
            <p:spPr bwMode="auto">
              <a:xfrm>
                <a:off x="6071920" y="5431150"/>
                <a:ext cx="514350" cy="26656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7341"/>
                  <a:gd name="connsiteX1" fmla="*/ 0 w 514180"/>
                  <a:gd name="connsiteY1" fmla="*/ 0 h 577341"/>
                  <a:gd name="connsiteX2" fmla="*/ 514180 w 514180"/>
                  <a:gd name="connsiteY2" fmla="*/ 10891 h 577341"/>
                  <a:gd name="connsiteX3" fmla="*/ 404259 w 514180"/>
                  <a:gd name="connsiteY3" fmla="*/ 386400 h 577341"/>
                  <a:gd name="connsiteX4" fmla="*/ 135770 w 514180"/>
                  <a:gd name="connsiteY4" fmla="*/ 577341 h 577341"/>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02193 h 402193"/>
                  <a:gd name="connsiteX1" fmla="*/ 0 w 514180"/>
                  <a:gd name="connsiteY1" fmla="*/ 0 h 402193"/>
                  <a:gd name="connsiteX2" fmla="*/ 514180 w 514180"/>
                  <a:gd name="connsiteY2" fmla="*/ 10891 h 402193"/>
                  <a:gd name="connsiteX3" fmla="*/ 404259 w 514180"/>
                  <a:gd name="connsiteY3" fmla="*/ 386400 h 402193"/>
                  <a:gd name="connsiteX4" fmla="*/ 100781 w 514180"/>
                  <a:gd name="connsiteY4" fmla="*/ 402193 h 402193"/>
                  <a:gd name="connsiteX0" fmla="*/ 100781 w 514180"/>
                  <a:gd name="connsiteY0" fmla="*/ 402193 h 425001"/>
                  <a:gd name="connsiteX1" fmla="*/ 0 w 514180"/>
                  <a:gd name="connsiteY1" fmla="*/ 0 h 425001"/>
                  <a:gd name="connsiteX2" fmla="*/ 514180 w 514180"/>
                  <a:gd name="connsiteY2" fmla="*/ 10891 h 425001"/>
                  <a:gd name="connsiteX3" fmla="*/ 448695 w 514180"/>
                  <a:gd name="connsiteY3" fmla="*/ 424553 h 425001"/>
                  <a:gd name="connsiteX4" fmla="*/ 100781 w 514180"/>
                  <a:gd name="connsiteY4" fmla="*/ 402193 h 425001"/>
                  <a:gd name="connsiteX0" fmla="*/ 100781 w 514180"/>
                  <a:gd name="connsiteY0" fmla="*/ 402193 h 425001"/>
                  <a:gd name="connsiteX1" fmla="*/ 0 w 514180"/>
                  <a:gd name="connsiteY1" fmla="*/ 0 h 425001"/>
                  <a:gd name="connsiteX2" fmla="*/ 514180 w 514180"/>
                  <a:gd name="connsiteY2" fmla="*/ 10891 h 425001"/>
                  <a:gd name="connsiteX3" fmla="*/ 448695 w 514180"/>
                  <a:gd name="connsiteY3" fmla="*/ 424553 h 425001"/>
                  <a:gd name="connsiteX4" fmla="*/ 100781 w 514180"/>
                  <a:gd name="connsiteY4" fmla="*/ 402193 h 425001"/>
                  <a:gd name="connsiteX0" fmla="*/ 100781 w 514180"/>
                  <a:gd name="connsiteY0" fmla="*/ 402193 h 424553"/>
                  <a:gd name="connsiteX1" fmla="*/ 0 w 514180"/>
                  <a:gd name="connsiteY1" fmla="*/ 0 h 424553"/>
                  <a:gd name="connsiteX2" fmla="*/ 514180 w 514180"/>
                  <a:gd name="connsiteY2" fmla="*/ 10891 h 424553"/>
                  <a:gd name="connsiteX3" fmla="*/ 448695 w 514180"/>
                  <a:gd name="connsiteY3" fmla="*/ 424553 h 424553"/>
                  <a:gd name="connsiteX4" fmla="*/ 100781 w 514180"/>
                  <a:gd name="connsiteY4" fmla="*/ 402193 h 424553"/>
                  <a:gd name="connsiteX0" fmla="*/ 110303 w 514180"/>
                  <a:gd name="connsiteY0" fmla="*/ 443525 h 443525"/>
                  <a:gd name="connsiteX1" fmla="*/ 0 w 514180"/>
                  <a:gd name="connsiteY1" fmla="*/ 0 h 443525"/>
                  <a:gd name="connsiteX2" fmla="*/ 514180 w 514180"/>
                  <a:gd name="connsiteY2" fmla="*/ 10891 h 443525"/>
                  <a:gd name="connsiteX3" fmla="*/ 448695 w 514180"/>
                  <a:gd name="connsiteY3" fmla="*/ 424553 h 443525"/>
                  <a:gd name="connsiteX4" fmla="*/ 110303 w 514180"/>
                  <a:gd name="connsiteY4" fmla="*/ 443525 h 443525"/>
                  <a:gd name="connsiteX0" fmla="*/ 110303 w 514180"/>
                  <a:gd name="connsiteY0" fmla="*/ 443525 h 443525"/>
                  <a:gd name="connsiteX1" fmla="*/ 0 w 514180"/>
                  <a:gd name="connsiteY1" fmla="*/ 0 h 443525"/>
                  <a:gd name="connsiteX2" fmla="*/ 514180 w 514180"/>
                  <a:gd name="connsiteY2" fmla="*/ 10891 h 443525"/>
                  <a:gd name="connsiteX3" fmla="*/ 448695 w 514180"/>
                  <a:gd name="connsiteY3" fmla="*/ 424553 h 443525"/>
                  <a:gd name="connsiteX4" fmla="*/ 110303 w 514180"/>
                  <a:gd name="connsiteY4" fmla="*/ 443525 h 443525"/>
                  <a:gd name="connsiteX0" fmla="*/ 110303 w 514180"/>
                  <a:gd name="connsiteY0" fmla="*/ 443525 h 443525"/>
                  <a:gd name="connsiteX1" fmla="*/ 0 w 514180"/>
                  <a:gd name="connsiteY1" fmla="*/ 0 h 443525"/>
                  <a:gd name="connsiteX2" fmla="*/ 514180 w 514180"/>
                  <a:gd name="connsiteY2" fmla="*/ 10891 h 443525"/>
                  <a:gd name="connsiteX3" fmla="*/ 448695 w 514180"/>
                  <a:gd name="connsiteY3" fmla="*/ 424553 h 443525"/>
                  <a:gd name="connsiteX4" fmla="*/ 110303 w 514180"/>
                  <a:gd name="connsiteY4" fmla="*/ 443525 h 44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443525">
                    <a:moveTo>
                      <a:pt x="110303" y="443525"/>
                    </a:moveTo>
                    <a:cubicBezTo>
                      <a:pt x="70106" y="235553"/>
                      <a:pt x="112501" y="273531"/>
                      <a:pt x="0" y="0"/>
                    </a:cubicBezTo>
                    <a:lnTo>
                      <a:pt x="514180" y="10891"/>
                    </a:lnTo>
                    <a:cubicBezTo>
                      <a:pt x="417353" y="348331"/>
                      <a:pt x="456724" y="233015"/>
                      <a:pt x="448695" y="424553"/>
                    </a:cubicBezTo>
                    <a:cubicBezTo>
                      <a:pt x="373684" y="393884"/>
                      <a:pt x="178402" y="416624"/>
                      <a:pt x="110303" y="443525"/>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37" name="Rectangle 976">
                <a:extLst>
                  <a:ext uri="{FF2B5EF4-FFF2-40B4-BE49-F238E27FC236}">
                    <a16:creationId xmlns:a16="http://schemas.microsoft.com/office/drawing/2014/main" id="{B0F9C3E9-A467-3F42-B81A-4399A9B977B8}"/>
                  </a:ext>
                </a:extLst>
              </p:cNvPr>
              <p:cNvSpPr/>
              <p:nvPr/>
            </p:nvSpPr>
            <p:spPr bwMode="auto">
              <a:xfrm rot="10800000">
                <a:off x="6074112" y="4416668"/>
                <a:ext cx="498084" cy="595829"/>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38" name="Straight Connector 977">
                <a:extLst>
                  <a:ext uri="{FF2B5EF4-FFF2-40B4-BE49-F238E27FC236}">
                    <a16:creationId xmlns:a16="http://schemas.microsoft.com/office/drawing/2014/main" id="{20B4E373-A127-2049-BBD2-5D8AFBDD7F00}"/>
                  </a:ext>
                </a:extLst>
              </p:cNvPr>
              <p:cNvCxnSpPr>
                <a:cxnSpLocks/>
                <a:stCxn id="143" idx="6"/>
              </p:cNvCxnSpPr>
              <p:nvPr/>
            </p:nvCxnSpPr>
            <p:spPr bwMode="auto">
              <a:xfrm>
                <a:off x="6572320" y="4407033"/>
                <a:ext cx="15904" cy="943155"/>
              </a:xfrm>
              <a:prstGeom prst="line">
                <a:avLst/>
              </a:prstGeom>
              <a:noFill/>
              <a:ln w="3175" cap="flat" cmpd="sng" algn="ctr">
                <a:solidFill>
                  <a:srgbClr val="000000"/>
                </a:solidFill>
                <a:prstDash val="sysDash"/>
              </a:ln>
              <a:effectLst/>
            </p:spPr>
          </p:cxnSp>
          <p:grpSp>
            <p:nvGrpSpPr>
              <p:cNvPr id="139" name="Group 580">
                <a:extLst>
                  <a:ext uri="{FF2B5EF4-FFF2-40B4-BE49-F238E27FC236}">
                    <a16:creationId xmlns:a16="http://schemas.microsoft.com/office/drawing/2014/main" id="{3A9D8F64-E0EA-B742-94C4-1BEB4135EA82}"/>
                  </a:ext>
                </a:extLst>
              </p:cNvPr>
              <p:cNvGrpSpPr>
                <a:grpSpLocks/>
              </p:cNvGrpSpPr>
              <p:nvPr/>
            </p:nvGrpSpPr>
            <p:grpSpPr bwMode="auto">
              <a:xfrm>
                <a:off x="6085006" y="5276371"/>
                <a:ext cx="507588" cy="221730"/>
                <a:chOff x="4128636" y="3606589"/>
                <a:chExt cx="568145" cy="338667"/>
              </a:xfrm>
            </p:grpSpPr>
            <p:sp>
              <p:nvSpPr>
                <p:cNvPr id="152" name="Oval 991">
                  <a:extLst>
                    <a:ext uri="{FF2B5EF4-FFF2-40B4-BE49-F238E27FC236}">
                      <a16:creationId xmlns:a16="http://schemas.microsoft.com/office/drawing/2014/main" id="{74425C53-433E-6F47-8B0C-9F4C8E916E2E}"/>
                    </a:ext>
                  </a:extLst>
                </p:cNvPr>
                <p:cNvSpPr/>
                <p:nvPr/>
              </p:nvSpPr>
              <p:spPr>
                <a:xfrm>
                  <a:off x="4128204" y="3719336"/>
                  <a:ext cx="568606" cy="22549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53" name="Rectangle 992">
                  <a:extLst>
                    <a:ext uri="{FF2B5EF4-FFF2-40B4-BE49-F238E27FC236}">
                      <a16:creationId xmlns:a16="http://schemas.microsoft.com/office/drawing/2014/main" id="{A0400564-35E9-0947-9C64-641EDF9EEAFA}"/>
                    </a:ext>
                  </a:extLst>
                </p:cNvPr>
                <p:cNvSpPr/>
                <p:nvPr/>
              </p:nvSpPr>
              <p:spPr>
                <a:xfrm>
                  <a:off x="4128204" y="3719336"/>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54" name="Oval 993">
                  <a:extLst>
                    <a:ext uri="{FF2B5EF4-FFF2-40B4-BE49-F238E27FC236}">
                      <a16:creationId xmlns:a16="http://schemas.microsoft.com/office/drawing/2014/main" id="{56DE4CA9-0BD6-4744-AD30-73684267516E}"/>
                    </a:ext>
                  </a:extLst>
                </p:cNvPr>
                <p:cNvSpPr/>
                <p:nvPr/>
              </p:nvSpPr>
              <p:spPr>
                <a:xfrm>
                  <a:off x="4128204" y="3600524"/>
                  <a:ext cx="568606" cy="230349"/>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55" name="Straight Connector 994">
                  <a:extLst>
                    <a:ext uri="{FF2B5EF4-FFF2-40B4-BE49-F238E27FC236}">
                      <a16:creationId xmlns:a16="http://schemas.microsoft.com/office/drawing/2014/main" id="{0A9628A0-82B0-154A-AC0C-91A2584C6F9D}"/>
                    </a:ext>
                  </a:extLst>
                </p:cNvPr>
                <p:cNvCxnSpPr/>
                <p:nvPr/>
              </p:nvCxnSpPr>
              <p:spPr>
                <a:xfrm>
                  <a:off x="4696810" y="3719336"/>
                  <a:ext cx="0" cy="111537"/>
                </a:xfrm>
                <a:prstGeom prst="line">
                  <a:avLst/>
                </a:prstGeom>
                <a:noFill/>
                <a:ln w="6350" cap="flat" cmpd="sng" algn="ctr">
                  <a:solidFill>
                    <a:srgbClr val="000000"/>
                  </a:solidFill>
                  <a:prstDash val="solid"/>
                </a:ln>
                <a:effectLst/>
              </p:spPr>
            </p:cxnSp>
            <p:cxnSp>
              <p:nvCxnSpPr>
                <p:cNvPr id="156" name="Straight Connector 995">
                  <a:extLst>
                    <a:ext uri="{FF2B5EF4-FFF2-40B4-BE49-F238E27FC236}">
                      <a16:creationId xmlns:a16="http://schemas.microsoft.com/office/drawing/2014/main" id="{88F83DD9-96B0-3640-BF70-6737E76C9760}"/>
                    </a:ext>
                  </a:extLst>
                </p:cNvPr>
                <p:cNvCxnSpPr/>
                <p:nvPr/>
              </p:nvCxnSpPr>
              <p:spPr>
                <a:xfrm>
                  <a:off x="4128204" y="3719336"/>
                  <a:ext cx="0" cy="111537"/>
                </a:xfrm>
                <a:prstGeom prst="line">
                  <a:avLst/>
                </a:prstGeom>
                <a:noFill/>
                <a:ln w="6350" cap="flat" cmpd="sng" algn="ctr">
                  <a:solidFill>
                    <a:srgbClr val="000000"/>
                  </a:solidFill>
                  <a:prstDash val="solid"/>
                </a:ln>
                <a:effectLst/>
              </p:spPr>
            </p:cxnSp>
          </p:grpSp>
          <p:sp>
            <p:nvSpPr>
              <p:cNvPr id="140" name="Rectangle 979">
                <a:extLst>
                  <a:ext uri="{FF2B5EF4-FFF2-40B4-BE49-F238E27FC236}">
                    <a16:creationId xmlns:a16="http://schemas.microsoft.com/office/drawing/2014/main" id="{F00ED881-B944-FC48-9E88-0D81D2145925}"/>
                  </a:ext>
                </a:extLst>
              </p:cNvPr>
              <p:cNvSpPr/>
              <p:nvPr/>
            </p:nvSpPr>
            <p:spPr bwMode="auto">
              <a:xfrm>
                <a:off x="6086208" y="4886407"/>
                <a:ext cx="496887" cy="46695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41" name="Straight Connector 980">
                <a:extLst>
                  <a:ext uri="{FF2B5EF4-FFF2-40B4-BE49-F238E27FC236}">
                    <a16:creationId xmlns:a16="http://schemas.microsoft.com/office/drawing/2014/main" id="{7CCAB184-9AE2-7B4C-80D2-9640964D0371}"/>
                  </a:ext>
                </a:extLst>
              </p:cNvPr>
              <p:cNvCxnSpPr>
                <a:cxnSpLocks/>
                <a:stCxn id="144" idx="1"/>
              </p:cNvCxnSpPr>
              <p:nvPr/>
            </p:nvCxnSpPr>
            <p:spPr bwMode="auto">
              <a:xfrm>
                <a:off x="6074234" y="4376077"/>
                <a:ext cx="1229" cy="1067773"/>
              </a:xfrm>
              <a:prstGeom prst="line">
                <a:avLst/>
              </a:prstGeom>
              <a:noFill/>
              <a:ln w="3175" cap="flat" cmpd="sng" algn="ctr">
                <a:solidFill>
                  <a:srgbClr val="000000"/>
                </a:solidFill>
                <a:prstDash val="sysDash"/>
              </a:ln>
              <a:effectLst/>
            </p:spPr>
          </p:cxnSp>
          <p:grpSp>
            <p:nvGrpSpPr>
              <p:cNvPr id="142" name="Group 568">
                <a:extLst>
                  <a:ext uri="{FF2B5EF4-FFF2-40B4-BE49-F238E27FC236}">
                    <a16:creationId xmlns:a16="http://schemas.microsoft.com/office/drawing/2014/main" id="{2939B129-2D0A-934E-82CE-DFAE38C58EB2}"/>
                  </a:ext>
                </a:extLst>
              </p:cNvPr>
              <p:cNvGrpSpPr>
                <a:grpSpLocks/>
              </p:cNvGrpSpPr>
              <p:nvPr/>
            </p:nvGrpSpPr>
            <p:grpSpPr bwMode="auto">
              <a:xfrm>
                <a:off x="6073579" y="4247514"/>
                <a:ext cx="498671" cy="248286"/>
                <a:chOff x="2183302" y="1564542"/>
                <a:chExt cx="1200154" cy="440314"/>
              </a:xfrm>
            </p:grpSpPr>
            <p:sp>
              <p:nvSpPr>
                <p:cNvPr id="143" name="Oval 982">
                  <a:extLst>
                    <a:ext uri="{FF2B5EF4-FFF2-40B4-BE49-F238E27FC236}">
                      <a16:creationId xmlns:a16="http://schemas.microsoft.com/office/drawing/2014/main" id="{6A8F745B-1D4E-4F4F-BEFA-6144E5BDE2F6}"/>
                    </a:ext>
                  </a:extLst>
                </p:cNvPr>
                <p:cNvSpPr/>
                <p:nvPr/>
              </p:nvSpPr>
              <p:spPr bwMode="auto">
                <a:xfrm flipV="1">
                  <a:off x="2188659" y="1691187"/>
                  <a:ext cx="1194966" cy="312497"/>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44" name="Rectangle 983">
                  <a:extLst>
                    <a:ext uri="{FF2B5EF4-FFF2-40B4-BE49-F238E27FC236}">
                      <a16:creationId xmlns:a16="http://schemas.microsoft.com/office/drawing/2014/main" id="{9C90A1F3-B2A8-9548-8E8B-D7BD57307905}"/>
                    </a:ext>
                  </a:extLst>
                </p:cNvPr>
                <p:cNvSpPr/>
                <p:nvPr/>
              </p:nvSpPr>
              <p:spPr bwMode="auto">
                <a:xfrm>
                  <a:off x="2184879" y="1736232"/>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45" name="Oval 984">
                  <a:extLst>
                    <a:ext uri="{FF2B5EF4-FFF2-40B4-BE49-F238E27FC236}">
                      <a16:creationId xmlns:a16="http://schemas.microsoft.com/office/drawing/2014/main" id="{629F401F-84D1-3A47-827D-8D943652DA3A}"/>
                    </a:ext>
                  </a:extLst>
                </p:cNvPr>
                <p:cNvSpPr>
                  <a:spLocks noChangeArrowheads="1"/>
                </p:cNvSpPr>
                <p:nvPr/>
              </p:nvSpPr>
              <p:spPr bwMode="auto">
                <a:xfrm flipV="1">
                  <a:off x="2184879" y="1564498"/>
                  <a:ext cx="1194966" cy="3124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46" name="Freeform 985">
                  <a:extLst>
                    <a:ext uri="{FF2B5EF4-FFF2-40B4-BE49-F238E27FC236}">
                      <a16:creationId xmlns:a16="http://schemas.microsoft.com/office/drawing/2014/main" id="{FF593AC5-08BE-8844-905E-205731B1D7EF}"/>
                    </a:ext>
                  </a:extLst>
                </p:cNvPr>
                <p:cNvSpPr/>
                <p:nvPr/>
              </p:nvSpPr>
              <p:spPr bwMode="auto">
                <a:xfrm>
                  <a:off x="2491182" y="1671479"/>
                  <a:ext cx="582357" cy="15484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47" name="Freeform 986">
                  <a:extLst>
                    <a:ext uri="{FF2B5EF4-FFF2-40B4-BE49-F238E27FC236}">
                      <a16:creationId xmlns:a16="http://schemas.microsoft.com/office/drawing/2014/main" id="{F0D77977-1A67-AA45-AB94-A8428B061207}"/>
                    </a:ext>
                  </a:extLst>
                </p:cNvPr>
                <p:cNvSpPr>
                  <a:spLocks/>
                </p:cNvSpPr>
                <p:nvPr/>
              </p:nvSpPr>
              <p:spPr bwMode="auto">
                <a:xfrm>
                  <a:off x="2430678" y="1629250"/>
                  <a:ext cx="703366" cy="109796"/>
                </a:xfrm>
                <a:custGeom>
                  <a:avLst/>
                  <a:gdLst>
                    <a:gd name="T0" fmla="*/ 0 w 3723451"/>
                    <a:gd name="T1" fmla="*/ 26862 h 932950"/>
                    <a:gd name="T2" fmla="*/ 123762 w 3723451"/>
                    <a:gd name="T3" fmla="*/ 317 h 932950"/>
                    <a:gd name="T4" fmla="*/ 350560 w 3723451"/>
                    <a:gd name="T5" fmla="*/ 61263 h 932950"/>
                    <a:gd name="T6" fmla="*/ 566927 w 3723451"/>
                    <a:gd name="T7" fmla="*/ 0 h 932950"/>
                    <a:gd name="T8" fmla="*/ 703366 w 3723451"/>
                    <a:gd name="T9" fmla="*/ 24379 h 932950"/>
                    <a:gd name="T10" fmla="*/ 601856 w 3723451"/>
                    <a:gd name="T11" fmla="*/ 54357 h 932950"/>
                    <a:gd name="T12" fmla="*/ 569173 w 3723451"/>
                    <a:gd name="T13" fmla="*/ 46274 h 932950"/>
                    <a:gd name="T14" fmla="*/ 354544 w 3723451"/>
                    <a:gd name="T15" fmla="*/ 109796 h 932950"/>
                    <a:gd name="T16" fmla="*/ 134425 w 3723451"/>
                    <a:gd name="T17" fmla="*/ 48611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Freeform 987">
                  <a:extLst>
                    <a:ext uri="{FF2B5EF4-FFF2-40B4-BE49-F238E27FC236}">
                      <a16:creationId xmlns:a16="http://schemas.microsoft.com/office/drawing/2014/main" id="{4A24255A-B649-9D44-AB80-CACD0B0D1B34}"/>
                    </a:ext>
                  </a:extLst>
                </p:cNvPr>
                <p:cNvSpPr>
                  <a:spLocks/>
                </p:cNvSpPr>
                <p:nvPr/>
              </p:nvSpPr>
              <p:spPr bwMode="auto">
                <a:xfrm>
                  <a:off x="2892025" y="1722154"/>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9" name="Freeform 988">
                  <a:extLst>
                    <a:ext uri="{FF2B5EF4-FFF2-40B4-BE49-F238E27FC236}">
                      <a16:creationId xmlns:a16="http://schemas.microsoft.com/office/drawing/2014/main" id="{21311582-6B5F-4441-B6D0-5D1DEBA1CB85}"/>
                    </a:ext>
                  </a:extLst>
                </p:cNvPr>
                <p:cNvSpPr>
                  <a:spLocks/>
                </p:cNvSpPr>
                <p:nvPr/>
              </p:nvSpPr>
              <p:spPr bwMode="auto">
                <a:xfrm>
                  <a:off x="2419334" y="1724970"/>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50" name="Straight Connector 989">
                  <a:extLst>
                    <a:ext uri="{FF2B5EF4-FFF2-40B4-BE49-F238E27FC236}">
                      <a16:creationId xmlns:a16="http://schemas.microsoft.com/office/drawing/2014/main" id="{C0FC5468-8C4C-AB42-AC33-6B20FED82305}"/>
                    </a:ext>
                  </a:extLst>
                </p:cNvPr>
                <p:cNvCxnSpPr>
                  <a:cxnSpLocks noChangeShapeType="1"/>
                  <a:endCxn id="145" idx="2"/>
                </p:cNvCxnSpPr>
                <p:nvPr/>
              </p:nvCxnSpPr>
              <p:spPr bwMode="auto">
                <a:xfrm flipH="1" flipV="1">
                  <a:off x="2184879" y="1722154"/>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51" name="Straight Connector 990">
                  <a:extLst>
                    <a:ext uri="{FF2B5EF4-FFF2-40B4-BE49-F238E27FC236}">
                      <a16:creationId xmlns:a16="http://schemas.microsoft.com/office/drawing/2014/main" id="{0641688B-D837-D241-8726-C138E7CF2444}"/>
                    </a:ext>
                  </a:extLst>
                </p:cNvPr>
                <p:cNvCxnSpPr>
                  <a:cxnSpLocks noChangeShapeType="1"/>
                </p:cNvCxnSpPr>
                <p:nvPr/>
              </p:nvCxnSpPr>
              <p:spPr bwMode="auto">
                <a:xfrm flipH="1" flipV="1">
                  <a:off x="3379845" y="1727785"/>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2" name="Group 17">
              <a:extLst>
                <a:ext uri="{FF2B5EF4-FFF2-40B4-BE49-F238E27FC236}">
                  <a16:creationId xmlns:a16="http://schemas.microsoft.com/office/drawing/2014/main" id="{988D8C64-AC3A-F247-8A7E-ED72D25D2B45}"/>
                </a:ext>
              </a:extLst>
            </p:cNvPr>
            <p:cNvGrpSpPr/>
            <p:nvPr/>
          </p:nvGrpSpPr>
          <p:grpSpPr>
            <a:xfrm>
              <a:off x="6926978" y="4371657"/>
              <a:ext cx="868967" cy="1725779"/>
              <a:chOff x="6926978" y="4371657"/>
              <a:chExt cx="868967" cy="1725779"/>
            </a:xfrm>
          </p:grpSpPr>
          <p:sp>
            <p:nvSpPr>
              <p:cNvPr id="115" name="Freeform 928">
                <a:extLst>
                  <a:ext uri="{FF2B5EF4-FFF2-40B4-BE49-F238E27FC236}">
                    <a16:creationId xmlns:a16="http://schemas.microsoft.com/office/drawing/2014/main" id="{218DF382-E11C-A94A-ABF5-F93EB0534196}"/>
                  </a:ext>
                </a:extLst>
              </p:cNvPr>
              <p:cNvSpPr/>
              <p:nvPr/>
            </p:nvSpPr>
            <p:spPr bwMode="auto">
              <a:xfrm rot="1016303">
                <a:off x="6926978" y="5377869"/>
                <a:ext cx="676335" cy="71956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675040"/>
                  <a:gd name="connsiteY0" fmla="*/ 894029 h 896577"/>
                  <a:gd name="connsiteX1" fmla="*/ 15664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896577"/>
                  <a:gd name="connsiteX1" fmla="*/ 18662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 name="connsiteX0" fmla="*/ 0 w 675040"/>
                  <a:gd name="connsiteY0" fmla="*/ 894029 h 918268"/>
                  <a:gd name="connsiteX1" fmla="*/ 186623 w 675040"/>
                  <a:gd name="connsiteY1" fmla="*/ 1724 h 918268"/>
                  <a:gd name="connsiteX2" fmla="*/ 675040 w 675040"/>
                  <a:gd name="connsiteY2" fmla="*/ 0 h 918268"/>
                  <a:gd name="connsiteX3" fmla="*/ 270986 w 675040"/>
                  <a:gd name="connsiteY3" fmla="*/ 918268 h 918268"/>
                  <a:gd name="connsiteX4" fmla="*/ 0 w 675040"/>
                  <a:gd name="connsiteY4" fmla="*/ 894029 h 918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40" h="918268">
                    <a:moveTo>
                      <a:pt x="0" y="894029"/>
                    </a:moveTo>
                    <a:cubicBezTo>
                      <a:pt x="111484" y="603455"/>
                      <a:pt x="127519" y="615275"/>
                      <a:pt x="186623" y="1724"/>
                    </a:cubicBezTo>
                    <a:cubicBezTo>
                      <a:pt x="431451" y="14348"/>
                      <a:pt x="449377" y="35256"/>
                      <a:pt x="675040" y="0"/>
                    </a:cubicBezTo>
                    <a:cubicBezTo>
                      <a:pt x="377586" y="467035"/>
                      <a:pt x="377233" y="643076"/>
                      <a:pt x="270986" y="918268"/>
                    </a:cubicBezTo>
                    <a:cubicBezTo>
                      <a:pt x="136701" y="889632"/>
                      <a:pt x="92525" y="908114"/>
                      <a:pt x="0" y="894029"/>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16" name="Rectangle 956">
                <a:extLst>
                  <a:ext uri="{FF2B5EF4-FFF2-40B4-BE49-F238E27FC236}">
                    <a16:creationId xmlns:a16="http://schemas.microsoft.com/office/drawing/2014/main" id="{B13372F6-7422-A24B-A223-1174A9270D3C}"/>
                  </a:ext>
                </a:extLst>
              </p:cNvPr>
              <p:cNvSpPr/>
              <p:nvPr/>
            </p:nvSpPr>
            <p:spPr bwMode="auto">
              <a:xfrm rot="10800000">
                <a:off x="7290624" y="4495800"/>
                <a:ext cx="498084" cy="41266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17" name="Straight Connector 957">
                <a:extLst>
                  <a:ext uri="{FF2B5EF4-FFF2-40B4-BE49-F238E27FC236}">
                    <a16:creationId xmlns:a16="http://schemas.microsoft.com/office/drawing/2014/main" id="{E33D11D1-8D4D-F14F-B9FC-6D2FB093890B}"/>
                  </a:ext>
                </a:extLst>
              </p:cNvPr>
              <p:cNvCxnSpPr>
                <a:cxnSpLocks/>
                <a:stCxn id="124" idx="6"/>
              </p:cNvCxnSpPr>
              <p:nvPr/>
            </p:nvCxnSpPr>
            <p:spPr bwMode="auto">
              <a:xfrm>
                <a:off x="7792404" y="4459742"/>
                <a:ext cx="3541" cy="872983"/>
              </a:xfrm>
              <a:prstGeom prst="line">
                <a:avLst/>
              </a:prstGeom>
              <a:noFill/>
              <a:ln w="3175" cap="flat" cmpd="sng" algn="ctr">
                <a:solidFill>
                  <a:srgbClr val="000000"/>
                </a:solidFill>
                <a:prstDash val="sysDash"/>
              </a:ln>
              <a:effectLst/>
            </p:spPr>
          </p:cxnSp>
          <p:grpSp>
            <p:nvGrpSpPr>
              <p:cNvPr id="118" name="Group 607">
                <a:extLst>
                  <a:ext uri="{FF2B5EF4-FFF2-40B4-BE49-F238E27FC236}">
                    <a16:creationId xmlns:a16="http://schemas.microsoft.com/office/drawing/2014/main" id="{12AC3864-6986-E84A-85C7-6895574A8804}"/>
                  </a:ext>
                </a:extLst>
              </p:cNvPr>
              <p:cNvGrpSpPr>
                <a:grpSpLocks/>
              </p:cNvGrpSpPr>
              <p:nvPr/>
            </p:nvGrpSpPr>
            <p:grpSpPr bwMode="auto">
              <a:xfrm>
                <a:off x="7288330" y="5258905"/>
                <a:ext cx="507588" cy="221730"/>
                <a:chOff x="4128636" y="3606589"/>
                <a:chExt cx="568145" cy="338667"/>
              </a:xfrm>
            </p:grpSpPr>
            <p:sp>
              <p:nvSpPr>
                <p:cNvPr id="131" name="Oval 971">
                  <a:extLst>
                    <a:ext uri="{FF2B5EF4-FFF2-40B4-BE49-F238E27FC236}">
                      <a16:creationId xmlns:a16="http://schemas.microsoft.com/office/drawing/2014/main" id="{1C323077-6C9C-1746-A411-C1B91269146D}"/>
                    </a:ext>
                  </a:extLst>
                </p:cNvPr>
                <p:cNvSpPr/>
                <p:nvPr/>
              </p:nvSpPr>
              <p:spPr>
                <a:xfrm>
                  <a:off x="4128205" y="3719341"/>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32" name="Rectangle 972">
                  <a:extLst>
                    <a:ext uri="{FF2B5EF4-FFF2-40B4-BE49-F238E27FC236}">
                      <a16:creationId xmlns:a16="http://schemas.microsoft.com/office/drawing/2014/main" id="{EE440552-5BF2-324D-8F4B-CBBAD5E25F28}"/>
                    </a:ext>
                  </a:extLst>
                </p:cNvPr>
                <p:cNvSpPr/>
                <p:nvPr/>
              </p:nvSpPr>
              <p:spPr>
                <a:xfrm>
                  <a:off x="4128205" y="3719341"/>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33" name="Oval 973">
                  <a:extLst>
                    <a:ext uri="{FF2B5EF4-FFF2-40B4-BE49-F238E27FC236}">
                      <a16:creationId xmlns:a16="http://schemas.microsoft.com/office/drawing/2014/main" id="{352AAEDD-5767-E14C-A897-289B1F7E9906}"/>
                    </a:ext>
                  </a:extLst>
                </p:cNvPr>
                <p:cNvSpPr/>
                <p:nvPr/>
              </p:nvSpPr>
              <p:spPr>
                <a:xfrm>
                  <a:off x="4128205" y="3600530"/>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34" name="Straight Connector 974">
                  <a:extLst>
                    <a:ext uri="{FF2B5EF4-FFF2-40B4-BE49-F238E27FC236}">
                      <a16:creationId xmlns:a16="http://schemas.microsoft.com/office/drawing/2014/main" id="{703AA525-DABB-0145-AB73-1F4B2D918977}"/>
                    </a:ext>
                  </a:extLst>
                </p:cNvPr>
                <p:cNvCxnSpPr/>
                <p:nvPr/>
              </p:nvCxnSpPr>
              <p:spPr>
                <a:xfrm>
                  <a:off x="4696811" y="3719341"/>
                  <a:ext cx="0" cy="111537"/>
                </a:xfrm>
                <a:prstGeom prst="line">
                  <a:avLst/>
                </a:prstGeom>
                <a:noFill/>
                <a:ln w="6350" cap="flat" cmpd="sng" algn="ctr">
                  <a:solidFill>
                    <a:srgbClr val="000000"/>
                  </a:solidFill>
                  <a:prstDash val="solid"/>
                </a:ln>
                <a:effectLst/>
              </p:spPr>
            </p:cxnSp>
            <p:cxnSp>
              <p:nvCxnSpPr>
                <p:cNvPr id="135" name="Straight Connector 975">
                  <a:extLst>
                    <a:ext uri="{FF2B5EF4-FFF2-40B4-BE49-F238E27FC236}">
                      <a16:creationId xmlns:a16="http://schemas.microsoft.com/office/drawing/2014/main" id="{4325B995-3B4C-0C4D-A71A-517823605523}"/>
                    </a:ext>
                  </a:extLst>
                </p:cNvPr>
                <p:cNvCxnSpPr/>
                <p:nvPr/>
              </p:nvCxnSpPr>
              <p:spPr>
                <a:xfrm>
                  <a:off x="4128205" y="3719341"/>
                  <a:ext cx="0" cy="111537"/>
                </a:xfrm>
                <a:prstGeom prst="line">
                  <a:avLst/>
                </a:prstGeom>
                <a:noFill/>
                <a:ln w="6350" cap="flat" cmpd="sng" algn="ctr">
                  <a:solidFill>
                    <a:srgbClr val="000000"/>
                  </a:solidFill>
                  <a:prstDash val="solid"/>
                </a:ln>
                <a:effectLst/>
              </p:spPr>
            </p:cxnSp>
          </p:grpSp>
          <p:sp>
            <p:nvSpPr>
              <p:cNvPr id="119" name="Rectangle 959">
                <a:extLst>
                  <a:ext uri="{FF2B5EF4-FFF2-40B4-BE49-F238E27FC236}">
                    <a16:creationId xmlns:a16="http://schemas.microsoft.com/office/drawing/2014/main" id="{67DB7B11-56CE-334A-ADC8-5DC41B2B2B31}"/>
                  </a:ext>
                </a:extLst>
              </p:cNvPr>
              <p:cNvSpPr/>
              <p:nvPr/>
            </p:nvSpPr>
            <p:spPr bwMode="auto">
              <a:xfrm>
                <a:off x="7289533" y="4897315"/>
                <a:ext cx="496887" cy="438584"/>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20" name="Straight Connector 960">
                <a:extLst>
                  <a:ext uri="{FF2B5EF4-FFF2-40B4-BE49-F238E27FC236}">
                    <a16:creationId xmlns:a16="http://schemas.microsoft.com/office/drawing/2014/main" id="{A04F27FE-A553-BA4D-8784-D3F9D239406C}"/>
                  </a:ext>
                </a:extLst>
              </p:cNvPr>
              <p:cNvCxnSpPr>
                <a:cxnSpLocks/>
                <a:stCxn id="124" idx="2"/>
              </p:cNvCxnSpPr>
              <p:nvPr/>
            </p:nvCxnSpPr>
            <p:spPr bwMode="auto">
              <a:xfrm flipH="1">
                <a:off x="7283184" y="4459742"/>
                <a:ext cx="7570" cy="966646"/>
              </a:xfrm>
              <a:prstGeom prst="line">
                <a:avLst/>
              </a:prstGeom>
              <a:noFill/>
              <a:ln w="3175" cap="flat" cmpd="sng" algn="ctr">
                <a:solidFill>
                  <a:srgbClr val="000000"/>
                </a:solidFill>
                <a:prstDash val="sysDash"/>
              </a:ln>
              <a:effectLst/>
            </p:spPr>
          </p:cxnSp>
          <p:grpSp>
            <p:nvGrpSpPr>
              <p:cNvPr id="121" name="Group 595">
                <a:extLst>
                  <a:ext uri="{FF2B5EF4-FFF2-40B4-BE49-F238E27FC236}">
                    <a16:creationId xmlns:a16="http://schemas.microsoft.com/office/drawing/2014/main" id="{7A9DFB75-AD21-E042-816D-12C833D0B14E}"/>
                  </a:ext>
                </a:extLst>
              </p:cNvPr>
              <p:cNvGrpSpPr>
                <a:grpSpLocks/>
              </p:cNvGrpSpPr>
              <p:nvPr/>
            </p:nvGrpSpPr>
            <p:grpSpPr bwMode="auto">
              <a:xfrm>
                <a:off x="7290091" y="4371657"/>
                <a:ext cx="503828" cy="248286"/>
                <a:chOff x="2183302" y="1564542"/>
                <a:chExt cx="1200154" cy="440314"/>
              </a:xfrm>
            </p:grpSpPr>
            <p:sp>
              <p:nvSpPr>
                <p:cNvPr id="122" name="Oval 962">
                  <a:extLst>
                    <a:ext uri="{FF2B5EF4-FFF2-40B4-BE49-F238E27FC236}">
                      <a16:creationId xmlns:a16="http://schemas.microsoft.com/office/drawing/2014/main" id="{EBC1A268-4FE6-7C48-A7EB-5B88F961348E}"/>
                    </a:ext>
                  </a:extLst>
                </p:cNvPr>
                <p:cNvSpPr/>
                <p:nvPr/>
              </p:nvSpPr>
              <p:spPr bwMode="auto">
                <a:xfrm flipV="1">
                  <a:off x="2188662" y="1691192"/>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23" name="Rectangle 963">
                  <a:extLst>
                    <a:ext uri="{FF2B5EF4-FFF2-40B4-BE49-F238E27FC236}">
                      <a16:creationId xmlns:a16="http://schemas.microsoft.com/office/drawing/2014/main" id="{7E5BFB83-4F66-5340-A6C8-AE2EA6969B5D}"/>
                    </a:ext>
                  </a:extLst>
                </p:cNvPr>
                <p:cNvSpPr/>
                <p:nvPr/>
              </p:nvSpPr>
              <p:spPr bwMode="auto">
                <a:xfrm>
                  <a:off x="2184881" y="1736237"/>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24" name="Oval 964">
                  <a:extLst>
                    <a:ext uri="{FF2B5EF4-FFF2-40B4-BE49-F238E27FC236}">
                      <a16:creationId xmlns:a16="http://schemas.microsoft.com/office/drawing/2014/main" id="{835B3555-2BFA-4345-AEDE-3AFF012D165A}"/>
                    </a:ext>
                  </a:extLst>
                </p:cNvPr>
                <p:cNvSpPr>
                  <a:spLocks noChangeArrowheads="1"/>
                </p:cNvSpPr>
                <p:nvPr/>
              </p:nvSpPr>
              <p:spPr bwMode="auto">
                <a:xfrm flipV="1">
                  <a:off x="2184881" y="1564505"/>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25" name="Freeform 965">
                  <a:extLst>
                    <a:ext uri="{FF2B5EF4-FFF2-40B4-BE49-F238E27FC236}">
                      <a16:creationId xmlns:a16="http://schemas.microsoft.com/office/drawing/2014/main" id="{9C54B396-F12D-CD4B-97BD-8CD97DC9CB69}"/>
                    </a:ext>
                  </a:extLst>
                </p:cNvPr>
                <p:cNvSpPr/>
                <p:nvPr/>
              </p:nvSpPr>
              <p:spPr bwMode="auto">
                <a:xfrm>
                  <a:off x="2491185" y="1671486"/>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26" name="Freeform 966">
                  <a:extLst>
                    <a:ext uri="{FF2B5EF4-FFF2-40B4-BE49-F238E27FC236}">
                      <a16:creationId xmlns:a16="http://schemas.microsoft.com/office/drawing/2014/main" id="{74A5A762-7F2A-7146-9F8E-38B680D0FAE5}"/>
                    </a:ext>
                  </a:extLst>
                </p:cNvPr>
                <p:cNvSpPr>
                  <a:spLocks/>
                </p:cNvSpPr>
                <p:nvPr/>
              </p:nvSpPr>
              <p:spPr bwMode="auto">
                <a:xfrm>
                  <a:off x="2430680" y="1629256"/>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Freeform 967">
                  <a:extLst>
                    <a:ext uri="{FF2B5EF4-FFF2-40B4-BE49-F238E27FC236}">
                      <a16:creationId xmlns:a16="http://schemas.microsoft.com/office/drawing/2014/main" id="{2A01FA01-3AF8-6C49-B347-15EC8DD1FCDF}"/>
                    </a:ext>
                  </a:extLst>
                </p:cNvPr>
                <p:cNvSpPr>
                  <a:spLocks/>
                </p:cNvSpPr>
                <p:nvPr/>
              </p:nvSpPr>
              <p:spPr bwMode="auto">
                <a:xfrm>
                  <a:off x="2892028" y="1722161"/>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Freeform 968">
                  <a:extLst>
                    <a:ext uri="{FF2B5EF4-FFF2-40B4-BE49-F238E27FC236}">
                      <a16:creationId xmlns:a16="http://schemas.microsoft.com/office/drawing/2014/main" id="{45B074FE-A579-4E44-9C72-7EC6937937B6}"/>
                    </a:ext>
                  </a:extLst>
                </p:cNvPr>
                <p:cNvSpPr>
                  <a:spLocks/>
                </p:cNvSpPr>
                <p:nvPr/>
              </p:nvSpPr>
              <p:spPr bwMode="auto">
                <a:xfrm>
                  <a:off x="2419337" y="1724976"/>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29" name="Straight Connector 969">
                  <a:extLst>
                    <a:ext uri="{FF2B5EF4-FFF2-40B4-BE49-F238E27FC236}">
                      <a16:creationId xmlns:a16="http://schemas.microsoft.com/office/drawing/2014/main" id="{D7BA177F-687A-5349-B8D9-E812C7AD3962}"/>
                    </a:ext>
                  </a:extLst>
                </p:cNvPr>
                <p:cNvCxnSpPr>
                  <a:cxnSpLocks noChangeShapeType="1"/>
                  <a:endCxn id="124" idx="2"/>
                </p:cNvCxnSpPr>
                <p:nvPr/>
              </p:nvCxnSpPr>
              <p:spPr bwMode="auto">
                <a:xfrm flipH="1" flipV="1">
                  <a:off x="2184881" y="1722161"/>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30" name="Straight Connector 970">
                  <a:extLst>
                    <a:ext uri="{FF2B5EF4-FFF2-40B4-BE49-F238E27FC236}">
                      <a16:creationId xmlns:a16="http://schemas.microsoft.com/office/drawing/2014/main" id="{2708807E-0266-644C-A6E9-061ABB06D12B}"/>
                    </a:ext>
                  </a:extLst>
                </p:cNvPr>
                <p:cNvCxnSpPr>
                  <a:cxnSpLocks noChangeShapeType="1"/>
                </p:cNvCxnSpPr>
                <p:nvPr/>
              </p:nvCxnSpPr>
              <p:spPr bwMode="auto">
                <a:xfrm flipH="1" flipV="1">
                  <a:off x="3379847" y="1727792"/>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 name="Group 18">
              <a:extLst>
                <a:ext uri="{FF2B5EF4-FFF2-40B4-BE49-F238E27FC236}">
                  <a16:creationId xmlns:a16="http://schemas.microsoft.com/office/drawing/2014/main" id="{3DE0F43A-8A46-714A-B944-7CB92C38A25B}"/>
                </a:ext>
              </a:extLst>
            </p:cNvPr>
            <p:cNvGrpSpPr/>
            <p:nvPr/>
          </p:nvGrpSpPr>
          <p:grpSpPr>
            <a:xfrm>
              <a:off x="7828837" y="4329565"/>
              <a:ext cx="962472" cy="1533778"/>
              <a:chOff x="7828837" y="4329565"/>
              <a:chExt cx="962472" cy="1533778"/>
            </a:xfrm>
          </p:grpSpPr>
          <p:sp>
            <p:nvSpPr>
              <p:cNvPr id="94" name="Freeform 927">
                <a:extLst>
                  <a:ext uri="{FF2B5EF4-FFF2-40B4-BE49-F238E27FC236}">
                    <a16:creationId xmlns:a16="http://schemas.microsoft.com/office/drawing/2014/main" id="{0D857BEA-FC6F-1449-A5C0-C21CC8BC5CED}"/>
                  </a:ext>
                </a:extLst>
              </p:cNvPr>
              <p:cNvSpPr/>
              <p:nvPr/>
            </p:nvSpPr>
            <p:spPr bwMode="auto">
              <a:xfrm>
                <a:off x="7828837" y="5455817"/>
                <a:ext cx="957219" cy="407526"/>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1011379"/>
                  <a:gd name="connsiteY0" fmla="*/ 605727 h 758185"/>
                  <a:gd name="connsiteX1" fmla="*/ 490915 w 1011379"/>
                  <a:gd name="connsiteY1" fmla="*/ 13939 h 758185"/>
                  <a:gd name="connsiteX2" fmla="*/ 1011379 w 1011379"/>
                  <a:gd name="connsiteY2" fmla="*/ 563 h 758185"/>
                  <a:gd name="connsiteX3" fmla="*/ 268780 w 1011379"/>
                  <a:gd name="connsiteY3" fmla="*/ 758185 h 758185"/>
                  <a:gd name="connsiteX4" fmla="*/ 0 w 1011379"/>
                  <a:gd name="connsiteY4" fmla="*/ 605727 h 758185"/>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05727"/>
                  <a:gd name="connsiteX1" fmla="*/ 490915 w 1011379"/>
                  <a:gd name="connsiteY1" fmla="*/ 13939 h 605727"/>
                  <a:gd name="connsiteX2" fmla="*/ 1011379 w 1011379"/>
                  <a:gd name="connsiteY2" fmla="*/ 563 h 605727"/>
                  <a:gd name="connsiteX3" fmla="*/ 318823 w 1011379"/>
                  <a:gd name="connsiteY3" fmla="*/ 553361 h 605727"/>
                  <a:gd name="connsiteX4" fmla="*/ 0 w 1011379"/>
                  <a:gd name="connsiteY4" fmla="*/ 605727 h 605727"/>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51" h="55336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95" name="Rectangle 936">
                <a:extLst>
                  <a:ext uri="{FF2B5EF4-FFF2-40B4-BE49-F238E27FC236}">
                    <a16:creationId xmlns:a16="http://schemas.microsoft.com/office/drawing/2014/main" id="{73DDF967-9AF3-2A4F-AE8E-6BE3B9FF2E91}"/>
                  </a:ext>
                </a:extLst>
              </p:cNvPr>
              <p:cNvSpPr/>
              <p:nvPr/>
            </p:nvSpPr>
            <p:spPr bwMode="auto">
              <a:xfrm rot="10800000">
                <a:off x="8288771" y="4495798"/>
                <a:ext cx="498084" cy="53610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96" name="Straight Connector 937">
                <a:extLst>
                  <a:ext uri="{FF2B5EF4-FFF2-40B4-BE49-F238E27FC236}">
                    <a16:creationId xmlns:a16="http://schemas.microsoft.com/office/drawing/2014/main" id="{4E2A68FE-149D-DD45-B62C-268C2B480787}"/>
                  </a:ext>
                </a:extLst>
              </p:cNvPr>
              <p:cNvCxnSpPr>
                <a:cxnSpLocks/>
                <a:stCxn id="103" idx="6"/>
              </p:cNvCxnSpPr>
              <p:nvPr/>
            </p:nvCxnSpPr>
            <p:spPr bwMode="auto">
              <a:xfrm>
                <a:off x="8783370" y="4418446"/>
                <a:ext cx="7939" cy="955919"/>
              </a:xfrm>
              <a:prstGeom prst="line">
                <a:avLst/>
              </a:prstGeom>
              <a:noFill/>
              <a:ln w="3175" cap="flat" cmpd="sng" algn="ctr">
                <a:solidFill>
                  <a:srgbClr val="000000"/>
                </a:solidFill>
                <a:prstDash val="sysDash"/>
              </a:ln>
              <a:effectLst/>
            </p:spPr>
          </p:cxnSp>
          <p:grpSp>
            <p:nvGrpSpPr>
              <p:cNvPr id="97" name="Group 634">
                <a:extLst>
                  <a:ext uri="{FF2B5EF4-FFF2-40B4-BE49-F238E27FC236}">
                    <a16:creationId xmlns:a16="http://schemas.microsoft.com/office/drawing/2014/main" id="{EA89FBDD-115D-B744-8C40-278D9ECECBF6}"/>
                  </a:ext>
                </a:extLst>
              </p:cNvPr>
              <p:cNvGrpSpPr>
                <a:grpSpLocks/>
              </p:cNvGrpSpPr>
              <p:nvPr/>
            </p:nvGrpSpPr>
            <p:grpSpPr bwMode="auto">
              <a:xfrm>
                <a:off x="8283693" y="5300332"/>
                <a:ext cx="507588" cy="221941"/>
                <a:chOff x="4128636" y="3606589"/>
                <a:chExt cx="568145" cy="338667"/>
              </a:xfrm>
            </p:grpSpPr>
            <p:sp>
              <p:nvSpPr>
                <p:cNvPr id="110" name="Oval 951">
                  <a:extLst>
                    <a:ext uri="{FF2B5EF4-FFF2-40B4-BE49-F238E27FC236}">
                      <a16:creationId xmlns:a16="http://schemas.microsoft.com/office/drawing/2014/main" id="{ADD15AEA-0E06-3444-AA78-D1D680AED400}"/>
                    </a:ext>
                  </a:extLst>
                </p:cNvPr>
                <p:cNvSpPr/>
                <p:nvPr/>
              </p:nvSpPr>
              <p:spPr>
                <a:xfrm>
                  <a:off x="4128205" y="3719558"/>
                  <a:ext cx="568606" cy="225284"/>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11" name="Rectangle 952">
                  <a:extLst>
                    <a:ext uri="{FF2B5EF4-FFF2-40B4-BE49-F238E27FC236}">
                      <a16:creationId xmlns:a16="http://schemas.microsoft.com/office/drawing/2014/main" id="{CBDCEDCB-60F4-7D47-8AE9-D843D17AF39C}"/>
                    </a:ext>
                  </a:extLst>
                </p:cNvPr>
                <p:cNvSpPr/>
                <p:nvPr/>
              </p:nvSpPr>
              <p:spPr>
                <a:xfrm>
                  <a:off x="4128205" y="3719558"/>
                  <a:ext cx="568606" cy="111431"/>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12" name="Oval 953">
                  <a:extLst>
                    <a:ext uri="{FF2B5EF4-FFF2-40B4-BE49-F238E27FC236}">
                      <a16:creationId xmlns:a16="http://schemas.microsoft.com/office/drawing/2014/main" id="{96CC10B3-D82A-D340-B795-8505902BBB5B}"/>
                    </a:ext>
                  </a:extLst>
                </p:cNvPr>
                <p:cNvSpPr/>
                <p:nvPr/>
              </p:nvSpPr>
              <p:spPr>
                <a:xfrm>
                  <a:off x="4128205" y="3605704"/>
                  <a:ext cx="568606" cy="22528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113" name="Straight Connector 954">
                  <a:extLst>
                    <a:ext uri="{FF2B5EF4-FFF2-40B4-BE49-F238E27FC236}">
                      <a16:creationId xmlns:a16="http://schemas.microsoft.com/office/drawing/2014/main" id="{3B133DA9-A713-2849-A8D7-EDE46E681761}"/>
                    </a:ext>
                  </a:extLst>
                </p:cNvPr>
                <p:cNvCxnSpPr/>
                <p:nvPr/>
              </p:nvCxnSpPr>
              <p:spPr>
                <a:xfrm>
                  <a:off x="4696811" y="3719558"/>
                  <a:ext cx="0" cy="111431"/>
                </a:xfrm>
                <a:prstGeom prst="line">
                  <a:avLst/>
                </a:prstGeom>
                <a:noFill/>
                <a:ln w="6350" cap="flat" cmpd="sng" algn="ctr">
                  <a:solidFill>
                    <a:srgbClr val="000000"/>
                  </a:solidFill>
                  <a:prstDash val="solid"/>
                </a:ln>
                <a:effectLst/>
              </p:spPr>
            </p:cxnSp>
            <p:cxnSp>
              <p:nvCxnSpPr>
                <p:cNvPr id="114" name="Straight Connector 955">
                  <a:extLst>
                    <a:ext uri="{FF2B5EF4-FFF2-40B4-BE49-F238E27FC236}">
                      <a16:creationId xmlns:a16="http://schemas.microsoft.com/office/drawing/2014/main" id="{BC22357C-1B49-FD47-A8E1-4EE9363277E0}"/>
                    </a:ext>
                  </a:extLst>
                </p:cNvPr>
                <p:cNvCxnSpPr/>
                <p:nvPr/>
              </p:nvCxnSpPr>
              <p:spPr>
                <a:xfrm>
                  <a:off x="4128205" y="3719558"/>
                  <a:ext cx="0" cy="111431"/>
                </a:xfrm>
                <a:prstGeom prst="line">
                  <a:avLst/>
                </a:prstGeom>
                <a:noFill/>
                <a:ln w="6350" cap="flat" cmpd="sng" algn="ctr">
                  <a:solidFill>
                    <a:srgbClr val="000000"/>
                  </a:solidFill>
                  <a:prstDash val="solid"/>
                </a:ln>
                <a:effectLst/>
              </p:spPr>
            </p:cxnSp>
          </p:grpSp>
          <p:sp>
            <p:nvSpPr>
              <p:cNvPr id="98" name="Rectangle 939">
                <a:extLst>
                  <a:ext uri="{FF2B5EF4-FFF2-40B4-BE49-F238E27FC236}">
                    <a16:creationId xmlns:a16="http://schemas.microsoft.com/office/drawing/2014/main" id="{8A75ED0D-201E-C349-9238-A2D94F02D3E1}"/>
                  </a:ext>
                </a:extLst>
              </p:cNvPr>
              <p:cNvSpPr/>
              <p:nvPr/>
            </p:nvSpPr>
            <p:spPr bwMode="auto">
              <a:xfrm>
                <a:off x="8284895" y="4904436"/>
                <a:ext cx="496888" cy="473104"/>
              </a:xfrm>
              <a:prstGeom prst="rect">
                <a:avLst/>
              </a:prstGeom>
              <a:gradFill rotWithShape="1">
                <a:gsLst>
                  <a:gs pos="1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99" name="Straight Connector 940">
                <a:extLst>
                  <a:ext uri="{FF2B5EF4-FFF2-40B4-BE49-F238E27FC236}">
                    <a16:creationId xmlns:a16="http://schemas.microsoft.com/office/drawing/2014/main" id="{690B7076-D7BF-A64B-A741-7A1AB99BC7BD}"/>
                  </a:ext>
                </a:extLst>
              </p:cNvPr>
              <p:cNvCxnSpPr>
                <a:cxnSpLocks/>
                <a:stCxn id="103" idx="2"/>
              </p:cNvCxnSpPr>
              <p:nvPr/>
            </p:nvCxnSpPr>
            <p:spPr bwMode="auto">
              <a:xfrm flipH="1">
                <a:off x="8278546" y="4418446"/>
                <a:ext cx="3174" cy="1049581"/>
              </a:xfrm>
              <a:prstGeom prst="line">
                <a:avLst/>
              </a:prstGeom>
              <a:noFill/>
              <a:ln w="3175" cap="flat" cmpd="sng" algn="ctr">
                <a:solidFill>
                  <a:srgbClr val="000000"/>
                </a:solidFill>
                <a:prstDash val="sysDash"/>
              </a:ln>
              <a:effectLst/>
            </p:spPr>
          </p:cxnSp>
          <p:grpSp>
            <p:nvGrpSpPr>
              <p:cNvPr id="100" name="Group 622">
                <a:extLst>
                  <a:ext uri="{FF2B5EF4-FFF2-40B4-BE49-F238E27FC236}">
                    <a16:creationId xmlns:a16="http://schemas.microsoft.com/office/drawing/2014/main" id="{536C1E87-C19D-B549-A398-BDAA53318FF3}"/>
                  </a:ext>
                </a:extLst>
              </p:cNvPr>
              <p:cNvGrpSpPr>
                <a:grpSpLocks/>
              </p:cNvGrpSpPr>
              <p:nvPr/>
            </p:nvGrpSpPr>
            <p:grpSpPr bwMode="auto">
              <a:xfrm>
                <a:off x="8281058" y="4329565"/>
                <a:ext cx="503828" cy="248522"/>
                <a:chOff x="2183302" y="1564542"/>
                <a:chExt cx="1200154" cy="440314"/>
              </a:xfrm>
            </p:grpSpPr>
            <p:sp>
              <p:nvSpPr>
                <p:cNvPr id="101" name="Oval 942">
                  <a:extLst>
                    <a:ext uri="{FF2B5EF4-FFF2-40B4-BE49-F238E27FC236}">
                      <a16:creationId xmlns:a16="http://schemas.microsoft.com/office/drawing/2014/main" id="{2FA609ED-2E63-804A-8736-890A528B12F8}"/>
                    </a:ext>
                  </a:extLst>
                </p:cNvPr>
                <p:cNvSpPr/>
                <p:nvPr/>
              </p:nvSpPr>
              <p:spPr bwMode="auto">
                <a:xfrm flipV="1">
                  <a:off x="2188662" y="1691075"/>
                  <a:ext cx="1194966" cy="315014"/>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2" name="Rectangle 943">
                  <a:extLst>
                    <a:ext uri="{FF2B5EF4-FFF2-40B4-BE49-F238E27FC236}">
                      <a16:creationId xmlns:a16="http://schemas.microsoft.com/office/drawing/2014/main" id="{355D3E63-F907-0E45-8C46-4E02D5408E65}"/>
                    </a:ext>
                  </a:extLst>
                </p:cNvPr>
                <p:cNvSpPr/>
                <p:nvPr/>
              </p:nvSpPr>
              <p:spPr bwMode="auto">
                <a:xfrm>
                  <a:off x="2184879" y="1736077"/>
                  <a:ext cx="1198749" cy="11250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03" name="Oval 944">
                  <a:extLst>
                    <a:ext uri="{FF2B5EF4-FFF2-40B4-BE49-F238E27FC236}">
                      <a16:creationId xmlns:a16="http://schemas.microsoft.com/office/drawing/2014/main" id="{575934DF-B322-274A-92BC-3407CBF59474}"/>
                    </a:ext>
                  </a:extLst>
                </p:cNvPr>
                <p:cNvSpPr>
                  <a:spLocks noChangeArrowheads="1"/>
                </p:cNvSpPr>
                <p:nvPr/>
              </p:nvSpPr>
              <p:spPr bwMode="auto">
                <a:xfrm flipV="1">
                  <a:off x="2184879" y="1564508"/>
                  <a:ext cx="1194966" cy="315014"/>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4" name="Freeform 945">
                  <a:extLst>
                    <a:ext uri="{FF2B5EF4-FFF2-40B4-BE49-F238E27FC236}">
                      <a16:creationId xmlns:a16="http://schemas.microsoft.com/office/drawing/2014/main" id="{CBF18B9D-FBE2-C54E-A32D-C409E6C62912}"/>
                    </a:ext>
                  </a:extLst>
                </p:cNvPr>
                <p:cNvSpPr/>
                <p:nvPr/>
              </p:nvSpPr>
              <p:spPr bwMode="auto">
                <a:xfrm>
                  <a:off x="2491185" y="1671388"/>
                  <a:ext cx="582357" cy="15750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105" name="Freeform 946">
                  <a:extLst>
                    <a:ext uri="{FF2B5EF4-FFF2-40B4-BE49-F238E27FC236}">
                      <a16:creationId xmlns:a16="http://schemas.microsoft.com/office/drawing/2014/main" id="{E96DBFA6-2771-A54D-B845-79612A3939C1}"/>
                    </a:ext>
                  </a:extLst>
                </p:cNvPr>
                <p:cNvSpPr>
                  <a:spLocks/>
                </p:cNvSpPr>
                <p:nvPr/>
              </p:nvSpPr>
              <p:spPr bwMode="auto">
                <a:xfrm>
                  <a:off x="2430680" y="1629198"/>
                  <a:ext cx="703366" cy="112505"/>
                </a:xfrm>
                <a:custGeom>
                  <a:avLst/>
                  <a:gdLst>
                    <a:gd name="T0" fmla="*/ 0 w 3723451"/>
                    <a:gd name="T1" fmla="*/ 27524 h 932950"/>
                    <a:gd name="T2" fmla="*/ 123762 w 3723451"/>
                    <a:gd name="T3" fmla="*/ 324 h 932950"/>
                    <a:gd name="T4" fmla="*/ 350560 w 3723451"/>
                    <a:gd name="T5" fmla="*/ 62775 h 932950"/>
                    <a:gd name="T6" fmla="*/ 566927 w 3723451"/>
                    <a:gd name="T7" fmla="*/ 0 h 932950"/>
                    <a:gd name="T8" fmla="*/ 703366 w 3723451"/>
                    <a:gd name="T9" fmla="*/ 24980 h 932950"/>
                    <a:gd name="T10" fmla="*/ 601856 w 3723451"/>
                    <a:gd name="T11" fmla="*/ 55698 h 932950"/>
                    <a:gd name="T12" fmla="*/ 569173 w 3723451"/>
                    <a:gd name="T13" fmla="*/ 47416 h 932950"/>
                    <a:gd name="T14" fmla="*/ 354544 w 3723451"/>
                    <a:gd name="T15" fmla="*/ 112505 h 932950"/>
                    <a:gd name="T16" fmla="*/ 134425 w 3723451"/>
                    <a:gd name="T17" fmla="*/ 49811 h 932950"/>
                    <a:gd name="T18" fmla="*/ 98836 w 3723451"/>
                    <a:gd name="T19" fmla="*/ 56577 h 932950"/>
                    <a:gd name="T20" fmla="*/ 0 w 3723451"/>
                    <a:gd name="T21" fmla="*/ 27524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6" name="Freeform 947">
                  <a:extLst>
                    <a:ext uri="{FF2B5EF4-FFF2-40B4-BE49-F238E27FC236}">
                      <a16:creationId xmlns:a16="http://schemas.microsoft.com/office/drawing/2014/main" id="{02B4EA66-7954-AA46-ABFF-843F0F913933}"/>
                    </a:ext>
                  </a:extLst>
                </p:cNvPr>
                <p:cNvSpPr>
                  <a:spLocks/>
                </p:cNvSpPr>
                <p:nvPr/>
              </p:nvSpPr>
              <p:spPr bwMode="auto">
                <a:xfrm>
                  <a:off x="2892028" y="1724827"/>
                  <a:ext cx="260925" cy="95629"/>
                </a:xfrm>
                <a:custGeom>
                  <a:avLst/>
                  <a:gdLst>
                    <a:gd name="T0" fmla="*/ 0 w 1366596"/>
                    <a:gd name="T1" fmla="*/ 0 h 809868"/>
                    <a:gd name="T2" fmla="*/ 260925 w 1366596"/>
                    <a:gd name="T3" fmla="*/ 73895 h 809868"/>
                    <a:gd name="T4" fmla="*/ 165165 w 1366596"/>
                    <a:gd name="T5" fmla="*/ 95629 h 809868"/>
                    <a:gd name="T6" fmla="*/ 878 w 1366596"/>
                    <a:gd name="T7" fmla="*/ 50531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Freeform 948">
                  <a:extLst>
                    <a:ext uri="{FF2B5EF4-FFF2-40B4-BE49-F238E27FC236}">
                      <a16:creationId xmlns:a16="http://schemas.microsoft.com/office/drawing/2014/main" id="{F20F445F-471B-7448-AAA1-96643F81BE1A}"/>
                    </a:ext>
                  </a:extLst>
                </p:cNvPr>
                <p:cNvSpPr>
                  <a:spLocks/>
                </p:cNvSpPr>
                <p:nvPr/>
              </p:nvSpPr>
              <p:spPr bwMode="auto">
                <a:xfrm>
                  <a:off x="2419334" y="1727640"/>
                  <a:ext cx="253364" cy="92816"/>
                </a:xfrm>
                <a:custGeom>
                  <a:avLst/>
                  <a:gdLst>
                    <a:gd name="T0" fmla="*/ 249905 w 1348191"/>
                    <a:gd name="T1" fmla="*/ 0 h 791462"/>
                    <a:gd name="T2" fmla="*/ 253364 w 1348191"/>
                    <a:gd name="T3" fmla="*/ 44789 h 791462"/>
                    <a:gd name="T4" fmla="*/ 91661 w 1348191"/>
                    <a:gd name="T5" fmla="*/ 92816 h 791462"/>
                    <a:gd name="T6" fmla="*/ 0 w 1348191"/>
                    <a:gd name="T7" fmla="*/ 71770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8" name="Straight Connector 949">
                  <a:extLst>
                    <a:ext uri="{FF2B5EF4-FFF2-40B4-BE49-F238E27FC236}">
                      <a16:creationId xmlns:a16="http://schemas.microsoft.com/office/drawing/2014/main" id="{4BDF3FD2-413B-0D4C-9A59-50D44FBEA121}"/>
                    </a:ext>
                  </a:extLst>
                </p:cNvPr>
                <p:cNvCxnSpPr>
                  <a:cxnSpLocks noChangeShapeType="1"/>
                  <a:endCxn id="103" idx="2"/>
                </p:cNvCxnSpPr>
                <p:nvPr/>
              </p:nvCxnSpPr>
              <p:spPr bwMode="auto">
                <a:xfrm flipH="1" flipV="1">
                  <a:off x="2184879" y="1722015"/>
                  <a:ext cx="3783" cy="12094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 name="Straight Connector 950">
                  <a:extLst>
                    <a:ext uri="{FF2B5EF4-FFF2-40B4-BE49-F238E27FC236}">
                      <a16:creationId xmlns:a16="http://schemas.microsoft.com/office/drawing/2014/main" id="{71DA60AE-C589-FA44-94AB-B21A49C15239}"/>
                    </a:ext>
                  </a:extLst>
                </p:cNvPr>
                <p:cNvCxnSpPr>
                  <a:cxnSpLocks noChangeShapeType="1"/>
                </p:cNvCxnSpPr>
                <p:nvPr/>
              </p:nvCxnSpPr>
              <p:spPr bwMode="auto">
                <a:xfrm flipH="1" flipV="1">
                  <a:off x="3379845" y="1730452"/>
                  <a:ext cx="3783" cy="12094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201" name="Group 554">
            <a:extLst>
              <a:ext uri="{FF2B5EF4-FFF2-40B4-BE49-F238E27FC236}">
                <a16:creationId xmlns:a16="http://schemas.microsoft.com/office/drawing/2014/main" id="{368CBAA7-B3CD-B447-8953-FE800957AF6D}"/>
              </a:ext>
            </a:extLst>
          </p:cNvPr>
          <p:cNvGrpSpPr>
            <a:grpSpLocks/>
          </p:cNvGrpSpPr>
          <p:nvPr/>
        </p:nvGrpSpPr>
        <p:grpSpPr bwMode="auto">
          <a:xfrm>
            <a:off x="4388525" y="3349805"/>
            <a:ext cx="428293" cy="328612"/>
            <a:chOff x="2948176" y="3912858"/>
            <a:chExt cx="428535" cy="329059"/>
          </a:xfrm>
        </p:grpSpPr>
        <p:sp>
          <p:nvSpPr>
            <p:cNvPr id="222" name="Rectangle 1064">
              <a:extLst>
                <a:ext uri="{FF2B5EF4-FFF2-40B4-BE49-F238E27FC236}">
                  <a16:creationId xmlns:a16="http://schemas.microsoft.com/office/drawing/2014/main" id="{C71DD82B-ED54-9D40-848F-40B6802EC749}"/>
                </a:ext>
              </a:extLst>
            </p:cNvPr>
            <p:cNvSpPr/>
            <p:nvPr/>
          </p:nvSpPr>
          <p:spPr>
            <a:xfrm>
              <a:off x="2951022" y="3912858"/>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23" name="Straight Connector 1065">
              <a:extLst>
                <a:ext uri="{FF2B5EF4-FFF2-40B4-BE49-F238E27FC236}">
                  <a16:creationId xmlns:a16="http://schemas.microsoft.com/office/drawing/2014/main" id="{5A2CCD06-A52B-594C-895E-DE5616109835}"/>
                </a:ext>
              </a:extLst>
            </p:cNvPr>
            <p:cNvCxnSpPr/>
            <p:nvPr/>
          </p:nvCxnSpPr>
          <p:spPr>
            <a:xfrm>
              <a:off x="2948177" y="4005058"/>
              <a:ext cx="425689" cy="0"/>
            </a:xfrm>
            <a:prstGeom prst="line">
              <a:avLst/>
            </a:prstGeom>
            <a:noFill/>
            <a:ln w="3175" cap="flat" cmpd="sng" algn="ctr">
              <a:solidFill>
                <a:srgbClr val="CC0000"/>
              </a:solidFill>
              <a:prstDash val="solid"/>
            </a:ln>
            <a:effectLst/>
          </p:spPr>
        </p:cxnSp>
        <p:cxnSp>
          <p:nvCxnSpPr>
            <p:cNvPr id="224" name="Straight Connector 1066">
              <a:extLst>
                <a:ext uri="{FF2B5EF4-FFF2-40B4-BE49-F238E27FC236}">
                  <a16:creationId xmlns:a16="http://schemas.microsoft.com/office/drawing/2014/main" id="{CAE78986-A47E-684D-AC0D-81B0C9B79A88}"/>
                </a:ext>
              </a:extLst>
            </p:cNvPr>
            <p:cNvCxnSpPr/>
            <p:nvPr/>
          </p:nvCxnSpPr>
          <p:spPr>
            <a:xfrm>
              <a:off x="2948176" y="4068645"/>
              <a:ext cx="425689" cy="0"/>
            </a:xfrm>
            <a:prstGeom prst="line">
              <a:avLst/>
            </a:prstGeom>
            <a:noFill/>
            <a:ln w="3175" cap="flat" cmpd="sng" algn="ctr">
              <a:solidFill>
                <a:srgbClr val="CC0000"/>
              </a:solidFill>
              <a:prstDash val="solid"/>
            </a:ln>
            <a:effectLst/>
          </p:spPr>
        </p:cxnSp>
        <p:cxnSp>
          <p:nvCxnSpPr>
            <p:cNvPr id="225" name="Straight Connector 1067">
              <a:extLst>
                <a:ext uri="{FF2B5EF4-FFF2-40B4-BE49-F238E27FC236}">
                  <a16:creationId xmlns:a16="http://schemas.microsoft.com/office/drawing/2014/main" id="{CEA4CB24-3526-B94F-BDC2-D6FC123FF46E}"/>
                </a:ext>
              </a:extLst>
            </p:cNvPr>
            <p:cNvCxnSpPr>
              <a:stCxn id="222" idx="2"/>
            </p:cNvCxnSpPr>
            <p:nvPr/>
          </p:nvCxnSpPr>
          <p:spPr>
            <a:xfrm flipH="1" flipV="1">
              <a:off x="3162278" y="4005058"/>
              <a:ext cx="1589" cy="236859"/>
            </a:xfrm>
            <a:prstGeom prst="line">
              <a:avLst/>
            </a:prstGeom>
            <a:noFill/>
            <a:ln w="3175" cap="flat" cmpd="sng" algn="ctr">
              <a:solidFill>
                <a:srgbClr val="CC0000"/>
              </a:solidFill>
              <a:prstDash val="solid"/>
            </a:ln>
            <a:effectLst/>
          </p:spPr>
        </p:cxnSp>
      </p:grpSp>
      <p:grpSp>
        <p:nvGrpSpPr>
          <p:cNvPr id="202" name="Group 582">
            <a:extLst>
              <a:ext uri="{FF2B5EF4-FFF2-40B4-BE49-F238E27FC236}">
                <a16:creationId xmlns:a16="http://schemas.microsoft.com/office/drawing/2014/main" id="{813A6CA3-90B1-754D-8C2A-B486DE6440EC}"/>
              </a:ext>
            </a:extLst>
          </p:cNvPr>
          <p:cNvGrpSpPr>
            <a:grpSpLocks/>
          </p:cNvGrpSpPr>
          <p:nvPr/>
        </p:nvGrpSpPr>
        <p:grpSpPr bwMode="auto">
          <a:xfrm>
            <a:off x="5171162" y="3349807"/>
            <a:ext cx="429460" cy="328613"/>
            <a:chOff x="2948037" y="3912924"/>
            <a:chExt cx="429703" cy="329060"/>
          </a:xfrm>
        </p:grpSpPr>
        <p:sp>
          <p:nvSpPr>
            <p:cNvPr id="218" name="Rectangle 1060">
              <a:extLst>
                <a:ext uri="{FF2B5EF4-FFF2-40B4-BE49-F238E27FC236}">
                  <a16:creationId xmlns:a16="http://schemas.microsoft.com/office/drawing/2014/main" id="{CDA497B5-1F53-4B4A-B52C-8AF25ACDEA7D}"/>
                </a:ext>
              </a:extLst>
            </p:cNvPr>
            <p:cNvSpPr/>
            <p:nvPr/>
          </p:nvSpPr>
          <p:spPr>
            <a:xfrm>
              <a:off x="2950882" y="3912924"/>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19" name="Straight Connector 1061">
              <a:extLst>
                <a:ext uri="{FF2B5EF4-FFF2-40B4-BE49-F238E27FC236}">
                  <a16:creationId xmlns:a16="http://schemas.microsoft.com/office/drawing/2014/main" id="{1FEFA7AF-47D6-9044-B6BA-FCC567BC9B9F}"/>
                </a:ext>
              </a:extLst>
            </p:cNvPr>
            <p:cNvCxnSpPr/>
            <p:nvPr/>
          </p:nvCxnSpPr>
          <p:spPr>
            <a:xfrm>
              <a:off x="2952051" y="4005125"/>
              <a:ext cx="425689" cy="0"/>
            </a:xfrm>
            <a:prstGeom prst="line">
              <a:avLst/>
            </a:prstGeom>
            <a:noFill/>
            <a:ln w="3175" cap="flat" cmpd="sng" algn="ctr">
              <a:solidFill>
                <a:srgbClr val="CC0000"/>
              </a:solidFill>
              <a:prstDash val="solid"/>
            </a:ln>
            <a:effectLst/>
          </p:spPr>
        </p:cxnSp>
        <p:cxnSp>
          <p:nvCxnSpPr>
            <p:cNvPr id="220" name="Straight Connector 1062">
              <a:extLst>
                <a:ext uri="{FF2B5EF4-FFF2-40B4-BE49-F238E27FC236}">
                  <a16:creationId xmlns:a16="http://schemas.microsoft.com/office/drawing/2014/main" id="{F2F3585A-E53E-A040-84F7-9123881B9F28}"/>
                </a:ext>
              </a:extLst>
            </p:cNvPr>
            <p:cNvCxnSpPr/>
            <p:nvPr/>
          </p:nvCxnSpPr>
          <p:spPr>
            <a:xfrm>
              <a:off x="2948037" y="4068711"/>
              <a:ext cx="425689" cy="0"/>
            </a:xfrm>
            <a:prstGeom prst="line">
              <a:avLst/>
            </a:prstGeom>
            <a:noFill/>
            <a:ln w="3175" cap="flat" cmpd="sng" algn="ctr">
              <a:solidFill>
                <a:srgbClr val="CC0000"/>
              </a:solidFill>
              <a:prstDash val="solid"/>
            </a:ln>
            <a:effectLst/>
          </p:spPr>
        </p:cxnSp>
        <p:cxnSp>
          <p:nvCxnSpPr>
            <p:cNvPr id="221" name="Straight Connector 1063">
              <a:extLst>
                <a:ext uri="{FF2B5EF4-FFF2-40B4-BE49-F238E27FC236}">
                  <a16:creationId xmlns:a16="http://schemas.microsoft.com/office/drawing/2014/main" id="{F72283CD-AFD3-8E4E-9857-F6D589080734}"/>
                </a:ext>
              </a:extLst>
            </p:cNvPr>
            <p:cNvCxnSpPr>
              <a:stCxn id="218" idx="2"/>
            </p:cNvCxnSpPr>
            <p:nvPr/>
          </p:nvCxnSpPr>
          <p:spPr>
            <a:xfrm flipH="1" flipV="1">
              <a:off x="3162139" y="4005125"/>
              <a:ext cx="1588" cy="236859"/>
            </a:xfrm>
            <a:prstGeom prst="line">
              <a:avLst/>
            </a:prstGeom>
            <a:noFill/>
            <a:ln w="3175" cap="flat" cmpd="sng" algn="ctr">
              <a:solidFill>
                <a:srgbClr val="CC0000"/>
              </a:solidFill>
              <a:prstDash val="solid"/>
            </a:ln>
            <a:effectLst/>
          </p:spPr>
        </p:cxnSp>
      </p:grpSp>
      <p:grpSp>
        <p:nvGrpSpPr>
          <p:cNvPr id="203" name="Group 609">
            <a:extLst>
              <a:ext uri="{FF2B5EF4-FFF2-40B4-BE49-F238E27FC236}">
                <a16:creationId xmlns:a16="http://schemas.microsoft.com/office/drawing/2014/main" id="{89D38A41-C0E7-004E-889C-35371BDB4904}"/>
              </a:ext>
            </a:extLst>
          </p:cNvPr>
          <p:cNvGrpSpPr>
            <a:grpSpLocks/>
          </p:cNvGrpSpPr>
          <p:nvPr/>
        </p:nvGrpSpPr>
        <p:grpSpPr bwMode="auto">
          <a:xfrm>
            <a:off x="6378511" y="3375511"/>
            <a:ext cx="430212" cy="328612"/>
            <a:chOff x="2951837" y="3912722"/>
            <a:chExt cx="430454" cy="329058"/>
          </a:xfrm>
        </p:grpSpPr>
        <p:sp>
          <p:nvSpPr>
            <p:cNvPr id="214" name="Rectangle 1056">
              <a:extLst>
                <a:ext uri="{FF2B5EF4-FFF2-40B4-BE49-F238E27FC236}">
                  <a16:creationId xmlns:a16="http://schemas.microsoft.com/office/drawing/2014/main" id="{7E038D77-DD73-D34F-AE34-D667F6E9B9F0}"/>
                </a:ext>
              </a:extLst>
            </p:cNvPr>
            <p:cNvSpPr/>
            <p:nvPr/>
          </p:nvSpPr>
          <p:spPr>
            <a:xfrm>
              <a:off x="2956602" y="3912722"/>
              <a:ext cx="425689" cy="329058"/>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15" name="Straight Connector 1057">
              <a:extLst>
                <a:ext uri="{FF2B5EF4-FFF2-40B4-BE49-F238E27FC236}">
                  <a16:creationId xmlns:a16="http://schemas.microsoft.com/office/drawing/2014/main" id="{D2968903-9149-5948-9F49-8F05AE95D6F0}"/>
                </a:ext>
              </a:extLst>
            </p:cNvPr>
            <p:cNvCxnSpPr/>
            <p:nvPr/>
          </p:nvCxnSpPr>
          <p:spPr>
            <a:xfrm>
              <a:off x="2951837" y="4004922"/>
              <a:ext cx="425689" cy="0"/>
            </a:xfrm>
            <a:prstGeom prst="line">
              <a:avLst/>
            </a:prstGeom>
            <a:noFill/>
            <a:ln w="3175" cap="flat" cmpd="sng" algn="ctr">
              <a:solidFill>
                <a:srgbClr val="CC0000"/>
              </a:solidFill>
              <a:prstDash val="solid"/>
            </a:ln>
            <a:effectLst/>
          </p:spPr>
        </p:cxnSp>
        <p:cxnSp>
          <p:nvCxnSpPr>
            <p:cNvPr id="216" name="Straight Connector 1058">
              <a:extLst>
                <a:ext uri="{FF2B5EF4-FFF2-40B4-BE49-F238E27FC236}">
                  <a16:creationId xmlns:a16="http://schemas.microsoft.com/office/drawing/2014/main" id="{6B45A1AF-6B67-DD42-AEDE-F73D064563E4}"/>
                </a:ext>
              </a:extLst>
            </p:cNvPr>
            <p:cNvCxnSpPr/>
            <p:nvPr/>
          </p:nvCxnSpPr>
          <p:spPr>
            <a:xfrm>
              <a:off x="2955849" y="4068509"/>
              <a:ext cx="425689" cy="0"/>
            </a:xfrm>
            <a:prstGeom prst="line">
              <a:avLst/>
            </a:prstGeom>
            <a:noFill/>
            <a:ln w="3175" cap="flat" cmpd="sng" algn="ctr">
              <a:solidFill>
                <a:srgbClr val="CC0000"/>
              </a:solidFill>
              <a:prstDash val="solid"/>
            </a:ln>
            <a:effectLst/>
          </p:spPr>
        </p:cxnSp>
        <p:cxnSp>
          <p:nvCxnSpPr>
            <p:cNvPr id="217" name="Straight Connector 1059">
              <a:extLst>
                <a:ext uri="{FF2B5EF4-FFF2-40B4-BE49-F238E27FC236}">
                  <a16:creationId xmlns:a16="http://schemas.microsoft.com/office/drawing/2014/main" id="{0FF66FC3-DA6A-CB44-8117-4648AAEC93ED}"/>
                </a:ext>
              </a:extLst>
            </p:cNvPr>
            <p:cNvCxnSpPr>
              <a:stCxn id="214" idx="2"/>
            </p:cNvCxnSpPr>
            <p:nvPr/>
          </p:nvCxnSpPr>
          <p:spPr>
            <a:xfrm flipH="1" flipV="1">
              <a:off x="3167858" y="4004922"/>
              <a:ext cx="1588" cy="236858"/>
            </a:xfrm>
            <a:prstGeom prst="line">
              <a:avLst/>
            </a:prstGeom>
            <a:noFill/>
            <a:ln w="3175" cap="flat" cmpd="sng" algn="ctr">
              <a:solidFill>
                <a:srgbClr val="CC0000"/>
              </a:solidFill>
              <a:prstDash val="solid"/>
            </a:ln>
            <a:effectLst/>
          </p:spPr>
        </p:cxnSp>
      </p:grpSp>
      <p:grpSp>
        <p:nvGrpSpPr>
          <p:cNvPr id="204" name="Group 636">
            <a:extLst>
              <a:ext uri="{FF2B5EF4-FFF2-40B4-BE49-F238E27FC236}">
                <a16:creationId xmlns:a16="http://schemas.microsoft.com/office/drawing/2014/main" id="{6DF58C37-21E3-AF4F-B080-530FD985E91D}"/>
              </a:ext>
            </a:extLst>
          </p:cNvPr>
          <p:cNvGrpSpPr>
            <a:grpSpLocks/>
          </p:cNvGrpSpPr>
          <p:nvPr/>
        </p:nvGrpSpPr>
        <p:grpSpPr bwMode="auto">
          <a:xfrm>
            <a:off x="7373123" y="3398036"/>
            <a:ext cx="430211" cy="328613"/>
            <a:chOff x="2955740" y="3913102"/>
            <a:chExt cx="430453" cy="328747"/>
          </a:xfrm>
        </p:grpSpPr>
        <p:sp>
          <p:nvSpPr>
            <p:cNvPr id="210" name="Rectangle 1052">
              <a:extLst>
                <a:ext uri="{FF2B5EF4-FFF2-40B4-BE49-F238E27FC236}">
                  <a16:creationId xmlns:a16="http://schemas.microsoft.com/office/drawing/2014/main" id="{F4182402-0285-CD46-9828-6534BE97D257}"/>
                </a:ext>
              </a:extLst>
            </p:cNvPr>
            <p:cNvSpPr/>
            <p:nvPr/>
          </p:nvSpPr>
          <p:spPr>
            <a:xfrm>
              <a:off x="2960504" y="3913102"/>
              <a:ext cx="425689" cy="328747"/>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11" name="Straight Connector 1053">
              <a:extLst>
                <a:ext uri="{FF2B5EF4-FFF2-40B4-BE49-F238E27FC236}">
                  <a16:creationId xmlns:a16="http://schemas.microsoft.com/office/drawing/2014/main" id="{D14A7BEB-C638-0A47-B8DE-352AFA82413E}"/>
                </a:ext>
              </a:extLst>
            </p:cNvPr>
            <p:cNvCxnSpPr/>
            <p:nvPr/>
          </p:nvCxnSpPr>
          <p:spPr>
            <a:xfrm>
              <a:off x="2955740" y="4005215"/>
              <a:ext cx="425689" cy="0"/>
            </a:xfrm>
            <a:prstGeom prst="line">
              <a:avLst/>
            </a:prstGeom>
            <a:noFill/>
            <a:ln w="3175" cap="flat" cmpd="sng" algn="ctr">
              <a:solidFill>
                <a:srgbClr val="CC0000"/>
              </a:solidFill>
              <a:prstDash val="solid"/>
            </a:ln>
            <a:effectLst/>
          </p:spPr>
        </p:cxnSp>
        <p:cxnSp>
          <p:nvCxnSpPr>
            <p:cNvPr id="212" name="Straight Connector 1054">
              <a:extLst>
                <a:ext uri="{FF2B5EF4-FFF2-40B4-BE49-F238E27FC236}">
                  <a16:creationId xmlns:a16="http://schemas.microsoft.com/office/drawing/2014/main" id="{F02DD2C2-E65E-7E4C-B479-635D130D51D4}"/>
                </a:ext>
              </a:extLst>
            </p:cNvPr>
            <p:cNvCxnSpPr/>
            <p:nvPr/>
          </p:nvCxnSpPr>
          <p:spPr>
            <a:xfrm>
              <a:off x="2959751" y="4067152"/>
              <a:ext cx="425689" cy="0"/>
            </a:xfrm>
            <a:prstGeom prst="line">
              <a:avLst/>
            </a:prstGeom>
            <a:noFill/>
            <a:ln w="3175" cap="flat" cmpd="sng" algn="ctr">
              <a:solidFill>
                <a:srgbClr val="CC0000"/>
              </a:solidFill>
              <a:prstDash val="solid"/>
            </a:ln>
            <a:effectLst/>
          </p:spPr>
        </p:cxnSp>
        <p:cxnSp>
          <p:nvCxnSpPr>
            <p:cNvPr id="213" name="Straight Connector 1055">
              <a:extLst>
                <a:ext uri="{FF2B5EF4-FFF2-40B4-BE49-F238E27FC236}">
                  <a16:creationId xmlns:a16="http://schemas.microsoft.com/office/drawing/2014/main" id="{01A054F6-D6ED-F249-8703-213FDF32A722}"/>
                </a:ext>
              </a:extLst>
            </p:cNvPr>
            <p:cNvCxnSpPr>
              <a:stCxn id="210" idx="2"/>
            </p:cNvCxnSpPr>
            <p:nvPr/>
          </p:nvCxnSpPr>
          <p:spPr>
            <a:xfrm flipH="1" flipV="1">
              <a:off x="3171761" y="4005215"/>
              <a:ext cx="1588" cy="236634"/>
            </a:xfrm>
            <a:prstGeom prst="line">
              <a:avLst/>
            </a:prstGeom>
            <a:noFill/>
            <a:ln w="3175" cap="flat" cmpd="sng" algn="ctr">
              <a:solidFill>
                <a:srgbClr val="CC0000"/>
              </a:solidFill>
              <a:prstDash val="solid"/>
            </a:ln>
            <a:effectLst/>
          </p:spPr>
        </p:cxnSp>
      </p:grpSp>
      <p:grpSp>
        <p:nvGrpSpPr>
          <p:cNvPr id="205" name="Group 554">
            <a:extLst>
              <a:ext uri="{FF2B5EF4-FFF2-40B4-BE49-F238E27FC236}">
                <a16:creationId xmlns:a16="http://schemas.microsoft.com/office/drawing/2014/main" id="{BAA5C424-578C-0343-914E-B5BD57101FDC}"/>
              </a:ext>
            </a:extLst>
          </p:cNvPr>
          <p:cNvGrpSpPr>
            <a:grpSpLocks/>
          </p:cNvGrpSpPr>
          <p:nvPr/>
        </p:nvGrpSpPr>
        <p:grpSpPr bwMode="auto">
          <a:xfrm>
            <a:off x="2821505" y="3129063"/>
            <a:ext cx="675441" cy="520770"/>
            <a:chOff x="2931664" y="3912603"/>
            <a:chExt cx="430450" cy="329314"/>
          </a:xfrm>
        </p:grpSpPr>
        <p:sp>
          <p:nvSpPr>
            <p:cNvPr id="206" name="Rectangle 1048">
              <a:extLst>
                <a:ext uri="{FF2B5EF4-FFF2-40B4-BE49-F238E27FC236}">
                  <a16:creationId xmlns:a16="http://schemas.microsoft.com/office/drawing/2014/main" id="{A0CDA39B-A97A-7842-8A3D-C53D637AE12E}"/>
                </a:ext>
              </a:extLst>
            </p:cNvPr>
            <p:cNvSpPr/>
            <p:nvPr/>
          </p:nvSpPr>
          <p:spPr>
            <a:xfrm>
              <a:off x="2936722" y="3913607"/>
              <a:ext cx="425923" cy="32826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cxnSp>
          <p:nvCxnSpPr>
            <p:cNvPr id="207" name="Straight Connector 1049">
              <a:extLst>
                <a:ext uri="{FF2B5EF4-FFF2-40B4-BE49-F238E27FC236}">
                  <a16:creationId xmlns:a16="http://schemas.microsoft.com/office/drawing/2014/main" id="{779BD574-9352-0A4A-AD81-3425C567CA59}"/>
                </a:ext>
              </a:extLst>
            </p:cNvPr>
            <p:cNvCxnSpPr/>
            <p:nvPr/>
          </p:nvCxnSpPr>
          <p:spPr>
            <a:xfrm>
              <a:off x="2932675" y="4004959"/>
              <a:ext cx="424911" cy="0"/>
            </a:xfrm>
            <a:prstGeom prst="line">
              <a:avLst/>
            </a:prstGeom>
            <a:noFill/>
            <a:ln w="3175" cap="flat" cmpd="sng" algn="ctr">
              <a:solidFill>
                <a:srgbClr val="CC0000"/>
              </a:solidFill>
              <a:prstDash val="solid"/>
            </a:ln>
            <a:effectLst/>
          </p:spPr>
        </p:cxnSp>
        <p:cxnSp>
          <p:nvCxnSpPr>
            <p:cNvPr id="208" name="Straight Connector 1050">
              <a:extLst>
                <a:ext uri="{FF2B5EF4-FFF2-40B4-BE49-F238E27FC236}">
                  <a16:creationId xmlns:a16="http://schemas.microsoft.com/office/drawing/2014/main" id="{E4722BD0-017E-9C4D-9B3E-BB2C34567D80}"/>
                </a:ext>
              </a:extLst>
            </p:cNvPr>
            <p:cNvCxnSpPr/>
            <p:nvPr/>
          </p:nvCxnSpPr>
          <p:spPr>
            <a:xfrm>
              <a:off x="2932675" y="4069207"/>
              <a:ext cx="424911" cy="0"/>
            </a:xfrm>
            <a:prstGeom prst="line">
              <a:avLst/>
            </a:prstGeom>
            <a:noFill/>
            <a:ln w="3175" cap="flat" cmpd="sng" algn="ctr">
              <a:solidFill>
                <a:srgbClr val="CC0000"/>
              </a:solidFill>
              <a:prstDash val="solid"/>
            </a:ln>
            <a:effectLst/>
          </p:spPr>
        </p:cxnSp>
        <p:cxnSp>
          <p:nvCxnSpPr>
            <p:cNvPr id="209" name="Straight Connector 1051">
              <a:extLst>
                <a:ext uri="{FF2B5EF4-FFF2-40B4-BE49-F238E27FC236}">
                  <a16:creationId xmlns:a16="http://schemas.microsoft.com/office/drawing/2014/main" id="{BA1C7D13-CACA-DE42-A4BD-9DF0691F3FA5}"/>
                </a:ext>
              </a:extLst>
            </p:cNvPr>
            <p:cNvCxnSpPr>
              <a:stCxn id="206" idx="2"/>
            </p:cNvCxnSpPr>
            <p:nvPr/>
          </p:nvCxnSpPr>
          <p:spPr>
            <a:xfrm flipH="1" flipV="1">
              <a:off x="3148166" y="4004959"/>
              <a:ext cx="1011" cy="236914"/>
            </a:xfrm>
            <a:prstGeom prst="line">
              <a:avLst/>
            </a:prstGeom>
            <a:noFill/>
            <a:ln w="3175" cap="flat" cmpd="sng" algn="ctr">
              <a:solidFill>
                <a:srgbClr val="CC0000"/>
              </a:solidFill>
              <a:prstDash val="solid"/>
            </a:ln>
            <a:effectLst/>
          </p:spPr>
        </p:cxnSp>
      </p:grpSp>
      <p:grpSp>
        <p:nvGrpSpPr>
          <p:cNvPr id="226" name="Group 22">
            <a:extLst>
              <a:ext uri="{FF2B5EF4-FFF2-40B4-BE49-F238E27FC236}">
                <a16:creationId xmlns:a16="http://schemas.microsoft.com/office/drawing/2014/main" id="{7EB18609-2205-A249-9D68-205D424A2ECF}"/>
              </a:ext>
            </a:extLst>
          </p:cNvPr>
          <p:cNvGrpSpPr/>
          <p:nvPr/>
        </p:nvGrpSpPr>
        <p:grpSpPr>
          <a:xfrm>
            <a:off x="1094487" y="2694094"/>
            <a:ext cx="1725612" cy="307777"/>
            <a:chOff x="1970088" y="4781571"/>
            <a:chExt cx="1725612" cy="307777"/>
          </a:xfrm>
        </p:grpSpPr>
        <p:sp>
          <p:nvSpPr>
            <p:cNvPr id="227" name="TextBox 6">
              <a:extLst>
                <a:ext uri="{FF2B5EF4-FFF2-40B4-BE49-F238E27FC236}">
                  <a16:creationId xmlns:a16="http://schemas.microsoft.com/office/drawing/2014/main" id="{B9CE97C1-70E2-1B46-A362-9326BB303FB5}"/>
                </a:ext>
              </a:extLst>
            </p:cNvPr>
            <p:cNvSpPr txBox="1">
              <a:spLocks noChangeArrowheads="1"/>
            </p:cNvSpPr>
            <p:nvPr/>
          </p:nvSpPr>
          <p:spPr bwMode="auto">
            <a:xfrm>
              <a:off x="1970088" y="4781571"/>
              <a:ext cx="12542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转发表</a:t>
              </a:r>
              <a:endParaRPr kumimoji="0" lang="en-US" altLang="en-US" sz="1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28" name="Straight Arrow Connector 21">
              <a:extLst>
                <a:ext uri="{FF2B5EF4-FFF2-40B4-BE49-F238E27FC236}">
                  <a16:creationId xmlns:a16="http://schemas.microsoft.com/office/drawing/2014/main" id="{718FD357-53DF-2C4F-884C-13EFB7472111}"/>
                </a:ext>
              </a:extLst>
            </p:cNvPr>
            <p:cNvCxnSpPr/>
            <p:nvPr/>
          </p:nvCxnSpPr>
          <p:spPr>
            <a:xfrm>
              <a:off x="2641600" y="4953000"/>
              <a:ext cx="1054100"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8" name="Group 5">
            <a:extLst>
              <a:ext uri="{FF2B5EF4-FFF2-40B4-BE49-F238E27FC236}">
                <a16:creationId xmlns:a16="http://schemas.microsoft.com/office/drawing/2014/main" id="{1A707F03-E0B2-FF48-9597-B751067AD9A3}"/>
              </a:ext>
            </a:extLst>
          </p:cNvPr>
          <p:cNvGrpSpPr>
            <a:grpSpLocks/>
          </p:cNvGrpSpPr>
          <p:nvPr/>
        </p:nvGrpSpPr>
        <p:grpSpPr bwMode="auto">
          <a:xfrm>
            <a:off x="2083122" y="3886248"/>
            <a:ext cx="1616075" cy="438927"/>
            <a:chOff x="-4079003" y="2802821"/>
            <a:chExt cx="1616718" cy="439929"/>
          </a:xfrm>
        </p:grpSpPr>
        <p:sp>
          <p:nvSpPr>
            <p:cNvPr id="261" name="Rectangle 98">
              <a:extLst>
                <a:ext uri="{FF2B5EF4-FFF2-40B4-BE49-F238E27FC236}">
                  <a16:creationId xmlns:a16="http://schemas.microsoft.com/office/drawing/2014/main" id="{CA6EA6FC-3469-1A42-8A1A-7ABEC47FF2BC}"/>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2" name="Line 99">
              <a:extLst>
                <a:ext uri="{FF2B5EF4-FFF2-40B4-BE49-F238E27FC236}">
                  <a16:creationId xmlns:a16="http://schemas.microsoft.com/office/drawing/2014/main" id="{8B52FDA0-6129-4D4D-AB34-6E31B5746EA7}"/>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Rectangle 104">
              <a:extLst>
                <a:ext uri="{FF2B5EF4-FFF2-40B4-BE49-F238E27FC236}">
                  <a16:creationId xmlns:a16="http://schemas.microsoft.com/office/drawing/2014/main" id="{EF6D77F4-B510-3541-9758-82FBBD8239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Text Box 105">
              <a:extLst>
                <a:ext uri="{FF2B5EF4-FFF2-40B4-BE49-F238E27FC236}">
                  <a16:creationId xmlns:a16="http://schemas.microsoft.com/office/drawing/2014/main" id="{2AE0900E-8A8F-4A4D-BB87-414DFE5E1CA9}"/>
                </a:ext>
              </a:extLst>
            </p:cNvPr>
            <p:cNvSpPr txBox="1">
              <a:spLocks noChangeArrowheads="1"/>
            </p:cNvSpPr>
            <p:nvPr/>
          </p:nvSpPr>
          <p:spPr bwMode="auto">
            <a:xfrm>
              <a:off x="-3430189" y="2965119"/>
              <a:ext cx="524712" cy="277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mn-cs"/>
                </a:rPr>
                <a:t>0110</a:t>
              </a:r>
              <a:endParaRPr kumimoji="0" lang="en-US" altLang="en-US" sz="12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5" name="Line 119">
              <a:extLst>
                <a:ext uri="{FF2B5EF4-FFF2-40B4-BE49-F238E27FC236}">
                  <a16:creationId xmlns:a16="http://schemas.microsoft.com/office/drawing/2014/main" id="{5B21AE9C-8AC8-434E-B3D3-DDFB36C485E3}"/>
                </a:ext>
              </a:extLst>
            </p:cNvPr>
            <p:cNvSpPr>
              <a:spLocks noChangeShapeType="1"/>
            </p:cNvSpPr>
            <p:nvPr/>
          </p:nvSpPr>
          <p:spPr bwMode="auto">
            <a:xfrm>
              <a:off x="-3940114" y="2802821"/>
              <a:ext cx="724425" cy="215182"/>
            </a:xfrm>
            <a:prstGeom prst="line">
              <a:avLst/>
            </a:prstGeom>
            <a:noFill/>
            <a:ln w="15875">
              <a:solidFill>
                <a:srgbClr val="C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44" name="TextBox 6">
            <a:extLst>
              <a:ext uri="{FF2B5EF4-FFF2-40B4-BE49-F238E27FC236}">
                <a16:creationId xmlns:a16="http://schemas.microsoft.com/office/drawing/2014/main" id="{21D1826E-E3E7-E445-9FFB-A565D9A2AD31}"/>
              </a:ext>
            </a:extLst>
          </p:cNvPr>
          <p:cNvSpPr txBox="1">
            <a:spLocks noChangeArrowheads="1"/>
          </p:cNvSpPr>
          <p:nvPr/>
        </p:nvSpPr>
        <p:spPr bwMode="auto">
          <a:xfrm>
            <a:off x="1020278" y="3704220"/>
            <a:ext cx="1740152" cy="315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分组首部字段</a:t>
            </a:r>
            <a:endParaRPr kumimoji="0" lang="en-US" altLang="en-US" sz="1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302"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1958" y="3849027"/>
            <a:ext cx="466584" cy="2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03"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00081" y="4239866"/>
            <a:ext cx="466584" cy="2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04"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86591" y="4242392"/>
            <a:ext cx="466584" cy="2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05" name="Picture 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9309" y="4043264"/>
            <a:ext cx="466584" cy="2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5806432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500"/>
                                        <p:tgtEl>
                                          <p:spTgt spid="88"/>
                                        </p:tgtEl>
                                      </p:cBhvr>
                                    </p:animEffect>
                                  </p:childTnLst>
                                </p:cTn>
                              </p:par>
                              <p:par>
                                <p:cTn id="8" presetID="9" presetClass="entr" presetSubtype="0" fill="hold" nodeType="withEffect">
                                  <p:stCondLst>
                                    <p:cond delay="0"/>
                                  </p:stCondLst>
                                  <p:childTnLst>
                                    <p:set>
                                      <p:cBhvr>
                                        <p:cTn id="9" dur="1" fill="hold">
                                          <p:stCondLst>
                                            <p:cond delay="0"/>
                                          </p:stCondLst>
                                        </p:cTn>
                                        <p:tgtEl>
                                          <p:spTgt spid="226"/>
                                        </p:tgtEl>
                                        <p:attrNameLst>
                                          <p:attrName>style.visibility</p:attrName>
                                        </p:attrNameLst>
                                      </p:cBhvr>
                                      <p:to>
                                        <p:strVal val="visible"/>
                                      </p:to>
                                    </p:set>
                                    <p:animEffect transition="in" filter="dissolve">
                                      <p:cBhvr>
                                        <p:cTn id="10" dur="500"/>
                                        <p:tgtEl>
                                          <p:spTgt spid="2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1624135" y="2798226"/>
            <a:ext cx="5440851" cy="1961665"/>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数据平面设备的一般性结构</a:t>
            </a:r>
          </a:p>
        </p:txBody>
      </p:sp>
      <p:sp>
        <p:nvSpPr>
          <p:cNvPr id="4" name="Rectangle 8"/>
          <p:cNvSpPr>
            <a:spLocks noChangeArrowheads="1"/>
          </p:cNvSpPr>
          <p:nvPr/>
        </p:nvSpPr>
        <p:spPr bwMode="auto">
          <a:xfrm>
            <a:off x="545143" y="1009413"/>
            <a:ext cx="8136844" cy="1759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600"/>
              </a:lnSpc>
              <a:buClr>
                <a:srgbClr val="0070C0"/>
              </a:buClr>
              <a:buFont typeface="Wingdings" pitchFamily="2" charset="2"/>
              <a:buChar char="l"/>
            </a:pPr>
            <a:r>
              <a:rPr lang="zh-CN" altLang="en-US" b="1" dirty="0">
                <a:latin typeface="微软雅黑" pitchFamily="34" charset="-122"/>
                <a:ea typeface="微软雅黑" pitchFamily="34" charset="-122"/>
              </a:rPr>
              <a:t>在结构</a:t>
            </a:r>
            <a:r>
              <a:rPr lang="zh-CN" altLang="en-US" b="1" dirty="0" smtClean="0">
                <a:latin typeface="微软雅黑" pitchFamily="34" charset="-122"/>
                <a:ea typeface="微软雅黑" pitchFamily="34" charset="-122"/>
              </a:rPr>
              <a:t>上，</a:t>
            </a:r>
            <a:r>
              <a:rPr lang="en-US" altLang="zh-CN" b="1" dirty="0" smtClean="0">
                <a:latin typeface="微软雅黑" pitchFamily="34" charset="-122"/>
                <a:ea typeface="微软雅黑" pitchFamily="34" charset="-122"/>
              </a:rPr>
              <a:t>SDN</a:t>
            </a:r>
            <a:r>
              <a:rPr lang="zh-CN" altLang="en-US" b="1" dirty="0">
                <a:latin typeface="微软雅黑" pitchFamily="34" charset="-122"/>
                <a:ea typeface="微软雅黑" pitchFamily="34" charset="-122"/>
              </a:rPr>
              <a:t>数据平面</a:t>
            </a:r>
            <a:r>
              <a:rPr lang="zh-CN" altLang="en-US" b="1" dirty="0" smtClean="0">
                <a:latin typeface="微软雅黑" pitchFamily="34" charset="-122"/>
                <a:ea typeface="微软雅黑" pitchFamily="34" charset="-122"/>
              </a:rPr>
              <a:t>设备包括</a:t>
            </a:r>
            <a:r>
              <a:rPr lang="zh-CN" altLang="en-US" b="1" dirty="0" smtClean="0">
                <a:solidFill>
                  <a:srgbClr val="C00000"/>
                </a:solidFill>
                <a:latin typeface="微软雅黑" pitchFamily="34" charset="-122"/>
                <a:ea typeface="微软雅黑" pitchFamily="34" charset="-122"/>
              </a:rPr>
              <a:t>南</a:t>
            </a:r>
            <a:r>
              <a:rPr lang="zh-CN" altLang="en-US" b="1" dirty="0">
                <a:solidFill>
                  <a:srgbClr val="C00000"/>
                </a:solidFill>
                <a:latin typeface="微软雅黑" pitchFamily="34" charset="-122"/>
                <a:ea typeface="微软雅黑" pitchFamily="34" charset="-122"/>
              </a:rPr>
              <a:t>向接口交互逻辑</a:t>
            </a:r>
            <a:r>
              <a:rPr lang="zh-CN" altLang="en-US" b="1" dirty="0">
                <a:latin typeface="微软雅黑" pitchFamily="34" charset="-122"/>
                <a:ea typeface="微软雅黑" pitchFamily="34" charset="-122"/>
              </a:rPr>
              <a:t>、</a:t>
            </a:r>
            <a:r>
              <a:rPr lang="zh-CN" altLang="en-US" b="1" dirty="0">
                <a:solidFill>
                  <a:srgbClr val="C00000"/>
                </a:solidFill>
                <a:latin typeface="微软雅黑" pitchFamily="34" charset="-122"/>
                <a:ea typeface="微软雅黑" pitchFamily="34" charset="-122"/>
              </a:rPr>
              <a:t>分组转发逻辑</a:t>
            </a:r>
            <a:r>
              <a:rPr lang="zh-CN" altLang="en-US" b="1" dirty="0">
                <a:latin typeface="微软雅黑" pitchFamily="34" charset="-122"/>
                <a:ea typeface="微软雅黑" pitchFamily="34" charset="-122"/>
              </a:rPr>
              <a:t>、</a:t>
            </a:r>
            <a:r>
              <a:rPr lang="zh-CN" altLang="en-US" b="1" dirty="0">
                <a:solidFill>
                  <a:srgbClr val="C00000"/>
                </a:solidFill>
                <a:latin typeface="微软雅黑" pitchFamily="34" charset="-122"/>
                <a:ea typeface="微软雅黑" pitchFamily="34" charset="-122"/>
              </a:rPr>
              <a:t>转发表</a:t>
            </a:r>
            <a:r>
              <a:rPr lang="zh-CN" altLang="en-US" b="1" dirty="0">
                <a:latin typeface="微软雅黑" pitchFamily="34" charset="-122"/>
                <a:ea typeface="微软雅黑" pitchFamily="34" charset="-122"/>
              </a:rPr>
              <a:t>、</a:t>
            </a:r>
            <a:r>
              <a:rPr lang="zh-CN" altLang="en-US" b="1" dirty="0">
                <a:solidFill>
                  <a:srgbClr val="C00000"/>
                </a:solidFill>
                <a:latin typeface="微软雅黑" pitchFamily="34" charset="-122"/>
                <a:ea typeface="微软雅黑" pitchFamily="34" charset="-122"/>
              </a:rPr>
              <a:t>输入缓冲区</a:t>
            </a:r>
            <a:r>
              <a:rPr lang="zh-CN" altLang="en-US" b="1" dirty="0">
                <a:latin typeface="微软雅黑" pitchFamily="34" charset="-122"/>
                <a:ea typeface="微软雅黑" pitchFamily="34" charset="-122"/>
              </a:rPr>
              <a:t>、以及</a:t>
            </a:r>
            <a:r>
              <a:rPr lang="zh-CN" altLang="en-US" b="1" dirty="0">
                <a:solidFill>
                  <a:srgbClr val="C00000"/>
                </a:solidFill>
                <a:latin typeface="微软雅黑" pitchFamily="34" charset="-122"/>
                <a:ea typeface="微软雅黑" pitchFamily="34" charset="-122"/>
              </a:rPr>
              <a:t>输出</a:t>
            </a:r>
            <a:r>
              <a:rPr lang="zh-CN" altLang="en-US" b="1" dirty="0" smtClean="0">
                <a:solidFill>
                  <a:srgbClr val="C00000"/>
                </a:solidFill>
                <a:latin typeface="微软雅黑" pitchFamily="34" charset="-122"/>
                <a:ea typeface="微软雅黑" pitchFamily="34" charset="-122"/>
              </a:rPr>
              <a:t>缓冲区</a:t>
            </a:r>
            <a:r>
              <a:rPr lang="zh-CN" altLang="en-US" b="1" dirty="0">
                <a:latin typeface="微软雅黑" pitchFamily="34" charset="-122"/>
                <a:ea typeface="微软雅黑" pitchFamily="34" charset="-122"/>
              </a:rPr>
              <a:t>等部分</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600"/>
              </a:lnSpc>
              <a:buClr>
                <a:srgbClr val="0070C0"/>
              </a:buClr>
              <a:buFont typeface="Wingdings" pitchFamily="2" charset="2"/>
              <a:buChar char="l"/>
            </a:pPr>
            <a:r>
              <a:rPr lang="zh-CN" altLang="en-US" b="1" dirty="0" smtClean="0">
                <a:latin typeface="微软雅黑" pitchFamily="34" charset="-122"/>
                <a:ea typeface="微软雅黑" pitchFamily="34" charset="-122"/>
              </a:rPr>
              <a:t>南</a:t>
            </a:r>
            <a:r>
              <a:rPr lang="zh-CN" altLang="en-US" b="1" dirty="0">
                <a:latin typeface="微软雅黑" pitchFamily="34" charset="-122"/>
                <a:ea typeface="微软雅黑" pitchFamily="34" charset="-122"/>
              </a:rPr>
              <a:t>向接口交互</a:t>
            </a:r>
            <a:r>
              <a:rPr lang="zh-CN" altLang="en-US" b="1" dirty="0" smtClean="0">
                <a:latin typeface="微软雅黑" pitchFamily="34" charset="-122"/>
                <a:ea typeface="微软雅黑" pitchFamily="34" charset="-122"/>
              </a:rPr>
              <a:t>逻辑：与</a:t>
            </a:r>
            <a:r>
              <a:rPr lang="zh-CN" altLang="en-US" b="1" dirty="0">
                <a:solidFill>
                  <a:srgbClr val="C00000"/>
                </a:solidFill>
                <a:latin typeface="微软雅黑" pitchFamily="34" charset="-122"/>
                <a:ea typeface="微软雅黑" pitchFamily="34" charset="-122"/>
              </a:rPr>
              <a:t>控制平面进行</a:t>
            </a:r>
            <a:r>
              <a:rPr lang="zh-CN" altLang="en-US" b="1" dirty="0" smtClean="0">
                <a:solidFill>
                  <a:srgbClr val="C00000"/>
                </a:solidFill>
                <a:latin typeface="微软雅黑" pitchFamily="34" charset="-122"/>
                <a:ea typeface="微软雅黑" pitchFamily="34" charset="-122"/>
              </a:rPr>
              <a:t>交互</a:t>
            </a:r>
            <a:r>
              <a:rPr lang="zh-CN" altLang="en-US" b="1" dirty="0" smtClean="0">
                <a:latin typeface="微软雅黑" pitchFamily="34" charset="-122"/>
                <a:ea typeface="微软雅黑" pitchFamily="34" charset="-122"/>
              </a:rPr>
              <a:t>、接收控制</a:t>
            </a:r>
            <a:r>
              <a:rPr lang="zh-CN" altLang="en-US" b="1" dirty="0">
                <a:latin typeface="微软雅黑" pitchFamily="34" charset="-122"/>
                <a:ea typeface="微软雅黑" pitchFamily="34" charset="-122"/>
              </a:rPr>
              <a:t>平面下发的</a:t>
            </a:r>
            <a:r>
              <a:rPr lang="zh-CN" altLang="en-US" b="1" dirty="0">
                <a:solidFill>
                  <a:srgbClr val="C00000"/>
                </a:solidFill>
                <a:latin typeface="微软雅黑" pitchFamily="34" charset="-122"/>
                <a:ea typeface="微软雅黑" pitchFamily="34" charset="-122"/>
              </a:rPr>
              <a:t>分组处理规则并写入转发</a:t>
            </a:r>
            <a:r>
              <a:rPr lang="zh-CN" altLang="en-US" b="1" dirty="0" smtClean="0">
                <a:solidFill>
                  <a:srgbClr val="C00000"/>
                </a:solidFill>
                <a:latin typeface="微软雅黑" pitchFamily="34" charset="-122"/>
                <a:ea typeface="微软雅黑" pitchFamily="34" charset="-122"/>
              </a:rPr>
              <a:t>表</a:t>
            </a:r>
            <a:r>
              <a:rPr lang="zh-CN" altLang="en-US" b="1" dirty="0" smtClean="0">
                <a:latin typeface="微软雅黑" pitchFamily="34" charset="-122"/>
                <a:ea typeface="微软雅黑" pitchFamily="34" charset="-122"/>
              </a:rPr>
              <a:t>、向</a:t>
            </a:r>
            <a:r>
              <a:rPr lang="zh-CN" altLang="en-US" b="1" dirty="0">
                <a:latin typeface="微软雅黑" pitchFamily="34" charset="-122"/>
                <a:ea typeface="微软雅黑" pitchFamily="34" charset="-122"/>
              </a:rPr>
              <a:t>控制平面</a:t>
            </a:r>
            <a:r>
              <a:rPr lang="zh-CN" altLang="en-US" b="1" dirty="0">
                <a:solidFill>
                  <a:srgbClr val="C00000"/>
                </a:solidFill>
                <a:latin typeface="微软雅黑" pitchFamily="34" charset="-122"/>
                <a:ea typeface="微软雅黑" pitchFamily="34" charset="-122"/>
              </a:rPr>
              <a:t>报告分组处理状态</a:t>
            </a:r>
            <a:r>
              <a:rPr lang="zh-CN" altLang="en-US" b="1" dirty="0">
                <a:latin typeface="微软雅黑" pitchFamily="34" charset="-122"/>
                <a:ea typeface="微软雅黑" pitchFamily="34" charset="-122"/>
              </a:rPr>
              <a:t>等</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600"/>
              </a:lnSpc>
              <a:buClr>
                <a:srgbClr val="0070C0"/>
              </a:buClr>
              <a:buFont typeface="Wingdings" pitchFamily="2" charset="2"/>
              <a:buChar char="l"/>
            </a:pPr>
            <a:r>
              <a:rPr lang="zh-CN" altLang="en-US" b="1" dirty="0">
                <a:latin typeface="微软雅黑" pitchFamily="34" charset="-122"/>
                <a:ea typeface="微软雅黑" pitchFamily="34" charset="-122"/>
              </a:rPr>
              <a:t>转发表</a:t>
            </a:r>
            <a:r>
              <a:rPr lang="zh-CN" altLang="en-US" b="1" dirty="0">
                <a:solidFill>
                  <a:srgbClr val="C00000"/>
                </a:solidFill>
                <a:latin typeface="微软雅黑" pitchFamily="34" charset="-122"/>
                <a:ea typeface="微软雅黑" pitchFamily="34" charset="-122"/>
              </a:rPr>
              <a:t>储存</a:t>
            </a:r>
            <a:r>
              <a:rPr lang="zh-CN" altLang="en-US" b="1" dirty="0">
                <a:latin typeface="微软雅黑" pitchFamily="34" charset="-122"/>
                <a:ea typeface="微软雅黑" pitchFamily="34" charset="-122"/>
              </a:rPr>
              <a:t>了控制平面下发的</a:t>
            </a:r>
            <a:r>
              <a:rPr lang="zh-CN" altLang="en-US" b="1" dirty="0">
                <a:solidFill>
                  <a:srgbClr val="C00000"/>
                </a:solidFill>
                <a:latin typeface="微软雅黑" pitchFamily="34" charset="-122"/>
                <a:ea typeface="微软雅黑" pitchFamily="34" charset="-122"/>
              </a:rPr>
              <a:t>分组处理规则</a:t>
            </a:r>
            <a:r>
              <a:rPr lang="zh-CN" altLang="en-US" b="1" dirty="0" smtClean="0">
                <a:latin typeface="微软雅黑" pitchFamily="34" charset="-122"/>
                <a:ea typeface="微软雅黑" pitchFamily="34" charset="-122"/>
              </a:rPr>
              <a:t>。</a:t>
            </a:r>
            <a:endParaRPr lang="en-US" altLang="zh-CN" b="1" dirty="0">
              <a:latin typeface="微软雅黑" pitchFamily="34" charset="-122"/>
              <a:ea typeface="微软雅黑" pitchFamily="34" charset="-122"/>
            </a:endParaRPr>
          </a:p>
        </p:txBody>
      </p:sp>
      <p:sp>
        <p:nvSpPr>
          <p:cNvPr id="9" name="矩形 8"/>
          <p:cNvSpPr/>
          <p:nvPr/>
        </p:nvSpPr>
        <p:spPr>
          <a:xfrm>
            <a:off x="3719561" y="3152982"/>
            <a:ext cx="1312340" cy="361453"/>
          </a:xfrm>
          <a:prstGeom prst="rect">
            <a:avLst/>
          </a:prstGeom>
          <a:solidFill>
            <a:srgbClr val="FFC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a:solidFill>
                  <a:schemeClr val="tx1"/>
                </a:solidFill>
                <a:latin typeface="微软雅黑" panose="020B0503020204020204" pitchFamily="34" charset="-122"/>
                <a:ea typeface="微软雅黑" panose="020B0503020204020204" pitchFamily="34" charset="-122"/>
              </a:rPr>
              <a:t>南向接口</a:t>
            </a:r>
          </a:p>
          <a:p>
            <a:pPr algn="ctr"/>
            <a:r>
              <a:rPr lang="zh-CN" altLang="en-US" sz="1000" b="1" dirty="0">
                <a:solidFill>
                  <a:schemeClr val="tx1"/>
                </a:solidFill>
                <a:latin typeface="微软雅黑" panose="020B0503020204020204" pitchFamily="34" charset="-122"/>
                <a:ea typeface="微软雅黑" panose="020B0503020204020204" pitchFamily="34" charset="-122"/>
              </a:rPr>
              <a:t>交互逻辑</a:t>
            </a:r>
          </a:p>
        </p:txBody>
      </p:sp>
      <p:sp>
        <p:nvSpPr>
          <p:cNvPr id="10" name="矩形 9"/>
          <p:cNvSpPr/>
          <p:nvPr/>
        </p:nvSpPr>
        <p:spPr>
          <a:xfrm>
            <a:off x="2834310" y="3035295"/>
            <a:ext cx="2954836" cy="1663699"/>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1" name="矩形 10"/>
          <p:cNvSpPr/>
          <p:nvPr/>
        </p:nvSpPr>
        <p:spPr>
          <a:xfrm>
            <a:off x="3688391" y="4131516"/>
            <a:ext cx="1374680" cy="363176"/>
          </a:xfrm>
          <a:prstGeom prst="rect">
            <a:avLst/>
          </a:prstGeom>
          <a:solidFill>
            <a:schemeClr val="accent2">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b="1" dirty="0" smtClean="0">
                <a:solidFill>
                  <a:schemeClr val="tx1"/>
                </a:solidFill>
                <a:latin typeface="微软雅黑" panose="020B0503020204020204" pitchFamily="34" charset="-122"/>
                <a:ea typeface="微软雅黑" panose="020B0503020204020204" pitchFamily="34" charset="-122"/>
              </a:rPr>
              <a:t>分组转发逻辑</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grpSp>
        <p:nvGrpSpPr>
          <p:cNvPr id="59" name="组合 58"/>
          <p:cNvGrpSpPr/>
          <p:nvPr/>
        </p:nvGrpSpPr>
        <p:grpSpPr>
          <a:xfrm>
            <a:off x="3719561" y="3659201"/>
            <a:ext cx="1312340" cy="283682"/>
            <a:chOff x="3011054" y="3528819"/>
            <a:chExt cx="1312340" cy="283682"/>
          </a:xfrm>
        </p:grpSpPr>
        <p:grpSp>
          <p:nvGrpSpPr>
            <p:cNvPr id="54" name="组合 53"/>
            <p:cNvGrpSpPr/>
            <p:nvPr/>
          </p:nvGrpSpPr>
          <p:grpSpPr>
            <a:xfrm>
              <a:off x="3011054" y="3528819"/>
              <a:ext cx="1312340" cy="283682"/>
              <a:chOff x="6218767" y="2936507"/>
              <a:chExt cx="1312340" cy="283682"/>
            </a:xfrm>
          </p:grpSpPr>
          <p:grpSp>
            <p:nvGrpSpPr>
              <p:cNvPr id="23" name="组合 22"/>
              <p:cNvGrpSpPr/>
              <p:nvPr/>
            </p:nvGrpSpPr>
            <p:grpSpPr>
              <a:xfrm>
                <a:off x="6218767" y="2936507"/>
                <a:ext cx="1312340" cy="143982"/>
                <a:chOff x="3206750" y="5337963"/>
                <a:chExt cx="1312340" cy="143982"/>
              </a:xfrm>
            </p:grpSpPr>
            <p:sp>
              <p:nvSpPr>
                <p:cNvPr id="12" name="矩形 11"/>
                <p:cNvSpPr/>
                <p:nvPr/>
              </p:nvSpPr>
              <p:spPr>
                <a:xfrm>
                  <a:off x="3206750"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9" name="矩形 18"/>
                <p:cNvSpPr/>
                <p:nvPr/>
              </p:nvSpPr>
              <p:spPr>
                <a:xfrm>
                  <a:off x="3469218"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3731686"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1" name="矩形 20"/>
                <p:cNvSpPr/>
                <p:nvPr/>
              </p:nvSpPr>
              <p:spPr>
                <a:xfrm>
                  <a:off x="3994154"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4256622"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6218767" y="3076207"/>
                <a:ext cx="1312340" cy="143982"/>
                <a:chOff x="3206750" y="5337963"/>
                <a:chExt cx="1312340" cy="143982"/>
              </a:xfrm>
            </p:grpSpPr>
            <p:sp>
              <p:nvSpPr>
                <p:cNvPr id="25" name="矩形 24"/>
                <p:cNvSpPr/>
                <p:nvPr/>
              </p:nvSpPr>
              <p:spPr>
                <a:xfrm>
                  <a:off x="3206750"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6" name="矩形 25"/>
                <p:cNvSpPr/>
                <p:nvPr/>
              </p:nvSpPr>
              <p:spPr>
                <a:xfrm>
                  <a:off x="3469218"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3731686"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8" name="矩形 27"/>
                <p:cNvSpPr/>
                <p:nvPr/>
              </p:nvSpPr>
              <p:spPr>
                <a:xfrm>
                  <a:off x="3994154"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9" name="矩形 28"/>
                <p:cNvSpPr/>
                <p:nvPr/>
              </p:nvSpPr>
              <p:spPr>
                <a:xfrm>
                  <a:off x="4256622"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grpSp>
        </p:grpSp>
        <p:cxnSp>
          <p:nvCxnSpPr>
            <p:cNvPr id="56" name="直接连接符 55"/>
            <p:cNvCxnSpPr>
              <a:stCxn id="12" idx="1"/>
              <a:endCxn id="22" idx="3"/>
            </p:cNvCxnSpPr>
            <p:nvPr/>
          </p:nvCxnSpPr>
          <p:spPr>
            <a:xfrm>
              <a:off x="3011054" y="3600810"/>
              <a:ext cx="1312340" cy="0"/>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stCxn id="25" idx="1"/>
              <a:endCxn id="29" idx="3"/>
            </p:cNvCxnSpPr>
            <p:nvPr/>
          </p:nvCxnSpPr>
          <p:spPr>
            <a:xfrm>
              <a:off x="3011054" y="3740510"/>
              <a:ext cx="1312340" cy="0"/>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cxnSp>
        <p:nvCxnSpPr>
          <p:cNvPr id="61" name="直接箭头连接符 60"/>
          <p:cNvCxnSpPr>
            <a:stCxn id="9" idx="2"/>
            <a:endCxn id="20" idx="0"/>
          </p:cNvCxnSpPr>
          <p:nvPr/>
        </p:nvCxnSpPr>
        <p:spPr>
          <a:xfrm>
            <a:off x="4375731" y="3514435"/>
            <a:ext cx="0" cy="144766"/>
          </a:xfrm>
          <a:prstGeom prst="straightConnector1">
            <a:avLst/>
          </a:prstGeom>
          <a:ln w="28575">
            <a:solidFill>
              <a:srgbClr val="00009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2" name="上下箭头 61"/>
          <p:cNvSpPr/>
          <p:nvPr/>
        </p:nvSpPr>
        <p:spPr>
          <a:xfrm>
            <a:off x="4352299" y="3962943"/>
            <a:ext cx="45719" cy="141882"/>
          </a:xfrm>
          <a:prstGeom prst="upDownArrow">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grpSp>
        <p:nvGrpSpPr>
          <p:cNvPr id="75" name="组合 74"/>
          <p:cNvGrpSpPr/>
          <p:nvPr/>
        </p:nvGrpSpPr>
        <p:grpSpPr>
          <a:xfrm>
            <a:off x="2959234" y="4236820"/>
            <a:ext cx="413441" cy="84736"/>
            <a:chOff x="2133303" y="4308791"/>
            <a:chExt cx="413441" cy="84736"/>
          </a:xfrm>
        </p:grpSpPr>
        <p:sp>
          <p:nvSpPr>
            <p:cNvPr id="63" name="矩形 62"/>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4" name="矩形 63"/>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5" name="矩形 64"/>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6" name="矩形 65"/>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7" name="矩形 66"/>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8" name="矩形 67"/>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9" name="矩形 68"/>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70" name="矩形 69"/>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cxnSp>
          <p:nvCxnSpPr>
            <p:cNvPr id="71" name="直接连接符 70"/>
            <p:cNvCxnSpPr/>
            <p:nvPr/>
          </p:nvCxnSpPr>
          <p:spPr>
            <a:xfrm flipV="1">
              <a:off x="2133303"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V="1">
              <a:off x="21333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2959234" y="4410000"/>
            <a:ext cx="422315" cy="84736"/>
            <a:chOff x="2179204" y="4308791"/>
            <a:chExt cx="422315" cy="84736"/>
          </a:xfrm>
        </p:grpSpPr>
        <p:sp>
          <p:nvSpPr>
            <p:cNvPr id="77" name="矩形 76"/>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78" name="矩形 77"/>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79" name="矩形 78"/>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0" name="矩形 79"/>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1" name="矩形 80"/>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2" name="矩形 81"/>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3" name="矩形 82"/>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4" name="矩形 83"/>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cxnSp>
          <p:nvCxnSpPr>
            <p:cNvPr id="85" name="直接连接符 84"/>
            <p:cNvCxnSpPr/>
            <p:nvPr/>
          </p:nvCxnSpPr>
          <p:spPr>
            <a:xfrm flipV="1">
              <a:off x="2550291"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V="1">
              <a:off x="25524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sp>
        <p:nvSpPr>
          <p:cNvPr id="111" name="文本框 110"/>
          <p:cNvSpPr txBox="1"/>
          <p:nvPr/>
        </p:nvSpPr>
        <p:spPr>
          <a:xfrm>
            <a:off x="3280204" y="3706057"/>
            <a:ext cx="492443" cy="215444"/>
          </a:xfrm>
          <a:prstGeom prst="rect">
            <a:avLst/>
          </a:prstGeom>
          <a:noFill/>
        </p:spPr>
        <p:txBody>
          <a:bodyPr wrap="none" rtlCol="0">
            <a:spAutoFit/>
          </a:bodyPr>
          <a:lstStyle/>
          <a:p>
            <a:r>
              <a:rPr lang="zh-CN" altLang="en-US" sz="800" b="1" dirty="0">
                <a:latin typeface="微软雅黑" panose="020B0503020204020204" pitchFamily="34" charset="-122"/>
                <a:ea typeface="微软雅黑" panose="020B0503020204020204" pitchFamily="34" charset="-122"/>
              </a:rPr>
              <a:t>转发表</a:t>
            </a:r>
          </a:p>
        </p:txBody>
      </p:sp>
      <p:sp>
        <p:nvSpPr>
          <p:cNvPr id="112" name="文本框 111"/>
          <p:cNvSpPr txBox="1"/>
          <p:nvPr/>
        </p:nvSpPr>
        <p:spPr>
          <a:xfrm>
            <a:off x="2874818" y="4042568"/>
            <a:ext cx="71746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输入缓冲区</a:t>
            </a:r>
            <a:endParaRPr lang="zh-CN" altLang="en-US" sz="800" b="1" dirty="0">
              <a:latin typeface="微软雅黑" panose="020B0503020204020204" pitchFamily="34" charset="-122"/>
              <a:ea typeface="微软雅黑" panose="020B0503020204020204" pitchFamily="34" charset="-122"/>
            </a:endParaRPr>
          </a:p>
        </p:txBody>
      </p:sp>
      <p:sp>
        <p:nvSpPr>
          <p:cNvPr id="113" name="文本框 112"/>
          <p:cNvSpPr txBox="1"/>
          <p:nvPr/>
        </p:nvSpPr>
        <p:spPr>
          <a:xfrm>
            <a:off x="2834310" y="4482187"/>
            <a:ext cx="697627" cy="215444"/>
          </a:xfrm>
          <a:prstGeom prst="rect">
            <a:avLst/>
          </a:prstGeom>
          <a:noFill/>
        </p:spPr>
        <p:txBody>
          <a:bodyPr wrap="none" rtlCol="0">
            <a:spAutoFit/>
          </a:bodyPr>
          <a:lstStyle/>
          <a:p>
            <a:r>
              <a:rPr lang="zh-CN" altLang="en-US" sz="800" b="1" dirty="0" smtClean="0">
                <a:latin typeface="微软雅黑" panose="020B0503020204020204" pitchFamily="34" charset="-122"/>
                <a:ea typeface="微软雅黑" panose="020B0503020204020204" pitchFamily="34" charset="-122"/>
              </a:rPr>
              <a:t>输出缓冲区</a:t>
            </a:r>
            <a:endParaRPr lang="zh-CN" altLang="en-US" sz="800" b="1" dirty="0">
              <a:latin typeface="微软雅黑" panose="020B0503020204020204" pitchFamily="34" charset="-122"/>
              <a:ea typeface="微软雅黑" panose="020B0503020204020204" pitchFamily="34" charset="-122"/>
            </a:endParaRPr>
          </a:p>
        </p:txBody>
      </p:sp>
      <p:grpSp>
        <p:nvGrpSpPr>
          <p:cNvPr id="114" name="组合 113"/>
          <p:cNvGrpSpPr/>
          <p:nvPr/>
        </p:nvGrpSpPr>
        <p:grpSpPr>
          <a:xfrm>
            <a:off x="5216442" y="4410360"/>
            <a:ext cx="413441" cy="84736"/>
            <a:chOff x="2133303" y="4308791"/>
            <a:chExt cx="413441" cy="84736"/>
          </a:xfrm>
        </p:grpSpPr>
        <p:sp>
          <p:nvSpPr>
            <p:cNvPr id="115" name="矩形 114"/>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16" name="矩形 115"/>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17" name="矩形 116"/>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18" name="矩形 117"/>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19" name="矩形 118"/>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20" name="矩形 119"/>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21" name="矩形 120"/>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22" name="矩形 121"/>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cxnSp>
          <p:nvCxnSpPr>
            <p:cNvPr id="123" name="直接连接符 122"/>
            <p:cNvCxnSpPr/>
            <p:nvPr/>
          </p:nvCxnSpPr>
          <p:spPr>
            <a:xfrm flipV="1">
              <a:off x="2133303"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V="1">
              <a:off x="21333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grpSp>
        <p:nvGrpSpPr>
          <p:cNvPr id="125" name="组合 124"/>
          <p:cNvGrpSpPr/>
          <p:nvPr/>
        </p:nvGrpSpPr>
        <p:grpSpPr>
          <a:xfrm>
            <a:off x="5216442" y="4227946"/>
            <a:ext cx="422315" cy="84736"/>
            <a:chOff x="2179204" y="4308791"/>
            <a:chExt cx="422315" cy="84736"/>
          </a:xfrm>
        </p:grpSpPr>
        <p:sp>
          <p:nvSpPr>
            <p:cNvPr id="126" name="矩形 125"/>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27" name="矩形 126"/>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28" name="矩形 127"/>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29" name="矩形 128"/>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30" name="矩形 129"/>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31" name="矩形 130"/>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32" name="矩形 131"/>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33" name="矩形 132"/>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cxnSp>
          <p:nvCxnSpPr>
            <p:cNvPr id="134" name="直接连接符 133"/>
            <p:cNvCxnSpPr/>
            <p:nvPr/>
          </p:nvCxnSpPr>
          <p:spPr>
            <a:xfrm flipV="1">
              <a:off x="2550291"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V="1">
              <a:off x="25524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sp>
        <p:nvSpPr>
          <p:cNvPr id="136" name="文本框 135"/>
          <p:cNvSpPr txBox="1"/>
          <p:nvPr/>
        </p:nvSpPr>
        <p:spPr>
          <a:xfrm>
            <a:off x="5132026" y="4021376"/>
            <a:ext cx="717460"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输入缓冲区</a:t>
            </a:r>
            <a:endParaRPr lang="zh-CN" altLang="en-US" sz="800" b="1" dirty="0">
              <a:latin typeface="微软雅黑" panose="020B0503020204020204" pitchFamily="34" charset="-122"/>
              <a:ea typeface="微软雅黑" panose="020B0503020204020204" pitchFamily="34" charset="-122"/>
            </a:endParaRPr>
          </a:p>
        </p:txBody>
      </p:sp>
      <p:sp>
        <p:nvSpPr>
          <p:cNvPr id="137" name="文本框 136"/>
          <p:cNvSpPr txBox="1"/>
          <p:nvPr/>
        </p:nvSpPr>
        <p:spPr>
          <a:xfrm>
            <a:off x="5136858" y="4479501"/>
            <a:ext cx="719478" cy="215444"/>
          </a:xfrm>
          <a:prstGeom prst="rect">
            <a:avLst/>
          </a:prstGeom>
          <a:noFill/>
        </p:spPr>
        <p:txBody>
          <a:bodyPr wrap="square" rtlCol="0">
            <a:spAutoFit/>
          </a:bodyPr>
          <a:lstStyle/>
          <a:p>
            <a:r>
              <a:rPr lang="zh-CN" altLang="en-US" sz="800" b="1" dirty="0" smtClean="0">
                <a:latin typeface="微软雅黑" panose="020B0503020204020204" pitchFamily="34" charset="-122"/>
                <a:ea typeface="微软雅黑" panose="020B0503020204020204" pitchFamily="34" charset="-122"/>
              </a:rPr>
              <a:t>输出缓冲区</a:t>
            </a:r>
            <a:endParaRPr lang="zh-CN" altLang="en-US" sz="800" b="1" dirty="0">
              <a:latin typeface="微软雅黑" panose="020B0503020204020204" pitchFamily="34" charset="-122"/>
              <a:ea typeface="微软雅黑" panose="020B0503020204020204" pitchFamily="34" charset="-122"/>
            </a:endParaRPr>
          </a:p>
        </p:txBody>
      </p:sp>
      <p:cxnSp>
        <p:nvCxnSpPr>
          <p:cNvPr id="139" name="直接箭头连接符 138"/>
          <p:cNvCxnSpPr/>
          <p:nvPr/>
        </p:nvCxnSpPr>
        <p:spPr>
          <a:xfrm>
            <a:off x="2447396" y="4387198"/>
            <a:ext cx="386996" cy="1610"/>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2" name="文本框 141"/>
          <p:cNvSpPr txBox="1"/>
          <p:nvPr/>
        </p:nvSpPr>
        <p:spPr>
          <a:xfrm>
            <a:off x="2293271" y="4155337"/>
            <a:ext cx="631486" cy="215444"/>
          </a:xfrm>
          <a:prstGeom prst="rect">
            <a:avLst/>
          </a:prstGeom>
          <a:noFill/>
        </p:spPr>
        <p:txBody>
          <a:bodyPr wrap="square" rtlCol="0">
            <a:spAutoFit/>
          </a:bodyPr>
          <a:lstStyle/>
          <a:p>
            <a:pPr algn="ctr"/>
            <a:r>
              <a:rPr lang="zh-CN" altLang="en-US" sz="800" b="1" dirty="0" smtClean="0">
                <a:latin typeface="微软雅黑" panose="020B0503020204020204" pitchFamily="34" charset="-122"/>
                <a:ea typeface="微软雅黑" panose="020B0503020204020204" pitchFamily="34" charset="-122"/>
              </a:rPr>
              <a:t>数据分组</a:t>
            </a:r>
            <a:endParaRPr lang="zh-CN" altLang="en-US" sz="800" b="1" dirty="0">
              <a:latin typeface="微软雅黑" panose="020B0503020204020204" pitchFamily="34" charset="-122"/>
              <a:ea typeface="微软雅黑" panose="020B0503020204020204" pitchFamily="34" charset="-122"/>
            </a:endParaRPr>
          </a:p>
        </p:txBody>
      </p:sp>
      <p:cxnSp>
        <p:nvCxnSpPr>
          <p:cNvPr id="143" name="直接箭头连接符 142"/>
          <p:cNvCxnSpPr/>
          <p:nvPr/>
        </p:nvCxnSpPr>
        <p:spPr>
          <a:xfrm>
            <a:off x="5783823" y="4383696"/>
            <a:ext cx="386996" cy="1610"/>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文本框 143"/>
          <p:cNvSpPr txBox="1"/>
          <p:nvPr/>
        </p:nvSpPr>
        <p:spPr>
          <a:xfrm>
            <a:off x="5718598" y="4151835"/>
            <a:ext cx="631486" cy="215444"/>
          </a:xfrm>
          <a:prstGeom prst="rect">
            <a:avLst/>
          </a:prstGeom>
          <a:noFill/>
        </p:spPr>
        <p:txBody>
          <a:bodyPr wrap="square" rtlCol="0">
            <a:spAutoFit/>
          </a:bodyPr>
          <a:lstStyle/>
          <a:p>
            <a:pPr algn="ctr"/>
            <a:r>
              <a:rPr lang="zh-CN" altLang="en-US" sz="800" b="1" dirty="0" smtClean="0">
                <a:latin typeface="微软雅黑" panose="020B0503020204020204" pitchFamily="34" charset="-122"/>
                <a:ea typeface="微软雅黑" panose="020B0503020204020204" pitchFamily="34" charset="-122"/>
              </a:rPr>
              <a:t>数据分组</a:t>
            </a:r>
            <a:endParaRPr lang="zh-CN" altLang="en-US" sz="800" b="1" dirty="0">
              <a:latin typeface="微软雅黑" panose="020B0503020204020204" pitchFamily="34" charset="-122"/>
              <a:ea typeface="微软雅黑" panose="020B0503020204020204" pitchFamily="34" charset="-122"/>
            </a:endParaRPr>
          </a:p>
        </p:txBody>
      </p:sp>
      <p:cxnSp>
        <p:nvCxnSpPr>
          <p:cNvPr id="145" name="直接箭头连接符 144"/>
          <p:cNvCxnSpPr/>
          <p:nvPr/>
        </p:nvCxnSpPr>
        <p:spPr>
          <a:xfrm>
            <a:off x="4344561" y="2872304"/>
            <a:ext cx="0" cy="274987"/>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4311728" y="2840958"/>
            <a:ext cx="631486" cy="215444"/>
          </a:xfrm>
          <a:prstGeom prst="rect">
            <a:avLst/>
          </a:prstGeom>
          <a:noFill/>
        </p:spPr>
        <p:txBody>
          <a:bodyPr wrap="square" rtlCol="0">
            <a:spAutoFit/>
          </a:bodyPr>
          <a:lstStyle/>
          <a:p>
            <a:pPr algn="ctr"/>
            <a:r>
              <a:rPr lang="zh-CN" altLang="en-US" sz="800" b="1" dirty="0" smtClean="0">
                <a:latin typeface="微软雅黑" panose="020B0503020204020204" pitchFamily="34" charset="-122"/>
                <a:ea typeface="微软雅黑" panose="020B0503020204020204" pitchFamily="34" charset="-122"/>
              </a:rPr>
              <a:t>控制分组</a:t>
            </a:r>
            <a:endParaRPr lang="zh-CN" altLang="en-US" sz="800" b="1" dirty="0">
              <a:latin typeface="微软雅黑" panose="020B0503020204020204" pitchFamily="34" charset="-122"/>
              <a:ea typeface="微软雅黑" panose="020B0503020204020204" pitchFamily="34" charset="-122"/>
            </a:endParaRPr>
          </a:p>
        </p:txBody>
      </p:sp>
      <p:sp>
        <p:nvSpPr>
          <p:cNvPr id="87" name="Rectangle 970">
            <a:extLst>
              <a:ext uri="{FF2B5EF4-FFF2-40B4-BE49-F238E27FC236}">
                <a16:creationId xmlns:a16="http://schemas.microsoft.com/office/drawing/2014/main" id="{CF79C9C5-C35F-9D4D-A4B3-C17F7845845A}"/>
              </a:ext>
            </a:extLst>
          </p:cNvPr>
          <p:cNvSpPr/>
          <p:nvPr/>
        </p:nvSpPr>
        <p:spPr bwMode="auto">
          <a:xfrm>
            <a:off x="2395165" y="3655152"/>
            <a:ext cx="3989760" cy="1018309"/>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
        <p:nvSpPr>
          <p:cNvPr id="88" name="Rectangle 970">
            <a:extLst>
              <a:ext uri="{FF2B5EF4-FFF2-40B4-BE49-F238E27FC236}">
                <a16:creationId xmlns:a16="http://schemas.microsoft.com/office/drawing/2014/main" id="{CF79C9C5-C35F-9D4D-A4B3-C17F7845845A}"/>
              </a:ext>
            </a:extLst>
          </p:cNvPr>
          <p:cNvSpPr/>
          <p:nvPr/>
        </p:nvSpPr>
        <p:spPr bwMode="auto">
          <a:xfrm>
            <a:off x="2395165" y="2840860"/>
            <a:ext cx="3989759" cy="738419"/>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
        <p:nvSpPr>
          <p:cNvPr id="89" name="Rectangle 970">
            <a:extLst>
              <a:ext uri="{FF2B5EF4-FFF2-40B4-BE49-F238E27FC236}">
                <a16:creationId xmlns:a16="http://schemas.microsoft.com/office/drawing/2014/main" id="{CF79C9C5-C35F-9D4D-A4B3-C17F7845845A}"/>
              </a:ext>
            </a:extLst>
          </p:cNvPr>
          <p:cNvSpPr/>
          <p:nvPr/>
        </p:nvSpPr>
        <p:spPr bwMode="auto">
          <a:xfrm>
            <a:off x="2398475" y="4004217"/>
            <a:ext cx="3989760" cy="741633"/>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Tree>
    <p:custDataLst>
      <p:tags r:id="rId1"/>
    </p:custDataLst>
    <p:extLst>
      <p:ext uri="{BB962C8B-B14F-4D97-AF65-F5344CB8AC3E}">
        <p14:creationId xmlns:p14="http://schemas.microsoft.com/office/powerpoint/2010/main" val="2611582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grpId="1"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fade">
                                      <p:cBhvr>
                                        <p:cTn id="10" dur="500"/>
                                        <p:tgtEl>
                                          <p:spTgt spid="8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 presetClass="exit" presetSubtype="0" fill="hold" grpId="0" nodeType="withEffect">
                                  <p:stCondLst>
                                    <p:cond delay="0"/>
                                  </p:stCondLst>
                                  <p:childTnLst>
                                    <p:set>
                                      <p:cBhvr>
                                        <p:cTn id="17" dur="1" fill="hold">
                                          <p:stCondLst>
                                            <p:cond delay="0"/>
                                          </p:stCondLst>
                                        </p:cTn>
                                        <p:tgtEl>
                                          <p:spTgt spid="87"/>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88"/>
                                        </p:tgtEl>
                                        <p:attrNameLst>
                                          <p:attrName>style.visibility</p:attrName>
                                        </p:attrNameLst>
                                      </p:cBhvr>
                                      <p:to>
                                        <p:strVal val="visible"/>
                                      </p:to>
                                    </p:set>
                                    <p:animEffect transition="in" filter="fade">
                                      <p:cBhvr>
                                        <p:cTn id="20" dur="500"/>
                                        <p:tgtEl>
                                          <p:spTgt spid="8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9"/>
                                        </p:tgtEl>
                                        <p:attrNameLst>
                                          <p:attrName>style.visibility</p:attrName>
                                        </p:attrNameLst>
                                      </p:cBhvr>
                                      <p:to>
                                        <p:strVal val="visible"/>
                                      </p:to>
                                    </p:set>
                                    <p:animEffect transition="in" filter="fade">
                                      <p:cBhvr>
                                        <p:cTn id="23"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7" grpId="1" animBg="1"/>
      <p:bldP spid="88" grpId="0" animBg="1"/>
      <p:bldP spid="8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数据平面设备的一般性结构</a:t>
            </a:r>
          </a:p>
        </p:txBody>
      </p:sp>
      <p:sp>
        <p:nvSpPr>
          <p:cNvPr id="4" name="Rectangle 8"/>
          <p:cNvSpPr>
            <a:spLocks noChangeArrowheads="1"/>
          </p:cNvSpPr>
          <p:nvPr/>
        </p:nvSpPr>
        <p:spPr bwMode="auto">
          <a:xfrm>
            <a:off x="545143" y="1009413"/>
            <a:ext cx="8001957" cy="1528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zh-CN" b="1" dirty="0">
                <a:latin typeface="微软雅黑" pitchFamily="34" charset="-122"/>
                <a:ea typeface="微软雅黑" pitchFamily="34" charset="-122"/>
              </a:rPr>
              <a:t>分组转发逻辑</a:t>
            </a:r>
            <a:r>
              <a:rPr lang="zh-CN" altLang="en-US" b="1" dirty="0">
                <a:latin typeface="微软雅黑" pitchFamily="34" charset="-122"/>
                <a:ea typeface="微软雅黑" pitchFamily="34" charset="-122"/>
              </a:rPr>
              <a:t>：</a:t>
            </a:r>
            <a:r>
              <a:rPr lang="zh-CN" altLang="zh-CN" b="1" dirty="0">
                <a:solidFill>
                  <a:srgbClr val="C00000"/>
                </a:solidFill>
                <a:latin typeface="微软雅黑" pitchFamily="34" charset="-122"/>
                <a:ea typeface="微软雅黑" pitchFamily="34" charset="-122"/>
              </a:rPr>
              <a:t>根据</a:t>
            </a:r>
            <a:r>
              <a:rPr lang="zh-CN" altLang="zh-CN" b="1" dirty="0">
                <a:latin typeface="微软雅黑" pitchFamily="34" charset="-122"/>
                <a:ea typeface="微软雅黑" pitchFamily="34" charset="-122"/>
              </a:rPr>
              <a:t>转发表中</a:t>
            </a:r>
            <a:r>
              <a:rPr lang="zh-CN" altLang="zh-CN" b="1" dirty="0" smtClean="0">
                <a:latin typeface="微软雅黑" pitchFamily="34" charset="-122"/>
                <a:ea typeface="微软雅黑" pitchFamily="34" charset="-122"/>
              </a:rPr>
              <a:t>的</a:t>
            </a:r>
            <a:r>
              <a:rPr lang="zh-CN" altLang="en-US" b="1" dirty="0">
                <a:solidFill>
                  <a:srgbClr val="C00000"/>
                </a:solidFill>
                <a:latin typeface="微软雅黑" pitchFamily="34" charset="-122"/>
                <a:ea typeface="微软雅黑" pitchFamily="34" charset="-122"/>
              </a:rPr>
              <a:t>分组</a:t>
            </a:r>
            <a:r>
              <a:rPr lang="zh-CN" altLang="zh-CN" b="1" dirty="0">
                <a:solidFill>
                  <a:srgbClr val="C00000"/>
                </a:solidFill>
                <a:latin typeface="微软雅黑" pitchFamily="34" charset="-122"/>
                <a:ea typeface="微软雅黑" pitchFamily="34" charset="-122"/>
              </a:rPr>
              <a:t>处理规则</a:t>
            </a:r>
            <a:r>
              <a:rPr lang="zh-CN" altLang="zh-CN" b="1" dirty="0">
                <a:latin typeface="微软雅黑" pitchFamily="34" charset="-122"/>
                <a:ea typeface="微软雅黑" pitchFamily="34" charset="-122"/>
              </a:rPr>
              <a:t>，对</a:t>
            </a:r>
            <a:r>
              <a:rPr lang="zh-CN" altLang="zh-CN" b="1" dirty="0">
                <a:solidFill>
                  <a:srgbClr val="C00000"/>
                </a:solidFill>
                <a:latin typeface="微软雅黑" pitchFamily="34" charset="-122"/>
                <a:ea typeface="微软雅黑" pitchFamily="34" charset="-122"/>
              </a:rPr>
              <a:t>到达的分组进行处理</a:t>
            </a:r>
            <a:r>
              <a:rPr lang="zh-CN" altLang="zh-CN" b="1" dirty="0">
                <a:latin typeface="微软雅黑" pitchFamily="34" charset="-122"/>
                <a:ea typeface="微软雅黑" pitchFamily="34" charset="-122"/>
              </a:rPr>
              <a:t>。处理动作包括</a:t>
            </a:r>
            <a:r>
              <a:rPr lang="zh-CN" altLang="zh-CN" b="1" dirty="0">
                <a:solidFill>
                  <a:srgbClr val="C00000"/>
                </a:solidFill>
                <a:latin typeface="微软雅黑" pitchFamily="34" charset="-122"/>
                <a:ea typeface="微软雅黑" pitchFamily="34" charset="-122"/>
              </a:rPr>
              <a:t>修改分组首部、丢弃分组、以及向其他端口转发等</a:t>
            </a:r>
            <a:r>
              <a:rPr lang="zh-CN" altLang="zh-CN"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每个</a:t>
            </a:r>
            <a:r>
              <a:rPr lang="zh-CN" altLang="en-US" b="1" dirty="0">
                <a:latin typeface="微软雅黑" pitchFamily="34" charset="-122"/>
                <a:ea typeface="微软雅黑" pitchFamily="34" charset="-122"/>
              </a:rPr>
              <a:t>端口的</a:t>
            </a:r>
            <a:r>
              <a:rPr lang="zh-CN" altLang="en-US" b="1" dirty="0">
                <a:solidFill>
                  <a:srgbClr val="C00000"/>
                </a:solidFill>
                <a:latin typeface="微软雅黑" pitchFamily="34" charset="-122"/>
                <a:ea typeface="微软雅黑" pitchFamily="34" charset="-122"/>
              </a:rPr>
              <a:t>输入缓冲区维护到达该端口待处理的分组队列</a:t>
            </a:r>
            <a:r>
              <a:rPr lang="zh-CN" altLang="en-US" b="1" dirty="0">
                <a:latin typeface="微软雅黑" pitchFamily="34" charset="-122"/>
                <a:ea typeface="微软雅黑" pitchFamily="34" charset="-122"/>
              </a:rPr>
              <a:t>，</a:t>
            </a:r>
            <a:r>
              <a:rPr lang="zh-CN" altLang="en-US" b="1" dirty="0">
                <a:solidFill>
                  <a:srgbClr val="C00000"/>
                </a:solidFill>
                <a:latin typeface="微软雅黑" pitchFamily="34" charset="-122"/>
                <a:ea typeface="微软雅黑" pitchFamily="34" charset="-122"/>
              </a:rPr>
              <a:t>输出缓冲区维护即将离开该端口的分组队列</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p:txBody>
      </p:sp>
      <p:sp>
        <p:nvSpPr>
          <p:cNvPr id="85" name="圆角矩形 84"/>
          <p:cNvSpPr/>
          <p:nvPr/>
        </p:nvSpPr>
        <p:spPr>
          <a:xfrm>
            <a:off x="1624135" y="2798226"/>
            <a:ext cx="5440851" cy="1961665"/>
          </a:xfrm>
          <a:prstGeom prst="roundRect">
            <a:avLst>
              <a:gd name="adj" fmla="val 11622"/>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86" name="矩形 85"/>
          <p:cNvSpPr/>
          <p:nvPr/>
        </p:nvSpPr>
        <p:spPr>
          <a:xfrm>
            <a:off x="3719561" y="3152982"/>
            <a:ext cx="1312340" cy="361453"/>
          </a:xfrm>
          <a:prstGeom prst="rect">
            <a:avLst/>
          </a:prstGeom>
          <a:solidFill>
            <a:srgbClr val="FFC000"/>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微软雅黑" panose="020B0503020204020204" pitchFamily="34" charset="-122"/>
                <a:ea typeface="微软雅黑" panose="020B0503020204020204" pitchFamily="34" charset="-122"/>
              </a:rPr>
              <a:t>南向接口</a:t>
            </a:r>
          </a:p>
          <a:p>
            <a:pPr algn="ctr"/>
            <a:r>
              <a:rPr lang="zh-CN" altLang="en-US" sz="1000" dirty="0">
                <a:solidFill>
                  <a:schemeClr val="tx1"/>
                </a:solidFill>
                <a:latin typeface="微软雅黑" panose="020B0503020204020204" pitchFamily="34" charset="-122"/>
                <a:ea typeface="微软雅黑" panose="020B0503020204020204" pitchFamily="34" charset="-122"/>
              </a:rPr>
              <a:t>交互逻辑</a:t>
            </a:r>
          </a:p>
        </p:txBody>
      </p:sp>
      <p:sp>
        <p:nvSpPr>
          <p:cNvPr id="87" name="矩形 86"/>
          <p:cNvSpPr/>
          <p:nvPr/>
        </p:nvSpPr>
        <p:spPr>
          <a:xfrm>
            <a:off x="2834310" y="3035295"/>
            <a:ext cx="2954836" cy="1663699"/>
          </a:xfrm>
          <a:prstGeom prst="rect">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88" name="矩形 87"/>
          <p:cNvSpPr/>
          <p:nvPr/>
        </p:nvSpPr>
        <p:spPr>
          <a:xfrm>
            <a:off x="3688391" y="4131516"/>
            <a:ext cx="1374680" cy="363176"/>
          </a:xfrm>
          <a:prstGeom prst="rect">
            <a:avLst/>
          </a:prstGeom>
          <a:solidFill>
            <a:schemeClr val="accent2">
              <a:lumMod val="40000"/>
              <a:lumOff val="6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solidFill>
                  <a:schemeClr val="tx1"/>
                </a:solidFill>
                <a:latin typeface="微软雅黑" panose="020B0503020204020204" pitchFamily="34" charset="-122"/>
                <a:ea typeface="微软雅黑" panose="020B0503020204020204" pitchFamily="34" charset="-122"/>
              </a:rPr>
              <a:t>分组转发逻辑</a:t>
            </a:r>
            <a:endParaRPr lang="zh-CN" altLang="en-US" sz="1000" dirty="0">
              <a:solidFill>
                <a:schemeClr val="tx1"/>
              </a:solidFill>
              <a:latin typeface="微软雅黑" panose="020B0503020204020204" pitchFamily="34" charset="-122"/>
              <a:ea typeface="微软雅黑" panose="020B0503020204020204" pitchFamily="34" charset="-122"/>
            </a:endParaRPr>
          </a:p>
        </p:txBody>
      </p:sp>
      <p:grpSp>
        <p:nvGrpSpPr>
          <p:cNvPr id="89" name="组合 88"/>
          <p:cNvGrpSpPr/>
          <p:nvPr/>
        </p:nvGrpSpPr>
        <p:grpSpPr>
          <a:xfrm>
            <a:off x="3719561" y="3659201"/>
            <a:ext cx="1312340" cy="283682"/>
            <a:chOff x="3011054" y="3528819"/>
            <a:chExt cx="1312340" cy="283682"/>
          </a:xfrm>
        </p:grpSpPr>
        <p:grpSp>
          <p:nvGrpSpPr>
            <p:cNvPr id="90" name="组合 89"/>
            <p:cNvGrpSpPr/>
            <p:nvPr/>
          </p:nvGrpSpPr>
          <p:grpSpPr>
            <a:xfrm>
              <a:off x="3011054" y="3528819"/>
              <a:ext cx="1312340" cy="283682"/>
              <a:chOff x="6218767" y="2936507"/>
              <a:chExt cx="1312340" cy="283682"/>
            </a:xfrm>
          </p:grpSpPr>
          <p:grpSp>
            <p:nvGrpSpPr>
              <p:cNvPr id="93" name="组合 92"/>
              <p:cNvGrpSpPr/>
              <p:nvPr/>
            </p:nvGrpSpPr>
            <p:grpSpPr>
              <a:xfrm>
                <a:off x="6218767" y="2936507"/>
                <a:ext cx="1312340" cy="143982"/>
                <a:chOff x="3206750" y="5337963"/>
                <a:chExt cx="1312340" cy="143982"/>
              </a:xfrm>
            </p:grpSpPr>
            <p:sp>
              <p:nvSpPr>
                <p:cNvPr id="100" name="矩形 99"/>
                <p:cNvSpPr/>
                <p:nvPr/>
              </p:nvSpPr>
              <p:spPr>
                <a:xfrm>
                  <a:off x="3206750"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1" name="矩形 100"/>
                <p:cNvSpPr/>
                <p:nvPr/>
              </p:nvSpPr>
              <p:spPr>
                <a:xfrm>
                  <a:off x="3469218"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2" name="矩形 101"/>
                <p:cNvSpPr/>
                <p:nvPr/>
              </p:nvSpPr>
              <p:spPr>
                <a:xfrm>
                  <a:off x="3731686"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3" name="矩形 102"/>
                <p:cNvSpPr/>
                <p:nvPr/>
              </p:nvSpPr>
              <p:spPr>
                <a:xfrm>
                  <a:off x="3994154"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4" name="矩形 103"/>
                <p:cNvSpPr/>
                <p:nvPr/>
              </p:nvSpPr>
              <p:spPr>
                <a:xfrm>
                  <a:off x="4256622"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grpSp>
          <p:grpSp>
            <p:nvGrpSpPr>
              <p:cNvPr id="94" name="组合 93"/>
              <p:cNvGrpSpPr/>
              <p:nvPr/>
            </p:nvGrpSpPr>
            <p:grpSpPr>
              <a:xfrm>
                <a:off x="6218767" y="3076207"/>
                <a:ext cx="1312340" cy="143982"/>
                <a:chOff x="3206750" y="5337963"/>
                <a:chExt cx="1312340" cy="143982"/>
              </a:xfrm>
            </p:grpSpPr>
            <p:sp>
              <p:nvSpPr>
                <p:cNvPr id="95" name="矩形 94"/>
                <p:cNvSpPr/>
                <p:nvPr/>
              </p:nvSpPr>
              <p:spPr>
                <a:xfrm>
                  <a:off x="3206750"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6" name="矩形 95"/>
                <p:cNvSpPr/>
                <p:nvPr/>
              </p:nvSpPr>
              <p:spPr>
                <a:xfrm>
                  <a:off x="3469218"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7" name="矩形 96"/>
                <p:cNvSpPr/>
                <p:nvPr/>
              </p:nvSpPr>
              <p:spPr>
                <a:xfrm>
                  <a:off x="3731686"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8" name="矩形 97"/>
                <p:cNvSpPr/>
                <p:nvPr/>
              </p:nvSpPr>
              <p:spPr>
                <a:xfrm>
                  <a:off x="3994154"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99" name="矩形 98"/>
                <p:cNvSpPr/>
                <p:nvPr/>
              </p:nvSpPr>
              <p:spPr>
                <a:xfrm>
                  <a:off x="4256622" y="5337963"/>
                  <a:ext cx="262468" cy="14398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grpSp>
        </p:grpSp>
        <p:cxnSp>
          <p:nvCxnSpPr>
            <p:cNvPr id="91" name="直接连接符 90"/>
            <p:cNvCxnSpPr>
              <a:stCxn id="100" idx="1"/>
              <a:endCxn id="104" idx="3"/>
            </p:cNvCxnSpPr>
            <p:nvPr/>
          </p:nvCxnSpPr>
          <p:spPr>
            <a:xfrm>
              <a:off x="3011054" y="3600810"/>
              <a:ext cx="1312340" cy="0"/>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95" idx="1"/>
              <a:endCxn id="99" idx="3"/>
            </p:cNvCxnSpPr>
            <p:nvPr/>
          </p:nvCxnSpPr>
          <p:spPr>
            <a:xfrm>
              <a:off x="3011054" y="3740510"/>
              <a:ext cx="1312340" cy="0"/>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cxnSp>
        <p:nvCxnSpPr>
          <p:cNvPr id="105" name="直接箭头连接符 104"/>
          <p:cNvCxnSpPr>
            <a:stCxn id="86" idx="2"/>
            <a:endCxn id="102" idx="0"/>
          </p:cNvCxnSpPr>
          <p:nvPr/>
        </p:nvCxnSpPr>
        <p:spPr>
          <a:xfrm>
            <a:off x="4375731" y="3514435"/>
            <a:ext cx="0" cy="144766"/>
          </a:xfrm>
          <a:prstGeom prst="straightConnector1">
            <a:avLst/>
          </a:prstGeom>
          <a:ln w="28575">
            <a:solidFill>
              <a:srgbClr val="00009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上下箭头 105"/>
          <p:cNvSpPr/>
          <p:nvPr/>
        </p:nvSpPr>
        <p:spPr>
          <a:xfrm>
            <a:off x="4352299" y="3962943"/>
            <a:ext cx="45719" cy="141882"/>
          </a:xfrm>
          <a:prstGeom prst="upDownArrow">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nvGrpSpPr>
          <p:cNvPr id="107" name="组合 106"/>
          <p:cNvGrpSpPr/>
          <p:nvPr/>
        </p:nvGrpSpPr>
        <p:grpSpPr>
          <a:xfrm>
            <a:off x="2959234" y="4236820"/>
            <a:ext cx="413441" cy="84736"/>
            <a:chOff x="2133303" y="4308791"/>
            <a:chExt cx="413441" cy="84736"/>
          </a:xfrm>
        </p:grpSpPr>
        <p:sp>
          <p:nvSpPr>
            <p:cNvPr id="108" name="矩形 107"/>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9" name="矩形 108"/>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0" name="矩形 109"/>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1" name="矩形 110"/>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2" name="矩形 111"/>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3" name="矩形 112"/>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4" name="矩形 113"/>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5" name="矩形 114"/>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116" name="直接连接符 115"/>
            <p:cNvCxnSpPr/>
            <p:nvPr/>
          </p:nvCxnSpPr>
          <p:spPr>
            <a:xfrm flipV="1">
              <a:off x="2133303"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V="1">
              <a:off x="21333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grpSp>
        <p:nvGrpSpPr>
          <p:cNvPr id="118" name="组合 117"/>
          <p:cNvGrpSpPr/>
          <p:nvPr/>
        </p:nvGrpSpPr>
        <p:grpSpPr>
          <a:xfrm>
            <a:off x="2959234" y="4410000"/>
            <a:ext cx="422315" cy="84736"/>
            <a:chOff x="2179204" y="4308791"/>
            <a:chExt cx="422315" cy="84736"/>
          </a:xfrm>
        </p:grpSpPr>
        <p:sp>
          <p:nvSpPr>
            <p:cNvPr id="119" name="矩形 118"/>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0" name="矩形 119"/>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1" name="矩形 120"/>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2" name="矩形 121"/>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3" name="矩形 122"/>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4" name="矩形 123"/>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5" name="矩形 124"/>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26" name="矩形 125"/>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127" name="直接连接符 126"/>
            <p:cNvCxnSpPr/>
            <p:nvPr/>
          </p:nvCxnSpPr>
          <p:spPr>
            <a:xfrm flipV="1">
              <a:off x="2550291"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flipV="1">
              <a:off x="25524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sp>
        <p:nvSpPr>
          <p:cNvPr id="129" name="文本框 128"/>
          <p:cNvSpPr txBox="1"/>
          <p:nvPr/>
        </p:nvSpPr>
        <p:spPr>
          <a:xfrm>
            <a:off x="3280204" y="3706057"/>
            <a:ext cx="492443" cy="215444"/>
          </a:xfrm>
          <a:prstGeom prst="rect">
            <a:avLst/>
          </a:prstGeom>
          <a:noFill/>
        </p:spPr>
        <p:txBody>
          <a:bodyPr wrap="none" rtlCol="0">
            <a:spAutoFit/>
          </a:bodyPr>
          <a:lstStyle/>
          <a:p>
            <a:r>
              <a:rPr lang="zh-CN" altLang="en-US" sz="800" dirty="0">
                <a:latin typeface="微软雅黑" panose="020B0503020204020204" pitchFamily="34" charset="-122"/>
                <a:ea typeface="微软雅黑" panose="020B0503020204020204" pitchFamily="34" charset="-122"/>
              </a:rPr>
              <a:t>转发表</a:t>
            </a:r>
          </a:p>
        </p:txBody>
      </p:sp>
      <p:sp>
        <p:nvSpPr>
          <p:cNvPr id="130" name="文本框 129"/>
          <p:cNvSpPr txBox="1"/>
          <p:nvPr/>
        </p:nvSpPr>
        <p:spPr>
          <a:xfrm>
            <a:off x="2874818" y="4042568"/>
            <a:ext cx="717460" cy="215444"/>
          </a:xfrm>
          <a:prstGeom prst="rect">
            <a:avLst/>
          </a:prstGeom>
          <a:noFill/>
        </p:spPr>
        <p:txBody>
          <a:bodyPr wrap="square" rtlCol="0">
            <a:spAutoFit/>
          </a:bodyPr>
          <a:lstStyle/>
          <a:p>
            <a:r>
              <a:rPr lang="zh-CN" altLang="en-US" sz="800" dirty="0" smtClean="0">
                <a:latin typeface="微软雅黑" panose="020B0503020204020204" pitchFamily="34" charset="-122"/>
                <a:ea typeface="微软雅黑" panose="020B0503020204020204" pitchFamily="34" charset="-122"/>
              </a:rPr>
              <a:t>输入缓冲区</a:t>
            </a:r>
            <a:endParaRPr lang="zh-CN" altLang="en-US" sz="800" dirty="0">
              <a:latin typeface="微软雅黑" panose="020B0503020204020204" pitchFamily="34" charset="-122"/>
              <a:ea typeface="微软雅黑" panose="020B0503020204020204" pitchFamily="34" charset="-122"/>
            </a:endParaRPr>
          </a:p>
        </p:txBody>
      </p:sp>
      <p:sp>
        <p:nvSpPr>
          <p:cNvPr id="131" name="文本框 130"/>
          <p:cNvSpPr txBox="1"/>
          <p:nvPr/>
        </p:nvSpPr>
        <p:spPr>
          <a:xfrm>
            <a:off x="2834310" y="4482187"/>
            <a:ext cx="697627" cy="215444"/>
          </a:xfrm>
          <a:prstGeom prst="rect">
            <a:avLst/>
          </a:prstGeom>
          <a:noFill/>
        </p:spPr>
        <p:txBody>
          <a:bodyPr wrap="none" rtlCol="0">
            <a:spAutoFit/>
          </a:bodyPr>
          <a:lstStyle/>
          <a:p>
            <a:r>
              <a:rPr lang="zh-CN" altLang="en-US" sz="800" dirty="0" smtClean="0">
                <a:latin typeface="微软雅黑" panose="020B0503020204020204" pitchFamily="34" charset="-122"/>
                <a:ea typeface="微软雅黑" panose="020B0503020204020204" pitchFamily="34" charset="-122"/>
              </a:rPr>
              <a:t>输出缓冲区</a:t>
            </a:r>
            <a:endParaRPr lang="zh-CN" altLang="en-US" sz="800" dirty="0">
              <a:latin typeface="微软雅黑" panose="020B0503020204020204" pitchFamily="34" charset="-122"/>
              <a:ea typeface="微软雅黑" panose="020B0503020204020204" pitchFamily="34" charset="-122"/>
            </a:endParaRPr>
          </a:p>
        </p:txBody>
      </p:sp>
      <p:grpSp>
        <p:nvGrpSpPr>
          <p:cNvPr id="132" name="组合 131"/>
          <p:cNvGrpSpPr/>
          <p:nvPr/>
        </p:nvGrpSpPr>
        <p:grpSpPr>
          <a:xfrm>
            <a:off x="5216442" y="4410360"/>
            <a:ext cx="413441" cy="84736"/>
            <a:chOff x="2133303" y="4308791"/>
            <a:chExt cx="413441" cy="84736"/>
          </a:xfrm>
        </p:grpSpPr>
        <p:sp>
          <p:nvSpPr>
            <p:cNvPr id="133" name="矩形 132"/>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4" name="矩形 133"/>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5" name="矩形 134"/>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6" name="矩形 135"/>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7" name="矩形 136"/>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8" name="矩形 137"/>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39" name="矩形 138"/>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40" name="矩形 139"/>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141" name="直接连接符 140"/>
            <p:cNvCxnSpPr/>
            <p:nvPr/>
          </p:nvCxnSpPr>
          <p:spPr>
            <a:xfrm flipV="1">
              <a:off x="2133303"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V="1">
              <a:off x="21333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grpSp>
        <p:nvGrpSpPr>
          <p:cNvPr id="143" name="组合 142"/>
          <p:cNvGrpSpPr/>
          <p:nvPr/>
        </p:nvGrpSpPr>
        <p:grpSpPr>
          <a:xfrm>
            <a:off x="5216442" y="4227946"/>
            <a:ext cx="422315" cy="84736"/>
            <a:chOff x="2179204" y="4308791"/>
            <a:chExt cx="422315" cy="84736"/>
          </a:xfrm>
        </p:grpSpPr>
        <p:sp>
          <p:nvSpPr>
            <p:cNvPr id="144" name="矩形 143"/>
            <p:cNvSpPr/>
            <p:nvPr/>
          </p:nvSpPr>
          <p:spPr>
            <a:xfrm>
              <a:off x="2179204"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45" name="矩形 144"/>
            <p:cNvSpPr/>
            <p:nvPr/>
          </p:nvSpPr>
          <p:spPr>
            <a:xfrm>
              <a:off x="2224923"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46" name="矩形 145"/>
            <p:cNvSpPr/>
            <p:nvPr/>
          </p:nvSpPr>
          <p:spPr>
            <a:xfrm>
              <a:off x="2270642"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47" name="矩形 146"/>
            <p:cNvSpPr/>
            <p:nvPr/>
          </p:nvSpPr>
          <p:spPr>
            <a:xfrm>
              <a:off x="2316361"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48" name="矩形 147"/>
            <p:cNvSpPr/>
            <p:nvPr/>
          </p:nvSpPr>
          <p:spPr>
            <a:xfrm>
              <a:off x="2362080"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49" name="矩形 148"/>
            <p:cNvSpPr/>
            <p:nvPr/>
          </p:nvSpPr>
          <p:spPr>
            <a:xfrm>
              <a:off x="240779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50" name="矩形 149"/>
            <p:cNvSpPr/>
            <p:nvPr/>
          </p:nvSpPr>
          <p:spPr>
            <a:xfrm>
              <a:off x="2455309"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51" name="矩形 150"/>
            <p:cNvSpPr/>
            <p:nvPr/>
          </p:nvSpPr>
          <p:spPr>
            <a:xfrm>
              <a:off x="2501025" y="4308791"/>
              <a:ext cx="45719" cy="84692"/>
            </a:xfrm>
            <a:prstGeom prst="rect">
              <a:avLst/>
            </a:prstGeom>
            <a:solidFill>
              <a:schemeClr val="accent3">
                <a:lumMod val="20000"/>
                <a:lumOff val="80000"/>
              </a:schemeClr>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cxnSp>
          <p:nvCxnSpPr>
            <p:cNvPr id="152" name="直接连接符 151"/>
            <p:cNvCxnSpPr/>
            <p:nvPr/>
          </p:nvCxnSpPr>
          <p:spPr>
            <a:xfrm flipV="1">
              <a:off x="2550291" y="4308791"/>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flipV="1">
              <a:off x="2552403" y="4393483"/>
              <a:ext cx="49116" cy="44"/>
            </a:xfrm>
            <a:prstGeom prst="line">
              <a:avLst/>
            </a:prstGeom>
            <a:ln>
              <a:solidFill>
                <a:srgbClr val="385D8A"/>
              </a:solidFill>
            </a:ln>
          </p:spPr>
          <p:style>
            <a:lnRef idx="1">
              <a:schemeClr val="accent1"/>
            </a:lnRef>
            <a:fillRef idx="0">
              <a:schemeClr val="accent1"/>
            </a:fillRef>
            <a:effectRef idx="0">
              <a:schemeClr val="accent1"/>
            </a:effectRef>
            <a:fontRef idx="minor">
              <a:schemeClr val="tx1"/>
            </a:fontRef>
          </p:style>
        </p:cxnSp>
      </p:grpSp>
      <p:sp>
        <p:nvSpPr>
          <p:cNvPr id="154" name="文本框 153"/>
          <p:cNvSpPr txBox="1"/>
          <p:nvPr/>
        </p:nvSpPr>
        <p:spPr>
          <a:xfrm>
            <a:off x="5132026" y="4021376"/>
            <a:ext cx="717460" cy="215444"/>
          </a:xfrm>
          <a:prstGeom prst="rect">
            <a:avLst/>
          </a:prstGeom>
          <a:noFill/>
        </p:spPr>
        <p:txBody>
          <a:bodyPr wrap="square" rtlCol="0">
            <a:spAutoFit/>
          </a:bodyPr>
          <a:lstStyle/>
          <a:p>
            <a:r>
              <a:rPr lang="zh-CN" altLang="en-US" sz="800" dirty="0" smtClean="0">
                <a:latin typeface="微软雅黑" panose="020B0503020204020204" pitchFamily="34" charset="-122"/>
                <a:ea typeface="微软雅黑" panose="020B0503020204020204" pitchFamily="34" charset="-122"/>
              </a:rPr>
              <a:t>输入缓冲区</a:t>
            </a:r>
            <a:endParaRPr lang="zh-CN" altLang="en-US" sz="800" dirty="0">
              <a:latin typeface="微软雅黑" panose="020B0503020204020204" pitchFamily="34" charset="-122"/>
              <a:ea typeface="微软雅黑" panose="020B0503020204020204" pitchFamily="34" charset="-122"/>
            </a:endParaRPr>
          </a:p>
        </p:txBody>
      </p:sp>
      <p:sp>
        <p:nvSpPr>
          <p:cNvPr id="155" name="文本框 154"/>
          <p:cNvSpPr txBox="1"/>
          <p:nvPr/>
        </p:nvSpPr>
        <p:spPr>
          <a:xfrm>
            <a:off x="5136858" y="4479501"/>
            <a:ext cx="719478" cy="215444"/>
          </a:xfrm>
          <a:prstGeom prst="rect">
            <a:avLst/>
          </a:prstGeom>
          <a:noFill/>
        </p:spPr>
        <p:txBody>
          <a:bodyPr wrap="square" rtlCol="0">
            <a:spAutoFit/>
          </a:bodyPr>
          <a:lstStyle/>
          <a:p>
            <a:r>
              <a:rPr lang="zh-CN" altLang="en-US" sz="800" dirty="0" smtClean="0">
                <a:latin typeface="微软雅黑" panose="020B0503020204020204" pitchFamily="34" charset="-122"/>
                <a:ea typeface="微软雅黑" panose="020B0503020204020204" pitchFamily="34" charset="-122"/>
              </a:rPr>
              <a:t>输出缓冲区</a:t>
            </a:r>
            <a:endParaRPr lang="zh-CN" altLang="en-US" sz="800" dirty="0">
              <a:latin typeface="微软雅黑" panose="020B0503020204020204" pitchFamily="34" charset="-122"/>
              <a:ea typeface="微软雅黑" panose="020B0503020204020204" pitchFamily="34" charset="-122"/>
            </a:endParaRPr>
          </a:p>
        </p:txBody>
      </p:sp>
      <p:cxnSp>
        <p:nvCxnSpPr>
          <p:cNvPr id="156" name="直接箭头连接符 155"/>
          <p:cNvCxnSpPr/>
          <p:nvPr/>
        </p:nvCxnSpPr>
        <p:spPr>
          <a:xfrm>
            <a:off x="2447396" y="4387198"/>
            <a:ext cx="386996" cy="1610"/>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7" name="文本框 156"/>
          <p:cNvSpPr txBox="1"/>
          <p:nvPr/>
        </p:nvSpPr>
        <p:spPr>
          <a:xfrm>
            <a:off x="2293271" y="4155337"/>
            <a:ext cx="631486" cy="215444"/>
          </a:xfrm>
          <a:prstGeom prst="rect">
            <a:avLst/>
          </a:prstGeom>
          <a:noFill/>
        </p:spPr>
        <p:txBody>
          <a:bodyPr wrap="square" rtlCol="0">
            <a:spAutoFit/>
          </a:bodyPr>
          <a:lstStyle/>
          <a:p>
            <a:pPr algn="ctr"/>
            <a:r>
              <a:rPr lang="zh-CN" altLang="en-US" sz="800" dirty="0" smtClean="0">
                <a:latin typeface="微软雅黑" panose="020B0503020204020204" pitchFamily="34" charset="-122"/>
                <a:ea typeface="微软雅黑" panose="020B0503020204020204" pitchFamily="34" charset="-122"/>
              </a:rPr>
              <a:t>数据分组</a:t>
            </a:r>
            <a:endParaRPr lang="zh-CN" altLang="en-US" sz="800" dirty="0">
              <a:latin typeface="微软雅黑" panose="020B0503020204020204" pitchFamily="34" charset="-122"/>
              <a:ea typeface="微软雅黑" panose="020B0503020204020204" pitchFamily="34" charset="-122"/>
            </a:endParaRPr>
          </a:p>
        </p:txBody>
      </p:sp>
      <p:cxnSp>
        <p:nvCxnSpPr>
          <p:cNvPr id="158" name="直接箭头连接符 157"/>
          <p:cNvCxnSpPr/>
          <p:nvPr/>
        </p:nvCxnSpPr>
        <p:spPr>
          <a:xfrm>
            <a:off x="5783823" y="4383696"/>
            <a:ext cx="386996" cy="1610"/>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9" name="文本框 158"/>
          <p:cNvSpPr txBox="1"/>
          <p:nvPr/>
        </p:nvSpPr>
        <p:spPr>
          <a:xfrm>
            <a:off x="5718598" y="4151835"/>
            <a:ext cx="631486" cy="215444"/>
          </a:xfrm>
          <a:prstGeom prst="rect">
            <a:avLst/>
          </a:prstGeom>
          <a:noFill/>
        </p:spPr>
        <p:txBody>
          <a:bodyPr wrap="square" rtlCol="0">
            <a:spAutoFit/>
          </a:bodyPr>
          <a:lstStyle/>
          <a:p>
            <a:pPr algn="ctr"/>
            <a:r>
              <a:rPr lang="zh-CN" altLang="en-US" sz="800" dirty="0" smtClean="0">
                <a:latin typeface="微软雅黑" panose="020B0503020204020204" pitchFamily="34" charset="-122"/>
                <a:ea typeface="微软雅黑" panose="020B0503020204020204" pitchFamily="34" charset="-122"/>
              </a:rPr>
              <a:t>数据分组</a:t>
            </a:r>
            <a:endParaRPr lang="zh-CN" altLang="en-US" sz="800" dirty="0">
              <a:latin typeface="微软雅黑" panose="020B0503020204020204" pitchFamily="34" charset="-122"/>
              <a:ea typeface="微软雅黑" panose="020B0503020204020204" pitchFamily="34" charset="-122"/>
            </a:endParaRPr>
          </a:p>
        </p:txBody>
      </p:sp>
      <p:cxnSp>
        <p:nvCxnSpPr>
          <p:cNvPr id="160" name="直接箭头连接符 159"/>
          <p:cNvCxnSpPr/>
          <p:nvPr/>
        </p:nvCxnSpPr>
        <p:spPr>
          <a:xfrm>
            <a:off x="4344561" y="2872304"/>
            <a:ext cx="0" cy="274987"/>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1" name="文本框 160"/>
          <p:cNvSpPr txBox="1"/>
          <p:nvPr/>
        </p:nvSpPr>
        <p:spPr>
          <a:xfrm>
            <a:off x="4311728" y="2840958"/>
            <a:ext cx="631486" cy="215444"/>
          </a:xfrm>
          <a:prstGeom prst="rect">
            <a:avLst/>
          </a:prstGeom>
          <a:noFill/>
        </p:spPr>
        <p:txBody>
          <a:bodyPr wrap="square" rtlCol="0">
            <a:spAutoFit/>
          </a:bodyPr>
          <a:lstStyle/>
          <a:p>
            <a:pPr algn="ctr"/>
            <a:r>
              <a:rPr lang="zh-CN" altLang="en-US" sz="800" dirty="0" smtClean="0">
                <a:latin typeface="微软雅黑" panose="020B0503020204020204" pitchFamily="34" charset="-122"/>
                <a:ea typeface="微软雅黑" panose="020B0503020204020204" pitchFamily="34" charset="-122"/>
              </a:rPr>
              <a:t>控制分组</a:t>
            </a:r>
            <a:endParaRPr lang="zh-CN" altLang="en-US" sz="800" dirty="0">
              <a:latin typeface="微软雅黑" panose="020B0503020204020204" pitchFamily="34" charset="-122"/>
              <a:ea typeface="微软雅黑" panose="020B0503020204020204" pitchFamily="34" charset="-122"/>
            </a:endParaRPr>
          </a:p>
        </p:txBody>
      </p:sp>
      <p:sp>
        <p:nvSpPr>
          <p:cNvPr id="82" name="Rectangle 970">
            <a:extLst>
              <a:ext uri="{FF2B5EF4-FFF2-40B4-BE49-F238E27FC236}">
                <a16:creationId xmlns:a16="http://schemas.microsoft.com/office/drawing/2014/main" id="{CF79C9C5-C35F-9D4D-A4B3-C17F7845845A}"/>
              </a:ext>
            </a:extLst>
          </p:cNvPr>
          <p:cNvSpPr/>
          <p:nvPr/>
        </p:nvSpPr>
        <p:spPr bwMode="auto">
          <a:xfrm>
            <a:off x="2392566" y="2840860"/>
            <a:ext cx="3989759" cy="738419"/>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
        <p:nvSpPr>
          <p:cNvPr id="83" name="Rectangle 970">
            <a:extLst>
              <a:ext uri="{FF2B5EF4-FFF2-40B4-BE49-F238E27FC236}">
                <a16:creationId xmlns:a16="http://schemas.microsoft.com/office/drawing/2014/main" id="{CF79C9C5-C35F-9D4D-A4B3-C17F7845845A}"/>
              </a:ext>
            </a:extLst>
          </p:cNvPr>
          <p:cNvSpPr/>
          <p:nvPr/>
        </p:nvSpPr>
        <p:spPr bwMode="auto">
          <a:xfrm>
            <a:off x="2392566" y="3991087"/>
            <a:ext cx="1219890" cy="738419"/>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
        <p:nvSpPr>
          <p:cNvPr id="84" name="Rectangle 970">
            <a:extLst>
              <a:ext uri="{FF2B5EF4-FFF2-40B4-BE49-F238E27FC236}">
                <a16:creationId xmlns:a16="http://schemas.microsoft.com/office/drawing/2014/main" id="{CF79C9C5-C35F-9D4D-A4B3-C17F7845845A}"/>
              </a:ext>
            </a:extLst>
          </p:cNvPr>
          <p:cNvSpPr/>
          <p:nvPr/>
        </p:nvSpPr>
        <p:spPr bwMode="auto">
          <a:xfrm>
            <a:off x="5165034" y="3991087"/>
            <a:ext cx="1219890" cy="738419"/>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
        <p:nvSpPr>
          <p:cNvPr id="163" name="Rectangle 970">
            <a:extLst>
              <a:ext uri="{FF2B5EF4-FFF2-40B4-BE49-F238E27FC236}">
                <a16:creationId xmlns:a16="http://schemas.microsoft.com/office/drawing/2014/main" id="{CF79C9C5-C35F-9D4D-A4B3-C17F7845845A}"/>
              </a:ext>
            </a:extLst>
          </p:cNvPr>
          <p:cNvSpPr/>
          <p:nvPr/>
        </p:nvSpPr>
        <p:spPr bwMode="auto">
          <a:xfrm>
            <a:off x="3348404" y="3605970"/>
            <a:ext cx="1796451" cy="373098"/>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
        <p:nvSpPr>
          <p:cNvPr id="165" name="Rectangle 970">
            <a:extLst>
              <a:ext uri="{FF2B5EF4-FFF2-40B4-BE49-F238E27FC236}">
                <a16:creationId xmlns:a16="http://schemas.microsoft.com/office/drawing/2014/main" id="{CF79C9C5-C35F-9D4D-A4B3-C17F7845845A}"/>
              </a:ext>
            </a:extLst>
          </p:cNvPr>
          <p:cNvSpPr/>
          <p:nvPr/>
        </p:nvSpPr>
        <p:spPr bwMode="auto">
          <a:xfrm>
            <a:off x="3627139" y="4055104"/>
            <a:ext cx="1512355" cy="491817"/>
          </a:xfrm>
          <a:prstGeom prst="rect">
            <a:avLst/>
          </a:prstGeom>
          <a:solidFill>
            <a:srgbClr val="FFFFFF">
              <a:alpha val="77000"/>
            </a:srgbClr>
          </a:solidFill>
          <a:ln w="9525" cap="flat" cmpd="sng" algn="ctr">
            <a:noFill/>
            <a:prstDash val="solid"/>
          </a:ln>
          <a:effectLst/>
        </p:spPr>
        <p:txBody>
          <a:bodyPr rtlCol="0"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1" i="0" u="none" strike="noStrike" kern="0" cap="none" spc="0" normalizeH="0" baseline="0" noProof="0" dirty="0">
              <a:ln>
                <a:noFill/>
              </a:ln>
              <a:solidFill>
                <a:srgbClr val="FFFFFF"/>
              </a:solidFill>
              <a:effectLst/>
              <a:uLnTx/>
              <a:uFillTx/>
              <a:latin typeface="Gill Sans MT"/>
              <a:ea typeface="+mn-ea"/>
              <a:cs typeface="+mn-cs"/>
            </a:endParaRPr>
          </a:p>
        </p:txBody>
      </p:sp>
    </p:spTree>
    <p:custDataLst>
      <p:tags r:id="rId1"/>
    </p:custDataLst>
    <p:extLst>
      <p:ext uri="{BB962C8B-B14F-4D97-AF65-F5344CB8AC3E}">
        <p14:creationId xmlns:p14="http://schemas.microsoft.com/office/powerpoint/2010/main" val="15570197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 presetClass="exit" presetSubtype="0" fill="hold" grpId="0" nodeType="withEffect">
                                  <p:stCondLst>
                                    <p:cond delay="0"/>
                                  </p:stCondLst>
                                  <p:childTnLst>
                                    <p:set>
                                      <p:cBhvr>
                                        <p:cTn id="9" dur="1" fill="hold">
                                          <p:stCondLst>
                                            <p:cond delay="0"/>
                                          </p:stCondLst>
                                        </p:cTn>
                                        <p:tgtEl>
                                          <p:spTgt spid="83"/>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11" dur="1" fill="hold">
                                          <p:stCondLst>
                                            <p:cond delay="0"/>
                                          </p:stCondLst>
                                        </p:cTn>
                                        <p:tgtEl>
                                          <p:spTgt spid="84"/>
                                        </p:tgtEl>
                                        <p:attrNameLst>
                                          <p:attrName>style.visibility</p:attrName>
                                        </p:attrNameLst>
                                      </p:cBhvr>
                                      <p:to>
                                        <p:strVal val="hidden"/>
                                      </p:to>
                                    </p:set>
                                  </p:childTnLst>
                                </p:cTn>
                              </p:par>
                              <p:par>
                                <p:cTn id="12" presetID="10" presetClass="entr" presetSubtype="0" fill="hold" grpId="0" nodeType="withEffect">
                                  <p:stCondLst>
                                    <p:cond delay="0"/>
                                  </p:stCondLst>
                                  <p:childTnLst>
                                    <p:set>
                                      <p:cBhvr>
                                        <p:cTn id="13" dur="1" fill="hold">
                                          <p:stCondLst>
                                            <p:cond delay="0"/>
                                          </p:stCondLst>
                                        </p:cTn>
                                        <p:tgtEl>
                                          <p:spTgt spid="165"/>
                                        </p:tgtEl>
                                        <p:attrNameLst>
                                          <p:attrName>style.visibility</p:attrName>
                                        </p:attrNameLst>
                                      </p:cBhvr>
                                      <p:to>
                                        <p:strVal val="visible"/>
                                      </p:to>
                                    </p:set>
                                    <p:animEffect transition="in" filter="fade">
                                      <p:cBhvr>
                                        <p:cTn id="14"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84" grpId="0" animBg="1"/>
      <p:bldP spid="16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示 8"/>
          <p:cNvGraphicFramePr/>
          <p:nvPr>
            <p:extLst/>
          </p:nvPr>
        </p:nvGraphicFramePr>
        <p:xfrm>
          <a:off x="553229" y="1023308"/>
          <a:ext cx="5105643" cy="35939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矩形 1"/>
          <p:cNvSpPr/>
          <p:nvPr/>
        </p:nvSpPr>
        <p:spPr>
          <a:xfrm>
            <a:off x="5793163" y="3169636"/>
            <a:ext cx="2677191" cy="1118255"/>
          </a:xfrm>
          <a:prstGeom prst="rect">
            <a:avLst/>
          </a:prstGeom>
          <a:solidFill>
            <a:schemeClr val="accent6">
              <a:lumMod val="60000"/>
              <a:lumOff val="40000"/>
            </a:schemeClr>
          </a:solidFill>
        </p:spPr>
        <p:txBody>
          <a:bodyPr wrap="square">
            <a:spAutoFit/>
          </a:bodyPr>
          <a:lstStyle/>
          <a:p>
            <a:pPr>
              <a:lnSpc>
                <a:spcPts val="2000"/>
              </a:lnSpc>
            </a:pPr>
            <a:r>
              <a:rPr lang="zh-CN" altLang="en-US" sz="1400" b="1" dirty="0" smtClean="0">
                <a:solidFill>
                  <a:srgbClr val="0000FF"/>
                </a:solidFill>
                <a:latin typeface="微软雅黑" panose="020B0503020204020204" pitchFamily="34" charset="-122"/>
                <a:ea typeface="微软雅黑" panose="020B0503020204020204" pitchFamily="34" charset="-122"/>
              </a:rPr>
              <a:t>注意：</a:t>
            </a:r>
            <a:endParaRPr lang="en-US" altLang="zh-CN" sz="1400" b="1" dirty="0" smtClean="0">
              <a:solidFill>
                <a:srgbClr val="0000FF"/>
              </a:solidFill>
              <a:latin typeface="微软雅黑" panose="020B0503020204020204" pitchFamily="34" charset="-122"/>
              <a:ea typeface="微软雅黑" panose="020B0503020204020204" pitchFamily="34" charset="-122"/>
            </a:endParaRPr>
          </a:p>
          <a:p>
            <a:pPr marL="285750" indent="-285750">
              <a:lnSpc>
                <a:spcPts val="20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SDN </a:t>
            </a:r>
            <a:r>
              <a:rPr lang="zh-CN" altLang="en-US" sz="1400" b="1" dirty="0" smtClean="0">
                <a:latin typeface="微软雅黑" panose="020B0503020204020204" pitchFamily="34" charset="-122"/>
                <a:ea typeface="微软雅黑" panose="020B0503020204020204" pitchFamily="34" charset="-122"/>
              </a:rPr>
              <a:t>不是 </a:t>
            </a:r>
            <a:r>
              <a:rPr lang="en-US" altLang="zh-CN" sz="1400" b="1" dirty="0" err="1" smtClean="0">
                <a:latin typeface="微软雅黑" panose="020B0503020204020204" pitchFamily="34" charset="-122"/>
                <a:ea typeface="微软雅黑" panose="020B0503020204020204" pitchFamily="34" charset="-122"/>
              </a:rPr>
              <a:t>OpenFlow</a:t>
            </a:r>
            <a:r>
              <a:rPr lang="zh-CN" altLang="en-US" sz="1400" b="1" dirty="0" smtClean="0">
                <a:latin typeface="微软雅黑" panose="020B0503020204020204" pitchFamily="34" charset="-122"/>
                <a:ea typeface="微软雅黑" panose="020B0503020204020204" pitchFamily="34" charset="-122"/>
              </a:rPr>
              <a:t>。</a:t>
            </a:r>
            <a:endParaRPr lang="en-US" altLang="zh-CN" sz="1400" b="1" dirty="0" smtClean="0">
              <a:latin typeface="微软雅黑" panose="020B0503020204020204" pitchFamily="34" charset="-122"/>
              <a:ea typeface="微软雅黑" panose="020B0503020204020204" pitchFamily="34" charset="-122"/>
            </a:endParaRPr>
          </a:p>
          <a:p>
            <a:pPr marL="285750" indent="-285750">
              <a:lnSpc>
                <a:spcPts val="2000"/>
              </a:lnSpc>
              <a:buFont typeface="Wingdings" panose="05000000000000000000" pitchFamily="2" charset="2"/>
              <a:buChar char="l"/>
            </a:pPr>
            <a:r>
              <a:rPr lang="en-US" altLang="zh-CN" sz="1400" b="1" dirty="0" smtClean="0">
                <a:latin typeface="微软雅黑" panose="020B0503020204020204" pitchFamily="34" charset="-122"/>
                <a:ea typeface="微软雅黑" panose="020B0503020204020204" pitchFamily="34" charset="-122"/>
              </a:rPr>
              <a:t>SDN </a:t>
            </a:r>
            <a:r>
              <a:rPr lang="zh-CN" altLang="en-US" sz="1400" b="1" dirty="0" smtClean="0">
                <a:latin typeface="微软雅黑" panose="020B0503020204020204" pitchFamily="34" charset="-122"/>
                <a:ea typeface="微软雅黑" panose="020B0503020204020204" pitchFamily="34" charset="-122"/>
              </a:rPr>
              <a:t>未</a:t>
            </a:r>
            <a:r>
              <a:rPr lang="zh-CN" altLang="en-US" sz="1400" b="1" dirty="0">
                <a:latin typeface="微软雅黑" panose="020B0503020204020204" pitchFamily="34" charset="-122"/>
                <a:ea typeface="微软雅黑" panose="020B0503020204020204" pitchFamily="34" charset="-122"/>
              </a:rPr>
              <a:t>规定必须</a:t>
            </a:r>
            <a:r>
              <a:rPr lang="zh-CN" altLang="en-US" sz="1400" b="1" dirty="0" smtClean="0">
                <a:latin typeface="微软雅黑" panose="020B0503020204020204" pitchFamily="34" charset="-122"/>
                <a:ea typeface="微软雅黑" panose="020B0503020204020204" pitchFamily="34" charset="-122"/>
              </a:rPr>
              <a:t>使用 </a:t>
            </a:r>
            <a:r>
              <a:rPr lang="en-US" altLang="zh-CN" sz="1400" b="1" dirty="0" err="1" smtClean="0">
                <a:latin typeface="微软雅黑" panose="020B0503020204020204" pitchFamily="34" charset="-122"/>
                <a:ea typeface="微软雅黑" panose="020B0503020204020204" pitchFamily="34" charset="-122"/>
              </a:rPr>
              <a:t>OpenFlow</a:t>
            </a:r>
            <a:r>
              <a:rPr lang="zh-CN" altLang="en-US" sz="1400" b="1" dirty="0" smtClean="0">
                <a:latin typeface="微软雅黑" panose="020B0503020204020204" pitchFamily="34" charset="-122"/>
                <a:ea typeface="微软雅黑" panose="020B0503020204020204" pitchFamily="34" charset="-122"/>
              </a:rPr>
              <a:t>。</a:t>
            </a:r>
            <a:endParaRPr lang="zh-CN" altLang="en-US" sz="1400" b="1" dirty="0">
              <a:latin typeface="微软雅黑" panose="020B0503020204020204" pitchFamily="34" charset="-122"/>
              <a:ea typeface="微软雅黑" panose="020B0503020204020204" pitchFamily="34" charset="-122"/>
            </a:endParaRPr>
          </a:p>
        </p:txBody>
      </p:sp>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16" name="Rectangle 6"/>
          <p:cNvSpPr>
            <a:spLocks noChangeArrowheads="1"/>
          </p:cNvSpPr>
          <p:nvPr/>
        </p:nvSpPr>
        <p:spPr bwMode="auto">
          <a:xfrm>
            <a:off x="3107501" y="576646"/>
            <a:ext cx="29290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smtClean="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与 </a:t>
            </a:r>
            <a:r>
              <a:rPr lang="en-US" altLang="zh-CN" sz="2400" b="1" dirty="0" smtClean="0">
                <a:solidFill>
                  <a:schemeClr val="bg1"/>
                </a:solidFill>
                <a:latin typeface="微软雅黑" pitchFamily="34" charset="-122"/>
                <a:ea typeface="微软雅黑" pitchFamily="34" charset="-122"/>
              </a:rPr>
              <a:t>OpenFlow</a:t>
            </a:r>
            <a:endParaRPr lang="zh-CN" altLang="en-US" sz="2400" b="1" dirty="0">
              <a:solidFill>
                <a:schemeClr val="bg1"/>
              </a:solidFill>
              <a:latin typeface="微软雅黑" pitchFamily="34" charset="-122"/>
              <a:ea typeface="微软雅黑" pitchFamily="34" charset="-122"/>
            </a:endParaRPr>
          </a:p>
        </p:txBody>
      </p:sp>
      <p:grpSp>
        <p:nvGrpSpPr>
          <p:cNvPr id="17" name="组合 16"/>
          <p:cNvGrpSpPr/>
          <p:nvPr/>
        </p:nvGrpSpPr>
        <p:grpSpPr>
          <a:xfrm>
            <a:off x="5766004" y="1330858"/>
            <a:ext cx="3264211" cy="1614020"/>
            <a:chOff x="5766004" y="1330858"/>
            <a:chExt cx="3264211" cy="1614020"/>
          </a:xfrm>
        </p:grpSpPr>
        <p:grpSp>
          <p:nvGrpSpPr>
            <p:cNvPr id="7" name="组合 6"/>
            <p:cNvGrpSpPr/>
            <p:nvPr/>
          </p:nvGrpSpPr>
          <p:grpSpPr>
            <a:xfrm>
              <a:off x="5766004" y="1330858"/>
              <a:ext cx="2444929" cy="1614020"/>
              <a:chOff x="5423026" y="1627121"/>
              <a:chExt cx="3456384" cy="1728192"/>
            </a:xfrm>
          </p:grpSpPr>
          <p:sp>
            <p:nvSpPr>
              <p:cNvPr id="8" name="圆角矩形 7"/>
              <p:cNvSpPr/>
              <p:nvPr/>
            </p:nvSpPr>
            <p:spPr>
              <a:xfrm>
                <a:off x="5423026" y="2995273"/>
                <a:ext cx="3456384" cy="360040"/>
              </a:xfrm>
              <a:prstGeom prst="roundRect">
                <a:avLst/>
              </a:prstGeom>
              <a:solidFill>
                <a:srgbClr val="33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latin typeface="微软雅黑" panose="020B0503020204020204" pitchFamily="34" charset="-122"/>
                    <a:ea typeface="微软雅黑" panose="020B0503020204020204" pitchFamily="34" charset="-122"/>
                  </a:rPr>
                  <a:t>数据平面</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10" name="圆角矩形 9"/>
              <p:cNvSpPr/>
              <p:nvPr/>
            </p:nvSpPr>
            <p:spPr>
              <a:xfrm>
                <a:off x="5423026" y="2131177"/>
                <a:ext cx="3456384" cy="360040"/>
              </a:xfrm>
              <a:prstGeom prst="roundRect">
                <a:avLst/>
              </a:prstGeom>
              <a:solidFill>
                <a:srgbClr val="66FF3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smtClean="0">
                    <a:solidFill>
                      <a:schemeClr val="tx1"/>
                    </a:solidFill>
                    <a:latin typeface="微软雅黑" panose="020B0503020204020204" pitchFamily="34" charset="-122"/>
                    <a:ea typeface="微软雅黑" panose="020B0503020204020204" pitchFamily="34" charset="-122"/>
                  </a:rPr>
                  <a:t>控制平面（网络操作系统）</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cxnSp>
            <p:nvCxnSpPr>
              <p:cNvPr id="11" name="直接箭头连接符 10"/>
              <p:cNvCxnSpPr>
                <a:stCxn id="10" idx="2"/>
                <a:endCxn id="8" idx="0"/>
              </p:cNvCxnSpPr>
              <p:nvPr/>
            </p:nvCxnSpPr>
            <p:spPr>
              <a:xfrm>
                <a:off x="7151218" y="2491217"/>
                <a:ext cx="0" cy="504056"/>
              </a:xfrm>
              <a:prstGeom prst="straightConnector1">
                <a:avLst/>
              </a:prstGeom>
              <a:ln w="28575">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TextBox 8"/>
              <p:cNvSpPr txBox="1"/>
              <p:nvPr/>
            </p:nvSpPr>
            <p:spPr>
              <a:xfrm>
                <a:off x="7100027" y="2572919"/>
                <a:ext cx="1552771" cy="329548"/>
              </a:xfrm>
              <a:prstGeom prst="rect">
                <a:avLst/>
              </a:prstGeom>
              <a:noFill/>
            </p:spPr>
            <p:txBody>
              <a:bodyPr wrap="none" rtlCol="0">
                <a:spAutoFit/>
              </a:bodyPr>
              <a:lstStyle/>
              <a:p>
                <a:r>
                  <a:rPr lang="en-US" altLang="zh-CN" sz="1400" b="1" dirty="0" smtClean="0">
                    <a:solidFill>
                      <a:srgbClr val="C00000"/>
                    </a:solidFill>
                    <a:latin typeface="微软雅黑" panose="020B0503020204020204" pitchFamily="34" charset="-122"/>
                    <a:ea typeface="微软雅黑" panose="020B0503020204020204" pitchFamily="34" charset="-122"/>
                    <a:cs typeface="Times New Roman" pitchFamily="18" charset="0"/>
                  </a:rPr>
                  <a:t>OpenFlow</a:t>
                </a:r>
                <a:endParaRPr lang="zh-CN" altLang="en-US" sz="1400" b="1" dirty="0">
                  <a:solidFill>
                    <a:srgbClr val="C00000"/>
                  </a:solidFill>
                  <a:latin typeface="微软雅黑" panose="020B0503020204020204" pitchFamily="34" charset="-122"/>
                  <a:ea typeface="微软雅黑" panose="020B0503020204020204" pitchFamily="34" charset="-122"/>
                  <a:cs typeface="Times New Roman" pitchFamily="18" charset="0"/>
                </a:endParaRPr>
              </a:p>
            </p:txBody>
          </p:sp>
          <p:sp>
            <p:nvSpPr>
              <p:cNvPr id="13" name="圆角矩形 12"/>
              <p:cNvSpPr/>
              <p:nvPr/>
            </p:nvSpPr>
            <p:spPr>
              <a:xfrm>
                <a:off x="6143106" y="1627121"/>
                <a:ext cx="864096" cy="360040"/>
              </a:xfrm>
              <a:prstGeom prst="roundRect">
                <a:avLst/>
              </a:prstGeom>
              <a:solidFill>
                <a:srgbClr val="FFC000"/>
              </a:solidFill>
              <a:ln w="1905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latin typeface="微软雅黑" panose="020B0503020204020204" pitchFamily="34" charset="-122"/>
                    <a:ea typeface="微软雅黑" panose="020B0503020204020204" pitchFamily="34" charset="-122"/>
                    <a:cs typeface="Times New Roman" pitchFamily="18" charset="0"/>
                  </a:rPr>
                  <a:t>AP</a:t>
                </a:r>
                <a:r>
                  <a:rPr lang="en-US" altLang="zh-CN" sz="1400" b="1" baseline="-25000" dirty="0" smtClean="0">
                    <a:solidFill>
                      <a:schemeClr val="tx1"/>
                    </a:solidFill>
                    <a:latin typeface="微软雅黑" panose="020B0503020204020204" pitchFamily="34" charset="-122"/>
                    <a:ea typeface="微软雅黑" panose="020B0503020204020204" pitchFamily="34" charset="-122"/>
                    <a:cs typeface="Times New Roman" pitchFamily="18" charset="0"/>
                  </a:rPr>
                  <a:t>1</a:t>
                </a:r>
                <a:endParaRPr lang="zh-CN" altLang="en-US" sz="1400" b="1" baseline="-25000"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sp>
            <p:nvSpPr>
              <p:cNvPr id="14" name="圆角矩形 13"/>
              <p:cNvSpPr/>
              <p:nvPr/>
            </p:nvSpPr>
            <p:spPr>
              <a:xfrm>
                <a:off x="7295234" y="1627121"/>
                <a:ext cx="864096" cy="360040"/>
              </a:xfrm>
              <a:prstGeom prst="roundRect">
                <a:avLst/>
              </a:prstGeom>
              <a:solidFill>
                <a:srgbClr val="FFC000"/>
              </a:solidFill>
              <a:ln w="19050">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tx1"/>
                    </a:solidFill>
                    <a:latin typeface="微软雅黑" panose="020B0503020204020204" pitchFamily="34" charset="-122"/>
                    <a:ea typeface="微软雅黑" panose="020B0503020204020204" pitchFamily="34" charset="-122"/>
                    <a:cs typeface="Times New Roman" pitchFamily="18" charset="0"/>
                  </a:rPr>
                  <a:t>AP</a:t>
                </a:r>
                <a:r>
                  <a:rPr lang="en-US" altLang="zh-CN" sz="1400" b="1" baseline="-25000" dirty="0" smtClean="0">
                    <a:solidFill>
                      <a:schemeClr val="tx1"/>
                    </a:solidFill>
                    <a:latin typeface="微软雅黑" panose="020B0503020204020204" pitchFamily="34" charset="-122"/>
                    <a:ea typeface="微软雅黑" panose="020B0503020204020204" pitchFamily="34" charset="-122"/>
                    <a:cs typeface="Times New Roman" pitchFamily="18" charset="0"/>
                  </a:rPr>
                  <a:t>2</a:t>
                </a:r>
                <a:endParaRPr lang="zh-CN" altLang="en-US" sz="1400" b="1" baseline="-25000" dirty="0">
                  <a:solidFill>
                    <a:schemeClr val="tx1"/>
                  </a:solidFill>
                  <a:latin typeface="微软雅黑" panose="020B0503020204020204" pitchFamily="34" charset="-122"/>
                  <a:ea typeface="微软雅黑" panose="020B0503020204020204" pitchFamily="34" charset="-122"/>
                  <a:cs typeface="Times New Roman" pitchFamily="18" charset="0"/>
                </a:endParaRPr>
              </a:p>
            </p:txBody>
          </p:sp>
        </p:grpSp>
        <p:sp>
          <p:nvSpPr>
            <p:cNvPr id="3" name="右大括号 2"/>
            <p:cNvSpPr/>
            <p:nvPr/>
          </p:nvSpPr>
          <p:spPr>
            <a:xfrm>
              <a:off x="8361044" y="1330858"/>
              <a:ext cx="137776" cy="1614020"/>
            </a:xfrm>
            <a:prstGeom prst="rightBrace">
              <a:avLst>
                <a:gd name="adj1" fmla="val 47251"/>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8443195" y="1989414"/>
              <a:ext cx="587020" cy="307777"/>
            </a:xfrm>
            <a:prstGeom prst="rect">
              <a:avLst/>
            </a:prstGeom>
          </p:spPr>
          <p:txBody>
            <a:bodyPr wrap="none">
              <a:spAutoFit/>
            </a:bodyPr>
            <a:lstStyle/>
            <a:p>
              <a:pPr lvl="0"/>
              <a:r>
                <a:rPr lang="en-US" altLang="en-US" sz="1400" b="1" dirty="0">
                  <a:latin typeface="微软雅黑" panose="020B0503020204020204" pitchFamily="34" charset="-122"/>
                  <a:ea typeface="微软雅黑" panose="020B0503020204020204" pitchFamily="34" charset="-122"/>
                </a:rPr>
                <a:t>SDN</a:t>
              </a:r>
              <a:endParaRPr lang="zh-CN" altLang="en-US" sz="1400" dirty="0"/>
            </a:p>
          </p:txBody>
        </p:sp>
      </p:grpSp>
    </p:spTree>
    <p:custDataLst>
      <p:tags r:id="rId1"/>
    </p:custDataLst>
    <p:extLst>
      <p:ext uri="{BB962C8B-B14F-4D97-AF65-F5344CB8AC3E}">
        <p14:creationId xmlns:p14="http://schemas.microsoft.com/office/powerpoint/2010/main" val="4494905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6" name="Rectangle 6"/>
          <p:cNvSpPr>
            <a:spLocks noChangeArrowheads="1"/>
          </p:cNvSpPr>
          <p:nvPr/>
        </p:nvSpPr>
        <p:spPr bwMode="auto">
          <a:xfrm>
            <a:off x="1941968" y="580933"/>
            <a:ext cx="5260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smtClean="0">
                <a:solidFill>
                  <a:schemeClr val="bg1"/>
                </a:solidFill>
                <a:latin typeface="微软雅黑" pitchFamily="34" charset="-122"/>
                <a:ea typeface="微软雅黑" pitchFamily="34" charset="-122"/>
              </a:rPr>
              <a:t>OpenFlow</a:t>
            </a:r>
            <a:r>
              <a:rPr lang="zh-CN" altLang="en-US" sz="2000" b="1" dirty="0">
                <a:solidFill>
                  <a:schemeClr val="bg1"/>
                </a:solidFill>
                <a:latin typeface="微软雅黑" pitchFamily="34" charset="-122"/>
                <a:ea typeface="微软雅黑" pitchFamily="34" charset="-122"/>
              </a:rPr>
              <a:t>协议</a:t>
            </a:r>
          </a:p>
        </p:txBody>
      </p:sp>
      <p:grpSp>
        <p:nvGrpSpPr>
          <p:cNvPr id="3" name="组合 2"/>
          <p:cNvGrpSpPr/>
          <p:nvPr/>
        </p:nvGrpSpPr>
        <p:grpSpPr>
          <a:xfrm>
            <a:off x="597536" y="1176950"/>
            <a:ext cx="7849347" cy="2181885"/>
            <a:chOff x="414667" y="1233660"/>
            <a:chExt cx="8294767" cy="2270031"/>
          </a:xfrm>
        </p:grpSpPr>
        <p:sp>
          <p:nvSpPr>
            <p:cNvPr id="4" name="燕尾形箭头 3"/>
            <p:cNvSpPr/>
            <p:nvPr/>
          </p:nvSpPr>
          <p:spPr>
            <a:xfrm>
              <a:off x="616716" y="1879360"/>
              <a:ext cx="8092718" cy="860934"/>
            </a:xfrm>
            <a:prstGeom prst="notchedRightArrow">
              <a:avLst/>
            </a:prstGeom>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15" name="任意多边形 14"/>
            <p:cNvSpPr/>
            <p:nvPr/>
          </p:nvSpPr>
          <p:spPr>
            <a:xfrm>
              <a:off x="414667" y="1233660"/>
              <a:ext cx="1565781" cy="860934"/>
            </a:xfrm>
            <a:custGeom>
              <a:avLst/>
              <a:gdLst>
                <a:gd name="connsiteX0" fmla="*/ 0 w 1144364"/>
                <a:gd name="connsiteY0" fmla="*/ 0 h 860934"/>
                <a:gd name="connsiteX1" fmla="*/ 1144364 w 1144364"/>
                <a:gd name="connsiteY1" fmla="*/ 0 h 860934"/>
                <a:gd name="connsiteX2" fmla="*/ 1144364 w 1144364"/>
                <a:gd name="connsiteY2" fmla="*/ 860934 h 860934"/>
                <a:gd name="connsiteX3" fmla="*/ 0 w 1144364"/>
                <a:gd name="connsiteY3" fmla="*/ 860934 h 860934"/>
                <a:gd name="connsiteX4" fmla="*/ 0 w 1144364"/>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364" h="860934">
                  <a:moveTo>
                    <a:pt x="0" y="0"/>
                  </a:moveTo>
                  <a:lnTo>
                    <a:pt x="1144364" y="0"/>
                  </a:lnTo>
                  <a:lnTo>
                    <a:pt x="1144364"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8232" tIns="78232" rIns="78232" bIns="78232" numCol="1" spcCol="1270" anchor="b" anchorCtr="0">
              <a:noAutofit/>
            </a:bodyPr>
            <a:lstStyle/>
            <a:p>
              <a:pPr lvl="0" algn="ctr" defTabSz="488950">
                <a:lnSpc>
                  <a:spcPts val="2000"/>
                </a:lnSpc>
                <a:spcBef>
                  <a:spcPct val="0"/>
                </a:spcBef>
                <a:spcAft>
                  <a:spcPts val="0"/>
                </a:spcAft>
              </a:pPr>
              <a:r>
                <a:rPr lang="en-US" altLang="en-US" sz="1400" b="1" kern="1200" dirty="0" err="1" smtClean="0">
                  <a:latin typeface="微软雅黑" panose="020B0503020204020204" pitchFamily="34" charset="-122"/>
                  <a:ea typeface="微软雅黑" panose="020B0503020204020204" pitchFamily="34" charset="-122"/>
                </a:rPr>
                <a:t>OpenFlow</a:t>
              </a:r>
              <a:r>
                <a:rPr lang="en-US" altLang="en-US" sz="1400" b="1" kern="1200" dirty="0" smtClean="0">
                  <a:latin typeface="微软雅黑" panose="020B0503020204020204" pitchFamily="34" charset="-122"/>
                  <a:ea typeface="微软雅黑" panose="020B0503020204020204" pitchFamily="34" charset="-122"/>
                </a:rPr>
                <a:t> 1.0 </a:t>
              </a:r>
            </a:p>
            <a:p>
              <a:pPr lvl="0" algn="ctr" defTabSz="488950">
                <a:lnSpc>
                  <a:spcPts val="2000"/>
                </a:lnSpc>
                <a:spcBef>
                  <a:spcPct val="0"/>
                </a:spcBef>
                <a:spcAft>
                  <a:spcPts val="0"/>
                </a:spcAft>
              </a:pPr>
              <a:r>
                <a:rPr lang="en-US" altLang="en-US" sz="1400" b="1" kern="1200" dirty="0" smtClean="0">
                  <a:latin typeface="微软雅黑" panose="020B0503020204020204" pitchFamily="34" charset="-122"/>
                  <a:ea typeface="微软雅黑" panose="020B0503020204020204" pitchFamily="34" charset="-122"/>
                </a:rPr>
                <a:t>2009</a:t>
              </a:r>
              <a:endParaRPr lang="zh-CN" altLang="en-US" sz="1400" b="1" kern="1200" dirty="0">
                <a:latin typeface="微软雅黑" panose="020B0503020204020204" pitchFamily="34" charset="-122"/>
                <a:ea typeface="微软雅黑" panose="020B0503020204020204" pitchFamily="34" charset="-122"/>
              </a:endParaRPr>
            </a:p>
          </p:txBody>
        </p:sp>
        <p:sp>
          <p:nvSpPr>
            <p:cNvPr id="16" name="椭圆 15"/>
            <p:cNvSpPr/>
            <p:nvPr/>
          </p:nvSpPr>
          <p:spPr>
            <a:xfrm>
              <a:off x="1086351" y="2202210"/>
              <a:ext cx="215233" cy="215233"/>
            </a:xfrm>
            <a:prstGeom prst="ellipse">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7" name="任意多边形 16"/>
            <p:cNvSpPr/>
            <p:nvPr/>
          </p:nvSpPr>
          <p:spPr>
            <a:xfrm>
              <a:off x="1558551" y="2525062"/>
              <a:ext cx="2164906" cy="978629"/>
            </a:xfrm>
            <a:custGeom>
              <a:avLst/>
              <a:gdLst>
                <a:gd name="connsiteX0" fmla="*/ 0 w 1506485"/>
                <a:gd name="connsiteY0" fmla="*/ 0 h 860934"/>
                <a:gd name="connsiteX1" fmla="*/ 1506485 w 1506485"/>
                <a:gd name="connsiteY1" fmla="*/ 0 h 860934"/>
                <a:gd name="connsiteX2" fmla="*/ 1506485 w 1506485"/>
                <a:gd name="connsiteY2" fmla="*/ 860934 h 860934"/>
                <a:gd name="connsiteX3" fmla="*/ 0 w 1506485"/>
                <a:gd name="connsiteY3" fmla="*/ 860934 h 860934"/>
                <a:gd name="connsiteX4" fmla="*/ 0 w 1506485"/>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6485" h="860934">
                  <a:moveTo>
                    <a:pt x="0" y="0"/>
                  </a:moveTo>
                  <a:lnTo>
                    <a:pt x="1506485" y="0"/>
                  </a:lnTo>
                  <a:lnTo>
                    <a:pt x="1506485"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8232" tIns="78232" rIns="78232" bIns="78232" numCol="1" spcCol="1270" anchor="t" anchorCtr="0">
              <a:noAutofit/>
            </a:bodyPr>
            <a:lstStyle/>
            <a:p>
              <a:pPr lvl="0" algn="ctr" defTabSz="488950">
                <a:lnSpc>
                  <a:spcPts val="2000"/>
                </a:lnSpc>
                <a:spcBef>
                  <a:spcPct val="0"/>
                </a:spcBef>
                <a:spcAft>
                  <a:spcPts val="0"/>
                </a:spcAft>
              </a:pPr>
              <a:r>
                <a:rPr lang="en-US" altLang="en-US" sz="1400" b="1" kern="1200" dirty="0" err="1" smtClean="0">
                  <a:latin typeface="微软雅黑" panose="020B0503020204020204" pitchFamily="34" charset="-122"/>
                  <a:ea typeface="微软雅黑" panose="020B0503020204020204" pitchFamily="34" charset="-122"/>
                </a:rPr>
                <a:t>OpenFlow</a:t>
              </a:r>
              <a:r>
                <a:rPr lang="en-US" altLang="en-US" sz="1400" b="1" kern="1200" dirty="0" smtClean="0">
                  <a:latin typeface="微软雅黑" panose="020B0503020204020204" pitchFamily="34" charset="-122"/>
                  <a:ea typeface="微软雅黑" panose="020B0503020204020204" pitchFamily="34" charset="-122"/>
                </a:rPr>
                <a:t> 1.</a:t>
              </a:r>
              <a:r>
                <a:rPr lang="en-US" altLang="zh-CN" sz="1400" b="1" kern="1200" dirty="0" smtClean="0">
                  <a:latin typeface="微软雅黑" panose="020B0503020204020204" pitchFamily="34" charset="-122"/>
                  <a:ea typeface="微软雅黑" panose="020B0503020204020204" pitchFamily="34" charset="-122"/>
                </a:rPr>
                <a:t>2 </a:t>
              </a:r>
            </a:p>
            <a:p>
              <a:pPr lvl="0" algn="ctr" defTabSz="488950">
                <a:lnSpc>
                  <a:spcPts val="2000"/>
                </a:lnSpc>
                <a:spcBef>
                  <a:spcPct val="0"/>
                </a:spcBef>
                <a:spcAft>
                  <a:spcPts val="0"/>
                </a:spcAft>
              </a:pPr>
              <a:r>
                <a:rPr lang="en-US" altLang="zh-CN" sz="1400" b="1" kern="1200" dirty="0" smtClean="0">
                  <a:latin typeface="微软雅黑" panose="020B0503020204020204" pitchFamily="34" charset="-122"/>
                  <a:ea typeface="微软雅黑" panose="020B0503020204020204" pitchFamily="34" charset="-122"/>
                </a:rPr>
                <a:t>2011-12 </a:t>
              </a:r>
            </a:p>
            <a:p>
              <a:pPr lvl="0" algn="ctr" defTabSz="488950">
                <a:lnSpc>
                  <a:spcPts val="2000"/>
                </a:lnSpc>
                <a:spcBef>
                  <a:spcPct val="0"/>
                </a:spcBef>
                <a:spcAft>
                  <a:spcPts val="0"/>
                </a:spcAft>
              </a:pPr>
              <a:r>
                <a:rPr lang="zh-CN" altLang="en-US" sz="1400" b="1" kern="1200" dirty="0" smtClean="0">
                  <a:latin typeface="微软雅黑" panose="020B0503020204020204" pitchFamily="34" charset="-122"/>
                  <a:ea typeface="微软雅黑" panose="020B0503020204020204" pitchFamily="34" charset="-122"/>
                </a:rPr>
                <a:t>开放网络基金会 </a:t>
              </a:r>
              <a:r>
                <a:rPr lang="en-US" altLang="en-US" sz="1400" b="1" kern="1200" dirty="0" smtClean="0">
                  <a:latin typeface="微软雅黑" panose="020B0503020204020204" pitchFamily="34" charset="-122"/>
                  <a:ea typeface="微软雅黑" panose="020B0503020204020204" pitchFamily="34" charset="-122"/>
                </a:rPr>
                <a:t>ONF</a:t>
              </a:r>
              <a:r>
                <a:rPr lang="zh-CN" altLang="en-US" sz="1400" b="1" kern="1200" dirty="0" smtClean="0">
                  <a:latin typeface="微软雅黑" panose="020B0503020204020204" pitchFamily="34" charset="-122"/>
                  <a:ea typeface="微软雅黑" panose="020B0503020204020204" pitchFamily="34" charset="-122"/>
                </a:rPr>
                <a:t>（</a:t>
              </a:r>
              <a:r>
                <a:rPr lang="en-US" altLang="en-US" sz="1400" b="1" kern="1200" dirty="0" smtClean="0">
                  <a:latin typeface="微软雅黑" panose="020B0503020204020204" pitchFamily="34" charset="-122"/>
                  <a:ea typeface="微软雅黑" panose="020B0503020204020204" pitchFamily="34" charset="-122"/>
                </a:rPr>
                <a:t>Open Networking Foundation</a:t>
              </a:r>
              <a:r>
                <a:rPr lang="zh-CN" altLang="en-US" sz="1400" b="1" kern="1200" dirty="0" smtClean="0">
                  <a:latin typeface="微软雅黑" panose="020B0503020204020204" pitchFamily="34" charset="-122"/>
                  <a:ea typeface="微软雅黑" panose="020B0503020204020204" pitchFamily="34" charset="-122"/>
                </a:rPr>
                <a:t>）发布</a:t>
              </a:r>
              <a:endParaRPr lang="zh-CN" altLang="en-US" sz="1400" b="1" kern="1200" dirty="0">
                <a:latin typeface="微软雅黑" panose="020B0503020204020204" pitchFamily="34" charset="-122"/>
                <a:ea typeface="微软雅黑" panose="020B0503020204020204" pitchFamily="34" charset="-122"/>
              </a:endParaRPr>
            </a:p>
          </p:txBody>
        </p:sp>
        <p:sp>
          <p:nvSpPr>
            <p:cNvPr id="18" name="椭圆 17"/>
            <p:cNvSpPr/>
            <p:nvPr/>
          </p:nvSpPr>
          <p:spPr>
            <a:xfrm>
              <a:off x="2460142" y="2202210"/>
              <a:ext cx="215233" cy="215233"/>
            </a:xfrm>
            <a:prstGeom prst="ellipse">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9" name="任意多边形 18"/>
            <p:cNvSpPr/>
            <p:nvPr/>
          </p:nvSpPr>
          <p:spPr>
            <a:xfrm>
              <a:off x="3245000" y="1233660"/>
              <a:ext cx="1696146" cy="860934"/>
            </a:xfrm>
            <a:custGeom>
              <a:avLst/>
              <a:gdLst>
                <a:gd name="connsiteX0" fmla="*/ 0 w 1420885"/>
                <a:gd name="connsiteY0" fmla="*/ 0 h 860934"/>
                <a:gd name="connsiteX1" fmla="*/ 1420885 w 1420885"/>
                <a:gd name="connsiteY1" fmla="*/ 0 h 860934"/>
                <a:gd name="connsiteX2" fmla="*/ 1420885 w 1420885"/>
                <a:gd name="connsiteY2" fmla="*/ 860934 h 860934"/>
                <a:gd name="connsiteX3" fmla="*/ 0 w 1420885"/>
                <a:gd name="connsiteY3" fmla="*/ 860934 h 860934"/>
                <a:gd name="connsiteX4" fmla="*/ 0 w 1420885"/>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0885" h="860934">
                  <a:moveTo>
                    <a:pt x="0" y="0"/>
                  </a:moveTo>
                  <a:lnTo>
                    <a:pt x="1420885" y="0"/>
                  </a:lnTo>
                  <a:lnTo>
                    <a:pt x="1420885"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8232" tIns="78232" rIns="78232" bIns="78232" numCol="1" spcCol="1270" anchor="b" anchorCtr="0">
              <a:noAutofit/>
            </a:bodyPr>
            <a:lstStyle/>
            <a:p>
              <a:pPr lvl="0" algn="ctr" defTabSz="488950">
                <a:lnSpc>
                  <a:spcPts val="2000"/>
                </a:lnSpc>
                <a:spcBef>
                  <a:spcPct val="0"/>
                </a:spcBef>
                <a:spcAft>
                  <a:spcPts val="0"/>
                </a:spcAft>
              </a:pPr>
              <a:r>
                <a:rPr lang="en-US" altLang="en-US" sz="1400" b="1" kern="1200" dirty="0" err="1" smtClean="0">
                  <a:latin typeface="微软雅黑" panose="020B0503020204020204" pitchFamily="34" charset="-122"/>
                  <a:ea typeface="微软雅黑" panose="020B0503020204020204" pitchFamily="34" charset="-122"/>
                </a:rPr>
                <a:t>OpenFlow</a:t>
              </a:r>
              <a:r>
                <a:rPr lang="en-US" altLang="en-US" sz="1400" b="1" kern="1200" dirty="0" smtClean="0">
                  <a:latin typeface="微软雅黑" panose="020B0503020204020204" pitchFamily="34" charset="-122"/>
                  <a:ea typeface="微软雅黑" panose="020B0503020204020204" pitchFamily="34" charset="-122"/>
                </a:rPr>
                <a:t> 1.</a:t>
              </a:r>
              <a:r>
                <a:rPr lang="en-US" altLang="zh-CN" sz="1400" b="1" kern="1200" dirty="0" smtClean="0">
                  <a:latin typeface="微软雅黑" panose="020B0503020204020204" pitchFamily="34" charset="-122"/>
                  <a:ea typeface="微软雅黑" panose="020B0503020204020204" pitchFamily="34" charset="-122"/>
                </a:rPr>
                <a:t>3</a:t>
              </a:r>
              <a:r>
                <a:rPr lang="en-US" altLang="en-US" sz="1400" b="1" kern="1200" dirty="0" smtClean="0">
                  <a:latin typeface="微软雅黑" panose="020B0503020204020204" pitchFamily="34" charset="-122"/>
                  <a:ea typeface="微软雅黑" panose="020B0503020204020204" pitchFamily="34" charset="-122"/>
                </a:rPr>
                <a:t>.</a:t>
              </a:r>
              <a:r>
                <a:rPr lang="en-US" altLang="zh-CN" sz="1400" b="1" kern="1200" dirty="0" smtClean="0">
                  <a:latin typeface="微软雅黑" panose="020B0503020204020204" pitchFamily="34" charset="-122"/>
                  <a:ea typeface="微软雅黑" panose="020B0503020204020204" pitchFamily="34" charset="-122"/>
                </a:rPr>
                <a:t>x</a:t>
              </a:r>
              <a:r>
                <a:rPr lang="en-US" altLang="en-US" sz="1400" b="1" kern="1200" dirty="0" smtClean="0">
                  <a:latin typeface="微软雅黑" panose="020B0503020204020204" pitchFamily="34" charset="-122"/>
                  <a:ea typeface="微软雅黑" panose="020B0503020204020204" pitchFamily="34" charset="-122"/>
                </a:rPr>
                <a:t> </a:t>
              </a:r>
            </a:p>
            <a:p>
              <a:pPr lvl="0" algn="ctr" defTabSz="488950">
                <a:lnSpc>
                  <a:spcPts val="2000"/>
                </a:lnSpc>
                <a:spcBef>
                  <a:spcPct val="0"/>
                </a:spcBef>
                <a:spcAft>
                  <a:spcPts val="0"/>
                </a:spcAft>
              </a:pPr>
              <a:r>
                <a:rPr lang="en-US" altLang="en-US" sz="1400" b="1" kern="1200" dirty="0" smtClean="0">
                  <a:latin typeface="微软雅黑" panose="020B0503020204020204" pitchFamily="34" charset="-122"/>
                  <a:ea typeface="微软雅黑" panose="020B0503020204020204" pitchFamily="34" charset="-122"/>
                </a:rPr>
                <a:t>201</a:t>
              </a:r>
              <a:r>
                <a:rPr lang="en-US" altLang="zh-CN" sz="1400" b="1" kern="1200" dirty="0" smtClean="0">
                  <a:latin typeface="微软雅黑" panose="020B0503020204020204" pitchFamily="34" charset="-122"/>
                  <a:ea typeface="微软雅黑" panose="020B0503020204020204" pitchFamily="34" charset="-122"/>
                </a:rPr>
                <a:t>2</a:t>
              </a:r>
              <a:r>
                <a:rPr lang="en-US" altLang="en-US" sz="1400" b="1" kern="1200" dirty="0" smtClean="0">
                  <a:latin typeface="微软雅黑" panose="020B0503020204020204" pitchFamily="34" charset="-122"/>
                  <a:ea typeface="微软雅黑" panose="020B0503020204020204" pitchFamily="34" charset="-122"/>
                </a:rPr>
                <a:t>-0</a:t>
              </a:r>
              <a:r>
                <a:rPr lang="en-US" altLang="zh-CN" sz="1400" b="1" kern="1200" dirty="0" smtClean="0">
                  <a:latin typeface="微软雅黑" panose="020B0503020204020204" pitchFamily="34" charset="-122"/>
                  <a:ea typeface="微软雅黑" panose="020B0503020204020204" pitchFamily="34" charset="-122"/>
                </a:rPr>
                <a:t>4</a:t>
              </a:r>
              <a:endParaRPr lang="zh-CN" altLang="en-US" sz="1400" b="1" kern="1200" dirty="0">
                <a:latin typeface="微软雅黑" panose="020B0503020204020204" pitchFamily="34" charset="-122"/>
                <a:ea typeface="微软雅黑" panose="020B0503020204020204" pitchFamily="34" charset="-122"/>
              </a:endParaRPr>
            </a:p>
          </p:txBody>
        </p:sp>
        <p:sp>
          <p:nvSpPr>
            <p:cNvPr id="20" name="椭圆 19"/>
            <p:cNvSpPr/>
            <p:nvPr/>
          </p:nvSpPr>
          <p:spPr>
            <a:xfrm>
              <a:off x="3972194" y="2202210"/>
              <a:ext cx="215233" cy="215233"/>
            </a:xfrm>
            <a:prstGeom prst="ellipse">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1" name="任意多边形 20"/>
            <p:cNvSpPr/>
            <p:nvPr/>
          </p:nvSpPr>
          <p:spPr>
            <a:xfrm>
              <a:off x="4695119" y="2525062"/>
              <a:ext cx="1708624" cy="860934"/>
            </a:xfrm>
            <a:custGeom>
              <a:avLst/>
              <a:gdLst>
                <a:gd name="connsiteX0" fmla="*/ 0 w 1421921"/>
                <a:gd name="connsiteY0" fmla="*/ 0 h 860934"/>
                <a:gd name="connsiteX1" fmla="*/ 1421921 w 1421921"/>
                <a:gd name="connsiteY1" fmla="*/ 0 h 860934"/>
                <a:gd name="connsiteX2" fmla="*/ 1421921 w 1421921"/>
                <a:gd name="connsiteY2" fmla="*/ 860934 h 860934"/>
                <a:gd name="connsiteX3" fmla="*/ 0 w 1421921"/>
                <a:gd name="connsiteY3" fmla="*/ 860934 h 860934"/>
                <a:gd name="connsiteX4" fmla="*/ 0 w 1421921"/>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1921" h="860934">
                  <a:moveTo>
                    <a:pt x="0" y="0"/>
                  </a:moveTo>
                  <a:lnTo>
                    <a:pt x="1421921" y="0"/>
                  </a:lnTo>
                  <a:lnTo>
                    <a:pt x="1421921"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8232" tIns="78232" rIns="78232" bIns="78232" numCol="1" spcCol="1270" anchor="t" anchorCtr="0">
              <a:noAutofit/>
            </a:bodyPr>
            <a:lstStyle/>
            <a:p>
              <a:pPr lvl="0" algn="ctr" defTabSz="488950">
                <a:lnSpc>
                  <a:spcPts val="2000"/>
                </a:lnSpc>
                <a:spcBef>
                  <a:spcPct val="0"/>
                </a:spcBef>
                <a:spcAft>
                  <a:spcPts val="0"/>
                </a:spcAft>
              </a:pPr>
              <a:r>
                <a:rPr lang="en-US" altLang="en-US" sz="1400" b="1" kern="1200" dirty="0" err="1" smtClean="0">
                  <a:latin typeface="微软雅黑" panose="020B0503020204020204" pitchFamily="34" charset="-122"/>
                  <a:ea typeface="微软雅黑" panose="020B0503020204020204" pitchFamily="34" charset="-122"/>
                </a:rPr>
                <a:t>OpenFlow</a:t>
              </a:r>
              <a:r>
                <a:rPr lang="en-US" altLang="en-US" sz="1400" b="1" kern="1200" dirty="0" smtClean="0">
                  <a:latin typeface="微软雅黑" panose="020B0503020204020204" pitchFamily="34" charset="-122"/>
                  <a:ea typeface="微软雅黑" panose="020B0503020204020204" pitchFamily="34" charset="-122"/>
                </a:rPr>
                <a:t> 1.</a:t>
              </a:r>
              <a:r>
                <a:rPr lang="en-US" altLang="zh-CN" sz="1400" b="1" kern="1200" dirty="0" smtClean="0">
                  <a:latin typeface="微软雅黑" panose="020B0503020204020204" pitchFamily="34" charset="-122"/>
                  <a:ea typeface="微软雅黑" panose="020B0503020204020204" pitchFamily="34" charset="-122"/>
                </a:rPr>
                <a:t>4</a:t>
              </a:r>
              <a:r>
                <a:rPr lang="en-US" altLang="en-US" sz="1400" b="1" kern="1200" dirty="0" smtClean="0">
                  <a:latin typeface="微软雅黑" panose="020B0503020204020204" pitchFamily="34" charset="-122"/>
                  <a:ea typeface="微软雅黑" panose="020B0503020204020204" pitchFamily="34" charset="-122"/>
                </a:rPr>
                <a:t> </a:t>
              </a:r>
            </a:p>
            <a:p>
              <a:pPr lvl="0" algn="ctr" defTabSz="488950">
                <a:lnSpc>
                  <a:spcPts val="2000"/>
                </a:lnSpc>
                <a:spcBef>
                  <a:spcPct val="0"/>
                </a:spcBef>
                <a:spcAft>
                  <a:spcPts val="0"/>
                </a:spcAft>
              </a:pPr>
              <a:r>
                <a:rPr lang="en-US" altLang="en-US" sz="1400" b="1" kern="1200" dirty="0" smtClean="0">
                  <a:latin typeface="微软雅黑" panose="020B0503020204020204" pitchFamily="34" charset="-122"/>
                  <a:ea typeface="微软雅黑" panose="020B0503020204020204" pitchFamily="34" charset="-122"/>
                </a:rPr>
                <a:t>201</a:t>
              </a:r>
              <a:r>
                <a:rPr lang="en-US" altLang="zh-CN" sz="1400" b="1" kern="1200" dirty="0" smtClean="0">
                  <a:latin typeface="微软雅黑" panose="020B0503020204020204" pitchFamily="34" charset="-122"/>
                  <a:ea typeface="微软雅黑" panose="020B0503020204020204" pitchFamily="34" charset="-122"/>
                </a:rPr>
                <a:t>3</a:t>
              </a:r>
              <a:r>
                <a:rPr lang="en-US" altLang="en-US" sz="1400" b="1" kern="1200" dirty="0" smtClean="0">
                  <a:latin typeface="微软雅黑" panose="020B0503020204020204" pitchFamily="34" charset="-122"/>
                  <a:ea typeface="微软雅黑" panose="020B0503020204020204" pitchFamily="34" charset="-122"/>
                </a:rPr>
                <a:t>-0</a:t>
              </a:r>
              <a:r>
                <a:rPr lang="en-US" altLang="zh-CN" sz="1400" b="1" kern="1200" dirty="0" smtClean="0">
                  <a:latin typeface="微软雅黑" panose="020B0503020204020204" pitchFamily="34" charset="-122"/>
                  <a:ea typeface="微软雅黑" panose="020B0503020204020204" pitchFamily="34" charset="-122"/>
                </a:rPr>
                <a:t>8</a:t>
              </a:r>
              <a:endParaRPr lang="zh-CN" altLang="en-US" sz="1400" b="1" kern="1200" dirty="0" smtClean="0">
                <a:latin typeface="微软雅黑" panose="020B0503020204020204" pitchFamily="34" charset="-122"/>
                <a:ea typeface="微软雅黑" panose="020B0503020204020204" pitchFamily="34" charset="-122"/>
              </a:endParaRPr>
            </a:p>
          </p:txBody>
        </p:sp>
        <p:sp>
          <p:nvSpPr>
            <p:cNvPr id="22" name="椭圆 21"/>
            <p:cNvSpPr/>
            <p:nvPr/>
          </p:nvSpPr>
          <p:spPr>
            <a:xfrm>
              <a:off x="5441964" y="2202210"/>
              <a:ext cx="215233" cy="215233"/>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3" name="任意多边形 22"/>
            <p:cNvSpPr/>
            <p:nvPr/>
          </p:nvSpPr>
          <p:spPr>
            <a:xfrm>
              <a:off x="6184541" y="1233660"/>
              <a:ext cx="1893465" cy="860934"/>
            </a:xfrm>
            <a:custGeom>
              <a:avLst/>
              <a:gdLst>
                <a:gd name="connsiteX0" fmla="*/ 0 w 1586183"/>
                <a:gd name="connsiteY0" fmla="*/ 0 h 860934"/>
                <a:gd name="connsiteX1" fmla="*/ 1586183 w 1586183"/>
                <a:gd name="connsiteY1" fmla="*/ 0 h 860934"/>
                <a:gd name="connsiteX2" fmla="*/ 1586183 w 1586183"/>
                <a:gd name="connsiteY2" fmla="*/ 860934 h 860934"/>
                <a:gd name="connsiteX3" fmla="*/ 0 w 1586183"/>
                <a:gd name="connsiteY3" fmla="*/ 860934 h 860934"/>
                <a:gd name="connsiteX4" fmla="*/ 0 w 1586183"/>
                <a:gd name="connsiteY4" fmla="*/ 0 h 86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183" h="860934">
                  <a:moveTo>
                    <a:pt x="0" y="0"/>
                  </a:moveTo>
                  <a:lnTo>
                    <a:pt x="1586183" y="0"/>
                  </a:lnTo>
                  <a:lnTo>
                    <a:pt x="1586183" y="860934"/>
                  </a:lnTo>
                  <a:lnTo>
                    <a:pt x="0" y="86093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8232" tIns="78232" rIns="78232" bIns="78232" numCol="1" spcCol="1270" anchor="b" anchorCtr="0">
              <a:noAutofit/>
            </a:bodyPr>
            <a:lstStyle/>
            <a:p>
              <a:pPr lvl="0" algn="ctr" defTabSz="488950">
                <a:lnSpc>
                  <a:spcPts val="2000"/>
                </a:lnSpc>
                <a:spcBef>
                  <a:spcPct val="0"/>
                </a:spcBef>
                <a:spcAft>
                  <a:spcPts val="0"/>
                </a:spcAft>
              </a:pPr>
              <a:r>
                <a:rPr lang="en-US" altLang="en-US" sz="1400" b="1" kern="1200" dirty="0" err="1" smtClean="0">
                  <a:latin typeface="微软雅黑" panose="020B0503020204020204" pitchFamily="34" charset="-122"/>
                  <a:ea typeface="微软雅黑" panose="020B0503020204020204" pitchFamily="34" charset="-122"/>
                </a:rPr>
                <a:t>OpenFlow</a:t>
              </a:r>
              <a:r>
                <a:rPr lang="en-US" altLang="en-US" sz="1400" b="1" kern="1200" dirty="0" smtClean="0">
                  <a:latin typeface="微软雅黑" panose="020B0503020204020204" pitchFamily="34" charset="-122"/>
                  <a:ea typeface="微软雅黑" panose="020B0503020204020204" pitchFamily="34" charset="-122"/>
                </a:rPr>
                <a:t> 1.5.1 </a:t>
              </a:r>
            </a:p>
            <a:p>
              <a:pPr lvl="0" algn="ctr" defTabSz="488950">
                <a:lnSpc>
                  <a:spcPts val="2000"/>
                </a:lnSpc>
                <a:spcBef>
                  <a:spcPct val="0"/>
                </a:spcBef>
                <a:spcAft>
                  <a:spcPts val="0"/>
                </a:spcAft>
              </a:pPr>
              <a:r>
                <a:rPr lang="en-US" altLang="en-US" sz="1400" b="1" kern="1200" dirty="0" smtClean="0">
                  <a:latin typeface="微软雅黑" panose="020B0503020204020204" pitchFamily="34" charset="-122"/>
                  <a:ea typeface="微软雅黑" panose="020B0503020204020204" pitchFamily="34" charset="-122"/>
                </a:rPr>
                <a:t>2015</a:t>
              </a:r>
              <a:r>
                <a:rPr lang="en-US" altLang="zh-CN" sz="1400" b="1" kern="1200" dirty="0" smtClean="0">
                  <a:latin typeface="微软雅黑" panose="020B0503020204020204" pitchFamily="34" charset="-122"/>
                  <a:ea typeface="微软雅黑" panose="020B0503020204020204" pitchFamily="34" charset="-122"/>
                </a:rPr>
                <a:t>-03</a:t>
              </a:r>
              <a:endParaRPr lang="zh-CN" altLang="en-US" sz="1400" b="1" kern="1200" dirty="0">
                <a:latin typeface="微软雅黑" panose="020B0503020204020204" pitchFamily="34" charset="-122"/>
                <a:ea typeface="微软雅黑" panose="020B0503020204020204" pitchFamily="34" charset="-122"/>
              </a:endParaRPr>
            </a:p>
          </p:txBody>
        </p:sp>
        <p:sp>
          <p:nvSpPr>
            <p:cNvPr id="24" name="椭圆 23"/>
            <p:cNvSpPr/>
            <p:nvPr/>
          </p:nvSpPr>
          <p:spPr>
            <a:xfrm>
              <a:off x="6994383" y="2202210"/>
              <a:ext cx="215233" cy="215233"/>
            </a:xfrm>
            <a:prstGeom prst="ellipse">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grpSp>
    </p:spTree>
    <p:extLst>
      <p:ext uri="{BB962C8B-B14F-4D97-AF65-F5344CB8AC3E}">
        <p14:creationId xmlns:p14="http://schemas.microsoft.com/office/powerpoint/2010/main" val="40502647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6" name="Rectangle 6"/>
          <p:cNvSpPr>
            <a:spLocks noChangeArrowheads="1"/>
          </p:cNvSpPr>
          <p:nvPr/>
        </p:nvSpPr>
        <p:spPr bwMode="auto">
          <a:xfrm>
            <a:off x="1941968" y="580933"/>
            <a:ext cx="5260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smtClean="0">
                <a:solidFill>
                  <a:schemeClr val="bg1"/>
                </a:solidFill>
                <a:latin typeface="微软雅黑" pitchFamily="34" charset="-122"/>
                <a:ea typeface="微软雅黑" pitchFamily="34" charset="-122"/>
              </a:rPr>
              <a:t>OpenFlow </a:t>
            </a:r>
            <a:r>
              <a:rPr lang="zh-CN" altLang="en-US" sz="2000" b="1" dirty="0" smtClean="0">
                <a:solidFill>
                  <a:schemeClr val="bg1"/>
                </a:solidFill>
                <a:latin typeface="微软雅黑" pitchFamily="34" charset="-122"/>
                <a:ea typeface="微软雅黑" pitchFamily="34" charset="-122"/>
              </a:rPr>
              <a:t>数据平面</a:t>
            </a:r>
            <a:r>
              <a:rPr lang="zh-CN" altLang="en-US" sz="2000" b="1" dirty="0">
                <a:solidFill>
                  <a:schemeClr val="bg1"/>
                </a:solidFill>
                <a:latin typeface="微软雅黑" pitchFamily="34" charset="-122"/>
                <a:ea typeface="微软雅黑" pitchFamily="34" charset="-122"/>
              </a:rPr>
              <a:t>：匹配 </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动作</a:t>
            </a:r>
          </a:p>
        </p:txBody>
      </p:sp>
      <p:sp>
        <p:nvSpPr>
          <p:cNvPr id="25" name="Rectangle 8"/>
          <p:cNvSpPr>
            <a:spLocks noChangeArrowheads="1"/>
          </p:cNvSpPr>
          <p:nvPr/>
        </p:nvSpPr>
        <p:spPr bwMode="auto">
          <a:xfrm>
            <a:off x="545144" y="982254"/>
            <a:ext cx="8053712" cy="2144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sz="2000" b="1" dirty="0" smtClean="0">
                <a:latin typeface="微软雅黑" pitchFamily="34" charset="-122"/>
                <a:ea typeface="微软雅黑" pitchFamily="34" charset="-122"/>
              </a:rPr>
              <a:t>数据平面的</a:t>
            </a:r>
            <a:r>
              <a:rPr lang="zh-CN" altLang="en-US" sz="2000" b="1" dirty="0" smtClean="0">
                <a:solidFill>
                  <a:srgbClr val="C00000"/>
                </a:solidFill>
                <a:latin typeface="微软雅黑" pitchFamily="34" charset="-122"/>
                <a:ea typeface="微软雅黑" pitchFamily="34" charset="-122"/>
              </a:rPr>
              <a:t>分组交换机</a:t>
            </a:r>
            <a:r>
              <a:rPr lang="zh-CN" altLang="en-US" sz="2000" b="1" dirty="0" smtClean="0">
                <a:latin typeface="微软雅黑" pitchFamily="34" charset="-122"/>
                <a:ea typeface="微软雅黑" pitchFamily="34" charset="-122"/>
              </a:rPr>
              <a:t>或 </a:t>
            </a:r>
            <a:r>
              <a:rPr lang="en-US" altLang="zh-CN" sz="2000" b="1" dirty="0" err="1" smtClean="0">
                <a:solidFill>
                  <a:srgbClr val="C00000"/>
                </a:solidFill>
                <a:latin typeface="微软雅黑" pitchFamily="34" charset="-122"/>
                <a:ea typeface="微软雅黑" pitchFamily="34" charset="-122"/>
              </a:rPr>
              <a:t>OpenFlow</a:t>
            </a:r>
            <a:r>
              <a:rPr lang="en-US" altLang="zh-CN" sz="2000" b="1" dirty="0" smtClean="0">
                <a:solidFill>
                  <a:srgbClr val="C00000"/>
                </a:solidFill>
                <a:latin typeface="微软雅黑" pitchFamily="34" charset="-122"/>
                <a:ea typeface="微软雅黑" pitchFamily="34" charset="-122"/>
              </a:rPr>
              <a:t> </a:t>
            </a:r>
            <a:r>
              <a:rPr lang="zh-CN" altLang="en-US" sz="2000" b="1" dirty="0" smtClean="0">
                <a:solidFill>
                  <a:srgbClr val="C00000"/>
                </a:solidFill>
                <a:latin typeface="微软雅黑" pitchFamily="34" charset="-122"/>
                <a:ea typeface="微软雅黑" pitchFamily="34" charset="-122"/>
              </a:rPr>
              <a:t>交换机</a:t>
            </a:r>
            <a:r>
              <a:rPr lang="zh-CN" altLang="en-US" sz="2000" b="1" dirty="0" smtClean="0">
                <a:latin typeface="微软雅黑" pitchFamily="34" charset="-122"/>
                <a:ea typeface="微软雅黑" pitchFamily="34" charset="-122"/>
              </a:rPr>
              <a:t>完成“</a:t>
            </a:r>
            <a:r>
              <a:rPr lang="zh-CN" altLang="en-US" sz="2000" b="1" dirty="0" smtClean="0">
                <a:solidFill>
                  <a:srgbClr val="0000FF"/>
                </a:solidFill>
                <a:latin typeface="微软雅黑" pitchFamily="34" charset="-122"/>
                <a:ea typeface="微软雅黑" pitchFamily="34" charset="-122"/>
              </a:rPr>
              <a:t>匹配 </a:t>
            </a:r>
            <a:r>
              <a:rPr lang="en-US" altLang="zh-CN" sz="2000" b="1" dirty="0">
                <a:solidFill>
                  <a:srgbClr val="0000FF"/>
                </a:solidFill>
                <a:latin typeface="微软雅黑" pitchFamily="34" charset="-122"/>
                <a:ea typeface="微软雅黑" pitchFamily="34" charset="-122"/>
              </a:rPr>
              <a:t>+ </a:t>
            </a:r>
            <a:r>
              <a:rPr lang="zh-CN" altLang="en-US" sz="2000" b="1" dirty="0" smtClean="0">
                <a:solidFill>
                  <a:srgbClr val="0000FF"/>
                </a:solidFill>
                <a:latin typeface="微软雅黑" pitchFamily="34" charset="-122"/>
                <a:ea typeface="微软雅黑" pitchFamily="34" charset="-122"/>
              </a:rPr>
              <a:t>动作</a:t>
            </a:r>
            <a:r>
              <a:rPr lang="zh-CN" altLang="en-US" sz="2000" b="1" dirty="0" smtClean="0">
                <a:latin typeface="微软雅黑" pitchFamily="34" charset="-122"/>
                <a:ea typeface="微软雅黑" pitchFamily="34" charset="-122"/>
              </a:rPr>
              <a:t>”的操作，称为</a:t>
            </a:r>
            <a:r>
              <a:rPr lang="zh-CN" altLang="en-US" sz="2000" b="1" dirty="0" smtClean="0">
                <a:solidFill>
                  <a:srgbClr val="0000FF"/>
                </a:solidFill>
                <a:latin typeface="微软雅黑" pitchFamily="34" charset="-122"/>
                <a:ea typeface="微软雅黑" pitchFamily="34" charset="-122"/>
              </a:rPr>
              <a:t>广义转发。</a:t>
            </a:r>
            <a:endParaRPr lang="en-US" altLang="zh-CN" sz="2000" b="1" dirty="0" smtClean="0">
              <a:solidFill>
                <a:srgbClr val="0000FF"/>
              </a:solidFill>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匹配：</a:t>
            </a:r>
            <a:r>
              <a:rPr lang="zh-CN" altLang="en-US" sz="2000" b="1" dirty="0">
                <a:latin typeface="微软雅黑" pitchFamily="34" charset="-122"/>
                <a:ea typeface="微软雅黑" pitchFamily="34" charset="-122"/>
              </a:rPr>
              <a:t>对不同层次</a:t>
            </a:r>
            <a:r>
              <a:rPr lang="zh-CN" altLang="en-US" sz="2000" b="1" dirty="0" smtClean="0">
                <a:latin typeface="微软雅黑" pitchFamily="34" charset="-122"/>
                <a:ea typeface="微软雅黑" pitchFamily="34" charset="-122"/>
              </a:rPr>
              <a:t>（数据链路</a:t>
            </a:r>
            <a:r>
              <a:rPr lang="zh-CN" altLang="en-US" sz="2000" b="1" dirty="0">
                <a:latin typeface="微软雅黑" pitchFamily="34" charset="-122"/>
                <a:ea typeface="微软雅黑" pitchFamily="34" charset="-122"/>
              </a:rPr>
              <a:t>层，网络层</a:t>
            </a:r>
            <a:r>
              <a:rPr lang="zh-CN" altLang="en-US" sz="2000" b="1" dirty="0" smtClean="0">
                <a:latin typeface="微软雅黑" pitchFamily="34" charset="-122"/>
                <a:ea typeface="微软雅黑" pitchFamily="34" charset="-122"/>
              </a:rPr>
              <a:t>，传输层）</a:t>
            </a:r>
            <a:r>
              <a:rPr lang="zh-CN" altLang="en-US" sz="2000" b="1" dirty="0">
                <a:latin typeface="微软雅黑" pitchFamily="34" charset="-122"/>
                <a:ea typeface="微软雅黑" pitchFamily="34" charset="-122"/>
              </a:rPr>
              <a:t>首部中的字段进行匹配。</a:t>
            </a:r>
          </a:p>
          <a:p>
            <a:pPr marL="285750" lvl="0" indent="-285750">
              <a:lnSpc>
                <a:spcPts val="3200"/>
              </a:lnSpc>
              <a:buClr>
                <a:srgbClr val="0070C0"/>
              </a:buClr>
              <a:buFont typeface="Wingdings" pitchFamily="2" charset="2"/>
              <a:buChar char="l"/>
            </a:pPr>
            <a:r>
              <a:rPr lang="zh-CN" altLang="en-US" sz="2000" b="1" dirty="0" smtClean="0">
                <a:solidFill>
                  <a:srgbClr val="C00000"/>
                </a:solidFill>
                <a:latin typeface="微软雅黑" pitchFamily="34" charset="-122"/>
                <a:ea typeface="微软雅黑" pitchFamily="34" charset="-122"/>
              </a:rPr>
              <a:t>动作：</a:t>
            </a:r>
            <a:r>
              <a:rPr lang="zh-CN" altLang="en-US" sz="2000" b="1" dirty="0">
                <a:latin typeface="微软雅黑" panose="020B0503020204020204" pitchFamily="34" charset="-122"/>
                <a:ea typeface="微软雅黑" panose="020B0503020204020204" pitchFamily="34" charset="-122"/>
              </a:rPr>
              <a:t>转发，修改，丢弃等</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656746" y="3366749"/>
            <a:ext cx="7830505" cy="990877"/>
            <a:chOff x="1581847" y="3821835"/>
            <a:chExt cx="6122820" cy="990877"/>
          </a:xfrm>
        </p:grpSpPr>
        <p:sp>
          <p:nvSpPr>
            <p:cNvPr id="8" name="对角圆角矩形 7"/>
            <p:cNvSpPr/>
            <p:nvPr/>
          </p:nvSpPr>
          <p:spPr>
            <a:xfrm>
              <a:off x="1581847" y="3821835"/>
              <a:ext cx="6122819" cy="99087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763947" y="3945385"/>
              <a:ext cx="5940720" cy="759182"/>
            </a:xfrm>
            <a:prstGeom prst="rect">
              <a:avLst/>
            </a:prstGeom>
          </p:spPr>
          <p:txBody>
            <a:bodyPr wrap="square">
              <a:spAutoFit/>
            </a:bodyPr>
            <a:lstStyle/>
            <a:p>
              <a:pPr>
                <a:lnSpc>
                  <a:spcPts val="2600"/>
                </a:lnSpc>
                <a:buClr>
                  <a:srgbClr val="0070C0"/>
                </a:buClr>
              </a:pPr>
              <a:r>
                <a:rPr lang="en-US" altLang="zh-CN" b="1" dirty="0">
                  <a:solidFill>
                    <a:schemeClr val="bg1"/>
                  </a:solidFill>
                  <a:latin typeface="微软雅黑" pitchFamily="34" charset="-122"/>
                  <a:ea typeface="微软雅黑" pitchFamily="34" charset="-122"/>
                </a:rPr>
                <a:t>OpenFlow</a:t>
              </a:r>
              <a:r>
                <a:rPr lang="zh-CN" altLang="en-US" b="1" dirty="0">
                  <a:solidFill>
                    <a:schemeClr val="bg1"/>
                  </a:solidFill>
                  <a:latin typeface="微软雅黑" pitchFamily="34" charset="-122"/>
                  <a:ea typeface="微软雅黑" pitchFamily="34" charset="-122"/>
                </a:rPr>
                <a:t>交换机是支持</a:t>
              </a:r>
              <a:r>
                <a:rPr lang="en-US" altLang="zh-CN" b="1" dirty="0">
                  <a:solidFill>
                    <a:schemeClr val="bg1"/>
                  </a:solidFill>
                  <a:latin typeface="微软雅黑" pitchFamily="34" charset="-122"/>
                  <a:ea typeface="微软雅黑" pitchFamily="34" charset="-122"/>
                </a:rPr>
                <a:t>OpenFlow</a:t>
              </a:r>
              <a:r>
                <a:rPr lang="zh-CN" altLang="en-US" b="1" dirty="0">
                  <a:solidFill>
                    <a:schemeClr val="bg1"/>
                  </a:solidFill>
                  <a:latin typeface="微软雅黑" pitchFamily="34" charset="-122"/>
                  <a:ea typeface="微软雅黑" pitchFamily="34" charset="-122"/>
                </a:rPr>
                <a:t>协议的</a:t>
              </a:r>
              <a:r>
                <a:rPr lang="zh-CN" altLang="en-US" b="1" dirty="0">
                  <a:solidFill>
                    <a:srgbClr val="FFFF00"/>
                  </a:solidFill>
                  <a:latin typeface="微软雅黑" pitchFamily="34" charset="-122"/>
                  <a:ea typeface="微软雅黑" pitchFamily="34" charset="-122"/>
                </a:rPr>
                <a:t>物理或虚拟网络设备</a:t>
              </a:r>
              <a:r>
                <a:rPr lang="zh-CN" altLang="en-US" b="1" dirty="0">
                  <a:solidFill>
                    <a:schemeClr val="bg1"/>
                  </a:solidFill>
                  <a:latin typeface="微软雅黑" pitchFamily="34" charset="-122"/>
                  <a:ea typeface="微软雅黑" pitchFamily="34" charset="-122"/>
                </a:rPr>
                <a:t>，其转发行为</a:t>
              </a:r>
              <a:r>
                <a:rPr lang="zh-CN" altLang="en-US" b="1" dirty="0">
                  <a:solidFill>
                    <a:srgbClr val="FFFF00"/>
                  </a:solidFill>
                  <a:latin typeface="微软雅黑" pitchFamily="34" charset="-122"/>
                  <a:ea typeface="微软雅黑" pitchFamily="34" charset="-122"/>
                </a:rPr>
                <a:t>由流表定义</a:t>
              </a:r>
              <a:r>
                <a:rPr lang="zh-CN" altLang="en-US" b="1" dirty="0">
                  <a:solidFill>
                    <a:schemeClr val="bg1"/>
                  </a:solidFill>
                  <a:latin typeface="微软雅黑" pitchFamily="34" charset="-122"/>
                  <a:ea typeface="微软雅黑" pitchFamily="34" charset="-122"/>
                </a:rPr>
                <a:t>，并通过</a:t>
              </a:r>
              <a:r>
                <a:rPr lang="en-US" altLang="zh-CN" b="1" dirty="0">
                  <a:solidFill>
                    <a:schemeClr val="bg1"/>
                  </a:solidFill>
                  <a:latin typeface="微软雅黑" pitchFamily="34" charset="-122"/>
                  <a:ea typeface="微软雅黑" pitchFamily="34" charset="-122"/>
                </a:rPr>
                <a:t>OpenFlow</a:t>
              </a:r>
              <a:r>
                <a:rPr lang="zh-CN" altLang="en-US" b="1" dirty="0">
                  <a:solidFill>
                    <a:schemeClr val="bg1"/>
                  </a:solidFill>
                  <a:latin typeface="微软雅黑" pitchFamily="34" charset="-122"/>
                  <a:ea typeface="微软雅黑" pitchFamily="34" charset="-122"/>
                </a:rPr>
                <a:t>通道与控制器通信以接收转发规则。</a:t>
              </a:r>
            </a:p>
          </p:txBody>
        </p:sp>
      </p:grpSp>
    </p:spTree>
    <p:custDataLst>
      <p:tags r:id="rId1"/>
    </p:custDataLst>
    <p:extLst>
      <p:ext uri="{BB962C8B-B14F-4D97-AF65-F5344CB8AC3E}">
        <p14:creationId xmlns:p14="http://schemas.microsoft.com/office/powerpoint/2010/main" val="7892374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xEl>
                                              <p:pRg st="1" end="1"/>
                                            </p:txEl>
                                          </p:spTgt>
                                        </p:tgtEl>
                                        <p:attrNameLst>
                                          <p:attrName>style.visibility</p:attrName>
                                        </p:attrNameLst>
                                      </p:cBhvr>
                                      <p:to>
                                        <p:strVal val="visible"/>
                                      </p:to>
                                    </p:set>
                                    <p:animEffect transition="in" filter="fade">
                                      <p:cBhvr>
                                        <p:cTn id="7" dur="500"/>
                                        <p:tgtEl>
                                          <p:spTgt spid="2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xEl>
                                              <p:pRg st="2" end="2"/>
                                            </p:txEl>
                                          </p:spTgt>
                                        </p:tgtEl>
                                        <p:attrNameLst>
                                          <p:attrName>style.visibility</p:attrName>
                                        </p:attrNameLst>
                                      </p:cBhvr>
                                      <p:to>
                                        <p:strVal val="visible"/>
                                      </p:to>
                                    </p:set>
                                    <p:animEffect transition="in" filter="fade">
                                      <p:cBhvr>
                                        <p:cTn id="12" dur="500"/>
                                        <p:tgtEl>
                                          <p:spTgt spid="2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4" y="1009413"/>
            <a:ext cx="4801556"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在</a:t>
            </a:r>
            <a:r>
              <a:rPr lang="en-US" altLang="zh-CN" b="1" dirty="0" smtClean="0">
                <a:latin typeface="微软雅黑" pitchFamily="34" charset="-122"/>
                <a:ea typeface="微软雅黑" pitchFamily="34" charset="-122"/>
              </a:rPr>
              <a:t>OpenFlow 1.0</a:t>
            </a:r>
            <a:r>
              <a:rPr lang="zh-CN" altLang="en-US" b="1" dirty="0" smtClean="0">
                <a:latin typeface="微软雅黑" pitchFamily="34" charset="-122"/>
                <a:ea typeface="微软雅黑" pitchFamily="34" charset="-122"/>
              </a:rPr>
              <a:t>的定义中，</a:t>
            </a:r>
            <a:r>
              <a:rPr lang="en-US" altLang="zh-CN" b="1" dirty="0" smtClean="0">
                <a:latin typeface="微软雅黑" pitchFamily="34" charset="-122"/>
                <a:ea typeface="微软雅黑" pitchFamily="34" charset="-122"/>
              </a:rPr>
              <a:t>OpenFlow</a:t>
            </a:r>
            <a:r>
              <a:rPr lang="zh-CN" altLang="en-US" b="1" dirty="0" smtClean="0">
                <a:latin typeface="微软雅黑" pitchFamily="34" charset="-122"/>
                <a:ea typeface="微软雅黑" pitchFamily="34" charset="-122"/>
              </a:rPr>
              <a:t>交换机由三部分组成。</a:t>
            </a:r>
            <a:endParaRPr lang="en-US" altLang="zh-CN"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流</a:t>
            </a:r>
            <a:r>
              <a:rPr lang="zh-CN" altLang="en-US" sz="1600" b="1" dirty="0">
                <a:solidFill>
                  <a:srgbClr val="C00000"/>
                </a:solidFill>
                <a:latin typeface="微软雅黑" pitchFamily="34" charset="-122"/>
                <a:ea typeface="微软雅黑" pitchFamily="34" charset="-122"/>
              </a:rPr>
              <a:t>表</a:t>
            </a:r>
            <a:r>
              <a:rPr lang="zh-CN" altLang="en-US" sz="1600" b="1" dirty="0">
                <a:latin typeface="微软雅黑" pitchFamily="34" charset="-122"/>
                <a:ea typeface="微软雅黑" pitchFamily="34" charset="-122"/>
              </a:rPr>
              <a:t>：用于</a:t>
            </a:r>
            <a:r>
              <a:rPr lang="zh-CN" altLang="en-US" sz="1600" b="1" dirty="0" smtClean="0">
                <a:latin typeface="微软雅黑" pitchFamily="34" charset="-122"/>
                <a:ea typeface="微软雅黑" pitchFamily="34" charset="-122"/>
              </a:rPr>
              <a:t>存储</a:t>
            </a:r>
            <a:r>
              <a:rPr lang="zh-CN" altLang="en-US" sz="1600" b="1" dirty="0">
                <a:latin typeface="微软雅黑" pitchFamily="34" charset="-122"/>
                <a:ea typeface="微软雅黑" pitchFamily="34" charset="-122"/>
              </a:rPr>
              <a:t>分组处理</a:t>
            </a:r>
            <a:r>
              <a:rPr lang="zh-CN" altLang="en-US" sz="1600" b="1" dirty="0" smtClean="0">
                <a:latin typeface="微软雅黑" pitchFamily="34" charset="-122"/>
                <a:ea typeface="微软雅黑" pitchFamily="34" charset="-122"/>
              </a:rPr>
              <a:t>规则</a:t>
            </a:r>
            <a:r>
              <a:rPr lang="zh-CN" altLang="en-US" sz="1600" b="1" dirty="0">
                <a:latin typeface="微软雅黑" pitchFamily="34" charset="-122"/>
                <a:ea typeface="微软雅黑" pitchFamily="34" charset="-122"/>
              </a:rPr>
              <a:t>，每个流表包含若干条流表项</a:t>
            </a:r>
            <a:r>
              <a:rPr lang="en-US" altLang="zh-CN" sz="1600" b="1" dirty="0">
                <a:latin typeface="微软雅黑" pitchFamily="34" charset="-122"/>
                <a:ea typeface="微软雅黑" pitchFamily="34" charset="-122"/>
              </a:rPr>
              <a:t>(flow entry</a:t>
            </a:r>
            <a:r>
              <a:rPr lang="en-US" altLang="zh-CN" sz="1600" b="1" dirty="0" smtClean="0">
                <a:latin typeface="微软雅黑" pitchFamily="34" charset="-122"/>
                <a:ea typeface="微软雅黑" pitchFamily="34" charset="-122"/>
              </a:rPr>
              <a:t>)</a:t>
            </a:r>
            <a:r>
              <a:rPr lang="zh-CN" altLang="en-US" sz="1600" b="1" dirty="0">
                <a:latin typeface="微软雅黑" pitchFamily="34" charset="-122"/>
                <a:ea typeface="微软雅黑" pitchFamily="34" charset="-122"/>
              </a:rPr>
              <a:t>，每一个表项就是一条具体</a:t>
            </a:r>
            <a:r>
              <a:rPr lang="zh-CN" altLang="en-US" sz="1600" b="1" dirty="0" smtClean="0">
                <a:latin typeface="微软雅黑" pitchFamily="34" charset="-122"/>
                <a:ea typeface="微软雅黑" pitchFamily="34" charset="-122"/>
              </a:rPr>
              <a:t>的规则</a:t>
            </a:r>
            <a:r>
              <a:rPr lang="zh-CN" altLang="en-US" sz="1600" b="1" dirty="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安全</a:t>
            </a:r>
            <a:r>
              <a:rPr lang="zh-CN" altLang="en-US" sz="1600" b="1" dirty="0">
                <a:solidFill>
                  <a:srgbClr val="C00000"/>
                </a:solidFill>
                <a:latin typeface="微软雅黑" pitchFamily="34" charset="-122"/>
                <a:ea typeface="微软雅黑" pitchFamily="34" charset="-122"/>
              </a:rPr>
              <a:t>通道</a:t>
            </a:r>
            <a:r>
              <a:rPr lang="zh-CN" altLang="en-US" sz="1600" b="1" dirty="0">
                <a:latin typeface="微软雅黑" pitchFamily="34" charset="-122"/>
                <a:ea typeface="微软雅黑" pitchFamily="34" charset="-122"/>
              </a:rPr>
              <a:t>：连接 </a:t>
            </a:r>
            <a:r>
              <a:rPr lang="en-US" altLang="zh-CN" sz="1600" b="1" dirty="0">
                <a:latin typeface="微软雅黑" pitchFamily="34" charset="-122"/>
                <a:ea typeface="微软雅黑" pitchFamily="34" charset="-122"/>
              </a:rPr>
              <a:t>OpenFlow </a:t>
            </a:r>
            <a:r>
              <a:rPr lang="zh-CN" altLang="en-US" sz="1600" b="1" dirty="0">
                <a:latin typeface="微软雅黑" pitchFamily="34" charset="-122"/>
                <a:ea typeface="微软雅黑" pitchFamily="34" charset="-122"/>
              </a:rPr>
              <a:t>交换机与外部</a:t>
            </a:r>
            <a:r>
              <a:rPr lang="zh-CN" altLang="en-US" sz="1600" b="1" dirty="0" smtClean="0">
                <a:latin typeface="微软雅黑" pitchFamily="34" charset="-122"/>
                <a:ea typeface="微软雅黑" pitchFamily="34" charset="-122"/>
              </a:rPr>
              <a:t>控制器的</a:t>
            </a:r>
            <a:r>
              <a:rPr lang="zh-CN" altLang="en-US" sz="1600" b="1" dirty="0">
                <a:latin typeface="微软雅黑" pitchFamily="34" charset="-122"/>
                <a:ea typeface="微软雅黑" pitchFamily="34" charset="-122"/>
              </a:rPr>
              <a:t>逻辑接口，交换机通过这条通道与远程的 </a:t>
            </a:r>
            <a:r>
              <a:rPr lang="en-US" altLang="zh-CN" sz="1600" b="1" dirty="0">
                <a:latin typeface="微软雅黑" pitchFamily="34" charset="-122"/>
                <a:ea typeface="微软雅黑" pitchFamily="34" charset="-122"/>
              </a:rPr>
              <a:t>SDN </a:t>
            </a:r>
            <a:r>
              <a:rPr lang="zh-CN" altLang="en-US" sz="1600" b="1" dirty="0">
                <a:latin typeface="微软雅黑" pitchFamily="34" charset="-122"/>
                <a:ea typeface="微软雅黑" pitchFamily="34" charset="-122"/>
              </a:rPr>
              <a:t>控制器建立连接。</a:t>
            </a:r>
            <a:endParaRPr lang="en-US" altLang="zh-CN" sz="16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en-US" altLang="zh-CN" sz="1600" b="1" dirty="0" smtClean="0">
                <a:solidFill>
                  <a:srgbClr val="C00000"/>
                </a:solidFill>
                <a:latin typeface="微软雅黑" pitchFamily="34" charset="-122"/>
                <a:ea typeface="微软雅黑" pitchFamily="34" charset="-122"/>
              </a:rPr>
              <a:t>OpenFlow</a:t>
            </a:r>
            <a:r>
              <a:rPr lang="zh-CN" altLang="en-US" sz="1600" b="1" dirty="0">
                <a:solidFill>
                  <a:srgbClr val="C00000"/>
                </a:solidFill>
                <a:latin typeface="微软雅黑" pitchFamily="34" charset="-122"/>
                <a:ea typeface="微软雅黑" pitchFamily="34" charset="-122"/>
              </a:rPr>
              <a:t>协议</a:t>
            </a:r>
            <a:r>
              <a:rPr lang="zh-CN" altLang="en-US" sz="1600" b="1" dirty="0">
                <a:latin typeface="微软雅黑" pitchFamily="34" charset="-122"/>
                <a:ea typeface="微软雅黑" pitchFamily="34" charset="-122"/>
              </a:rPr>
              <a:t>：定义了控制器和交换机之间交互信息的格式和</a:t>
            </a:r>
            <a:r>
              <a:rPr lang="zh-CN" altLang="en-US" sz="1600" b="1" dirty="0" smtClean="0">
                <a:latin typeface="微软雅黑" pitchFamily="34" charset="-122"/>
                <a:ea typeface="微软雅黑" pitchFamily="34" charset="-122"/>
              </a:rPr>
              <a:t>语义等。</a:t>
            </a:r>
            <a:endParaRPr lang="en-US" altLang="zh-CN" sz="1600" b="1" dirty="0" smtClean="0">
              <a:latin typeface="微软雅黑" pitchFamily="34" charset="-122"/>
              <a:ea typeface="微软雅黑" pitchFamily="34" charset="-122"/>
            </a:endParaRPr>
          </a:p>
        </p:txBody>
      </p:sp>
      <p:graphicFrame>
        <p:nvGraphicFramePr>
          <p:cNvPr id="14" name="对象 13"/>
          <p:cNvGraphicFramePr>
            <a:graphicFrameLocks noChangeAspect="1"/>
          </p:cNvGraphicFramePr>
          <p:nvPr>
            <p:extLst/>
          </p:nvPr>
        </p:nvGraphicFramePr>
        <p:xfrm>
          <a:off x="5766743" y="1501774"/>
          <a:ext cx="3202631" cy="2428876"/>
        </p:xfrm>
        <a:graphic>
          <a:graphicData uri="http://schemas.openxmlformats.org/presentationml/2006/ole">
            <mc:AlternateContent xmlns:mc="http://schemas.openxmlformats.org/markup-compatibility/2006">
              <mc:Choice xmlns:v="urn:schemas-microsoft-com:vml" Requires="v">
                <p:oleObj spid="_x0000_s4104" name="Visio" r:id="rId5" imgW="3968610" imgH="3009822" progId="Visio.Drawing.15">
                  <p:embed/>
                </p:oleObj>
              </mc:Choice>
              <mc:Fallback>
                <p:oleObj name="Visio" r:id="rId5" imgW="3968610" imgH="3009822" progId="Visio.Drawing.15">
                  <p:embed/>
                  <p:pic>
                    <p:nvPicPr>
                      <p:cNvPr id="14" name="对象 13"/>
                      <p:cNvPicPr>
                        <a:picLocks noChangeAspect="1" noChangeArrowheads="1"/>
                      </p:cNvPicPr>
                      <p:nvPr/>
                    </p:nvPicPr>
                    <p:blipFill>
                      <a:blip r:embed="rId6"/>
                      <a:srcRect/>
                      <a:stretch>
                        <a:fillRect/>
                      </a:stretch>
                    </p:blipFill>
                    <p:spPr bwMode="auto">
                      <a:xfrm>
                        <a:off x="5766743" y="1501774"/>
                        <a:ext cx="3202631" cy="2428876"/>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15463602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3" y="1009413"/>
            <a:ext cx="5114024" cy="3708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随着技术的演进，</a:t>
            </a:r>
            <a:r>
              <a:rPr lang="en-US" altLang="zh-CN" b="1" dirty="0" smtClean="0">
                <a:latin typeface="微软雅黑" pitchFamily="34" charset="-122"/>
                <a:ea typeface="微软雅黑" pitchFamily="34" charset="-122"/>
              </a:rPr>
              <a:t>OpenFlow</a:t>
            </a:r>
            <a:r>
              <a:rPr lang="zh-CN" altLang="en-US" b="1" dirty="0" smtClean="0">
                <a:latin typeface="微软雅黑" pitchFamily="34" charset="-122"/>
                <a:ea typeface="微软雅黑" pitchFamily="34" charset="-122"/>
              </a:rPr>
              <a:t>交换机的结构也不断变化，在</a:t>
            </a:r>
            <a:r>
              <a:rPr lang="en-US" altLang="zh-CN" b="1" dirty="0" smtClean="0">
                <a:latin typeface="微软雅黑" pitchFamily="34" charset="-122"/>
                <a:ea typeface="微软雅黑" pitchFamily="34" charset="-122"/>
              </a:rPr>
              <a:t>OpenFlow 1.5.1</a:t>
            </a:r>
            <a:r>
              <a:rPr lang="zh-CN" altLang="en-US" b="1" dirty="0" smtClean="0">
                <a:latin typeface="微软雅黑" pitchFamily="34" charset="-122"/>
                <a:ea typeface="微软雅黑" pitchFamily="34" charset="-122"/>
              </a:rPr>
              <a:t>中，进一步将</a:t>
            </a:r>
            <a:r>
              <a:rPr lang="en-US" altLang="zh-CN" b="1" dirty="0" smtClean="0">
                <a:latin typeface="微软雅黑" pitchFamily="34" charset="-122"/>
                <a:ea typeface="微软雅黑" pitchFamily="34" charset="-122"/>
              </a:rPr>
              <a:t>OpenFlow</a:t>
            </a:r>
            <a:r>
              <a:rPr lang="zh-CN" altLang="en-US" b="1" dirty="0" smtClean="0">
                <a:latin typeface="微软雅黑" pitchFamily="34" charset="-122"/>
                <a:ea typeface="微软雅黑" pitchFamily="34" charset="-122"/>
              </a:rPr>
              <a:t>交换机划分为</a:t>
            </a:r>
            <a:r>
              <a:rPr lang="zh-CN" altLang="en-US" b="1" dirty="0" smtClean="0">
                <a:solidFill>
                  <a:srgbClr val="C00000"/>
                </a:solidFill>
                <a:latin typeface="微软雅黑" pitchFamily="34" charset="-122"/>
                <a:ea typeface="微软雅黑" pitchFamily="34" charset="-122"/>
              </a:rPr>
              <a:t>数据通路</a:t>
            </a:r>
            <a:r>
              <a:rPr lang="en-US" altLang="zh-CN" b="1" dirty="0" smtClean="0">
                <a:latin typeface="微软雅黑" pitchFamily="34" charset="-122"/>
                <a:ea typeface="微软雅黑" pitchFamily="34" charset="-122"/>
              </a:rPr>
              <a:t>(</a:t>
            </a:r>
            <a:r>
              <a:rPr lang="en-US" altLang="zh-CN" b="1" dirty="0" err="1" smtClean="0">
                <a:latin typeface="微软雅黑" pitchFamily="34" charset="-122"/>
                <a:ea typeface="微软雅黑" pitchFamily="34" charset="-122"/>
              </a:rPr>
              <a:t>Datapath</a:t>
            </a:r>
            <a:r>
              <a:rPr lang="en-US" altLang="zh-CN" b="1"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和</a:t>
            </a:r>
            <a:r>
              <a:rPr lang="zh-CN" altLang="en-US" b="1" dirty="0" smtClean="0">
                <a:solidFill>
                  <a:srgbClr val="C00000"/>
                </a:solidFill>
                <a:latin typeface="微软雅黑" pitchFamily="34" charset="-122"/>
                <a:ea typeface="微软雅黑" pitchFamily="34" charset="-122"/>
              </a:rPr>
              <a:t>控制通道</a:t>
            </a:r>
            <a:r>
              <a:rPr lang="en-US" altLang="zh-CN" b="1" dirty="0" smtClean="0">
                <a:latin typeface="微软雅黑" pitchFamily="34" charset="-122"/>
                <a:ea typeface="微软雅黑" pitchFamily="34" charset="-122"/>
              </a:rPr>
              <a:t>(Control Channel)</a:t>
            </a:r>
            <a:r>
              <a:rPr lang="zh-CN" altLang="en-US" b="1" dirty="0" smtClean="0">
                <a:latin typeface="微软雅黑" pitchFamily="34" charset="-122"/>
                <a:ea typeface="微软雅黑" pitchFamily="34" charset="-122"/>
              </a:rPr>
              <a:t>两</a:t>
            </a:r>
            <a:r>
              <a:rPr lang="zh-CN" altLang="en-US" b="1" dirty="0">
                <a:latin typeface="微软雅黑" pitchFamily="34" charset="-122"/>
                <a:ea typeface="微软雅黑" pitchFamily="34" charset="-122"/>
              </a:rPr>
              <a:t>大部分</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数据通路</a:t>
            </a:r>
            <a:r>
              <a:rPr lang="zh-CN" altLang="en-US" sz="1600" b="1" dirty="0" smtClean="0">
                <a:latin typeface="微软雅黑" pitchFamily="34" charset="-122"/>
                <a:ea typeface="微软雅黑" pitchFamily="34" charset="-122"/>
              </a:rPr>
              <a:t>：分组</a:t>
            </a:r>
            <a:r>
              <a:rPr lang="zh-CN" altLang="en-US" sz="1600" b="1" dirty="0">
                <a:latin typeface="微软雅黑" pitchFamily="34" charset="-122"/>
                <a:ea typeface="微软雅黑" pitchFamily="34" charset="-122"/>
              </a:rPr>
              <a:t>从进入交换机到被转发出去所流经的整个处理流水线</a:t>
            </a:r>
            <a:r>
              <a:rPr lang="zh-CN" altLang="en-US" sz="1600" b="1" dirty="0" smtClean="0">
                <a:latin typeface="微软雅黑" pitchFamily="34" charset="-122"/>
                <a:ea typeface="微软雅黑" pitchFamily="34" charset="-122"/>
              </a:rPr>
              <a:t>，包括</a:t>
            </a:r>
            <a:r>
              <a:rPr lang="zh-CN" altLang="en-US" sz="1600" b="1" dirty="0">
                <a:solidFill>
                  <a:srgbClr val="C00000"/>
                </a:solidFill>
                <a:latin typeface="微软雅黑" pitchFamily="34" charset="-122"/>
                <a:ea typeface="微软雅黑" pitchFamily="34" charset="-122"/>
              </a:rPr>
              <a:t>端口、流表、组表、计量</a:t>
            </a:r>
            <a:r>
              <a:rPr lang="zh-CN" altLang="en-US" sz="1600" b="1" dirty="0" smtClean="0">
                <a:solidFill>
                  <a:srgbClr val="C00000"/>
                </a:solidFill>
                <a:latin typeface="微软雅黑" pitchFamily="34" charset="-122"/>
                <a:ea typeface="微软雅黑" pitchFamily="34" charset="-122"/>
              </a:rPr>
              <a:t>表</a:t>
            </a:r>
            <a:r>
              <a:rPr lang="zh-CN" altLang="en-US" sz="1600" b="1" dirty="0" smtClean="0">
                <a:latin typeface="微软雅黑" pitchFamily="34" charset="-122"/>
                <a:ea typeface="微软雅黑" pitchFamily="34" charset="-122"/>
              </a:rPr>
              <a:t>等所有</a:t>
            </a:r>
            <a:r>
              <a:rPr lang="zh-CN" altLang="en-US" sz="1600" b="1" dirty="0" smtClean="0">
                <a:solidFill>
                  <a:srgbClr val="C00000"/>
                </a:solidFill>
                <a:latin typeface="微软雅黑" pitchFamily="34" charset="-122"/>
                <a:ea typeface="微软雅黑" pitchFamily="34" charset="-122"/>
              </a:rPr>
              <a:t>用于分组处理</a:t>
            </a:r>
            <a:r>
              <a:rPr lang="zh-CN" altLang="en-US" sz="1600" b="1" dirty="0">
                <a:solidFill>
                  <a:srgbClr val="C00000"/>
                </a:solidFill>
                <a:latin typeface="微软雅黑" pitchFamily="34" charset="-122"/>
                <a:ea typeface="微软雅黑" pitchFamily="34" charset="-122"/>
              </a:rPr>
              <a:t>的</a:t>
            </a:r>
            <a:r>
              <a:rPr lang="zh-CN" altLang="en-US" sz="1600" b="1" dirty="0" smtClean="0">
                <a:solidFill>
                  <a:srgbClr val="C00000"/>
                </a:solidFill>
                <a:latin typeface="微软雅黑" pitchFamily="34" charset="-122"/>
                <a:ea typeface="微软雅黑" pitchFamily="34" charset="-122"/>
              </a:rPr>
              <a:t>组件</a:t>
            </a:r>
            <a:r>
              <a:rPr lang="zh-CN" altLang="en-US" sz="1600" b="1" dirty="0">
                <a:latin typeface="微软雅黑" pitchFamily="34" charset="-122"/>
                <a:ea typeface="微软雅黑" pitchFamily="34" charset="-122"/>
              </a:rPr>
              <a:t>，负责分组转发。</a:t>
            </a:r>
            <a:endParaRPr lang="en-US" altLang="zh-CN" sz="1600"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控制</a:t>
            </a:r>
            <a:r>
              <a:rPr lang="zh-CN" altLang="en-US" sz="1600" b="1" dirty="0" smtClean="0">
                <a:solidFill>
                  <a:srgbClr val="C00000"/>
                </a:solidFill>
                <a:latin typeface="微软雅黑" pitchFamily="34" charset="-122"/>
                <a:ea typeface="微软雅黑" pitchFamily="34" charset="-122"/>
              </a:rPr>
              <a:t>通道</a:t>
            </a:r>
            <a:r>
              <a:rPr lang="zh-CN" altLang="en-US" sz="1600" b="1" dirty="0" smtClean="0">
                <a:latin typeface="微软雅黑" pitchFamily="34" charset="-122"/>
                <a:ea typeface="微软雅黑" pitchFamily="34" charset="-122"/>
              </a:rPr>
              <a:t>：与</a:t>
            </a:r>
            <a:r>
              <a:rPr lang="en-US" altLang="zh-CN" sz="1600" b="1" dirty="0">
                <a:latin typeface="微软雅黑" pitchFamily="34" charset="-122"/>
                <a:ea typeface="微软雅黑" pitchFamily="34" charset="-122"/>
              </a:rPr>
              <a:t>SDN</a:t>
            </a:r>
            <a:r>
              <a:rPr lang="zh-CN" altLang="en-US" sz="1600" b="1" dirty="0">
                <a:latin typeface="微软雅黑" pitchFamily="34" charset="-122"/>
                <a:ea typeface="微软雅黑" pitchFamily="34" charset="-122"/>
              </a:rPr>
              <a:t>控制器</a:t>
            </a:r>
            <a:r>
              <a:rPr lang="zh-CN" altLang="en-US" sz="1600" b="1" dirty="0" smtClean="0">
                <a:latin typeface="微软雅黑" pitchFamily="34" charset="-122"/>
                <a:ea typeface="微软雅黑" pitchFamily="34" charset="-122"/>
              </a:rPr>
              <a:t>之间</a:t>
            </a:r>
            <a:r>
              <a:rPr lang="zh-CN" altLang="en-US" sz="1600" b="1" dirty="0" smtClean="0">
                <a:solidFill>
                  <a:srgbClr val="C00000"/>
                </a:solidFill>
                <a:latin typeface="微软雅黑" pitchFamily="34" charset="-122"/>
                <a:ea typeface="微软雅黑" pitchFamily="34" charset="-122"/>
              </a:rPr>
              <a:t>传输</a:t>
            </a:r>
            <a:r>
              <a:rPr lang="zh-CN" altLang="en-US" sz="1600" b="1" dirty="0">
                <a:solidFill>
                  <a:srgbClr val="C00000"/>
                </a:solidFill>
                <a:latin typeface="微软雅黑" pitchFamily="34" charset="-122"/>
                <a:ea typeface="微软雅黑" pitchFamily="34" charset="-122"/>
              </a:rPr>
              <a:t>控制和管理信息的逻辑通道</a:t>
            </a:r>
            <a:r>
              <a:rPr lang="zh-CN" altLang="en-US" sz="1600" b="1" dirty="0" smtClean="0">
                <a:latin typeface="微软雅黑" pitchFamily="34" charset="-122"/>
                <a:ea typeface="微软雅黑" pitchFamily="34" charset="-122"/>
              </a:rPr>
              <a:t>，负责与控制器交互。</a:t>
            </a:r>
            <a:endParaRPr lang="zh-CN" altLang="en-US" sz="1600" b="1" dirty="0">
              <a:latin typeface="微软雅黑" pitchFamily="34" charset="-122"/>
              <a:ea typeface="微软雅黑" pitchFamily="34" charset="-122"/>
            </a:endParaRPr>
          </a:p>
        </p:txBody>
      </p:sp>
      <p:graphicFrame>
        <p:nvGraphicFramePr>
          <p:cNvPr id="3" name="对象 2"/>
          <p:cNvGraphicFramePr>
            <a:graphicFrameLocks noChangeAspect="1"/>
          </p:cNvGraphicFramePr>
          <p:nvPr>
            <p:extLst/>
          </p:nvPr>
        </p:nvGraphicFramePr>
        <p:xfrm>
          <a:off x="5892800" y="1487849"/>
          <a:ext cx="3037840" cy="2190071"/>
        </p:xfrm>
        <a:graphic>
          <a:graphicData uri="http://schemas.openxmlformats.org/presentationml/2006/ole">
            <mc:AlternateContent xmlns:mc="http://schemas.openxmlformats.org/markup-compatibility/2006">
              <mc:Choice xmlns:v="urn:schemas-microsoft-com:vml" Requires="v">
                <p:oleObj spid="_x0000_s5128" name="Visio" r:id="rId5" imgW="2184415" imgH="1574891" progId="Visio.Drawing.15">
                  <p:embed/>
                </p:oleObj>
              </mc:Choice>
              <mc:Fallback>
                <p:oleObj name="Visio" r:id="rId5" imgW="2184415" imgH="1574891" progId="Visio.Drawing.15">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2800" y="1487849"/>
                        <a:ext cx="3037840" cy="2190071"/>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7515749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3" y="1009413"/>
            <a:ext cx="4866777" cy="3041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数据通路：</a:t>
            </a:r>
            <a:endParaRPr lang="en-US" altLang="zh-CN" b="1" dirty="0" smtClean="0">
              <a:latin typeface="微软雅黑" pitchFamily="34" charset="-122"/>
              <a:ea typeface="微软雅黑" pitchFamily="34" charset="-122"/>
            </a:endParaRPr>
          </a:p>
          <a:p>
            <a:pPr marL="742950" lvl="1" indent="-285750">
              <a:lnSpc>
                <a:spcPts val="29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流表</a:t>
            </a:r>
            <a:r>
              <a:rPr lang="zh-CN" altLang="en-US" sz="1600" b="1" dirty="0">
                <a:latin typeface="微软雅黑" pitchFamily="34" charset="-122"/>
                <a:ea typeface="微软雅黑" pitchFamily="34" charset="-122"/>
              </a:rPr>
              <a:t>：数据通路的核心，每个流表</a:t>
            </a:r>
            <a:r>
              <a:rPr lang="zh-CN" altLang="en-US" sz="1600" b="1" dirty="0" smtClean="0">
                <a:latin typeface="微软雅黑" pitchFamily="34" charset="-122"/>
                <a:ea typeface="微软雅黑" pitchFamily="34" charset="-122"/>
              </a:rPr>
              <a:t>包含若干条</a:t>
            </a:r>
            <a:r>
              <a:rPr lang="zh-CN" altLang="en-US" sz="1600" b="1" dirty="0" smtClean="0">
                <a:solidFill>
                  <a:srgbClr val="C00000"/>
                </a:solidFill>
                <a:latin typeface="微软雅黑" pitchFamily="34" charset="-122"/>
                <a:ea typeface="微软雅黑" pitchFamily="34" charset="-122"/>
              </a:rPr>
              <a:t>流</a:t>
            </a:r>
            <a:r>
              <a:rPr lang="zh-CN" altLang="en-US" sz="1600" b="1" dirty="0">
                <a:solidFill>
                  <a:srgbClr val="C00000"/>
                </a:solidFill>
                <a:latin typeface="微软雅黑" pitchFamily="34" charset="-122"/>
                <a:ea typeface="微软雅黑" pitchFamily="34" charset="-122"/>
              </a:rPr>
              <a:t>表项</a:t>
            </a:r>
            <a:r>
              <a:rPr lang="zh-CN" altLang="en-US" sz="1600" b="1" dirty="0">
                <a:latin typeface="微软雅黑" pitchFamily="34" charset="-122"/>
                <a:ea typeface="微软雅黑" pitchFamily="34" charset="-122"/>
              </a:rPr>
              <a:t>，每个流表项由</a:t>
            </a:r>
            <a:r>
              <a:rPr lang="zh-CN" altLang="en-US" sz="1600" b="1" dirty="0">
                <a:solidFill>
                  <a:srgbClr val="C00000"/>
                </a:solidFill>
                <a:latin typeface="微软雅黑" pitchFamily="34" charset="-122"/>
                <a:ea typeface="微软雅黑" pitchFamily="34" charset="-122"/>
              </a:rPr>
              <a:t>匹配域、优先级、计数器、指令集和超时时间</a:t>
            </a:r>
            <a:r>
              <a:rPr lang="zh-CN" altLang="en-US" sz="1600" b="1" dirty="0">
                <a:latin typeface="微软雅黑" pitchFamily="34" charset="-122"/>
                <a:ea typeface="微软雅黑" pitchFamily="34" charset="-122"/>
              </a:rPr>
              <a:t>等组成</a:t>
            </a:r>
            <a:r>
              <a:rPr lang="zh-CN" altLang="en-US" sz="1600" b="1" dirty="0" smtClean="0">
                <a:latin typeface="微软雅黑" pitchFamily="34" charset="-122"/>
                <a:ea typeface="微软雅黑" pitchFamily="34" charset="-122"/>
              </a:rPr>
              <a:t>。多个流</a:t>
            </a:r>
            <a:r>
              <a:rPr lang="zh-CN" altLang="en-US" sz="1600" b="1" dirty="0">
                <a:latin typeface="微软雅黑" pitchFamily="34" charset="-122"/>
                <a:ea typeface="微软雅黑" pitchFamily="34" charset="-122"/>
              </a:rPr>
              <a:t>表间</a:t>
            </a:r>
            <a:r>
              <a:rPr lang="zh-CN" altLang="en-US" sz="1600" b="1" dirty="0" smtClean="0">
                <a:latin typeface="微软雅黑" pitchFamily="34" charset="-122"/>
                <a:ea typeface="微软雅黑" pitchFamily="34" charset="-122"/>
              </a:rPr>
              <a:t>可以组成</a:t>
            </a:r>
            <a:r>
              <a:rPr lang="zh-CN" altLang="en-US" sz="1600" b="1" dirty="0" smtClean="0">
                <a:solidFill>
                  <a:srgbClr val="C00000"/>
                </a:solidFill>
                <a:latin typeface="微软雅黑" pitchFamily="34" charset="-122"/>
                <a:ea typeface="微软雅黑" pitchFamily="34" charset="-122"/>
              </a:rPr>
              <a:t>流水线结构</a:t>
            </a:r>
            <a:r>
              <a:rPr lang="zh-CN" altLang="en-US" sz="1600" b="1" dirty="0" smtClean="0">
                <a:latin typeface="微软雅黑" pitchFamily="34" charset="-122"/>
                <a:ea typeface="微软雅黑" pitchFamily="34" charset="-122"/>
              </a:rPr>
              <a:t>，分组依次</a:t>
            </a:r>
            <a:r>
              <a:rPr lang="zh-CN" altLang="en-US" sz="1600" b="1" dirty="0">
                <a:latin typeface="微软雅黑" pitchFamily="34" charset="-122"/>
                <a:ea typeface="微软雅黑" pitchFamily="34" charset="-122"/>
              </a:rPr>
              <a:t>匹配这些流表来决定如何被处理</a:t>
            </a:r>
            <a:r>
              <a:rPr lang="zh-CN" altLang="en-US" sz="1600" b="1" dirty="0" smtClean="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nSpc>
                <a:spcPts val="29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组表</a:t>
            </a:r>
            <a:r>
              <a:rPr lang="zh-CN" altLang="en-US" sz="1600" b="1" dirty="0" smtClean="0">
                <a:latin typeface="微软雅黑" pitchFamily="34" charset="-122"/>
                <a:ea typeface="微软雅黑" pitchFamily="34" charset="-122"/>
              </a:rPr>
              <a:t>：实现</a:t>
            </a:r>
            <a:r>
              <a:rPr lang="zh-CN" altLang="en-US" sz="1600" b="1" dirty="0" smtClean="0">
                <a:solidFill>
                  <a:srgbClr val="C00000"/>
                </a:solidFill>
                <a:latin typeface="微软雅黑" pitchFamily="34" charset="-122"/>
                <a:ea typeface="微软雅黑" pitchFamily="34" charset="-122"/>
              </a:rPr>
              <a:t>复杂的转发</a:t>
            </a:r>
            <a:r>
              <a:rPr lang="zh-CN" altLang="en-US" sz="1600" b="1" dirty="0">
                <a:solidFill>
                  <a:srgbClr val="C00000"/>
                </a:solidFill>
                <a:latin typeface="微软雅黑" pitchFamily="34" charset="-122"/>
                <a:ea typeface="微软雅黑" pitchFamily="34" charset="-122"/>
              </a:rPr>
              <a:t>策略</a:t>
            </a:r>
            <a:r>
              <a:rPr lang="zh-CN" altLang="en-US" sz="1600" b="1" dirty="0">
                <a:latin typeface="微软雅黑" pitchFamily="34" charset="-122"/>
                <a:ea typeface="微软雅黑" pitchFamily="34" charset="-122"/>
              </a:rPr>
              <a:t>，如多播、负载均衡</a:t>
            </a:r>
            <a:r>
              <a:rPr lang="zh-CN" altLang="en-US" sz="1600" b="1" dirty="0" smtClean="0">
                <a:latin typeface="微软雅黑" pitchFamily="34" charset="-122"/>
                <a:ea typeface="微软雅黑" pitchFamily="34" charset="-122"/>
              </a:rPr>
              <a:t>等。</a:t>
            </a:r>
            <a:endParaRPr lang="en-US" altLang="zh-CN" sz="1600" b="1" dirty="0" smtClean="0">
              <a:latin typeface="微软雅黑" pitchFamily="34" charset="-122"/>
              <a:ea typeface="微软雅黑" pitchFamily="34" charset="-122"/>
            </a:endParaRPr>
          </a:p>
        </p:txBody>
      </p:sp>
      <p:graphicFrame>
        <p:nvGraphicFramePr>
          <p:cNvPr id="8" name="对象 7"/>
          <p:cNvGraphicFramePr>
            <a:graphicFrameLocks noChangeAspect="1"/>
          </p:cNvGraphicFramePr>
          <p:nvPr>
            <p:extLst/>
          </p:nvPr>
        </p:nvGraphicFramePr>
        <p:xfrm>
          <a:off x="5892800" y="1487849"/>
          <a:ext cx="3037840" cy="2190071"/>
        </p:xfrm>
        <a:graphic>
          <a:graphicData uri="http://schemas.openxmlformats.org/presentationml/2006/ole">
            <mc:AlternateContent xmlns:mc="http://schemas.openxmlformats.org/markup-compatibility/2006">
              <mc:Choice xmlns:v="urn:schemas-microsoft-com:vml" Requires="v">
                <p:oleObj spid="_x0000_s6152" name="Visio" r:id="rId5" imgW="2184415" imgH="1574891" progId="Visio.Drawing.15">
                  <p:embed/>
                </p:oleObj>
              </mc:Choice>
              <mc:Fallback>
                <p:oleObj name="Visio" r:id="rId5" imgW="2184415" imgH="1574891" progId="Visio.Drawing.15">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2800" y="1487849"/>
                        <a:ext cx="3037840" cy="2190071"/>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15681504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p:cNvGraphicFramePr>
            <a:graphicFrameLocks noChangeAspect="1"/>
          </p:cNvGraphicFramePr>
          <p:nvPr>
            <p:extLst/>
          </p:nvPr>
        </p:nvGraphicFramePr>
        <p:xfrm>
          <a:off x="5892800" y="1487849"/>
          <a:ext cx="3037840" cy="2190071"/>
        </p:xfrm>
        <a:graphic>
          <a:graphicData uri="http://schemas.openxmlformats.org/presentationml/2006/ole">
            <mc:AlternateContent xmlns:mc="http://schemas.openxmlformats.org/markup-compatibility/2006">
              <mc:Choice xmlns:v="urn:schemas-microsoft-com:vml" Requires="v">
                <p:oleObj spid="_x0000_s7176" name="Visio" r:id="rId5" imgW="2184415" imgH="1574891" progId="Visio.Drawing.15">
                  <p:embed/>
                </p:oleObj>
              </mc:Choice>
              <mc:Fallback>
                <p:oleObj name="Visio" r:id="rId5" imgW="2184415" imgH="1574891" progId="Visio.Drawing.15">
                  <p:embed/>
                  <p:pic>
                    <p:nvPicPr>
                      <p:cNvPr id="11" name="对象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2800" y="1487849"/>
                        <a:ext cx="3037840" cy="2190071"/>
                      </a:xfrm>
                      <a:prstGeom prst="rect">
                        <a:avLst/>
                      </a:prstGeom>
                      <a:noFill/>
                    </p:spPr>
                  </p:pic>
                </p:oleObj>
              </mc:Fallback>
            </mc:AlternateContent>
          </a:graphicData>
        </a:graphic>
      </p:graphicFrame>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3" y="1009413"/>
            <a:ext cx="4595817" cy="192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smtClean="0">
                <a:latin typeface="微软雅黑" pitchFamily="34" charset="-122"/>
                <a:ea typeface="微软雅黑" pitchFamily="34" charset="-122"/>
              </a:rPr>
              <a:t>数据通路：</a:t>
            </a:r>
            <a:endParaRPr lang="en-US" altLang="zh-CN" b="1" dirty="0" smtClean="0">
              <a:latin typeface="微软雅黑" pitchFamily="34" charset="-122"/>
              <a:ea typeface="微软雅黑" pitchFamily="34" charset="-122"/>
            </a:endParaRPr>
          </a:p>
          <a:p>
            <a:pPr marL="742950" lvl="1" indent="-285750">
              <a:lnSpc>
                <a:spcPts val="29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计量</a:t>
            </a:r>
            <a:r>
              <a:rPr lang="zh-CN" altLang="en-US" sz="1600" b="1" dirty="0">
                <a:solidFill>
                  <a:srgbClr val="C00000"/>
                </a:solidFill>
                <a:latin typeface="微软雅黑" pitchFamily="34" charset="-122"/>
                <a:ea typeface="微软雅黑" pitchFamily="34" charset="-122"/>
              </a:rPr>
              <a:t>表</a:t>
            </a:r>
            <a:r>
              <a:rPr lang="zh-CN" altLang="en-US" sz="1600" b="1" dirty="0">
                <a:latin typeface="微软雅黑" pitchFamily="34" charset="-122"/>
                <a:ea typeface="微软雅黑" pitchFamily="34" charset="-122"/>
              </a:rPr>
              <a:t>：用于</a:t>
            </a:r>
            <a:r>
              <a:rPr lang="zh-CN" altLang="en-US" sz="1600" b="1" dirty="0">
                <a:solidFill>
                  <a:srgbClr val="C00000"/>
                </a:solidFill>
                <a:latin typeface="微软雅黑" pitchFamily="34" charset="-122"/>
                <a:ea typeface="微软雅黑" pitchFamily="34" charset="-122"/>
              </a:rPr>
              <a:t>实现服务质量控制</a:t>
            </a:r>
            <a:r>
              <a:rPr lang="zh-CN" altLang="en-US" sz="1600" b="1" dirty="0" smtClean="0">
                <a:solidFill>
                  <a:srgbClr val="C00000"/>
                </a:solidFill>
                <a:latin typeface="微软雅黑" pitchFamily="34" charset="-122"/>
                <a:ea typeface="微软雅黑" pitchFamily="34" charset="-122"/>
              </a:rPr>
              <a:t>和流量</a:t>
            </a:r>
            <a:r>
              <a:rPr lang="zh-CN" altLang="en-US" sz="1600" b="1" dirty="0">
                <a:solidFill>
                  <a:srgbClr val="C00000"/>
                </a:solidFill>
                <a:latin typeface="微软雅黑" pitchFamily="34" charset="-122"/>
                <a:ea typeface="微软雅黑" pitchFamily="34" charset="-122"/>
              </a:rPr>
              <a:t>速率控制</a:t>
            </a:r>
            <a:r>
              <a:rPr lang="zh-CN" altLang="en-US" sz="1600" b="1" dirty="0">
                <a:latin typeface="微软雅黑" pitchFamily="34" charset="-122"/>
                <a:ea typeface="微软雅黑" pitchFamily="34" charset="-122"/>
              </a:rPr>
              <a:t>，包括限速、流量标记或丢弃超过阈值的流量分组</a:t>
            </a:r>
            <a:r>
              <a:rPr lang="zh-CN" altLang="en-US" sz="1600" b="1" dirty="0" smtClean="0">
                <a:latin typeface="微软雅黑" pitchFamily="34" charset="-122"/>
                <a:ea typeface="微软雅黑" pitchFamily="34" charset="-122"/>
              </a:rPr>
              <a:t>等。</a:t>
            </a:r>
            <a:endParaRPr lang="en-US" altLang="zh-CN" sz="1600" b="1" dirty="0">
              <a:latin typeface="微软雅黑" pitchFamily="34" charset="-122"/>
              <a:ea typeface="微软雅黑" pitchFamily="34" charset="-122"/>
            </a:endParaRPr>
          </a:p>
          <a:p>
            <a:pPr marL="742950" lvl="1" indent="-285750">
              <a:lnSpc>
                <a:spcPts val="29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端口</a:t>
            </a:r>
            <a:r>
              <a:rPr lang="zh-CN" altLang="en-US" sz="1600" b="1" dirty="0" smtClean="0">
                <a:latin typeface="微软雅黑" pitchFamily="34" charset="-122"/>
                <a:ea typeface="微软雅黑" pitchFamily="34" charset="-122"/>
              </a:rPr>
              <a:t>：</a:t>
            </a:r>
            <a:r>
              <a:rPr lang="zh-CN" altLang="en-US" sz="1600" b="1" dirty="0" smtClean="0">
                <a:solidFill>
                  <a:srgbClr val="C00000"/>
                </a:solidFill>
                <a:latin typeface="微软雅黑" pitchFamily="34" charset="-122"/>
                <a:ea typeface="微软雅黑" pitchFamily="34" charset="-122"/>
              </a:rPr>
              <a:t>分组进出</a:t>
            </a:r>
            <a:r>
              <a:rPr lang="zh-CN" altLang="en-US" sz="1600" b="1" dirty="0">
                <a:solidFill>
                  <a:srgbClr val="C00000"/>
                </a:solidFill>
                <a:latin typeface="微软雅黑" pitchFamily="34" charset="-122"/>
                <a:ea typeface="微软雅黑" pitchFamily="34" charset="-122"/>
              </a:rPr>
              <a:t>交换机的物理或逻辑</a:t>
            </a:r>
            <a:r>
              <a:rPr lang="zh-CN" altLang="en-US" sz="1600" b="1" dirty="0" smtClean="0">
                <a:solidFill>
                  <a:srgbClr val="C00000"/>
                </a:solidFill>
                <a:latin typeface="微软雅黑" pitchFamily="34" charset="-122"/>
                <a:ea typeface="微软雅黑" pitchFamily="34" charset="-122"/>
              </a:rPr>
              <a:t>接口</a:t>
            </a:r>
            <a:r>
              <a:rPr lang="zh-CN" altLang="en-US" sz="1600" b="1" dirty="0" smtClean="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p:txBody>
      </p:sp>
      <p:grpSp>
        <p:nvGrpSpPr>
          <p:cNvPr id="8" name="组合 7"/>
          <p:cNvGrpSpPr/>
          <p:nvPr/>
        </p:nvGrpSpPr>
        <p:grpSpPr>
          <a:xfrm>
            <a:off x="881765" y="3316689"/>
            <a:ext cx="7830504" cy="1227118"/>
            <a:chOff x="1581847" y="3821835"/>
            <a:chExt cx="6122819" cy="990877"/>
          </a:xfrm>
        </p:grpSpPr>
        <p:sp>
          <p:nvSpPr>
            <p:cNvPr id="9" name="对角圆角矩形 8"/>
            <p:cNvSpPr/>
            <p:nvPr/>
          </p:nvSpPr>
          <p:spPr>
            <a:xfrm>
              <a:off x="1581847" y="3821835"/>
              <a:ext cx="6122819" cy="99087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688165" y="3904548"/>
              <a:ext cx="5940720" cy="854406"/>
            </a:xfrm>
            <a:prstGeom prst="rect">
              <a:avLst/>
            </a:prstGeom>
          </p:spPr>
          <p:txBody>
            <a:bodyPr wrap="square">
              <a:spAutoFit/>
            </a:bodyPr>
            <a:lstStyle/>
            <a:p>
              <a:pPr algn="just">
                <a:lnSpc>
                  <a:spcPts val="2600"/>
                </a:lnSpc>
                <a:buClr>
                  <a:srgbClr val="0070C0"/>
                </a:buClr>
              </a:pPr>
              <a:r>
                <a:rPr lang="zh-CN" altLang="en-US" sz="1600" b="1" dirty="0" smtClean="0">
                  <a:solidFill>
                    <a:schemeClr val="bg1"/>
                  </a:solidFill>
                  <a:latin typeface="微软雅黑" pitchFamily="34" charset="-122"/>
                  <a:ea typeface="微软雅黑" pitchFamily="34" charset="-122"/>
                </a:rPr>
                <a:t>当</a:t>
              </a:r>
              <a:r>
                <a:rPr lang="zh-CN" altLang="en-US" sz="1600" b="1" dirty="0">
                  <a:solidFill>
                    <a:schemeClr val="bg1"/>
                  </a:solidFill>
                  <a:latin typeface="微软雅黑" pitchFamily="34" charset="-122"/>
                  <a:ea typeface="微软雅黑" pitchFamily="34" charset="-122"/>
                </a:rPr>
                <a:t>分组</a:t>
              </a:r>
              <a:r>
                <a:rPr lang="zh-CN" altLang="en-US" sz="1600" b="1" dirty="0" smtClean="0">
                  <a:solidFill>
                    <a:schemeClr val="bg1"/>
                  </a:solidFill>
                  <a:latin typeface="微软雅黑" pitchFamily="34" charset="-122"/>
                  <a:ea typeface="微软雅黑" pitchFamily="34" charset="-122"/>
                </a:rPr>
                <a:t>进入交换机的数据通路后，会</a:t>
              </a:r>
              <a:r>
                <a:rPr lang="zh-CN" altLang="en-US" sz="1600" b="1" dirty="0">
                  <a:solidFill>
                    <a:schemeClr val="bg1"/>
                  </a:solidFill>
                  <a:latin typeface="微软雅黑" pitchFamily="34" charset="-122"/>
                  <a:ea typeface="微软雅黑" pitchFamily="34" charset="-122"/>
                </a:rPr>
                <a:t>从第一个流表开始匹配。匹配</a:t>
              </a:r>
              <a:r>
                <a:rPr lang="zh-CN" altLang="en-US" sz="1600" b="1" dirty="0" smtClean="0">
                  <a:solidFill>
                    <a:schemeClr val="bg1"/>
                  </a:solidFill>
                  <a:latin typeface="微软雅黑" pitchFamily="34" charset="-122"/>
                  <a:ea typeface="微软雅黑" pitchFamily="34" charset="-122"/>
                </a:rPr>
                <a:t>成功则执行</a:t>
              </a:r>
              <a:r>
                <a:rPr lang="zh-CN" altLang="en-US" sz="1600" b="1" dirty="0">
                  <a:solidFill>
                    <a:schemeClr val="bg1"/>
                  </a:solidFill>
                  <a:latin typeface="微软雅黑" pitchFamily="34" charset="-122"/>
                  <a:ea typeface="微软雅黑" pitchFamily="34" charset="-122"/>
                </a:rPr>
                <a:t>该流表项中的指令（如</a:t>
              </a:r>
              <a:r>
                <a:rPr lang="zh-CN" altLang="en-US" sz="1600" b="1" dirty="0" smtClean="0">
                  <a:solidFill>
                    <a:schemeClr val="bg1"/>
                  </a:solidFill>
                  <a:latin typeface="微软雅黑" pitchFamily="34" charset="-122"/>
                  <a:ea typeface="微软雅黑" pitchFamily="34" charset="-122"/>
                </a:rPr>
                <a:t>修改分组、丢弃分组、跳</a:t>
              </a:r>
              <a:r>
                <a:rPr lang="zh-CN" altLang="en-US" sz="1600" b="1" dirty="0">
                  <a:solidFill>
                    <a:schemeClr val="bg1"/>
                  </a:solidFill>
                  <a:latin typeface="微软雅黑" pitchFamily="34" charset="-122"/>
                  <a:ea typeface="微软雅黑" pitchFamily="34" charset="-122"/>
                </a:rPr>
                <a:t>转到其他流表、</a:t>
              </a:r>
              <a:r>
                <a:rPr lang="zh-CN" altLang="en-US" sz="1600" b="1" dirty="0" smtClean="0">
                  <a:solidFill>
                    <a:schemeClr val="bg1"/>
                  </a:solidFill>
                  <a:latin typeface="微软雅黑" pitchFamily="34" charset="-122"/>
                  <a:ea typeface="微软雅黑" pitchFamily="34" charset="-122"/>
                </a:rPr>
                <a:t>转发分组到</a:t>
              </a:r>
              <a:r>
                <a:rPr lang="zh-CN" altLang="en-US" sz="1600" b="1" dirty="0">
                  <a:solidFill>
                    <a:schemeClr val="bg1"/>
                  </a:solidFill>
                  <a:latin typeface="微软雅黑" pitchFamily="34" charset="-122"/>
                  <a:ea typeface="微软雅黑" pitchFamily="34" charset="-122"/>
                </a:rPr>
                <a:t>某个</a:t>
              </a:r>
              <a:r>
                <a:rPr lang="zh-CN" altLang="en-US" sz="1600" b="1" dirty="0" smtClean="0">
                  <a:solidFill>
                    <a:schemeClr val="bg1"/>
                  </a:solidFill>
                  <a:latin typeface="微软雅黑" pitchFamily="34" charset="-122"/>
                  <a:ea typeface="微软雅黑" pitchFamily="34" charset="-122"/>
                </a:rPr>
                <a:t>端口等）</a:t>
              </a:r>
              <a:r>
                <a:rPr lang="zh-CN" altLang="en-US" sz="1600" b="1" dirty="0">
                  <a:solidFill>
                    <a:schemeClr val="bg1"/>
                  </a:solidFill>
                  <a:latin typeface="微软雅黑" pitchFamily="34" charset="-122"/>
                  <a:ea typeface="微软雅黑" pitchFamily="34" charset="-122"/>
                </a:rPr>
                <a:t>。如果所有流表均未匹配，则通常会被丢弃或发送给控制器处理。</a:t>
              </a:r>
            </a:p>
          </p:txBody>
        </p:sp>
      </p:grpSp>
    </p:spTree>
    <p:custDataLst>
      <p:tags r:id="rId2"/>
    </p:custDataLst>
    <p:extLst>
      <p:ext uri="{BB962C8B-B14F-4D97-AF65-F5344CB8AC3E}">
        <p14:creationId xmlns:p14="http://schemas.microsoft.com/office/powerpoint/2010/main" val="5688041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3" y="1009413"/>
            <a:ext cx="4839657" cy="3349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900"/>
              </a:lnSpc>
              <a:buClr>
                <a:srgbClr val="0070C0"/>
              </a:buClr>
              <a:buFont typeface="Wingdings" pitchFamily="2" charset="2"/>
              <a:buChar char="l"/>
            </a:pPr>
            <a:r>
              <a:rPr lang="zh-CN" altLang="en-US" b="1" dirty="0" smtClean="0">
                <a:latin typeface="微软雅黑" pitchFamily="34" charset="-122"/>
                <a:ea typeface="微软雅黑" pitchFamily="34" charset="-122"/>
              </a:rPr>
              <a:t>控制通道：</a:t>
            </a:r>
            <a:endParaRPr lang="en-US" altLang="zh-CN"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交换机中与</a:t>
            </a:r>
            <a:r>
              <a:rPr lang="zh-CN" altLang="en-US" sz="1600" b="1" dirty="0">
                <a:latin typeface="微软雅黑" pitchFamily="34" charset="-122"/>
                <a:ea typeface="微软雅黑" pitchFamily="34" charset="-122"/>
              </a:rPr>
              <a:t>控制器进行通信的逻辑实体</a:t>
            </a:r>
            <a:r>
              <a:rPr lang="zh-CN" altLang="en-US" sz="1600" b="1" dirty="0" smtClean="0">
                <a:latin typeface="微软雅黑" pitchFamily="34" charset="-122"/>
                <a:ea typeface="微软雅黑" pitchFamily="34" charset="-122"/>
              </a:rPr>
              <a:t>，负责</a:t>
            </a:r>
            <a:r>
              <a:rPr lang="zh-CN" altLang="en-US" sz="1600" b="1" dirty="0">
                <a:latin typeface="微软雅黑" pitchFamily="34" charset="-122"/>
                <a:ea typeface="微软雅黑" pitchFamily="34" charset="-122"/>
              </a:rPr>
              <a:t>所有</a:t>
            </a:r>
            <a:r>
              <a:rPr lang="zh-CN" altLang="en-US" sz="1600" b="1" dirty="0">
                <a:solidFill>
                  <a:srgbClr val="C00000"/>
                </a:solidFill>
                <a:latin typeface="微软雅黑" pitchFamily="34" charset="-122"/>
                <a:ea typeface="微软雅黑" pitchFamily="34" charset="-122"/>
              </a:rPr>
              <a:t>控制平面消息的传输与管理</a:t>
            </a:r>
            <a:r>
              <a:rPr lang="zh-CN" altLang="en-US" sz="1600" b="1" dirty="0" smtClean="0">
                <a:latin typeface="微软雅黑" pitchFamily="34" charset="-122"/>
                <a:ea typeface="微软雅黑" pitchFamily="34" charset="-122"/>
              </a:rPr>
              <a:t>。</a:t>
            </a:r>
            <a:r>
              <a:rPr lang="zh-CN" altLang="en-US" sz="1600" b="1" dirty="0">
                <a:latin typeface="微软雅黑" pitchFamily="34" charset="-122"/>
                <a:ea typeface="微软雅黑" pitchFamily="34" charset="-122"/>
              </a:rPr>
              <a:t>控制器通过控制通道控制和管理交换机，并接收来自交换机的反馈。</a:t>
            </a:r>
            <a:endParaRPr lang="en-US" altLang="zh-CN" sz="16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由一</a:t>
            </a:r>
            <a:r>
              <a:rPr lang="zh-CN" altLang="en-US" sz="1600" b="1" dirty="0">
                <a:latin typeface="微软雅黑" pitchFamily="34" charset="-122"/>
                <a:ea typeface="微软雅黑" pitchFamily="34" charset="-122"/>
              </a:rPr>
              <a:t>个或多个</a:t>
            </a:r>
            <a:r>
              <a:rPr lang="en-US" altLang="zh-CN" sz="1600" b="1" dirty="0">
                <a:solidFill>
                  <a:srgbClr val="C00000"/>
                </a:solidFill>
                <a:latin typeface="微软雅黑" pitchFamily="34" charset="-122"/>
                <a:ea typeface="微软雅黑" pitchFamily="34" charset="-122"/>
              </a:rPr>
              <a:t>OpenFlow</a:t>
            </a:r>
            <a:r>
              <a:rPr lang="zh-CN" altLang="en-US" sz="1600" b="1" dirty="0" smtClean="0">
                <a:solidFill>
                  <a:srgbClr val="C00000"/>
                </a:solidFill>
                <a:latin typeface="微软雅黑" pitchFamily="34" charset="-122"/>
                <a:ea typeface="微软雅黑" pitchFamily="34" charset="-122"/>
              </a:rPr>
              <a:t>通道</a:t>
            </a:r>
            <a:r>
              <a:rPr lang="zh-CN" altLang="en-US" sz="1600" b="1" dirty="0" smtClean="0">
                <a:latin typeface="微软雅黑" pitchFamily="34" charset="-122"/>
                <a:ea typeface="微软雅黑" pitchFamily="34" charset="-122"/>
              </a:rPr>
              <a:t>组成，而</a:t>
            </a:r>
            <a:r>
              <a:rPr lang="zh-CN" altLang="en-US" sz="1600" b="1" dirty="0">
                <a:latin typeface="微软雅黑" pitchFamily="34" charset="-122"/>
                <a:ea typeface="微软雅黑" pitchFamily="34" charset="-122"/>
              </a:rPr>
              <a:t>每个</a:t>
            </a:r>
            <a:r>
              <a:rPr lang="en-US" altLang="zh-CN" sz="1600" b="1" dirty="0" smtClean="0">
                <a:latin typeface="微软雅黑" pitchFamily="34" charset="-122"/>
                <a:ea typeface="微软雅黑" pitchFamily="34" charset="-122"/>
              </a:rPr>
              <a:t>OpenFlow</a:t>
            </a:r>
            <a:r>
              <a:rPr lang="zh-CN" altLang="en-US" sz="1600" b="1" dirty="0" smtClean="0">
                <a:latin typeface="微软雅黑" pitchFamily="34" charset="-122"/>
                <a:ea typeface="微软雅黑" pitchFamily="34" charset="-122"/>
              </a:rPr>
              <a:t>通道均</a:t>
            </a:r>
            <a:r>
              <a:rPr lang="zh-CN" altLang="en-US" sz="1600" b="1" dirty="0">
                <a:latin typeface="微软雅黑" pitchFamily="34" charset="-122"/>
                <a:ea typeface="微软雅黑" pitchFamily="34" charset="-122"/>
              </a:rPr>
              <a:t>可以</a:t>
            </a:r>
            <a:r>
              <a:rPr lang="zh-CN" altLang="en-US" sz="1600" b="1" dirty="0" smtClean="0">
                <a:latin typeface="微软雅黑" pitchFamily="34" charset="-122"/>
                <a:ea typeface="微软雅黑" pitchFamily="34" charset="-122"/>
              </a:rPr>
              <a:t>让交换机</a:t>
            </a:r>
            <a:r>
              <a:rPr lang="zh-CN" altLang="en-US" sz="1600" b="1" dirty="0">
                <a:latin typeface="微软雅黑" pitchFamily="34" charset="-122"/>
                <a:ea typeface="微软雅黑" pitchFamily="34" charset="-122"/>
              </a:rPr>
              <a:t>与一个控制器相连接，</a:t>
            </a:r>
            <a:r>
              <a:rPr lang="zh-CN" altLang="en-US" sz="1600" b="1" dirty="0" smtClean="0">
                <a:latin typeface="微软雅黑" pitchFamily="34" charset="-122"/>
                <a:ea typeface="微软雅黑" pitchFamily="34" charset="-122"/>
              </a:rPr>
              <a:t>从而</a:t>
            </a:r>
            <a:r>
              <a:rPr lang="zh-CN" altLang="en-US" sz="1600" b="1" dirty="0" smtClean="0">
                <a:solidFill>
                  <a:srgbClr val="C00000"/>
                </a:solidFill>
                <a:latin typeface="微软雅黑" pitchFamily="34" charset="-122"/>
                <a:ea typeface="微软雅黑" pitchFamily="34" charset="-122"/>
              </a:rPr>
              <a:t>支持同时</a:t>
            </a:r>
            <a:r>
              <a:rPr lang="zh-CN" altLang="en-US" sz="1600" b="1" dirty="0">
                <a:solidFill>
                  <a:srgbClr val="C00000"/>
                </a:solidFill>
                <a:latin typeface="微软雅黑" pitchFamily="34" charset="-122"/>
                <a:ea typeface="微软雅黑" pitchFamily="34" charset="-122"/>
              </a:rPr>
              <a:t>连接多个控制器</a:t>
            </a:r>
            <a:r>
              <a:rPr lang="zh-CN" altLang="en-US" sz="1600" b="1" dirty="0">
                <a:latin typeface="微软雅黑" pitchFamily="34" charset="-122"/>
                <a:ea typeface="微软雅黑" pitchFamily="34" charset="-122"/>
              </a:rPr>
              <a:t>，实现</a:t>
            </a:r>
            <a:r>
              <a:rPr lang="zh-CN" altLang="en-US" sz="1600" b="1" dirty="0">
                <a:solidFill>
                  <a:srgbClr val="C00000"/>
                </a:solidFill>
                <a:latin typeface="微软雅黑" pitchFamily="34" charset="-122"/>
                <a:ea typeface="微软雅黑" pitchFamily="34" charset="-122"/>
              </a:rPr>
              <a:t>多控制器结构</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endParaRPr lang="en-US" altLang="zh-CN" sz="1600" b="1" dirty="0" smtClean="0">
              <a:latin typeface="微软雅黑" pitchFamily="34" charset="-122"/>
              <a:ea typeface="微软雅黑" pitchFamily="34" charset="-122"/>
            </a:endParaRPr>
          </a:p>
        </p:txBody>
      </p:sp>
      <p:graphicFrame>
        <p:nvGraphicFramePr>
          <p:cNvPr id="7" name="对象 6"/>
          <p:cNvGraphicFramePr>
            <a:graphicFrameLocks noChangeAspect="1"/>
          </p:cNvGraphicFramePr>
          <p:nvPr>
            <p:extLst/>
          </p:nvPr>
        </p:nvGraphicFramePr>
        <p:xfrm>
          <a:off x="5892800" y="1487849"/>
          <a:ext cx="3037840" cy="2190071"/>
        </p:xfrm>
        <a:graphic>
          <a:graphicData uri="http://schemas.openxmlformats.org/presentationml/2006/ole">
            <mc:AlternateContent xmlns:mc="http://schemas.openxmlformats.org/markup-compatibility/2006">
              <mc:Choice xmlns:v="urn:schemas-microsoft-com:vml" Requires="v">
                <p:oleObj spid="_x0000_s8200" name="Visio" r:id="rId5" imgW="2184415" imgH="1574891" progId="Visio.Drawing.15">
                  <p:embed/>
                </p:oleObj>
              </mc:Choice>
              <mc:Fallback>
                <p:oleObj name="Visio" r:id="rId5" imgW="2184415" imgH="1574891" progId="Visio.Drawing.15">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2800" y="1487849"/>
                        <a:ext cx="3037840" cy="2190071"/>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146456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6" name="Rectangle 6"/>
          <p:cNvSpPr>
            <a:spLocks noChangeArrowheads="1"/>
          </p:cNvSpPr>
          <p:nvPr/>
        </p:nvSpPr>
        <p:spPr bwMode="auto">
          <a:xfrm>
            <a:off x="1941968" y="580933"/>
            <a:ext cx="5260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a:solidFill>
                  <a:schemeClr val="bg1"/>
                </a:solidFill>
                <a:latin typeface="微软雅黑" pitchFamily="34" charset="-122"/>
                <a:ea typeface="微软雅黑" pitchFamily="34" charset="-122"/>
              </a:rPr>
              <a:t>OpenFlow</a:t>
            </a:r>
            <a:r>
              <a:rPr lang="zh-CN" altLang="en-US" sz="2000" b="1" dirty="0">
                <a:solidFill>
                  <a:schemeClr val="bg1"/>
                </a:solidFill>
                <a:latin typeface="微软雅黑" pitchFamily="34" charset="-122"/>
                <a:ea typeface="微软雅黑" pitchFamily="34" charset="-122"/>
              </a:rPr>
              <a:t>交换机流表</a:t>
            </a:r>
          </a:p>
        </p:txBody>
      </p:sp>
      <p:sp>
        <p:nvSpPr>
          <p:cNvPr id="4" name="Rectangle 8"/>
          <p:cNvSpPr>
            <a:spLocks noChangeArrowheads="1"/>
          </p:cNvSpPr>
          <p:nvPr/>
        </p:nvSpPr>
        <p:spPr bwMode="auto">
          <a:xfrm>
            <a:off x="545144" y="982254"/>
            <a:ext cx="8053712" cy="16861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流表 </a:t>
            </a:r>
            <a:r>
              <a:rPr lang="en-US" altLang="zh-CN" b="1" dirty="0" smtClean="0">
                <a:solidFill>
                  <a:srgbClr val="C00000"/>
                </a:solidFill>
                <a:latin typeface="微软雅黑" pitchFamily="34" charset="-122"/>
                <a:ea typeface="微软雅黑" pitchFamily="34" charset="-122"/>
              </a:rPr>
              <a:t>(flow table)</a:t>
            </a:r>
            <a:r>
              <a:rPr lang="zh-CN" altLang="en-US" b="1" dirty="0" smtClean="0">
                <a:solidFill>
                  <a:srgbClr val="C00000"/>
                </a:solidFill>
                <a:latin typeface="微软雅黑" pitchFamily="34" charset="-122"/>
                <a:ea typeface="微软雅黑" pitchFamily="34" charset="-122"/>
              </a:rPr>
              <a:t>：</a:t>
            </a:r>
            <a:r>
              <a:rPr lang="en-US" altLang="zh-CN" b="1" dirty="0" smtClean="0">
                <a:latin typeface="微软雅黑" pitchFamily="34" charset="-122"/>
                <a:ea typeface="微软雅黑" pitchFamily="34" charset="-122"/>
              </a:rPr>
              <a:t>OpenFlow</a:t>
            </a:r>
            <a:r>
              <a:rPr lang="zh-CN" altLang="en-US" b="1" dirty="0" smtClean="0">
                <a:latin typeface="微软雅黑" pitchFamily="34" charset="-122"/>
                <a:ea typeface="微软雅黑" pitchFamily="34" charset="-122"/>
              </a:rPr>
              <a:t>交换机的核心模块，规定“匹配 </a:t>
            </a:r>
            <a:r>
              <a:rPr lang="en-US" altLang="zh-CN" b="1" dirty="0" smtClean="0">
                <a:latin typeface="微软雅黑" pitchFamily="34" charset="-122"/>
                <a:ea typeface="微软雅黑" pitchFamily="34" charset="-122"/>
              </a:rPr>
              <a:t>+ </a:t>
            </a:r>
            <a:r>
              <a:rPr lang="zh-CN" altLang="en-US" b="1" dirty="0" smtClean="0">
                <a:latin typeface="微软雅黑" pitchFamily="34" charset="-122"/>
                <a:ea typeface="微软雅黑" pitchFamily="34" charset="-122"/>
              </a:rPr>
              <a:t>动作”的转发表。这里动作包括转发、修改、丢弃，或跳转到其他流表等行为。</a:t>
            </a:r>
            <a:endParaRPr lang="en-US" altLang="zh-CN" b="1" dirty="0" smtClean="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b="1" dirty="0" smtClean="0">
                <a:solidFill>
                  <a:srgbClr val="C00000"/>
                </a:solidFill>
                <a:latin typeface="微软雅黑" pitchFamily="34" charset="-122"/>
                <a:ea typeface="微软雅黑" pitchFamily="34" charset="-122"/>
              </a:rPr>
              <a:t>流：</a:t>
            </a:r>
            <a:r>
              <a:rPr lang="zh-CN" altLang="en-US" b="1" dirty="0" smtClean="0">
                <a:latin typeface="微软雅黑" pitchFamily="34" charset="-122"/>
                <a:ea typeface="微软雅黑" pitchFamily="34" charset="-122"/>
              </a:rPr>
              <a:t>穿过</a:t>
            </a:r>
            <a:r>
              <a:rPr lang="zh-CN" altLang="en-US" b="1" dirty="0">
                <a:latin typeface="微软雅黑" pitchFamily="34" charset="-122"/>
                <a:ea typeface="微软雅黑" pitchFamily="34" charset="-122"/>
              </a:rPr>
              <a:t>网络的一种分组序列，而在此序列中的分组都共享分组首部某些字段的值</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p:txBody>
      </p:sp>
      <p:grpSp>
        <p:nvGrpSpPr>
          <p:cNvPr id="90" name="组合 89"/>
          <p:cNvGrpSpPr/>
          <p:nvPr/>
        </p:nvGrpSpPr>
        <p:grpSpPr>
          <a:xfrm>
            <a:off x="1168203" y="3002607"/>
            <a:ext cx="4630848" cy="1687541"/>
            <a:chOff x="1136453" y="2380307"/>
            <a:chExt cx="4630848" cy="1687541"/>
          </a:xfrm>
        </p:grpSpPr>
        <p:sp>
          <p:nvSpPr>
            <p:cNvPr id="16" name="矩形 15"/>
            <p:cNvSpPr/>
            <p:nvPr/>
          </p:nvSpPr>
          <p:spPr>
            <a:xfrm>
              <a:off x="1136453" y="281301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smtClean="0">
                  <a:solidFill>
                    <a:schemeClr val="tx1"/>
                  </a:solidFill>
                  <a:latin typeface="微软雅黑" panose="020B0503020204020204" pitchFamily="34" charset="-122"/>
                  <a:ea typeface="微软雅黑" panose="020B0503020204020204" pitchFamily="34" charset="-122"/>
                </a:rPr>
                <a:t>1</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17" name="矩形 16"/>
            <p:cNvSpPr/>
            <p:nvPr/>
          </p:nvSpPr>
          <p:spPr>
            <a:xfrm>
              <a:off x="1136453" y="3068779"/>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smtClean="0">
                  <a:solidFill>
                    <a:schemeClr val="tx1"/>
                  </a:solidFill>
                  <a:latin typeface="微软雅黑" panose="020B0503020204020204" pitchFamily="34" charset="-122"/>
                  <a:ea typeface="微软雅黑" panose="020B0503020204020204" pitchFamily="34" charset="-122"/>
                </a:rPr>
                <a:t>2</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18" name="矩形 17"/>
            <p:cNvSpPr/>
            <p:nvPr/>
          </p:nvSpPr>
          <p:spPr>
            <a:xfrm>
              <a:off x="1136453" y="3313897"/>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a:solidFill>
                    <a:schemeClr val="tx1"/>
                  </a:solidFill>
                  <a:latin typeface="微软雅黑" panose="020B0503020204020204" pitchFamily="34" charset="-122"/>
                  <a:ea typeface="微软雅黑" panose="020B0503020204020204" pitchFamily="34" charset="-122"/>
                </a:rPr>
                <a:t>3</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19" name="矩形 18"/>
            <p:cNvSpPr/>
            <p:nvPr/>
          </p:nvSpPr>
          <p:spPr>
            <a:xfrm>
              <a:off x="1136453" y="373262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smtClean="0">
                  <a:solidFill>
                    <a:schemeClr val="tx1"/>
                  </a:solidFill>
                  <a:latin typeface="微软雅黑" panose="020B0503020204020204" pitchFamily="34" charset="-122"/>
                  <a:ea typeface="微软雅黑" panose="020B0503020204020204" pitchFamily="34" charset="-122"/>
                </a:rPr>
                <a:t>N</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20" name="矩形 19"/>
            <p:cNvSpPr/>
            <p:nvPr/>
          </p:nvSpPr>
          <p:spPr>
            <a:xfrm>
              <a:off x="5183600" y="281301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a:solidFill>
                    <a:schemeClr val="tx1"/>
                  </a:solidFill>
                  <a:latin typeface="微软雅黑" panose="020B0503020204020204" pitchFamily="34" charset="-122"/>
                  <a:ea typeface="微软雅黑" panose="020B0503020204020204" pitchFamily="34" charset="-122"/>
                </a:rPr>
                <a:t>1</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21" name="矩形 20"/>
            <p:cNvSpPr/>
            <p:nvPr/>
          </p:nvSpPr>
          <p:spPr>
            <a:xfrm>
              <a:off x="5183600" y="3068779"/>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a:solidFill>
                    <a:schemeClr val="tx1"/>
                  </a:solidFill>
                  <a:latin typeface="微软雅黑" panose="020B0503020204020204" pitchFamily="34" charset="-122"/>
                  <a:ea typeface="微软雅黑" panose="020B0503020204020204" pitchFamily="34" charset="-122"/>
                </a:rPr>
                <a:t>2</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22" name="矩形 21"/>
            <p:cNvSpPr/>
            <p:nvPr/>
          </p:nvSpPr>
          <p:spPr>
            <a:xfrm>
              <a:off x="5183600" y="3313897"/>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a:solidFill>
                    <a:schemeClr val="tx1"/>
                  </a:solidFill>
                  <a:latin typeface="微软雅黑" panose="020B0503020204020204" pitchFamily="34" charset="-122"/>
                  <a:ea typeface="微软雅黑" panose="020B0503020204020204" pitchFamily="34" charset="-122"/>
                </a:rPr>
                <a:t>3</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23" name="矩形 22"/>
            <p:cNvSpPr/>
            <p:nvPr/>
          </p:nvSpPr>
          <p:spPr>
            <a:xfrm>
              <a:off x="5183600" y="3732620"/>
              <a:ext cx="583701" cy="195579"/>
            </a:xfrm>
            <a:prstGeom prst="rect">
              <a:avLst/>
            </a:prstGeom>
            <a:solidFill>
              <a:schemeClr val="bg1">
                <a:lumMod val="85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000" b="1" dirty="0" smtClean="0">
                  <a:solidFill>
                    <a:schemeClr val="tx1"/>
                  </a:solidFill>
                  <a:latin typeface="微软雅黑" panose="020B0503020204020204" pitchFamily="34" charset="-122"/>
                  <a:ea typeface="微软雅黑" panose="020B0503020204020204" pitchFamily="34" charset="-122"/>
                </a:rPr>
                <a:t>端口 </a:t>
              </a:r>
              <a:r>
                <a:rPr lang="en-US" altLang="zh-CN" sz="1000" b="1" dirty="0">
                  <a:solidFill>
                    <a:schemeClr val="tx1"/>
                  </a:solidFill>
                  <a:latin typeface="微软雅黑" panose="020B0503020204020204" pitchFamily="34" charset="-122"/>
                  <a:ea typeface="微软雅黑" panose="020B0503020204020204" pitchFamily="34" charset="-122"/>
                </a:rPr>
                <a:t>N</a:t>
              </a:r>
              <a:endParaRPr lang="zh-CN" altLang="en-US" sz="1000" b="1" dirty="0">
                <a:solidFill>
                  <a:schemeClr val="tx1"/>
                </a:solidFill>
                <a:latin typeface="微软雅黑" panose="020B0503020204020204" pitchFamily="34" charset="-122"/>
                <a:ea typeface="微软雅黑" panose="020B0503020204020204" pitchFamily="34" charset="-122"/>
              </a:endParaRPr>
            </a:p>
          </p:txBody>
        </p:sp>
        <p:sp>
          <p:nvSpPr>
            <p:cNvPr id="2" name="矩形 1"/>
            <p:cNvSpPr/>
            <p:nvPr/>
          </p:nvSpPr>
          <p:spPr>
            <a:xfrm>
              <a:off x="1665837" y="2402010"/>
              <a:ext cx="3603280" cy="1665838"/>
            </a:xfrm>
            <a:prstGeom prst="rect">
              <a:avLst/>
            </a:prstGeom>
            <a:solidFill>
              <a:schemeClr val="accent1">
                <a:lumMod val="60000"/>
                <a:lumOff val="4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416786" y="2380307"/>
              <a:ext cx="2119491" cy="369332"/>
            </a:xfrm>
            <a:prstGeom prst="rect">
              <a:avLst/>
            </a:prstGeom>
          </p:spPr>
          <p:txBody>
            <a:bodyPr wrap="none">
              <a:spAutoFit/>
            </a:bodyPr>
            <a:lstStyle/>
            <a:p>
              <a:r>
                <a:rPr lang="en-US" altLang="zh-CN" b="1" dirty="0" err="1">
                  <a:solidFill>
                    <a:srgbClr val="000066"/>
                  </a:solidFill>
                  <a:latin typeface="微软雅黑" pitchFamily="34" charset="-122"/>
                  <a:ea typeface="微软雅黑" pitchFamily="34" charset="-122"/>
                </a:rPr>
                <a:t>OpenFlow</a:t>
              </a:r>
              <a:r>
                <a:rPr lang="en-US" altLang="zh-CN" b="1" dirty="0">
                  <a:solidFill>
                    <a:srgbClr val="000066"/>
                  </a:solidFill>
                  <a:latin typeface="微软雅黑" pitchFamily="34" charset="-122"/>
                  <a:ea typeface="微软雅黑" pitchFamily="34" charset="-122"/>
                </a:rPr>
                <a:t> </a:t>
              </a:r>
              <a:r>
                <a:rPr lang="zh-CN" altLang="en-US" b="1" dirty="0">
                  <a:solidFill>
                    <a:srgbClr val="000066"/>
                  </a:solidFill>
                  <a:latin typeface="微软雅黑" pitchFamily="34" charset="-122"/>
                  <a:ea typeface="微软雅黑" pitchFamily="34" charset="-122"/>
                </a:rPr>
                <a:t>交换机</a:t>
              </a:r>
              <a:endParaRPr lang="zh-CN" altLang="en-US" dirty="0">
                <a:solidFill>
                  <a:srgbClr val="000066"/>
                </a:solidFill>
              </a:endParaRPr>
            </a:p>
          </p:txBody>
        </p:sp>
        <p:sp>
          <p:nvSpPr>
            <p:cNvPr id="7" name="矩形 6"/>
            <p:cNvSpPr/>
            <p:nvPr/>
          </p:nvSpPr>
          <p:spPr>
            <a:xfrm>
              <a:off x="1783534" y="2727935"/>
              <a:ext cx="3349782" cy="1240324"/>
            </a:xfrm>
            <a:prstGeom prst="rect">
              <a:avLst/>
            </a:prstGeom>
            <a:solidFill>
              <a:schemeClr val="tx2">
                <a:lumMod val="20000"/>
                <a:lumOff val="8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204985" y="3372576"/>
              <a:ext cx="380246" cy="369332"/>
            </a:xfrm>
            <a:prstGeom prst="rect">
              <a:avLst/>
            </a:prstGeom>
            <a:noFill/>
            <a:ln w="9525">
              <a:noFill/>
            </a:ln>
          </p:spPr>
          <p:txBody>
            <a:bodyPr wrap="square" rtlCol="0">
              <a:spAutoFit/>
            </a:bodyPr>
            <a:lstStyle/>
            <a:p>
              <a:r>
                <a:rPr lang="en-US" altLang="zh-CN"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sp>
          <p:nvSpPr>
            <p:cNvPr id="25" name="文本框 24"/>
            <p:cNvSpPr txBox="1"/>
            <p:nvPr/>
          </p:nvSpPr>
          <p:spPr>
            <a:xfrm>
              <a:off x="5285327" y="3372576"/>
              <a:ext cx="380246" cy="369332"/>
            </a:xfrm>
            <a:prstGeom prst="rect">
              <a:avLst/>
            </a:prstGeom>
            <a:noFill/>
            <a:ln w="9525">
              <a:noFill/>
            </a:ln>
          </p:spPr>
          <p:txBody>
            <a:bodyPr wrap="square" rtlCol="0">
              <a:spAutoFit/>
            </a:bodyPr>
            <a:lstStyle/>
            <a:p>
              <a:r>
                <a:rPr lang="en-US" altLang="zh-CN"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grpSp>
          <p:nvGrpSpPr>
            <p:cNvPr id="85" name="组合 84"/>
            <p:cNvGrpSpPr/>
            <p:nvPr/>
          </p:nvGrpSpPr>
          <p:grpSpPr>
            <a:xfrm>
              <a:off x="2201693" y="2811687"/>
              <a:ext cx="2548801" cy="957158"/>
              <a:chOff x="3469178" y="2781685"/>
              <a:chExt cx="2548801" cy="957158"/>
            </a:xfrm>
          </p:grpSpPr>
          <p:sp>
            <p:nvSpPr>
              <p:cNvPr id="26" name="文本框 25"/>
              <p:cNvSpPr txBox="1"/>
              <p:nvPr/>
            </p:nvSpPr>
            <p:spPr>
              <a:xfrm>
                <a:off x="5144460" y="2781685"/>
                <a:ext cx="786779" cy="253916"/>
              </a:xfrm>
              <a:prstGeom prst="rect">
                <a:avLst/>
              </a:prstGeom>
              <a:noFill/>
            </p:spPr>
            <p:txBody>
              <a:bodyPr wrap="square" rtlCol="0">
                <a:spAutoFit/>
              </a:bodyPr>
              <a:lstStyle/>
              <a:p>
                <a:pPr algn="ctr"/>
                <a:r>
                  <a:rPr lang="zh-CN" altLang="en-US" sz="1050" b="1" dirty="0" smtClean="0">
                    <a:latin typeface="微软雅黑" panose="020B0503020204020204" pitchFamily="34" charset="-122"/>
                    <a:ea typeface="微软雅黑" panose="020B0503020204020204" pitchFamily="34" charset="-122"/>
                  </a:rPr>
                  <a:t>流表 </a:t>
                </a:r>
                <a:r>
                  <a:rPr lang="en-US" altLang="zh-CN" sz="1050" b="1" dirty="0" smtClean="0">
                    <a:latin typeface="微软雅黑" panose="020B0503020204020204" pitchFamily="34" charset="-122"/>
                    <a:ea typeface="微软雅黑" panose="020B0503020204020204" pitchFamily="34" charset="-122"/>
                  </a:rPr>
                  <a:t>M</a:t>
                </a:r>
                <a:endParaRPr lang="zh-CN" altLang="en-US" sz="1050" b="1"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4310468" y="2880609"/>
                <a:ext cx="786779" cy="253916"/>
              </a:xfrm>
              <a:prstGeom prst="rect">
                <a:avLst/>
              </a:prstGeom>
              <a:noFill/>
            </p:spPr>
            <p:txBody>
              <a:bodyPr wrap="square" rtlCol="0">
                <a:spAutoFit/>
              </a:bodyPr>
              <a:lstStyle/>
              <a:p>
                <a:pPr algn="ctr"/>
                <a:r>
                  <a:rPr lang="zh-CN" altLang="en-US" sz="1050" b="1" dirty="0" smtClean="0">
                    <a:latin typeface="微软雅黑" panose="020B0503020204020204" pitchFamily="34" charset="-122"/>
                    <a:ea typeface="微软雅黑" panose="020B0503020204020204" pitchFamily="34" charset="-122"/>
                  </a:rPr>
                  <a:t>流表 </a:t>
                </a:r>
                <a:r>
                  <a:rPr lang="en-US" altLang="zh-CN" sz="1050" b="1" dirty="0" smtClean="0">
                    <a:latin typeface="微软雅黑" panose="020B0503020204020204" pitchFamily="34" charset="-122"/>
                    <a:ea typeface="微软雅黑" panose="020B0503020204020204" pitchFamily="34" charset="-122"/>
                  </a:rPr>
                  <a:t>2</a:t>
                </a:r>
                <a:endParaRPr lang="zh-CN" altLang="en-US" sz="1050" b="1"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3528272" y="2980374"/>
                <a:ext cx="786779" cy="253916"/>
              </a:xfrm>
              <a:prstGeom prst="rect">
                <a:avLst/>
              </a:prstGeom>
              <a:noFill/>
            </p:spPr>
            <p:txBody>
              <a:bodyPr wrap="square" rtlCol="0">
                <a:spAutoFit/>
              </a:bodyPr>
              <a:lstStyle/>
              <a:p>
                <a:pPr algn="ctr"/>
                <a:r>
                  <a:rPr lang="zh-CN" altLang="en-US" sz="1050" b="1" dirty="0" smtClean="0">
                    <a:latin typeface="微软雅黑" panose="020B0503020204020204" pitchFamily="34" charset="-122"/>
                    <a:ea typeface="微软雅黑" panose="020B0503020204020204" pitchFamily="34" charset="-122"/>
                  </a:rPr>
                  <a:t>流表 </a:t>
                </a:r>
                <a:r>
                  <a:rPr lang="en-US" altLang="zh-CN" sz="1050" b="1" dirty="0" smtClean="0">
                    <a:latin typeface="微软雅黑" panose="020B0503020204020204" pitchFamily="34" charset="-122"/>
                    <a:ea typeface="微软雅黑" panose="020B0503020204020204" pitchFamily="34" charset="-122"/>
                  </a:rPr>
                  <a:t>1</a:t>
                </a:r>
                <a:endParaRPr lang="zh-CN" altLang="en-US" sz="1050" b="1" dirty="0">
                  <a:latin typeface="微软雅黑" panose="020B0503020204020204" pitchFamily="34" charset="-122"/>
                  <a:ea typeface="微软雅黑" panose="020B0503020204020204" pitchFamily="34" charset="-122"/>
                </a:endParaRPr>
              </a:p>
            </p:txBody>
          </p:sp>
          <p:grpSp>
            <p:nvGrpSpPr>
              <p:cNvPr id="41" name="组合 40"/>
              <p:cNvGrpSpPr/>
              <p:nvPr/>
            </p:nvGrpSpPr>
            <p:grpSpPr>
              <a:xfrm>
                <a:off x="5081576" y="2975406"/>
                <a:ext cx="936403" cy="553846"/>
                <a:chOff x="1035978" y="3132726"/>
                <a:chExt cx="936403" cy="553846"/>
              </a:xfrm>
              <a:solidFill>
                <a:schemeClr val="bg1"/>
              </a:solidFill>
            </p:grpSpPr>
            <p:sp>
              <p:nvSpPr>
                <p:cNvPr id="8" name="矩形 7"/>
                <p:cNvSpPr/>
                <p:nvPr/>
              </p:nvSpPr>
              <p:spPr>
                <a:xfrm>
                  <a:off x="1035978" y="3132726"/>
                  <a:ext cx="936403" cy="553846"/>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a:off x="1035978" y="32792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2" name="直接连接符 31"/>
                <p:cNvCxnSpPr/>
                <p:nvPr/>
              </p:nvCxnSpPr>
              <p:spPr>
                <a:xfrm>
                  <a:off x="1035978" y="3409649"/>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3" name="直接连接符 32"/>
                <p:cNvCxnSpPr/>
                <p:nvPr/>
              </p:nvCxnSpPr>
              <p:spPr>
                <a:xfrm>
                  <a:off x="1035978" y="35503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4" name="直接连接符 33"/>
                <p:cNvCxnSpPr/>
                <p:nvPr/>
              </p:nvCxnSpPr>
              <p:spPr>
                <a:xfrm>
                  <a:off x="1239689"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1455468"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1671246"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grpSp>
          <p:grpSp>
            <p:nvGrpSpPr>
              <p:cNvPr id="51" name="组合 50"/>
              <p:cNvGrpSpPr/>
              <p:nvPr/>
            </p:nvGrpSpPr>
            <p:grpSpPr>
              <a:xfrm>
                <a:off x="4257707" y="3082248"/>
                <a:ext cx="936403" cy="553846"/>
                <a:chOff x="1035978" y="3132726"/>
                <a:chExt cx="936403" cy="553846"/>
              </a:xfrm>
              <a:solidFill>
                <a:schemeClr val="bg1"/>
              </a:solidFill>
            </p:grpSpPr>
            <p:sp>
              <p:nvSpPr>
                <p:cNvPr id="52" name="矩形 51"/>
                <p:cNvSpPr/>
                <p:nvPr/>
              </p:nvSpPr>
              <p:spPr>
                <a:xfrm>
                  <a:off x="1035978" y="3132726"/>
                  <a:ext cx="936403" cy="553846"/>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连接符 52"/>
                <p:cNvCxnSpPr/>
                <p:nvPr/>
              </p:nvCxnSpPr>
              <p:spPr>
                <a:xfrm>
                  <a:off x="1035978" y="32792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4" name="直接连接符 53"/>
                <p:cNvCxnSpPr/>
                <p:nvPr/>
              </p:nvCxnSpPr>
              <p:spPr>
                <a:xfrm>
                  <a:off x="1035978" y="3409649"/>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5" name="直接连接符 54"/>
                <p:cNvCxnSpPr/>
                <p:nvPr/>
              </p:nvCxnSpPr>
              <p:spPr>
                <a:xfrm>
                  <a:off x="1035978" y="35503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6" name="直接连接符 55"/>
                <p:cNvCxnSpPr/>
                <p:nvPr/>
              </p:nvCxnSpPr>
              <p:spPr>
                <a:xfrm>
                  <a:off x="1239689"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a:off x="1455468"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1671246"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grpSp>
          <p:grpSp>
            <p:nvGrpSpPr>
              <p:cNvPr id="77" name="组合 76"/>
              <p:cNvGrpSpPr/>
              <p:nvPr/>
            </p:nvGrpSpPr>
            <p:grpSpPr>
              <a:xfrm>
                <a:off x="3469178" y="3184997"/>
                <a:ext cx="936403" cy="553846"/>
                <a:chOff x="1035978" y="3132726"/>
                <a:chExt cx="936403" cy="553846"/>
              </a:xfrm>
              <a:solidFill>
                <a:schemeClr val="bg1"/>
              </a:solidFill>
            </p:grpSpPr>
            <p:sp>
              <p:nvSpPr>
                <p:cNvPr id="78" name="矩形 77"/>
                <p:cNvSpPr/>
                <p:nvPr/>
              </p:nvSpPr>
              <p:spPr>
                <a:xfrm>
                  <a:off x="1035978" y="3132726"/>
                  <a:ext cx="936403" cy="553846"/>
                </a:xfrm>
                <a:prstGeom prst="rec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9" name="直接连接符 78"/>
                <p:cNvCxnSpPr/>
                <p:nvPr/>
              </p:nvCxnSpPr>
              <p:spPr>
                <a:xfrm>
                  <a:off x="1035978" y="32792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0" name="直接连接符 79"/>
                <p:cNvCxnSpPr/>
                <p:nvPr/>
              </p:nvCxnSpPr>
              <p:spPr>
                <a:xfrm>
                  <a:off x="1035978" y="3409649"/>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1" name="直接连接符 80"/>
                <p:cNvCxnSpPr/>
                <p:nvPr/>
              </p:nvCxnSpPr>
              <p:spPr>
                <a:xfrm>
                  <a:off x="1035978" y="3550303"/>
                  <a:ext cx="936403" cy="0"/>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2" name="直接连接符 81"/>
                <p:cNvCxnSpPr/>
                <p:nvPr/>
              </p:nvCxnSpPr>
              <p:spPr>
                <a:xfrm>
                  <a:off x="1239689"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1455468"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cxnSp>
              <p:nvCxnSpPr>
                <p:cNvPr id="84" name="直接连接符 83"/>
                <p:cNvCxnSpPr/>
                <p:nvPr/>
              </p:nvCxnSpPr>
              <p:spPr>
                <a:xfrm>
                  <a:off x="1671246" y="3132726"/>
                  <a:ext cx="1" cy="548199"/>
                </a:xfrm>
                <a:prstGeom prst="line">
                  <a:avLst/>
                </a:prstGeom>
                <a:grpFill/>
                <a:ln w="9525"/>
              </p:spPr>
              <p:style>
                <a:lnRef idx="1">
                  <a:schemeClr val="dk1"/>
                </a:lnRef>
                <a:fillRef idx="0">
                  <a:schemeClr val="dk1"/>
                </a:fillRef>
                <a:effectRef idx="0">
                  <a:schemeClr val="dk1"/>
                </a:effectRef>
                <a:fontRef idx="minor">
                  <a:schemeClr val="tx1"/>
                </a:fontRef>
              </p:style>
            </p:cxnSp>
          </p:grpSp>
        </p:grpSp>
      </p:grpSp>
      <p:sp>
        <p:nvSpPr>
          <p:cNvPr id="88" name="线形标注 1 87"/>
          <p:cNvSpPr/>
          <p:nvPr/>
        </p:nvSpPr>
        <p:spPr>
          <a:xfrm>
            <a:off x="5938208" y="2782943"/>
            <a:ext cx="2359355" cy="588996"/>
          </a:xfrm>
          <a:prstGeom prst="borderCallout1">
            <a:avLst>
              <a:gd name="adj1" fmla="val 30697"/>
              <a:gd name="adj2" fmla="val -156"/>
              <a:gd name="adj3" fmla="val 126334"/>
              <a:gd name="adj4" fmla="val -41727"/>
            </a:avLst>
          </a:prstGeom>
          <a:solidFill>
            <a:srgbClr val="33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每个 </a:t>
            </a:r>
            <a:r>
              <a:rPr lang="en-US" altLang="zh-CN" sz="1400" b="1" dirty="0" err="1">
                <a:solidFill>
                  <a:schemeClr val="tx1"/>
                </a:solidFill>
                <a:latin typeface="微软雅黑" panose="020B0503020204020204" pitchFamily="34" charset="-122"/>
                <a:ea typeface="微软雅黑" panose="020B0503020204020204" pitchFamily="34" charset="-122"/>
              </a:rPr>
              <a:t>OpenFlow</a:t>
            </a:r>
            <a:r>
              <a:rPr lang="en-US" altLang="zh-CN" sz="1400" b="1" dirty="0">
                <a:solidFill>
                  <a:schemeClr val="tx1"/>
                </a:solidFill>
                <a:latin typeface="微软雅黑" panose="020B0503020204020204" pitchFamily="34" charset="-122"/>
                <a:ea typeface="微软雅黑" panose="020B0503020204020204" pitchFamily="34" charset="-122"/>
              </a:rPr>
              <a:t> </a:t>
            </a:r>
            <a:r>
              <a:rPr lang="zh-CN" altLang="en-US" sz="1400" b="1" dirty="0">
                <a:solidFill>
                  <a:schemeClr val="tx1"/>
                </a:solidFill>
                <a:latin typeface="微软雅黑" panose="020B0503020204020204" pitchFamily="34" charset="-122"/>
                <a:ea typeface="微软雅黑" panose="020B0503020204020204" pitchFamily="34" charset="-122"/>
              </a:rPr>
              <a:t>交换机有一个或一个以上的流表</a:t>
            </a:r>
            <a:r>
              <a:rPr lang="zh-CN" altLang="en-US" sz="1400" b="1" dirty="0" smtClean="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89" name="线形标注 1 88"/>
          <p:cNvSpPr/>
          <p:nvPr/>
        </p:nvSpPr>
        <p:spPr>
          <a:xfrm>
            <a:off x="5938208" y="3586911"/>
            <a:ext cx="2359355" cy="588996"/>
          </a:xfrm>
          <a:prstGeom prst="borderCallout1">
            <a:avLst>
              <a:gd name="adj1" fmla="val 30697"/>
              <a:gd name="adj2" fmla="val -156"/>
              <a:gd name="adj3" fmla="val 64850"/>
              <a:gd name="adj4" fmla="val -55157"/>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anose="020B0503020204020204" pitchFamily="34" charset="-122"/>
                <a:ea typeface="微软雅黑" panose="020B0503020204020204" pitchFamily="34" charset="-122"/>
              </a:rPr>
              <a:t>每个流表可以</a:t>
            </a:r>
            <a:r>
              <a:rPr lang="zh-CN" altLang="en-US" sz="1400" b="1" dirty="0" smtClean="0">
                <a:solidFill>
                  <a:schemeClr val="tx1"/>
                </a:solidFill>
                <a:latin typeface="微软雅黑" panose="020B0503020204020204" pitchFamily="34" charset="-122"/>
                <a:ea typeface="微软雅黑" panose="020B0503020204020204" pitchFamily="34" charset="-122"/>
              </a:rPr>
              <a:t>包括多</a:t>
            </a:r>
            <a:r>
              <a:rPr lang="zh-CN" altLang="en-US" sz="1400" b="1" dirty="0">
                <a:solidFill>
                  <a:schemeClr val="tx1"/>
                </a:solidFill>
                <a:latin typeface="微软雅黑" panose="020B0503020204020204" pitchFamily="34" charset="-122"/>
                <a:ea typeface="微软雅黑" panose="020B0503020204020204" pitchFamily="34" charset="-122"/>
              </a:rPr>
              <a:t>个流表项 </a:t>
            </a:r>
            <a:r>
              <a:rPr lang="en-US" altLang="zh-CN" sz="1400" b="1" dirty="0">
                <a:solidFill>
                  <a:schemeClr val="tx1"/>
                </a:solidFill>
                <a:latin typeface="微软雅黑" panose="020B0503020204020204" pitchFamily="34" charset="-122"/>
                <a:ea typeface="微软雅黑" panose="020B0503020204020204" pitchFamily="34" charset="-122"/>
              </a:rPr>
              <a:t>(flow entry)</a:t>
            </a:r>
            <a:r>
              <a:rPr lang="zh-CN" altLang="en-US" sz="1400" b="1" dirty="0" smtClean="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6058048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latin typeface="微软雅黑" pitchFamily="34" charset="-122"/>
                <a:ea typeface="微软雅黑" pitchFamily="34" charset="-122"/>
              </a:rPr>
              <a:t>OpenFlow</a:t>
            </a:r>
            <a:r>
              <a:rPr lang="zh-CN" altLang="en-US" sz="2000" b="1" dirty="0">
                <a:solidFill>
                  <a:schemeClr val="bg1"/>
                </a:solidFill>
                <a:latin typeface="微软雅黑" pitchFamily="34" charset="-122"/>
                <a:ea typeface="微软雅黑" pitchFamily="34" charset="-122"/>
              </a:rPr>
              <a:t>交换机流表</a:t>
            </a:r>
          </a:p>
        </p:txBody>
      </p:sp>
      <p:sp>
        <p:nvSpPr>
          <p:cNvPr id="4" name="Rectangle 8"/>
          <p:cNvSpPr>
            <a:spLocks noChangeArrowheads="1"/>
          </p:cNvSpPr>
          <p:nvPr/>
        </p:nvSpPr>
        <p:spPr bwMode="auto">
          <a:xfrm>
            <a:off x="545143" y="1009413"/>
            <a:ext cx="7881307" cy="1887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从</a:t>
            </a:r>
            <a:r>
              <a:rPr lang="en-US" altLang="zh-CN" b="1" dirty="0">
                <a:latin typeface="微软雅黑" pitchFamily="34" charset="-122"/>
                <a:ea typeface="微软雅黑" pitchFamily="34" charset="-122"/>
              </a:rPr>
              <a:t>OpenFlow 1.1</a:t>
            </a:r>
            <a:r>
              <a:rPr lang="zh-CN" altLang="en-US" b="1" dirty="0">
                <a:latin typeface="微软雅黑" pitchFamily="34" charset="-122"/>
                <a:ea typeface="微软雅黑" pitchFamily="34" charset="-122"/>
              </a:rPr>
              <a:t>开始，引入了</a:t>
            </a:r>
            <a:r>
              <a:rPr lang="zh-CN" altLang="en-US" b="1" dirty="0">
                <a:solidFill>
                  <a:srgbClr val="C00000"/>
                </a:solidFill>
                <a:latin typeface="微软雅黑" pitchFamily="34" charset="-122"/>
                <a:ea typeface="微软雅黑" pitchFamily="34" charset="-122"/>
              </a:rPr>
              <a:t>多级流表和流水线处理</a:t>
            </a:r>
            <a:r>
              <a:rPr lang="zh-CN" altLang="en-US" b="1" dirty="0" smtClean="0">
                <a:solidFill>
                  <a:srgbClr val="C00000"/>
                </a:solidFill>
                <a:latin typeface="微软雅黑" pitchFamily="34" charset="-122"/>
                <a:ea typeface="微软雅黑" pitchFamily="34" charset="-122"/>
              </a:rPr>
              <a:t>机制</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latin typeface="微软雅黑" pitchFamily="34" charset="-122"/>
                <a:ea typeface="微软雅黑" pitchFamily="34" charset="-122"/>
              </a:rPr>
              <a:t>分组</a:t>
            </a:r>
            <a:r>
              <a:rPr lang="zh-CN" altLang="en-US" sz="1600" b="1" dirty="0">
                <a:latin typeface="微软雅黑" pitchFamily="34" charset="-122"/>
                <a:ea typeface="微软雅黑" pitchFamily="34" charset="-122"/>
              </a:rPr>
              <a:t>进入</a:t>
            </a:r>
            <a:r>
              <a:rPr lang="en-US" altLang="zh-CN" sz="1600" b="1" dirty="0">
                <a:latin typeface="微软雅黑" pitchFamily="34" charset="-122"/>
                <a:ea typeface="微软雅黑" pitchFamily="34" charset="-122"/>
              </a:rPr>
              <a:t>OpenFlow</a:t>
            </a:r>
            <a:r>
              <a:rPr lang="zh-CN" altLang="en-US" sz="1600" b="1" dirty="0">
                <a:latin typeface="微软雅黑" pitchFamily="34" charset="-122"/>
                <a:ea typeface="微软雅黑" pitchFamily="34" charset="-122"/>
              </a:rPr>
              <a:t>交换机后，</a:t>
            </a:r>
            <a:r>
              <a:rPr lang="zh-CN" altLang="en-US" sz="1600" b="1" dirty="0">
                <a:solidFill>
                  <a:srgbClr val="C00000"/>
                </a:solidFill>
                <a:latin typeface="微软雅黑" pitchFamily="34" charset="-122"/>
                <a:ea typeface="微软雅黑" pitchFamily="34" charset="-122"/>
              </a:rPr>
              <a:t>从序号最小的流表开始依次匹配</a:t>
            </a:r>
            <a:r>
              <a:rPr lang="zh-CN" altLang="en-US" sz="1600" b="1" dirty="0" smtClean="0">
                <a:latin typeface="微软雅黑" pitchFamily="34" charset="-122"/>
                <a:ea typeface="微软雅黑" pitchFamily="34" charset="-122"/>
              </a:rPr>
              <a:t>，并可以通过</a:t>
            </a:r>
            <a:r>
              <a:rPr lang="zh-CN" altLang="en-US" sz="1600" b="1" dirty="0">
                <a:solidFill>
                  <a:srgbClr val="C00000"/>
                </a:solidFill>
                <a:latin typeface="微软雅黑" pitchFamily="34" charset="-122"/>
                <a:ea typeface="微软雅黑" pitchFamily="34" charset="-122"/>
              </a:rPr>
              <a:t>跳转指令跳转至后续某一流表</a:t>
            </a:r>
            <a:r>
              <a:rPr lang="zh-CN" altLang="en-US" sz="1600" b="1" dirty="0" smtClean="0">
                <a:solidFill>
                  <a:srgbClr val="C00000"/>
                </a:solidFill>
                <a:latin typeface="微软雅黑" pitchFamily="34" charset="-122"/>
                <a:ea typeface="微软雅黑" pitchFamily="34" charset="-122"/>
              </a:rPr>
              <a:t>继续匹配</a:t>
            </a:r>
            <a:r>
              <a:rPr lang="zh-CN" altLang="en-US" sz="1600" b="1" dirty="0" smtClean="0">
                <a:latin typeface="微软雅黑" pitchFamily="34" charset="-122"/>
                <a:ea typeface="微软雅黑" pitchFamily="34" charset="-122"/>
              </a:rPr>
              <a:t>，构成</a:t>
            </a:r>
            <a:r>
              <a:rPr lang="zh-CN" altLang="en-US" sz="1600" b="1" dirty="0">
                <a:latin typeface="微软雅黑" pitchFamily="34" charset="-122"/>
                <a:ea typeface="微软雅黑" pitchFamily="34" charset="-122"/>
              </a:rPr>
              <a:t>了一条</a:t>
            </a:r>
            <a:r>
              <a:rPr lang="zh-CN" altLang="en-US" sz="1600" b="1" dirty="0">
                <a:solidFill>
                  <a:srgbClr val="C00000"/>
                </a:solidFill>
                <a:latin typeface="微软雅黑" pitchFamily="34" charset="-122"/>
                <a:ea typeface="微软雅黑" pitchFamily="34" charset="-122"/>
              </a:rPr>
              <a:t>流水线</a:t>
            </a:r>
            <a:r>
              <a:rPr lang="en-US" altLang="zh-CN" sz="1600" b="1" dirty="0">
                <a:latin typeface="微软雅黑" pitchFamily="34" charset="-122"/>
                <a:ea typeface="微软雅黑" pitchFamily="34" charset="-122"/>
              </a:rPr>
              <a:t>(pipeline)</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latin typeface="微软雅黑" pitchFamily="34" charset="-122"/>
                <a:ea typeface="微软雅黑" pitchFamily="34" charset="-122"/>
              </a:rPr>
              <a:t>多级</a:t>
            </a:r>
            <a:r>
              <a:rPr lang="zh-CN" altLang="en-US" sz="1600" b="1" dirty="0">
                <a:latin typeface="微软雅黑" pitchFamily="34" charset="-122"/>
                <a:ea typeface="微软雅黑" pitchFamily="34" charset="-122"/>
              </a:rPr>
              <a:t>流</a:t>
            </a:r>
            <a:r>
              <a:rPr lang="zh-CN" altLang="en-US" sz="1600" b="1" dirty="0" smtClean="0">
                <a:latin typeface="微软雅黑" pitchFamily="34" charset="-122"/>
                <a:ea typeface="微软雅黑" pitchFamily="34" charset="-122"/>
              </a:rPr>
              <a:t>表一方面</a:t>
            </a:r>
            <a:r>
              <a:rPr lang="zh-CN" altLang="en-US" sz="1600" b="1" dirty="0">
                <a:latin typeface="微软雅黑" pitchFamily="34" charset="-122"/>
                <a:ea typeface="微软雅黑" pitchFamily="34" charset="-122"/>
              </a:rPr>
              <a:t>能够实现对分组的复杂处理，另一方面又能有效降低单个流表</a:t>
            </a:r>
            <a:r>
              <a:rPr lang="zh-CN" altLang="en-US" sz="1600" b="1" dirty="0" smtClean="0">
                <a:latin typeface="微软雅黑" pitchFamily="34" charset="-122"/>
                <a:ea typeface="微软雅黑" pitchFamily="34" charset="-122"/>
              </a:rPr>
              <a:t>的规模，</a:t>
            </a:r>
            <a:r>
              <a:rPr lang="zh-CN" altLang="en-US" sz="1600" b="1" dirty="0">
                <a:latin typeface="微软雅黑" pitchFamily="34" charset="-122"/>
                <a:ea typeface="微软雅黑" pitchFamily="34" charset="-122"/>
              </a:rPr>
              <a:t>提高查表效率。</a:t>
            </a:r>
            <a:endParaRPr lang="en-US" altLang="zh-CN" sz="1600" b="1" dirty="0" smtClean="0">
              <a:latin typeface="微软雅黑" pitchFamily="34" charset="-122"/>
              <a:ea typeface="微软雅黑" pitchFamily="34" charset="-122"/>
            </a:endParaRPr>
          </a:p>
        </p:txBody>
      </p:sp>
      <p:graphicFrame>
        <p:nvGraphicFramePr>
          <p:cNvPr id="7" name="对象 6"/>
          <p:cNvGraphicFramePr>
            <a:graphicFrameLocks noChangeAspect="1"/>
          </p:cNvGraphicFramePr>
          <p:nvPr/>
        </p:nvGraphicFramePr>
        <p:xfrm>
          <a:off x="1383235" y="2984500"/>
          <a:ext cx="6377529" cy="1587500"/>
        </p:xfrm>
        <a:graphic>
          <a:graphicData uri="http://schemas.openxmlformats.org/presentationml/2006/ole">
            <mc:AlternateContent xmlns:mc="http://schemas.openxmlformats.org/markup-compatibility/2006">
              <mc:Choice xmlns:v="urn:schemas-microsoft-com:vml" Requires="v">
                <p:oleObj spid="_x0000_s9224" name="Visio" r:id="rId4" imgW="4419556" imgH="1104978" progId="Visio.Drawing.15">
                  <p:embed/>
                </p:oleObj>
              </mc:Choice>
              <mc:Fallback>
                <p:oleObj name="Visio" r:id="rId4" imgW="4419556" imgH="1104978" progId="Visio.Drawing.15">
                  <p:embed/>
                  <p:pic>
                    <p:nvPicPr>
                      <p:cNvPr id="7" name="对象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3235" y="2984500"/>
                        <a:ext cx="6377529" cy="1587500"/>
                      </a:xfrm>
                      <a:prstGeom prst="rect">
                        <a:avLst/>
                      </a:prstGeom>
                      <a:noFill/>
                    </p:spPr>
                  </p:pic>
                </p:oleObj>
              </mc:Fallback>
            </mc:AlternateContent>
          </a:graphicData>
        </a:graphic>
      </p:graphicFrame>
    </p:spTree>
    <p:extLst>
      <p:ext uri="{BB962C8B-B14F-4D97-AF65-F5344CB8AC3E}">
        <p14:creationId xmlns:p14="http://schemas.microsoft.com/office/powerpoint/2010/main" val="10200235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交换机流表</a:t>
            </a:r>
          </a:p>
        </p:txBody>
      </p:sp>
      <p:sp>
        <p:nvSpPr>
          <p:cNvPr id="4" name="Rectangle 8"/>
          <p:cNvSpPr>
            <a:spLocks noChangeArrowheads="1"/>
          </p:cNvSpPr>
          <p:nvPr/>
        </p:nvSpPr>
        <p:spPr bwMode="auto">
          <a:xfrm>
            <a:off x="545143" y="1009413"/>
            <a:ext cx="7881307" cy="2580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smtClean="0">
                <a:latin typeface="微软雅黑" pitchFamily="34" charset="-122"/>
                <a:ea typeface="微软雅黑" pitchFamily="34" charset="-122"/>
              </a:rPr>
              <a:t>在多级</a:t>
            </a:r>
            <a:r>
              <a:rPr lang="zh-CN" altLang="en-US" b="1" dirty="0">
                <a:latin typeface="微软雅黑" pitchFamily="34" charset="-122"/>
                <a:ea typeface="微软雅黑" pitchFamily="34" charset="-122"/>
              </a:rPr>
              <a:t>流</a:t>
            </a:r>
            <a:r>
              <a:rPr lang="zh-CN" altLang="en-US" b="1" dirty="0" smtClean="0">
                <a:latin typeface="微软雅黑" pitchFamily="34" charset="-122"/>
                <a:ea typeface="微软雅黑" pitchFamily="34" charset="-122"/>
              </a:rPr>
              <a:t>表结构下，</a:t>
            </a:r>
            <a:r>
              <a:rPr lang="en-US" altLang="zh-CN" b="1" dirty="0" smtClean="0">
                <a:latin typeface="微软雅黑" pitchFamily="34" charset="-122"/>
                <a:ea typeface="微软雅黑" pitchFamily="34" charset="-122"/>
              </a:rPr>
              <a:t>OpenFlow</a:t>
            </a:r>
            <a:r>
              <a:rPr lang="zh-CN" altLang="en-US" b="1" dirty="0" smtClean="0">
                <a:latin typeface="微软雅黑" pitchFamily="34" charset="-122"/>
                <a:ea typeface="微软雅黑" pitchFamily="34" charset="-122"/>
              </a:rPr>
              <a:t>还提出了动作</a:t>
            </a:r>
            <a:r>
              <a:rPr lang="zh-CN" altLang="en-US" b="1" dirty="0">
                <a:latin typeface="微软雅黑" pitchFamily="34" charset="-122"/>
                <a:ea typeface="微软雅黑" pitchFamily="34" charset="-122"/>
              </a:rPr>
              <a:t>集</a:t>
            </a:r>
            <a:r>
              <a:rPr lang="en-US" altLang="zh-CN" b="1" dirty="0">
                <a:latin typeface="微软雅黑" pitchFamily="34" charset="-122"/>
                <a:ea typeface="微软雅黑" pitchFamily="34" charset="-122"/>
              </a:rPr>
              <a:t>(Action Set)</a:t>
            </a:r>
            <a:r>
              <a:rPr lang="zh-CN" altLang="en-US" b="1" dirty="0">
                <a:latin typeface="微软雅黑" pitchFamily="34" charset="-122"/>
                <a:ea typeface="微软雅黑" pitchFamily="34" charset="-122"/>
              </a:rPr>
              <a:t>的</a:t>
            </a:r>
            <a:r>
              <a:rPr lang="zh-CN" altLang="en-US" b="1" dirty="0" smtClean="0">
                <a:latin typeface="微软雅黑" pitchFamily="34" charset="-122"/>
                <a:ea typeface="微软雅黑" pitchFamily="34" charset="-122"/>
              </a:rPr>
              <a:t>概念。</a:t>
            </a:r>
            <a:endParaRPr lang="en-US" altLang="zh-CN"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latin typeface="微软雅黑" pitchFamily="34" charset="-122"/>
                <a:ea typeface="微软雅黑" pitchFamily="34" charset="-122"/>
              </a:rPr>
              <a:t>动作</a:t>
            </a:r>
            <a:r>
              <a:rPr lang="zh-CN" altLang="en-US" sz="1600" b="1" dirty="0">
                <a:latin typeface="微软雅黑" pitchFamily="34" charset="-122"/>
                <a:ea typeface="微软雅黑" pitchFamily="34" charset="-122"/>
              </a:rPr>
              <a:t>集是</a:t>
            </a:r>
            <a:r>
              <a:rPr lang="zh-CN" altLang="en-US" sz="1600" b="1" dirty="0">
                <a:solidFill>
                  <a:srgbClr val="C00000"/>
                </a:solidFill>
                <a:latin typeface="微软雅黑" pitchFamily="34" charset="-122"/>
                <a:ea typeface="微软雅黑" pitchFamily="34" charset="-122"/>
              </a:rPr>
              <a:t>分组在处理过程</a:t>
            </a:r>
            <a:r>
              <a:rPr lang="zh-CN" altLang="en-US" sz="1600" b="1" dirty="0" smtClean="0">
                <a:solidFill>
                  <a:srgbClr val="C00000"/>
                </a:solidFill>
                <a:latin typeface="微软雅黑" pitchFamily="34" charset="-122"/>
                <a:ea typeface="微软雅黑" pitchFamily="34" charset="-122"/>
              </a:rPr>
              <a:t>中累积</a:t>
            </a:r>
            <a:r>
              <a:rPr lang="zh-CN" altLang="en-US" sz="1600" b="1" dirty="0">
                <a:solidFill>
                  <a:srgbClr val="C00000"/>
                </a:solidFill>
                <a:latin typeface="微软雅黑" pitchFamily="34" charset="-122"/>
                <a:ea typeface="微软雅黑" pitchFamily="34" charset="-122"/>
              </a:rPr>
              <a:t>的一组待执行动作</a:t>
            </a:r>
            <a:r>
              <a:rPr lang="zh-CN" altLang="en-US" sz="1600" b="1" dirty="0">
                <a:latin typeface="微软雅黑" pitchFamily="34" charset="-122"/>
                <a:ea typeface="微软雅黑" pitchFamily="34" charset="-122"/>
              </a:rPr>
              <a:t>，这些动作最终会</a:t>
            </a:r>
            <a:r>
              <a:rPr lang="zh-CN" altLang="en-US" sz="1600" b="1" dirty="0">
                <a:solidFill>
                  <a:srgbClr val="C00000"/>
                </a:solidFill>
                <a:latin typeface="微软雅黑" pitchFamily="34" charset="-122"/>
                <a:ea typeface="微软雅黑" pitchFamily="34" charset="-122"/>
              </a:rPr>
              <a:t>在流水线处理结束时统一执行</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r>
              <a:rPr lang="zh-CN" altLang="en-US" sz="1600" b="1" dirty="0" smtClean="0">
                <a:latin typeface="微软雅黑" pitchFamily="34" charset="-122"/>
                <a:ea typeface="微软雅黑" pitchFamily="34" charset="-122"/>
              </a:rPr>
              <a:t>当匹配到流表项对应的指令类型</a:t>
            </a:r>
            <a:r>
              <a:rPr lang="zh-CN" altLang="en-US" sz="1600" b="1" dirty="0">
                <a:latin typeface="微软雅黑" pitchFamily="34" charset="-122"/>
                <a:ea typeface="微软雅黑" pitchFamily="34" charset="-122"/>
              </a:rPr>
              <a:t>为</a:t>
            </a:r>
            <a:r>
              <a:rPr lang="en-US" altLang="zh-CN" sz="1600" b="1" dirty="0">
                <a:solidFill>
                  <a:srgbClr val="C00000"/>
                </a:solidFill>
                <a:latin typeface="微软雅黑" pitchFamily="34" charset="-122"/>
                <a:ea typeface="微软雅黑" pitchFamily="34" charset="-122"/>
              </a:rPr>
              <a:t>Apply-Actions</a:t>
            </a:r>
            <a:r>
              <a:rPr lang="zh-CN" altLang="en-US" sz="1600" b="1" dirty="0">
                <a:latin typeface="微软雅黑" pitchFamily="34" charset="-122"/>
                <a:ea typeface="微软雅黑" pitchFamily="34" charset="-122"/>
              </a:rPr>
              <a:t>时</a:t>
            </a:r>
            <a:r>
              <a:rPr lang="zh-CN" altLang="en-US" sz="1600" b="1" dirty="0" smtClean="0">
                <a:latin typeface="微软雅黑" pitchFamily="34" charset="-122"/>
                <a:ea typeface="微软雅黑" pitchFamily="34" charset="-122"/>
              </a:rPr>
              <a:t>，</a:t>
            </a:r>
            <a:r>
              <a:rPr lang="zh-CN" altLang="en-US" sz="1600" b="1" dirty="0" smtClean="0">
                <a:solidFill>
                  <a:srgbClr val="C00000"/>
                </a:solidFill>
                <a:latin typeface="微软雅黑" pitchFamily="34" charset="-122"/>
                <a:ea typeface="微软雅黑" pitchFamily="34" charset="-122"/>
              </a:rPr>
              <a:t>直接</a:t>
            </a:r>
            <a:r>
              <a:rPr lang="zh-CN" altLang="en-US" sz="1600" b="1" dirty="0">
                <a:solidFill>
                  <a:srgbClr val="C00000"/>
                </a:solidFill>
                <a:latin typeface="微软雅黑" pitchFamily="34" charset="-122"/>
                <a:ea typeface="微软雅黑" pitchFamily="34" charset="-122"/>
              </a:rPr>
              <a:t>执行</a:t>
            </a:r>
            <a:r>
              <a:rPr lang="zh-CN" altLang="en-US" sz="1600" b="1" dirty="0">
                <a:latin typeface="微软雅黑" pitchFamily="34" charset="-122"/>
                <a:ea typeface="微软雅黑" pitchFamily="34" charset="-122"/>
              </a:rPr>
              <a:t>该指令所对应的动作，当指令类型为</a:t>
            </a:r>
            <a:r>
              <a:rPr lang="en-US" altLang="zh-CN" sz="1600" b="1" dirty="0">
                <a:solidFill>
                  <a:srgbClr val="C00000"/>
                </a:solidFill>
                <a:latin typeface="微软雅黑" pitchFamily="34" charset="-122"/>
                <a:ea typeface="微软雅黑" pitchFamily="34" charset="-122"/>
              </a:rPr>
              <a:t>Write-Actions</a:t>
            </a:r>
            <a:r>
              <a:rPr lang="zh-CN" altLang="en-US" sz="1600" b="1" dirty="0">
                <a:latin typeface="微软雅黑" pitchFamily="34" charset="-122"/>
                <a:ea typeface="微软雅黑" pitchFamily="34" charset="-122"/>
              </a:rPr>
              <a:t>或者</a:t>
            </a:r>
            <a:r>
              <a:rPr lang="en-US" altLang="zh-CN" sz="1600" b="1" dirty="0">
                <a:solidFill>
                  <a:srgbClr val="C00000"/>
                </a:solidFill>
                <a:latin typeface="微软雅黑" pitchFamily="34" charset="-122"/>
                <a:ea typeface="微软雅黑" pitchFamily="34" charset="-122"/>
              </a:rPr>
              <a:t>Clear-Actions</a:t>
            </a:r>
            <a:r>
              <a:rPr lang="zh-CN" altLang="en-US" sz="1600" b="1" dirty="0">
                <a:latin typeface="微软雅黑" pitchFamily="34" charset="-122"/>
                <a:ea typeface="微软雅黑" pitchFamily="34" charset="-122"/>
              </a:rPr>
              <a:t>时，则将相应动作</a:t>
            </a:r>
            <a:r>
              <a:rPr lang="zh-CN" altLang="en-US" sz="1600" b="1" dirty="0">
                <a:solidFill>
                  <a:srgbClr val="C00000"/>
                </a:solidFill>
                <a:latin typeface="微软雅黑" pitchFamily="34" charset="-122"/>
                <a:ea typeface="微软雅黑" pitchFamily="34" charset="-122"/>
              </a:rPr>
              <a:t>累积到动作集中后续统一执行</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nSpc>
                <a:spcPts val="2700"/>
              </a:lnSpc>
              <a:buClr>
                <a:srgbClr val="0070C0"/>
              </a:buClr>
              <a:buFont typeface="Wingdings" pitchFamily="2" charset="2"/>
              <a:buChar char="l"/>
            </a:pPr>
            <a:endParaRPr lang="en-US" altLang="zh-CN" sz="1600" b="1" dirty="0" smtClean="0">
              <a:latin typeface="微软雅黑" pitchFamily="34" charset="-122"/>
              <a:ea typeface="微软雅黑" pitchFamily="34" charset="-122"/>
            </a:endParaRPr>
          </a:p>
        </p:txBody>
      </p:sp>
      <p:graphicFrame>
        <p:nvGraphicFramePr>
          <p:cNvPr id="7" name="对象 6"/>
          <p:cNvGraphicFramePr>
            <a:graphicFrameLocks noChangeAspect="1"/>
          </p:cNvGraphicFramePr>
          <p:nvPr>
            <p:extLst/>
          </p:nvPr>
        </p:nvGraphicFramePr>
        <p:xfrm>
          <a:off x="1297031" y="3189208"/>
          <a:ext cx="6377529" cy="1587500"/>
        </p:xfrm>
        <a:graphic>
          <a:graphicData uri="http://schemas.openxmlformats.org/presentationml/2006/ole">
            <mc:AlternateContent xmlns:mc="http://schemas.openxmlformats.org/markup-compatibility/2006">
              <mc:Choice xmlns:v="urn:schemas-microsoft-com:vml" Requires="v">
                <p:oleObj spid="_x0000_s10248" name="Visio" r:id="rId5" imgW="4419556" imgH="1104978" progId="Visio.Drawing.15">
                  <p:embed/>
                </p:oleObj>
              </mc:Choice>
              <mc:Fallback>
                <p:oleObj name="Visio" r:id="rId5" imgW="4419556" imgH="1104978" progId="Visio.Drawing.15">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7031" y="3189208"/>
                        <a:ext cx="6377529" cy="1587500"/>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2605262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交换机流表</a:t>
            </a:r>
          </a:p>
        </p:txBody>
      </p:sp>
      <p:sp>
        <p:nvSpPr>
          <p:cNvPr id="4" name="Rectangle 8"/>
          <p:cNvSpPr>
            <a:spLocks noChangeArrowheads="1"/>
          </p:cNvSpPr>
          <p:nvPr/>
        </p:nvSpPr>
        <p:spPr bwMode="auto">
          <a:xfrm>
            <a:off x="545143" y="1009413"/>
            <a:ext cx="7881307"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如果未找到匹配项，则意味着发生了</a:t>
            </a:r>
            <a:r>
              <a:rPr lang="zh-CN" altLang="en-US" b="1" dirty="0">
                <a:solidFill>
                  <a:srgbClr val="C00000"/>
                </a:solidFill>
                <a:latin typeface="微软雅黑" pitchFamily="34" charset="-122"/>
                <a:ea typeface="微软雅黑" pitchFamily="34" charset="-122"/>
              </a:rPr>
              <a:t>流表未命中</a:t>
            </a:r>
            <a:r>
              <a:rPr lang="en-US" altLang="zh-CN" b="1" dirty="0">
                <a:solidFill>
                  <a:srgbClr val="C00000"/>
                </a:solidFill>
                <a:latin typeface="微软雅黑" pitchFamily="34" charset="-122"/>
                <a:ea typeface="微软雅黑" pitchFamily="34" charset="-122"/>
              </a:rPr>
              <a:t>(table-miss)</a:t>
            </a:r>
            <a:r>
              <a:rPr lang="zh-CN" altLang="en-US" b="1" dirty="0">
                <a:latin typeface="微软雅黑" pitchFamily="34" charset="-122"/>
                <a:ea typeface="微软雅黑" pitchFamily="34" charset="-122"/>
              </a:rPr>
              <a:t>事件，此时交换机处理分组的行为取决于流表</a:t>
            </a:r>
            <a:r>
              <a:rPr lang="en-US" altLang="zh-CN" b="1" dirty="0">
                <a:latin typeface="微软雅黑" pitchFamily="34" charset="-122"/>
                <a:ea typeface="微软雅黑" pitchFamily="34" charset="-122"/>
              </a:rPr>
              <a:t>0</a:t>
            </a:r>
            <a:r>
              <a:rPr lang="zh-CN" altLang="en-US" b="1" dirty="0">
                <a:latin typeface="微软雅黑" pitchFamily="34" charset="-122"/>
                <a:ea typeface="微软雅黑" pitchFamily="34" charset="-122"/>
              </a:rPr>
              <a:t>中是否配置了</a:t>
            </a:r>
            <a:r>
              <a:rPr lang="en-US" altLang="zh-CN" b="1" dirty="0">
                <a:latin typeface="微软雅黑" pitchFamily="34" charset="-122"/>
                <a:ea typeface="微软雅黑" pitchFamily="34" charset="-122"/>
              </a:rPr>
              <a:t>table-miss</a:t>
            </a:r>
            <a:r>
              <a:rPr lang="zh-CN" altLang="en-US" b="1" dirty="0">
                <a:latin typeface="微软雅黑" pitchFamily="34" charset="-122"/>
                <a:ea typeface="微软雅黑" pitchFamily="34" charset="-122"/>
              </a:rPr>
              <a:t>规则</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若</a:t>
            </a:r>
            <a:r>
              <a:rPr lang="zh-CN" altLang="en-US" sz="1600" b="1" dirty="0">
                <a:latin typeface="微软雅黑" pitchFamily="34" charset="-122"/>
                <a:ea typeface="微软雅黑" pitchFamily="34" charset="-122"/>
              </a:rPr>
              <a:t>未配置任何规则，</a:t>
            </a:r>
            <a:r>
              <a:rPr lang="en-US" altLang="zh-CN" sz="1600" b="1" dirty="0">
                <a:latin typeface="微软雅黑" pitchFamily="34" charset="-122"/>
                <a:ea typeface="微软雅黑" pitchFamily="34" charset="-122"/>
              </a:rPr>
              <a:t>OpenFlow</a:t>
            </a:r>
            <a:r>
              <a:rPr lang="zh-CN" altLang="en-US" sz="1600" b="1" dirty="0">
                <a:latin typeface="微软雅黑" pitchFamily="34" charset="-122"/>
                <a:ea typeface="微软雅黑" pitchFamily="34" charset="-122"/>
              </a:rPr>
              <a:t>规范要求交换机</a:t>
            </a:r>
            <a:r>
              <a:rPr lang="zh-CN" altLang="en-US" sz="1600" b="1" dirty="0">
                <a:solidFill>
                  <a:srgbClr val="C00000"/>
                </a:solidFill>
                <a:latin typeface="微软雅黑" pitchFamily="34" charset="-122"/>
                <a:ea typeface="微软雅黑" pitchFamily="34" charset="-122"/>
              </a:rPr>
              <a:t>将未匹配的分组封装为</a:t>
            </a:r>
            <a:r>
              <a:rPr lang="en-US" altLang="zh-CN" sz="1600" b="1" dirty="0">
                <a:solidFill>
                  <a:srgbClr val="C00000"/>
                </a:solidFill>
                <a:latin typeface="微软雅黑" pitchFamily="34" charset="-122"/>
                <a:ea typeface="微软雅黑" pitchFamily="34" charset="-122"/>
              </a:rPr>
              <a:t>Packet-In</a:t>
            </a:r>
            <a:r>
              <a:rPr lang="zh-CN" altLang="en-US" sz="1600" b="1" dirty="0">
                <a:solidFill>
                  <a:srgbClr val="C00000"/>
                </a:solidFill>
                <a:latin typeface="微软雅黑" pitchFamily="34" charset="-122"/>
                <a:ea typeface="微软雅黑" pitchFamily="34" charset="-122"/>
              </a:rPr>
              <a:t>消息发送给控制器</a:t>
            </a:r>
            <a:r>
              <a:rPr lang="zh-CN" altLang="en-US" sz="1600" b="1" dirty="0">
                <a:latin typeface="微软雅黑" pitchFamily="34" charset="-122"/>
                <a:ea typeface="微软雅黑" pitchFamily="34" charset="-122"/>
              </a:rPr>
              <a:t>，由控制器决定如何处理</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若</a:t>
            </a:r>
            <a:r>
              <a:rPr lang="zh-CN" altLang="en-US" sz="1600" b="1" dirty="0">
                <a:latin typeface="微软雅黑" pitchFamily="34" charset="-122"/>
                <a:ea typeface="微软雅黑" pitchFamily="34" charset="-122"/>
              </a:rPr>
              <a:t>在流表</a:t>
            </a:r>
            <a:r>
              <a:rPr lang="en-US" altLang="zh-CN" sz="1600" b="1" dirty="0">
                <a:latin typeface="微软雅黑" pitchFamily="34" charset="-122"/>
                <a:ea typeface="微软雅黑" pitchFamily="34" charset="-122"/>
              </a:rPr>
              <a:t>0</a:t>
            </a:r>
            <a:r>
              <a:rPr lang="zh-CN" altLang="en-US" sz="1600" b="1" dirty="0">
                <a:latin typeface="微软雅黑" pitchFamily="34" charset="-122"/>
                <a:ea typeface="微软雅黑" pitchFamily="34" charset="-122"/>
              </a:rPr>
              <a:t>中添加了针对</a:t>
            </a:r>
            <a:r>
              <a:rPr lang="en-US" altLang="zh-CN" sz="1600" b="1" dirty="0">
                <a:latin typeface="微软雅黑" pitchFamily="34" charset="-122"/>
                <a:ea typeface="微软雅黑" pitchFamily="34" charset="-122"/>
              </a:rPr>
              <a:t>table-miss</a:t>
            </a:r>
            <a:r>
              <a:rPr lang="zh-CN" altLang="en-US" sz="1600" b="1" dirty="0">
                <a:latin typeface="微软雅黑" pitchFamily="34" charset="-122"/>
                <a:ea typeface="微软雅黑" pitchFamily="34" charset="-122"/>
              </a:rPr>
              <a:t>的处理规则，则交换机</a:t>
            </a:r>
            <a:r>
              <a:rPr lang="zh-CN" altLang="en-US" sz="1600" b="1" dirty="0">
                <a:solidFill>
                  <a:srgbClr val="C00000"/>
                </a:solidFill>
                <a:latin typeface="微软雅黑" pitchFamily="34" charset="-122"/>
                <a:ea typeface="微软雅黑" pitchFamily="34" charset="-122"/>
              </a:rPr>
              <a:t>按照指定规则处理分组</a:t>
            </a:r>
            <a:r>
              <a:rPr lang="zh-CN" altLang="en-US" sz="1600" b="1" dirty="0">
                <a:latin typeface="微软雅黑" pitchFamily="34" charset="-122"/>
                <a:ea typeface="微软雅黑" pitchFamily="34" charset="-122"/>
              </a:rPr>
              <a:t>，如丢弃或跳转其他流表等，从而避免频繁触发与控制器的交互。</a:t>
            </a:r>
            <a:endParaRPr lang="en-US" altLang="zh-CN" sz="1400" b="1" dirty="0" smtClean="0">
              <a:latin typeface="微软雅黑" pitchFamily="34" charset="-122"/>
              <a:ea typeface="微软雅黑" pitchFamily="34" charset="-122"/>
            </a:endParaRPr>
          </a:p>
        </p:txBody>
      </p:sp>
      <p:graphicFrame>
        <p:nvGraphicFramePr>
          <p:cNvPr id="8" name="对象 7"/>
          <p:cNvGraphicFramePr>
            <a:graphicFrameLocks noChangeAspect="1"/>
          </p:cNvGraphicFramePr>
          <p:nvPr>
            <p:extLst/>
          </p:nvPr>
        </p:nvGraphicFramePr>
        <p:xfrm>
          <a:off x="1297031" y="3189208"/>
          <a:ext cx="6377529" cy="1587500"/>
        </p:xfrm>
        <a:graphic>
          <a:graphicData uri="http://schemas.openxmlformats.org/presentationml/2006/ole">
            <mc:AlternateContent xmlns:mc="http://schemas.openxmlformats.org/markup-compatibility/2006">
              <mc:Choice xmlns:v="urn:schemas-microsoft-com:vml" Requires="v">
                <p:oleObj spid="_x0000_s11272" name="Visio" r:id="rId5" imgW="4419556" imgH="1104978" progId="Visio.Drawing.15">
                  <p:embed/>
                </p:oleObj>
              </mc:Choice>
              <mc:Fallback>
                <p:oleObj name="Visio" r:id="rId5" imgW="4419556" imgH="1104978" progId="Visio.Drawing.15">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7031" y="3189208"/>
                        <a:ext cx="6377529" cy="1587500"/>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41688453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3" y="1009413"/>
            <a:ext cx="7881307" cy="865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每个流表项由匹配字段、计数器、处理指令等部分组成。且流表项的结构随着</a:t>
            </a:r>
            <a:r>
              <a:rPr lang="en-US" altLang="zh-CN" b="1" dirty="0">
                <a:latin typeface="微软雅黑" pitchFamily="34" charset="-122"/>
                <a:ea typeface="微软雅黑" pitchFamily="34" charset="-122"/>
              </a:rPr>
              <a:t>OpenFlow</a:t>
            </a:r>
            <a:r>
              <a:rPr lang="zh-CN" altLang="en-US" b="1" dirty="0">
                <a:latin typeface="微软雅黑" pitchFamily="34" charset="-122"/>
                <a:ea typeface="微软雅黑" pitchFamily="34" charset="-122"/>
              </a:rPr>
              <a:t>版本的演进不断</a:t>
            </a:r>
            <a:r>
              <a:rPr lang="zh-CN" altLang="en-US" b="1" dirty="0" smtClean="0">
                <a:latin typeface="微软雅黑" pitchFamily="34" charset="-122"/>
                <a:ea typeface="微软雅黑" pitchFamily="34" charset="-122"/>
              </a:rPr>
              <a:t>丰富。</a:t>
            </a:r>
            <a:endParaRPr lang="en-US" altLang="zh-CN" b="1" dirty="0" smtClean="0">
              <a:latin typeface="微软雅黑" pitchFamily="34" charset="-122"/>
              <a:ea typeface="微软雅黑" pitchFamily="34" charset="-122"/>
            </a:endParaRPr>
          </a:p>
        </p:txBody>
      </p:sp>
      <p:graphicFrame>
        <p:nvGraphicFramePr>
          <p:cNvPr id="3" name="对象 2"/>
          <p:cNvGraphicFramePr>
            <a:graphicFrameLocks noChangeAspect="1"/>
          </p:cNvGraphicFramePr>
          <p:nvPr>
            <p:extLst/>
          </p:nvPr>
        </p:nvGraphicFramePr>
        <p:xfrm>
          <a:off x="1686938" y="1930237"/>
          <a:ext cx="5770123" cy="2864998"/>
        </p:xfrm>
        <a:graphic>
          <a:graphicData uri="http://schemas.openxmlformats.org/presentationml/2006/ole">
            <mc:AlternateContent xmlns:mc="http://schemas.openxmlformats.org/markup-compatibility/2006">
              <mc:Choice xmlns:v="urn:schemas-microsoft-com:vml" Requires="v">
                <p:oleObj spid="_x0000_s12296" name="Visio" r:id="rId4" imgW="4565790" imgH="2266989" progId="Visio.Drawing.15">
                  <p:embed/>
                </p:oleObj>
              </mc:Choice>
              <mc:Fallback>
                <p:oleObj name="Visio" r:id="rId4" imgW="4565790" imgH="2266989" progId="Visio.Drawing.15">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6938" y="1930237"/>
                        <a:ext cx="5770123" cy="2864998"/>
                      </a:xfrm>
                      <a:prstGeom prst="rect">
                        <a:avLst/>
                      </a:prstGeom>
                      <a:noFill/>
                    </p:spPr>
                  </p:pic>
                </p:oleObj>
              </mc:Fallback>
            </mc:AlternateContent>
          </a:graphicData>
        </a:graphic>
      </p:graphicFrame>
    </p:spTree>
    <p:extLst>
      <p:ext uri="{BB962C8B-B14F-4D97-AF65-F5344CB8AC3E}">
        <p14:creationId xmlns:p14="http://schemas.microsoft.com/office/powerpoint/2010/main" val="11976146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458783" y="1009413"/>
            <a:ext cx="5235897" cy="3529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sz="1600" b="1" dirty="0" smtClean="0">
                <a:latin typeface="微软雅黑" pitchFamily="34" charset="-122"/>
                <a:ea typeface="微软雅黑" pitchFamily="34" charset="-122"/>
              </a:rPr>
              <a:t>流</a:t>
            </a:r>
            <a:r>
              <a:rPr lang="zh-CN" altLang="en-US" sz="1600" b="1" dirty="0">
                <a:latin typeface="微软雅黑" pitchFamily="34" charset="-122"/>
                <a:ea typeface="微软雅黑" pitchFamily="34" charset="-122"/>
              </a:rPr>
              <a:t>表项的</a:t>
            </a:r>
            <a:r>
              <a:rPr lang="zh-CN" altLang="en-US" sz="1600" b="1" dirty="0" smtClean="0">
                <a:latin typeface="微软雅黑" pitchFamily="34" charset="-122"/>
                <a:ea typeface="微软雅黑" pitchFamily="34" charset="-122"/>
              </a:rPr>
              <a:t>例子：</a:t>
            </a:r>
            <a:endParaRPr lang="en-US" altLang="zh-CN" sz="16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400" b="1" dirty="0" smtClean="0">
                <a:solidFill>
                  <a:srgbClr val="C00000"/>
                </a:solidFill>
                <a:latin typeface="微软雅黑" pitchFamily="34" charset="-122"/>
                <a:ea typeface="微软雅黑" pitchFamily="34" charset="-122"/>
              </a:rPr>
              <a:t>匹配</a:t>
            </a:r>
            <a:r>
              <a:rPr lang="zh-CN" altLang="en-US" sz="1400" b="1" dirty="0">
                <a:solidFill>
                  <a:srgbClr val="C00000"/>
                </a:solidFill>
                <a:latin typeface="微软雅黑" pitchFamily="34" charset="-122"/>
                <a:ea typeface="微软雅黑" pitchFamily="34" charset="-122"/>
              </a:rPr>
              <a:t>字段</a:t>
            </a:r>
            <a:r>
              <a:rPr lang="zh-CN" altLang="en-US" sz="1400" b="1" dirty="0">
                <a:latin typeface="微软雅黑" pitchFamily="34" charset="-122"/>
                <a:ea typeface="微软雅黑" pitchFamily="34" charset="-122"/>
              </a:rPr>
              <a:t>包括</a:t>
            </a:r>
            <a:r>
              <a:rPr lang="en-US" altLang="zh-CN" sz="1400" b="1" dirty="0" smtClean="0">
                <a:latin typeface="微软雅黑" pitchFamily="34" charset="-122"/>
                <a:ea typeface="微软雅黑" pitchFamily="34" charset="-122"/>
              </a:rPr>
              <a:t>4</a:t>
            </a:r>
            <a:r>
              <a:rPr lang="zh-CN" altLang="en-US" sz="1400" b="1" dirty="0" smtClean="0">
                <a:latin typeface="微软雅黑" pitchFamily="34" charset="-122"/>
                <a:ea typeface="微软雅黑" pitchFamily="34" charset="-122"/>
              </a:rPr>
              <a:t>部分内容：</a:t>
            </a:r>
            <a:endParaRPr lang="en-US" altLang="zh-CN" sz="1400" b="1" dirty="0" smtClean="0">
              <a:latin typeface="微软雅黑" pitchFamily="34" charset="-122"/>
              <a:ea typeface="微软雅黑" pitchFamily="34" charset="-122"/>
            </a:endParaRPr>
          </a:p>
          <a:p>
            <a:pPr marL="1200150" lvl="2" indent="-285750">
              <a:lnSpc>
                <a:spcPts val="2200"/>
              </a:lnSpc>
              <a:buClr>
                <a:srgbClr val="0070C0"/>
              </a:buClr>
              <a:buFont typeface="Wingdings" pitchFamily="2" charset="2"/>
              <a:buChar char="l"/>
            </a:pPr>
            <a:r>
              <a:rPr lang="zh-CN" altLang="en-US" sz="1200" b="1" dirty="0" smtClean="0">
                <a:latin typeface="微软雅黑" pitchFamily="34" charset="-122"/>
                <a:ea typeface="微软雅黑" pitchFamily="34" charset="-122"/>
              </a:rPr>
              <a:t>入</a:t>
            </a:r>
            <a:r>
              <a:rPr lang="zh-CN" altLang="en-US" sz="1200" b="1" dirty="0">
                <a:latin typeface="微软雅黑" pitchFamily="34" charset="-122"/>
                <a:ea typeface="微软雅黑" pitchFamily="34" charset="-122"/>
              </a:rPr>
              <a:t>端口为</a:t>
            </a:r>
            <a:r>
              <a:rPr lang="en-US" altLang="zh-CN" sz="1200" b="1" dirty="0">
                <a:latin typeface="微软雅黑" pitchFamily="34" charset="-122"/>
                <a:ea typeface="微软雅黑" pitchFamily="34" charset="-122"/>
              </a:rPr>
              <a:t>1</a:t>
            </a:r>
            <a:r>
              <a:rPr lang="zh-CN" altLang="en-US" sz="1200" b="1" dirty="0">
                <a:latin typeface="微软雅黑" pitchFamily="34" charset="-122"/>
                <a:ea typeface="微软雅黑" pitchFamily="34" charset="-122"/>
              </a:rPr>
              <a:t>，以太网类型字段为</a:t>
            </a:r>
            <a:r>
              <a:rPr lang="en-US" altLang="zh-CN" sz="1200" b="1" dirty="0">
                <a:latin typeface="微软雅黑" pitchFamily="34" charset="-122"/>
                <a:ea typeface="微软雅黑" pitchFamily="34" charset="-122"/>
              </a:rPr>
              <a:t>0x0800</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IPv4</a:t>
            </a:r>
            <a:r>
              <a:rPr lang="zh-CN" altLang="en-US" sz="1200" b="1" dirty="0">
                <a:latin typeface="微软雅黑" pitchFamily="34" charset="-122"/>
                <a:ea typeface="微软雅黑" pitchFamily="34" charset="-122"/>
              </a:rPr>
              <a:t>目的地址为</a:t>
            </a:r>
            <a:r>
              <a:rPr lang="en-US" altLang="zh-CN" sz="1200" b="1" dirty="0">
                <a:latin typeface="微软雅黑" pitchFamily="34" charset="-122"/>
                <a:ea typeface="微软雅黑" pitchFamily="34" charset="-122"/>
              </a:rPr>
              <a:t>192.168.1.0/24</a:t>
            </a:r>
            <a:r>
              <a:rPr lang="zh-CN" altLang="en-US" sz="1200" b="1" dirty="0">
                <a:latin typeface="微软雅黑" pitchFamily="34" charset="-122"/>
                <a:ea typeface="微软雅黑" pitchFamily="34" charset="-122"/>
              </a:rPr>
              <a:t>，以及</a:t>
            </a:r>
            <a:r>
              <a:rPr lang="en-US" altLang="zh-CN" sz="1200" b="1" dirty="0">
                <a:latin typeface="微软雅黑" pitchFamily="34" charset="-122"/>
                <a:ea typeface="微软雅黑" pitchFamily="34" charset="-122"/>
              </a:rPr>
              <a:t>TCP</a:t>
            </a:r>
            <a:r>
              <a:rPr lang="zh-CN" altLang="en-US" sz="1200" b="1" dirty="0">
                <a:latin typeface="微软雅黑" pitchFamily="34" charset="-122"/>
                <a:ea typeface="微软雅黑" pitchFamily="34" charset="-122"/>
              </a:rPr>
              <a:t>目的端口为</a:t>
            </a:r>
            <a:r>
              <a:rPr lang="en-US" altLang="zh-CN" sz="1200" b="1" dirty="0" smtClean="0">
                <a:latin typeface="微软雅黑" pitchFamily="34" charset="-122"/>
                <a:ea typeface="微软雅黑" pitchFamily="34" charset="-122"/>
              </a:rPr>
              <a:t>443</a:t>
            </a:r>
            <a:r>
              <a:rPr lang="zh-CN" altLang="en-US" sz="1200" b="1" dirty="0" smtClean="0">
                <a:latin typeface="微软雅黑" pitchFamily="34" charset="-122"/>
                <a:ea typeface="微软雅黑" pitchFamily="34" charset="-122"/>
              </a:rPr>
              <a:t>。</a:t>
            </a:r>
            <a:endParaRPr lang="en-US" altLang="zh-CN" sz="1200" b="1" dirty="0" smtClean="0">
              <a:latin typeface="微软雅黑" pitchFamily="34" charset="-122"/>
              <a:ea typeface="微软雅黑" pitchFamily="34" charset="-122"/>
            </a:endParaRPr>
          </a:p>
          <a:p>
            <a:pPr marL="1200150" lvl="2" indent="-285750">
              <a:lnSpc>
                <a:spcPts val="2200"/>
              </a:lnSpc>
              <a:buClr>
                <a:srgbClr val="0070C0"/>
              </a:buClr>
              <a:buFont typeface="Wingdings" pitchFamily="2" charset="2"/>
              <a:buChar char="l"/>
            </a:pPr>
            <a:r>
              <a:rPr lang="zh-CN" altLang="en-US" sz="1200" b="1" dirty="0" smtClean="0">
                <a:latin typeface="微软雅黑" pitchFamily="34" charset="-122"/>
                <a:ea typeface="微软雅黑" pitchFamily="34" charset="-122"/>
              </a:rPr>
              <a:t>只有</a:t>
            </a:r>
            <a:r>
              <a:rPr lang="zh-CN" altLang="en-US" sz="1200" b="1" dirty="0">
                <a:latin typeface="微软雅黑" pitchFamily="34" charset="-122"/>
                <a:ea typeface="微软雅黑" pitchFamily="34" charset="-122"/>
              </a:rPr>
              <a:t>全部符合这些特征的分组才有可能被交换机采用本流表项来</a:t>
            </a:r>
            <a:r>
              <a:rPr lang="zh-CN" altLang="en-US" sz="1200" b="1" dirty="0" smtClean="0">
                <a:latin typeface="微软雅黑" pitchFamily="34" charset="-122"/>
                <a:ea typeface="微软雅黑" pitchFamily="34" charset="-122"/>
              </a:rPr>
              <a:t>处理。</a:t>
            </a:r>
            <a:endParaRPr lang="en-US" altLang="zh-CN" sz="12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流表项的</a:t>
            </a:r>
            <a:r>
              <a:rPr lang="zh-CN" altLang="en-US" sz="1400" b="1" dirty="0">
                <a:solidFill>
                  <a:srgbClr val="C00000"/>
                </a:solidFill>
                <a:latin typeface="微软雅黑" pitchFamily="34" charset="-122"/>
                <a:ea typeface="微软雅黑" pitchFamily="34" charset="-122"/>
              </a:rPr>
              <a:t>优先级</a:t>
            </a:r>
            <a:r>
              <a:rPr lang="zh-CN" altLang="en-US" sz="1400" b="1" dirty="0">
                <a:latin typeface="微软雅黑" pitchFamily="34" charset="-122"/>
                <a:ea typeface="微软雅黑" pitchFamily="34" charset="-122"/>
              </a:rPr>
              <a:t>为</a:t>
            </a:r>
            <a:r>
              <a:rPr lang="en-US" altLang="zh-CN" sz="1400" b="1" dirty="0">
                <a:latin typeface="微软雅黑" pitchFamily="34" charset="-122"/>
                <a:ea typeface="微软雅黑" pitchFamily="34" charset="-122"/>
              </a:rPr>
              <a:t>1000</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对匹配的分组执行两条</a:t>
            </a:r>
            <a:r>
              <a:rPr lang="zh-CN" altLang="en-US" sz="1400" b="1" dirty="0">
                <a:solidFill>
                  <a:srgbClr val="C00000"/>
                </a:solidFill>
                <a:latin typeface="微软雅黑" pitchFamily="34" charset="-122"/>
                <a:ea typeface="微软雅黑" pitchFamily="34" charset="-122"/>
              </a:rPr>
              <a:t>指令</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1200150" lvl="2" indent="-285750">
              <a:lnSpc>
                <a:spcPts val="2400"/>
              </a:lnSpc>
              <a:buClr>
                <a:srgbClr val="0070C0"/>
              </a:buClr>
              <a:buFont typeface="Wingdings" pitchFamily="2" charset="2"/>
              <a:buChar char="l"/>
            </a:pPr>
            <a:r>
              <a:rPr lang="zh-CN" altLang="en-US" sz="1200" b="1" dirty="0">
                <a:latin typeface="微软雅黑" pitchFamily="34" charset="-122"/>
                <a:ea typeface="微软雅黑" pitchFamily="34" charset="-122"/>
              </a:rPr>
              <a:t>立即将</a:t>
            </a:r>
            <a:r>
              <a:rPr lang="en-US" altLang="zh-CN" sz="1200" b="1" dirty="0">
                <a:latin typeface="微软雅黑" pitchFamily="34" charset="-122"/>
                <a:ea typeface="微软雅黑" pitchFamily="34" charset="-122"/>
              </a:rPr>
              <a:t>IP</a:t>
            </a:r>
            <a:r>
              <a:rPr lang="zh-CN" altLang="en-US" sz="1200" b="1" dirty="0">
                <a:latin typeface="微软雅黑" pitchFamily="34" charset="-122"/>
                <a:ea typeface="微软雅黑" pitchFamily="34" charset="-122"/>
              </a:rPr>
              <a:t>首部的</a:t>
            </a:r>
            <a:r>
              <a:rPr lang="en-US" altLang="zh-CN" sz="1200" b="1" dirty="0">
                <a:latin typeface="微软雅黑" pitchFamily="34" charset="-122"/>
                <a:ea typeface="微软雅黑" pitchFamily="34" charset="-122"/>
              </a:rPr>
              <a:t>DSCP</a:t>
            </a:r>
            <a:r>
              <a:rPr lang="zh-CN" altLang="en-US" sz="1200" b="1" dirty="0">
                <a:latin typeface="微软雅黑" pitchFamily="34" charset="-122"/>
                <a:ea typeface="微软雅黑" pitchFamily="34" charset="-122"/>
              </a:rPr>
              <a:t>字段设置为</a:t>
            </a:r>
            <a:r>
              <a:rPr lang="en-US" altLang="zh-CN" sz="1200" b="1" dirty="0" smtClean="0">
                <a:latin typeface="微软雅黑" pitchFamily="34" charset="-122"/>
                <a:ea typeface="微软雅黑" pitchFamily="34" charset="-122"/>
              </a:rPr>
              <a:t>46</a:t>
            </a:r>
            <a:r>
              <a:rPr lang="zh-CN" altLang="en-US" sz="1200" b="1" dirty="0" smtClean="0">
                <a:latin typeface="微软雅黑" pitchFamily="34" charset="-122"/>
                <a:ea typeface="微软雅黑" pitchFamily="34" charset="-122"/>
              </a:rPr>
              <a:t>；随后</a:t>
            </a:r>
            <a:r>
              <a:rPr lang="zh-CN" altLang="en-US" sz="1200" b="1" dirty="0">
                <a:latin typeface="微软雅黑" pitchFamily="34" charset="-122"/>
                <a:ea typeface="微软雅黑" pitchFamily="34" charset="-122"/>
              </a:rPr>
              <a:t>跳转至流表</a:t>
            </a:r>
            <a:r>
              <a:rPr lang="en-US" altLang="zh-CN" sz="1200" b="1" dirty="0" smtClean="0">
                <a:latin typeface="微软雅黑" pitchFamily="34" charset="-122"/>
                <a:ea typeface="微软雅黑" pitchFamily="34" charset="-122"/>
              </a:rPr>
              <a:t>1</a:t>
            </a:r>
            <a:r>
              <a:rPr lang="zh-CN" altLang="en-US" sz="1200" b="1" dirty="0" smtClean="0">
                <a:latin typeface="微软雅黑" pitchFamily="34" charset="-122"/>
                <a:ea typeface="微软雅黑" pitchFamily="34" charset="-122"/>
              </a:rPr>
              <a:t>。</a:t>
            </a:r>
            <a:endParaRPr lang="en-US" altLang="zh-CN" sz="12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en-US" altLang="zh-CN" sz="1400" b="1" dirty="0" smtClean="0">
                <a:solidFill>
                  <a:srgbClr val="C00000"/>
                </a:solidFill>
                <a:latin typeface="微软雅黑" pitchFamily="34" charset="-122"/>
                <a:ea typeface="微软雅黑" pitchFamily="34" charset="-122"/>
              </a:rPr>
              <a:t>Cookie</a:t>
            </a:r>
            <a:r>
              <a:rPr lang="zh-CN" altLang="en-US" sz="1400" b="1" dirty="0">
                <a:solidFill>
                  <a:srgbClr val="C00000"/>
                </a:solidFill>
                <a:latin typeface="微软雅黑" pitchFamily="34" charset="-122"/>
                <a:ea typeface="微软雅黑" pitchFamily="34" charset="-122"/>
              </a:rPr>
              <a:t>值</a:t>
            </a:r>
            <a:r>
              <a:rPr lang="zh-CN" altLang="en-US" sz="1400" b="1" dirty="0">
                <a:latin typeface="微软雅黑" pitchFamily="34" charset="-122"/>
                <a:ea typeface="微软雅黑" pitchFamily="34" charset="-122"/>
              </a:rPr>
              <a:t>和</a:t>
            </a:r>
            <a:r>
              <a:rPr lang="zh-CN" altLang="en-US" sz="1400" b="1" dirty="0">
                <a:solidFill>
                  <a:srgbClr val="C00000"/>
                </a:solidFill>
                <a:latin typeface="微软雅黑" pitchFamily="34" charset="-122"/>
                <a:ea typeface="微软雅黑" pitchFamily="34" charset="-122"/>
              </a:rPr>
              <a:t>超时时间</a:t>
            </a:r>
            <a:r>
              <a:rPr lang="zh-CN" altLang="en-US" sz="1400" b="1" dirty="0">
                <a:latin typeface="微软雅黑" pitchFamily="34" charset="-122"/>
                <a:ea typeface="微软雅黑" pitchFamily="34" charset="-122"/>
              </a:rPr>
              <a:t>分别为</a:t>
            </a:r>
            <a:r>
              <a:rPr lang="en-US" altLang="zh-CN" sz="1400" b="1" dirty="0">
                <a:latin typeface="微软雅黑" pitchFamily="34" charset="-122"/>
                <a:ea typeface="微软雅黑" pitchFamily="34" charset="-122"/>
              </a:rPr>
              <a:t>0x1234</a:t>
            </a:r>
            <a:r>
              <a:rPr lang="zh-CN" altLang="en-US" sz="1400" b="1" dirty="0">
                <a:latin typeface="微软雅黑" pitchFamily="34" charset="-122"/>
                <a:ea typeface="微软雅黑" pitchFamily="34" charset="-122"/>
              </a:rPr>
              <a:t>及</a:t>
            </a:r>
            <a:r>
              <a:rPr lang="en-US" altLang="zh-CN" sz="1400" b="1" dirty="0">
                <a:latin typeface="微软雅黑" pitchFamily="34" charset="-122"/>
                <a:ea typeface="微软雅黑" pitchFamily="34" charset="-122"/>
              </a:rPr>
              <a:t>600</a:t>
            </a:r>
            <a:r>
              <a:rPr lang="zh-CN" altLang="en-US" sz="1400" b="1" dirty="0">
                <a:latin typeface="微软雅黑" pitchFamily="34" charset="-122"/>
                <a:ea typeface="微软雅黑" pitchFamily="34" charset="-122"/>
              </a:rPr>
              <a:t>秒。</a:t>
            </a:r>
            <a:endParaRPr lang="en-US" altLang="zh-CN" sz="1400" b="1" dirty="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流表项被删除时需要</a:t>
            </a:r>
            <a:r>
              <a:rPr lang="zh-CN" altLang="en-US" sz="1400" b="1" dirty="0">
                <a:solidFill>
                  <a:srgbClr val="C00000"/>
                </a:solidFill>
                <a:latin typeface="微软雅黑" pitchFamily="34" charset="-122"/>
                <a:ea typeface="微软雅黑" pitchFamily="34" charset="-122"/>
              </a:rPr>
              <a:t>向控制器发送流删除的通知消息</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p:txBody>
      </p:sp>
      <p:sp>
        <p:nvSpPr>
          <p:cNvPr id="2" name="文本框 1"/>
          <p:cNvSpPr txBox="1"/>
          <p:nvPr/>
        </p:nvSpPr>
        <p:spPr>
          <a:xfrm>
            <a:off x="5801360" y="1435170"/>
            <a:ext cx="3225800" cy="2677656"/>
          </a:xfrm>
          <a:prstGeom prst="rect">
            <a:avLst/>
          </a:prstGeom>
          <a:noFill/>
          <a:ln>
            <a:solidFill>
              <a:schemeClr val="accent5"/>
            </a:solidFill>
          </a:ln>
        </p:spPr>
        <p:txBody>
          <a:bodyPr wrap="square" rIns="0" rtlCol="0">
            <a:spAutoFit/>
          </a:bodyPr>
          <a:lstStyle/>
          <a:p>
            <a:r>
              <a:rPr lang="en-US" altLang="zh-CN" sz="1400" b="1" dirty="0"/>
              <a:t>match:</a:t>
            </a:r>
          </a:p>
          <a:p>
            <a:r>
              <a:rPr lang="en-US" altLang="zh-CN" sz="1400" dirty="0"/>
              <a:t>    </a:t>
            </a:r>
            <a:r>
              <a:rPr lang="en-US" altLang="zh-CN" sz="1400" dirty="0" err="1"/>
              <a:t>in_port</a:t>
            </a:r>
            <a:r>
              <a:rPr lang="zh-CN" altLang="en-US" sz="1400" dirty="0"/>
              <a:t> </a:t>
            </a:r>
            <a:r>
              <a:rPr lang="en-US" altLang="zh-CN" sz="1400" dirty="0"/>
              <a:t>=</a:t>
            </a:r>
            <a:r>
              <a:rPr lang="zh-CN" altLang="en-US" sz="1400" dirty="0"/>
              <a:t> </a:t>
            </a:r>
            <a:r>
              <a:rPr lang="en-US" altLang="zh-CN" sz="1400" dirty="0"/>
              <a:t>1,</a:t>
            </a:r>
          </a:p>
          <a:p>
            <a:r>
              <a:rPr lang="en-US" altLang="zh-CN" sz="1400" dirty="0"/>
              <a:t>    </a:t>
            </a:r>
            <a:r>
              <a:rPr lang="en-US" altLang="zh-CN" sz="1400" dirty="0" err="1"/>
              <a:t>eth_type</a:t>
            </a:r>
            <a:r>
              <a:rPr lang="zh-CN" altLang="en-US" sz="1400" dirty="0"/>
              <a:t> </a:t>
            </a:r>
            <a:r>
              <a:rPr lang="en-US" altLang="zh-CN" sz="1400" dirty="0"/>
              <a:t>=</a:t>
            </a:r>
            <a:r>
              <a:rPr lang="zh-CN" altLang="en-US" sz="1400" dirty="0"/>
              <a:t> </a:t>
            </a:r>
            <a:r>
              <a:rPr lang="en-US" altLang="zh-CN" sz="1400" dirty="0"/>
              <a:t>0x0800,</a:t>
            </a:r>
          </a:p>
          <a:p>
            <a:r>
              <a:rPr lang="en-US" altLang="zh-CN" sz="1400" dirty="0"/>
              <a:t>    ipv4_dst</a:t>
            </a:r>
            <a:r>
              <a:rPr lang="zh-CN" altLang="en-US" sz="1400" dirty="0"/>
              <a:t> </a:t>
            </a:r>
            <a:r>
              <a:rPr lang="en-US" altLang="zh-CN" sz="1400" dirty="0"/>
              <a:t>=</a:t>
            </a:r>
            <a:r>
              <a:rPr lang="zh-CN" altLang="en-US" sz="1400" dirty="0"/>
              <a:t> </a:t>
            </a:r>
            <a:r>
              <a:rPr lang="en-US" altLang="zh-CN" sz="1400" dirty="0"/>
              <a:t>192.168.1.0/24,</a:t>
            </a:r>
          </a:p>
          <a:p>
            <a:r>
              <a:rPr lang="en-US" altLang="zh-CN" sz="1400" dirty="0"/>
              <a:t>    </a:t>
            </a:r>
            <a:r>
              <a:rPr lang="en-US" altLang="zh-CN" sz="1400" dirty="0" err="1"/>
              <a:t>tcp_dst</a:t>
            </a:r>
            <a:r>
              <a:rPr lang="zh-CN" altLang="en-US" sz="1400" dirty="0"/>
              <a:t> </a:t>
            </a:r>
            <a:r>
              <a:rPr lang="en-US" altLang="zh-CN" sz="1400" dirty="0"/>
              <a:t>=</a:t>
            </a:r>
            <a:r>
              <a:rPr lang="zh-CN" altLang="en-US" sz="1400" dirty="0"/>
              <a:t> </a:t>
            </a:r>
            <a:r>
              <a:rPr lang="en-US" altLang="zh-CN" sz="1400" dirty="0"/>
              <a:t>443</a:t>
            </a:r>
          </a:p>
          <a:p>
            <a:r>
              <a:rPr lang="en-US" altLang="zh-CN" sz="1400" b="1" dirty="0"/>
              <a:t>priority</a:t>
            </a:r>
            <a:r>
              <a:rPr lang="zh-CN" altLang="en-US" sz="1400" b="1" dirty="0"/>
              <a:t> </a:t>
            </a:r>
            <a:r>
              <a:rPr lang="en-US" altLang="zh-CN" sz="1400" dirty="0"/>
              <a:t>=</a:t>
            </a:r>
            <a:r>
              <a:rPr lang="zh-CN" altLang="en-US" sz="1400" dirty="0"/>
              <a:t> </a:t>
            </a:r>
            <a:r>
              <a:rPr lang="en-US" altLang="zh-CN" sz="1400" dirty="0"/>
              <a:t>1000,</a:t>
            </a:r>
          </a:p>
          <a:p>
            <a:r>
              <a:rPr lang="en-US" altLang="zh-CN" sz="1400" b="1" dirty="0"/>
              <a:t>instructions:</a:t>
            </a:r>
            <a:endParaRPr lang="en-US" altLang="zh-CN" sz="1400" dirty="0"/>
          </a:p>
          <a:p>
            <a:r>
              <a:rPr lang="en-US" altLang="zh-CN" sz="1400" dirty="0"/>
              <a:t>    </a:t>
            </a:r>
            <a:r>
              <a:rPr lang="en-US" altLang="zh-CN" sz="1400" dirty="0" err="1"/>
              <a:t>apply_actions</a:t>
            </a:r>
            <a:r>
              <a:rPr lang="en-US" altLang="zh-CN" sz="1400" dirty="0"/>
              <a:t>: [</a:t>
            </a:r>
            <a:r>
              <a:rPr lang="en-US" altLang="zh-CN" sz="1400" dirty="0" err="1"/>
              <a:t>set_field</a:t>
            </a:r>
            <a:r>
              <a:rPr lang="en-US" altLang="zh-CN" sz="1400" dirty="0"/>
              <a:t>(</a:t>
            </a:r>
            <a:r>
              <a:rPr lang="en-US" altLang="zh-CN" sz="1400" dirty="0" err="1"/>
              <a:t>ip_dscp</a:t>
            </a:r>
            <a:r>
              <a:rPr lang="zh-CN" altLang="en-US" sz="1400" dirty="0"/>
              <a:t> </a:t>
            </a:r>
            <a:r>
              <a:rPr lang="en-US" altLang="zh-CN" sz="1400" dirty="0"/>
              <a:t>-&gt;</a:t>
            </a:r>
            <a:r>
              <a:rPr lang="zh-CN" altLang="en-US" sz="1400" dirty="0"/>
              <a:t> </a:t>
            </a:r>
            <a:r>
              <a:rPr lang="en-US" altLang="zh-CN" sz="1400" dirty="0"/>
              <a:t>46)]</a:t>
            </a:r>
          </a:p>
          <a:p>
            <a:r>
              <a:rPr lang="en-US" altLang="zh-CN" sz="1400" dirty="0"/>
              <a:t>    </a:t>
            </a:r>
            <a:r>
              <a:rPr lang="en-US" altLang="zh-CN" sz="1400" dirty="0" err="1"/>
              <a:t>goto_table</a:t>
            </a:r>
            <a:r>
              <a:rPr lang="zh-CN" altLang="en-US" sz="1400" dirty="0"/>
              <a:t> </a:t>
            </a:r>
            <a:r>
              <a:rPr lang="en-US" altLang="zh-CN" sz="1400" dirty="0"/>
              <a:t>=</a:t>
            </a:r>
            <a:r>
              <a:rPr lang="zh-CN" altLang="en-US" sz="1400" dirty="0"/>
              <a:t> </a:t>
            </a:r>
            <a:r>
              <a:rPr lang="en-US" altLang="zh-CN" sz="1400" dirty="0"/>
              <a:t>1</a:t>
            </a:r>
          </a:p>
          <a:p>
            <a:r>
              <a:rPr lang="en-US" altLang="zh-CN" sz="1400" b="1" dirty="0"/>
              <a:t>cookie</a:t>
            </a:r>
            <a:r>
              <a:rPr lang="zh-CN" altLang="en-US" sz="1400" b="1" dirty="0"/>
              <a:t> </a:t>
            </a:r>
            <a:r>
              <a:rPr lang="en-US" altLang="zh-CN" sz="1400" dirty="0"/>
              <a:t>=</a:t>
            </a:r>
            <a:r>
              <a:rPr lang="zh-CN" altLang="en-US" sz="1400" dirty="0"/>
              <a:t> </a:t>
            </a:r>
            <a:r>
              <a:rPr lang="en-US" altLang="zh-CN" sz="1400" dirty="0"/>
              <a:t>0x1234</a:t>
            </a:r>
          </a:p>
          <a:p>
            <a:r>
              <a:rPr lang="en-US" altLang="zh-CN" sz="1400" b="1" dirty="0" err="1"/>
              <a:t>idle_timeout</a:t>
            </a:r>
            <a:r>
              <a:rPr lang="zh-CN" altLang="en-US" sz="1400" b="1" dirty="0"/>
              <a:t> </a:t>
            </a:r>
            <a:r>
              <a:rPr lang="en-US" altLang="zh-CN" sz="1400" dirty="0"/>
              <a:t>=</a:t>
            </a:r>
            <a:r>
              <a:rPr lang="zh-CN" altLang="en-US" sz="1400" dirty="0"/>
              <a:t> </a:t>
            </a:r>
            <a:r>
              <a:rPr lang="en-US" altLang="zh-CN" sz="1400" dirty="0"/>
              <a:t>600</a:t>
            </a:r>
          </a:p>
          <a:p>
            <a:r>
              <a:rPr lang="en-US" altLang="zh-CN" sz="1400" b="1" dirty="0"/>
              <a:t>flags</a:t>
            </a:r>
            <a:r>
              <a:rPr lang="zh-CN" altLang="en-US" sz="1400" b="1" dirty="0"/>
              <a:t> </a:t>
            </a:r>
            <a:r>
              <a:rPr lang="en-US" altLang="zh-CN" sz="1400" dirty="0"/>
              <a:t>=</a:t>
            </a:r>
            <a:r>
              <a:rPr lang="zh-CN" altLang="en-US" sz="1400" dirty="0"/>
              <a:t> </a:t>
            </a:r>
            <a:r>
              <a:rPr lang="en-US" altLang="zh-CN" sz="1400" dirty="0"/>
              <a:t>OFPFF_SEND_FLOW_REM</a:t>
            </a:r>
            <a:endParaRPr lang="zh-CN" altLang="en-US" sz="1400" dirty="0"/>
          </a:p>
        </p:txBody>
      </p:sp>
    </p:spTree>
    <p:custDataLst>
      <p:tags r:id="rId1"/>
    </p:custDataLst>
    <p:extLst>
      <p:ext uri="{BB962C8B-B14F-4D97-AF65-F5344CB8AC3E}">
        <p14:creationId xmlns:p14="http://schemas.microsoft.com/office/powerpoint/2010/main" val="36240815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500"/>
                                        <p:tgtEl>
                                          <p:spTgt spid="4">
                                            <p:txEl>
                                              <p:pRg st="5" end="5"/>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animEffect transition="in" filter="fade">
                                      <p:cBhvr>
                                        <p:cTn id="15" dur="500"/>
                                        <p:tgtEl>
                                          <p:spTgt spid="4">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7" end="7"/>
                                            </p:txEl>
                                          </p:spTgt>
                                        </p:tgtEl>
                                        <p:attrNameLst>
                                          <p:attrName>style.visibility</p:attrName>
                                        </p:attrNameLst>
                                      </p:cBhvr>
                                      <p:to>
                                        <p:strVal val="visible"/>
                                      </p:to>
                                    </p:set>
                                    <p:animEffect transition="in" filter="fade">
                                      <p:cBhvr>
                                        <p:cTn id="20" dur="500"/>
                                        <p:tgtEl>
                                          <p:spTgt spid="4">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animEffect transition="in" filter="fade">
                                      <p:cBhvr>
                                        <p:cTn id="25"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4" name="Rectangle 8"/>
          <p:cNvSpPr>
            <a:spLocks noChangeArrowheads="1"/>
          </p:cNvSpPr>
          <p:nvPr/>
        </p:nvSpPr>
        <p:spPr bwMode="auto">
          <a:xfrm>
            <a:off x="545143" y="1009413"/>
            <a:ext cx="788130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匹配字段</a:t>
            </a:r>
            <a:r>
              <a:rPr lang="zh-CN" altLang="en-US" b="1" dirty="0">
                <a:latin typeface="微软雅黑" pitchFamily="34" charset="-122"/>
                <a:ea typeface="微软雅黑" pitchFamily="34" charset="-122"/>
              </a:rPr>
              <a:t>是流表项的重要组成部分，在</a:t>
            </a:r>
            <a:r>
              <a:rPr lang="en-US" altLang="zh-CN" b="1" dirty="0">
                <a:latin typeface="微软雅黑" pitchFamily="34" charset="-122"/>
                <a:ea typeface="微软雅黑" pitchFamily="34" charset="-122"/>
              </a:rPr>
              <a:t>OpenFlow 1.0</a:t>
            </a:r>
            <a:r>
              <a:rPr lang="zh-CN" altLang="en-US" b="1" dirty="0">
                <a:latin typeface="微软雅黑" pitchFamily="34" charset="-122"/>
                <a:ea typeface="微软雅黑" pitchFamily="34" charset="-122"/>
              </a:rPr>
              <a:t>中，该字段称为首部字段</a:t>
            </a:r>
            <a:r>
              <a:rPr lang="zh-CN" altLang="en-US" b="1" dirty="0" smtClean="0">
                <a:latin typeface="微软雅黑" pitchFamily="34" charset="-122"/>
                <a:ea typeface="微软雅黑" pitchFamily="34" charset="-122"/>
              </a:rPr>
              <a:t>，在</a:t>
            </a:r>
            <a:r>
              <a:rPr lang="zh-CN" altLang="en-US" b="1" dirty="0">
                <a:latin typeface="微软雅黑" pitchFamily="34" charset="-122"/>
                <a:ea typeface="微软雅黑" pitchFamily="34" charset="-122"/>
              </a:rPr>
              <a:t>后续的版本中都定义为匹配字段</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en-US" altLang="zh-CN" b="1" dirty="0" smtClean="0">
                <a:latin typeface="微软雅黑" pitchFamily="34" charset="-122"/>
                <a:ea typeface="微软雅黑" pitchFamily="34" charset="-122"/>
              </a:rPr>
              <a:t>OpenFlow 1.0</a:t>
            </a:r>
            <a:r>
              <a:rPr lang="zh-CN" altLang="en-US" b="1" dirty="0" smtClean="0">
                <a:latin typeface="微软雅黑" pitchFamily="34" charset="-122"/>
                <a:ea typeface="微软雅黑" pitchFamily="34" charset="-122"/>
              </a:rPr>
              <a:t>仅有</a:t>
            </a:r>
            <a:r>
              <a:rPr lang="en-US" altLang="zh-CN" b="1" dirty="0" smtClean="0">
                <a:solidFill>
                  <a:srgbClr val="C00000"/>
                </a:solidFill>
                <a:latin typeface="微软雅黑" pitchFamily="34" charset="-122"/>
                <a:ea typeface="微软雅黑" pitchFamily="34" charset="-122"/>
              </a:rPr>
              <a:t>12</a:t>
            </a:r>
            <a:r>
              <a:rPr lang="zh-CN" altLang="en-US" b="1" dirty="0" smtClean="0">
                <a:solidFill>
                  <a:srgbClr val="C00000"/>
                </a:solidFill>
                <a:latin typeface="微软雅黑" pitchFamily="34" charset="-122"/>
                <a:ea typeface="微软雅黑" pitchFamily="34" charset="-122"/>
              </a:rPr>
              <a:t>个</a:t>
            </a:r>
            <a:r>
              <a:rPr lang="zh-CN" altLang="en-US" b="1" dirty="0">
                <a:latin typeface="微软雅黑" pitchFamily="34" charset="-122"/>
                <a:ea typeface="微软雅黑" pitchFamily="34" charset="-122"/>
              </a:rPr>
              <a:t>匹配</a:t>
            </a:r>
            <a:r>
              <a:rPr lang="zh-CN" altLang="en-US" b="1" dirty="0" smtClean="0">
                <a:solidFill>
                  <a:srgbClr val="C00000"/>
                </a:solidFill>
                <a:latin typeface="微软雅黑" pitchFamily="34" charset="-122"/>
                <a:ea typeface="微软雅黑" pitchFamily="34" charset="-122"/>
              </a:rPr>
              <a:t>字段</a:t>
            </a:r>
            <a:r>
              <a:rPr lang="zh-CN" altLang="en-US" b="1" dirty="0" smtClean="0">
                <a:latin typeface="微软雅黑" pitchFamily="34" charset="-122"/>
                <a:ea typeface="微软雅黑" pitchFamily="34" charset="-122"/>
              </a:rPr>
              <a:t>，涵盖了链路层、网络层、传输层的关键字段。</a:t>
            </a:r>
            <a:endParaRPr lang="en-US" altLang="zh-CN" b="1" dirty="0" smtClean="0">
              <a:latin typeface="微软雅黑" pitchFamily="34" charset="-122"/>
              <a:ea typeface="微软雅黑" pitchFamily="34" charset="-122"/>
            </a:endParaRPr>
          </a:p>
          <a:p>
            <a:pPr marL="285750" indent="-285750">
              <a:lnSpc>
                <a:spcPts val="3200"/>
              </a:lnSpc>
              <a:buClr>
                <a:srgbClr val="0070C0"/>
              </a:buClr>
              <a:buFont typeface="Wingdings" pitchFamily="2" charset="2"/>
              <a:buChar char="l"/>
            </a:pPr>
            <a:r>
              <a:rPr lang="zh-CN" altLang="en-US" b="1" dirty="0" smtClean="0">
                <a:latin typeface="微软雅黑" pitchFamily="34" charset="-122"/>
                <a:ea typeface="微软雅黑" pitchFamily="34" charset="-122"/>
              </a:rPr>
              <a:t>随着</a:t>
            </a:r>
            <a:r>
              <a:rPr lang="en-US" altLang="zh-CN" b="1" dirty="0">
                <a:latin typeface="微软雅黑" pitchFamily="34" charset="-122"/>
                <a:ea typeface="微软雅黑" pitchFamily="34" charset="-122"/>
              </a:rPr>
              <a:t>OpenFlow</a:t>
            </a:r>
            <a:r>
              <a:rPr lang="zh-CN" altLang="en-US" b="1" dirty="0">
                <a:latin typeface="微软雅黑" pitchFamily="34" charset="-122"/>
                <a:ea typeface="微软雅黑" pitchFamily="34" charset="-122"/>
              </a:rPr>
              <a:t>交换机规范版本的变化，匹配字段的数量也不断增加</a:t>
            </a:r>
            <a:r>
              <a:rPr lang="zh-CN" altLang="en-US" b="1" dirty="0" smtClean="0">
                <a:latin typeface="微软雅黑" pitchFamily="34" charset="-122"/>
                <a:ea typeface="微软雅黑" pitchFamily="34" charset="-122"/>
              </a:rPr>
              <a:t>，在</a:t>
            </a:r>
            <a:r>
              <a:rPr lang="en-US" altLang="zh-CN" b="1" dirty="0" smtClean="0">
                <a:latin typeface="微软雅黑" pitchFamily="34" charset="-122"/>
                <a:ea typeface="微软雅黑" pitchFamily="34" charset="-122"/>
              </a:rPr>
              <a:t>OpenFlow 1.5.1</a:t>
            </a:r>
            <a:r>
              <a:rPr lang="zh-CN" altLang="en-US" b="1" dirty="0" smtClean="0">
                <a:latin typeface="微软雅黑" pitchFamily="34" charset="-122"/>
                <a:ea typeface="微软雅黑" pitchFamily="34" charset="-122"/>
              </a:rPr>
              <a:t>中已经扩展为</a:t>
            </a:r>
            <a:r>
              <a:rPr lang="en-US" altLang="zh-CN" b="1" dirty="0" smtClean="0">
                <a:latin typeface="微软雅黑" pitchFamily="34" charset="-122"/>
                <a:ea typeface="微软雅黑" pitchFamily="34" charset="-122"/>
              </a:rPr>
              <a:t>44</a:t>
            </a:r>
            <a:r>
              <a:rPr lang="zh-CN" altLang="en-US" b="1" dirty="0" smtClean="0">
                <a:latin typeface="微软雅黑" pitchFamily="34" charset="-122"/>
                <a:ea typeface="微软雅黑" pitchFamily="34" charset="-122"/>
              </a:rPr>
              <a:t>个字段。</a:t>
            </a:r>
            <a:endParaRPr lang="en-US" altLang="zh-CN" b="1" dirty="0" smtClean="0">
              <a:latin typeface="微软雅黑" pitchFamily="34" charset="-122"/>
              <a:ea typeface="微软雅黑" pitchFamily="34" charset="-122"/>
            </a:endParaRPr>
          </a:p>
        </p:txBody>
      </p:sp>
      <p:graphicFrame>
        <p:nvGraphicFramePr>
          <p:cNvPr id="7" name="对象 6"/>
          <p:cNvGraphicFramePr>
            <a:graphicFrameLocks noChangeAspect="1"/>
          </p:cNvGraphicFramePr>
          <p:nvPr>
            <p:extLst/>
          </p:nvPr>
        </p:nvGraphicFramePr>
        <p:xfrm>
          <a:off x="981572" y="3794760"/>
          <a:ext cx="7180855" cy="825500"/>
        </p:xfrm>
        <a:graphic>
          <a:graphicData uri="http://schemas.openxmlformats.org/presentationml/2006/ole">
            <mc:AlternateContent xmlns:mc="http://schemas.openxmlformats.org/markup-compatibility/2006">
              <mc:Choice xmlns:v="urn:schemas-microsoft-com:vml" Requires="v">
                <p:oleObj spid="_x0000_s13320" name="Visio" r:id="rId5" imgW="4102249" imgH="463615" progId="Visio.Drawing.15">
                  <p:embed/>
                </p:oleObj>
              </mc:Choice>
              <mc:Fallback>
                <p:oleObj name="Visio" r:id="rId5" imgW="4102249" imgH="463615" progId="Visio.Drawing.15">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572" y="3794760"/>
                        <a:ext cx="7180855" cy="825500"/>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9108723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交换机概述</a:t>
            </a:r>
          </a:p>
        </p:txBody>
      </p:sp>
      <p:sp>
        <p:nvSpPr>
          <p:cNvPr id="8" name="Rectangle 22">
            <a:extLst>
              <a:ext uri="{FF2B5EF4-FFF2-40B4-BE49-F238E27FC236}">
                <a16:creationId xmlns:a16="http://schemas.microsoft.com/office/drawing/2014/main" id="{0AD70559-AC7C-9947-AC45-23DE9B6E4A95}"/>
              </a:ext>
            </a:extLst>
          </p:cNvPr>
          <p:cNvSpPr>
            <a:spLocks/>
          </p:cNvSpPr>
          <p:nvPr/>
        </p:nvSpPr>
        <p:spPr bwMode="auto">
          <a:xfrm>
            <a:off x="585374" y="1145275"/>
            <a:ext cx="1446212" cy="472595"/>
          </a:xfrm>
          <a:prstGeom prst="rect">
            <a:avLst/>
          </a:prstGeom>
          <a:solidFill>
            <a:srgbClr val="BBE0E3"/>
          </a:solidFill>
          <a:ln w="12700">
            <a:solidFill>
              <a:srgbClr val="000000"/>
            </a:solidFill>
            <a:miter lim="800000"/>
            <a:headEnd/>
            <a:tailEnd/>
          </a:ln>
        </p:spPr>
        <p:txBody>
          <a:bodyPr lIns="0" tIns="0" rIns="0" bIns="0" anchor="ctr" anchorCtr="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0" cap="none" spc="0" normalizeH="0" baseline="0" noProof="0" dirty="0" smtClean="0">
                <a:ln>
                  <a:noFill/>
                </a:ln>
                <a:solidFill>
                  <a:srgbClr val="000000"/>
                </a:solidFill>
                <a:effectLst/>
                <a:uLnTx/>
                <a:uFillTx/>
                <a:latin typeface="+mn-lt"/>
                <a:ea typeface="+mn-ea"/>
                <a:cs typeface="+mn-cs"/>
              </a:rPr>
              <a:t>首部字段</a:t>
            </a:r>
            <a:endParaRPr kumimoji="0" lang="en-US" altLang="en-US" sz="1600" b="0" i="0" u="none" strike="noStrike" kern="0" cap="none" spc="0" normalizeH="0" baseline="0" noProof="0" dirty="0">
              <a:ln>
                <a:noFill/>
              </a:ln>
              <a:solidFill>
                <a:srgbClr val="000000"/>
              </a:solidFill>
              <a:effectLst/>
              <a:uLnTx/>
              <a:uFillTx/>
              <a:latin typeface="+mn-lt"/>
              <a:ea typeface="+mn-ea"/>
              <a:cs typeface="+mn-cs"/>
            </a:endParaRPr>
          </a:p>
        </p:txBody>
      </p:sp>
      <p:sp>
        <p:nvSpPr>
          <p:cNvPr id="10" name="Rectangle 24">
            <a:extLst>
              <a:ext uri="{FF2B5EF4-FFF2-40B4-BE49-F238E27FC236}">
                <a16:creationId xmlns:a16="http://schemas.microsoft.com/office/drawing/2014/main" id="{BE807A08-7FD9-9545-85F5-D6F935F202EE}"/>
              </a:ext>
            </a:extLst>
          </p:cNvPr>
          <p:cNvSpPr>
            <a:spLocks/>
          </p:cNvSpPr>
          <p:nvPr/>
        </p:nvSpPr>
        <p:spPr bwMode="auto">
          <a:xfrm>
            <a:off x="2031586" y="1145275"/>
            <a:ext cx="1446213" cy="472595"/>
          </a:xfrm>
          <a:prstGeom prst="rect">
            <a:avLst/>
          </a:prstGeom>
          <a:solidFill>
            <a:schemeClr val="accent6">
              <a:lumMod val="20000"/>
              <a:lumOff val="80000"/>
            </a:schemeClr>
          </a:solidFill>
          <a:ln w="12700">
            <a:solidFill>
              <a:srgbClr val="697D3A"/>
            </a:solidFill>
            <a:miter lim="800000"/>
            <a:headEnd/>
            <a:tailEnd/>
          </a:ln>
        </p:spPr>
        <p:txBody>
          <a:bodyPr lIns="0" tIns="0" rIns="0" bIns="0" anchor="ctr" anchorCtr="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smtClean="0">
                <a:ln>
                  <a:noFill/>
                </a:ln>
                <a:solidFill>
                  <a:srgbClr val="000000"/>
                </a:solidFill>
                <a:effectLst/>
                <a:uLnTx/>
                <a:uFillTx/>
                <a:latin typeface="+mn-lt"/>
                <a:ea typeface="+mn-ea"/>
                <a:cs typeface="+mn-cs"/>
              </a:rPr>
              <a:t>动作</a:t>
            </a:r>
            <a:endParaRPr kumimoji="0" lang="en-US" altLang="en-US" sz="1600" b="0" i="0" u="none" strike="noStrike" kern="1200" cap="none" spc="0" normalizeH="0" baseline="0" noProof="0" dirty="0">
              <a:ln>
                <a:noFill/>
              </a:ln>
              <a:solidFill>
                <a:srgbClr val="000000"/>
              </a:solidFill>
              <a:effectLst/>
              <a:uLnTx/>
              <a:uFillTx/>
              <a:latin typeface="+mn-lt"/>
              <a:ea typeface="+mn-ea"/>
              <a:cs typeface="+mn-cs"/>
            </a:endParaRPr>
          </a:p>
        </p:txBody>
      </p:sp>
      <p:sp>
        <p:nvSpPr>
          <p:cNvPr id="12" name="Rectangle 26">
            <a:extLst>
              <a:ext uri="{FF2B5EF4-FFF2-40B4-BE49-F238E27FC236}">
                <a16:creationId xmlns:a16="http://schemas.microsoft.com/office/drawing/2014/main" id="{16236DDC-2598-9646-B25C-B30C4DFC7CB1}"/>
              </a:ext>
            </a:extLst>
          </p:cNvPr>
          <p:cNvSpPr>
            <a:spLocks/>
          </p:cNvSpPr>
          <p:nvPr/>
        </p:nvSpPr>
        <p:spPr bwMode="auto">
          <a:xfrm>
            <a:off x="3477799" y="1145275"/>
            <a:ext cx="1447800" cy="472595"/>
          </a:xfrm>
          <a:prstGeom prst="rect">
            <a:avLst/>
          </a:prstGeom>
          <a:solidFill>
            <a:schemeClr val="bg1">
              <a:lumMod val="95000"/>
            </a:schemeClr>
          </a:solidFill>
          <a:ln w="12700">
            <a:solidFill>
              <a:srgbClr val="800000"/>
            </a:solidFill>
            <a:miter lim="800000"/>
            <a:headEnd/>
            <a:tailEnd/>
          </a:ln>
        </p:spPr>
        <p:txBody>
          <a:bodyPr lIns="0" tIns="0" rIns="0" bIns="0" anchor="ctr" anchorCtr="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dirty="0" smtClean="0">
                <a:ln>
                  <a:noFill/>
                </a:ln>
                <a:solidFill>
                  <a:srgbClr val="000000"/>
                </a:solidFill>
                <a:effectLst/>
                <a:uLnTx/>
                <a:uFillTx/>
                <a:latin typeface="+mn-lt"/>
                <a:ea typeface="+mn-ea"/>
                <a:cs typeface="+mn-cs"/>
              </a:rPr>
              <a:t>统计信息</a:t>
            </a:r>
            <a:endParaRPr kumimoji="0" lang="en-US" altLang="en-US" sz="1600" b="0" i="0" u="none" strike="noStrike" kern="1200" cap="none" spc="0" normalizeH="0" baseline="0" noProof="0" dirty="0">
              <a:ln>
                <a:noFill/>
              </a:ln>
              <a:solidFill>
                <a:srgbClr val="000000"/>
              </a:solidFill>
              <a:effectLst/>
              <a:uLnTx/>
              <a:uFillTx/>
              <a:latin typeface="+mn-lt"/>
              <a:ea typeface="+mn-ea"/>
              <a:cs typeface="+mn-cs"/>
            </a:endParaRPr>
          </a:p>
        </p:txBody>
      </p:sp>
      <p:grpSp>
        <p:nvGrpSpPr>
          <p:cNvPr id="14" name="Group 17">
            <a:extLst>
              <a:ext uri="{FF2B5EF4-FFF2-40B4-BE49-F238E27FC236}">
                <a16:creationId xmlns:a16="http://schemas.microsoft.com/office/drawing/2014/main" id="{59F896C2-F45F-994F-85B3-1277A3B273B4}"/>
              </a:ext>
            </a:extLst>
          </p:cNvPr>
          <p:cNvGrpSpPr/>
          <p:nvPr/>
        </p:nvGrpSpPr>
        <p:grpSpPr>
          <a:xfrm>
            <a:off x="1683925" y="1629444"/>
            <a:ext cx="2646776" cy="1707730"/>
            <a:chOff x="3169825" y="2200944"/>
            <a:chExt cx="2646776" cy="1707730"/>
          </a:xfrm>
        </p:grpSpPr>
        <p:sp>
          <p:nvSpPr>
            <p:cNvPr id="15" name="Rectangle 28">
              <a:extLst>
                <a:ext uri="{FF2B5EF4-FFF2-40B4-BE49-F238E27FC236}">
                  <a16:creationId xmlns:a16="http://schemas.microsoft.com/office/drawing/2014/main" id="{9266D65C-F99C-1F43-8034-2A04FEF53866}"/>
                </a:ext>
              </a:extLst>
            </p:cNvPr>
            <p:cNvSpPr>
              <a:spLocks/>
            </p:cNvSpPr>
            <p:nvPr/>
          </p:nvSpPr>
          <p:spPr bwMode="auto">
            <a:xfrm>
              <a:off x="3169825" y="2967245"/>
              <a:ext cx="2646776" cy="941429"/>
            </a:xfrm>
            <a:prstGeom prst="rect">
              <a:avLst/>
            </a:prstGeom>
            <a:solidFill>
              <a:schemeClr val="accent6">
                <a:lumMod val="20000"/>
                <a:lumOff val="80000"/>
              </a:schemeClr>
            </a:solidFill>
            <a:ln w="12700">
              <a:solidFill>
                <a:srgbClr val="697D3A"/>
              </a:solidFill>
              <a:miter lim="800000"/>
              <a:headEnd/>
              <a:tailEnd/>
            </a:ln>
          </p:spPr>
          <p:txBody>
            <a:bodyPr lIns="0" tIns="0" rIns="0" bIns="0" anchor="ctr"/>
            <a:lstStyle>
              <a:lvl1pPr marL="357188" indent="-330200"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转发</a:t>
              </a:r>
              <a:endParaRPr kumimoji="0" lang="en-US" altLang="en-US" sz="1400" b="0" i="0" u="none" strike="noStrike" kern="1200" cap="none" spc="0" normalizeH="0" baseline="0" noProof="0" dirty="0">
                <a:ln>
                  <a:noFill/>
                </a:ln>
                <a:solidFill>
                  <a:srgbClr val="000000"/>
                </a:solidFill>
                <a:effectLst/>
                <a:uLnTx/>
                <a:uFillTx/>
                <a:latin typeface="+mn-lt"/>
                <a:ea typeface="+mn-ea"/>
                <a:cs typeface="+mn-cs"/>
              </a:endParaRPr>
            </a:p>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丢弃</a:t>
              </a:r>
              <a:endParaRPr kumimoji="0" lang="en-US" altLang="en-US" sz="1400" b="0" i="0" u="none" strike="noStrike" kern="1200" cap="none" spc="0" normalizeH="0" baseline="0" noProof="0" dirty="0">
                <a:ln>
                  <a:noFill/>
                </a:ln>
                <a:solidFill>
                  <a:srgbClr val="000000"/>
                </a:solidFill>
                <a:effectLst/>
                <a:uLnTx/>
                <a:uFillTx/>
                <a:latin typeface="+mn-lt"/>
                <a:ea typeface="+mn-ea"/>
                <a:cs typeface="+mn-cs"/>
              </a:endParaRPr>
            </a:p>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修改首部信息</a:t>
              </a:r>
              <a:endParaRPr kumimoji="0" lang="en-US" altLang="en-US" sz="1400" b="0" i="0" u="none" strike="noStrike" kern="1200" cap="none" spc="0" normalizeH="0" baseline="0" noProof="0" dirty="0">
                <a:ln>
                  <a:noFill/>
                </a:ln>
                <a:solidFill>
                  <a:srgbClr val="000000"/>
                </a:solidFill>
                <a:effectLst/>
                <a:uLnTx/>
                <a:uFillTx/>
                <a:latin typeface="+mn-lt"/>
                <a:ea typeface="+mn-ea"/>
                <a:cs typeface="+mn-cs"/>
              </a:endParaRPr>
            </a:p>
            <a:p>
              <a:pPr marL="357188" marR="0" lvl="0" indent="-330200" algn="l" defTabSz="457200" rtl="0" eaLnBrk="0" fontAlgn="base" latinLnBrk="0" hangingPunct="0">
                <a:lnSpc>
                  <a:spcPct val="100000"/>
                </a:lnSpc>
                <a:spcBef>
                  <a:spcPct val="0"/>
                </a:spcBef>
                <a:spcAft>
                  <a:spcPct val="0"/>
                </a:spcAft>
                <a:buClrTx/>
                <a:buSzTx/>
                <a:buFontTx/>
                <a:buAutoNum type="arabicPeriod"/>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发送至控制器</a:t>
              </a:r>
              <a:endParaRPr kumimoji="0" lang="en-US" altLang="en-US" sz="1400" b="0" i="0" u="none" strike="noStrike" kern="1200" cap="none" spc="0" normalizeH="0" baseline="0" noProof="0" dirty="0">
                <a:ln>
                  <a:noFill/>
                </a:ln>
                <a:solidFill>
                  <a:srgbClr val="000000"/>
                </a:solidFill>
                <a:effectLst/>
                <a:uLnTx/>
                <a:uFillTx/>
                <a:latin typeface="+mn-lt"/>
                <a:ea typeface="+mn-ea"/>
                <a:cs typeface="+mn-cs"/>
              </a:endParaRPr>
            </a:p>
          </p:txBody>
        </p:sp>
        <p:sp>
          <p:nvSpPr>
            <p:cNvPr id="16" name="Line 31">
              <a:extLst>
                <a:ext uri="{FF2B5EF4-FFF2-40B4-BE49-F238E27FC236}">
                  <a16:creationId xmlns:a16="http://schemas.microsoft.com/office/drawing/2014/main" id="{52B512E6-14A5-1848-BD25-C203B04E8EEA}"/>
                </a:ext>
              </a:extLst>
            </p:cNvPr>
            <p:cNvSpPr>
              <a:spLocks noChangeShapeType="1"/>
            </p:cNvSpPr>
            <p:nvPr/>
          </p:nvSpPr>
          <p:spPr bwMode="auto">
            <a:xfrm>
              <a:off x="3616272" y="2200944"/>
              <a:ext cx="1588" cy="75882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64291" tIns="32146" rIns="64291" bIns="32146"/>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cs typeface="+mn-cs"/>
              </a:endParaRPr>
            </a:p>
          </p:txBody>
        </p:sp>
      </p:grpSp>
      <p:grpSp>
        <p:nvGrpSpPr>
          <p:cNvPr id="17" name="Group 140">
            <a:extLst>
              <a:ext uri="{FF2B5EF4-FFF2-40B4-BE49-F238E27FC236}">
                <a16:creationId xmlns:a16="http://schemas.microsoft.com/office/drawing/2014/main" id="{A4B313E8-BEC4-FE4B-9D13-E1494E2C29CB}"/>
              </a:ext>
            </a:extLst>
          </p:cNvPr>
          <p:cNvGrpSpPr/>
          <p:nvPr/>
        </p:nvGrpSpPr>
        <p:grpSpPr>
          <a:xfrm>
            <a:off x="3549174" y="1629445"/>
            <a:ext cx="1594325" cy="623425"/>
            <a:chOff x="5116099" y="2200945"/>
            <a:chExt cx="3044825" cy="623425"/>
          </a:xfrm>
        </p:grpSpPr>
        <p:sp>
          <p:nvSpPr>
            <p:cNvPr id="18" name="Rectangle 32">
              <a:extLst>
                <a:ext uri="{FF2B5EF4-FFF2-40B4-BE49-F238E27FC236}">
                  <a16:creationId xmlns:a16="http://schemas.microsoft.com/office/drawing/2014/main" id="{D609C7D3-AFCA-CD4D-A9FA-199E674273FE}"/>
                </a:ext>
              </a:extLst>
            </p:cNvPr>
            <p:cNvSpPr>
              <a:spLocks/>
            </p:cNvSpPr>
            <p:nvPr/>
          </p:nvSpPr>
          <p:spPr bwMode="auto">
            <a:xfrm>
              <a:off x="5116099" y="2440195"/>
              <a:ext cx="3044825" cy="384175"/>
            </a:xfrm>
            <a:prstGeom prst="rect">
              <a:avLst/>
            </a:prstGeom>
            <a:solidFill>
              <a:schemeClr val="bg1">
                <a:lumMod val="95000"/>
              </a:schemeClr>
            </a:solidFill>
            <a:ln w="12700">
              <a:solidFill>
                <a:srgbClr val="800000"/>
              </a:solid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srgbClr val="000000"/>
                </a:solidFill>
                <a:effectLst/>
                <a:uLnTx/>
                <a:uFillTx/>
                <a:latin typeface="+mn-lt"/>
                <a:ea typeface="+mn-ea"/>
                <a:cs typeface="+mn-cs"/>
              </a:endParaRPr>
            </a:p>
          </p:txBody>
        </p:sp>
        <p:grpSp>
          <p:nvGrpSpPr>
            <p:cNvPr id="19" name="Group 24">
              <a:extLst>
                <a:ext uri="{FF2B5EF4-FFF2-40B4-BE49-F238E27FC236}">
                  <a16:creationId xmlns:a16="http://schemas.microsoft.com/office/drawing/2014/main" id="{8B95579B-B620-2543-AF1E-242CC2FF5E5D}"/>
                </a:ext>
              </a:extLst>
            </p:cNvPr>
            <p:cNvGrpSpPr/>
            <p:nvPr/>
          </p:nvGrpSpPr>
          <p:grpSpPr>
            <a:xfrm>
              <a:off x="5187757" y="2200945"/>
              <a:ext cx="2973167" cy="588539"/>
              <a:chOff x="5187757" y="2200945"/>
              <a:chExt cx="2973167" cy="588539"/>
            </a:xfrm>
          </p:grpSpPr>
          <p:sp>
            <p:nvSpPr>
              <p:cNvPr id="20" name="Rectangle 33">
                <a:extLst>
                  <a:ext uri="{FF2B5EF4-FFF2-40B4-BE49-F238E27FC236}">
                    <a16:creationId xmlns:a16="http://schemas.microsoft.com/office/drawing/2014/main" id="{75F85A0F-FD95-A049-B1DF-00E32B14CE21}"/>
                  </a:ext>
                </a:extLst>
              </p:cNvPr>
              <p:cNvSpPr>
                <a:spLocks/>
              </p:cNvSpPr>
              <p:nvPr/>
            </p:nvSpPr>
            <p:spPr bwMode="auto">
              <a:xfrm>
                <a:off x="5258975" y="2543263"/>
                <a:ext cx="29019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ctr">
                <a:spAutoFit/>
              </a:bodyPr>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r>
                  <a:rPr lang="zh-CN" altLang="en-US" sz="1600" dirty="0" smtClean="0">
                    <a:solidFill>
                      <a:srgbClr val="000000"/>
                    </a:solidFill>
                    <a:latin typeface="+mn-lt"/>
                    <a:ea typeface="+mn-ea"/>
                  </a:rPr>
                  <a:t> 分组</a:t>
                </a:r>
                <a:r>
                  <a:rPr lang="en-US" altLang="zh-CN" sz="1600" dirty="0" smtClean="0">
                    <a:solidFill>
                      <a:srgbClr val="000000"/>
                    </a:solidFill>
                    <a:latin typeface="+mn-lt"/>
                    <a:ea typeface="+mn-ea"/>
                  </a:rPr>
                  <a:t>/</a:t>
                </a:r>
                <a:r>
                  <a:rPr lang="zh-CN" altLang="en-US" sz="1600" dirty="0" smtClean="0">
                    <a:solidFill>
                      <a:srgbClr val="000000"/>
                    </a:solidFill>
                    <a:latin typeface="+mn-lt"/>
                    <a:ea typeface="+mn-ea"/>
                  </a:rPr>
                  <a:t>字节信息</a:t>
                </a:r>
                <a:endParaRPr kumimoji="0" lang="en-US" altLang="en-US" sz="1600" b="0" i="0" u="none" strike="noStrike" kern="1200" cap="none" spc="0" normalizeH="0" baseline="0" noProof="0" dirty="0">
                  <a:ln>
                    <a:noFill/>
                  </a:ln>
                  <a:solidFill>
                    <a:srgbClr val="000000"/>
                  </a:solidFill>
                  <a:effectLst/>
                  <a:uLnTx/>
                  <a:uFillTx/>
                  <a:latin typeface="+mn-lt"/>
                  <a:ea typeface="+mn-ea"/>
                </a:endParaRPr>
              </a:p>
            </p:txBody>
          </p:sp>
          <p:sp>
            <p:nvSpPr>
              <p:cNvPr id="21" name="Line 34">
                <a:extLst>
                  <a:ext uri="{FF2B5EF4-FFF2-40B4-BE49-F238E27FC236}">
                    <a16:creationId xmlns:a16="http://schemas.microsoft.com/office/drawing/2014/main" id="{870022B4-CB13-CE41-AE1A-A4275A96B6D5}"/>
                  </a:ext>
                </a:extLst>
              </p:cNvPr>
              <p:cNvSpPr>
                <a:spLocks noChangeShapeType="1"/>
              </p:cNvSpPr>
              <p:nvPr/>
            </p:nvSpPr>
            <p:spPr bwMode="auto">
              <a:xfrm rot="10800000" flipH="1">
                <a:off x="5187757" y="2200945"/>
                <a:ext cx="1587" cy="23177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64291" tIns="32146" rIns="64291" bIns="32146"/>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cs typeface="+mn-cs"/>
                </a:endParaRPr>
              </a:p>
            </p:txBody>
          </p:sp>
        </p:grpSp>
      </p:grpSp>
      <p:grpSp>
        <p:nvGrpSpPr>
          <p:cNvPr id="22" name="Group 9">
            <a:extLst>
              <a:ext uri="{FF2B5EF4-FFF2-40B4-BE49-F238E27FC236}">
                <a16:creationId xmlns:a16="http://schemas.microsoft.com/office/drawing/2014/main" id="{65D5C3D3-25BB-D54D-BCEB-FCA2C288C1FE}"/>
              </a:ext>
            </a:extLst>
          </p:cNvPr>
          <p:cNvGrpSpPr/>
          <p:nvPr/>
        </p:nvGrpSpPr>
        <p:grpSpPr>
          <a:xfrm>
            <a:off x="631611" y="1629262"/>
            <a:ext cx="8446528" cy="2272178"/>
            <a:chOff x="2117511" y="2200761"/>
            <a:chExt cx="8446528" cy="3709144"/>
          </a:xfrm>
        </p:grpSpPr>
        <p:sp>
          <p:nvSpPr>
            <p:cNvPr id="24" name="Line 30">
              <a:extLst>
                <a:ext uri="{FF2B5EF4-FFF2-40B4-BE49-F238E27FC236}">
                  <a16:creationId xmlns:a16="http://schemas.microsoft.com/office/drawing/2014/main" id="{77A0D0EE-2F6A-C542-92CB-4694F0C0D560}"/>
                </a:ext>
              </a:extLst>
            </p:cNvPr>
            <p:cNvSpPr>
              <a:spLocks noChangeShapeType="1"/>
            </p:cNvSpPr>
            <p:nvPr/>
          </p:nvSpPr>
          <p:spPr bwMode="auto">
            <a:xfrm>
              <a:off x="2127885" y="2200761"/>
              <a:ext cx="1858" cy="3054145"/>
            </a:xfrm>
            <a:prstGeom prst="line">
              <a:avLst/>
            </a:prstGeom>
            <a:noFill/>
            <a:ln w="38100">
              <a:solidFill>
                <a:srgbClr val="000000"/>
              </a:solidFill>
              <a:prstDash val="sysDot"/>
              <a:round/>
              <a:headEnd/>
              <a:tailEnd/>
            </a:ln>
            <a:extLst>
              <a:ext uri="{909E8E84-426E-40DD-AFC4-6F175D3DCCD1}">
                <a14:hiddenFill xmlns:a14="http://schemas.microsoft.com/office/drawing/2010/main">
                  <a:noFill/>
                </a14:hiddenFill>
              </a:ext>
            </a:extLst>
          </p:spPr>
          <p:txBody>
            <a:bodyPr lIns="64291" tIns="32146" rIns="64291" bIns="32146"/>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cs typeface="+mn-cs"/>
              </a:endParaRPr>
            </a:p>
          </p:txBody>
        </p:sp>
        <p:sp>
          <p:nvSpPr>
            <p:cNvPr id="25" name="矩形 15">
              <a:extLst>
                <a:ext uri="{FF2B5EF4-FFF2-40B4-BE49-F238E27FC236}">
                  <a16:creationId xmlns:a16="http://schemas.microsoft.com/office/drawing/2014/main" id="{CA379C48-5241-1340-B3EF-424003EEF91F}"/>
                </a:ext>
              </a:extLst>
            </p:cNvPr>
            <p:cNvSpPr/>
            <p:nvPr/>
          </p:nvSpPr>
          <p:spPr bwMode="auto">
            <a:xfrm>
              <a:off x="2117511" y="5262205"/>
              <a:ext cx="771961" cy="64770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入端口</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26" name="矩形 17">
              <a:extLst>
                <a:ext uri="{FF2B5EF4-FFF2-40B4-BE49-F238E27FC236}">
                  <a16:creationId xmlns:a16="http://schemas.microsoft.com/office/drawing/2014/main" id="{EDDEBD12-93C8-C749-95E6-157B703157DF}"/>
                </a:ext>
              </a:extLst>
            </p:cNvPr>
            <p:cNvSpPr/>
            <p:nvPr/>
          </p:nvSpPr>
          <p:spPr bwMode="auto">
            <a:xfrm>
              <a:off x="288947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源</a:t>
              </a:r>
              <a:r>
                <a:rPr kumimoji="0" lang="en-US" altLang="zh-TW" sz="1200" b="0" i="0" u="none" strike="noStrike" kern="0" cap="none" spc="0" normalizeH="0" baseline="0" noProof="0" dirty="0" smtClean="0">
                  <a:ln>
                    <a:noFill/>
                  </a:ln>
                  <a:solidFill>
                    <a:srgbClr val="FFFFFF"/>
                  </a:solidFill>
                  <a:effectLst/>
                  <a:uLnTx/>
                  <a:uFillTx/>
                  <a:latin typeface="+mn-lt"/>
                  <a:ea typeface="+mn-ea"/>
                  <a:cs typeface="新細明體" charset="0"/>
                </a:rPr>
                <a:t> </a:t>
              </a: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MAC</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27" name="矩形 18">
              <a:extLst>
                <a:ext uri="{FF2B5EF4-FFF2-40B4-BE49-F238E27FC236}">
                  <a16:creationId xmlns:a16="http://schemas.microsoft.com/office/drawing/2014/main" id="{BD494138-72F4-6849-A86F-6FAD87C96C5B}"/>
                </a:ext>
              </a:extLst>
            </p:cNvPr>
            <p:cNvSpPr/>
            <p:nvPr/>
          </p:nvSpPr>
          <p:spPr bwMode="auto">
            <a:xfrm>
              <a:off x="3544933"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目的</a:t>
              </a:r>
              <a:r>
                <a:rPr kumimoji="0" lang="en-US" altLang="zh-TW" sz="1200" b="0" i="0" u="none" strike="noStrike" kern="0" cap="none" spc="0" normalizeH="0" baseline="0" noProof="0" dirty="0" smtClean="0">
                  <a:ln>
                    <a:noFill/>
                  </a:ln>
                  <a:solidFill>
                    <a:srgbClr val="FFFFFF"/>
                  </a:solidFill>
                  <a:effectLst/>
                  <a:uLnTx/>
                  <a:uFillTx/>
                  <a:latin typeface="+mn-lt"/>
                  <a:ea typeface="+mn-ea"/>
                  <a:cs typeface="新細明體" charset="0"/>
                </a:rPr>
                <a:t> </a:t>
              </a: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MAC</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28" name="矩形 19">
              <a:extLst>
                <a:ext uri="{FF2B5EF4-FFF2-40B4-BE49-F238E27FC236}">
                  <a16:creationId xmlns:a16="http://schemas.microsoft.com/office/drawing/2014/main" id="{89A4DCC1-6DF5-5340-A0A5-E76D4CDB272F}"/>
                </a:ext>
              </a:extLst>
            </p:cNvPr>
            <p:cNvSpPr/>
            <p:nvPr/>
          </p:nvSpPr>
          <p:spPr bwMode="auto">
            <a:xfrm>
              <a:off x="420039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以太网类型</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29" name="矩形 20">
              <a:extLst>
                <a:ext uri="{FF2B5EF4-FFF2-40B4-BE49-F238E27FC236}">
                  <a16:creationId xmlns:a16="http://schemas.microsoft.com/office/drawing/2014/main" id="{15670B19-5888-BF4A-8B11-FDBF006ADDB5}"/>
                </a:ext>
              </a:extLst>
            </p:cNvPr>
            <p:cNvSpPr/>
            <p:nvPr/>
          </p:nvSpPr>
          <p:spPr bwMode="auto">
            <a:xfrm>
              <a:off x="4855852"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VLAN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 ID</a:t>
              </a:r>
              <a:endParaRPr kumimoji="0" lang="zh-TW" altLang="en-US" sz="1200" b="0" i="0" u="none" strike="noStrike" kern="0" cap="none" spc="0" normalizeH="0" baseline="0" noProof="0">
                <a:ln>
                  <a:noFill/>
                </a:ln>
                <a:solidFill>
                  <a:srgbClr val="FFFFFF"/>
                </a:solidFill>
                <a:effectLst/>
                <a:uLnTx/>
                <a:uFillTx/>
                <a:latin typeface="+mn-lt"/>
                <a:ea typeface="+mn-ea"/>
                <a:cs typeface="新細明體" charset="0"/>
              </a:endParaRPr>
            </a:p>
          </p:txBody>
        </p:sp>
        <p:sp>
          <p:nvSpPr>
            <p:cNvPr id="30" name="矩形 21">
              <a:extLst>
                <a:ext uri="{FF2B5EF4-FFF2-40B4-BE49-F238E27FC236}">
                  <a16:creationId xmlns:a16="http://schemas.microsoft.com/office/drawing/2014/main" id="{66D36742-74FB-594E-A690-B8C0858BCD8C}"/>
                </a:ext>
              </a:extLst>
            </p:cNvPr>
            <p:cNvSpPr/>
            <p:nvPr/>
          </p:nvSpPr>
          <p:spPr bwMode="auto">
            <a:xfrm>
              <a:off x="8068323"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服务类型</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31" name="矩形 22">
              <a:extLst>
                <a:ext uri="{FF2B5EF4-FFF2-40B4-BE49-F238E27FC236}">
                  <a16:creationId xmlns:a16="http://schemas.microsoft.com/office/drawing/2014/main" id="{3B962E35-4FCE-4748-95D0-2BAC40159868}"/>
                </a:ext>
              </a:extLst>
            </p:cNvPr>
            <p:cNvSpPr/>
            <p:nvPr/>
          </p:nvSpPr>
          <p:spPr bwMode="auto">
            <a:xfrm>
              <a:off x="7437016"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协议</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32" name="矩形 23">
              <a:extLst>
                <a:ext uri="{FF2B5EF4-FFF2-40B4-BE49-F238E27FC236}">
                  <a16:creationId xmlns:a16="http://schemas.microsoft.com/office/drawing/2014/main" id="{E0710398-489A-8E42-970A-84EBF2848538}"/>
                </a:ext>
              </a:extLst>
            </p:cNvPr>
            <p:cNvSpPr/>
            <p:nvPr/>
          </p:nvSpPr>
          <p:spPr bwMode="auto">
            <a:xfrm>
              <a:off x="6174401"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IP Src</a:t>
              </a:r>
              <a:endParaRPr kumimoji="0" lang="zh-TW" altLang="en-US" sz="1200" b="0" i="0" u="none" strike="noStrike" kern="0" cap="none" spc="0" normalizeH="0" baseline="0" noProof="0">
                <a:ln>
                  <a:noFill/>
                </a:ln>
                <a:solidFill>
                  <a:srgbClr val="FFFFFF"/>
                </a:solidFill>
                <a:effectLst/>
                <a:uLnTx/>
                <a:uFillTx/>
                <a:latin typeface="+mn-lt"/>
                <a:ea typeface="+mn-ea"/>
                <a:cs typeface="新細明體" charset="0"/>
              </a:endParaRPr>
            </a:p>
          </p:txBody>
        </p:sp>
        <p:sp>
          <p:nvSpPr>
            <p:cNvPr id="33" name="矩形 24">
              <a:extLst>
                <a:ext uri="{FF2B5EF4-FFF2-40B4-BE49-F238E27FC236}">
                  <a16:creationId xmlns:a16="http://schemas.microsoft.com/office/drawing/2014/main" id="{36A6156D-DEAC-CD48-AB2C-460617505DF1}"/>
                </a:ext>
              </a:extLst>
            </p:cNvPr>
            <p:cNvSpPr/>
            <p:nvPr/>
          </p:nvSpPr>
          <p:spPr bwMode="auto">
            <a:xfrm>
              <a:off x="6805709" y="5262205"/>
              <a:ext cx="631307" cy="647700"/>
            </a:xfrm>
            <a:prstGeom prst="rect">
              <a:avLst/>
            </a:prstGeom>
            <a:gradFill rotWithShape="1">
              <a:gsLst>
                <a:gs pos="0">
                  <a:srgbClr val="F79646">
                    <a:shade val="51000"/>
                    <a:satMod val="130000"/>
                  </a:srgbClr>
                </a:gs>
                <a:gs pos="80000">
                  <a:srgbClr val="F79646">
                    <a:shade val="93000"/>
                    <a:satMod val="130000"/>
                  </a:srgbClr>
                </a:gs>
                <a:gs pos="100000">
                  <a:srgbClr val="F79646">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IP Dst</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34" name="矩形 25">
              <a:extLst>
                <a:ext uri="{FF2B5EF4-FFF2-40B4-BE49-F238E27FC236}">
                  <a16:creationId xmlns:a16="http://schemas.microsoft.com/office/drawing/2014/main" id="{1F3FF105-11DF-5A48-8361-56AEFF37DE1F}"/>
                </a:ext>
              </a:extLst>
            </p:cNvPr>
            <p:cNvSpPr/>
            <p:nvPr/>
          </p:nvSpPr>
          <p:spPr bwMode="auto">
            <a:xfrm>
              <a:off x="8706447" y="5262205"/>
              <a:ext cx="928796" cy="6477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ts val="1480"/>
                </a:lnSpc>
                <a:spcBef>
                  <a:spcPct val="0"/>
                </a:spcBef>
                <a:spcAft>
                  <a:spcPct val="0"/>
                </a:spcAft>
                <a:buClrTx/>
                <a:buSzTx/>
                <a:buFontTx/>
                <a:buNone/>
                <a:tabLst/>
                <a:defRPr/>
              </a:pP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TCP/UDP </a:t>
              </a: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源端口</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35" name="矩形 20">
              <a:extLst>
                <a:ext uri="{FF2B5EF4-FFF2-40B4-BE49-F238E27FC236}">
                  <a16:creationId xmlns:a16="http://schemas.microsoft.com/office/drawing/2014/main" id="{D4463F66-5C5E-EF4E-A286-CF91B7AD4661}"/>
                </a:ext>
              </a:extLst>
            </p:cNvPr>
            <p:cNvSpPr/>
            <p:nvPr/>
          </p:nvSpPr>
          <p:spPr bwMode="auto">
            <a:xfrm>
              <a:off x="5511311" y="5262205"/>
              <a:ext cx="655459" cy="647700"/>
            </a:xfrm>
            <a:prstGeom prst="rect">
              <a:avLst/>
            </a:prstGeom>
            <a:gradFill rotWithShape="1">
              <a:gsLst>
                <a:gs pos="0">
                  <a:srgbClr val="9BBB59">
                    <a:shade val="51000"/>
                    <a:satMod val="130000"/>
                  </a:srgbClr>
                </a:gs>
                <a:gs pos="80000">
                  <a:srgbClr val="9BBB59">
                    <a:shade val="93000"/>
                    <a:satMod val="130000"/>
                  </a:srgbClr>
                </a:gs>
                <a:gs pos="100000">
                  <a:srgbClr val="9BBB59">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100" b="0" i="0" u="none" strike="noStrike" kern="0" cap="none" spc="0" normalizeH="0" baseline="0" noProof="0" dirty="0">
                  <a:ln>
                    <a:noFill/>
                  </a:ln>
                  <a:solidFill>
                    <a:srgbClr val="FFFFFF"/>
                  </a:solidFill>
                  <a:effectLst/>
                  <a:uLnTx/>
                  <a:uFillTx/>
                  <a:latin typeface="+mn-lt"/>
                  <a:ea typeface="+mn-ea"/>
                  <a:cs typeface="新細明體" charset="0"/>
                </a:rPr>
                <a:t>VLAN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TW" sz="1100" b="0" i="0" u="none" strike="noStrike" kern="0" cap="none" spc="0" normalizeH="0" baseline="0" noProof="0" dirty="0">
                  <a:ln>
                    <a:noFill/>
                  </a:ln>
                  <a:solidFill>
                    <a:srgbClr val="FFFFFF"/>
                  </a:solidFill>
                  <a:effectLst/>
                  <a:uLnTx/>
                  <a:uFillTx/>
                  <a:latin typeface="+mn-lt"/>
                  <a:ea typeface="+mn-ea"/>
                  <a:cs typeface="新細明體" charset="0"/>
                </a:rPr>
                <a:t> </a:t>
              </a:r>
              <a:r>
                <a:rPr kumimoji="0" lang="zh-CN" altLang="en-US" sz="1100" b="0" i="0" u="none" strike="noStrike" kern="0" cap="none" spc="0" normalizeH="0" baseline="0" noProof="0" dirty="0" smtClean="0">
                  <a:ln>
                    <a:noFill/>
                  </a:ln>
                  <a:solidFill>
                    <a:srgbClr val="FFFFFF"/>
                  </a:solidFill>
                  <a:effectLst/>
                  <a:uLnTx/>
                  <a:uFillTx/>
                  <a:latin typeface="+mn-lt"/>
                  <a:ea typeface="+mn-ea"/>
                  <a:cs typeface="新細明體" charset="0"/>
                </a:rPr>
                <a:t>优先级</a:t>
              </a:r>
              <a:endParaRPr kumimoji="0" lang="zh-TW" altLang="en-US" sz="1100" b="0" i="0" u="none" strike="noStrike" kern="0" cap="none" spc="0" normalizeH="0" baseline="0" noProof="0" dirty="0">
                <a:ln>
                  <a:noFill/>
                </a:ln>
                <a:solidFill>
                  <a:srgbClr val="FFFFFF"/>
                </a:solidFill>
                <a:effectLst/>
                <a:uLnTx/>
                <a:uFillTx/>
                <a:latin typeface="+mn-lt"/>
                <a:ea typeface="+mn-ea"/>
                <a:cs typeface="新細明體" charset="0"/>
              </a:endParaRPr>
            </a:p>
          </p:txBody>
        </p:sp>
        <p:sp>
          <p:nvSpPr>
            <p:cNvPr id="36" name="矩形 25">
              <a:extLst>
                <a:ext uri="{FF2B5EF4-FFF2-40B4-BE49-F238E27FC236}">
                  <a16:creationId xmlns:a16="http://schemas.microsoft.com/office/drawing/2014/main" id="{5FFDA9B9-54DA-4B46-8561-63255A4D55D6}"/>
                </a:ext>
              </a:extLst>
            </p:cNvPr>
            <p:cNvSpPr/>
            <p:nvPr/>
          </p:nvSpPr>
          <p:spPr bwMode="auto">
            <a:xfrm>
              <a:off x="9635243" y="5262205"/>
              <a:ext cx="928796" cy="647700"/>
            </a:xfrm>
            <a:prstGeom prst="rect">
              <a:avLst/>
            </a:prstGeom>
            <a:gradFill rotWithShape="1">
              <a:gsLst>
                <a:gs pos="0">
                  <a:srgbClr val="C0504D">
                    <a:shade val="51000"/>
                    <a:satMod val="130000"/>
                  </a:srgbClr>
                </a:gs>
                <a:gs pos="80000">
                  <a:srgbClr val="C0504D">
                    <a:shade val="93000"/>
                    <a:satMod val="130000"/>
                  </a:srgbClr>
                </a:gs>
                <a:gs pos="100000">
                  <a:srgbClr val="C0504D">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lvl1pPr eaLnBrk="0" hangingPunct="0">
                <a:defRPr kumimoji="1">
                  <a:solidFill>
                    <a:schemeClr val="tx1"/>
                  </a:solidFill>
                  <a:latin typeface="Arial" charset="0"/>
                  <a:ea typeface="新細明體" charset="0"/>
                  <a:cs typeface="新細明體" charset="0"/>
                </a:defRPr>
              </a:lvl1pPr>
              <a:lvl2pPr marL="742950" indent="-285750" eaLnBrk="0" hangingPunct="0">
                <a:defRPr kumimoji="1">
                  <a:solidFill>
                    <a:schemeClr val="tx1"/>
                  </a:solidFill>
                  <a:latin typeface="Arial" charset="0"/>
                  <a:ea typeface="新細明體" charset="0"/>
                  <a:cs typeface="新細明體" charset="0"/>
                </a:defRPr>
              </a:lvl2pPr>
              <a:lvl3pPr marL="1143000" indent="-228600" eaLnBrk="0" hangingPunct="0">
                <a:defRPr kumimoji="1">
                  <a:solidFill>
                    <a:schemeClr val="tx1"/>
                  </a:solidFill>
                  <a:latin typeface="Arial" charset="0"/>
                  <a:ea typeface="新細明體" charset="0"/>
                  <a:cs typeface="新細明體" charset="0"/>
                </a:defRPr>
              </a:lvl3pPr>
              <a:lvl4pPr marL="1600200" indent="-228600" eaLnBrk="0" hangingPunct="0">
                <a:defRPr kumimoji="1">
                  <a:solidFill>
                    <a:schemeClr val="tx1"/>
                  </a:solidFill>
                  <a:latin typeface="Arial" charset="0"/>
                  <a:ea typeface="新細明體" charset="0"/>
                  <a:cs typeface="新細明體" charset="0"/>
                </a:defRPr>
              </a:lvl4pPr>
              <a:lvl5pPr marL="2057400" indent="-228600" eaLnBrk="0" hangingPunct="0">
                <a:defRPr kumimoji="1">
                  <a:solidFill>
                    <a:schemeClr val="tx1"/>
                  </a:solidFill>
                  <a:latin typeface="Arial" charset="0"/>
                  <a:ea typeface="新細明體" charset="0"/>
                  <a:cs typeface="新細明體" charset="0"/>
                </a:defRPr>
              </a:lvl5pPr>
              <a:lvl6pPr marL="2514600" indent="-228600" eaLnBrk="0" fontAlgn="base" hangingPunct="0">
                <a:spcBef>
                  <a:spcPct val="0"/>
                </a:spcBef>
                <a:spcAft>
                  <a:spcPct val="0"/>
                </a:spcAft>
                <a:defRPr kumimoji="1">
                  <a:solidFill>
                    <a:schemeClr val="tx1"/>
                  </a:solidFill>
                  <a:latin typeface="Arial" charset="0"/>
                  <a:ea typeface="新細明體" charset="0"/>
                  <a:cs typeface="新細明體" charset="0"/>
                </a:defRPr>
              </a:lvl6pPr>
              <a:lvl7pPr marL="2971800" indent="-228600" eaLnBrk="0" fontAlgn="base" hangingPunct="0">
                <a:spcBef>
                  <a:spcPct val="0"/>
                </a:spcBef>
                <a:spcAft>
                  <a:spcPct val="0"/>
                </a:spcAft>
                <a:defRPr kumimoji="1">
                  <a:solidFill>
                    <a:schemeClr val="tx1"/>
                  </a:solidFill>
                  <a:latin typeface="Arial" charset="0"/>
                  <a:ea typeface="新細明體" charset="0"/>
                  <a:cs typeface="新細明體" charset="0"/>
                </a:defRPr>
              </a:lvl7pPr>
              <a:lvl8pPr marL="3429000" indent="-228600" eaLnBrk="0" fontAlgn="base" hangingPunct="0">
                <a:spcBef>
                  <a:spcPct val="0"/>
                </a:spcBef>
                <a:spcAft>
                  <a:spcPct val="0"/>
                </a:spcAft>
                <a:defRPr kumimoji="1">
                  <a:solidFill>
                    <a:schemeClr val="tx1"/>
                  </a:solidFill>
                  <a:latin typeface="Arial" charset="0"/>
                  <a:ea typeface="新細明體" charset="0"/>
                  <a:cs typeface="新細明體" charset="0"/>
                </a:defRPr>
              </a:lvl8pPr>
              <a:lvl9pPr marL="3886200" indent="-228600" eaLnBrk="0" fontAlgn="base" hangingPunct="0">
                <a:spcBef>
                  <a:spcPct val="0"/>
                </a:spcBef>
                <a:spcAft>
                  <a:spcPct val="0"/>
                </a:spcAft>
                <a:defRPr kumimoji="1">
                  <a:solidFill>
                    <a:schemeClr val="tx1"/>
                  </a:solidFill>
                  <a:latin typeface="Arial" charset="0"/>
                  <a:ea typeface="新細明體" charset="0"/>
                  <a:cs typeface="新細明體" charset="0"/>
                </a:defRPr>
              </a:lvl9pPr>
            </a:lstStyle>
            <a:p>
              <a:pPr marL="0" marR="0" lvl="0" indent="0" algn="ctr" defTabSz="914400" rtl="0" eaLnBrk="1" fontAlgn="base" latinLnBrk="0" hangingPunct="1">
                <a:lnSpc>
                  <a:spcPts val="1480"/>
                </a:lnSpc>
                <a:spcBef>
                  <a:spcPct val="0"/>
                </a:spcBef>
                <a:spcAft>
                  <a:spcPct val="0"/>
                </a:spcAft>
                <a:buClrTx/>
                <a:buSzTx/>
                <a:buFontTx/>
                <a:buNone/>
                <a:tabLst/>
                <a:defRPr/>
              </a:pPr>
              <a:r>
                <a:rPr kumimoji="0" lang="en-US" altLang="zh-TW" sz="1200" b="0" i="0" u="none" strike="noStrike" kern="0" cap="none" spc="0" normalizeH="0" baseline="0" noProof="0" dirty="0">
                  <a:ln>
                    <a:noFill/>
                  </a:ln>
                  <a:solidFill>
                    <a:srgbClr val="FFFFFF"/>
                  </a:solidFill>
                  <a:effectLst/>
                  <a:uLnTx/>
                  <a:uFillTx/>
                  <a:latin typeface="+mn-lt"/>
                  <a:ea typeface="+mn-ea"/>
                  <a:cs typeface="新細明體" charset="0"/>
                </a:rPr>
                <a:t>TCP/UDP </a:t>
              </a:r>
              <a:r>
                <a:rPr kumimoji="0" lang="zh-CN" altLang="en-US" sz="1200" b="0" i="0" u="none" strike="noStrike" kern="0" cap="none" spc="0" normalizeH="0" baseline="0" noProof="0" dirty="0" smtClean="0">
                  <a:ln>
                    <a:noFill/>
                  </a:ln>
                  <a:solidFill>
                    <a:srgbClr val="FFFFFF"/>
                  </a:solidFill>
                  <a:effectLst/>
                  <a:uLnTx/>
                  <a:uFillTx/>
                  <a:latin typeface="+mn-lt"/>
                  <a:ea typeface="+mn-ea"/>
                  <a:cs typeface="新細明體" charset="0"/>
                </a:rPr>
                <a:t>目的端口</a:t>
              </a:r>
              <a:endParaRPr kumimoji="0" lang="zh-TW" altLang="en-US" sz="1200" b="0" i="0" u="none" strike="noStrike" kern="0" cap="none" spc="0" normalizeH="0" baseline="0" noProof="0" dirty="0">
                <a:ln>
                  <a:noFill/>
                </a:ln>
                <a:solidFill>
                  <a:srgbClr val="FFFFFF"/>
                </a:solidFill>
                <a:effectLst/>
                <a:uLnTx/>
                <a:uFillTx/>
                <a:latin typeface="+mn-lt"/>
                <a:ea typeface="+mn-ea"/>
                <a:cs typeface="新細明體" charset="0"/>
              </a:endParaRPr>
            </a:p>
          </p:txBody>
        </p:sp>
      </p:grpSp>
      <p:grpSp>
        <p:nvGrpSpPr>
          <p:cNvPr id="37" name="Group 7">
            <a:extLst>
              <a:ext uri="{FF2B5EF4-FFF2-40B4-BE49-F238E27FC236}">
                <a16:creationId xmlns:a16="http://schemas.microsoft.com/office/drawing/2014/main" id="{0AAA8A2A-F690-D842-B569-854551A89B38}"/>
              </a:ext>
            </a:extLst>
          </p:cNvPr>
          <p:cNvGrpSpPr/>
          <p:nvPr/>
        </p:nvGrpSpPr>
        <p:grpSpPr>
          <a:xfrm>
            <a:off x="1444844" y="3891004"/>
            <a:ext cx="3235564" cy="488630"/>
            <a:chOff x="2826569" y="5888454"/>
            <a:chExt cx="3235564" cy="488630"/>
          </a:xfrm>
        </p:grpSpPr>
        <p:sp>
          <p:nvSpPr>
            <p:cNvPr id="38" name="文字方塊 29">
              <a:extLst>
                <a:ext uri="{FF2B5EF4-FFF2-40B4-BE49-F238E27FC236}">
                  <a16:creationId xmlns:a16="http://schemas.microsoft.com/office/drawing/2014/main" id="{CCD38D10-94F8-8543-A3D8-19F75A2CBC5B}"/>
                </a:ext>
              </a:extLst>
            </p:cNvPr>
            <p:cNvSpPr txBox="1">
              <a:spLocks noChangeArrowheads="1"/>
            </p:cNvSpPr>
            <p:nvPr/>
          </p:nvSpPr>
          <p:spPr bwMode="auto">
            <a:xfrm>
              <a:off x="3946642" y="6069307"/>
              <a:ext cx="723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链路层</a:t>
              </a:r>
              <a:endParaRPr kumimoji="0" lang="zh-TW" altLang="en-US" sz="1400" b="0" i="0" u="none" strike="noStrike" kern="1200" cap="none" spc="0" normalizeH="0" baseline="0" noProof="0" dirty="0">
                <a:ln>
                  <a:noFill/>
                </a:ln>
                <a:solidFill>
                  <a:srgbClr val="000000"/>
                </a:solidFill>
                <a:effectLst/>
                <a:uLnTx/>
                <a:uFillTx/>
                <a:latin typeface="+mn-lt"/>
                <a:ea typeface="+mn-ea"/>
                <a:cs typeface="+mn-cs"/>
              </a:endParaRPr>
            </a:p>
          </p:txBody>
        </p:sp>
        <p:sp>
          <p:nvSpPr>
            <p:cNvPr id="39" name="Left Brace 4">
              <a:extLst>
                <a:ext uri="{FF2B5EF4-FFF2-40B4-BE49-F238E27FC236}">
                  <a16:creationId xmlns:a16="http://schemas.microsoft.com/office/drawing/2014/main" id="{DD20D7D2-8080-1144-84E2-DF0AE45A3E07}"/>
                </a:ext>
              </a:extLst>
            </p:cNvPr>
            <p:cNvSpPr/>
            <p:nvPr/>
          </p:nvSpPr>
          <p:spPr>
            <a:xfrm rot="16200000">
              <a:off x="4340578" y="4374445"/>
              <a:ext cx="207546" cy="3235564"/>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cs typeface="+mn-cs"/>
              </a:endParaRPr>
            </a:p>
          </p:txBody>
        </p:sp>
      </p:grpSp>
      <p:grpSp>
        <p:nvGrpSpPr>
          <p:cNvPr id="40" name="Group 6">
            <a:extLst>
              <a:ext uri="{FF2B5EF4-FFF2-40B4-BE49-F238E27FC236}">
                <a16:creationId xmlns:a16="http://schemas.microsoft.com/office/drawing/2014/main" id="{43E68CBD-0ADB-BF45-9811-313CB44A39FD}"/>
              </a:ext>
            </a:extLst>
          </p:cNvPr>
          <p:cNvGrpSpPr/>
          <p:nvPr/>
        </p:nvGrpSpPr>
        <p:grpSpPr>
          <a:xfrm>
            <a:off x="4724266" y="3895350"/>
            <a:ext cx="2473565" cy="481876"/>
            <a:chOff x="6105991" y="5892800"/>
            <a:chExt cx="2473565" cy="481876"/>
          </a:xfrm>
        </p:grpSpPr>
        <p:sp>
          <p:nvSpPr>
            <p:cNvPr id="41" name="文字方塊 29">
              <a:extLst>
                <a:ext uri="{FF2B5EF4-FFF2-40B4-BE49-F238E27FC236}">
                  <a16:creationId xmlns:a16="http://schemas.microsoft.com/office/drawing/2014/main" id="{3C4B37B7-4F49-904E-87DA-069F41CD9CD0}"/>
                </a:ext>
              </a:extLst>
            </p:cNvPr>
            <p:cNvSpPr txBox="1">
              <a:spLocks noChangeArrowheads="1"/>
            </p:cNvSpPr>
            <p:nvPr/>
          </p:nvSpPr>
          <p:spPr bwMode="auto">
            <a:xfrm>
              <a:off x="6643718" y="6066899"/>
              <a:ext cx="723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网络层</a:t>
              </a:r>
              <a:endParaRPr kumimoji="0" lang="zh-TW" altLang="en-US" sz="1400" b="0" i="0" u="none" strike="noStrike" kern="1200" cap="none" spc="0" normalizeH="0" baseline="0" noProof="0" dirty="0">
                <a:ln>
                  <a:noFill/>
                </a:ln>
                <a:solidFill>
                  <a:srgbClr val="000000"/>
                </a:solidFill>
                <a:effectLst/>
                <a:uLnTx/>
                <a:uFillTx/>
                <a:latin typeface="+mn-lt"/>
                <a:ea typeface="+mn-ea"/>
                <a:cs typeface="+mn-cs"/>
              </a:endParaRPr>
            </a:p>
          </p:txBody>
        </p:sp>
        <p:sp>
          <p:nvSpPr>
            <p:cNvPr id="42" name="Left Brace 156">
              <a:extLst>
                <a:ext uri="{FF2B5EF4-FFF2-40B4-BE49-F238E27FC236}">
                  <a16:creationId xmlns:a16="http://schemas.microsoft.com/office/drawing/2014/main" id="{2D2F3565-EA7A-1048-A9F5-6FD46BB2FE7C}"/>
                </a:ext>
              </a:extLst>
            </p:cNvPr>
            <p:cNvSpPr/>
            <p:nvPr/>
          </p:nvSpPr>
          <p:spPr>
            <a:xfrm rot="16200000">
              <a:off x="7238352" y="4760439"/>
              <a:ext cx="208844" cy="2473565"/>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cs typeface="+mn-cs"/>
              </a:endParaRPr>
            </a:p>
          </p:txBody>
        </p:sp>
      </p:grpSp>
      <p:grpSp>
        <p:nvGrpSpPr>
          <p:cNvPr id="43" name="Group 5">
            <a:extLst>
              <a:ext uri="{FF2B5EF4-FFF2-40B4-BE49-F238E27FC236}">
                <a16:creationId xmlns:a16="http://schemas.microsoft.com/office/drawing/2014/main" id="{B7B89AF4-D2C6-ED49-82AF-7F843E59C1F4}"/>
              </a:ext>
            </a:extLst>
          </p:cNvPr>
          <p:cNvGrpSpPr/>
          <p:nvPr/>
        </p:nvGrpSpPr>
        <p:grpSpPr>
          <a:xfrm>
            <a:off x="7056120" y="3895350"/>
            <a:ext cx="1970514" cy="485706"/>
            <a:chOff x="8332493" y="5892800"/>
            <a:chExt cx="2075866" cy="485706"/>
          </a:xfrm>
        </p:grpSpPr>
        <p:sp>
          <p:nvSpPr>
            <p:cNvPr id="44" name="文字方塊 29">
              <a:extLst>
                <a:ext uri="{FF2B5EF4-FFF2-40B4-BE49-F238E27FC236}">
                  <a16:creationId xmlns:a16="http://schemas.microsoft.com/office/drawing/2014/main" id="{2ABD9CD2-B6D6-3E47-89C5-B96007AAF9F3}"/>
                </a:ext>
              </a:extLst>
            </p:cNvPr>
            <p:cNvSpPr txBox="1">
              <a:spLocks noChangeArrowheads="1"/>
            </p:cNvSpPr>
            <p:nvPr/>
          </p:nvSpPr>
          <p:spPr bwMode="auto">
            <a:xfrm>
              <a:off x="8332493" y="6070729"/>
              <a:ext cx="207586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400" b="0" i="0" u="none" strike="noStrike" kern="1200" cap="none" spc="0" normalizeH="0" baseline="0" noProof="0" dirty="0" smtClean="0">
                  <a:ln>
                    <a:noFill/>
                  </a:ln>
                  <a:solidFill>
                    <a:srgbClr val="000000"/>
                  </a:solidFill>
                  <a:effectLst/>
                  <a:uLnTx/>
                  <a:uFillTx/>
                  <a:latin typeface="+mn-lt"/>
                  <a:ea typeface="+mn-ea"/>
                  <a:cs typeface="+mn-cs"/>
                </a:rPr>
                <a:t>       传输层</a:t>
              </a:r>
              <a:endParaRPr kumimoji="0" lang="zh-TW" altLang="en-US" sz="1400" b="0" i="0" u="none" strike="noStrike" kern="1200" cap="none" spc="0" normalizeH="0" baseline="0" noProof="0" dirty="0">
                <a:ln>
                  <a:noFill/>
                </a:ln>
                <a:solidFill>
                  <a:srgbClr val="000000"/>
                </a:solidFill>
                <a:effectLst/>
                <a:uLnTx/>
                <a:uFillTx/>
                <a:latin typeface="+mn-lt"/>
                <a:ea typeface="+mn-ea"/>
                <a:cs typeface="+mn-cs"/>
              </a:endParaRPr>
            </a:p>
          </p:txBody>
        </p:sp>
        <p:sp>
          <p:nvSpPr>
            <p:cNvPr id="45" name="Left Brace 157">
              <a:extLst>
                <a:ext uri="{FF2B5EF4-FFF2-40B4-BE49-F238E27FC236}">
                  <a16:creationId xmlns:a16="http://schemas.microsoft.com/office/drawing/2014/main" id="{18486B04-E7B6-DC48-B5C3-FDA12199B810}"/>
                </a:ext>
              </a:extLst>
            </p:cNvPr>
            <p:cNvSpPr/>
            <p:nvPr/>
          </p:nvSpPr>
          <p:spPr>
            <a:xfrm rot="16200000">
              <a:off x="9405820" y="5104751"/>
              <a:ext cx="214489" cy="1790588"/>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cs typeface="+mn-cs"/>
              </a:endParaRPr>
            </a:p>
          </p:txBody>
        </p:sp>
      </p:grpSp>
      <p:grpSp>
        <p:nvGrpSpPr>
          <p:cNvPr id="2" name="组合 1"/>
          <p:cNvGrpSpPr/>
          <p:nvPr/>
        </p:nvGrpSpPr>
        <p:grpSpPr>
          <a:xfrm>
            <a:off x="5467823" y="1943521"/>
            <a:ext cx="3372826" cy="1191834"/>
            <a:chOff x="4700743" y="2379981"/>
            <a:chExt cx="3372826" cy="1191834"/>
          </a:xfrm>
        </p:grpSpPr>
        <p:sp>
          <p:nvSpPr>
            <p:cNvPr id="51" name="Rectangle 22">
              <a:extLst>
                <a:ext uri="{FF2B5EF4-FFF2-40B4-BE49-F238E27FC236}">
                  <a16:creationId xmlns:a16="http://schemas.microsoft.com/office/drawing/2014/main" id="{1EA29FD6-93E2-D248-8287-1EF1A763B1AB}"/>
                </a:ext>
              </a:extLst>
            </p:cNvPr>
            <p:cNvSpPr>
              <a:spLocks/>
            </p:cNvSpPr>
            <p:nvPr/>
          </p:nvSpPr>
          <p:spPr bwMode="auto">
            <a:xfrm>
              <a:off x="4700743" y="2379982"/>
              <a:ext cx="2014382" cy="1191833"/>
            </a:xfrm>
            <a:prstGeom prst="rect">
              <a:avLst/>
            </a:prstGeom>
            <a:solidFill>
              <a:srgbClr val="BBE0E3"/>
            </a:solidFill>
            <a:ln w="12700">
              <a:no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0" cap="none" spc="0" normalizeH="0" baseline="0" noProof="0" dirty="0">
                <a:ln>
                  <a:noFill/>
                </a:ln>
                <a:solidFill>
                  <a:srgbClr val="000000"/>
                </a:solidFill>
                <a:effectLst/>
                <a:uLnTx/>
                <a:uFillTx/>
                <a:latin typeface="+mn-lt"/>
                <a:ea typeface="+mn-ea"/>
                <a:cs typeface="+mn-cs"/>
              </a:endParaRPr>
            </a:p>
          </p:txBody>
        </p:sp>
        <p:sp>
          <p:nvSpPr>
            <p:cNvPr id="52" name="Rectangle 24">
              <a:extLst>
                <a:ext uri="{FF2B5EF4-FFF2-40B4-BE49-F238E27FC236}">
                  <a16:creationId xmlns:a16="http://schemas.microsoft.com/office/drawing/2014/main" id="{84DD72A2-6599-5A4C-9EC1-40B227E8352F}"/>
                </a:ext>
              </a:extLst>
            </p:cNvPr>
            <p:cNvSpPr>
              <a:spLocks/>
            </p:cNvSpPr>
            <p:nvPr/>
          </p:nvSpPr>
          <p:spPr bwMode="auto">
            <a:xfrm>
              <a:off x="6715126" y="2379981"/>
              <a:ext cx="1272718" cy="1191834"/>
            </a:xfrm>
            <a:prstGeom prst="rect">
              <a:avLst/>
            </a:prstGeom>
            <a:solidFill>
              <a:schemeClr val="accent6">
                <a:lumMod val="20000"/>
                <a:lumOff val="80000"/>
              </a:schemeClr>
            </a:solidFill>
            <a:ln w="12700">
              <a:noFill/>
              <a:miter lim="800000"/>
              <a:headEnd/>
              <a:tailEnd/>
            </a:ln>
          </p:spPr>
          <p:txBody>
            <a:bodyPr lIns="0" tIns="0" rIns="0" bIns="0"/>
            <a:lstStyle>
              <a:lvl1pPr defTabSz="45720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altLang="en-US" sz="1400" b="0" i="0" u="none" strike="noStrike" kern="1200" cap="none" spc="0" normalizeH="0" baseline="0" noProof="0" dirty="0">
                <a:ln>
                  <a:noFill/>
                </a:ln>
                <a:solidFill>
                  <a:srgbClr val="000000"/>
                </a:solidFill>
                <a:effectLst/>
                <a:uLnTx/>
                <a:uFillTx/>
                <a:latin typeface="+mn-lt"/>
                <a:ea typeface="+mn-ea"/>
                <a:cs typeface="+mn-cs"/>
              </a:endParaRPr>
            </a:p>
          </p:txBody>
        </p:sp>
        <p:sp>
          <p:nvSpPr>
            <p:cNvPr id="53" name="Rectangle 27">
              <a:extLst>
                <a:ext uri="{FF2B5EF4-FFF2-40B4-BE49-F238E27FC236}">
                  <a16:creationId xmlns:a16="http://schemas.microsoft.com/office/drawing/2014/main" id="{CD5AE70A-DF8A-054F-8D4E-AC00C36D05F1}"/>
                </a:ext>
              </a:extLst>
            </p:cNvPr>
            <p:cNvSpPr>
              <a:spLocks noChangeArrowheads="1"/>
            </p:cNvSpPr>
            <p:nvPr/>
          </p:nvSpPr>
          <p:spPr bwMode="auto">
            <a:xfrm>
              <a:off x="4705091" y="3104839"/>
              <a:ext cx="3368478" cy="307777"/>
            </a:xfrm>
            <a:prstGeom prst="rect">
              <a:avLst/>
            </a:prstGeom>
            <a:noFill/>
            <a:ln w="25400">
              <a:noFill/>
              <a:miter lim="800000"/>
              <a:headEnd/>
              <a:tailEnd/>
            </a:ln>
            <a:effectLst/>
          </p:spPr>
          <p:txBody>
            <a:bodyPr wrap="square" lIns="36000" rIns="0">
              <a:spAutoFit/>
            </a:bodyPr>
            <a:lstStyle/>
            <a:p>
              <a:pPr marL="457200" marR="0" lvl="0" indent="-45720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cs typeface="ヒラギノ角ゴ Pro W3" charset="0"/>
                  <a:sym typeface="Wingdings" charset="0"/>
                </a:rPr>
                <a:t>src=10.1.2.3, dest=*.*.*.*     </a:t>
              </a:r>
              <a:r>
                <a:rPr kumimoji="0" lang="zh-CN" altLang="en-US" sz="1400" b="0" i="0" u="none" strike="noStrike" kern="1200" cap="none" spc="0" normalizeH="0" baseline="0" noProof="0" dirty="0" smtClean="0">
                  <a:ln>
                    <a:noFill/>
                  </a:ln>
                  <a:solidFill>
                    <a:srgbClr val="000000"/>
                  </a:solidFill>
                  <a:effectLst/>
                  <a:uLnTx/>
                  <a:uFillTx/>
                  <a:cs typeface="ヒラギノ角ゴ Pro W3" charset="0"/>
                  <a:sym typeface="Wingdings" charset="0"/>
                </a:rPr>
                <a:t>发送至控制器</a:t>
              </a:r>
              <a:endParaRPr kumimoji="0" lang="en-US" sz="1400" b="0" i="0" u="none" strike="noStrike" kern="1200" cap="none" spc="0" normalizeH="0" baseline="0" noProof="0" dirty="0">
                <a:ln>
                  <a:noFill/>
                </a:ln>
                <a:solidFill>
                  <a:srgbClr val="000000"/>
                </a:solidFill>
                <a:effectLst/>
                <a:uLnTx/>
                <a:uFillTx/>
                <a:cs typeface="ヒラギノ角ゴ Pro W3" charset="0"/>
              </a:endParaRPr>
            </a:p>
          </p:txBody>
        </p:sp>
        <p:sp>
          <p:nvSpPr>
            <p:cNvPr id="54" name="Rectangle 34">
              <a:extLst>
                <a:ext uri="{FF2B5EF4-FFF2-40B4-BE49-F238E27FC236}">
                  <a16:creationId xmlns:a16="http://schemas.microsoft.com/office/drawing/2014/main" id="{F6354FF9-2E1C-0D4C-B7EA-2B8179A518FA}"/>
                </a:ext>
              </a:extLst>
            </p:cNvPr>
            <p:cNvSpPr>
              <a:spLocks noChangeArrowheads="1"/>
            </p:cNvSpPr>
            <p:nvPr/>
          </p:nvSpPr>
          <p:spPr bwMode="auto">
            <a:xfrm>
              <a:off x="4722580" y="2732584"/>
              <a:ext cx="3350989" cy="307777"/>
            </a:xfrm>
            <a:prstGeom prst="rect">
              <a:avLst/>
            </a:prstGeom>
            <a:noFill/>
            <a:ln w="25400">
              <a:noFill/>
              <a:miter lim="800000"/>
              <a:headEnd/>
              <a:tailEnd/>
            </a:ln>
            <a:effectLst/>
          </p:spPr>
          <p:txBody>
            <a:bodyPr wrap="square" lIns="3600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cs typeface="ヒラギノ角ゴ Pro W3" charset="0"/>
                </a:rPr>
                <a:t>src=1.2.*.*, dest=*.*.*.* </a:t>
              </a:r>
              <a:r>
                <a:rPr kumimoji="0" lang="en-US" sz="1400" b="0" i="0" u="none" strike="noStrike" kern="1200" cap="none" spc="0" normalizeH="0" baseline="0" noProof="0" dirty="0">
                  <a:ln>
                    <a:noFill/>
                  </a:ln>
                  <a:solidFill>
                    <a:srgbClr val="000000"/>
                  </a:solidFill>
                  <a:effectLst/>
                  <a:uLnTx/>
                  <a:uFillTx/>
                  <a:cs typeface="ヒラギノ角ゴ Pro W3" charset="0"/>
                  <a:sym typeface="Wingdings" charset="0"/>
                </a:rPr>
                <a:t>      </a:t>
              </a:r>
              <a:r>
                <a:rPr kumimoji="0" lang="zh-CN" altLang="en-US" sz="1400" b="0" i="0" u="none" strike="noStrike" kern="1200" cap="none" spc="0" normalizeH="0" baseline="0" noProof="0" dirty="0" smtClean="0">
                  <a:ln>
                    <a:noFill/>
                  </a:ln>
                  <a:solidFill>
                    <a:srgbClr val="000000"/>
                  </a:solidFill>
                  <a:effectLst/>
                  <a:uLnTx/>
                  <a:uFillTx/>
                  <a:cs typeface="ヒラギノ角ゴ Pro W3" charset="0"/>
                  <a:sym typeface="Wingdings" charset="0"/>
                </a:rPr>
                <a:t>丢弃</a:t>
              </a:r>
              <a:r>
                <a:rPr kumimoji="0" lang="en-US" sz="1400" b="0" i="0" u="none" strike="noStrike" kern="1200" cap="none" spc="0" normalizeH="0" baseline="0" noProof="0" dirty="0" smtClean="0">
                  <a:ln>
                    <a:noFill/>
                  </a:ln>
                  <a:solidFill>
                    <a:srgbClr val="000000"/>
                  </a:solidFill>
                  <a:effectLst/>
                  <a:uLnTx/>
                  <a:uFillTx/>
                  <a:cs typeface="ヒラギノ角ゴ Pro W3" charset="0"/>
                  <a:sym typeface="Wingdings" charset="0"/>
                </a:rPr>
                <a:t>                        </a:t>
              </a:r>
              <a:endParaRPr kumimoji="0" lang="en-US" sz="1400" b="0" i="0" u="none" strike="noStrike" kern="1200" cap="none" spc="0" normalizeH="0" baseline="0" noProof="0" dirty="0">
                <a:ln>
                  <a:noFill/>
                </a:ln>
                <a:solidFill>
                  <a:srgbClr val="000000"/>
                </a:solidFill>
                <a:effectLst/>
                <a:uLnTx/>
                <a:uFillTx/>
                <a:cs typeface="ヒラギノ角ゴ Pro W3" charset="0"/>
                <a:sym typeface="Wingdings" charset="0"/>
              </a:endParaRPr>
            </a:p>
          </p:txBody>
        </p:sp>
        <p:sp>
          <p:nvSpPr>
            <p:cNvPr id="55" name="Rectangle 35">
              <a:extLst>
                <a:ext uri="{FF2B5EF4-FFF2-40B4-BE49-F238E27FC236}">
                  <a16:creationId xmlns:a16="http://schemas.microsoft.com/office/drawing/2014/main" id="{0CDCE6C5-716F-694B-9C85-A61362F1BC8D}"/>
                </a:ext>
              </a:extLst>
            </p:cNvPr>
            <p:cNvSpPr>
              <a:spLocks noChangeArrowheads="1"/>
            </p:cNvSpPr>
            <p:nvPr/>
          </p:nvSpPr>
          <p:spPr bwMode="auto">
            <a:xfrm>
              <a:off x="4740068" y="2390307"/>
              <a:ext cx="3333501" cy="307777"/>
            </a:xfrm>
            <a:prstGeom prst="rect">
              <a:avLst/>
            </a:prstGeom>
            <a:noFill/>
            <a:ln w="25400">
              <a:noFill/>
              <a:miter lim="800000"/>
              <a:headEnd/>
              <a:tailEnd/>
            </a:ln>
            <a:effectLst/>
          </p:spPr>
          <p:txBody>
            <a:bodyPr wrap="square" lIns="36000" r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cs typeface="ヒラギノ角ゴ Pro W3" charset="0"/>
                  <a:sym typeface="Wingdings" charset="0"/>
                </a:rPr>
                <a:t>src = *.*.*.*, dest=3.4.*.*     </a:t>
              </a:r>
              <a:r>
                <a:rPr kumimoji="0" lang="zh-CN" altLang="en-US" sz="1400" b="0" i="0" u="none" strike="noStrike" kern="1200" cap="none" spc="0" normalizeH="0" baseline="0" noProof="0" dirty="0" smtClean="0">
                  <a:ln>
                    <a:noFill/>
                  </a:ln>
                  <a:solidFill>
                    <a:srgbClr val="000000"/>
                  </a:solidFill>
                  <a:effectLst/>
                  <a:uLnTx/>
                  <a:uFillTx/>
                  <a:cs typeface="ヒラギノ角ゴ Pro W3" charset="0"/>
                  <a:sym typeface="Wingdings" charset="0"/>
                </a:rPr>
                <a:t>转发至</a:t>
              </a:r>
              <a:r>
                <a:rPr kumimoji="0" lang="en-US" altLang="zh-CN" sz="1400" b="0" i="0" u="none" strike="noStrike" kern="1200" cap="none" spc="0" normalizeH="0" baseline="0" noProof="0" dirty="0" smtClean="0">
                  <a:ln>
                    <a:noFill/>
                  </a:ln>
                  <a:solidFill>
                    <a:srgbClr val="000000"/>
                  </a:solidFill>
                  <a:effectLst/>
                  <a:uLnTx/>
                  <a:uFillTx/>
                  <a:cs typeface="ヒラギノ角ゴ Pro W3" charset="0"/>
                  <a:sym typeface="Wingdings" charset="0"/>
                </a:rPr>
                <a:t>2</a:t>
              </a:r>
              <a:r>
                <a:rPr kumimoji="0" lang="zh-CN" altLang="en-US" sz="1400" b="0" i="0" u="none" strike="noStrike" kern="1200" cap="none" spc="0" normalizeH="0" baseline="0" noProof="0" dirty="0" smtClean="0">
                  <a:ln>
                    <a:noFill/>
                  </a:ln>
                  <a:solidFill>
                    <a:srgbClr val="000000"/>
                  </a:solidFill>
                  <a:effectLst/>
                  <a:uLnTx/>
                  <a:uFillTx/>
                  <a:cs typeface="ヒラギノ角ゴ Pro W3" charset="0"/>
                  <a:sym typeface="Wingdings" charset="0"/>
                </a:rPr>
                <a:t>号端口</a:t>
              </a:r>
              <a:endParaRPr kumimoji="0" lang="en-US" sz="1400" b="0" i="0" u="none" strike="noStrike" kern="1200" cap="none" spc="0" normalizeH="0" baseline="0" noProof="0" dirty="0">
                <a:ln>
                  <a:noFill/>
                </a:ln>
                <a:solidFill>
                  <a:srgbClr val="000000"/>
                </a:solidFill>
                <a:effectLst/>
                <a:uLnTx/>
                <a:uFillTx/>
                <a:cs typeface="ヒラギノ角ゴ Pro W3" charset="0"/>
                <a:sym typeface="Wingdings" charset="0"/>
              </a:endParaRPr>
            </a:p>
          </p:txBody>
        </p:sp>
      </p:grpSp>
    </p:spTree>
    <p:custDataLst>
      <p:tags r:id="rId1"/>
    </p:custDataLst>
    <p:extLst>
      <p:ext uri="{BB962C8B-B14F-4D97-AF65-F5344CB8AC3E}">
        <p14:creationId xmlns:p14="http://schemas.microsoft.com/office/powerpoint/2010/main" val="372374225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dissolv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000" b="1" dirty="0">
                <a:solidFill>
                  <a:schemeClr val="bg1"/>
                </a:solidFill>
                <a:latin typeface="微软雅黑" pitchFamily="34" charset="-122"/>
                <a:ea typeface="微软雅黑" pitchFamily="34" charset="-122"/>
              </a:rPr>
              <a:t>OpenFlow</a:t>
            </a:r>
            <a:r>
              <a:rPr lang="zh-CN" altLang="en-US" sz="2000" b="1" dirty="0">
                <a:solidFill>
                  <a:schemeClr val="bg1"/>
                </a:solidFill>
                <a:latin typeface="微软雅黑" pitchFamily="34" charset="-122"/>
                <a:ea typeface="微软雅黑" pitchFamily="34" charset="-122"/>
              </a:rPr>
              <a:t>交换机流表的工作</a:t>
            </a:r>
            <a:r>
              <a:rPr lang="zh-CN" altLang="en-US" sz="2000" b="1" dirty="0" smtClean="0">
                <a:solidFill>
                  <a:schemeClr val="bg1"/>
                </a:solidFill>
                <a:latin typeface="微软雅黑" pitchFamily="34" charset="-122"/>
                <a:ea typeface="微软雅黑" pitchFamily="34" charset="-122"/>
              </a:rPr>
              <a:t>机理示例</a:t>
            </a:r>
            <a:endParaRPr lang="zh-CN" altLang="en-US" sz="20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7881307" cy="91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en-US" altLang="zh-CN" b="1" dirty="0">
                <a:latin typeface="微软雅黑" panose="020B0503020204020204" pitchFamily="34" charset="-122"/>
                <a:ea typeface="微软雅黑" panose="020B0503020204020204" pitchFamily="34" charset="-122"/>
              </a:rPr>
              <a:t>2</a:t>
            </a:r>
            <a:r>
              <a:rPr lang="zh-CN" altLang="zh-CN" b="1" dirty="0">
                <a:latin typeface="微软雅黑" panose="020B0503020204020204" pitchFamily="34" charset="-122"/>
                <a:ea typeface="微软雅黑" panose="020B0503020204020204" pitchFamily="34" charset="-122"/>
              </a:rPr>
              <a:t>台服务器</a:t>
            </a:r>
            <a:r>
              <a:rPr lang="en-US" altLang="zh-CN" b="1" dirty="0">
                <a:latin typeface="微软雅黑" panose="020B0503020204020204" pitchFamily="34" charset="-122"/>
                <a:ea typeface="微软雅黑" panose="020B0503020204020204" pitchFamily="34" charset="-122"/>
              </a:rPr>
              <a:t>W</a:t>
            </a:r>
            <a:r>
              <a:rPr lang="en-US" altLang="zh-CN" b="1" baseline="-25000" dirty="0">
                <a:latin typeface="微软雅黑" panose="020B0503020204020204" pitchFamily="34" charset="-122"/>
                <a:ea typeface="微软雅黑" panose="020B0503020204020204" pitchFamily="34" charset="-122"/>
              </a:rPr>
              <a:t>1</a:t>
            </a:r>
            <a:r>
              <a:rPr lang="zh-CN" altLang="zh-CN" b="1" dirty="0">
                <a:latin typeface="微软雅黑" panose="020B0503020204020204" pitchFamily="34" charset="-122"/>
                <a:ea typeface="微软雅黑" panose="020B0503020204020204" pitchFamily="34" charset="-122"/>
              </a:rPr>
              <a:t>和</a:t>
            </a:r>
            <a:r>
              <a:rPr lang="en-US" altLang="zh-CN" b="1" dirty="0" smtClean="0">
                <a:latin typeface="微软雅黑" panose="020B0503020204020204" pitchFamily="34" charset="-122"/>
                <a:ea typeface="微软雅黑" panose="020B0503020204020204" pitchFamily="34" charset="-122"/>
              </a:rPr>
              <a:t>W</a:t>
            </a:r>
            <a:r>
              <a:rPr lang="en-US" altLang="zh-CN" b="1" baseline="-25000" dirty="0" smtClean="0">
                <a:latin typeface="微软雅黑" panose="020B0503020204020204" pitchFamily="34" charset="-122"/>
                <a:ea typeface="微软雅黑" panose="020B0503020204020204" pitchFamily="34" charset="-122"/>
              </a:rPr>
              <a:t>2</a:t>
            </a:r>
            <a:r>
              <a:rPr lang="zh-CN" altLang="en-US" b="1" dirty="0" smtClean="0">
                <a:latin typeface="微软雅黑" panose="020B0503020204020204" pitchFamily="34" charset="-122"/>
                <a:ea typeface="微软雅黑" panose="020B0503020204020204" pitchFamily="34" charset="-122"/>
              </a:rPr>
              <a:t>，</a:t>
            </a:r>
            <a:r>
              <a:rPr lang="zh-CN" altLang="zh-CN" b="1" dirty="0" smtClean="0">
                <a:latin typeface="微软雅黑" panose="020B0503020204020204" pitchFamily="34" charset="-122"/>
                <a:ea typeface="微软雅黑" panose="020B0503020204020204" pitchFamily="34" charset="-122"/>
              </a:rPr>
              <a:t>网</a:t>
            </a:r>
            <a:r>
              <a:rPr lang="zh-CN" altLang="zh-CN" b="1" dirty="0">
                <a:latin typeface="微软雅黑" panose="020B0503020204020204" pitchFamily="34" charset="-122"/>
                <a:ea typeface="微软雅黑" panose="020B0503020204020204" pitchFamily="34" charset="-122"/>
              </a:rPr>
              <a:t>段</a:t>
            </a:r>
            <a:r>
              <a:rPr lang="en-US" altLang="zh-CN" b="1" dirty="0">
                <a:latin typeface="微软雅黑" panose="020B0503020204020204" pitchFamily="34" charset="-122"/>
                <a:ea typeface="微软雅黑" panose="020B0503020204020204" pitchFamily="34" charset="-122"/>
              </a:rPr>
              <a:t>10.1.0.0/16</a:t>
            </a:r>
            <a:r>
              <a:rPr lang="zh-CN" altLang="zh-CN" b="1" dirty="0">
                <a:latin typeface="微软雅黑" panose="020B0503020204020204" pitchFamily="34" charset="-122"/>
                <a:ea typeface="微软雅黑" panose="020B0503020204020204" pitchFamily="34" charset="-122"/>
              </a:rPr>
              <a:t>及其中的两台主机</a:t>
            </a:r>
            <a:r>
              <a:rPr lang="en-US" altLang="zh-CN" b="1" dirty="0">
                <a:latin typeface="微软雅黑" panose="020B0503020204020204" pitchFamily="34" charset="-122"/>
                <a:ea typeface="微软雅黑" panose="020B0503020204020204" pitchFamily="34" charset="-122"/>
              </a:rPr>
              <a:t>H</a:t>
            </a:r>
            <a:r>
              <a:rPr lang="en-US" altLang="zh-CN" b="1" baseline="-25000" dirty="0">
                <a:latin typeface="微软雅黑" panose="020B0503020204020204" pitchFamily="34" charset="-122"/>
                <a:ea typeface="微软雅黑" panose="020B0503020204020204" pitchFamily="34" charset="-122"/>
              </a:rPr>
              <a:t>1</a:t>
            </a:r>
            <a:r>
              <a:rPr lang="zh-CN" altLang="zh-CN" b="1" dirty="0">
                <a:latin typeface="微软雅黑" panose="020B0503020204020204" pitchFamily="34" charset="-122"/>
                <a:ea typeface="微软雅黑" panose="020B0503020204020204" pitchFamily="34" charset="-122"/>
              </a:rPr>
              <a:t>、</a:t>
            </a:r>
            <a:r>
              <a:rPr lang="en-US" altLang="zh-CN" b="1" dirty="0" smtClean="0">
                <a:latin typeface="微软雅黑" panose="020B0503020204020204" pitchFamily="34" charset="-122"/>
                <a:ea typeface="微软雅黑" panose="020B0503020204020204" pitchFamily="34" charset="-122"/>
              </a:rPr>
              <a:t>H</a:t>
            </a:r>
            <a:r>
              <a:rPr lang="en-US" altLang="zh-CN" b="1" baseline="-25000" dirty="0" smtClean="0">
                <a:latin typeface="微软雅黑" panose="020B0503020204020204" pitchFamily="34" charset="-122"/>
                <a:ea typeface="微软雅黑" panose="020B0503020204020204" pitchFamily="34" charset="-122"/>
              </a:rPr>
              <a:t>2</a:t>
            </a:r>
            <a:r>
              <a:rPr lang="zh-CN" altLang="en-US" b="1" dirty="0" smtClean="0">
                <a:latin typeface="微软雅黑" panose="020B0503020204020204" pitchFamily="34" charset="-122"/>
                <a:ea typeface="微软雅黑" panose="020B0503020204020204" pitchFamily="34" charset="-122"/>
              </a:rPr>
              <a:t>，</a:t>
            </a:r>
            <a:r>
              <a:rPr lang="en-US" altLang="zh-CN" b="1" dirty="0" smtClean="0">
                <a:latin typeface="微软雅黑" panose="020B0503020204020204" pitchFamily="34" charset="-122"/>
                <a:ea typeface="微软雅黑" panose="020B0503020204020204" pitchFamily="34" charset="-122"/>
              </a:rPr>
              <a:t>4</a:t>
            </a:r>
            <a:r>
              <a:rPr lang="zh-CN" altLang="zh-CN" b="1" dirty="0">
                <a:latin typeface="微软雅黑" panose="020B0503020204020204" pitchFamily="34" charset="-122"/>
                <a:ea typeface="微软雅黑" panose="020B0503020204020204" pitchFamily="34" charset="-122"/>
              </a:rPr>
              <a:t>台</a:t>
            </a:r>
            <a:r>
              <a:rPr lang="en-US" altLang="zh-CN" b="1" dirty="0">
                <a:latin typeface="微软雅黑" panose="020B0503020204020204" pitchFamily="34" charset="-122"/>
                <a:ea typeface="微软雅黑" panose="020B0503020204020204" pitchFamily="34" charset="-122"/>
              </a:rPr>
              <a:t>OpenFlow</a:t>
            </a:r>
            <a:r>
              <a:rPr lang="zh-CN" altLang="zh-CN" b="1" dirty="0">
                <a:latin typeface="微软雅黑" panose="020B0503020204020204" pitchFamily="34" charset="-122"/>
                <a:ea typeface="微软雅黑" panose="020B0503020204020204" pitchFamily="34" charset="-122"/>
              </a:rPr>
              <a:t>交换机</a:t>
            </a:r>
            <a:r>
              <a:rPr lang="en-US" altLang="zh-CN" b="1" dirty="0">
                <a:latin typeface="微软雅黑" panose="020B0503020204020204" pitchFamily="34" charset="-122"/>
                <a:ea typeface="微软雅黑" panose="020B0503020204020204" pitchFamily="34" charset="-122"/>
              </a:rPr>
              <a:t>(S</a:t>
            </a:r>
            <a:r>
              <a:rPr lang="en-US" altLang="zh-CN" b="1" baseline="-25000" dirty="0">
                <a:latin typeface="微软雅黑" panose="020B0503020204020204" pitchFamily="34" charset="-122"/>
                <a:ea typeface="微软雅黑" panose="020B0503020204020204" pitchFamily="34" charset="-122"/>
              </a:rPr>
              <a:t>1</a:t>
            </a:r>
            <a:r>
              <a:rPr lang="en-US" altLang="zh-CN" b="1" dirty="0">
                <a:latin typeface="微软雅黑" panose="020B0503020204020204" pitchFamily="34" charset="-122"/>
                <a:ea typeface="微软雅黑" panose="020B0503020204020204" pitchFamily="34" charset="-122"/>
              </a:rPr>
              <a:t> ~ S</a:t>
            </a:r>
            <a:r>
              <a:rPr lang="en-US" altLang="zh-CN" b="1" baseline="-25000" dirty="0">
                <a:latin typeface="微软雅黑" panose="020B0503020204020204" pitchFamily="34" charset="-122"/>
                <a:ea typeface="微软雅黑" panose="020B0503020204020204" pitchFamily="34" charset="-122"/>
              </a:rPr>
              <a:t>4</a:t>
            </a:r>
            <a:r>
              <a:rPr lang="en-US" altLang="zh-CN" b="1" dirty="0" smtClean="0">
                <a:latin typeface="微软雅黑" panose="020B0503020204020204" pitchFamily="34" charset="-122"/>
                <a:ea typeface="微软雅黑" panose="020B0503020204020204" pitchFamily="34" charset="-122"/>
              </a:rPr>
              <a:t>)</a:t>
            </a:r>
            <a:r>
              <a:rPr lang="zh-CN" altLang="en-US" b="1" dirty="0" smtClean="0">
                <a:latin typeface="微软雅黑" panose="020B0503020204020204" pitchFamily="34" charset="-122"/>
                <a:ea typeface="微软雅黑" panose="020B0503020204020204" pitchFamily="34" charset="-122"/>
              </a:rPr>
              <a:t>，</a:t>
            </a:r>
            <a:r>
              <a:rPr lang="en-US" altLang="zh-CN" b="1" dirty="0" smtClean="0">
                <a:latin typeface="微软雅黑" panose="020B0503020204020204" pitchFamily="34" charset="-122"/>
                <a:ea typeface="微软雅黑" panose="020B0503020204020204" pitchFamily="34" charset="-122"/>
              </a:rPr>
              <a:t>1</a:t>
            </a:r>
            <a:r>
              <a:rPr lang="zh-CN" altLang="zh-CN" b="1" dirty="0">
                <a:latin typeface="微软雅黑" panose="020B0503020204020204" pitchFamily="34" charset="-122"/>
                <a:ea typeface="微软雅黑" panose="020B0503020204020204" pitchFamily="34" charset="-122"/>
              </a:rPr>
              <a:t>台</a:t>
            </a:r>
            <a:r>
              <a:rPr lang="en-US" altLang="zh-CN" b="1" dirty="0">
                <a:latin typeface="微软雅黑" panose="020B0503020204020204" pitchFamily="34" charset="-122"/>
                <a:ea typeface="微软雅黑" panose="020B0503020204020204" pitchFamily="34" charset="-122"/>
              </a:rPr>
              <a:t>OpenFlow</a:t>
            </a:r>
            <a:r>
              <a:rPr lang="zh-CN" altLang="zh-CN" b="1" dirty="0" smtClean="0">
                <a:latin typeface="微软雅黑" panose="020B0503020204020204" pitchFamily="34" charset="-122"/>
                <a:ea typeface="微软雅黑" panose="020B0503020204020204" pitchFamily="34" charset="-122"/>
              </a:rPr>
              <a:t>控制器</a:t>
            </a:r>
            <a:r>
              <a:rPr lang="zh-CN" altLang="en-US" b="1" dirty="0" smtClean="0">
                <a:latin typeface="微软雅黑" panose="020B0503020204020204" pitchFamily="34" charset="-122"/>
                <a:ea typeface="微软雅黑" panose="020B0503020204020204" pitchFamily="34" charset="-122"/>
              </a:rPr>
              <a:t>。</a:t>
            </a:r>
            <a:endParaRPr lang="en-US" altLang="zh-CN" b="1" dirty="0" smtClean="0">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extLst/>
          </p:nvPr>
        </p:nvGraphicFramePr>
        <p:xfrm>
          <a:off x="2195830" y="2068315"/>
          <a:ext cx="4423923" cy="2572607"/>
        </p:xfrm>
        <a:graphic>
          <a:graphicData uri="http://schemas.openxmlformats.org/presentationml/2006/ole">
            <mc:AlternateContent xmlns:mc="http://schemas.openxmlformats.org/markup-compatibility/2006">
              <mc:Choice xmlns:v="urn:schemas-microsoft-com:vml" Requires="v">
                <p:oleObj spid="_x0000_s14344" name="Presentation" r:id="rId4" imgW="4571116" imgH="3428159" progId="PowerPoint.Show.8">
                  <p:embed/>
                </p:oleObj>
              </mc:Choice>
              <mc:Fallback>
                <p:oleObj name="Presentation" r:id="rId4" imgW="4571116" imgH="3428159" progId="PowerPoint.Show.8">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l="4645" t="2835" r="19287" b="38959"/>
                      <a:stretch>
                        <a:fillRect/>
                      </a:stretch>
                    </p:blipFill>
                    <p:spPr bwMode="auto">
                      <a:xfrm>
                        <a:off x="2195830" y="2068315"/>
                        <a:ext cx="4423923" cy="2572607"/>
                      </a:xfrm>
                      <a:prstGeom prst="rect">
                        <a:avLst/>
                      </a:prstGeom>
                      <a:noFill/>
                    </p:spPr>
                  </p:pic>
                </p:oleObj>
              </mc:Fallback>
            </mc:AlternateContent>
          </a:graphicData>
        </a:graphic>
      </p:graphicFrame>
    </p:spTree>
    <p:extLst>
      <p:ext uri="{BB962C8B-B14F-4D97-AF65-F5344CB8AC3E}">
        <p14:creationId xmlns:p14="http://schemas.microsoft.com/office/powerpoint/2010/main" val="39182738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微软雅黑" pitchFamily="34" charset="-122"/>
                <a:ea typeface="微软雅黑" pitchFamily="34" charset="-122"/>
              </a:rPr>
              <a:t>简单转发的例子</a:t>
            </a:r>
          </a:p>
        </p:txBody>
      </p:sp>
      <p:sp>
        <p:nvSpPr>
          <p:cNvPr id="4" name="Rectangle 8"/>
          <p:cNvSpPr>
            <a:spLocks noChangeArrowheads="1"/>
          </p:cNvSpPr>
          <p:nvPr/>
        </p:nvSpPr>
        <p:spPr bwMode="auto">
          <a:xfrm>
            <a:off x="545143" y="1009413"/>
            <a:ext cx="4496757" cy="112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1</a:t>
            </a:r>
            <a:r>
              <a:rPr lang="zh-CN" altLang="zh-CN" sz="1600" b="1" dirty="0">
                <a:latin typeface="微软雅黑" panose="020B0503020204020204" pitchFamily="34" charset="-122"/>
                <a:ea typeface="微软雅黑" panose="020B0503020204020204" pitchFamily="34" charset="-122"/>
              </a:rPr>
              <a:t>到</a:t>
            </a:r>
            <a:r>
              <a:rPr lang="en-US" altLang="zh-CN" sz="1600" b="1" dirty="0">
                <a:latin typeface="微软雅黑" panose="020B0503020204020204" pitchFamily="34" charset="-122"/>
                <a:ea typeface="微软雅黑" panose="020B0503020204020204" pitchFamily="34" charset="-122"/>
              </a:rPr>
              <a:t>W</a:t>
            </a:r>
            <a:r>
              <a:rPr lang="en-US" altLang="zh-CN" sz="1600" b="1" baseline="-25000" dirty="0">
                <a:latin typeface="微软雅黑" panose="020B0503020204020204" pitchFamily="34" charset="-122"/>
                <a:ea typeface="微软雅黑" panose="020B0503020204020204" pitchFamily="34" charset="-122"/>
              </a:rPr>
              <a:t>1</a:t>
            </a:r>
            <a:r>
              <a:rPr lang="zh-CN" altLang="zh-CN" sz="1600" b="1" dirty="0">
                <a:latin typeface="微软雅黑" panose="020B0503020204020204" pitchFamily="34" charset="-122"/>
                <a:ea typeface="微软雅黑" panose="020B0503020204020204" pitchFamily="34" charset="-122"/>
              </a:rPr>
              <a:t>的分组沿路径</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4</a:t>
            </a:r>
            <a:r>
              <a:rPr lang="zh-CN" altLang="zh-CN" sz="1600" b="1" dirty="0">
                <a:latin typeface="微软雅黑" panose="020B0503020204020204" pitchFamily="34" charset="-122"/>
                <a:ea typeface="微软雅黑" panose="020B0503020204020204" pitchFamily="34" charset="-122"/>
              </a:rPr>
              <a:t>转发，而从</a:t>
            </a:r>
            <a:r>
              <a:rPr lang="en-US" altLang="zh-CN" sz="1600" b="1" dirty="0">
                <a:latin typeface="微软雅黑" panose="020B0503020204020204" pitchFamily="34" charset="-122"/>
                <a:ea typeface="微软雅黑" panose="020B0503020204020204" pitchFamily="34" charset="-122"/>
              </a:rPr>
              <a:t>10.1.0.0/16</a:t>
            </a:r>
            <a:r>
              <a:rPr lang="zh-CN" altLang="zh-CN" sz="1600" b="1" dirty="0">
                <a:latin typeface="微软雅黑" panose="020B0503020204020204" pitchFamily="34" charset="-122"/>
                <a:ea typeface="微软雅黑" panose="020B0503020204020204" pitchFamily="34" charset="-122"/>
              </a:rPr>
              <a:t>到</a:t>
            </a:r>
            <a:r>
              <a:rPr lang="en-US" altLang="zh-CN" sz="1600" b="1" dirty="0">
                <a:latin typeface="微软雅黑" panose="020B0503020204020204" pitchFamily="34" charset="-122"/>
                <a:ea typeface="微软雅黑" panose="020B0503020204020204" pitchFamily="34" charset="-122"/>
              </a:rPr>
              <a:t>10.2.0.0/16</a:t>
            </a:r>
            <a:r>
              <a:rPr lang="zh-CN" altLang="zh-CN" sz="1600" b="1" dirty="0">
                <a:latin typeface="微软雅黑" panose="020B0503020204020204" pitchFamily="34" charset="-122"/>
                <a:ea typeface="微软雅黑" panose="020B0503020204020204" pitchFamily="34" charset="-122"/>
              </a:rPr>
              <a:t>的其他分组沿路径</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4</a:t>
            </a:r>
            <a:r>
              <a:rPr lang="zh-CN" altLang="zh-CN" sz="1600" b="1" dirty="0">
                <a:latin typeface="微软雅黑" panose="020B0503020204020204" pitchFamily="34" charset="-122"/>
                <a:ea typeface="微软雅黑" panose="020B0503020204020204" pitchFamily="34" charset="-122"/>
              </a:rPr>
              <a:t>转发。</a:t>
            </a:r>
            <a:endParaRPr lang="en-US" altLang="zh-CN" sz="1600" b="1" dirty="0" smtClean="0">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extLst/>
          </p:nvPr>
        </p:nvGraphicFramePr>
        <p:xfrm>
          <a:off x="6026151" y="1069454"/>
          <a:ext cx="2851150" cy="1658005"/>
        </p:xfrm>
        <a:graphic>
          <a:graphicData uri="http://schemas.openxmlformats.org/presentationml/2006/ole">
            <mc:AlternateContent xmlns:mc="http://schemas.openxmlformats.org/markup-compatibility/2006">
              <mc:Choice xmlns:v="urn:schemas-microsoft-com:vml" Requires="v">
                <p:oleObj spid="_x0000_s15368" name="Presentation" r:id="rId5" imgW="4571116" imgH="3428159" progId="PowerPoint.Show.8">
                  <p:embed/>
                </p:oleObj>
              </mc:Choice>
              <mc:Fallback>
                <p:oleObj name="Presentation" r:id="rId5" imgW="4571116" imgH="3428159" progId="PowerPoint.Show.8">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l="4645" t="2835" r="19287" b="38959"/>
                      <a:stretch>
                        <a:fillRect/>
                      </a:stretch>
                    </p:blipFill>
                    <p:spPr bwMode="auto">
                      <a:xfrm>
                        <a:off x="6026151" y="1069454"/>
                        <a:ext cx="2851150" cy="1658005"/>
                      </a:xfrm>
                      <a:prstGeom prst="rect">
                        <a:avLst/>
                      </a:prstGeom>
                      <a:noFill/>
                    </p:spPr>
                  </p:pic>
                </p:oleObj>
              </mc:Fallback>
            </mc:AlternateContent>
          </a:graphicData>
        </a:graphic>
      </p:graphicFrame>
      <p:graphicFrame>
        <p:nvGraphicFramePr>
          <p:cNvPr id="2" name="表格 1"/>
          <p:cNvGraphicFramePr>
            <a:graphicFrameLocks noGrp="1"/>
          </p:cNvGraphicFramePr>
          <p:nvPr>
            <p:extLst/>
          </p:nvPr>
        </p:nvGraphicFramePr>
        <p:xfrm>
          <a:off x="717550" y="2189663"/>
          <a:ext cx="4997446" cy="964517"/>
        </p:xfrm>
        <a:graphic>
          <a:graphicData uri="http://schemas.openxmlformats.org/drawingml/2006/table">
            <a:tbl>
              <a:tblPr firstRow="1" firstCol="1" bandRow="1">
                <a:tableStyleId>{5A111915-BE36-4E01-A7E5-04B1672EAD32}</a:tableStyleId>
              </a:tblPr>
              <a:tblGrid>
                <a:gridCol w="3537962">
                  <a:extLst>
                    <a:ext uri="{9D8B030D-6E8A-4147-A177-3AD203B41FA5}">
                      <a16:colId xmlns:a16="http://schemas.microsoft.com/office/drawing/2014/main" val="3497981222"/>
                    </a:ext>
                  </a:extLst>
                </a:gridCol>
                <a:gridCol w="729742">
                  <a:extLst>
                    <a:ext uri="{9D8B030D-6E8A-4147-A177-3AD203B41FA5}">
                      <a16:colId xmlns:a16="http://schemas.microsoft.com/office/drawing/2014/main" val="2633127995"/>
                    </a:ext>
                  </a:extLst>
                </a:gridCol>
                <a:gridCol w="729742">
                  <a:extLst>
                    <a:ext uri="{9D8B030D-6E8A-4147-A177-3AD203B41FA5}">
                      <a16:colId xmlns:a16="http://schemas.microsoft.com/office/drawing/2014/main" val="1161882135"/>
                    </a:ext>
                  </a:extLst>
                </a:gridCol>
              </a:tblGrid>
              <a:tr h="240617">
                <a:tc>
                  <a:txBody>
                    <a:bodyPr/>
                    <a:lstStyle/>
                    <a:p>
                      <a:pPr algn="ctr">
                        <a:lnSpc>
                          <a:spcPts val="1400"/>
                        </a:lnSpc>
                        <a:spcAft>
                          <a:spcPts val="0"/>
                        </a:spcAft>
                      </a:pPr>
                      <a:r>
                        <a:rPr lang="zh-CN" sz="1100" kern="100" dirty="0">
                          <a:effectLst/>
                        </a:rPr>
                        <a:t>匹配字段</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优先级</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指令</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02830482"/>
                  </a:ext>
                </a:extLst>
              </a:tr>
              <a:tr h="627880">
                <a:tc>
                  <a:txBody>
                    <a:bodyPr/>
                    <a:lstStyle/>
                    <a:p>
                      <a:pPr algn="just">
                        <a:lnSpc>
                          <a:spcPts val="1900"/>
                        </a:lnSpc>
                        <a:spcAft>
                          <a:spcPts val="0"/>
                        </a:spcAft>
                      </a:pPr>
                      <a:r>
                        <a:rPr lang="en-US" sz="1100" kern="100" dirty="0">
                          <a:effectLst/>
                        </a:rPr>
                        <a:t>IP</a:t>
                      </a:r>
                      <a:r>
                        <a:rPr lang="zh-CN" sz="1100" kern="100" dirty="0">
                          <a:effectLst/>
                        </a:rPr>
                        <a:t>源地址</a:t>
                      </a:r>
                      <a:r>
                        <a:rPr lang="en-US" sz="1100" kern="100" dirty="0">
                          <a:effectLst/>
                        </a:rPr>
                        <a:t> = 10.1.0.1</a:t>
                      </a:r>
                      <a:r>
                        <a:rPr lang="zh-CN" sz="1100" kern="100" dirty="0">
                          <a:effectLst/>
                        </a:rPr>
                        <a:t>；</a:t>
                      </a:r>
                      <a:r>
                        <a:rPr lang="en-US" sz="1100" kern="100" dirty="0">
                          <a:effectLst/>
                        </a:rPr>
                        <a:t>IP</a:t>
                      </a:r>
                      <a:r>
                        <a:rPr lang="zh-CN" sz="1100" kern="100" dirty="0">
                          <a:effectLst/>
                        </a:rPr>
                        <a:t>目的地址</a:t>
                      </a:r>
                      <a:r>
                        <a:rPr lang="en-US" sz="1100" kern="100" dirty="0">
                          <a:effectLst/>
                        </a:rPr>
                        <a:t> = 10.2.0.1</a:t>
                      </a:r>
                      <a:endParaRPr lang="zh-CN" sz="1100" kern="100" dirty="0">
                        <a:effectLst/>
                      </a:endParaRPr>
                    </a:p>
                    <a:p>
                      <a:pPr algn="just">
                        <a:lnSpc>
                          <a:spcPts val="1900"/>
                        </a:lnSpc>
                        <a:spcAft>
                          <a:spcPts val="0"/>
                        </a:spcAft>
                      </a:pPr>
                      <a:r>
                        <a:rPr lang="en-US" sz="1100" kern="100" dirty="0">
                          <a:effectLst/>
                        </a:rPr>
                        <a:t>IP</a:t>
                      </a:r>
                      <a:r>
                        <a:rPr lang="zh-CN" sz="1100" kern="100" dirty="0">
                          <a:effectLst/>
                        </a:rPr>
                        <a:t>源地址</a:t>
                      </a:r>
                      <a:r>
                        <a:rPr lang="en-US" sz="1100" kern="100" dirty="0">
                          <a:effectLst/>
                        </a:rPr>
                        <a:t> = 10.1.0.0/16</a:t>
                      </a:r>
                      <a:r>
                        <a:rPr lang="zh-CN" sz="1100" kern="100" dirty="0">
                          <a:effectLst/>
                        </a:rPr>
                        <a:t>；</a:t>
                      </a:r>
                      <a:r>
                        <a:rPr lang="en-US" sz="1100" kern="100" dirty="0">
                          <a:effectLst/>
                        </a:rPr>
                        <a:t>IP</a:t>
                      </a:r>
                      <a:r>
                        <a:rPr lang="zh-CN" sz="1100" kern="100" dirty="0">
                          <a:effectLst/>
                        </a:rPr>
                        <a:t>目的地址</a:t>
                      </a:r>
                      <a:r>
                        <a:rPr lang="en-US" sz="1100" kern="100" dirty="0">
                          <a:effectLst/>
                        </a:rPr>
                        <a:t> = 10.2.0.0/16</a:t>
                      </a:r>
                      <a:endParaRPr lang="zh-CN" sz="1100" kern="100" dirty="0">
                        <a:effectLst/>
                      </a:endParaRPr>
                    </a:p>
                    <a:p>
                      <a:pPr algn="just">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en-US" sz="1100" kern="100" dirty="0">
                          <a:effectLst/>
                        </a:rPr>
                        <a:t>100</a:t>
                      </a:r>
                      <a:endParaRPr lang="zh-CN" sz="1100" kern="100" dirty="0">
                        <a:effectLst/>
                      </a:endParaRPr>
                    </a:p>
                    <a:p>
                      <a:pPr algn="ctr">
                        <a:lnSpc>
                          <a:spcPts val="1900"/>
                        </a:lnSpc>
                        <a:spcAft>
                          <a:spcPts val="0"/>
                        </a:spcAft>
                      </a:pPr>
                      <a:r>
                        <a:rPr lang="en-US" sz="1100" kern="100" dirty="0">
                          <a:effectLst/>
                        </a:rPr>
                        <a:t>10</a:t>
                      </a:r>
                      <a:endParaRPr lang="zh-CN" sz="1100" kern="100" dirty="0">
                        <a:effectLst/>
                      </a:endParaRPr>
                    </a:p>
                    <a:p>
                      <a:pPr algn="ctr">
                        <a:lnSpc>
                          <a:spcPts val="1900"/>
                        </a:lnSpc>
                        <a:spcAft>
                          <a:spcPts val="0"/>
                        </a:spcAft>
                      </a:pPr>
                      <a:r>
                        <a:rPr lang="en-US" sz="1100" kern="100" dirty="0" smtClean="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zh-CN" sz="1100" kern="100" dirty="0">
                          <a:effectLst/>
                        </a:rPr>
                        <a:t>转发</a:t>
                      </a:r>
                      <a:r>
                        <a:rPr lang="en-US" sz="1100" kern="100" dirty="0">
                          <a:effectLst/>
                        </a:rPr>
                        <a:t>(3)</a:t>
                      </a:r>
                      <a:endParaRPr lang="zh-CN" sz="1100" kern="100" dirty="0">
                        <a:effectLst/>
                      </a:endParaRPr>
                    </a:p>
                    <a:p>
                      <a:pPr algn="ctr">
                        <a:lnSpc>
                          <a:spcPts val="1900"/>
                        </a:lnSpc>
                        <a:spcAft>
                          <a:spcPts val="0"/>
                        </a:spcAft>
                      </a:pPr>
                      <a:r>
                        <a:rPr lang="zh-CN" sz="1100" kern="100" dirty="0">
                          <a:effectLst/>
                        </a:rPr>
                        <a:t>转发</a:t>
                      </a:r>
                      <a:r>
                        <a:rPr lang="en-US" sz="1100" kern="100" dirty="0">
                          <a:effectLst/>
                        </a:rPr>
                        <a:t>(2)</a:t>
                      </a:r>
                      <a:endParaRPr lang="zh-CN" sz="1100" kern="100" dirty="0">
                        <a:effectLst/>
                      </a:endParaRPr>
                    </a:p>
                    <a:p>
                      <a:pPr algn="ctr">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946369311"/>
                  </a:ext>
                </a:extLst>
              </a:tr>
            </a:tbl>
          </a:graphicData>
        </a:graphic>
      </p:graphicFrame>
      <p:graphicFrame>
        <p:nvGraphicFramePr>
          <p:cNvPr id="7" name="表格 6"/>
          <p:cNvGraphicFramePr>
            <a:graphicFrameLocks noGrp="1"/>
          </p:cNvGraphicFramePr>
          <p:nvPr>
            <p:extLst/>
          </p:nvPr>
        </p:nvGraphicFramePr>
        <p:xfrm>
          <a:off x="717547" y="3181468"/>
          <a:ext cx="4997449" cy="792997"/>
        </p:xfrm>
        <a:graphic>
          <a:graphicData uri="http://schemas.openxmlformats.org/drawingml/2006/table">
            <a:tbl>
              <a:tblPr firstRow="1" firstCol="1" bandRow="1">
                <a:tableStyleId>{5A111915-BE36-4E01-A7E5-04B1672EAD32}</a:tableStyleId>
              </a:tblPr>
              <a:tblGrid>
                <a:gridCol w="3506721">
                  <a:extLst>
                    <a:ext uri="{9D8B030D-6E8A-4147-A177-3AD203B41FA5}">
                      <a16:colId xmlns:a16="http://schemas.microsoft.com/office/drawing/2014/main" val="3353901735"/>
                    </a:ext>
                  </a:extLst>
                </a:gridCol>
                <a:gridCol w="745364">
                  <a:extLst>
                    <a:ext uri="{9D8B030D-6E8A-4147-A177-3AD203B41FA5}">
                      <a16:colId xmlns:a16="http://schemas.microsoft.com/office/drawing/2014/main" val="1933181822"/>
                    </a:ext>
                  </a:extLst>
                </a:gridCol>
                <a:gridCol w="745364">
                  <a:extLst>
                    <a:ext uri="{9D8B030D-6E8A-4147-A177-3AD203B41FA5}">
                      <a16:colId xmlns:a16="http://schemas.microsoft.com/office/drawing/2014/main" val="843711080"/>
                    </a:ext>
                  </a:extLst>
                </a:gridCol>
              </a:tblGrid>
              <a:tr h="310397">
                <a:tc>
                  <a:txBody>
                    <a:bodyPr/>
                    <a:lstStyle/>
                    <a:p>
                      <a:pPr algn="ctr">
                        <a:lnSpc>
                          <a:spcPts val="1400"/>
                        </a:lnSpc>
                        <a:spcAft>
                          <a:spcPts val="0"/>
                        </a:spcAft>
                      </a:pPr>
                      <a:r>
                        <a:rPr lang="zh-CN" sz="1100" kern="100" dirty="0">
                          <a:effectLst/>
                        </a:rPr>
                        <a:t>匹配字段</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优先级</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指令</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635786479"/>
                  </a:ext>
                </a:extLst>
              </a:tr>
              <a:tr h="389805">
                <a:tc>
                  <a:txBody>
                    <a:bodyPr/>
                    <a:lstStyle/>
                    <a:p>
                      <a:pPr algn="just">
                        <a:lnSpc>
                          <a:spcPts val="1900"/>
                        </a:lnSpc>
                        <a:spcAft>
                          <a:spcPts val="0"/>
                        </a:spcAft>
                      </a:pPr>
                      <a:r>
                        <a:rPr lang="zh-CN" sz="1100" kern="100" dirty="0">
                          <a:effectLst/>
                        </a:rPr>
                        <a:t>入端口</a:t>
                      </a:r>
                      <a:r>
                        <a:rPr lang="en-US" sz="1100" kern="100" dirty="0">
                          <a:effectLst/>
                        </a:rPr>
                        <a:t> = 1</a:t>
                      </a:r>
                      <a:r>
                        <a:rPr lang="zh-CN" sz="1100" kern="100" dirty="0">
                          <a:effectLst/>
                        </a:rPr>
                        <a:t>；</a:t>
                      </a:r>
                      <a:r>
                        <a:rPr lang="en-US" sz="1100" kern="100" dirty="0">
                          <a:effectLst/>
                        </a:rPr>
                        <a:t>IP</a:t>
                      </a:r>
                      <a:r>
                        <a:rPr lang="zh-CN" sz="1100" kern="100" dirty="0">
                          <a:effectLst/>
                        </a:rPr>
                        <a:t>源地址</a:t>
                      </a:r>
                      <a:r>
                        <a:rPr lang="en-US" sz="1100" kern="100" dirty="0">
                          <a:effectLst/>
                        </a:rPr>
                        <a:t> = 10.1.0.1</a:t>
                      </a:r>
                      <a:r>
                        <a:rPr lang="zh-CN" sz="1100" kern="100" dirty="0">
                          <a:effectLst/>
                        </a:rPr>
                        <a:t>；</a:t>
                      </a:r>
                      <a:r>
                        <a:rPr lang="en-US" sz="1100" kern="100" dirty="0">
                          <a:effectLst/>
                        </a:rPr>
                        <a:t>IP</a:t>
                      </a:r>
                      <a:r>
                        <a:rPr lang="zh-CN" sz="1100" kern="100" dirty="0">
                          <a:effectLst/>
                        </a:rPr>
                        <a:t>目的地址</a:t>
                      </a:r>
                      <a:r>
                        <a:rPr lang="en-US" sz="1100" kern="100" dirty="0">
                          <a:effectLst/>
                        </a:rPr>
                        <a:t> = 10.2.0.1</a:t>
                      </a:r>
                      <a:endParaRPr lang="zh-CN" sz="1100" kern="100" dirty="0">
                        <a:effectLst/>
                      </a:endParaRPr>
                    </a:p>
                    <a:p>
                      <a:pPr algn="just">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en-US" sz="1100" kern="100" dirty="0">
                          <a:effectLst/>
                        </a:rPr>
                        <a:t>100</a:t>
                      </a:r>
                      <a:endParaRPr lang="zh-CN" sz="1100" kern="100" dirty="0">
                        <a:effectLst/>
                      </a:endParaRPr>
                    </a:p>
                    <a:p>
                      <a:pPr algn="ctr">
                        <a:lnSpc>
                          <a:spcPts val="1900"/>
                        </a:lnSpc>
                        <a:spcAft>
                          <a:spcPts val="0"/>
                        </a:spcAft>
                      </a:pPr>
                      <a:r>
                        <a:rPr lang="en-US" sz="1100" kern="100" dirty="0" smtClean="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zh-CN" sz="1100" kern="100" dirty="0">
                          <a:effectLst/>
                        </a:rPr>
                        <a:t>转发</a:t>
                      </a:r>
                      <a:r>
                        <a:rPr lang="en-US" sz="1100" kern="100" dirty="0">
                          <a:effectLst/>
                        </a:rPr>
                        <a:t>(3)</a:t>
                      </a:r>
                      <a:endParaRPr lang="zh-CN" sz="1100" kern="100" dirty="0">
                        <a:effectLst/>
                      </a:endParaRPr>
                    </a:p>
                    <a:p>
                      <a:pPr algn="ctr">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811589115"/>
                  </a:ext>
                </a:extLst>
              </a:tr>
            </a:tbl>
          </a:graphicData>
        </a:graphic>
      </p:graphicFrame>
      <p:graphicFrame>
        <p:nvGraphicFramePr>
          <p:cNvPr id="8" name="表格 7"/>
          <p:cNvGraphicFramePr>
            <a:graphicFrameLocks noGrp="1"/>
          </p:cNvGraphicFramePr>
          <p:nvPr>
            <p:extLst/>
          </p:nvPr>
        </p:nvGraphicFramePr>
        <p:xfrm>
          <a:off x="717547" y="4001753"/>
          <a:ext cx="4997448" cy="739782"/>
        </p:xfrm>
        <a:graphic>
          <a:graphicData uri="http://schemas.openxmlformats.org/drawingml/2006/table">
            <a:tbl>
              <a:tblPr firstRow="1" firstCol="1" bandRow="1">
                <a:tableStyleId>{5A111915-BE36-4E01-A7E5-04B1672EAD32}</a:tableStyleId>
              </a:tblPr>
              <a:tblGrid>
                <a:gridCol w="3468902">
                  <a:extLst>
                    <a:ext uri="{9D8B030D-6E8A-4147-A177-3AD203B41FA5}">
                      <a16:colId xmlns:a16="http://schemas.microsoft.com/office/drawing/2014/main" val="3195536513"/>
                    </a:ext>
                  </a:extLst>
                </a:gridCol>
                <a:gridCol w="764273">
                  <a:extLst>
                    <a:ext uri="{9D8B030D-6E8A-4147-A177-3AD203B41FA5}">
                      <a16:colId xmlns:a16="http://schemas.microsoft.com/office/drawing/2014/main" val="1916474164"/>
                    </a:ext>
                  </a:extLst>
                </a:gridCol>
                <a:gridCol w="764273">
                  <a:extLst>
                    <a:ext uri="{9D8B030D-6E8A-4147-A177-3AD203B41FA5}">
                      <a16:colId xmlns:a16="http://schemas.microsoft.com/office/drawing/2014/main" val="343844276"/>
                    </a:ext>
                  </a:extLst>
                </a:gridCol>
              </a:tblGrid>
              <a:tr h="257182">
                <a:tc>
                  <a:txBody>
                    <a:bodyPr/>
                    <a:lstStyle/>
                    <a:p>
                      <a:pPr algn="ctr">
                        <a:lnSpc>
                          <a:spcPts val="1400"/>
                        </a:lnSpc>
                        <a:spcAft>
                          <a:spcPts val="0"/>
                        </a:spcAft>
                      </a:pPr>
                      <a:r>
                        <a:rPr lang="zh-CN" sz="1100" kern="100" dirty="0">
                          <a:effectLst/>
                        </a:rPr>
                        <a:t>匹配字段</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优先级</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指令</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410520400"/>
                  </a:ext>
                </a:extLst>
              </a:tr>
              <a:tr h="390263">
                <a:tc>
                  <a:txBody>
                    <a:bodyPr/>
                    <a:lstStyle/>
                    <a:p>
                      <a:pPr algn="just">
                        <a:lnSpc>
                          <a:spcPts val="1900"/>
                        </a:lnSpc>
                        <a:spcAft>
                          <a:spcPts val="0"/>
                        </a:spcAft>
                      </a:pPr>
                      <a:r>
                        <a:rPr lang="en-US" sz="1100" kern="100" dirty="0">
                          <a:effectLst/>
                        </a:rPr>
                        <a:t>IP</a:t>
                      </a:r>
                      <a:r>
                        <a:rPr lang="zh-CN" sz="1100" kern="100" dirty="0">
                          <a:effectLst/>
                        </a:rPr>
                        <a:t>源地址</a:t>
                      </a:r>
                      <a:r>
                        <a:rPr lang="en-US" sz="1100" kern="100" dirty="0">
                          <a:effectLst/>
                        </a:rPr>
                        <a:t> = 10.1.0.0/16</a:t>
                      </a:r>
                      <a:r>
                        <a:rPr lang="zh-CN" sz="1100" kern="100" dirty="0">
                          <a:effectLst/>
                        </a:rPr>
                        <a:t>；</a:t>
                      </a:r>
                      <a:r>
                        <a:rPr lang="en-US" sz="1100" kern="100" dirty="0">
                          <a:effectLst/>
                        </a:rPr>
                        <a:t>IP</a:t>
                      </a:r>
                      <a:r>
                        <a:rPr lang="zh-CN" sz="1100" kern="100" dirty="0">
                          <a:effectLst/>
                        </a:rPr>
                        <a:t>目的地址</a:t>
                      </a:r>
                      <a:r>
                        <a:rPr lang="en-US" sz="1100" kern="100" dirty="0">
                          <a:effectLst/>
                        </a:rPr>
                        <a:t> = 10.2.0.0/16</a:t>
                      </a:r>
                      <a:endParaRPr lang="zh-CN" sz="1100" kern="100" dirty="0">
                        <a:effectLst/>
                      </a:endParaRPr>
                    </a:p>
                    <a:p>
                      <a:pPr algn="just">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en-US" sz="1100" kern="100" dirty="0">
                          <a:effectLst/>
                        </a:rPr>
                        <a:t>10</a:t>
                      </a:r>
                      <a:endParaRPr lang="zh-CN" sz="1100" kern="100" dirty="0">
                        <a:effectLst/>
                      </a:endParaRPr>
                    </a:p>
                    <a:p>
                      <a:pPr algn="ctr">
                        <a:lnSpc>
                          <a:spcPts val="1900"/>
                        </a:lnSpc>
                        <a:spcAft>
                          <a:spcPts val="0"/>
                        </a:spcAft>
                      </a:pPr>
                      <a:r>
                        <a:rPr lang="en-US" sz="1100" kern="100" dirty="0" smtClean="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zh-CN" sz="1100" kern="100" dirty="0">
                          <a:effectLst/>
                        </a:rPr>
                        <a:t>转发</a:t>
                      </a:r>
                      <a:r>
                        <a:rPr lang="en-US" sz="1100" kern="100" dirty="0">
                          <a:effectLst/>
                        </a:rPr>
                        <a:t>(3)</a:t>
                      </a:r>
                      <a:endParaRPr lang="zh-CN" sz="1100" kern="100" dirty="0">
                        <a:effectLst/>
                      </a:endParaRPr>
                    </a:p>
                    <a:p>
                      <a:pPr algn="ctr">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4081364508"/>
                  </a:ext>
                </a:extLst>
              </a:tr>
            </a:tbl>
          </a:graphicData>
        </a:graphic>
      </p:graphicFrame>
      <p:graphicFrame>
        <p:nvGraphicFramePr>
          <p:cNvPr id="9" name="表格 8"/>
          <p:cNvGraphicFramePr>
            <a:graphicFrameLocks noGrp="1"/>
          </p:cNvGraphicFramePr>
          <p:nvPr>
            <p:extLst/>
          </p:nvPr>
        </p:nvGraphicFramePr>
        <p:xfrm>
          <a:off x="5956301" y="3181468"/>
          <a:ext cx="2990850" cy="970891"/>
        </p:xfrm>
        <a:graphic>
          <a:graphicData uri="http://schemas.openxmlformats.org/drawingml/2006/table">
            <a:tbl>
              <a:tblPr firstRow="1" firstCol="1" bandRow="1">
                <a:tableStyleId>{5A111915-BE36-4E01-A7E5-04B1672EAD32}</a:tableStyleId>
              </a:tblPr>
              <a:tblGrid>
                <a:gridCol w="1492249">
                  <a:extLst>
                    <a:ext uri="{9D8B030D-6E8A-4147-A177-3AD203B41FA5}">
                      <a16:colId xmlns:a16="http://schemas.microsoft.com/office/drawing/2014/main" val="3380715891"/>
                    </a:ext>
                  </a:extLst>
                </a:gridCol>
                <a:gridCol w="666750">
                  <a:extLst>
                    <a:ext uri="{9D8B030D-6E8A-4147-A177-3AD203B41FA5}">
                      <a16:colId xmlns:a16="http://schemas.microsoft.com/office/drawing/2014/main" val="1394931845"/>
                    </a:ext>
                  </a:extLst>
                </a:gridCol>
                <a:gridCol w="831851">
                  <a:extLst>
                    <a:ext uri="{9D8B030D-6E8A-4147-A177-3AD203B41FA5}">
                      <a16:colId xmlns:a16="http://schemas.microsoft.com/office/drawing/2014/main" val="3406153375"/>
                    </a:ext>
                  </a:extLst>
                </a:gridCol>
              </a:tblGrid>
              <a:tr h="246991">
                <a:tc>
                  <a:txBody>
                    <a:bodyPr/>
                    <a:lstStyle/>
                    <a:p>
                      <a:pPr algn="ctr">
                        <a:lnSpc>
                          <a:spcPts val="1400"/>
                        </a:lnSpc>
                        <a:spcAft>
                          <a:spcPts val="0"/>
                        </a:spcAft>
                      </a:pPr>
                      <a:r>
                        <a:rPr lang="zh-CN" sz="1100" kern="100" dirty="0">
                          <a:effectLst/>
                        </a:rPr>
                        <a:t>匹配字段</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优先级</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400"/>
                        </a:lnSpc>
                        <a:spcAft>
                          <a:spcPts val="0"/>
                        </a:spcAft>
                      </a:pPr>
                      <a:r>
                        <a:rPr lang="zh-CN" sz="1100" kern="100" dirty="0">
                          <a:effectLst/>
                        </a:rPr>
                        <a:t>指令</a:t>
                      </a:r>
                      <a:endParaRPr lang="zh-CN" sz="11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953833746"/>
                  </a:ext>
                </a:extLst>
              </a:tr>
              <a:tr h="586129">
                <a:tc>
                  <a:txBody>
                    <a:bodyPr/>
                    <a:lstStyle/>
                    <a:p>
                      <a:pPr algn="just">
                        <a:lnSpc>
                          <a:spcPts val="1900"/>
                        </a:lnSpc>
                        <a:spcAft>
                          <a:spcPts val="0"/>
                        </a:spcAft>
                      </a:pPr>
                      <a:r>
                        <a:rPr lang="en-US" sz="1100" kern="100" dirty="0">
                          <a:effectLst/>
                        </a:rPr>
                        <a:t>IP</a:t>
                      </a:r>
                      <a:r>
                        <a:rPr lang="zh-CN" sz="1100" kern="100" dirty="0">
                          <a:effectLst/>
                        </a:rPr>
                        <a:t>目的地址</a:t>
                      </a:r>
                      <a:r>
                        <a:rPr lang="en-US" sz="1100" kern="100" dirty="0">
                          <a:effectLst/>
                        </a:rPr>
                        <a:t> = 10.2.0.1</a:t>
                      </a:r>
                      <a:endParaRPr lang="zh-CN" sz="1100" kern="100" dirty="0">
                        <a:effectLst/>
                      </a:endParaRPr>
                    </a:p>
                    <a:p>
                      <a:pPr algn="just">
                        <a:lnSpc>
                          <a:spcPts val="1900"/>
                        </a:lnSpc>
                        <a:spcAft>
                          <a:spcPts val="0"/>
                        </a:spcAft>
                      </a:pPr>
                      <a:r>
                        <a:rPr lang="en-US" sz="1100" kern="100" dirty="0">
                          <a:effectLst/>
                        </a:rPr>
                        <a:t>IP</a:t>
                      </a:r>
                      <a:r>
                        <a:rPr lang="zh-CN" sz="1100" kern="100" dirty="0">
                          <a:effectLst/>
                        </a:rPr>
                        <a:t>目的地址</a:t>
                      </a:r>
                      <a:r>
                        <a:rPr lang="en-US" sz="1100" kern="100" dirty="0">
                          <a:effectLst/>
                        </a:rPr>
                        <a:t> = 10.2.0.2</a:t>
                      </a:r>
                      <a:endParaRPr lang="zh-CN" sz="1100" kern="100" dirty="0">
                        <a:effectLst/>
                      </a:endParaRPr>
                    </a:p>
                    <a:p>
                      <a:pPr algn="just">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en-US" sz="1100" kern="100" dirty="0">
                          <a:effectLst/>
                        </a:rPr>
                        <a:t>100</a:t>
                      </a:r>
                      <a:endParaRPr lang="zh-CN" sz="1100" kern="100" dirty="0">
                        <a:effectLst/>
                      </a:endParaRPr>
                    </a:p>
                    <a:p>
                      <a:pPr algn="ctr">
                        <a:lnSpc>
                          <a:spcPts val="1900"/>
                        </a:lnSpc>
                        <a:spcAft>
                          <a:spcPts val="0"/>
                        </a:spcAft>
                      </a:pPr>
                      <a:r>
                        <a:rPr lang="en-US" sz="1100" kern="100" dirty="0">
                          <a:effectLst/>
                        </a:rPr>
                        <a:t>80</a:t>
                      </a:r>
                      <a:endParaRPr lang="zh-CN" sz="1100" kern="100" dirty="0">
                        <a:effectLst/>
                      </a:endParaRPr>
                    </a:p>
                    <a:p>
                      <a:pPr algn="ctr">
                        <a:lnSpc>
                          <a:spcPts val="1900"/>
                        </a:lnSpc>
                        <a:spcAft>
                          <a:spcPts val="0"/>
                        </a:spcAft>
                      </a:pPr>
                      <a:r>
                        <a:rPr lang="en-US" sz="1100" kern="100" dirty="0" smtClean="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zh-CN" sz="1100" kern="100" dirty="0">
                          <a:effectLst/>
                        </a:rPr>
                        <a:t>转发</a:t>
                      </a:r>
                      <a:r>
                        <a:rPr lang="en-US" sz="1100" kern="100" dirty="0">
                          <a:effectLst/>
                        </a:rPr>
                        <a:t>(4)</a:t>
                      </a:r>
                      <a:endParaRPr lang="zh-CN" sz="1100" kern="100" dirty="0">
                        <a:effectLst/>
                      </a:endParaRPr>
                    </a:p>
                    <a:p>
                      <a:pPr algn="ctr">
                        <a:lnSpc>
                          <a:spcPts val="1900"/>
                        </a:lnSpc>
                        <a:spcAft>
                          <a:spcPts val="0"/>
                        </a:spcAft>
                      </a:pPr>
                      <a:r>
                        <a:rPr lang="zh-CN" sz="1100" kern="100" dirty="0">
                          <a:effectLst/>
                        </a:rPr>
                        <a:t>转发</a:t>
                      </a:r>
                      <a:r>
                        <a:rPr lang="en-US" sz="1100" kern="100" dirty="0">
                          <a:effectLst/>
                        </a:rPr>
                        <a:t>(3)</a:t>
                      </a:r>
                      <a:endParaRPr lang="zh-CN" sz="1100" kern="100" dirty="0">
                        <a:effectLst/>
                      </a:endParaRPr>
                    </a:p>
                    <a:p>
                      <a:pPr algn="ctr">
                        <a:lnSpc>
                          <a:spcPts val="1900"/>
                        </a:lnSpc>
                        <a:spcAft>
                          <a:spcPts val="0"/>
                        </a:spcAft>
                      </a:pPr>
                      <a:r>
                        <a:rPr lang="en-US" sz="1100" kern="100" dirty="0">
                          <a:effectLst/>
                        </a:rPr>
                        <a:t>······</a:t>
                      </a:r>
                      <a:endParaRPr lang="zh-CN" sz="11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555586979"/>
                  </a:ext>
                </a:extLst>
              </a:tr>
            </a:tbl>
          </a:graphicData>
        </a:graphic>
      </p:graphicFrame>
      <p:sp>
        <p:nvSpPr>
          <p:cNvPr id="10" name="文本框 9"/>
          <p:cNvSpPr txBox="1"/>
          <p:nvPr/>
        </p:nvSpPr>
        <p:spPr>
          <a:xfrm>
            <a:off x="351741" y="2554993"/>
            <a:ext cx="340158" cy="276999"/>
          </a:xfrm>
          <a:prstGeom prst="rect">
            <a:avLst/>
          </a:prstGeom>
          <a:noFill/>
        </p:spPr>
        <p:txBody>
          <a:bodyPr wrap="none" rtlCol="0">
            <a:spAutoFit/>
          </a:bodyPr>
          <a:lstStyle/>
          <a:p>
            <a:r>
              <a:rPr lang="en-US" altLang="zh-CN" sz="1200" b="1" dirty="0" smtClean="0">
                <a:latin typeface="微软雅黑" panose="020B0503020204020204" pitchFamily="34" charset="-122"/>
                <a:ea typeface="微软雅黑" panose="020B0503020204020204" pitchFamily="34" charset="-122"/>
              </a:rPr>
              <a:t>S</a:t>
            </a:r>
            <a:r>
              <a:rPr lang="en-US" altLang="zh-CN" sz="1200" b="1" baseline="-25000" dirty="0" smtClean="0">
                <a:latin typeface="微软雅黑" panose="020B0503020204020204" pitchFamily="34" charset="-122"/>
                <a:ea typeface="微软雅黑" panose="020B0503020204020204" pitchFamily="34" charset="-122"/>
              </a:rPr>
              <a:t>1</a:t>
            </a:r>
            <a:endParaRPr lang="zh-CN" altLang="en-US" sz="1200" dirty="0"/>
          </a:p>
        </p:txBody>
      </p:sp>
      <p:sp>
        <p:nvSpPr>
          <p:cNvPr id="11" name="文本框 10"/>
          <p:cNvSpPr txBox="1"/>
          <p:nvPr/>
        </p:nvSpPr>
        <p:spPr>
          <a:xfrm>
            <a:off x="351741" y="3406383"/>
            <a:ext cx="340158" cy="276999"/>
          </a:xfrm>
          <a:prstGeom prst="rect">
            <a:avLst/>
          </a:prstGeom>
          <a:noFill/>
        </p:spPr>
        <p:txBody>
          <a:bodyPr wrap="none" rtlCol="0">
            <a:spAutoFit/>
          </a:bodyPr>
          <a:lstStyle/>
          <a:p>
            <a:r>
              <a:rPr lang="en-US" altLang="zh-CN" sz="1200" b="1" dirty="0" smtClean="0">
                <a:latin typeface="微软雅黑" panose="020B0503020204020204" pitchFamily="34" charset="-122"/>
                <a:ea typeface="微软雅黑" panose="020B0503020204020204" pitchFamily="34" charset="-122"/>
              </a:rPr>
              <a:t>S</a:t>
            </a:r>
            <a:r>
              <a:rPr lang="en-US" altLang="zh-CN" sz="1200" b="1" baseline="-25000" dirty="0" smtClean="0">
                <a:latin typeface="微软雅黑" panose="020B0503020204020204" pitchFamily="34" charset="-122"/>
                <a:ea typeface="微软雅黑" panose="020B0503020204020204" pitchFamily="34" charset="-122"/>
              </a:rPr>
              <a:t>2</a:t>
            </a:r>
            <a:endParaRPr lang="zh-CN" altLang="en-US" sz="1200" dirty="0"/>
          </a:p>
        </p:txBody>
      </p:sp>
      <p:sp>
        <p:nvSpPr>
          <p:cNvPr id="12" name="文本框 11"/>
          <p:cNvSpPr txBox="1"/>
          <p:nvPr/>
        </p:nvSpPr>
        <p:spPr>
          <a:xfrm>
            <a:off x="351741" y="4205595"/>
            <a:ext cx="340158" cy="276999"/>
          </a:xfrm>
          <a:prstGeom prst="rect">
            <a:avLst/>
          </a:prstGeom>
          <a:noFill/>
        </p:spPr>
        <p:txBody>
          <a:bodyPr wrap="none" rtlCol="0">
            <a:spAutoFit/>
          </a:bodyPr>
          <a:lstStyle/>
          <a:p>
            <a:r>
              <a:rPr lang="en-US" altLang="zh-CN" sz="1200" b="1" dirty="0" smtClean="0">
                <a:latin typeface="微软雅黑" panose="020B0503020204020204" pitchFamily="34" charset="-122"/>
                <a:ea typeface="微软雅黑" panose="020B0503020204020204" pitchFamily="34" charset="-122"/>
              </a:rPr>
              <a:t>S</a:t>
            </a:r>
            <a:r>
              <a:rPr lang="en-US" altLang="zh-CN" sz="1200" b="1" baseline="-25000" dirty="0" smtClean="0">
                <a:latin typeface="微软雅黑" panose="020B0503020204020204" pitchFamily="34" charset="-122"/>
                <a:ea typeface="微软雅黑" panose="020B0503020204020204" pitchFamily="34" charset="-122"/>
              </a:rPr>
              <a:t>3</a:t>
            </a:r>
            <a:endParaRPr lang="zh-CN" altLang="en-US" sz="1200" dirty="0"/>
          </a:p>
        </p:txBody>
      </p:sp>
      <p:sp>
        <p:nvSpPr>
          <p:cNvPr id="13" name="文本框 12"/>
          <p:cNvSpPr txBox="1"/>
          <p:nvPr/>
        </p:nvSpPr>
        <p:spPr>
          <a:xfrm>
            <a:off x="7193126" y="4153624"/>
            <a:ext cx="340158" cy="276999"/>
          </a:xfrm>
          <a:prstGeom prst="rect">
            <a:avLst/>
          </a:prstGeom>
          <a:noFill/>
        </p:spPr>
        <p:txBody>
          <a:bodyPr wrap="none" rtlCol="0">
            <a:spAutoFit/>
          </a:bodyPr>
          <a:lstStyle/>
          <a:p>
            <a:r>
              <a:rPr lang="en-US" altLang="zh-CN" sz="1200" b="1" dirty="0" smtClean="0">
                <a:latin typeface="微软雅黑" panose="020B0503020204020204" pitchFamily="34" charset="-122"/>
                <a:ea typeface="微软雅黑" panose="020B0503020204020204" pitchFamily="34" charset="-122"/>
              </a:rPr>
              <a:t>S</a:t>
            </a:r>
            <a:r>
              <a:rPr lang="en-US" altLang="zh-CN" sz="1200" b="1" baseline="-25000" dirty="0" smtClean="0">
                <a:latin typeface="微软雅黑" panose="020B0503020204020204" pitchFamily="34" charset="-122"/>
                <a:ea typeface="微软雅黑" panose="020B0503020204020204" pitchFamily="34" charset="-122"/>
              </a:rPr>
              <a:t>4</a:t>
            </a:r>
            <a:endParaRPr lang="zh-CN" altLang="en-US" sz="1200" dirty="0"/>
          </a:p>
        </p:txBody>
      </p:sp>
    </p:spTree>
    <p:custDataLst>
      <p:tags r:id="rId2"/>
    </p:custDataLst>
    <p:extLst>
      <p:ext uri="{BB962C8B-B14F-4D97-AF65-F5344CB8AC3E}">
        <p14:creationId xmlns:p14="http://schemas.microsoft.com/office/powerpoint/2010/main" val="40916509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微软雅黑" pitchFamily="34" charset="-122"/>
                <a:ea typeface="微软雅黑" pitchFamily="34" charset="-122"/>
              </a:rPr>
              <a:t>负载均衡的例子</a:t>
            </a:r>
          </a:p>
        </p:txBody>
      </p:sp>
      <p:sp>
        <p:nvSpPr>
          <p:cNvPr id="4" name="Rectangle 8"/>
          <p:cNvSpPr>
            <a:spLocks noChangeArrowheads="1"/>
          </p:cNvSpPr>
          <p:nvPr/>
        </p:nvSpPr>
        <p:spPr bwMode="auto">
          <a:xfrm>
            <a:off x="545143" y="1009413"/>
            <a:ext cx="4820607" cy="184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zh-CN" sz="1600" b="1" dirty="0">
                <a:latin typeface="微软雅黑" panose="020B0503020204020204" pitchFamily="34" charset="-122"/>
                <a:ea typeface="微软雅黑" panose="020B0503020204020204" pitchFamily="34" charset="-122"/>
              </a:rPr>
              <a:t>为了均衡路径</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4</a:t>
            </a:r>
            <a:r>
              <a:rPr lang="zh-CN" altLang="zh-CN" sz="1600" b="1" dirty="0">
                <a:latin typeface="微软雅黑" panose="020B0503020204020204" pitchFamily="34" charset="-122"/>
                <a:ea typeface="微软雅黑" panose="020B0503020204020204" pitchFamily="34" charset="-122"/>
              </a:rPr>
              <a:t>和</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4</a:t>
            </a:r>
            <a:r>
              <a:rPr lang="zh-CN" altLang="zh-CN" sz="1600" b="1" dirty="0">
                <a:latin typeface="微软雅黑" panose="020B0503020204020204" pitchFamily="34" charset="-122"/>
                <a:ea typeface="微软雅黑" panose="020B0503020204020204" pitchFamily="34" charset="-122"/>
              </a:rPr>
              <a:t>的通信量，我们将</a:t>
            </a:r>
            <a:r>
              <a:rPr lang="en-US" altLang="zh-CN" sz="1600" b="1" dirty="0">
                <a:latin typeface="微软雅黑" panose="020B0503020204020204" pitchFamily="34" charset="-122"/>
                <a:ea typeface="微软雅黑" panose="020B0503020204020204" pitchFamily="34" charset="-122"/>
              </a:rPr>
              <a:t>10.1.0.0/16</a:t>
            </a:r>
            <a:r>
              <a:rPr lang="zh-CN" altLang="zh-CN" sz="1600" b="1" dirty="0">
                <a:latin typeface="微软雅黑" panose="020B0503020204020204" pitchFamily="34" charset="-122"/>
                <a:ea typeface="微软雅黑" panose="020B0503020204020204" pitchFamily="34" charset="-122"/>
              </a:rPr>
              <a:t>访问</a:t>
            </a:r>
            <a:r>
              <a:rPr lang="en-US" altLang="zh-CN" sz="1600" b="1" dirty="0">
                <a:latin typeface="微软雅黑" panose="020B0503020204020204" pitchFamily="34" charset="-122"/>
                <a:ea typeface="微软雅黑" panose="020B0503020204020204" pitchFamily="34" charset="-122"/>
              </a:rPr>
              <a:t>10.2.0.0/16</a:t>
            </a:r>
            <a:r>
              <a:rPr lang="zh-CN" altLang="zh-CN" sz="1600" b="1" dirty="0">
                <a:latin typeface="微软雅黑" panose="020B0503020204020204" pitchFamily="34" charset="-122"/>
                <a:ea typeface="微软雅黑" panose="020B0503020204020204" pitchFamily="34" charset="-122"/>
              </a:rPr>
              <a:t>的流量平均分配到这两条不同的路径上</a:t>
            </a:r>
            <a:r>
              <a:rPr lang="zh-CN" altLang="zh-CN" sz="1600" b="1" dirty="0" smtClean="0">
                <a:latin typeface="微软雅黑" panose="020B0503020204020204" pitchFamily="34" charset="-122"/>
                <a:ea typeface="微软雅黑" panose="020B0503020204020204" pitchFamily="34" charset="-122"/>
              </a:rPr>
              <a:t>。将</a:t>
            </a:r>
            <a:r>
              <a:rPr lang="zh-CN" altLang="zh-CN" sz="1600" b="1" dirty="0">
                <a:latin typeface="微软雅黑" panose="020B0503020204020204" pitchFamily="34" charset="-122"/>
                <a:ea typeface="微软雅黑" panose="020B0503020204020204" pitchFamily="34" charset="-122"/>
              </a:rPr>
              <a:t>地址块</a:t>
            </a:r>
            <a:r>
              <a:rPr lang="en-US" altLang="zh-CN" sz="1600" b="1" dirty="0">
                <a:latin typeface="微软雅黑" panose="020B0503020204020204" pitchFamily="34" charset="-122"/>
                <a:ea typeface="微软雅黑" panose="020B0503020204020204" pitchFamily="34" charset="-122"/>
              </a:rPr>
              <a:t>10.1.0.0/16</a:t>
            </a:r>
            <a:r>
              <a:rPr lang="zh-CN" altLang="zh-CN" sz="1600" b="1" dirty="0">
                <a:latin typeface="微软雅黑" panose="020B0503020204020204" pitchFamily="34" charset="-122"/>
                <a:ea typeface="微软雅黑" panose="020B0503020204020204" pitchFamily="34" charset="-122"/>
              </a:rPr>
              <a:t>划分为两个相等的部分，并向</a:t>
            </a:r>
            <a:r>
              <a:rPr lang="en-US" altLang="zh-CN" sz="1600" b="1" dirty="0">
                <a:latin typeface="微软雅黑" panose="020B0503020204020204" pitchFamily="34" charset="-122"/>
                <a:ea typeface="微软雅黑" panose="020B0503020204020204" pitchFamily="34" charset="-122"/>
              </a:rPr>
              <a:t>S</a:t>
            </a:r>
            <a:r>
              <a:rPr lang="en-US" altLang="zh-CN" sz="1600" b="1" baseline="-25000" dirty="0">
                <a:latin typeface="微软雅黑" panose="020B0503020204020204" pitchFamily="34" charset="-122"/>
                <a:ea typeface="微软雅黑" panose="020B0503020204020204" pitchFamily="34" charset="-122"/>
              </a:rPr>
              <a:t>1</a:t>
            </a:r>
            <a:r>
              <a:rPr lang="zh-CN" altLang="zh-CN" sz="1600" b="1" dirty="0">
                <a:latin typeface="微软雅黑" panose="020B0503020204020204" pitchFamily="34" charset="-122"/>
                <a:ea typeface="微软雅黑" panose="020B0503020204020204" pitchFamily="34" charset="-122"/>
              </a:rPr>
              <a:t>下发流表项让这两部分流量沿不同的路径传输。</a:t>
            </a:r>
            <a:endParaRPr lang="en-US" altLang="zh-CN" sz="1600" b="1" dirty="0" smtClean="0">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nvGraphicFramePr>
        <p:xfrm>
          <a:off x="5302250" y="1118894"/>
          <a:ext cx="3439673" cy="2000244"/>
        </p:xfrm>
        <a:graphic>
          <a:graphicData uri="http://schemas.openxmlformats.org/presentationml/2006/ole">
            <mc:AlternateContent xmlns:mc="http://schemas.openxmlformats.org/markup-compatibility/2006">
              <mc:Choice xmlns:v="urn:schemas-microsoft-com:vml" Requires="v">
                <p:oleObj spid="_x0000_s16392" name="Presentation" r:id="rId5" imgW="4571116" imgH="3428159" progId="PowerPoint.Show.8">
                  <p:embed/>
                </p:oleObj>
              </mc:Choice>
              <mc:Fallback>
                <p:oleObj name="Presentation" r:id="rId5" imgW="4571116" imgH="3428159" progId="PowerPoint.Show.8">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l="4645" t="2835" r="19287" b="38959"/>
                      <a:stretch>
                        <a:fillRect/>
                      </a:stretch>
                    </p:blipFill>
                    <p:spPr bwMode="auto">
                      <a:xfrm>
                        <a:off x="5302250" y="1118894"/>
                        <a:ext cx="3439673" cy="2000244"/>
                      </a:xfrm>
                      <a:prstGeom prst="rect">
                        <a:avLst/>
                      </a:prstGeom>
                      <a:noFill/>
                    </p:spPr>
                  </p:pic>
                </p:oleObj>
              </mc:Fallback>
            </mc:AlternateContent>
          </a:graphicData>
        </a:graphic>
      </p:graphicFrame>
      <p:graphicFrame>
        <p:nvGraphicFramePr>
          <p:cNvPr id="7" name="表格 6"/>
          <p:cNvGraphicFramePr>
            <a:graphicFrameLocks noGrp="1"/>
          </p:cNvGraphicFramePr>
          <p:nvPr>
            <p:extLst/>
          </p:nvPr>
        </p:nvGraphicFramePr>
        <p:xfrm>
          <a:off x="1279842" y="3374549"/>
          <a:ext cx="6238559" cy="971391"/>
        </p:xfrm>
        <a:graphic>
          <a:graphicData uri="http://schemas.openxmlformats.org/drawingml/2006/table">
            <a:tbl>
              <a:tblPr firstRow="1" firstCol="1" bandRow="1">
                <a:tableStyleId>{5A111915-BE36-4E01-A7E5-04B1672EAD32}</a:tableStyleId>
              </a:tblPr>
              <a:tblGrid>
                <a:gridCol w="4216718">
                  <a:extLst>
                    <a:ext uri="{9D8B030D-6E8A-4147-A177-3AD203B41FA5}">
                      <a16:colId xmlns:a16="http://schemas.microsoft.com/office/drawing/2014/main" val="1682421656"/>
                    </a:ext>
                  </a:extLst>
                </a:gridCol>
                <a:gridCol w="1110868">
                  <a:extLst>
                    <a:ext uri="{9D8B030D-6E8A-4147-A177-3AD203B41FA5}">
                      <a16:colId xmlns:a16="http://schemas.microsoft.com/office/drawing/2014/main" val="2610171688"/>
                    </a:ext>
                  </a:extLst>
                </a:gridCol>
                <a:gridCol w="910973">
                  <a:extLst>
                    <a:ext uri="{9D8B030D-6E8A-4147-A177-3AD203B41FA5}">
                      <a16:colId xmlns:a16="http://schemas.microsoft.com/office/drawing/2014/main" val="3017554836"/>
                    </a:ext>
                  </a:extLst>
                </a:gridCol>
              </a:tblGrid>
              <a:tr h="247491">
                <a:tc>
                  <a:txBody>
                    <a:bodyPr/>
                    <a:lstStyle/>
                    <a:p>
                      <a:pPr algn="ctr">
                        <a:lnSpc>
                          <a:spcPts val="1400"/>
                        </a:lnSpc>
                        <a:spcAft>
                          <a:spcPts val="0"/>
                        </a:spcAft>
                      </a:pPr>
                      <a:r>
                        <a:rPr lang="zh-CN" sz="1200" kern="100" dirty="0">
                          <a:effectLst/>
                        </a:rPr>
                        <a:t>匹配字段</a:t>
                      </a:r>
                      <a:endParaRPr lang="zh-CN" sz="1200" b="1" kern="100" dirty="0">
                        <a:effectLst/>
                        <a:latin typeface="+mn-ea"/>
                        <a:ea typeface="+mn-ea"/>
                      </a:endParaRPr>
                    </a:p>
                  </a:txBody>
                  <a:tcPr marL="68580" marR="68580" marT="0" marB="0" anchor="ctr"/>
                </a:tc>
                <a:tc>
                  <a:txBody>
                    <a:bodyPr/>
                    <a:lstStyle/>
                    <a:p>
                      <a:pPr algn="ctr">
                        <a:lnSpc>
                          <a:spcPts val="1400"/>
                        </a:lnSpc>
                        <a:spcAft>
                          <a:spcPts val="0"/>
                        </a:spcAft>
                      </a:pPr>
                      <a:r>
                        <a:rPr lang="zh-CN" sz="1200" kern="100" dirty="0">
                          <a:effectLst/>
                        </a:rPr>
                        <a:t>优先级</a:t>
                      </a:r>
                      <a:endParaRPr lang="zh-CN" sz="1200" b="1" kern="100" dirty="0">
                        <a:effectLst/>
                        <a:latin typeface="+mn-ea"/>
                        <a:ea typeface="+mn-ea"/>
                      </a:endParaRPr>
                    </a:p>
                  </a:txBody>
                  <a:tcPr marL="68580" marR="68580" marT="0" marB="0" anchor="ctr"/>
                </a:tc>
                <a:tc>
                  <a:txBody>
                    <a:bodyPr/>
                    <a:lstStyle/>
                    <a:p>
                      <a:pPr algn="ctr">
                        <a:lnSpc>
                          <a:spcPts val="1400"/>
                        </a:lnSpc>
                        <a:spcAft>
                          <a:spcPts val="0"/>
                        </a:spcAft>
                      </a:pPr>
                      <a:r>
                        <a:rPr lang="zh-CN" sz="1200" kern="100" dirty="0">
                          <a:effectLst/>
                        </a:rPr>
                        <a:t>指令</a:t>
                      </a:r>
                      <a:endParaRPr lang="zh-CN" sz="1200" b="1" kern="100" dirty="0">
                        <a:effectLst/>
                        <a:latin typeface="+mn-ea"/>
                        <a:ea typeface="+mn-ea"/>
                      </a:endParaRPr>
                    </a:p>
                  </a:txBody>
                  <a:tcPr marL="68580" marR="68580" marT="0" marB="0" anchor="ctr"/>
                </a:tc>
                <a:extLst>
                  <a:ext uri="{0D108BD9-81ED-4DB2-BD59-A6C34878D82A}">
                    <a16:rowId xmlns:a16="http://schemas.microsoft.com/office/drawing/2014/main" val="588455955"/>
                  </a:ext>
                </a:extLst>
              </a:tr>
              <a:tr h="0">
                <a:tc>
                  <a:txBody>
                    <a:bodyPr/>
                    <a:lstStyle/>
                    <a:p>
                      <a:pPr algn="just">
                        <a:lnSpc>
                          <a:spcPts val="1900"/>
                        </a:lnSpc>
                        <a:spcAft>
                          <a:spcPts val="0"/>
                        </a:spcAft>
                      </a:pPr>
                      <a:r>
                        <a:rPr lang="en-US" sz="1200" kern="100" dirty="0">
                          <a:effectLst/>
                        </a:rPr>
                        <a:t>IP</a:t>
                      </a:r>
                      <a:r>
                        <a:rPr lang="zh-CN" sz="1200" kern="100" dirty="0">
                          <a:effectLst/>
                        </a:rPr>
                        <a:t>源地址</a:t>
                      </a:r>
                      <a:r>
                        <a:rPr lang="en-US" sz="1200" kern="100" dirty="0">
                          <a:effectLst/>
                        </a:rPr>
                        <a:t> = 10.1.0.0/17</a:t>
                      </a:r>
                      <a:r>
                        <a:rPr lang="zh-CN" sz="1200" kern="100" dirty="0">
                          <a:effectLst/>
                        </a:rPr>
                        <a:t>；</a:t>
                      </a:r>
                      <a:r>
                        <a:rPr lang="en-US" sz="1200" kern="100" dirty="0">
                          <a:effectLst/>
                        </a:rPr>
                        <a:t>IP</a:t>
                      </a:r>
                      <a:r>
                        <a:rPr lang="zh-CN" sz="1200" kern="100" dirty="0">
                          <a:effectLst/>
                        </a:rPr>
                        <a:t>目的地址</a:t>
                      </a:r>
                      <a:r>
                        <a:rPr lang="en-US" sz="1200" kern="100" dirty="0">
                          <a:effectLst/>
                        </a:rPr>
                        <a:t> = 10.2.0.0/16</a:t>
                      </a:r>
                      <a:endParaRPr lang="zh-CN" sz="1200" kern="100" dirty="0">
                        <a:effectLst/>
                      </a:endParaRPr>
                    </a:p>
                    <a:p>
                      <a:pPr algn="just">
                        <a:lnSpc>
                          <a:spcPts val="1900"/>
                        </a:lnSpc>
                        <a:spcAft>
                          <a:spcPts val="0"/>
                        </a:spcAft>
                      </a:pPr>
                      <a:r>
                        <a:rPr lang="en-US" sz="1200" kern="100" dirty="0">
                          <a:effectLst/>
                        </a:rPr>
                        <a:t>IP</a:t>
                      </a:r>
                      <a:r>
                        <a:rPr lang="zh-CN" sz="1200" kern="100" dirty="0">
                          <a:effectLst/>
                        </a:rPr>
                        <a:t>源地址</a:t>
                      </a:r>
                      <a:r>
                        <a:rPr lang="en-US" sz="1200" kern="100" dirty="0">
                          <a:effectLst/>
                        </a:rPr>
                        <a:t> = 10.1.128.0/17</a:t>
                      </a:r>
                      <a:r>
                        <a:rPr lang="zh-CN" sz="1200" kern="100" dirty="0">
                          <a:effectLst/>
                        </a:rPr>
                        <a:t>；</a:t>
                      </a:r>
                      <a:r>
                        <a:rPr lang="en-US" sz="1200" kern="100" dirty="0">
                          <a:effectLst/>
                        </a:rPr>
                        <a:t>IP</a:t>
                      </a:r>
                      <a:r>
                        <a:rPr lang="zh-CN" sz="1200" kern="100" dirty="0">
                          <a:effectLst/>
                        </a:rPr>
                        <a:t>目的地址</a:t>
                      </a:r>
                      <a:r>
                        <a:rPr lang="en-US" sz="1200" kern="100" dirty="0">
                          <a:effectLst/>
                        </a:rPr>
                        <a:t> = 10.2.0.0/16</a:t>
                      </a:r>
                      <a:endParaRPr lang="zh-CN" sz="1200" kern="100" dirty="0">
                        <a:effectLst/>
                      </a:endParaRPr>
                    </a:p>
                    <a:p>
                      <a:pPr algn="just">
                        <a:lnSpc>
                          <a:spcPts val="1900"/>
                        </a:lnSpc>
                        <a:spcAft>
                          <a:spcPts val="0"/>
                        </a:spcAft>
                      </a:pPr>
                      <a:r>
                        <a:rPr lang="en-US" sz="1200" kern="100" dirty="0">
                          <a:effectLst/>
                        </a:rPr>
                        <a:t>······</a:t>
                      </a:r>
                      <a:endParaRPr lang="zh-CN" sz="1200" b="1" kern="100" dirty="0">
                        <a:effectLst/>
                        <a:latin typeface="+mn-ea"/>
                        <a:ea typeface="+mn-ea"/>
                      </a:endParaRPr>
                    </a:p>
                  </a:txBody>
                  <a:tcPr marL="68580" marR="68580" marT="0" marB="0"/>
                </a:tc>
                <a:tc>
                  <a:txBody>
                    <a:bodyPr/>
                    <a:lstStyle/>
                    <a:p>
                      <a:pPr algn="ctr">
                        <a:lnSpc>
                          <a:spcPts val="1900"/>
                        </a:lnSpc>
                        <a:spcAft>
                          <a:spcPts val="0"/>
                        </a:spcAft>
                      </a:pPr>
                      <a:r>
                        <a:rPr lang="en-US" sz="1200" kern="100" dirty="0">
                          <a:effectLst/>
                        </a:rPr>
                        <a:t>100</a:t>
                      </a:r>
                      <a:endParaRPr lang="zh-CN" sz="1200" kern="100" dirty="0">
                        <a:effectLst/>
                      </a:endParaRPr>
                    </a:p>
                    <a:p>
                      <a:pPr algn="ctr">
                        <a:lnSpc>
                          <a:spcPts val="1900"/>
                        </a:lnSpc>
                        <a:spcAft>
                          <a:spcPts val="0"/>
                        </a:spcAft>
                      </a:pPr>
                      <a:r>
                        <a:rPr lang="en-US" sz="1200" kern="100" dirty="0">
                          <a:effectLst/>
                        </a:rPr>
                        <a:t>100</a:t>
                      </a:r>
                      <a:endParaRPr lang="zh-CN" sz="1200" kern="100" dirty="0">
                        <a:effectLst/>
                      </a:endParaRPr>
                    </a:p>
                    <a:p>
                      <a:pPr algn="ctr">
                        <a:lnSpc>
                          <a:spcPts val="1900"/>
                        </a:lnSpc>
                        <a:spcAft>
                          <a:spcPts val="0"/>
                        </a:spcAft>
                      </a:pPr>
                      <a:r>
                        <a:rPr lang="en-US" sz="1200" kern="100" dirty="0" smtClean="0">
                          <a:effectLst/>
                        </a:rPr>
                        <a:t>···</a:t>
                      </a:r>
                      <a:endParaRPr lang="zh-CN" sz="1200" b="1" kern="100" dirty="0">
                        <a:effectLst/>
                        <a:latin typeface="+mn-ea"/>
                        <a:ea typeface="+mn-ea"/>
                      </a:endParaRPr>
                    </a:p>
                  </a:txBody>
                  <a:tcPr marL="68580" marR="68580" marT="0" marB="0"/>
                </a:tc>
                <a:tc>
                  <a:txBody>
                    <a:bodyPr/>
                    <a:lstStyle/>
                    <a:p>
                      <a:pPr algn="ctr">
                        <a:lnSpc>
                          <a:spcPts val="1900"/>
                        </a:lnSpc>
                        <a:spcAft>
                          <a:spcPts val="0"/>
                        </a:spcAft>
                      </a:pPr>
                      <a:r>
                        <a:rPr lang="zh-CN" sz="1200" kern="100" dirty="0">
                          <a:effectLst/>
                        </a:rPr>
                        <a:t>转发</a:t>
                      </a:r>
                      <a:r>
                        <a:rPr lang="en-US" sz="1200" kern="100" dirty="0">
                          <a:effectLst/>
                        </a:rPr>
                        <a:t>(3)</a:t>
                      </a:r>
                      <a:endParaRPr lang="zh-CN" sz="1200" kern="100" dirty="0">
                        <a:effectLst/>
                      </a:endParaRPr>
                    </a:p>
                    <a:p>
                      <a:pPr algn="ctr">
                        <a:lnSpc>
                          <a:spcPts val="1900"/>
                        </a:lnSpc>
                        <a:spcAft>
                          <a:spcPts val="0"/>
                        </a:spcAft>
                      </a:pPr>
                      <a:r>
                        <a:rPr lang="zh-CN" sz="1200" kern="100" dirty="0">
                          <a:effectLst/>
                        </a:rPr>
                        <a:t>转发</a:t>
                      </a:r>
                      <a:r>
                        <a:rPr lang="en-US" sz="1200" kern="100" dirty="0">
                          <a:effectLst/>
                        </a:rPr>
                        <a:t>(2)</a:t>
                      </a:r>
                      <a:endParaRPr lang="zh-CN" sz="1200" kern="100" dirty="0">
                        <a:effectLst/>
                      </a:endParaRPr>
                    </a:p>
                    <a:p>
                      <a:pPr algn="ctr">
                        <a:lnSpc>
                          <a:spcPts val="1900"/>
                        </a:lnSpc>
                        <a:spcAft>
                          <a:spcPts val="0"/>
                        </a:spcAft>
                      </a:pPr>
                      <a:r>
                        <a:rPr lang="en-US" sz="1200" kern="100" dirty="0">
                          <a:effectLst/>
                        </a:rPr>
                        <a:t>······</a:t>
                      </a:r>
                      <a:endParaRPr lang="zh-CN" sz="1200" b="1" kern="100" dirty="0">
                        <a:effectLst/>
                        <a:latin typeface="+mn-ea"/>
                        <a:ea typeface="+mn-ea"/>
                      </a:endParaRPr>
                    </a:p>
                  </a:txBody>
                  <a:tcPr marL="68580" marR="68580" marT="0" marB="0"/>
                </a:tc>
                <a:extLst>
                  <a:ext uri="{0D108BD9-81ED-4DB2-BD59-A6C34878D82A}">
                    <a16:rowId xmlns:a16="http://schemas.microsoft.com/office/drawing/2014/main" val="638426960"/>
                  </a:ext>
                </a:extLst>
              </a:tr>
            </a:tbl>
          </a:graphicData>
        </a:graphic>
      </p:graphicFrame>
      <p:sp>
        <p:nvSpPr>
          <p:cNvPr id="8" name="文本框 7"/>
          <p:cNvSpPr txBox="1"/>
          <p:nvPr/>
        </p:nvSpPr>
        <p:spPr>
          <a:xfrm>
            <a:off x="890221" y="3710219"/>
            <a:ext cx="340158" cy="276999"/>
          </a:xfrm>
          <a:prstGeom prst="rect">
            <a:avLst/>
          </a:prstGeom>
          <a:noFill/>
        </p:spPr>
        <p:txBody>
          <a:bodyPr wrap="none" rtlCol="0">
            <a:spAutoFit/>
          </a:bodyPr>
          <a:lstStyle/>
          <a:p>
            <a:r>
              <a:rPr lang="en-US" altLang="zh-CN" sz="1200" b="1" dirty="0" smtClean="0">
                <a:latin typeface="微软雅黑" panose="020B0503020204020204" pitchFamily="34" charset="-122"/>
                <a:ea typeface="微软雅黑" panose="020B0503020204020204" pitchFamily="34" charset="-122"/>
              </a:rPr>
              <a:t>S</a:t>
            </a:r>
            <a:r>
              <a:rPr lang="en-US" altLang="zh-CN" sz="1200" b="1" baseline="-25000" dirty="0" smtClean="0">
                <a:latin typeface="微软雅黑" panose="020B0503020204020204" pitchFamily="34" charset="-122"/>
                <a:ea typeface="微软雅黑" panose="020B0503020204020204" pitchFamily="34" charset="-122"/>
              </a:rPr>
              <a:t>1</a:t>
            </a:r>
            <a:endParaRPr lang="zh-CN" altLang="en-US" sz="1200" dirty="0"/>
          </a:p>
        </p:txBody>
      </p:sp>
    </p:spTree>
    <p:custDataLst>
      <p:tags r:id="rId2"/>
    </p:custDataLst>
    <p:extLst>
      <p:ext uri="{BB962C8B-B14F-4D97-AF65-F5344CB8AC3E}">
        <p14:creationId xmlns:p14="http://schemas.microsoft.com/office/powerpoint/2010/main" val="17530815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b="1" dirty="0">
                <a:solidFill>
                  <a:schemeClr val="bg1"/>
                </a:solidFill>
                <a:latin typeface="微软雅黑" pitchFamily="34" charset="-122"/>
                <a:ea typeface="微软雅黑" pitchFamily="34" charset="-122"/>
              </a:rPr>
              <a:t>简单防火墙的例子</a:t>
            </a:r>
          </a:p>
        </p:txBody>
      </p:sp>
      <p:sp>
        <p:nvSpPr>
          <p:cNvPr id="4" name="Rectangle 8"/>
          <p:cNvSpPr>
            <a:spLocks noChangeArrowheads="1"/>
          </p:cNvSpPr>
          <p:nvPr/>
        </p:nvSpPr>
        <p:spPr bwMode="auto">
          <a:xfrm>
            <a:off x="545143" y="1009413"/>
            <a:ext cx="4496757" cy="1487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sz="1600" b="1" dirty="0" smtClean="0">
                <a:latin typeface="微软雅黑" panose="020B0503020204020204" pitchFamily="34" charset="-122"/>
                <a:ea typeface="微软雅黑" panose="020B0503020204020204" pitchFamily="34" charset="-122"/>
              </a:rPr>
              <a:t>S</a:t>
            </a:r>
            <a:r>
              <a:rPr lang="en-US" altLang="zh-CN" sz="1600" b="1" baseline="-25000" dirty="0" smtClean="0">
                <a:latin typeface="微软雅黑" panose="020B0503020204020204" pitchFamily="34" charset="-122"/>
                <a:ea typeface="微软雅黑" panose="020B0503020204020204" pitchFamily="34" charset="-122"/>
              </a:rPr>
              <a:t>4</a:t>
            </a:r>
            <a:r>
              <a:rPr lang="zh-CN" altLang="en-US" sz="1600" b="1" dirty="0" smtClean="0">
                <a:latin typeface="微软雅黑" panose="020B0503020204020204" pitchFamily="34" charset="-122"/>
                <a:ea typeface="微软雅黑" panose="020B0503020204020204" pitchFamily="34" charset="-122"/>
              </a:rPr>
              <a:t>作为防火墙</a:t>
            </a:r>
            <a:r>
              <a:rPr lang="zh-CN" altLang="zh-CN" sz="1600" b="1" dirty="0" smtClean="0">
                <a:latin typeface="微软雅黑" panose="020B0503020204020204" pitchFamily="34" charset="-122"/>
                <a:ea typeface="微软雅黑" panose="020B0503020204020204" pitchFamily="34" charset="-122"/>
              </a:rPr>
              <a:t>仅</a:t>
            </a:r>
            <a:r>
              <a:rPr lang="zh-CN" altLang="zh-CN" sz="1600" b="1" dirty="0">
                <a:latin typeface="微软雅黑" panose="020B0503020204020204" pitchFamily="34" charset="-122"/>
                <a:ea typeface="微软雅黑" panose="020B0503020204020204" pitchFamily="34" charset="-122"/>
              </a:rPr>
              <a:t>允许</a:t>
            </a:r>
            <a:r>
              <a:rPr lang="en-US" altLang="zh-CN" sz="1600" b="1" dirty="0">
                <a:latin typeface="微软雅黑" panose="020B0503020204020204" pitchFamily="34" charset="-122"/>
                <a:ea typeface="微软雅黑" panose="020B0503020204020204" pitchFamily="34" charset="-122"/>
              </a:rPr>
              <a:t>10.1.0.0/16</a:t>
            </a:r>
            <a:r>
              <a:rPr lang="zh-CN" altLang="zh-CN" sz="1600" b="1" dirty="0">
                <a:latin typeface="微软雅黑" panose="020B0503020204020204" pitchFamily="34" charset="-122"/>
                <a:ea typeface="微软雅黑" panose="020B0503020204020204" pitchFamily="34" charset="-122"/>
              </a:rPr>
              <a:t>网段内的主机访问服务器</a:t>
            </a:r>
            <a:r>
              <a:rPr lang="en-US" altLang="zh-CN" sz="1600" b="1" dirty="0">
                <a:latin typeface="微软雅黑" panose="020B0503020204020204" pitchFamily="34" charset="-122"/>
                <a:ea typeface="微软雅黑" panose="020B0503020204020204" pitchFamily="34" charset="-122"/>
              </a:rPr>
              <a:t>W</a:t>
            </a:r>
            <a:r>
              <a:rPr lang="en-US" altLang="zh-CN" sz="1600" b="1" baseline="-25000" dirty="0">
                <a:latin typeface="微软雅黑" panose="020B0503020204020204" pitchFamily="34" charset="-122"/>
                <a:ea typeface="微软雅黑" panose="020B0503020204020204" pitchFamily="34" charset="-122"/>
              </a:rPr>
              <a:t>1</a:t>
            </a:r>
            <a:r>
              <a:rPr lang="zh-CN" altLang="zh-CN" sz="1600" b="1" dirty="0">
                <a:latin typeface="微软雅黑" panose="020B0503020204020204" pitchFamily="34" charset="-122"/>
                <a:ea typeface="微软雅黑" panose="020B0503020204020204" pitchFamily="34" charset="-122"/>
              </a:rPr>
              <a:t>的</a:t>
            </a:r>
            <a:r>
              <a:rPr lang="en-US" altLang="zh-CN" sz="1600" b="1" dirty="0">
                <a:latin typeface="微软雅黑" panose="020B0503020204020204" pitchFamily="34" charset="-122"/>
                <a:ea typeface="微软雅黑" panose="020B0503020204020204" pitchFamily="34" charset="-122"/>
              </a:rPr>
              <a:t>Web</a:t>
            </a:r>
            <a:r>
              <a:rPr lang="zh-CN" altLang="zh-CN" sz="1600" b="1" dirty="0">
                <a:latin typeface="微软雅黑" panose="020B0503020204020204" pitchFamily="34" charset="-122"/>
                <a:ea typeface="微软雅黑" panose="020B0503020204020204" pitchFamily="34" charset="-122"/>
              </a:rPr>
              <a:t>服务（</a:t>
            </a:r>
            <a:r>
              <a:rPr lang="en-US" altLang="zh-CN" sz="1600" b="1" dirty="0">
                <a:latin typeface="微软雅黑" panose="020B0503020204020204" pitchFamily="34" charset="-122"/>
                <a:ea typeface="微软雅黑" panose="020B0503020204020204" pitchFamily="34" charset="-122"/>
              </a:rPr>
              <a:t>TCP</a:t>
            </a:r>
            <a:r>
              <a:rPr lang="zh-CN" altLang="zh-CN" sz="1600" b="1" dirty="0">
                <a:latin typeface="微软雅黑" panose="020B0503020204020204" pitchFamily="34" charset="-122"/>
                <a:ea typeface="微软雅黑" panose="020B0503020204020204" pitchFamily="34" charset="-122"/>
              </a:rPr>
              <a:t>端口号为</a:t>
            </a:r>
            <a:r>
              <a:rPr lang="en-US" altLang="zh-CN" sz="1600" b="1" dirty="0">
                <a:latin typeface="微软雅黑" panose="020B0503020204020204" pitchFamily="34" charset="-122"/>
                <a:ea typeface="微软雅黑" panose="020B0503020204020204" pitchFamily="34" charset="-122"/>
              </a:rPr>
              <a:t>80</a:t>
            </a:r>
            <a:r>
              <a:rPr lang="zh-CN" altLang="zh-CN" sz="1600" b="1" dirty="0">
                <a:latin typeface="微软雅黑" panose="020B0503020204020204" pitchFamily="34" charset="-122"/>
                <a:ea typeface="微软雅黑" panose="020B0503020204020204" pitchFamily="34" charset="-122"/>
              </a:rPr>
              <a:t>）、以及服务器</a:t>
            </a:r>
            <a:r>
              <a:rPr lang="en-US" altLang="zh-CN" sz="1600" b="1" dirty="0">
                <a:latin typeface="微软雅黑" panose="020B0503020204020204" pitchFamily="34" charset="-122"/>
                <a:ea typeface="微软雅黑" panose="020B0503020204020204" pitchFamily="34" charset="-122"/>
              </a:rPr>
              <a:t>W</a:t>
            </a:r>
            <a:r>
              <a:rPr lang="en-US" altLang="zh-CN" sz="1600" b="1" baseline="-25000" dirty="0">
                <a:latin typeface="微软雅黑" panose="020B0503020204020204" pitchFamily="34" charset="-122"/>
                <a:ea typeface="微软雅黑" panose="020B0503020204020204" pitchFamily="34" charset="-122"/>
              </a:rPr>
              <a:t>2</a:t>
            </a:r>
            <a:r>
              <a:rPr lang="zh-CN" altLang="zh-CN" sz="1600" b="1" dirty="0">
                <a:latin typeface="微软雅黑" panose="020B0503020204020204" pitchFamily="34" charset="-122"/>
                <a:ea typeface="微软雅黑" panose="020B0503020204020204" pitchFamily="34" charset="-122"/>
              </a:rPr>
              <a:t>的</a:t>
            </a:r>
            <a:r>
              <a:rPr lang="en-US" altLang="zh-CN" sz="1600" b="1" dirty="0">
                <a:latin typeface="微软雅黑" panose="020B0503020204020204" pitchFamily="34" charset="-122"/>
                <a:ea typeface="微软雅黑" panose="020B0503020204020204" pitchFamily="34" charset="-122"/>
              </a:rPr>
              <a:t>SMTP</a:t>
            </a:r>
            <a:r>
              <a:rPr lang="zh-CN" altLang="zh-CN" sz="1600" b="1" dirty="0">
                <a:latin typeface="微软雅黑" panose="020B0503020204020204" pitchFamily="34" charset="-122"/>
                <a:ea typeface="微软雅黑" panose="020B0503020204020204" pitchFamily="34" charset="-122"/>
              </a:rPr>
              <a:t>服务（</a:t>
            </a:r>
            <a:r>
              <a:rPr lang="en-US" altLang="zh-CN" sz="1600" b="1" dirty="0">
                <a:latin typeface="微软雅黑" panose="020B0503020204020204" pitchFamily="34" charset="-122"/>
                <a:ea typeface="微软雅黑" panose="020B0503020204020204" pitchFamily="34" charset="-122"/>
              </a:rPr>
              <a:t>TCP</a:t>
            </a:r>
            <a:r>
              <a:rPr lang="zh-CN" altLang="zh-CN" sz="1600" b="1" dirty="0">
                <a:latin typeface="微软雅黑" panose="020B0503020204020204" pitchFamily="34" charset="-122"/>
                <a:ea typeface="微软雅黑" panose="020B0503020204020204" pitchFamily="34" charset="-122"/>
              </a:rPr>
              <a:t>端口号为</a:t>
            </a:r>
            <a:r>
              <a:rPr lang="en-US" altLang="zh-CN" sz="1600" b="1" dirty="0">
                <a:latin typeface="微软雅黑" panose="020B0503020204020204" pitchFamily="34" charset="-122"/>
                <a:ea typeface="微软雅黑" panose="020B0503020204020204" pitchFamily="34" charset="-122"/>
              </a:rPr>
              <a:t>25</a:t>
            </a:r>
            <a:r>
              <a:rPr lang="zh-CN" altLang="zh-CN" sz="1600" b="1" dirty="0">
                <a:latin typeface="微软雅黑" panose="020B0503020204020204" pitchFamily="34" charset="-122"/>
                <a:ea typeface="微软雅黑" panose="020B0503020204020204" pitchFamily="34" charset="-122"/>
              </a:rPr>
              <a:t>），不允许所有其他访问。</a:t>
            </a:r>
            <a:endParaRPr lang="en-US" altLang="zh-CN" sz="1600" b="1" dirty="0" smtClean="0">
              <a:latin typeface="微软雅黑" panose="020B0503020204020204" pitchFamily="34" charset="-122"/>
              <a:ea typeface="微软雅黑" panose="020B0503020204020204" pitchFamily="34" charset="-122"/>
            </a:endParaRPr>
          </a:p>
        </p:txBody>
      </p:sp>
      <p:graphicFrame>
        <p:nvGraphicFramePr>
          <p:cNvPr id="3" name="对象 2"/>
          <p:cNvGraphicFramePr>
            <a:graphicFrameLocks noChangeAspect="1"/>
          </p:cNvGraphicFramePr>
          <p:nvPr>
            <p:extLst/>
          </p:nvPr>
        </p:nvGraphicFramePr>
        <p:xfrm>
          <a:off x="5453124" y="1046250"/>
          <a:ext cx="3439673" cy="2000244"/>
        </p:xfrm>
        <a:graphic>
          <a:graphicData uri="http://schemas.openxmlformats.org/presentationml/2006/ole">
            <mc:AlternateContent xmlns:mc="http://schemas.openxmlformats.org/markup-compatibility/2006">
              <mc:Choice xmlns:v="urn:schemas-microsoft-com:vml" Requires="v">
                <p:oleObj spid="_x0000_s17416" name="Presentation" r:id="rId5" imgW="4571116" imgH="3428159" progId="PowerPoint.Show.8">
                  <p:embed/>
                </p:oleObj>
              </mc:Choice>
              <mc:Fallback>
                <p:oleObj name="Presentation" r:id="rId5" imgW="4571116" imgH="3428159" progId="PowerPoint.Show.8">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l="4645" t="2835" r="19287" b="38959"/>
                      <a:stretch>
                        <a:fillRect/>
                      </a:stretch>
                    </p:blipFill>
                    <p:spPr bwMode="auto">
                      <a:xfrm>
                        <a:off x="5453124" y="1046250"/>
                        <a:ext cx="3439673" cy="2000244"/>
                      </a:xfrm>
                      <a:prstGeom prst="rect">
                        <a:avLst/>
                      </a:prstGeom>
                      <a:noFill/>
                    </p:spPr>
                  </p:pic>
                </p:oleObj>
              </mc:Fallback>
            </mc:AlternateContent>
          </a:graphicData>
        </a:graphic>
      </p:graphicFrame>
      <p:graphicFrame>
        <p:nvGraphicFramePr>
          <p:cNvPr id="7" name="表格 6"/>
          <p:cNvGraphicFramePr>
            <a:graphicFrameLocks noGrp="1"/>
          </p:cNvGraphicFramePr>
          <p:nvPr>
            <p:extLst/>
          </p:nvPr>
        </p:nvGraphicFramePr>
        <p:xfrm>
          <a:off x="1326832" y="3119138"/>
          <a:ext cx="5846129" cy="1460482"/>
        </p:xfrm>
        <a:graphic>
          <a:graphicData uri="http://schemas.openxmlformats.org/drawingml/2006/table">
            <a:tbl>
              <a:tblPr firstRow="1" firstCol="1" bandRow="1">
                <a:tableStyleId>{5A111915-BE36-4E01-A7E5-04B1672EAD32}</a:tableStyleId>
              </a:tblPr>
              <a:tblGrid>
                <a:gridCol w="4484688">
                  <a:extLst>
                    <a:ext uri="{9D8B030D-6E8A-4147-A177-3AD203B41FA5}">
                      <a16:colId xmlns:a16="http://schemas.microsoft.com/office/drawing/2014/main" val="2596476093"/>
                    </a:ext>
                  </a:extLst>
                </a:gridCol>
                <a:gridCol w="690880">
                  <a:extLst>
                    <a:ext uri="{9D8B030D-6E8A-4147-A177-3AD203B41FA5}">
                      <a16:colId xmlns:a16="http://schemas.microsoft.com/office/drawing/2014/main" val="4218212861"/>
                    </a:ext>
                  </a:extLst>
                </a:gridCol>
                <a:gridCol w="670561">
                  <a:extLst>
                    <a:ext uri="{9D8B030D-6E8A-4147-A177-3AD203B41FA5}">
                      <a16:colId xmlns:a16="http://schemas.microsoft.com/office/drawing/2014/main" val="1294684007"/>
                    </a:ext>
                  </a:extLst>
                </a:gridCol>
              </a:tblGrid>
              <a:tr h="253982">
                <a:tc>
                  <a:txBody>
                    <a:bodyPr/>
                    <a:lstStyle/>
                    <a:p>
                      <a:pPr algn="ctr">
                        <a:lnSpc>
                          <a:spcPts val="1900"/>
                        </a:lnSpc>
                        <a:spcAft>
                          <a:spcPts val="0"/>
                        </a:spcAft>
                      </a:pPr>
                      <a:r>
                        <a:rPr lang="zh-CN" sz="1200" kern="100" dirty="0">
                          <a:effectLst/>
                        </a:rPr>
                        <a:t>匹配字段</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900"/>
                        </a:lnSpc>
                        <a:spcAft>
                          <a:spcPts val="0"/>
                        </a:spcAft>
                      </a:pPr>
                      <a:r>
                        <a:rPr lang="zh-CN" sz="1200" kern="100" dirty="0">
                          <a:effectLst/>
                        </a:rPr>
                        <a:t>优先级</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lnSpc>
                          <a:spcPts val="1900"/>
                        </a:lnSpc>
                        <a:spcAft>
                          <a:spcPts val="0"/>
                        </a:spcAft>
                      </a:pPr>
                      <a:r>
                        <a:rPr lang="zh-CN" sz="1200" kern="100" dirty="0">
                          <a:effectLst/>
                        </a:rPr>
                        <a:t>指令</a:t>
                      </a:r>
                      <a:endParaRPr lang="zh-CN" sz="1200" kern="100"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050359238"/>
                  </a:ext>
                </a:extLst>
              </a:tr>
              <a:tr h="0">
                <a:tc>
                  <a:txBody>
                    <a:bodyPr/>
                    <a:lstStyle/>
                    <a:p>
                      <a:pPr algn="just">
                        <a:lnSpc>
                          <a:spcPts val="1900"/>
                        </a:lnSpc>
                        <a:spcAft>
                          <a:spcPts val="0"/>
                        </a:spcAft>
                      </a:pPr>
                      <a:r>
                        <a:rPr lang="en-US" sz="1200" kern="100" dirty="0">
                          <a:effectLst/>
                        </a:rPr>
                        <a:t>IP</a:t>
                      </a:r>
                      <a:r>
                        <a:rPr lang="zh-CN" sz="1200" kern="100" dirty="0">
                          <a:effectLst/>
                        </a:rPr>
                        <a:t>源地址</a:t>
                      </a:r>
                      <a:r>
                        <a:rPr lang="en-US" sz="1200" kern="100" dirty="0">
                          <a:effectLst/>
                        </a:rPr>
                        <a:t> = 10.1.0.0/16</a:t>
                      </a:r>
                      <a:r>
                        <a:rPr lang="zh-CN" sz="1200" kern="100" dirty="0">
                          <a:effectLst/>
                        </a:rPr>
                        <a:t>；</a:t>
                      </a:r>
                      <a:r>
                        <a:rPr lang="en-US" sz="1200" kern="100" dirty="0">
                          <a:effectLst/>
                        </a:rPr>
                        <a:t>IP</a:t>
                      </a:r>
                      <a:r>
                        <a:rPr lang="zh-CN" sz="1200" kern="100" dirty="0">
                          <a:effectLst/>
                        </a:rPr>
                        <a:t>目的地址</a:t>
                      </a:r>
                      <a:r>
                        <a:rPr lang="en-US" sz="1200" kern="100" dirty="0">
                          <a:effectLst/>
                        </a:rPr>
                        <a:t> = 10.2.0.1</a:t>
                      </a:r>
                      <a:r>
                        <a:rPr lang="zh-CN" sz="1200" kern="100" dirty="0">
                          <a:effectLst/>
                        </a:rPr>
                        <a:t>；</a:t>
                      </a:r>
                      <a:r>
                        <a:rPr lang="en-US" sz="1200" kern="100" dirty="0">
                          <a:effectLst/>
                        </a:rPr>
                        <a:t>TCP</a:t>
                      </a:r>
                      <a:r>
                        <a:rPr lang="zh-CN" sz="1200" kern="100" dirty="0">
                          <a:effectLst/>
                        </a:rPr>
                        <a:t>目的端口</a:t>
                      </a:r>
                      <a:r>
                        <a:rPr lang="en-US" sz="1200" kern="100" dirty="0">
                          <a:effectLst/>
                        </a:rPr>
                        <a:t> = 80</a:t>
                      </a:r>
                      <a:endParaRPr lang="zh-CN" sz="1200" kern="100" dirty="0">
                        <a:effectLst/>
                      </a:endParaRPr>
                    </a:p>
                    <a:p>
                      <a:pPr algn="just">
                        <a:lnSpc>
                          <a:spcPts val="1900"/>
                        </a:lnSpc>
                        <a:spcAft>
                          <a:spcPts val="0"/>
                        </a:spcAft>
                      </a:pPr>
                      <a:r>
                        <a:rPr lang="en-US" sz="1200" kern="100" dirty="0">
                          <a:effectLst/>
                        </a:rPr>
                        <a:t>IP</a:t>
                      </a:r>
                      <a:r>
                        <a:rPr lang="zh-CN" sz="1200" kern="100" dirty="0">
                          <a:effectLst/>
                        </a:rPr>
                        <a:t>源地址</a:t>
                      </a:r>
                      <a:r>
                        <a:rPr lang="en-US" sz="1200" kern="100" dirty="0">
                          <a:effectLst/>
                        </a:rPr>
                        <a:t> = 10.2.0.1</a:t>
                      </a:r>
                      <a:r>
                        <a:rPr lang="zh-CN" sz="1200" kern="100" dirty="0">
                          <a:effectLst/>
                        </a:rPr>
                        <a:t>；</a:t>
                      </a:r>
                      <a:r>
                        <a:rPr lang="en-US" sz="1200" kern="100" dirty="0">
                          <a:effectLst/>
                        </a:rPr>
                        <a:t>IP</a:t>
                      </a:r>
                      <a:r>
                        <a:rPr lang="zh-CN" sz="1200" kern="100" dirty="0">
                          <a:effectLst/>
                        </a:rPr>
                        <a:t>目的地址</a:t>
                      </a:r>
                      <a:r>
                        <a:rPr lang="en-US" sz="1200" kern="100" dirty="0">
                          <a:effectLst/>
                        </a:rPr>
                        <a:t> = 10.1.0.0/16</a:t>
                      </a:r>
                      <a:r>
                        <a:rPr lang="zh-CN" sz="1200" kern="100" dirty="0">
                          <a:effectLst/>
                        </a:rPr>
                        <a:t>；</a:t>
                      </a:r>
                      <a:r>
                        <a:rPr lang="en-US" sz="1200" kern="100" dirty="0">
                          <a:effectLst/>
                        </a:rPr>
                        <a:t>TCP</a:t>
                      </a:r>
                      <a:r>
                        <a:rPr lang="zh-CN" sz="1200" kern="100" dirty="0">
                          <a:effectLst/>
                        </a:rPr>
                        <a:t>源端口</a:t>
                      </a:r>
                      <a:r>
                        <a:rPr lang="en-US" sz="1200" kern="100" dirty="0">
                          <a:effectLst/>
                        </a:rPr>
                        <a:t> = 80</a:t>
                      </a:r>
                      <a:endParaRPr lang="zh-CN" sz="1200" kern="100" dirty="0">
                        <a:effectLst/>
                      </a:endParaRPr>
                    </a:p>
                    <a:p>
                      <a:pPr algn="just">
                        <a:lnSpc>
                          <a:spcPts val="1900"/>
                        </a:lnSpc>
                        <a:spcAft>
                          <a:spcPts val="0"/>
                        </a:spcAft>
                      </a:pPr>
                      <a:r>
                        <a:rPr lang="en-US" sz="1200" kern="100" dirty="0">
                          <a:effectLst/>
                        </a:rPr>
                        <a:t>IP</a:t>
                      </a:r>
                      <a:r>
                        <a:rPr lang="zh-CN" sz="1200" kern="100" dirty="0">
                          <a:effectLst/>
                        </a:rPr>
                        <a:t>源地址</a:t>
                      </a:r>
                      <a:r>
                        <a:rPr lang="en-US" sz="1200" kern="100" dirty="0">
                          <a:effectLst/>
                        </a:rPr>
                        <a:t> = 10.1.0.0/16</a:t>
                      </a:r>
                      <a:r>
                        <a:rPr lang="zh-CN" sz="1200" kern="100" dirty="0">
                          <a:effectLst/>
                        </a:rPr>
                        <a:t>；</a:t>
                      </a:r>
                      <a:r>
                        <a:rPr lang="en-US" sz="1200" kern="100" dirty="0">
                          <a:effectLst/>
                        </a:rPr>
                        <a:t>IP</a:t>
                      </a:r>
                      <a:r>
                        <a:rPr lang="zh-CN" sz="1200" kern="100" dirty="0">
                          <a:effectLst/>
                        </a:rPr>
                        <a:t>目的地址</a:t>
                      </a:r>
                      <a:r>
                        <a:rPr lang="en-US" sz="1200" kern="100" dirty="0">
                          <a:effectLst/>
                        </a:rPr>
                        <a:t> = 10.2.0.2</a:t>
                      </a:r>
                      <a:r>
                        <a:rPr lang="zh-CN" sz="1200" kern="100" dirty="0">
                          <a:effectLst/>
                        </a:rPr>
                        <a:t>；</a:t>
                      </a:r>
                      <a:r>
                        <a:rPr lang="en-US" sz="1200" kern="100" dirty="0">
                          <a:effectLst/>
                        </a:rPr>
                        <a:t>TCP</a:t>
                      </a:r>
                      <a:r>
                        <a:rPr lang="zh-CN" sz="1200" kern="100" dirty="0">
                          <a:effectLst/>
                        </a:rPr>
                        <a:t>目的端口</a:t>
                      </a:r>
                      <a:r>
                        <a:rPr lang="en-US" sz="1200" kern="100" dirty="0">
                          <a:effectLst/>
                        </a:rPr>
                        <a:t> = 25</a:t>
                      </a:r>
                      <a:endParaRPr lang="zh-CN" sz="1200" kern="100" dirty="0">
                        <a:effectLst/>
                      </a:endParaRPr>
                    </a:p>
                    <a:p>
                      <a:pPr algn="just">
                        <a:lnSpc>
                          <a:spcPts val="1900"/>
                        </a:lnSpc>
                        <a:spcAft>
                          <a:spcPts val="0"/>
                        </a:spcAft>
                      </a:pPr>
                      <a:r>
                        <a:rPr lang="en-US" sz="1200" kern="100" dirty="0">
                          <a:effectLst/>
                        </a:rPr>
                        <a:t>IP</a:t>
                      </a:r>
                      <a:r>
                        <a:rPr lang="zh-CN" sz="1200" kern="100" dirty="0">
                          <a:effectLst/>
                        </a:rPr>
                        <a:t>源地址</a:t>
                      </a:r>
                      <a:r>
                        <a:rPr lang="en-US" sz="1200" kern="100" dirty="0">
                          <a:effectLst/>
                        </a:rPr>
                        <a:t> = 10.2.0.2</a:t>
                      </a:r>
                      <a:r>
                        <a:rPr lang="zh-CN" sz="1200" kern="100" dirty="0">
                          <a:effectLst/>
                        </a:rPr>
                        <a:t>；</a:t>
                      </a:r>
                      <a:r>
                        <a:rPr lang="en-US" sz="1200" kern="100" dirty="0">
                          <a:effectLst/>
                        </a:rPr>
                        <a:t>IP</a:t>
                      </a:r>
                      <a:r>
                        <a:rPr lang="zh-CN" sz="1200" kern="100" dirty="0">
                          <a:effectLst/>
                        </a:rPr>
                        <a:t>目的地址</a:t>
                      </a:r>
                      <a:r>
                        <a:rPr lang="en-US" sz="1200" kern="100" dirty="0">
                          <a:effectLst/>
                        </a:rPr>
                        <a:t> = 10.1.0.0/16</a:t>
                      </a:r>
                      <a:r>
                        <a:rPr lang="zh-CN" sz="1200" kern="100" dirty="0">
                          <a:effectLst/>
                        </a:rPr>
                        <a:t>；</a:t>
                      </a:r>
                      <a:r>
                        <a:rPr lang="en-US" sz="1200" kern="100" dirty="0">
                          <a:effectLst/>
                        </a:rPr>
                        <a:t>TCP</a:t>
                      </a:r>
                      <a:r>
                        <a:rPr lang="zh-CN" sz="1200" kern="100" dirty="0">
                          <a:effectLst/>
                        </a:rPr>
                        <a:t>源端口</a:t>
                      </a:r>
                      <a:r>
                        <a:rPr lang="en-US" sz="1200" kern="100" dirty="0">
                          <a:effectLst/>
                        </a:rPr>
                        <a:t> = 25</a:t>
                      </a:r>
                      <a:endParaRPr lang="zh-CN" sz="1200" kern="100" dirty="0">
                        <a:effectLst/>
                      </a:endParaRPr>
                    </a:p>
                    <a:p>
                      <a:pPr algn="just">
                        <a:lnSpc>
                          <a:spcPts val="1900"/>
                        </a:lnSpc>
                        <a:spcAft>
                          <a:spcPts val="0"/>
                        </a:spcAft>
                      </a:pPr>
                      <a:r>
                        <a:rPr lang="en-US" sz="1200" kern="100" dirty="0">
                          <a:effectLst/>
                        </a:rPr>
                        <a:t>*</a:t>
                      </a:r>
                      <a:endParaRPr lang="zh-CN" sz="1200" kern="100" dirty="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en-US" sz="1200" kern="100">
                          <a:effectLst/>
                        </a:rPr>
                        <a:t>100</a:t>
                      </a:r>
                      <a:endParaRPr lang="zh-CN" sz="1200" kern="100">
                        <a:effectLst/>
                      </a:endParaRPr>
                    </a:p>
                    <a:p>
                      <a:pPr algn="ctr">
                        <a:lnSpc>
                          <a:spcPts val="1900"/>
                        </a:lnSpc>
                        <a:spcAft>
                          <a:spcPts val="0"/>
                        </a:spcAft>
                      </a:pPr>
                      <a:r>
                        <a:rPr lang="en-US" sz="1200" kern="100">
                          <a:effectLst/>
                        </a:rPr>
                        <a:t>100</a:t>
                      </a:r>
                      <a:endParaRPr lang="zh-CN" sz="1200" kern="100">
                        <a:effectLst/>
                      </a:endParaRPr>
                    </a:p>
                    <a:p>
                      <a:pPr algn="ctr">
                        <a:lnSpc>
                          <a:spcPts val="1900"/>
                        </a:lnSpc>
                        <a:spcAft>
                          <a:spcPts val="0"/>
                        </a:spcAft>
                      </a:pPr>
                      <a:r>
                        <a:rPr lang="en-US" sz="1200" kern="100">
                          <a:effectLst/>
                        </a:rPr>
                        <a:t>100</a:t>
                      </a:r>
                      <a:endParaRPr lang="zh-CN" sz="1200" kern="100">
                        <a:effectLst/>
                      </a:endParaRPr>
                    </a:p>
                    <a:p>
                      <a:pPr algn="ctr">
                        <a:lnSpc>
                          <a:spcPts val="1900"/>
                        </a:lnSpc>
                        <a:spcAft>
                          <a:spcPts val="0"/>
                        </a:spcAft>
                      </a:pPr>
                      <a:r>
                        <a:rPr lang="en-US" sz="1200" kern="100">
                          <a:effectLst/>
                        </a:rPr>
                        <a:t>100</a:t>
                      </a:r>
                      <a:endParaRPr lang="zh-CN" sz="1200" kern="100">
                        <a:effectLst/>
                      </a:endParaRPr>
                    </a:p>
                    <a:p>
                      <a:pPr algn="ctr">
                        <a:lnSpc>
                          <a:spcPts val="1900"/>
                        </a:lnSpc>
                        <a:spcAft>
                          <a:spcPts val="0"/>
                        </a:spcAft>
                      </a:pPr>
                      <a:r>
                        <a:rPr lang="en-US" sz="1200" kern="100">
                          <a:effectLst/>
                        </a:rPr>
                        <a:t>0</a:t>
                      </a:r>
                      <a:endParaRPr lang="zh-CN" sz="1200" kern="100">
                        <a:effectLst/>
                        <a:latin typeface="Times New Roman" panose="02020603050405020304" pitchFamily="18" charset="0"/>
                        <a:ea typeface="宋体" panose="02010600030101010101" pitchFamily="2" charset="-122"/>
                      </a:endParaRPr>
                    </a:p>
                  </a:txBody>
                  <a:tcPr marL="68580" marR="68580" marT="0" marB="0"/>
                </a:tc>
                <a:tc>
                  <a:txBody>
                    <a:bodyPr/>
                    <a:lstStyle/>
                    <a:p>
                      <a:pPr algn="ctr">
                        <a:lnSpc>
                          <a:spcPts val="1900"/>
                        </a:lnSpc>
                        <a:spcAft>
                          <a:spcPts val="0"/>
                        </a:spcAft>
                      </a:pPr>
                      <a:r>
                        <a:rPr lang="zh-CN" sz="1200" kern="100" dirty="0">
                          <a:effectLst/>
                        </a:rPr>
                        <a:t>转发</a:t>
                      </a:r>
                      <a:r>
                        <a:rPr lang="en-US" sz="1200" kern="100" dirty="0">
                          <a:effectLst/>
                        </a:rPr>
                        <a:t>(4)</a:t>
                      </a:r>
                      <a:endParaRPr lang="zh-CN" sz="1200" kern="100" dirty="0">
                        <a:effectLst/>
                      </a:endParaRPr>
                    </a:p>
                    <a:p>
                      <a:pPr algn="ctr">
                        <a:lnSpc>
                          <a:spcPts val="1900"/>
                        </a:lnSpc>
                        <a:spcAft>
                          <a:spcPts val="0"/>
                        </a:spcAft>
                      </a:pPr>
                      <a:r>
                        <a:rPr lang="zh-CN" sz="1200" kern="100" dirty="0">
                          <a:effectLst/>
                        </a:rPr>
                        <a:t>转发</a:t>
                      </a:r>
                      <a:r>
                        <a:rPr lang="en-US" sz="1200" kern="100" dirty="0">
                          <a:effectLst/>
                        </a:rPr>
                        <a:t>(1)</a:t>
                      </a:r>
                      <a:endParaRPr lang="zh-CN" sz="1200" kern="100" dirty="0">
                        <a:effectLst/>
                      </a:endParaRPr>
                    </a:p>
                    <a:p>
                      <a:pPr algn="ctr">
                        <a:lnSpc>
                          <a:spcPts val="1900"/>
                        </a:lnSpc>
                        <a:spcAft>
                          <a:spcPts val="0"/>
                        </a:spcAft>
                      </a:pPr>
                      <a:r>
                        <a:rPr lang="zh-CN" sz="1200" kern="100" dirty="0">
                          <a:effectLst/>
                        </a:rPr>
                        <a:t>转发</a:t>
                      </a:r>
                      <a:r>
                        <a:rPr lang="en-US" sz="1200" kern="100" dirty="0">
                          <a:effectLst/>
                        </a:rPr>
                        <a:t>(3)</a:t>
                      </a:r>
                      <a:endParaRPr lang="zh-CN" sz="1200" kern="100" dirty="0">
                        <a:effectLst/>
                      </a:endParaRPr>
                    </a:p>
                    <a:p>
                      <a:pPr algn="ctr">
                        <a:lnSpc>
                          <a:spcPts val="1900"/>
                        </a:lnSpc>
                        <a:spcAft>
                          <a:spcPts val="0"/>
                        </a:spcAft>
                      </a:pPr>
                      <a:r>
                        <a:rPr lang="zh-CN" sz="1200" kern="100" dirty="0">
                          <a:effectLst/>
                        </a:rPr>
                        <a:t>转发</a:t>
                      </a:r>
                      <a:r>
                        <a:rPr lang="en-US" sz="1200" kern="100" dirty="0">
                          <a:effectLst/>
                        </a:rPr>
                        <a:t>(2)</a:t>
                      </a:r>
                      <a:endParaRPr lang="zh-CN" sz="1200" kern="100" dirty="0">
                        <a:effectLst/>
                      </a:endParaRPr>
                    </a:p>
                    <a:p>
                      <a:pPr algn="ctr">
                        <a:lnSpc>
                          <a:spcPts val="1900"/>
                        </a:lnSpc>
                        <a:spcAft>
                          <a:spcPts val="0"/>
                        </a:spcAft>
                      </a:pPr>
                      <a:r>
                        <a:rPr lang="zh-CN" sz="1200" kern="100" dirty="0">
                          <a:effectLst/>
                        </a:rPr>
                        <a:t>丢弃</a:t>
                      </a:r>
                      <a:endParaRPr lang="zh-CN" sz="1200" kern="100" dirty="0">
                        <a:effectLst/>
                        <a:latin typeface="Times New Roman" panose="02020603050405020304" pitchFamily="18" charset="0"/>
                        <a:ea typeface="宋体" panose="02010600030101010101" pitchFamily="2" charset="-122"/>
                      </a:endParaRPr>
                    </a:p>
                  </a:txBody>
                  <a:tcPr marL="68580" marR="68580" marT="0" marB="0"/>
                </a:tc>
                <a:extLst>
                  <a:ext uri="{0D108BD9-81ED-4DB2-BD59-A6C34878D82A}">
                    <a16:rowId xmlns:a16="http://schemas.microsoft.com/office/drawing/2014/main" val="2553851423"/>
                  </a:ext>
                </a:extLst>
              </a:tr>
            </a:tbl>
          </a:graphicData>
        </a:graphic>
      </p:graphicFrame>
      <p:sp>
        <p:nvSpPr>
          <p:cNvPr id="8" name="文本框 7"/>
          <p:cNvSpPr txBox="1"/>
          <p:nvPr/>
        </p:nvSpPr>
        <p:spPr>
          <a:xfrm>
            <a:off x="986674" y="3710879"/>
            <a:ext cx="340158" cy="276999"/>
          </a:xfrm>
          <a:prstGeom prst="rect">
            <a:avLst/>
          </a:prstGeom>
          <a:noFill/>
        </p:spPr>
        <p:txBody>
          <a:bodyPr wrap="none" rtlCol="0">
            <a:spAutoFit/>
          </a:bodyPr>
          <a:lstStyle/>
          <a:p>
            <a:r>
              <a:rPr lang="en-US" altLang="zh-CN" sz="1200" b="1" dirty="0" smtClean="0">
                <a:latin typeface="微软雅黑" panose="020B0503020204020204" pitchFamily="34" charset="-122"/>
                <a:ea typeface="微软雅黑" panose="020B0503020204020204" pitchFamily="34" charset="-122"/>
              </a:rPr>
              <a:t>S</a:t>
            </a:r>
            <a:r>
              <a:rPr lang="en-US" altLang="zh-CN" sz="1200" b="1" baseline="-25000" dirty="0" smtClean="0">
                <a:latin typeface="微软雅黑" panose="020B0503020204020204" pitchFamily="34" charset="-122"/>
                <a:ea typeface="微软雅黑" panose="020B0503020204020204" pitchFamily="34" charset="-122"/>
              </a:rPr>
              <a:t>4</a:t>
            </a:r>
            <a:endParaRPr lang="zh-CN" altLang="en-US" sz="1200" dirty="0"/>
          </a:p>
        </p:txBody>
      </p:sp>
    </p:spTree>
    <p:custDataLst>
      <p:tags r:id="rId2"/>
    </p:custDataLst>
    <p:extLst>
      <p:ext uri="{BB962C8B-B14F-4D97-AF65-F5344CB8AC3E}">
        <p14:creationId xmlns:p14="http://schemas.microsoft.com/office/powerpoint/2010/main" val="190476168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OpenFlow</a:t>
            </a:r>
            <a:r>
              <a:rPr lang="zh-CN" altLang="en-US" sz="2400" b="1" dirty="0" smtClean="0">
                <a:solidFill>
                  <a:schemeClr val="bg1"/>
                </a:solidFill>
                <a:latin typeface="微软雅黑" pitchFamily="34" charset="-122"/>
                <a:ea typeface="微软雅黑" pitchFamily="34" charset="-122"/>
              </a:rPr>
              <a:t>通道与</a:t>
            </a: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协议</a:t>
            </a:r>
          </a:p>
        </p:txBody>
      </p:sp>
      <p:sp>
        <p:nvSpPr>
          <p:cNvPr id="4" name="Rectangle 8"/>
          <p:cNvSpPr>
            <a:spLocks noChangeArrowheads="1"/>
          </p:cNvSpPr>
          <p:nvPr/>
        </p:nvSpPr>
        <p:spPr bwMode="auto">
          <a:xfrm>
            <a:off x="545143" y="1009413"/>
            <a:ext cx="788130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为了实现对</a:t>
            </a:r>
            <a:r>
              <a:rPr lang="en-US" altLang="zh-CN" b="1" dirty="0">
                <a:latin typeface="微软雅黑" pitchFamily="34" charset="-122"/>
                <a:ea typeface="微软雅黑" pitchFamily="34" charset="-122"/>
              </a:rPr>
              <a:t>OpenFlow</a:t>
            </a:r>
            <a:r>
              <a:rPr lang="zh-CN" altLang="en-US" b="1" dirty="0">
                <a:latin typeface="微软雅黑" pitchFamily="34" charset="-122"/>
                <a:ea typeface="微软雅黑" pitchFamily="34" charset="-122"/>
              </a:rPr>
              <a:t>交换机逻辑上集中的控制，控制器需要向交换机下发控制消息（如下发流表项等）、接收交换机上报的事件消息、以及查询交换机状态信息等</a:t>
            </a:r>
            <a:r>
              <a:rPr lang="zh-CN" altLang="en-US" b="1" dirty="0" smtClean="0">
                <a:latin typeface="微软雅黑" pitchFamily="34" charset="-122"/>
                <a:ea typeface="微软雅黑" pitchFamily="34" charset="-122"/>
              </a:rPr>
              <a:t>。这些通信</a:t>
            </a:r>
            <a:r>
              <a:rPr lang="zh-CN" altLang="en-US" b="1" dirty="0">
                <a:latin typeface="微软雅黑" pitchFamily="34" charset="-122"/>
                <a:ea typeface="微软雅黑" pitchFamily="34" charset="-122"/>
              </a:rPr>
              <a:t>过程所采用的协议即</a:t>
            </a:r>
            <a:r>
              <a:rPr lang="en-US" altLang="zh-CN" b="1" dirty="0">
                <a:solidFill>
                  <a:srgbClr val="C00000"/>
                </a:solidFill>
                <a:latin typeface="微软雅黑" pitchFamily="34" charset="-122"/>
                <a:ea typeface="微软雅黑" pitchFamily="34" charset="-122"/>
              </a:rPr>
              <a:t>OpenFlow</a:t>
            </a:r>
            <a:r>
              <a:rPr lang="zh-CN" altLang="en-US" b="1" dirty="0">
                <a:solidFill>
                  <a:srgbClr val="C00000"/>
                </a:solidFill>
                <a:latin typeface="微软雅黑" pitchFamily="34" charset="-122"/>
                <a:ea typeface="微软雅黑" pitchFamily="34" charset="-122"/>
              </a:rPr>
              <a:t>协议</a:t>
            </a:r>
            <a:r>
              <a:rPr lang="zh-CN" altLang="en-US" b="1" dirty="0">
                <a:latin typeface="微软雅黑" pitchFamily="34" charset="-122"/>
                <a:ea typeface="微软雅黑" pitchFamily="34" charset="-122"/>
              </a:rPr>
              <a:t>，而</a:t>
            </a:r>
            <a:r>
              <a:rPr lang="zh-CN" altLang="en-US" b="1" dirty="0">
                <a:solidFill>
                  <a:srgbClr val="C00000"/>
                </a:solidFill>
                <a:latin typeface="微软雅黑" pitchFamily="34" charset="-122"/>
                <a:ea typeface="微软雅黑" pitchFamily="34" charset="-122"/>
              </a:rPr>
              <a:t>承载该通信的逻辑通道则称为</a:t>
            </a:r>
            <a:r>
              <a:rPr lang="en-US" altLang="zh-CN" b="1" dirty="0" smtClean="0">
                <a:solidFill>
                  <a:srgbClr val="C00000"/>
                </a:solidFill>
                <a:latin typeface="微软雅黑" pitchFamily="34" charset="-122"/>
                <a:ea typeface="微软雅黑" pitchFamily="34" charset="-122"/>
              </a:rPr>
              <a:t>OpenFlow</a:t>
            </a:r>
            <a:r>
              <a:rPr lang="zh-CN" altLang="en-US" b="1" dirty="0" smtClean="0">
                <a:solidFill>
                  <a:srgbClr val="C00000"/>
                </a:solidFill>
                <a:latin typeface="微软雅黑" pitchFamily="34" charset="-122"/>
                <a:ea typeface="微软雅黑" pitchFamily="34" charset="-122"/>
              </a:rPr>
              <a:t>通道</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smtClean="0">
                <a:latin typeface="微软雅黑" pitchFamily="34" charset="-122"/>
                <a:ea typeface="微软雅黑" pitchFamily="34" charset="-122"/>
              </a:rPr>
              <a:t>交换机</a:t>
            </a:r>
            <a:r>
              <a:rPr lang="zh-CN" altLang="en-US" sz="1600" b="1" dirty="0">
                <a:latin typeface="微软雅黑" pitchFamily="34" charset="-122"/>
                <a:ea typeface="微软雅黑" pitchFamily="34" charset="-122"/>
              </a:rPr>
              <a:t>可同时</a:t>
            </a:r>
            <a:r>
              <a:rPr lang="zh-CN" altLang="en-US" sz="1600" b="1" dirty="0" smtClean="0">
                <a:latin typeface="微软雅黑" pitchFamily="34" charset="-122"/>
                <a:ea typeface="微软雅黑" pitchFamily="34" charset="-122"/>
              </a:rPr>
              <a:t>维护</a:t>
            </a:r>
            <a:r>
              <a:rPr lang="zh-CN" altLang="en-US" sz="1600" b="1" dirty="0">
                <a:latin typeface="微软雅黑" pitchFamily="34" charset="-122"/>
                <a:ea typeface="微软雅黑" pitchFamily="34" charset="-122"/>
              </a:rPr>
              <a:t>连接至不同的</a:t>
            </a:r>
            <a:r>
              <a:rPr lang="zh-CN" altLang="en-US" sz="1600" b="1" dirty="0" smtClean="0">
                <a:latin typeface="微软雅黑" pitchFamily="34" charset="-122"/>
                <a:ea typeface="微软雅黑" pitchFamily="34" charset="-122"/>
              </a:rPr>
              <a:t>控制器的多</a:t>
            </a:r>
            <a:r>
              <a:rPr lang="zh-CN" altLang="en-US" sz="1600" b="1" dirty="0">
                <a:latin typeface="微软雅黑" pitchFamily="34" charset="-122"/>
                <a:ea typeface="微软雅黑" pitchFamily="34" charset="-122"/>
              </a:rPr>
              <a:t>个</a:t>
            </a:r>
            <a:r>
              <a:rPr lang="en-US" altLang="zh-CN" sz="1600" b="1" dirty="0" smtClean="0">
                <a:latin typeface="微软雅黑" pitchFamily="34" charset="-122"/>
                <a:ea typeface="微软雅黑" pitchFamily="34" charset="-122"/>
              </a:rPr>
              <a:t>OpenFlow</a:t>
            </a:r>
            <a:r>
              <a:rPr lang="zh-CN" altLang="en-US" sz="1600" b="1" dirty="0" smtClean="0">
                <a:latin typeface="微软雅黑" pitchFamily="34" charset="-122"/>
                <a:ea typeface="微软雅黑" pitchFamily="34" charset="-122"/>
              </a:rPr>
              <a:t>通道。</a:t>
            </a:r>
            <a:endParaRPr lang="en-US" altLang="zh-CN" sz="16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en-US" altLang="zh-CN" sz="1600" b="1" dirty="0" smtClean="0">
                <a:latin typeface="微软雅黑" pitchFamily="34" charset="-122"/>
                <a:ea typeface="微软雅黑" pitchFamily="34" charset="-122"/>
              </a:rPr>
              <a:t>OpenFlow</a:t>
            </a:r>
            <a:r>
              <a:rPr lang="zh-CN" altLang="en-US" sz="1600" b="1" dirty="0" smtClean="0">
                <a:latin typeface="微软雅黑" pitchFamily="34" charset="-122"/>
                <a:ea typeface="微软雅黑" pitchFamily="34" charset="-122"/>
              </a:rPr>
              <a:t>通道通常由</a:t>
            </a:r>
            <a:r>
              <a:rPr lang="zh-CN" altLang="en-US" sz="1600" b="1" dirty="0">
                <a:latin typeface="微软雅黑" pitchFamily="34" charset="-122"/>
                <a:ea typeface="微软雅黑" pitchFamily="34" charset="-122"/>
              </a:rPr>
              <a:t>交换机主动建立到控制器的连接来</a:t>
            </a:r>
            <a:r>
              <a:rPr lang="zh-CN" altLang="en-US" sz="1600" b="1" dirty="0" smtClean="0">
                <a:latin typeface="微软雅黑" pitchFamily="34" charset="-122"/>
                <a:ea typeface="微软雅黑" pitchFamily="34" charset="-122"/>
              </a:rPr>
              <a:t>创建。</a:t>
            </a:r>
            <a:endParaRPr lang="en-US" altLang="zh-CN" sz="1600"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12717004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OpenFlow</a:t>
            </a:r>
            <a:r>
              <a:rPr lang="zh-CN" altLang="en-US" sz="2400" b="1" dirty="0" smtClean="0">
                <a:solidFill>
                  <a:schemeClr val="bg1"/>
                </a:solidFill>
                <a:latin typeface="微软雅黑" pitchFamily="34" charset="-122"/>
                <a:ea typeface="微软雅黑" pitchFamily="34" charset="-122"/>
              </a:rPr>
              <a:t>通道与</a:t>
            </a: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协议</a:t>
            </a:r>
          </a:p>
        </p:txBody>
      </p:sp>
      <p:sp>
        <p:nvSpPr>
          <p:cNvPr id="4" name="Rectangle 8"/>
          <p:cNvSpPr>
            <a:spLocks noChangeArrowheads="1"/>
          </p:cNvSpPr>
          <p:nvPr/>
        </p:nvSpPr>
        <p:spPr bwMode="auto">
          <a:xfrm>
            <a:off x="545143" y="1009413"/>
            <a:ext cx="7881307"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en-US" altLang="zh-CN" b="1" dirty="0">
                <a:latin typeface="微软雅黑" pitchFamily="34" charset="-122"/>
                <a:ea typeface="微软雅黑" pitchFamily="34" charset="-122"/>
              </a:rPr>
              <a:t>OpenFlow</a:t>
            </a:r>
            <a:r>
              <a:rPr lang="zh-CN" altLang="en-US" b="1" dirty="0">
                <a:latin typeface="微软雅黑" pitchFamily="34" charset="-122"/>
                <a:ea typeface="微软雅黑" pitchFamily="34" charset="-122"/>
              </a:rPr>
              <a:t>协议定义了控制器与交换机之间的通信规则，包括消息类型、报文格式和交互逻辑</a:t>
            </a:r>
            <a:r>
              <a:rPr lang="zh-CN" altLang="en-US" b="1" dirty="0" smtClean="0">
                <a:latin typeface="微软雅黑" pitchFamily="34" charset="-122"/>
                <a:ea typeface="微软雅黑" pitchFamily="34" charset="-122"/>
              </a:rPr>
              <a:t>等，其消息</a:t>
            </a:r>
            <a:r>
              <a:rPr lang="zh-CN" altLang="en-US" b="1" dirty="0">
                <a:latin typeface="微软雅黑" pitchFamily="34" charset="-122"/>
                <a:ea typeface="微软雅黑" pitchFamily="34" charset="-122"/>
              </a:rPr>
              <a:t>类型主要包括以下三</a:t>
            </a:r>
            <a:r>
              <a:rPr lang="zh-CN" altLang="en-US" b="1" dirty="0" smtClean="0">
                <a:latin typeface="微软雅黑" pitchFamily="34" charset="-122"/>
                <a:ea typeface="微软雅黑" pitchFamily="34" charset="-122"/>
              </a:rPr>
              <a:t>种：</a:t>
            </a:r>
            <a:endParaRPr lang="en-US" altLang="zh-CN"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控制器到交换机</a:t>
            </a:r>
            <a:r>
              <a:rPr lang="en-US" altLang="zh-CN" sz="1600" b="1" dirty="0">
                <a:solidFill>
                  <a:srgbClr val="C00000"/>
                </a:solidFill>
                <a:latin typeface="微软雅黑" pitchFamily="34" charset="-122"/>
                <a:ea typeface="微软雅黑" pitchFamily="34" charset="-122"/>
              </a:rPr>
              <a:t>(Controller-to-Switch)</a:t>
            </a:r>
            <a:r>
              <a:rPr lang="zh-CN" altLang="en-US" sz="1600" b="1" dirty="0" smtClean="0">
                <a:solidFill>
                  <a:srgbClr val="C00000"/>
                </a:solidFill>
                <a:latin typeface="微软雅黑" pitchFamily="34" charset="-122"/>
                <a:ea typeface="微软雅黑" pitchFamily="34" charset="-122"/>
              </a:rPr>
              <a:t>消息</a:t>
            </a:r>
            <a:endParaRPr lang="en-US" altLang="zh-CN" sz="1600" b="1" dirty="0" smtClean="0">
              <a:solidFill>
                <a:srgbClr val="C00000"/>
              </a:solidFill>
              <a:latin typeface="微软雅黑" pitchFamily="34" charset="-122"/>
              <a:ea typeface="微软雅黑" pitchFamily="34" charset="-122"/>
            </a:endParaRPr>
          </a:p>
          <a:p>
            <a:pPr marL="1200150" lvl="2" indent="-285750">
              <a:lnSpc>
                <a:spcPts val="3200"/>
              </a:lnSpc>
              <a:buClr>
                <a:srgbClr val="0070C0"/>
              </a:buClr>
              <a:buFont typeface="Wingdings" pitchFamily="2" charset="2"/>
              <a:buChar char="l"/>
            </a:pPr>
            <a:r>
              <a:rPr lang="zh-CN" altLang="en-US" sz="1400" b="1" dirty="0" smtClean="0">
                <a:latin typeface="微软雅黑" pitchFamily="34" charset="-122"/>
                <a:ea typeface="微软雅黑" pitchFamily="34" charset="-122"/>
              </a:rPr>
              <a:t>由</a:t>
            </a:r>
            <a:r>
              <a:rPr lang="zh-CN" altLang="en-US" sz="1400" b="1" dirty="0">
                <a:latin typeface="微软雅黑" pitchFamily="34" charset="-122"/>
                <a:ea typeface="微软雅黑" pitchFamily="34" charset="-122"/>
              </a:rPr>
              <a:t>控制器主动发起，用于配置交换机行为或查询交换机状态的指令型消息。</a:t>
            </a:r>
            <a:endParaRPr lang="en-US" altLang="zh-CN" sz="14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异步</a:t>
            </a:r>
            <a:r>
              <a:rPr lang="en-US" altLang="zh-CN" sz="1600" b="1" dirty="0">
                <a:solidFill>
                  <a:srgbClr val="C00000"/>
                </a:solidFill>
                <a:latin typeface="微软雅黑" pitchFamily="34" charset="-122"/>
                <a:ea typeface="微软雅黑" pitchFamily="34" charset="-122"/>
              </a:rPr>
              <a:t>(Asynchronous)</a:t>
            </a:r>
            <a:r>
              <a:rPr lang="zh-CN" altLang="en-US" sz="1600" b="1" dirty="0" smtClean="0">
                <a:solidFill>
                  <a:srgbClr val="C00000"/>
                </a:solidFill>
                <a:latin typeface="微软雅黑" pitchFamily="34" charset="-122"/>
                <a:ea typeface="微软雅黑" pitchFamily="34" charset="-122"/>
              </a:rPr>
              <a:t>消息</a:t>
            </a:r>
            <a:endParaRPr lang="en-US" altLang="zh-CN" sz="1600" b="1" dirty="0" smtClean="0">
              <a:solidFill>
                <a:srgbClr val="C00000"/>
              </a:solidFill>
              <a:latin typeface="微软雅黑" pitchFamily="34" charset="-122"/>
              <a:ea typeface="微软雅黑" pitchFamily="34" charset="-122"/>
            </a:endParaRPr>
          </a:p>
          <a:p>
            <a:pPr marL="1200150" lvl="2" indent="-285750">
              <a:lnSpc>
                <a:spcPts val="3200"/>
              </a:lnSpc>
              <a:buClr>
                <a:srgbClr val="0070C0"/>
              </a:buClr>
              <a:buFont typeface="Wingdings" pitchFamily="2" charset="2"/>
              <a:buChar char="l"/>
            </a:pPr>
            <a:r>
              <a:rPr lang="zh-CN" altLang="en-US" sz="1400" b="1" dirty="0" smtClean="0">
                <a:latin typeface="微软雅黑" pitchFamily="34" charset="-122"/>
                <a:ea typeface="微软雅黑" pitchFamily="34" charset="-122"/>
              </a:rPr>
              <a:t>由</a:t>
            </a:r>
            <a:r>
              <a:rPr lang="zh-CN" altLang="en-US" sz="1400" b="1" dirty="0">
                <a:latin typeface="微软雅黑" pitchFamily="34" charset="-122"/>
                <a:ea typeface="微软雅黑" pitchFamily="34" charset="-122"/>
              </a:rPr>
              <a:t>交换机主动发送至控制器，用于实时上报网络事件或反馈异常状态的异步通知</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 对称</a:t>
            </a:r>
            <a:r>
              <a:rPr lang="en-US" altLang="zh-CN" sz="1600" b="1" dirty="0">
                <a:solidFill>
                  <a:srgbClr val="C00000"/>
                </a:solidFill>
                <a:latin typeface="微软雅黑" pitchFamily="34" charset="-122"/>
                <a:ea typeface="微软雅黑" pitchFamily="34" charset="-122"/>
              </a:rPr>
              <a:t>(Symmetric)</a:t>
            </a:r>
            <a:r>
              <a:rPr lang="zh-CN" altLang="en-US" sz="1600" b="1" dirty="0" smtClean="0">
                <a:solidFill>
                  <a:srgbClr val="C00000"/>
                </a:solidFill>
                <a:latin typeface="微软雅黑" pitchFamily="34" charset="-122"/>
                <a:ea typeface="微软雅黑" pitchFamily="34" charset="-122"/>
              </a:rPr>
              <a:t>消息</a:t>
            </a:r>
            <a:endParaRPr lang="en-US" altLang="zh-CN" sz="1600" b="1" dirty="0" smtClean="0">
              <a:solidFill>
                <a:srgbClr val="C00000"/>
              </a:solidFill>
              <a:latin typeface="微软雅黑" pitchFamily="34" charset="-122"/>
              <a:ea typeface="微软雅黑" pitchFamily="34" charset="-122"/>
            </a:endParaRPr>
          </a:p>
          <a:p>
            <a:pPr marL="1200150" lvl="2" indent="-285750">
              <a:lnSpc>
                <a:spcPts val="3200"/>
              </a:lnSpc>
              <a:buClr>
                <a:srgbClr val="0070C0"/>
              </a:buClr>
              <a:buFont typeface="Wingdings" pitchFamily="2" charset="2"/>
              <a:buChar char="l"/>
            </a:pPr>
            <a:r>
              <a:rPr lang="zh-CN" altLang="en-US" sz="1400" b="1" dirty="0" smtClean="0">
                <a:latin typeface="微软雅黑" pitchFamily="34" charset="-122"/>
                <a:ea typeface="微软雅黑" pitchFamily="34" charset="-122"/>
              </a:rPr>
              <a:t>控制器</a:t>
            </a:r>
            <a:r>
              <a:rPr lang="zh-CN" altLang="en-US" sz="1400" b="1" dirty="0">
                <a:latin typeface="微软雅黑" pitchFamily="34" charset="-122"/>
                <a:ea typeface="微软雅黑" pitchFamily="34" charset="-122"/>
              </a:rPr>
              <a:t>与交换机均可主动发送，用于维护通信会话的双向控制消息。</a:t>
            </a:r>
            <a:endParaRPr lang="en-US" altLang="zh-CN" sz="1400"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41418117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fade">
                                      <p:cBhvr>
                                        <p:cTn id="23" dur="500"/>
                                        <p:tgtEl>
                                          <p:spTgt spid="4">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fade">
                                      <p:cBhvr>
                                        <p:cTn id="26"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OpenFlow</a:t>
            </a:r>
            <a:r>
              <a:rPr lang="zh-CN" altLang="en-US" sz="2400" b="1" dirty="0" smtClean="0">
                <a:solidFill>
                  <a:schemeClr val="bg1"/>
                </a:solidFill>
                <a:latin typeface="微软雅黑" pitchFamily="34" charset="-122"/>
                <a:ea typeface="微软雅黑" pitchFamily="34" charset="-122"/>
              </a:rPr>
              <a:t>通道与</a:t>
            </a: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协议</a:t>
            </a:r>
          </a:p>
        </p:txBody>
      </p:sp>
      <p:sp>
        <p:nvSpPr>
          <p:cNvPr id="4" name="Rectangle 8"/>
          <p:cNvSpPr>
            <a:spLocks noChangeArrowheads="1"/>
          </p:cNvSpPr>
          <p:nvPr/>
        </p:nvSpPr>
        <p:spPr bwMode="auto">
          <a:xfrm>
            <a:off x="545143" y="1009413"/>
            <a:ext cx="7881307" cy="3375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控制器到交换机</a:t>
            </a:r>
            <a:r>
              <a:rPr lang="en-US" altLang="zh-CN" b="1" dirty="0">
                <a:latin typeface="微软雅黑" pitchFamily="34" charset="-122"/>
                <a:ea typeface="微软雅黑" pitchFamily="34" charset="-122"/>
              </a:rPr>
              <a:t>(Controller-to-Switch)</a:t>
            </a:r>
            <a:r>
              <a:rPr lang="zh-CN" altLang="en-US" b="1" dirty="0" smtClean="0">
                <a:latin typeface="微软雅黑" pitchFamily="34" charset="-122"/>
                <a:ea typeface="微软雅黑" pitchFamily="34" charset="-122"/>
              </a:rPr>
              <a:t>消息：</a:t>
            </a:r>
            <a:endParaRPr lang="en-US" altLang="zh-CN"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修改</a:t>
            </a:r>
            <a:r>
              <a:rPr lang="zh-CN" altLang="en-US" sz="1600" b="1" dirty="0">
                <a:solidFill>
                  <a:srgbClr val="C00000"/>
                </a:solidFill>
                <a:latin typeface="微软雅黑" pitchFamily="34" charset="-122"/>
                <a:ea typeface="微软雅黑" pitchFamily="34" charset="-122"/>
              </a:rPr>
              <a:t>状态</a:t>
            </a:r>
            <a:r>
              <a:rPr lang="zh-CN" altLang="en-US" sz="1600" b="1" dirty="0">
                <a:latin typeface="微软雅黑" pitchFamily="34" charset="-122"/>
                <a:ea typeface="微软雅黑" pitchFamily="34" charset="-122"/>
              </a:rPr>
              <a:t>：控制器修改流表、流表项、交换机端口等的</a:t>
            </a:r>
            <a:r>
              <a:rPr lang="zh-CN" altLang="en-US" sz="1600" b="1" dirty="0" smtClean="0">
                <a:latin typeface="微软雅黑" pitchFamily="34" charset="-122"/>
                <a:ea typeface="微软雅黑" pitchFamily="34" charset="-122"/>
              </a:rPr>
              <a:t>状态。</a:t>
            </a:r>
            <a:endParaRPr lang="en-US" altLang="zh-CN" sz="16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握手消息</a:t>
            </a:r>
            <a:r>
              <a:rPr lang="zh-CN" altLang="en-US" sz="1600" b="1" dirty="0">
                <a:latin typeface="微软雅黑" pitchFamily="34" charset="-122"/>
                <a:ea typeface="微软雅黑" pitchFamily="34" charset="-122"/>
              </a:rPr>
              <a:t>：控制器识别交换机并获取其功能信息，包括支持的协议版本、流表数量</a:t>
            </a:r>
            <a:r>
              <a:rPr lang="zh-CN" altLang="en-US" sz="1600" b="1" dirty="0" smtClean="0">
                <a:latin typeface="微软雅黑" pitchFamily="34" charset="-122"/>
                <a:ea typeface="微软雅黑" pitchFamily="34" charset="-122"/>
              </a:rPr>
              <a:t>等。</a:t>
            </a:r>
            <a:endParaRPr lang="en-US" altLang="zh-CN" sz="16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en-US" altLang="zh-CN" sz="1600" b="1" dirty="0" err="1" smtClean="0">
                <a:solidFill>
                  <a:srgbClr val="C00000"/>
                </a:solidFill>
                <a:latin typeface="微软雅黑" pitchFamily="34" charset="-122"/>
                <a:ea typeface="微软雅黑" pitchFamily="34" charset="-122"/>
              </a:rPr>
              <a:t>Packet_Out</a:t>
            </a:r>
            <a:r>
              <a:rPr lang="zh-CN" altLang="en-US" sz="1600" b="1" dirty="0">
                <a:latin typeface="微软雅黑" pitchFamily="34" charset="-122"/>
                <a:ea typeface="微软雅黑" pitchFamily="34" charset="-122"/>
              </a:rPr>
              <a:t>：控制器通过</a:t>
            </a:r>
            <a:r>
              <a:rPr lang="en-US" altLang="zh-CN" sz="1600" b="1" dirty="0">
                <a:latin typeface="微软雅黑" pitchFamily="34" charset="-122"/>
                <a:ea typeface="微软雅黑" pitchFamily="34" charset="-122"/>
              </a:rPr>
              <a:t>OFPT_PACKET_OUT</a:t>
            </a:r>
            <a:r>
              <a:rPr lang="zh-CN" altLang="en-US" sz="1600" b="1" dirty="0">
                <a:latin typeface="微软雅黑" pitchFamily="34" charset="-122"/>
                <a:ea typeface="微软雅黑" pitchFamily="34" charset="-122"/>
              </a:rPr>
              <a:t>消息可以直接向交换机的</a:t>
            </a:r>
            <a:r>
              <a:rPr lang="zh-CN" altLang="en-US" sz="1600" b="1" dirty="0" smtClean="0">
                <a:latin typeface="微软雅黑" pitchFamily="34" charset="-122"/>
                <a:ea typeface="微软雅黑" pitchFamily="34" charset="-122"/>
              </a:rPr>
              <a:t>数据</a:t>
            </a:r>
            <a:r>
              <a:rPr lang="zh-CN" altLang="en-US" sz="1600" b="1" dirty="0">
                <a:latin typeface="微软雅黑" pitchFamily="34" charset="-122"/>
                <a:ea typeface="微软雅黑" pitchFamily="34" charset="-122"/>
              </a:rPr>
              <a:t>通路</a:t>
            </a:r>
            <a:r>
              <a:rPr lang="zh-CN" altLang="en-US" sz="1600" b="1" dirty="0" smtClean="0">
                <a:latin typeface="微软雅黑" pitchFamily="34" charset="-122"/>
                <a:ea typeface="微软雅黑" pitchFamily="34" charset="-122"/>
              </a:rPr>
              <a:t>发送</a:t>
            </a:r>
            <a:r>
              <a:rPr lang="zh-CN" altLang="en-US" sz="1600" b="1" dirty="0">
                <a:latin typeface="微软雅黑" pitchFamily="34" charset="-122"/>
                <a:ea typeface="微软雅黑" pitchFamily="34" charset="-122"/>
              </a:rPr>
              <a:t>分组，要求交换机将分组从指定端口</a:t>
            </a:r>
            <a:r>
              <a:rPr lang="zh-CN" altLang="en-US" sz="1600" b="1" dirty="0" smtClean="0">
                <a:latin typeface="微软雅黑" pitchFamily="34" charset="-122"/>
                <a:ea typeface="微软雅黑" pitchFamily="34" charset="-122"/>
              </a:rPr>
              <a:t>转发。</a:t>
            </a:r>
            <a:endParaRPr lang="zh-CN" altLang="en-US" sz="1600" b="1" dirty="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统计</a:t>
            </a:r>
            <a:r>
              <a:rPr lang="zh-CN" altLang="en-US" sz="1600" b="1" dirty="0">
                <a:solidFill>
                  <a:srgbClr val="C00000"/>
                </a:solidFill>
                <a:latin typeface="微软雅黑" pitchFamily="34" charset="-122"/>
                <a:ea typeface="微软雅黑" pitchFamily="34" charset="-122"/>
              </a:rPr>
              <a:t>信息查询</a:t>
            </a:r>
            <a:r>
              <a:rPr lang="zh-CN" altLang="en-US" sz="1600" b="1" dirty="0">
                <a:latin typeface="微软雅黑" pitchFamily="34" charset="-122"/>
                <a:ea typeface="微软雅黑" pitchFamily="34" charset="-122"/>
              </a:rPr>
              <a:t>：控制器获取交换机端口状态、流表统计信息</a:t>
            </a:r>
            <a:r>
              <a:rPr lang="zh-CN" altLang="en-US" sz="1600" b="1" dirty="0" smtClean="0">
                <a:latin typeface="微软雅黑" pitchFamily="34" charset="-122"/>
                <a:ea typeface="微软雅黑" pitchFamily="34" charset="-122"/>
              </a:rPr>
              <a:t>等。</a:t>
            </a:r>
            <a:endParaRPr lang="zh-CN" altLang="en-US" sz="1600" b="1" dirty="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endParaRPr lang="en-US" altLang="zh-CN" sz="1600"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21839764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OpenFlow</a:t>
            </a:r>
            <a:r>
              <a:rPr lang="zh-CN" altLang="en-US" sz="2400" b="1" dirty="0" smtClean="0">
                <a:solidFill>
                  <a:schemeClr val="bg1"/>
                </a:solidFill>
                <a:latin typeface="微软雅黑" pitchFamily="34" charset="-122"/>
                <a:ea typeface="微软雅黑" pitchFamily="34" charset="-122"/>
              </a:rPr>
              <a:t>通道与</a:t>
            </a: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协议</a:t>
            </a:r>
          </a:p>
        </p:txBody>
      </p:sp>
      <p:sp>
        <p:nvSpPr>
          <p:cNvPr id="4" name="Rectangle 8"/>
          <p:cNvSpPr>
            <a:spLocks noChangeArrowheads="1"/>
          </p:cNvSpPr>
          <p:nvPr/>
        </p:nvSpPr>
        <p:spPr bwMode="auto">
          <a:xfrm>
            <a:off x="545143" y="1009413"/>
            <a:ext cx="7881307" cy="173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 异步</a:t>
            </a:r>
            <a:r>
              <a:rPr lang="en-US" altLang="zh-CN" b="1" dirty="0">
                <a:latin typeface="微软雅黑" pitchFamily="34" charset="-122"/>
                <a:ea typeface="微软雅黑" pitchFamily="34" charset="-122"/>
              </a:rPr>
              <a:t>(Asynchronous)</a:t>
            </a:r>
            <a:r>
              <a:rPr lang="zh-CN" altLang="en-US" b="1" dirty="0">
                <a:latin typeface="微软雅黑" pitchFamily="34" charset="-122"/>
                <a:ea typeface="微软雅黑" pitchFamily="34" charset="-122"/>
              </a:rPr>
              <a:t>消息：</a:t>
            </a:r>
            <a:endParaRPr lang="en-US" altLang="zh-CN"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en-US" altLang="zh-CN" sz="1600" b="1" dirty="0" err="1" smtClean="0">
                <a:solidFill>
                  <a:srgbClr val="C00000"/>
                </a:solidFill>
                <a:latin typeface="微软雅黑" pitchFamily="34" charset="-122"/>
                <a:ea typeface="微软雅黑" pitchFamily="34" charset="-122"/>
              </a:rPr>
              <a:t>Packet_In</a:t>
            </a:r>
            <a:r>
              <a:rPr lang="zh-CN" altLang="en-US" sz="1600" b="1" dirty="0">
                <a:latin typeface="微软雅黑" pitchFamily="34" charset="-122"/>
                <a:ea typeface="微软雅黑" pitchFamily="34" charset="-122"/>
              </a:rPr>
              <a:t>：当交换机需要将收到的分组发送至控制器时，使用</a:t>
            </a:r>
            <a:r>
              <a:rPr lang="en-US" altLang="zh-CN" sz="1600" b="1" dirty="0">
                <a:latin typeface="微软雅黑" pitchFamily="34" charset="-122"/>
                <a:ea typeface="微软雅黑" pitchFamily="34" charset="-122"/>
              </a:rPr>
              <a:t>OFPT_PACKET_IN</a:t>
            </a:r>
            <a:r>
              <a:rPr lang="zh-CN" altLang="en-US" sz="1600" b="1" dirty="0">
                <a:latin typeface="微软雅黑" pitchFamily="34" charset="-122"/>
                <a:ea typeface="微软雅黑" pitchFamily="34" charset="-122"/>
              </a:rPr>
              <a:t>消息来发送</a:t>
            </a:r>
            <a:r>
              <a:rPr lang="zh-CN" altLang="en-US" sz="1600" b="1" dirty="0" smtClean="0">
                <a:latin typeface="微软雅黑" pitchFamily="34" charset="-122"/>
                <a:ea typeface="微软雅黑" pitchFamily="34" charset="-122"/>
              </a:rPr>
              <a:t>分组。</a:t>
            </a:r>
            <a:endParaRPr lang="en-US" altLang="zh-CN" sz="1600"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状态</a:t>
            </a:r>
            <a:r>
              <a:rPr lang="zh-CN" altLang="en-US" sz="1600" b="1" dirty="0">
                <a:solidFill>
                  <a:srgbClr val="C00000"/>
                </a:solidFill>
                <a:latin typeface="微软雅黑" pitchFamily="34" charset="-122"/>
                <a:ea typeface="微软雅黑" pitchFamily="34" charset="-122"/>
              </a:rPr>
              <a:t>变更通知</a:t>
            </a:r>
            <a:r>
              <a:rPr lang="zh-CN" altLang="en-US" sz="1600" b="1" dirty="0">
                <a:latin typeface="微软雅黑" pitchFamily="34" charset="-122"/>
                <a:ea typeface="微软雅黑" pitchFamily="34" charset="-122"/>
              </a:rPr>
              <a:t>：上报流表项删除、端口状态变化等状态</a:t>
            </a:r>
            <a:r>
              <a:rPr lang="zh-CN" altLang="en-US" sz="1600" b="1" dirty="0" smtClean="0">
                <a:latin typeface="微软雅黑" pitchFamily="34" charset="-122"/>
                <a:ea typeface="微软雅黑" pitchFamily="34" charset="-122"/>
              </a:rPr>
              <a:t>信息。</a:t>
            </a:r>
            <a:endParaRPr lang="zh-CN" altLang="en-US" sz="1600" b="1" dirty="0">
              <a:latin typeface="微软雅黑" pitchFamily="34" charset="-122"/>
              <a:ea typeface="微软雅黑" pitchFamily="34" charset="-122"/>
            </a:endParaRPr>
          </a:p>
        </p:txBody>
      </p:sp>
    </p:spTree>
    <p:extLst>
      <p:ext uri="{BB962C8B-B14F-4D97-AF65-F5344CB8AC3E}">
        <p14:creationId xmlns:p14="http://schemas.microsoft.com/office/powerpoint/2010/main" val="384756589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OpenFlow</a:t>
            </a:r>
            <a:r>
              <a:rPr lang="zh-CN" altLang="en-US" sz="2400" b="1" dirty="0" smtClean="0">
                <a:solidFill>
                  <a:schemeClr val="bg1"/>
                </a:solidFill>
                <a:latin typeface="微软雅黑" pitchFamily="34" charset="-122"/>
                <a:ea typeface="微软雅黑" pitchFamily="34" charset="-122"/>
              </a:rPr>
              <a:t>通道与</a:t>
            </a:r>
            <a:r>
              <a:rPr lang="en-US" altLang="zh-CN" sz="2400" b="1" dirty="0">
                <a:solidFill>
                  <a:schemeClr val="bg1"/>
                </a:solidFill>
                <a:latin typeface="微软雅黑" pitchFamily="34" charset="-122"/>
                <a:ea typeface="微软雅黑" pitchFamily="34" charset="-122"/>
              </a:rPr>
              <a:t>OpenFlow</a:t>
            </a:r>
            <a:r>
              <a:rPr lang="zh-CN" altLang="en-US" sz="2400" b="1" dirty="0">
                <a:solidFill>
                  <a:schemeClr val="bg1"/>
                </a:solidFill>
                <a:latin typeface="微软雅黑" pitchFamily="34" charset="-122"/>
                <a:ea typeface="微软雅黑" pitchFamily="34" charset="-122"/>
              </a:rPr>
              <a:t>协议</a:t>
            </a:r>
          </a:p>
        </p:txBody>
      </p:sp>
      <p:sp>
        <p:nvSpPr>
          <p:cNvPr id="4" name="Rectangle 8"/>
          <p:cNvSpPr>
            <a:spLocks noChangeArrowheads="1"/>
          </p:cNvSpPr>
          <p:nvPr/>
        </p:nvSpPr>
        <p:spPr bwMode="auto">
          <a:xfrm>
            <a:off x="545143" y="1009413"/>
            <a:ext cx="788130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zh-CN" altLang="en-US" b="1" dirty="0">
                <a:latin typeface="微软雅黑" pitchFamily="34" charset="-122"/>
                <a:ea typeface="微软雅黑" pitchFamily="34" charset="-122"/>
              </a:rPr>
              <a:t>对称</a:t>
            </a:r>
            <a:r>
              <a:rPr lang="en-US" altLang="zh-CN" b="1" dirty="0">
                <a:latin typeface="微软雅黑" pitchFamily="34" charset="-122"/>
                <a:ea typeface="微软雅黑" pitchFamily="34" charset="-122"/>
              </a:rPr>
              <a:t>(Symmetric)</a:t>
            </a:r>
            <a:r>
              <a:rPr lang="zh-CN" altLang="en-US" b="1" dirty="0">
                <a:latin typeface="微软雅黑" pitchFamily="34" charset="-122"/>
                <a:ea typeface="微软雅黑" pitchFamily="34" charset="-122"/>
              </a:rPr>
              <a:t>消息：</a:t>
            </a:r>
            <a:endParaRPr lang="en-US" altLang="zh-CN" b="1" dirty="0" smtClean="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协议</a:t>
            </a:r>
            <a:r>
              <a:rPr lang="zh-CN" altLang="en-US" sz="1600" b="1" dirty="0">
                <a:solidFill>
                  <a:srgbClr val="C00000"/>
                </a:solidFill>
                <a:latin typeface="微软雅黑" pitchFamily="34" charset="-122"/>
                <a:ea typeface="微软雅黑" pitchFamily="34" charset="-122"/>
              </a:rPr>
              <a:t>版本协商</a:t>
            </a:r>
            <a:r>
              <a:rPr lang="zh-CN" altLang="en-US" sz="1600" b="1" dirty="0">
                <a:latin typeface="微软雅黑" pitchFamily="34" charset="-122"/>
                <a:ea typeface="微软雅黑" pitchFamily="34" charset="-122"/>
              </a:rPr>
              <a:t>：初始连接时双方交换能够支持的</a:t>
            </a:r>
            <a:r>
              <a:rPr lang="en-US" altLang="zh-CN" sz="1600" b="1" dirty="0">
                <a:latin typeface="微软雅黑" pitchFamily="34" charset="-122"/>
                <a:ea typeface="微软雅黑" pitchFamily="34" charset="-122"/>
              </a:rPr>
              <a:t>OpenFlow</a:t>
            </a:r>
            <a:r>
              <a:rPr lang="zh-CN" altLang="en-US" sz="1600" b="1" dirty="0" smtClean="0">
                <a:latin typeface="微软雅黑" pitchFamily="34" charset="-122"/>
                <a:ea typeface="微软雅黑" pitchFamily="34" charset="-122"/>
              </a:rPr>
              <a:t>版本。</a:t>
            </a:r>
            <a:endParaRPr lang="zh-CN" altLang="en-US" sz="1600" b="1" dirty="0">
              <a:latin typeface="微软雅黑" pitchFamily="34" charset="-122"/>
              <a:ea typeface="微软雅黑" pitchFamily="34" charset="-122"/>
            </a:endParaRP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通道存活</a:t>
            </a:r>
            <a:r>
              <a:rPr lang="zh-CN" altLang="en-US" sz="1600" b="1" dirty="0">
                <a:solidFill>
                  <a:srgbClr val="C00000"/>
                </a:solidFill>
                <a:latin typeface="微软雅黑" pitchFamily="34" charset="-122"/>
                <a:ea typeface="微软雅黑" pitchFamily="34" charset="-122"/>
              </a:rPr>
              <a:t>检测</a:t>
            </a:r>
            <a:r>
              <a:rPr lang="zh-CN" altLang="en-US" sz="1600" b="1" dirty="0">
                <a:latin typeface="微软雅黑" pitchFamily="34" charset="-122"/>
                <a:ea typeface="微软雅黑" pitchFamily="34" charset="-122"/>
              </a:rPr>
              <a:t>：周期性验证连接的存活情况。</a:t>
            </a: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错误</a:t>
            </a:r>
            <a:r>
              <a:rPr lang="zh-CN" altLang="en-US" sz="1600" b="1" dirty="0">
                <a:solidFill>
                  <a:srgbClr val="C00000"/>
                </a:solidFill>
                <a:latin typeface="微软雅黑" pitchFamily="34" charset="-122"/>
                <a:ea typeface="微软雅黑" pitchFamily="34" charset="-122"/>
              </a:rPr>
              <a:t>通告</a:t>
            </a:r>
            <a:r>
              <a:rPr lang="zh-CN" altLang="en-US" sz="1600" b="1" dirty="0">
                <a:latin typeface="微软雅黑" pitchFamily="34" charset="-122"/>
                <a:ea typeface="微软雅黑" pitchFamily="34" charset="-122"/>
              </a:rPr>
              <a:t>：允许交换机和控制器向对方报告协议处理中的异常，如无效的流表项、不支持的指令等。</a:t>
            </a:r>
          </a:p>
          <a:p>
            <a:pPr marL="742950" lvl="1" indent="-285750">
              <a:lnSpc>
                <a:spcPts val="32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实验</a:t>
            </a:r>
            <a:r>
              <a:rPr lang="zh-CN" altLang="en-US" sz="1600" b="1" dirty="0">
                <a:solidFill>
                  <a:srgbClr val="C00000"/>
                </a:solidFill>
                <a:latin typeface="微软雅黑" pitchFamily="34" charset="-122"/>
                <a:ea typeface="微软雅黑" pitchFamily="34" charset="-122"/>
              </a:rPr>
              <a:t>性扩展</a:t>
            </a:r>
            <a:r>
              <a:rPr lang="zh-CN" altLang="en-US" sz="1600" b="1" dirty="0">
                <a:latin typeface="微软雅黑" pitchFamily="34" charset="-122"/>
                <a:ea typeface="微软雅黑" pitchFamily="34" charset="-122"/>
              </a:rPr>
              <a:t>：由设备商或用户自定义功能。</a:t>
            </a:r>
            <a:endParaRPr lang="zh-CN" altLang="en-US" sz="1600" b="1" dirty="0" smtClean="0">
              <a:latin typeface="微软雅黑" pitchFamily="34" charset="-122"/>
              <a:ea typeface="微软雅黑" pitchFamily="34" charset="-122"/>
            </a:endParaRPr>
          </a:p>
        </p:txBody>
      </p:sp>
    </p:spTree>
    <p:extLst>
      <p:ext uri="{BB962C8B-B14F-4D97-AF65-F5344CB8AC3E}">
        <p14:creationId xmlns:p14="http://schemas.microsoft.com/office/powerpoint/2010/main" val="13627324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a:t>
            </a:r>
            <a:r>
              <a:rPr lang="zh-CN" altLang="en-US" sz="2400" b="1" dirty="0">
                <a:solidFill>
                  <a:schemeClr val="bg1"/>
                </a:solidFill>
                <a:latin typeface="微软雅黑" pitchFamily="34" charset="-122"/>
                <a:ea typeface="微软雅黑" pitchFamily="34" charset="-122"/>
              </a:rPr>
              <a:t>控制平面与</a:t>
            </a:r>
            <a:r>
              <a:rPr lang="en-US" altLang="zh-CN" sz="2400" b="1" dirty="0">
                <a:solidFill>
                  <a:schemeClr val="bg1"/>
                </a:solidFill>
                <a:latin typeface="微软雅黑" pitchFamily="34" charset="-122"/>
                <a:ea typeface="微软雅黑" pitchFamily="34" charset="-122"/>
              </a:rPr>
              <a:t>SDN</a:t>
            </a:r>
            <a:r>
              <a:rPr lang="zh-CN" altLang="en-US" sz="2400" b="1" dirty="0">
                <a:solidFill>
                  <a:schemeClr val="bg1"/>
                </a:solidFill>
                <a:latin typeface="微软雅黑" pitchFamily="34" charset="-122"/>
                <a:ea typeface="微软雅黑" pitchFamily="34" charset="-122"/>
              </a:rPr>
              <a:t>控制器</a:t>
            </a:r>
          </a:p>
        </p:txBody>
      </p:sp>
      <p:sp>
        <p:nvSpPr>
          <p:cNvPr id="4" name="Rectangle 8"/>
          <p:cNvSpPr>
            <a:spLocks noChangeArrowheads="1"/>
          </p:cNvSpPr>
          <p:nvPr/>
        </p:nvSpPr>
        <p:spPr bwMode="auto">
          <a:xfrm>
            <a:off x="545144" y="1009413"/>
            <a:ext cx="8033440" cy="2605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控制平面是软件定义网络的</a:t>
            </a:r>
            <a:r>
              <a:rPr lang="zh-CN" altLang="en-US" b="1" dirty="0">
                <a:solidFill>
                  <a:srgbClr val="C00000"/>
                </a:solidFill>
                <a:latin typeface="微软雅黑" pitchFamily="34" charset="-122"/>
                <a:ea typeface="微软雅黑" pitchFamily="34" charset="-122"/>
              </a:rPr>
              <a:t>核心决策组件</a:t>
            </a:r>
            <a:r>
              <a:rPr lang="zh-CN" altLang="en-US" b="1" dirty="0">
                <a:latin typeface="微软雅黑" pitchFamily="34" charset="-122"/>
                <a:ea typeface="微软雅黑" pitchFamily="34" charset="-122"/>
              </a:rPr>
              <a:t>，负责</a:t>
            </a:r>
            <a:r>
              <a:rPr lang="zh-CN" altLang="en-US" b="1" dirty="0">
                <a:solidFill>
                  <a:srgbClr val="C00000"/>
                </a:solidFill>
                <a:latin typeface="微软雅黑" pitchFamily="34" charset="-122"/>
                <a:ea typeface="微软雅黑" pitchFamily="34" charset="-122"/>
              </a:rPr>
              <a:t>集中管理和控制网络设备的行为</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控制</a:t>
            </a:r>
            <a:r>
              <a:rPr lang="zh-CN" altLang="en-US" b="1" dirty="0">
                <a:latin typeface="微软雅黑" pitchFamily="34" charset="-122"/>
                <a:ea typeface="微软雅黑" pitchFamily="34" charset="-122"/>
              </a:rPr>
              <a:t>平面通过南向接口与数据平面的交换机通信，实现</a:t>
            </a:r>
            <a:r>
              <a:rPr lang="zh-CN" altLang="en-US" b="1" dirty="0">
                <a:solidFill>
                  <a:srgbClr val="C00000"/>
                </a:solidFill>
                <a:latin typeface="微软雅黑" pitchFamily="34" charset="-122"/>
                <a:ea typeface="微软雅黑" pitchFamily="34" charset="-122"/>
              </a:rPr>
              <a:t>网络状态感知、路径计算、流量调度、设备配置、策略管理以及事件处理</a:t>
            </a:r>
            <a:r>
              <a:rPr lang="zh-CN" altLang="en-US" b="1" dirty="0">
                <a:latin typeface="微软雅黑" pitchFamily="34" charset="-122"/>
                <a:ea typeface="微软雅黑" pitchFamily="34" charset="-122"/>
              </a:rPr>
              <a:t>等功能</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控制</a:t>
            </a:r>
            <a:r>
              <a:rPr lang="zh-CN" altLang="en-US" b="1" dirty="0">
                <a:latin typeface="微软雅黑" pitchFamily="34" charset="-122"/>
                <a:ea typeface="微软雅黑" pitchFamily="34" charset="-122"/>
              </a:rPr>
              <a:t>平面还能够</a:t>
            </a:r>
            <a:r>
              <a:rPr lang="zh-CN" altLang="en-US" b="1" dirty="0">
                <a:solidFill>
                  <a:srgbClr val="C00000"/>
                </a:solidFill>
                <a:latin typeface="微软雅黑" pitchFamily="34" charset="-122"/>
                <a:ea typeface="微软雅黑" pitchFamily="34" charset="-122"/>
              </a:rPr>
              <a:t>将应用层的服务请求转换为具体命令</a:t>
            </a:r>
            <a:r>
              <a:rPr lang="zh-CN" altLang="en-US" b="1" dirty="0">
                <a:latin typeface="微软雅黑" pitchFamily="34" charset="-122"/>
                <a:ea typeface="微软雅黑" pitchFamily="34" charset="-122"/>
              </a:rPr>
              <a:t>，并向应用层提供网络拓扑结构等信息，实现对网络的动态管理和优化</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en-US" altLang="zh-CN" sz="1600" b="1" dirty="0">
                <a:solidFill>
                  <a:srgbClr val="C00000"/>
                </a:solidFill>
                <a:latin typeface="微软雅黑" pitchFamily="34" charset="-122"/>
                <a:ea typeface="微软雅黑" pitchFamily="34" charset="-122"/>
              </a:rPr>
              <a:t>SDN</a:t>
            </a:r>
            <a:r>
              <a:rPr lang="zh-CN" altLang="en-US" sz="1600" b="1" dirty="0">
                <a:solidFill>
                  <a:srgbClr val="C00000"/>
                </a:solidFill>
                <a:latin typeface="微软雅黑" pitchFamily="34" charset="-122"/>
                <a:ea typeface="微软雅黑" pitchFamily="34" charset="-122"/>
              </a:rPr>
              <a:t>控制器</a:t>
            </a:r>
            <a:r>
              <a:rPr lang="zh-CN" altLang="en-US" sz="1600" b="1" dirty="0">
                <a:latin typeface="微软雅黑" pitchFamily="34" charset="-122"/>
                <a:ea typeface="微软雅黑" pitchFamily="34" charset="-122"/>
              </a:rPr>
              <a:t>是实现控制平面功能的具体软件实体。</a:t>
            </a:r>
            <a:endParaRPr lang="en-US" altLang="zh-CN" sz="1600"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23737676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控制器</a:t>
            </a:r>
          </a:p>
        </p:txBody>
      </p:sp>
      <p:sp>
        <p:nvSpPr>
          <p:cNvPr id="4" name="Rectangle 8"/>
          <p:cNvSpPr>
            <a:spLocks noChangeArrowheads="1"/>
          </p:cNvSpPr>
          <p:nvPr/>
        </p:nvSpPr>
        <p:spPr bwMode="auto">
          <a:xfrm>
            <a:off x="545143" y="1009413"/>
            <a:ext cx="3352866"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ts val="2200"/>
              </a:lnSpc>
              <a:buClr>
                <a:srgbClr val="0070C0"/>
              </a:buClr>
              <a:buFont typeface="Wingdings" pitchFamily="2" charset="2"/>
              <a:buChar char="l"/>
            </a:pPr>
            <a:r>
              <a:rPr lang="zh-CN" altLang="en-US" sz="1400" b="1" dirty="0" smtClean="0">
                <a:latin typeface="微软雅黑" pitchFamily="34" charset="-122"/>
                <a:ea typeface="微软雅黑" pitchFamily="34" charset="-122"/>
              </a:rPr>
              <a:t>控制</a:t>
            </a:r>
            <a:r>
              <a:rPr lang="zh-CN" altLang="en-US" sz="1400" b="1" dirty="0">
                <a:latin typeface="微软雅黑" pitchFamily="34" charset="-122"/>
                <a:ea typeface="微软雅黑" pitchFamily="34" charset="-122"/>
              </a:rPr>
              <a:t>平面定义了</a:t>
            </a:r>
            <a:r>
              <a:rPr lang="en-US" altLang="zh-CN" sz="1400" b="1" dirty="0">
                <a:latin typeface="微软雅黑" pitchFamily="34" charset="-122"/>
                <a:ea typeface="微软雅黑" pitchFamily="34" charset="-122"/>
              </a:rPr>
              <a:t>SDN</a:t>
            </a:r>
            <a:r>
              <a:rPr lang="zh-CN" altLang="en-US" sz="1400" b="1" dirty="0">
                <a:latin typeface="微软雅黑" pitchFamily="34" charset="-122"/>
                <a:ea typeface="微软雅黑" pitchFamily="34" charset="-122"/>
              </a:rPr>
              <a:t>网络的管理和控制功能，而控制器则是这些功能的具体实现</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p:txBody>
      </p:sp>
      <p:sp>
        <p:nvSpPr>
          <p:cNvPr id="279" name="Rectangle 8"/>
          <p:cNvSpPr>
            <a:spLocks noChangeArrowheads="1"/>
          </p:cNvSpPr>
          <p:nvPr/>
        </p:nvSpPr>
        <p:spPr bwMode="auto">
          <a:xfrm>
            <a:off x="571129" y="3007928"/>
            <a:ext cx="3326880"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ts val="2200"/>
              </a:lnSpc>
              <a:buClr>
                <a:srgbClr val="0070C0"/>
              </a:buClr>
              <a:buFont typeface="Wingdings" pitchFamily="2" charset="2"/>
              <a:buChar char="l"/>
            </a:pPr>
            <a:r>
              <a:rPr lang="en-US" altLang="zh-CN" sz="1400" b="1" dirty="0">
                <a:latin typeface="微软雅黑" pitchFamily="34" charset="-122"/>
                <a:ea typeface="微软雅黑" pitchFamily="34" charset="-122"/>
              </a:rPr>
              <a:t>SDN</a:t>
            </a:r>
            <a:r>
              <a:rPr lang="zh-CN" altLang="en-US" sz="1400" b="1" dirty="0">
                <a:latin typeface="微软雅黑" pitchFamily="34" charset="-122"/>
                <a:ea typeface="微软雅黑" pitchFamily="34" charset="-122"/>
              </a:rPr>
              <a:t>控制器的自底向上可以大致分为</a:t>
            </a:r>
            <a:r>
              <a:rPr lang="zh-CN" altLang="en-US" sz="1400" b="1" dirty="0">
                <a:solidFill>
                  <a:srgbClr val="C00000"/>
                </a:solidFill>
                <a:latin typeface="微软雅黑" pitchFamily="34" charset="-122"/>
                <a:ea typeface="微软雅黑" pitchFamily="34" charset="-122"/>
              </a:rPr>
              <a:t>通信层</a:t>
            </a:r>
            <a:r>
              <a:rPr lang="zh-CN" altLang="en-US" sz="1400" b="1" dirty="0" smtClean="0">
                <a:solidFill>
                  <a:srgbClr val="C00000"/>
                </a:solidFill>
                <a:latin typeface="微软雅黑" pitchFamily="34" charset="-122"/>
                <a:ea typeface="微软雅黑" pitchFamily="34" charset="-122"/>
              </a:rPr>
              <a:t>、全网状态</a:t>
            </a:r>
            <a:r>
              <a:rPr lang="zh-CN" altLang="en-US" sz="1400" b="1" dirty="0">
                <a:solidFill>
                  <a:srgbClr val="C00000"/>
                </a:solidFill>
                <a:latin typeface="微软雅黑" pitchFamily="34" charset="-122"/>
                <a:ea typeface="微软雅黑" pitchFamily="34" charset="-122"/>
              </a:rPr>
              <a:t>管理层、以及</a:t>
            </a:r>
            <a:r>
              <a:rPr lang="zh-CN" altLang="en-US" sz="1400" b="1" dirty="0" smtClean="0">
                <a:solidFill>
                  <a:srgbClr val="C00000"/>
                </a:solidFill>
                <a:latin typeface="微软雅黑" pitchFamily="34" charset="-122"/>
                <a:ea typeface="微软雅黑" pitchFamily="34" charset="-122"/>
              </a:rPr>
              <a:t>到应用平面的</a:t>
            </a:r>
            <a:r>
              <a:rPr lang="zh-CN" altLang="en-US" sz="1400" b="1" dirty="0">
                <a:solidFill>
                  <a:srgbClr val="C00000"/>
                </a:solidFill>
                <a:latin typeface="微软雅黑" pitchFamily="34" charset="-122"/>
                <a:ea typeface="微软雅黑" pitchFamily="34" charset="-122"/>
              </a:rPr>
              <a:t>接口</a:t>
            </a:r>
            <a:r>
              <a:rPr lang="zh-CN" altLang="en-US" sz="1400" b="1" dirty="0">
                <a:latin typeface="微软雅黑" pitchFamily="34" charset="-122"/>
                <a:ea typeface="微软雅黑" pitchFamily="34" charset="-122"/>
              </a:rPr>
              <a:t>三个部分。</a:t>
            </a:r>
            <a:endParaRPr lang="en-US" altLang="zh-CN" sz="1400" b="1" dirty="0">
              <a:latin typeface="微软雅黑" pitchFamily="34" charset="-122"/>
              <a:ea typeface="微软雅黑" pitchFamily="34" charset="-122"/>
            </a:endParaRPr>
          </a:p>
        </p:txBody>
      </p:sp>
      <p:sp>
        <p:nvSpPr>
          <p:cNvPr id="280" name="Rectangle 8"/>
          <p:cNvSpPr>
            <a:spLocks noChangeArrowheads="1"/>
          </p:cNvSpPr>
          <p:nvPr/>
        </p:nvSpPr>
        <p:spPr bwMode="auto">
          <a:xfrm>
            <a:off x="538763" y="1939249"/>
            <a:ext cx="3365706"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gn="just">
              <a:lnSpc>
                <a:spcPts val="2200"/>
              </a:lnSpc>
              <a:buClr>
                <a:srgbClr val="0070C0"/>
              </a:buClr>
              <a:buFont typeface="Wingdings" pitchFamily="2" charset="2"/>
              <a:buChar char="l"/>
            </a:pPr>
            <a:r>
              <a:rPr lang="zh-CN" altLang="en-US" sz="1400" b="1" dirty="0" smtClean="0">
                <a:latin typeface="微软雅黑" pitchFamily="34" charset="-122"/>
                <a:ea typeface="微软雅黑" pitchFamily="34" charset="-122"/>
              </a:rPr>
              <a:t>控制器</a:t>
            </a:r>
            <a:r>
              <a:rPr lang="zh-CN" altLang="en-US" sz="1400" b="1" dirty="0">
                <a:latin typeface="微软雅黑" pitchFamily="34" charset="-122"/>
                <a:ea typeface="微软雅黑" pitchFamily="34" charset="-122"/>
              </a:rPr>
              <a:t>通过南向接口与数据平面交互，通过北向接口与应用平面交互，实现了网络的集中式控制和动态管理</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p:txBody>
      </p:sp>
      <p:sp>
        <p:nvSpPr>
          <p:cNvPr id="40" name="TextBox 34"/>
          <p:cNvSpPr txBox="1"/>
          <p:nvPr/>
        </p:nvSpPr>
        <p:spPr>
          <a:xfrm>
            <a:off x="4270479" y="4081859"/>
            <a:ext cx="720872" cy="276999"/>
          </a:xfrm>
          <a:prstGeom prst="rect">
            <a:avLst/>
          </a:prstGeom>
          <a:solidFill>
            <a:schemeClr val="bg1"/>
          </a:solidFill>
        </p:spPr>
        <p:txBody>
          <a:bodyPr wrap="square" rtlCol="0">
            <a:spAutoFit/>
          </a:bodyPr>
          <a:lstStyle/>
          <a:p>
            <a:pPr algn="ctr"/>
            <a:r>
              <a:rPr lang="zh-CN" altLang="en-US" sz="1200" dirty="0" smtClean="0">
                <a:cs typeface="Times New Roman" pitchFamily="18" charset="0"/>
              </a:rPr>
              <a:t>通信层</a:t>
            </a:r>
            <a:endParaRPr lang="zh-CN" altLang="en-US" sz="1200" dirty="0">
              <a:cs typeface="Times New Roman" pitchFamily="18" charset="0"/>
            </a:endParaRPr>
          </a:p>
        </p:txBody>
      </p:sp>
      <p:sp>
        <p:nvSpPr>
          <p:cNvPr id="41" name="Rectangle 284">
            <a:extLst>
              <a:ext uri="{FF2B5EF4-FFF2-40B4-BE49-F238E27FC236}">
                <a16:creationId xmlns:a16="http://schemas.microsoft.com/office/drawing/2014/main" id="{944E854B-8227-5B4D-85A7-A109A955A3A0}"/>
              </a:ext>
            </a:extLst>
          </p:cNvPr>
          <p:cNvSpPr/>
          <p:nvPr/>
        </p:nvSpPr>
        <p:spPr bwMode="auto">
          <a:xfrm>
            <a:off x="4928135" y="1311523"/>
            <a:ext cx="3850105" cy="3173365"/>
          </a:xfrm>
          <a:prstGeom prst="rect">
            <a:avLst/>
          </a:prstGeom>
          <a:solidFill>
            <a:schemeClr val="accent2">
              <a:lumMod val="40000"/>
              <a:lumOff val="60000"/>
            </a:schemeClr>
          </a:solidFill>
          <a:ln/>
        </p:spPr>
        <p:style>
          <a:lnRef idx="1">
            <a:schemeClr val="accent5"/>
          </a:lnRef>
          <a:fillRef idx="3">
            <a:schemeClr val="accent5"/>
          </a:fillRef>
          <a:effectRef idx="2">
            <a:schemeClr val="accent5"/>
          </a:effectRef>
          <a:fontRef idx="minor">
            <a:schemeClr val="lt1"/>
          </a:fontRef>
        </p:style>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FFFFFF"/>
              </a:solidFill>
              <a:effectLst/>
              <a:uLnTx/>
              <a:uFillTx/>
              <a:cs typeface="+mn-cs"/>
            </a:endParaRPr>
          </a:p>
        </p:txBody>
      </p:sp>
      <p:sp>
        <p:nvSpPr>
          <p:cNvPr id="42" name="Rounded Rectangle 286">
            <a:extLst>
              <a:ext uri="{FF2B5EF4-FFF2-40B4-BE49-F238E27FC236}">
                <a16:creationId xmlns:a16="http://schemas.microsoft.com/office/drawing/2014/main" id="{B0C05023-542D-7B4C-94D1-9A99FB8BB403}"/>
              </a:ext>
            </a:extLst>
          </p:cNvPr>
          <p:cNvSpPr/>
          <p:nvPr/>
        </p:nvSpPr>
        <p:spPr>
          <a:xfrm>
            <a:off x="5034013" y="2285019"/>
            <a:ext cx="3660787" cy="1334096"/>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kern="0" dirty="0">
              <a:solidFill>
                <a:srgbClr val="000000"/>
              </a:solidFill>
              <a:latin typeface="Arial" charset="0"/>
              <a:ea typeface="ＭＳ Ｐゴシック" charset="0"/>
            </a:endParaRPr>
          </a:p>
        </p:txBody>
      </p:sp>
      <p:sp>
        <p:nvSpPr>
          <p:cNvPr id="43" name="Rounded Rectangle 287">
            <a:extLst>
              <a:ext uri="{FF2B5EF4-FFF2-40B4-BE49-F238E27FC236}">
                <a16:creationId xmlns:a16="http://schemas.microsoft.com/office/drawing/2014/main" id="{287C38A3-0850-C44D-B7B8-A9745DE5768E}"/>
              </a:ext>
            </a:extLst>
          </p:cNvPr>
          <p:cNvSpPr/>
          <p:nvPr/>
        </p:nvSpPr>
        <p:spPr>
          <a:xfrm>
            <a:off x="5034013" y="3682436"/>
            <a:ext cx="3660788" cy="737977"/>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kern="0" dirty="0">
              <a:solidFill>
                <a:srgbClr val="000000"/>
              </a:solidFill>
              <a:latin typeface="Arial" charset="0"/>
              <a:ea typeface="ＭＳ Ｐゴシック" charset="0"/>
            </a:endParaRPr>
          </a:p>
        </p:txBody>
      </p:sp>
      <p:cxnSp>
        <p:nvCxnSpPr>
          <p:cNvPr id="44" name="Straight Connector 288">
            <a:extLst>
              <a:ext uri="{FF2B5EF4-FFF2-40B4-BE49-F238E27FC236}">
                <a16:creationId xmlns:a16="http://schemas.microsoft.com/office/drawing/2014/main" id="{1BA3E4C1-2167-2941-8758-AC27C65BF336}"/>
              </a:ext>
            </a:extLst>
          </p:cNvPr>
          <p:cNvCxnSpPr/>
          <p:nvPr/>
        </p:nvCxnSpPr>
        <p:spPr bwMode="auto">
          <a:xfrm>
            <a:off x="4340728" y="4563171"/>
            <a:ext cx="4530222" cy="2153"/>
          </a:xfrm>
          <a:prstGeom prst="line">
            <a:avLst/>
          </a:prstGeom>
          <a:solidFill>
            <a:srgbClr val="00CC99"/>
          </a:solidFill>
          <a:ln w="19050" cap="flat" cmpd="sng" algn="ctr">
            <a:solidFill>
              <a:srgbClr val="00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45" name="TextBox 289">
            <a:extLst>
              <a:ext uri="{FF2B5EF4-FFF2-40B4-BE49-F238E27FC236}">
                <a16:creationId xmlns:a16="http://schemas.microsoft.com/office/drawing/2014/main" id="{FEF8BDCE-10A3-4945-890E-07302A2DDCE0}"/>
              </a:ext>
            </a:extLst>
          </p:cNvPr>
          <p:cNvSpPr txBox="1"/>
          <p:nvPr/>
        </p:nvSpPr>
        <p:spPr>
          <a:xfrm>
            <a:off x="5176718" y="2280411"/>
            <a:ext cx="2654898" cy="330761"/>
          </a:xfrm>
          <a:prstGeom prst="rect">
            <a:avLst/>
          </a:prstGeom>
          <a:noFill/>
        </p:spPr>
        <p:txBody>
          <a:bodyPr wrap="square" rtlCol="0">
            <a:spAutoFit/>
          </a:bodyPr>
          <a:lstStyle/>
          <a:p>
            <a:pPr eaLnBrk="0" fontAlgn="base" hangingPunct="0">
              <a:lnSpc>
                <a:spcPts val="1800"/>
              </a:lnSpc>
              <a:spcBef>
                <a:spcPct val="0"/>
              </a:spcBef>
              <a:spcAft>
                <a:spcPct val="0"/>
              </a:spcAft>
            </a:pPr>
            <a:r>
              <a:rPr lang="zh-CN" altLang="en-US" sz="1100" dirty="0">
                <a:solidFill>
                  <a:srgbClr val="000000"/>
                </a:solidFill>
                <a:cs typeface="Arial"/>
              </a:rPr>
              <a:t>网络范围分布式和健壮的状态管理</a:t>
            </a:r>
          </a:p>
        </p:txBody>
      </p:sp>
      <p:sp>
        <p:nvSpPr>
          <p:cNvPr id="46" name="TextBox 290">
            <a:extLst>
              <a:ext uri="{FF2B5EF4-FFF2-40B4-BE49-F238E27FC236}">
                <a16:creationId xmlns:a16="http://schemas.microsoft.com/office/drawing/2014/main" id="{1233DE24-DE17-EB41-94D3-7D3C67F566A0}"/>
              </a:ext>
            </a:extLst>
          </p:cNvPr>
          <p:cNvSpPr txBox="1"/>
          <p:nvPr/>
        </p:nvSpPr>
        <p:spPr>
          <a:xfrm>
            <a:off x="5082002" y="3645737"/>
            <a:ext cx="2413368" cy="323165"/>
          </a:xfrm>
          <a:prstGeom prst="rect">
            <a:avLst/>
          </a:prstGeom>
          <a:noFill/>
        </p:spPr>
        <p:txBody>
          <a:bodyPr wrap="square" rtlCol="0">
            <a:spAutoFit/>
          </a:bodyPr>
          <a:lstStyle/>
          <a:p>
            <a:pPr eaLnBrk="0" fontAlgn="base" hangingPunct="0">
              <a:lnSpc>
                <a:spcPts val="1800"/>
              </a:lnSpc>
              <a:spcBef>
                <a:spcPct val="0"/>
              </a:spcBef>
              <a:spcAft>
                <a:spcPct val="0"/>
              </a:spcAft>
            </a:pPr>
            <a:r>
              <a:rPr lang="zh-CN" altLang="en-US" sz="1100" dirty="0">
                <a:solidFill>
                  <a:srgbClr val="000000"/>
                </a:solidFill>
                <a:cs typeface="Arial"/>
              </a:rPr>
              <a:t>与</a:t>
            </a:r>
            <a:r>
              <a:rPr lang="zh-CN" altLang="en-US" sz="1100" dirty="0" smtClean="0">
                <a:solidFill>
                  <a:srgbClr val="000000"/>
                </a:solidFill>
                <a:cs typeface="Arial"/>
              </a:rPr>
              <a:t>数据</a:t>
            </a:r>
            <a:r>
              <a:rPr lang="zh-CN" altLang="en-US" sz="1100" dirty="0">
                <a:solidFill>
                  <a:srgbClr val="000000"/>
                </a:solidFill>
                <a:cs typeface="Arial"/>
              </a:rPr>
              <a:t>平面</a:t>
            </a:r>
            <a:r>
              <a:rPr lang="zh-CN" altLang="en-US" sz="1100" dirty="0" smtClean="0">
                <a:solidFill>
                  <a:srgbClr val="000000"/>
                </a:solidFill>
                <a:cs typeface="Arial"/>
              </a:rPr>
              <a:t>中</a:t>
            </a:r>
            <a:r>
              <a:rPr lang="zh-CN" altLang="en-US" sz="1100" dirty="0">
                <a:solidFill>
                  <a:srgbClr val="000000"/>
                </a:solidFill>
                <a:cs typeface="Arial"/>
              </a:rPr>
              <a:t>受控设备的通信</a:t>
            </a:r>
          </a:p>
        </p:txBody>
      </p:sp>
      <p:sp>
        <p:nvSpPr>
          <p:cNvPr id="47" name="Rounded Rectangle 292">
            <a:extLst>
              <a:ext uri="{FF2B5EF4-FFF2-40B4-BE49-F238E27FC236}">
                <a16:creationId xmlns:a16="http://schemas.microsoft.com/office/drawing/2014/main" id="{785F579F-89F0-D849-A148-DA31C29E0478}"/>
              </a:ext>
            </a:extLst>
          </p:cNvPr>
          <p:cNvSpPr/>
          <p:nvPr/>
        </p:nvSpPr>
        <p:spPr>
          <a:xfrm>
            <a:off x="5300822" y="3111180"/>
            <a:ext cx="897471" cy="39471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链路状</a:t>
            </a:r>
            <a:endParaRPr lang="en-US" altLang="zh-CN" sz="1050" kern="0" dirty="0">
              <a:solidFill>
                <a:srgbClr val="000000"/>
              </a:solidFill>
              <a:cs typeface="Arial"/>
            </a:endParaRPr>
          </a:p>
          <a:p>
            <a:pPr algn="ctr" eaLnBrk="0" fontAlgn="base" hangingPunct="0">
              <a:spcBef>
                <a:spcPct val="0"/>
              </a:spcBef>
              <a:spcAft>
                <a:spcPct val="0"/>
              </a:spcAft>
            </a:pPr>
            <a:r>
              <a:rPr lang="zh-CN" altLang="en-US" sz="1050" kern="0" dirty="0">
                <a:solidFill>
                  <a:srgbClr val="000000"/>
                </a:solidFill>
                <a:cs typeface="Arial"/>
              </a:rPr>
              <a:t>态信息</a:t>
            </a:r>
            <a:endParaRPr lang="en-US" altLang="zh-CN" sz="1050" kern="0" dirty="0">
              <a:solidFill>
                <a:srgbClr val="000000"/>
              </a:solidFill>
              <a:cs typeface="Arial"/>
            </a:endParaRPr>
          </a:p>
        </p:txBody>
      </p:sp>
      <p:sp>
        <p:nvSpPr>
          <p:cNvPr id="48" name="Rounded Rectangle 295">
            <a:extLst>
              <a:ext uri="{FF2B5EF4-FFF2-40B4-BE49-F238E27FC236}">
                <a16:creationId xmlns:a16="http://schemas.microsoft.com/office/drawing/2014/main" id="{8817EFC4-E482-D24A-BC32-D4E6D7FB0BEB}"/>
              </a:ext>
            </a:extLst>
          </p:cNvPr>
          <p:cNvSpPr/>
          <p:nvPr/>
        </p:nvSpPr>
        <p:spPr>
          <a:xfrm>
            <a:off x="7686608" y="3101051"/>
            <a:ext cx="851561" cy="40484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交换机信息</a:t>
            </a:r>
            <a:endParaRPr lang="en-US" altLang="zh-CN" sz="1050" kern="0" dirty="0">
              <a:solidFill>
                <a:srgbClr val="000000"/>
              </a:solidFill>
              <a:cs typeface="Arial"/>
            </a:endParaRPr>
          </a:p>
        </p:txBody>
      </p:sp>
      <p:sp>
        <p:nvSpPr>
          <p:cNvPr id="49" name="Rounded Rectangle 298">
            <a:extLst>
              <a:ext uri="{FF2B5EF4-FFF2-40B4-BE49-F238E27FC236}">
                <a16:creationId xmlns:a16="http://schemas.microsoft.com/office/drawing/2014/main" id="{0C279289-40E0-5040-BA32-5B9616160FE8}"/>
              </a:ext>
            </a:extLst>
          </p:cNvPr>
          <p:cNvSpPr/>
          <p:nvPr/>
        </p:nvSpPr>
        <p:spPr>
          <a:xfrm>
            <a:off x="6322851" y="3101051"/>
            <a:ext cx="844867" cy="40484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主机信息</a:t>
            </a:r>
            <a:endParaRPr lang="en-US" altLang="zh-CN" sz="1050" kern="0" dirty="0">
              <a:solidFill>
                <a:srgbClr val="000000"/>
              </a:solidFill>
              <a:cs typeface="Arial"/>
            </a:endParaRPr>
          </a:p>
        </p:txBody>
      </p:sp>
      <p:sp>
        <p:nvSpPr>
          <p:cNvPr id="50" name="Rounded Rectangle 301">
            <a:extLst>
              <a:ext uri="{FF2B5EF4-FFF2-40B4-BE49-F238E27FC236}">
                <a16:creationId xmlns:a16="http://schemas.microsoft.com/office/drawing/2014/main" id="{72A6745C-527A-3346-B849-6DEC25931482}"/>
              </a:ext>
            </a:extLst>
          </p:cNvPr>
          <p:cNvSpPr/>
          <p:nvPr/>
        </p:nvSpPr>
        <p:spPr>
          <a:xfrm>
            <a:off x="5625186" y="2628860"/>
            <a:ext cx="889706" cy="376878"/>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统计</a:t>
            </a:r>
            <a:endParaRPr lang="en-US" altLang="zh-CN" sz="1050" kern="0" dirty="0">
              <a:solidFill>
                <a:srgbClr val="000000"/>
              </a:solidFill>
              <a:cs typeface="Arial"/>
            </a:endParaRPr>
          </a:p>
        </p:txBody>
      </p:sp>
      <p:sp>
        <p:nvSpPr>
          <p:cNvPr id="51" name="Rounded Rectangle 304">
            <a:extLst>
              <a:ext uri="{FF2B5EF4-FFF2-40B4-BE49-F238E27FC236}">
                <a16:creationId xmlns:a16="http://schemas.microsoft.com/office/drawing/2014/main" id="{E293BA32-8AD1-2E4F-BF8B-655127670D8C}"/>
              </a:ext>
            </a:extLst>
          </p:cNvPr>
          <p:cNvSpPr/>
          <p:nvPr/>
        </p:nvSpPr>
        <p:spPr>
          <a:xfrm>
            <a:off x="7254254" y="2628859"/>
            <a:ext cx="907969" cy="38873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流表</a:t>
            </a:r>
            <a:endParaRPr lang="en-US" altLang="zh-CN" sz="1050" kern="0" dirty="0">
              <a:solidFill>
                <a:srgbClr val="000000"/>
              </a:solidFill>
              <a:cs typeface="Arial"/>
            </a:endParaRPr>
          </a:p>
        </p:txBody>
      </p:sp>
      <p:sp>
        <p:nvSpPr>
          <p:cNvPr id="52" name="TextBox 306">
            <a:extLst>
              <a:ext uri="{FF2B5EF4-FFF2-40B4-BE49-F238E27FC236}">
                <a16:creationId xmlns:a16="http://schemas.microsoft.com/office/drawing/2014/main" id="{9CB3D047-79BA-D64C-96E0-34616543CDAB}"/>
              </a:ext>
            </a:extLst>
          </p:cNvPr>
          <p:cNvSpPr txBox="1"/>
          <p:nvPr/>
        </p:nvSpPr>
        <p:spPr>
          <a:xfrm>
            <a:off x="6607036" y="2524503"/>
            <a:ext cx="570238" cy="400110"/>
          </a:xfrm>
          <a:prstGeom prst="rect">
            <a:avLst/>
          </a:prstGeom>
          <a:noFill/>
        </p:spPr>
        <p:txBody>
          <a:bodyPr wrap="square" rtlCol="0">
            <a:spAutoFit/>
          </a:bodyPr>
          <a:lstStyle/>
          <a:p>
            <a:pPr eaLnBrk="0" fontAlgn="base" hangingPunct="0">
              <a:spcBef>
                <a:spcPct val="0"/>
              </a:spcBef>
              <a:spcAft>
                <a:spcPct val="0"/>
              </a:spcAft>
            </a:pPr>
            <a:r>
              <a:rPr lang="en-US" sz="2000" dirty="0"/>
              <a:t>…  </a:t>
            </a:r>
          </a:p>
        </p:txBody>
      </p:sp>
      <p:sp>
        <p:nvSpPr>
          <p:cNvPr id="53" name="TextBox 307">
            <a:extLst>
              <a:ext uri="{FF2B5EF4-FFF2-40B4-BE49-F238E27FC236}">
                <a16:creationId xmlns:a16="http://schemas.microsoft.com/office/drawing/2014/main" id="{0FE2F351-A5BF-7E4A-BD31-F4DFA935F67B}"/>
              </a:ext>
            </a:extLst>
          </p:cNvPr>
          <p:cNvSpPr txBox="1"/>
          <p:nvPr/>
        </p:nvSpPr>
        <p:spPr>
          <a:xfrm>
            <a:off x="7291771" y="3060587"/>
            <a:ext cx="476412" cy="400110"/>
          </a:xfrm>
          <a:prstGeom prst="rect">
            <a:avLst/>
          </a:prstGeom>
          <a:noFill/>
        </p:spPr>
        <p:txBody>
          <a:bodyPr wrap="none" rtlCol="0">
            <a:spAutoFit/>
          </a:bodyPr>
          <a:lstStyle/>
          <a:p>
            <a:pPr eaLnBrk="0" fontAlgn="base" hangingPunct="0">
              <a:spcBef>
                <a:spcPct val="0"/>
              </a:spcBef>
              <a:spcAft>
                <a:spcPct val="0"/>
              </a:spcAft>
            </a:pPr>
            <a:r>
              <a:rPr lang="en-US" sz="2000" dirty="0"/>
              <a:t>…  </a:t>
            </a:r>
          </a:p>
        </p:txBody>
      </p:sp>
      <p:sp>
        <p:nvSpPr>
          <p:cNvPr id="54" name="Rounded Rectangle 309">
            <a:extLst>
              <a:ext uri="{FF2B5EF4-FFF2-40B4-BE49-F238E27FC236}">
                <a16:creationId xmlns:a16="http://schemas.microsoft.com/office/drawing/2014/main" id="{D70B5B43-83B8-D248-A4C5-56B1B99D7540}"/>
              </a:ext>
            </a:extLst>
          </p:cNvPr>
          <p:cNvSpPr/>
          <p:nvPr/>
        </p:nvSpPr>
        <p:spPr>
          <a:xfrm>
            <a:off x="5176718" y="4035024"/>
            <a:ext cx="1257452" cy="286798"/>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1050" kern="0" dirty="0">
                <a:solidFill>
                  <a:srgbClr val="000000"/>
                </a:solidFill>
                <a:cs typeface="Arial"/>
              </a:rPr>
              <a:t>OpenFlow</a:t>
            </a:r>
          </a:p>
        </p:txBody>
      </p:sp>
      <p:sp>
        <p:nvSpPr>
          <p:cNvPr id="55" name="Rounded Rectangle 312">
            <a:extLst>
              <a:ext uri="{FF2B5EF4-FFF2-40B4-BE49-F238E27FC236}">
                <a16:creationId xmlns:a16="http://schemas.microsoft.com/office/drawing/2014/main" id="{85D1F457-4FAB-1547-8FDB-F99750CAEB89}"/>
              </a:ext>
            </a:extLst>
          </p:cNvPr>
          <p:cNvSpPr/>
          <p:nvPr/>
        </p:nvSpPr>
        <p:spPr>
          <a:xfrm>
            <a:off x="7045950" y="4039781"/>
            <a:ext cx="1244650" cy="307410"/>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1050" kern="0" dirty="0">
                <a:solidFill>
                  <a:srgbClr val="000000"/>
                </a:solidFill>
                <a:cs typeface="Arial"/>
              </a:rPr>
              <a:t>SNMP</a:t>
            </a:r>
          </a:p>
        </p:txBody>
      </p:sp>
      <p:sp>
        <p:nvSpPr>
          <p:cNvPr id="56" name="TextBox 314">
            <a:extLst>
              <a:ext uri="{FF2B5EF4-FFF2-40B4-BE49-F238E27FC236}">
                <a16:creationId xmlns:a16="http://schemas.microsoft.com/office/drawing/2014/main" id="{B03FB035-AB1A-294C-B7DD-352BD9267278}"/>
              </a:ext>
            </a:extLst>
          </p:cNvPr>
          <p:cNvSpPr txBox="1"/>
          <p:nvPr/>
        </p:nvSpPr>
        <p:spPr>
          <a:xfrm>
            <a:off x="6476832" y="3911917"/>
            <a:ext cx="476412" cy="400110"/>
          </a:xfrm>
          <a:prstGeom prst="rect">
            <a:avLst/>
          </a:prstGeom>
          <a:noFill/>
        </p:spPr>
        <p:txBody>
          <a:bodyPr wrap="none" rtlCol="0">
            <a:spAutoFit/>
          </a:bodyPr>
          <a:lstStyle/>
          <a:p>
            <a:pPr eaLnBrk="0" fontAlgn="base" hangingPunct="0">
              <a:spcBef>
                <a:spcPct val="0"/>
              </a:spcBef>
              <a:spcAft>
                <a:spcPct val="0"/>
              </a:spcAft>
            </a:pPr>
            <a:r>
              <a:rPr lang="en-US" sz="2000" dirty="0"/>
              <a:t>… </a:t>
            </a:r>
            <a:r>
              <a:rPr lang="en-US" sz="2000" dirty="0">
                <a:solidFill>
                  <a:srgbClr val="00CC99">
                    <a:lumMod val="60000"/>
                    <a:lumOff val="40000"/>
                  </a:srgbClr>
                </a:solidFill>
              </a:rPr>
              <a:t> </a:t>
            </a:r>
          </a:p>
        </p:txBody>
      </p:sp>
      <p:sp>
        <p:nvSpPr>
          <p:cNvPr id="57" name="Rounded Rectangle 318">
            <a:extLst>
              <a:ext uri="{FF2B5EF4-FFF2-40B4-BE49-F238E27FC236}">
                <a16:creationId xmlns:a16="http://schemas.microsoft.com/office/drawing/2014/main" id="{9FC19565-BA27-CF4F-9461-F1C46FCA8EEF}"/>
              </a:ext>
            </a:extLst>
          </p:cNvPr>
          <p:cNvSpPr/>
          <p:nvPr/>
        </p:nvSpPr>
        <p:spPr>
          <a:xfrm>
            <a:off x="5034013" y="1374603"/>
            <a:ext cx="3660788" cy="86488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kern="0" dirty="0">
              <a:solidFill>
                <a:srgbClr val="000000"/>
              </a:solidFill>
              <a:latin typeface="Arial" charset="0"/>
              <a:ea typeface="ＭＳ Ｐゴシック" charset="0"/>
            </a:endParaRPr>
          </a:p>
        </p:txBody>
      </p:sp>
      <p:sp>
        <p:nvSpPr>
          <p:cNvPr id="58" name="Rounded Rectangle 320">
            <a:extLst>
              <a:ext uri="{FF2B5EF4-FFF2-40B4-BE49-F238E27FC236}">
                <a16:creationId xmlns:a16="http://schemas.microsoft.com/office/drawing/2014/main" id="{70508080-4FED-294C-9D0D-78B9AED5A157}"/>
              </a:ext>
            </a:extLst>
          </p:cNvPr>
          <p:cNvSpPr/>
          <p:nvPr/>
        </p:nvSpPr>
        <p:spPr>
          <a:xfrm>
            <a:off x="5263769" y="1695289"/>
            <a:ext cx="809773" cy="45982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网络图</a:t>
            </a:r>
          </a:p>
        </p:txBody>
      </p:sp>
      <p:sp>
        <p:nvSpPr>
          <p:cNvPr id="59" name="Rounded Rectangle 323">
            <a:extLst>
              <a:ext uri="{FF2B5EF4-FFF2-40B4-BE49-F238E27FC236}">
                <a16:creationId xmlns:a16="http://schemas.microsoft.com/office/drawing/2014/main" id="{238BD2F6-10FC-6749-9824-BF523F2C8381}"/>
              </a:ext>
            </a:extLst>
          </p:cNvPr>
          <p:cNvSpPr/>
          <p:nvPr/>
        </p:nvSpPr>
        <p:spPr>
          <a:xfrm>
            <a:off x="7730808" y="1715743"/>
            <a:ext cx="807361" cy="45982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defRPr/>
            </a:pPr>
            <a:r>
              <a:rPr lang="zh-CN" altLang="en-US" sz="1050" kern="0" dirty="0">
                <a:solidFill>
                  <a:srgbClr val="000000"/>
                </a:solidFill>
                <a:cs typeface="Arial"/>
              </a:rPr>
              <a:t>意图</a:t>
            </a:r>
            <a:r>
              <a:rPr lang="en-US" altLang="zh-CN" sz="1050" kern="0" dirty="0" smtClean="0">
                <a:solidFill>
                  <a:srgbClr val="000000"/>
                </a:solidFill>
                <a:cs typeface="Arial"/>
              </a:rPr>
              <a:t>API</a:t>
            </a:r>
            <a:endParaRPr lang="en-US" altLang="zh-CN" sz="1050" kern="0" dirty="0">
              <a:solidFill>
                <a:srgbClr val="000000"/>
              </a:solidFill>
              <a:cs typeface="Arial"/>
            </a:endParaRPr>
          </a:p>
        </p:txBody>
      </p:sp>
      <p:sp>
        <p:nvSpPr>
          <p:cNvPr id="60" name="Rounded Rectangle 326">
            <a:extLst>
              <a:ext uri="{FF2B5EF4-FFF2-40B4-BE49-F238E27FC236}">
                <a16:creationId xmlns:a16="http://schemas.microsoft.com/office/drawing/2014/main" id="{F5B67F4E-4B50-0049-AB26-880C7EF3F117}"/>
              </a:ext>
            </a:extLst>
          </p:cNvPr>
          <p:cNvSpPr/>
          <p:nvPr/>
        </p:nvSpPr>
        <p:spPr>
          <a:xfrm>
            <a:off x="6378394" y="1693745"/>
            <a:ext cx="856936" cy="45982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1050" kern="0" dirty="0">
                <a:solidFill>
                  <a:srgbClr val="000000"/>
                </a:solidFill>
                <a:cs typeface="Arial"/>
              </a:rPr>
              <a:t>REST</a:t>
            </a:r>
            <a:r>
              <a:rPr lang="zh-CN" altLang="en-US" sz="1050" kern="0" dirty="0">
                <a:solidFill>
                  <a:srgbClr val="000000"/>
                </a:solidFill>
                <a:cs typeface="Arial"/>
              </a:rPr>
              <a:t>风格</a:t>
            </a:r>
            <a:endParaRPr lang="en-US" altLang="zh-CN" sz="1050" kern="0" dirty="0">
              <a:solidFill>
                <a:srgbClr val="000000"/>
              </a:solidFill>
              <a:cs typeface="Arial"/>
            </a:endParaRPr>
          </a:p>
          <a:p>
            <a:pPr algn="ctr" eaLnBrk="0" fontAlgn="base" hangingPunct="0">
              <a:spcBef>
                <a:spcPct val="0"/>
              </a:spcBef>
              <a:spcAft>
                <a:spcPct val="0"/>
              </a:spcAft>
            </a:pPr>
            <a:r>
              <a:rPr lang="zh-CN" altLang="en-US" sz="1050" kern="0" dirty="0">
                <a:solidFill>
                  <a:srgbClr val="000000"/>
                </a:solidFill>
                <a:cs typeface="Arial"/>
              </a:rPr>
              <a:t>的</a:t>
            </a:r>
            <a:r>
              <a:rPr lang="en-US" altLang="zh-CN" sz="1050" kern="0" dirty="0">
                <a:solidFill>
                  <a:srgbClr val="000000"/>
                </a:solidFill>
                <a:cs typeface="Arial"/>
              </a:rPr>
              <a:t>API</a:t>
            </a:r>
          </a:p>
        </p:txBody>
      </p:sp>
      <p:sp>
        <p:nvSpPr>
          <p:cNvPr id="61" name="TextBox 328">
            <a:extLst>
              <a:ext uri="{FF2B5EF4-FFF2-40B4-BE49-F238E27FC236}">
                <a16:creationId xmlns:a16="http://schemas.microsoft.com/office/drawing/2014/main" id="{38B852BE-9C6C-474A-AD5F-393039D0D661}"/>
              </a:ext>
            </a:extLst>
          </p:cNvPr>
          <p:cNvSpPr txBox="1"/>
          <p:nvPr/>
        </p:nvSpPr>
        <p:spPr>
          <a:xfrm>
            <a:off x="7243381" y="1712819"/>
            <a:ext cx="476412" cy="400110"/>
          </a:xfrm>
          <a:prstGeom prst="rect">
            <a:avLst/>
          </a:prstGeom>
          <a:noFill/>
        </p:spPr>
        <p:txBody>
          <a:bodyPr wrap="none" rtlCol="0">
            <a:spAutoFit/>
          </a:bodyPr>
          <a:lstStyle/>
          <a:p>
            <a:pPr eaLnBrk="0" fontAlgn="base" hangingPunct="0">
              <a:spcBef>
                <a:spcPct val="0"/>
              </a:spcBef>
              <a:spcAft>
                <a:spcPct val="0"/>
              </a:spcAft>
            </a:pPr>
            <a:r>
              <a:rPr lang="en-US" sz="2000" dirty="0"/>
              <a:t>…</a:t>
            </a:r>
            <a:r>
              <a:rPr lang="en-US" sz="2000" dirty="0">
                <a:solidFill>
                  <a:srgbClr val="00CC99">
                    <a:lumMod val="60000"/>
                    <a:lumOff val="40000"/>
                  </a:srgbClr>
                </a:solidFill>
              </a:rPr>
              <a:t>  </a:t>
            </a:r>
          </a:p>
        </p:txBody>
      </p:sp>
      <p:sp>
        <p:nvSpPr>
          <p:cNvPr id="62" name="TextBox 329">
            <a:extLst>
              <a:ext uri="{FF2B5EF4-FFF2-40B4-BE49-F238E27FC236}">
                <a16:creationId xmlns:a16="http://schemas.microsoft.com/office/drawing/2014/main" id="{CD58AB62-EE81-684F-AAAA-1262DCBC90EF}"/>
              </a:ext>
            </a:extLst>
          </p:cNvPr>
          <p:cNvSpPr txBox="1"/>
          <p:nvPr/>
        </p:nvSpPr>
        <p:spPr>
          <a:xfrm>
            <a:off x="5030057" y="1374603"/>
            <a:ext cx="3367615" cy="323165"/>
          </a:xfrm>
          <a:prstGeom prst="rect">
            <a:avLst/>
          </a:prstGeom>
          <a:noFill/>
        </p:spPr>
        <p:txBody>
          <a:bodyPr wrap="square" rtlCol="0">
            <a:spAutoFit/>
          </a:bodyPr>
          <a:lstStyle/>
          <a:p>
            <a:pPr eaLnBrk="0" fontAlgn="base" hangingPunct="0">
              <a:lnSpc>
                <a:spcPts val="1800"/>
              </a:lnSpc>
              <a:spcBef>
                <a:spcPct val="0"/>
              </a:spcBef>
              <a:spcAft>
                <a:spcPct val="0"/>
              </a:spcAft>
            </a:pPr>
            <a:r>
              <a:rPr lang="zh-CN" altLang="en-US" sz="1100" dirty="0">
                <a:solidFill>
                  <a:srgbClr val="000000"/>
                </a:solidFill>
                <a:cs typeface="Arial"/>
              </a:rPr>
              <a:t>与网络控制应用程序的通信</a:t>
            </a:r>
          </a:p>
        </p:txBody>
      </p:sp>
      <p:cxnSp>
        <p:nvCxnSpPr>
          <p:cNvPr id="63" name="Straight Connector 330">
            <a:extLst>
              <a:ext uri="{FF2B5EF4-FFF2-40B4-BE49-F238E27FC236}">
                <a16:creationId xmlns:a16="http://schemas.microsoft.com/office/drawing/2014/main" id="{B8830464-03B5-0F4C-9648-5F38F26A43A3}"/>
              </a:ext>
            </a:extLst>
          </p:cNvPr>
          <p:cNvCxnSpPr/>
          <p:nvPr/>
        </p:nvCxnSpPr>
        <p:spPr bwMode="auto">
          <a:xfrm>
            <a:off x="4337165" y="1206200"/>
            <a:ext cx="4533785" cy="21868"/>
          </a:xfrm>
          <a:prstGeom prst="line">
            <a:avLst/>
          </a:prstGeom>
          <a:solidFill>
            <a:srgbClr val="00CC99"/>
          </a:solidFill>
          <a:ln w="19050" cap="flat" cmpd="sng" algn="ctr">
            <a:solidFill>
              <a:srgbClr val="00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64" name="TextBox 32"/>
          <p:cNvSpPr txBox="1"/>
          <p:nvPr/>
        </p:nvSpPr>
        <p:spPr>
          <a:xfrm>
            <a:off x="3981449" y="2913211"/>
            <a:ext cx="1058600" cy="461665"/>
          </a:xfrm>
          <a:prstGeom prst="rect">
            <a:avLst/>
          </a:prstGeom>
          <a:noFill/>
        </p:spPr>
        <p:txBody>
          <a:bodyPr wrap="square" rtlCol="0">
            <a:spAutoFit/>
          </a:bodyPr>
          <a:lstStyle/>
          <a:p>
            <a:pPr algn="ctr"/>
            <a:r>
              <a:rPr lang="zh-CN" altLang="en-US" sz="1200" dirty="0" smtClean="0">
                <a:cs typeface="Times New Roman" pitchFamily="18" charset="0"/>
              </a:rPr>
              <a:t>全网状态</a:t>
            </a:r>
            <a:endParaRPr lang="en-US" altLang="zh-CN" sz="1200" dirty="0" smtClean="0">
              <a:cs typeface="Times New Roman" pitchFamily="18" charset="0"/>
            </a:endParaRPr>
          </a:p>
          <a:p>
            <a:pPr algn="ctr"/>
            <a:r>
              <a:rPr lang="zh-CN" altLang="en-US" sz="1200" dirty="0" smtClean="0">
                <a:cs typeface="Times New Roman" pitchFamily="18" charset="0"/>
              </a:rPr>
              <a:t>管理层</a:t>
            </a:r>
            <a:endParaRPr lang="zh-CN" altLang="en-US" sz="1200" dirty="0">
              <a:cs typeface="Times New Roman" pitchFamily="18" charset="0"/>
            </a:endParaRPr>
          </a:p>
        </p:txBody>
      </p:sp>
      <p:sp>
        <p:nvSpPr>
          <p:cNvPr id="65" name="TextBox 33"/>
          <p:cNvSpPr txBox="1"/>
          <p:nvPr/>
        </p:nvSpPr>
        <p:spPr>
          <a:xfrm>
            <a:off x="3981449" y="1623938"/>
            <a:ext cx="1052919" cy="461665"/>
          </a:xfrm>
          <a:prstGeom prst="rect">
            <a:avLst/>
          </a:prstGeom>
          <a:noFill/>
        </p:spPr>
        <p:txBody>
          <a:bodyPr wrap="square" rtlCol="0">
            <a:spAutoFit/>
          </a:bodyPr>
          <a:lstStyle/>
          <a:p>
            <a:pPr algn="ctr"/>
            <a:r>
              <a:rPr lang="zh-CN" altLang="en-US" sz="1200" dirty="0" smtClean="0">
                <a:cs typeface="Times New Roman" pitchFamily="18" charset="0"/>
              </a:rPr>
              <a:t>到应用平面的接口</a:t>
            </a:r>
            <a:endParaRPr lang="zh-CN" altLang="en-US" sz="1200" dirty="0">
              <a:cs typeface="Times New Roman" pitchFamily="18" charset="0"/>
            </a:endParaRPr>
          </a:p>
        </p:txBody>
      </p:sp>
      <p:sp>
        <p:nvSpPr>
          <p:cNvPr id="66" name="上下箭头 65"/>
          <p:cNvSpPr/>
          <p:nvPr/>
        </p:nvSpPr>
        <p:spPr>
          <a:xfrm>
            <a:off x="6767368" y="4425690"/>
            <a:ext cx="197146" cy="307211"/>
          </a:xfrm>
          <a:prstGeom prst="upDown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上下箭头 66"/>
          <p:cNvSpPr/>
          <p:nvPr/>
        </p:nvSpPr>
        <p:spPr>
          <a:xfrm>
            <a:off x="6738922" y="1072766"/>
            <a:ext cx="197146" cy="307211"/>
          </a:xfrm>
          <a:prstGeom prst="upDown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TextBox 109"/>
          <p:cNvSpPr txBox="1"/>
          <p:nvPr/>
        </p:nvSpPr>
        <p:spPr>
          <a:xfrm>
            <a:off x="6923422" y="4522989"/>
            <a:ext cx="736099" cy="276999"/>
          </a:xfrm>
          <a:prstGeom prst="rect">
            <a:avLst/>
          </a:prstGeom>
          <a:noFill/>
        </p:spPr>
        <p:txBody>
          <a:bodyPr wrap="none" rtlCol="0">
            <a:spAutoFit/>
          </a:bodyPr>
          <a:lstStyle/>
          <a:p>
            <a:pPr algn="ctr"/>
            <a:r>
              <a:rPr lang="zh-CN" altLang="en-US" sz="1200" dirty="0" smtClean="0"/>
              <a:t>南向 </a:t>
            </a:r>
            <a:r>
              <a:rPr lang="en-US" altLang="zh-CN" sz="1200" dirty="0" smtClean="0">
                <a:cs typeface="Times New Roman" pitchFamily="18" charset="0"/>
              </a:rPr>
              <a:t>API</a:t>
            </a:r>
            <a:endParaRPr lang="zh-CN" altLang="en-US" sz="1200" dirty="0">
              <a:cs typeface="Times New Roman" pitchFamily="18" charset="0"/>
            </a:endParaRPr>
          </a:p>
        </p:txBody>
      </p:sp>
      <p:sp>
        <p:nvSpPr>
          <p:cNvPr id="69" name="TextBox 112"/>
          <p:cNvSpPr txBox="1"/>
          <p:nvPr/>
        </p:nvSpPr>
        <p:spPr>
          <a:xfrm>
            <a:off x="7063121" y="982175"/>
            <a:ext cx="736099" cy="276999"/>
          </a:xfrm>
          <a:prstGeom prst="rect">
            <a:avLst/>
          </a:prstGeom>
          <a:noFill/>
        </p:spPr>
        <p:txBody>
          <a:bodyPr wrap="none" rtlCol="0">
            <a:spAutoFit/>
          </a:bodyPr>
          <a:lstStyle/>
          <a:p>
            <a:pPr algn="ctr"/>
            <a:r>
              <a:rPr lang="zh-CN" altLang="en-US" sz="1200" dirty="0" smtClean="0"/>
              <a:t>北向 </a:t>
            </a:r>
            <a:r>
              <a:rPr lang="en-US" altLang="zh-CN" sz="1200" dirty="0" smtClean="0">
                <a:cs typeface="Times New Roman" pitchFamily="18" charset="0"/>
              </a:rPr>
              <a:t>API</a:t>
            </a:r>
            <a:endParaRPr lang="zh-CN" altLang="en-US" sz="1200" dirty="0">
              <a:cs typeface="Times New Roman" pitchFamily="18" charset="0"/>
            </a:endParaRPr>
          </a:p>
        </p:txBody>
      </p:sp>
    </p:spTree>
    <p:custDataLst>
      <p:tags r:id="rId1"/>
    </p:custDataLst>
    <p:extLst>
      <p:ext uri="{BB962C8B-B14F-4D97-AF65-F5344CB8AC3E}">
        <p14:creationId xmlns:p14="http://schemas.microsoft.com/office/powerpoint/2010/main" val="212220478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0">
                                            <p:txEl>
                                              <p:pRg st="0" end="0"/>
                                            </p:txEl>
                                          </p:spTgt>
                                        </p:tgtEl>
                                        <p:attrNameLst>
                                          <p:attrName>style.visibility</p:attrName>
                                        </p:attrNameLst>
                                      </p:cBhvr>
                                      <p:to>
                                        <p:strVal val="visible"/>
                                      </p:to>
                                    </p:set>
                                    <p:animEffect transition="in" filter="fade">
                                      <p:cBhvr>
                                        <p:cTn id="7" dur="500"/>
                                        <p:tgtEl>
                                          <p:spTgt spid="28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9">
                                            <p:txEl>
                                              <p:pRg st="0" end="0"/>
                                            </p:txEl>
                                          </p:spTgt>
                                        </p:tgtEl>
                                        <p:attrNameLst>
                                          <p:attrName>style.visibility</p:attrName>
                                        </p:attrNameLst>
                                      </p:cBhvr>
                                      <p:to>
                                        <p:strVal val="visible"/>
                                      </p:to>
                                    </p:set>
                                    <p:animEffect transition="in" filter="fade">
                                      <p:cBhvr>
                                        <p:cTn id="12" dur="500"/>
                                        <p:tgtEl>
                                          <p:spTgt spid="2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TextBox 34"/>
          <p:cNvSpPr txBox="1"/>
          <p:nvPr/>
        </p:nvSpPr>
        <p:spPr>
          <a:xfrm>
            <a:off x="4270479" y="4081859"/>
            <a:ext cx="720872" cy="276999"/>
          </a:xfrm>
          <a:prstGeom prst="rect">
            <a:avLst/>
          </a:prstGeom>
          <a:solidFill>
            <a:schemeClr val="bg1"/>
          </a:solidFill>
        </p:spPr>
        <p:txBody>
          <a:bodyPr wrap="square" rtlCol="0">
            <a:spAutoFit/>
          </a:bodyPr>
          <a:lstStyle/>
          <a:p>
            <a:pPr algn="ctr"/>
            <a:r>
              <a:rPr lang="zh-CN" altLang="en-US" sz="1200" dirty="0" smtClean="0">
                <a:cs typeface="Times New Roman" pitchFamily="18" charset="0"/>
              </a:rPr>
              <a:t>通信层</a:t>
            </a:r>
            <a:endParaRPr lang="zh-CN" altLang="en-US" sz="1200" dirty="0">
              <a:cs typeface="Times New Roman" pitchFamily="18" charset="0"/>
            </a:endParaRPr>
          </a:p>
        </p:txBody>
      </p:sp>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SDN </a:t>
            </a:r>
            <a:r>
              <a:rPr lang="zh-CN" altLang="en-US" sz="2400" b="1" dirty="0">
                <a:solidFill>
                  <a:schemeClr val="bg1"/>
                </a:solidFill>
                <a:latin typeface="微软雅黑" pitchFamily="34" charset="-122"/>
                <a:ea typeface="微软雅黑" pitchFamily="34" charset="-122"/>
              </a:rPr>
              <a:t>控制器</a:t>
            </a:r>
          </a:p>
        </p:txBody>
      </p:sp>
      <p:sp>
        <p:nvSpPr>
          <p:cNvPr id="4" name="Rectangle 8"/>
          <p:cNvSpPr>
            <a:spLocks noChangeArrowheads="1"/>
          </p:cNvSpPr>
          <p:nvPr/>
        </p:nvSpPr>
        <p:spPr bwMode="auto">
          <a:xfrm>
            <a:off x="545142" y="961288"/>
            <a:ext cx="3507197" cy="388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200"/>
              </a:lnSpc>
              <a:buClr>
                <a:srgbClr val="0070C0"/>
              </a:buClr>
              <a:buFont typeface="Wingdings" pitchFamily="2" charset="2"/>
              <a:buChar char="l"/>
            </a:pPr>
            <a:r>
              <a:rPr lang="zh-CN" altLang="en-US" sz="1400" b="1" dirty="0" smtClean="0">
                <a:latin typeface="微软雅黑" pitchFamily="34" charset="-122"/>
                <a:ea typeface="微软雅黑" pitchFamily="34" charset="-122"/>
              </a:rPr>
              <a:t>到应用平面的</a:t>
            </a:r>
            <a:r>
              <a:rPr lang="zh-CN" altLang="en-US" sz="1400" b="1" dirty="0">
                <a:latin typeface="微软雅黑" pitchFamily="34" charset="-122"/>
                <a:ea typeface="微软雅黑" pitchFamily="34" charset="-122"/>
              </a:rPr>
              <a:t>接口</a:t>
            </a:r>
            <a:endParaRPr lang="en-US" altLang="zh-CN" sz="1400" b="1" dirty="0">
              <a:latin typeface="微软雅黑" pitchFamily="34" charset="-122"/>
              <a:ea typeface="微软雅黑" pitchFamily="34" charset="-122"/>
            </a:endParaRPr>
          </a:p>
          <a:p>
            <a:pPr marL="742950" lvl="1" indent="-285750">
              <a:lnSpc>
                <a:spcPts val="2000"/>
              </a:lnSpc>
              <a:buClr>
                <a:srgbClr val="0070C0"/>
              </a:buClr>
              <a:buFont typeface="Wingdings" pitchFamily="2" charset="2"/>
              <a:buChar char="l"/>
            </a:pPr>
            <a:r>
              <a:rPr lang="en-US" altLang="zh-CN" sz="1200" b="1" dirty="0">
                <a:latin typeface="微软雅黑" pitchFamily="34" charset="-122"/>
                <a:ea typeface="微软雅黑" pitchFamily="34" charset="-122"/>
              </a:rPr>
              <a:t>SDN</a:t>
            </a:r>
            <a:r>
              <a:rPr lang="zh-CN" altLang="en-US" sz="1200" b="1" dirty="0">
                <a:latin typeface="微软雅黑" pitchFamily="34" charset="-122"/>
                <a:ea typeface="微软雅黑" pitchFamily="34" charset="-122"/>
              </a:rPr>
              <a:t>控制器与网络控制应用程序的交互接口。</a:t>
            </a:r>
            <a:endParaRPr lang="en-US" altLang="zh-CN" sz="1200" b="1" dirty="0">
              <a:latin typeface="微软雅黑" pitchFamily="34" charset="-122"/>
              <a:ea typeface="微软雅黑" pitchFamily="34" charset="-122"/>
            </a:endParaRPr>
          </a:p>
          <a:p>
            <a:pPr marL="742950" lvl="1" indent="-285750">
              <a:lnSpc>
                <a:spcPts val="2200"/>
              </a:lnSpc>
              <a:buClr>
                <a:srgbClr val="0070C0"/>
              </a:buClr>
              <a:buFont typeface="Wingdings" pitchFamily="2" charset="2"/>
              <a:buChar char="l"/>
            </a:pPr>
            <a:r>
              <a:rPr lang="zh-CN" altLang="en-US" sz="1200" b="1" dirty="0">
                <a:latin typeface="微软雅黑" pitchFamily="34" charset="-122"/>
                <a:ea typeface="微软雅黑" pitchFamily="34" charset="-122"/>
              </a:rPr>
              <a:t>代表性实现：</a:t>
            </a:r>
            <a:r>
              <a:rPr lang="en-US" altLang="zh-CN" sz="1200" b="1" dirty="0">
                <a:latin typeface="微软雅黑" pitchFamily="34" charset="-122"/>
                <a:ea typeface="微软雅黑" pitchFamily="34" charset="-122"/>
              </a:rPr>
              <a:t>REST</a:t>
            </a:r>
            <a:r>
              <a:rPr lang="zh-CN" altLang="en-US" sz="1200" b="1" dirty="0">
                <a:latin typeface="微软雅黑" pitchFamily="34" charset="-122"/>
                <a:ea typeface="微软雅黑" pitchFamily="34" charset="-122"/>
              </a:rPr>
              <a:t>风格的</a:t>
            </a:r>
            <a:r>
              <a:rPr lang="en-US" altLang="zh-CN" sz="1200" b="1" dirty="0">
                <a:latin typeface="微软雅黑" pitchFamily="34" charset="-122"/>
                <a:ea typeface="微软雅黑" pitchFamily="34" charset="-122"/>
              </a:rPr>
              <a:t>API</a:t>
            </a:r>
          </a:p>
          <a:p>
            <a:pPr marL="285750" indent="-285750">
              <a:lnSpc>
                <a:spcPts val="2200"/>
              </a:lnSpc>
              <a:buClr>
                <a:srgbClr val="0070C0"/>
              </a:buClr>
              <a:buFont typeface="Wingdings" pitchFamily="2" charset="2"/>
              <a:buChar char="l"/>
            </a:pPr>
            <a:r>
              <a:rPr lang="zh-CN" altLang="en-US" sz="1400" b="1" dirty="0" smtClean="0">
                <a:latin typeface="微软雅黑" pitchFamily="34" charset="-122"/>
                <a:ea typeface="微软雅黑" pitchFamily="34" charset="-122"/>
              </a:rPr>
              <a:t>全网状态</a:t>
            </a:r>
            <a:r>
              <a:rPr lang="zh-CN" altLang="en-US" sz="1400" b="1" dirty="0">
                <a:latin typeface="微软雅黑" pitchFamily="34" charset="-122"/>
                <a:ea typeface="微软雅黑" pitchFamily="34" charset="-122"/>
              </a:rPr>
              <a:t>管理</a:t>
            </a:r>
            <a:r>
              <a:rPr lang="zh-CN" altLang="en-US" sz="1400" b="1" dirty="0" smtClean="0">
                <a:latin typeface="微软雅黑" pitchFamily="34" charset="-122"/>
                <a:ea typeface="微软雅黑" pitchFamily="34" charset="-122"/>
              </a:rPr>
              <a:t>层</a:t>
            </a:r>
            <a:endParaRPr lang="en-US" altLang="zh-CN" sz="1400" b="1" dirty="0" smtClean="0">
              <a:latin typeface="微软雅黑" pitchFamily="34" charset="-122"/>
              <a:ea typeface="微软雅黑" pitchFamily="34" charset="-122"/>
            </a:endParaRPr>
          </a:p>
          <a:p>
            <a:pPr marL="742950" lvl="1" indent="-285750">
              <a:lnSpc>
                <a:spcPts val="2200"/>
              </a:lnSpc>
              <a:buClr>
                <a:srgbClr val="0070C0"/>
              </a:buClr>
              <a:buFont typeface="Wingdings" pitchFamily="2" charset="2"/>
              <a:buChar char="l"/>
            </a:pPr>
            <a:r>
              <a:rPr lang="zh-CN" altLang="en-US" sz="1200" b="1" dirty="0" smtClean="0">
                <a:latin typeface="微软雅黑" pitchFamily="34" charset="-122"/>
                <a:ea typeface="微软雅黑" pitchFamily="34" charset="-122"/>
              </a:rPr>
              <a:t>分布式的数据</a:t>
            </a:r>
            <a:r>
              <a:rPr lang="zh-CN" altLang="en-US" sz="1200" b="1" dirty="0">
                <a:latin typeface="微软雅黑" pitchFamily="34" charset="-122"/>
                <a:ea typeface="微软雅黑" pitchFamily="34" charset="-122"/>
              </a:rPr>
              <a:t>库</a:t>
            </a:r>
            <a:r>
              <a:rPr lang="zh-CN" altLang="en-US" sz="1200" b="1" dirty="0" smtClean="0">
                <a:latin typeface="微软雅黑" pitchFamily="34" charset="-122"/>
                <a:ea typeface="微软雅黑" pitchFamily="34" charset="-122"/>
              </a:rPr>
              <a:t>，存储网络链路、交换机等状态信息。</a:t>
            </a:r>
            <a:endParaRPr lang="en-US" altLang="zh-CN" sz="1200" b="1" dirty="0" smtClean="0">
              <a:latin typeface="微软雅黑" pitchFamily="34" charset="-122"/>
              <a:ea typeface="微软雅黑" pitchFamily="34" charset="-122"/>
            </a:endParaRPr>
          </a:p>
          <a:p>
            <a:pPr marL="285750" indent="-285750">
              <a:lnSpc>
                <a:spcPts val="2200"/>
              </a:lnSpc>
              <a:buClr>
                <a:srgbClr val="0070C0"/>
              </a:buClr>
              <a:buFont typeface="Wingdings" pitchFamily="2" charset="2"/>
              <a:buChar char="l"/>
            </a:pPr>
            <a:r>
              <a:rPr lang="zh-CN" altLang="en-US" sz="1400" b="1" dirty="0">
                <a:latin typeface="微软雅黑" pitchFamily="34" charset="-122"/>
                <a:ea typeface="微软雅黑" pitchFamily="34" charset="-122"/>
              </a:rPr>
              <a:t>通信层</a:t>
            </a:r>
            <a:endParaRPr lang="en-US" altLang="zh-CN" sz="1400" b="1" dirty="0">
              <a:latin typeface="微软雅黑" pitchFamily="34" charset="-122"/>
              <a:ea typeface="微软雅黑" pitchFamily="34" charset="-122"/>
            </a:endParaRPr>
          </a:p>
          <a:p>
            <a:pPr marL="742950" lvl="1" indent="-285750">
              <a:lnSpc>
                <a:spcPts val="2000"/>
              </a:lnSpc>
              <a:buClr>
                <a:srgbClr val="0070C0"/>
              </a:buClr>
              <a:buFont typeface="Wingdings" pitchFamily="2" charset="2"/>
              <a:buChar char="l"/>
            </a:pPr>
            <a:r>
              <a:rPr lang="zh-CN" altLang="en-US" sz="1200" b="1" dirty="0">
                <a:latin typeface="微软雅黑" pitchFamily="34" charset="-122"/>
                <a:ea typeface="微软雅黑" pitchFamily="34" charset="-122"/>
              </a:rPr>
              <a:t>完成</a:t>
            </a:r>
            <a:r>
              <a:rPr lang="en-US" altLang="zh-CN" sz="1200" b="1" dirty="0">
                <a:latin typeface="微软雅黑" pitchFamily="34" charset="-122"/>
                <a:ea typeface="微软雅黑" pitchFamily="34" charset="-122"/>
              </a:rPr>
              <a:t>SDN</a:t>
            </a:r>
            <a:r>
              <a:rPr lang="zh-CN" altLang="en-US" sz="1200" b="1" dirty="0">
                <a:latin typeface="微软雅黑" pitchFamily="34" charset="-122"/>
                <a:ea typeface="微软雅黑" pitchFamily="34" charset="-122"/>
              </a:rPr>
              <a:t>控制器与受控的网络设备之间的通信。</a:t>
            </a:r>
            <a:endParaRPr lang="en-US" altLang="zh-CN" sz="1200" b="1" dirty="0">
              <a:latin typeface="微软雅黑" pitchFamily="34" charset="-122"/>
              <a:ea typeface="微软雅黑" pitchFamily="34" charset="-122"/>
            </a:endParaRPr>
          </a:p>
          <a:p>
            <a:pPr marL="742950" lvl="1" indent="-285750">
              <a:lnSpc>
                <a:spcPts val="2000"/>
              </a:lnSpc>
              <a:buClr>
                <a:srgbClr val="0070C0"/>
              </a:buClr>
              <a:buFont typeface="Wingdings" pitchFamily="2" charset="2"/>
              <a:buChar char="l"/>
            </a:pPr>
            <a:r>
              <a:rPr lang="zh-CN" altLang="en-US" sz="1200" b="1" dirty="0">
                <a:latin typeface="微软雅黑" pitchFamily="34" charset="-122"/>
                <a:ea typeface="微软雅黑" pitchFamily="34" charset="-122"/>
              </a:rPr>
              <a:t>典型协议有</a:t>
            </a:r>
            <a:r>
              <a:rPr lang="en-US" altLang="zh-CN" sz="1200" b="1" dirty="0">
                <a:latin typeface="微软雅黑" pitchFamily="34" charset="-122"/>
                <a:ea typeface="微软雅黑" pitchFamily="34" charset="-122"/>
              </a:rPr>
              <a:t>OpenFlow</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SNMP</a:t>
            </a:r>
            <a:r>
              <a:rPr lang="zh-CN" altLang="en-US" sz="1200" b="1" dirty="0">
                <a:latin typeface="微软雅黑" pitchFamily="34" charset="-122"/>
                <a:ea typeface="微软雅黑" pitchFamily="34" charset="-122"/>
              </a:rPr>
              <a:t>，等等。通信层与数据平面的接口称作南向</a:t>
            </a:r>
            <a:r>
              <a:rPr lang="en-US" altLang="zh-CN" sz="1200" b="1" dirty="0">
                <a:latin typeface="微软雅黑" pitchFamily="34" charset="-122"/>
                <a:ea typeface="微软雅黑" pitchFamily="34" charset="-122"/>
              </a:rPr>
              <a:t>API</a:t>
            </a:r>
            <a:r>
              <a:rPr lang="zh-CN" altLang="en-US" sz="1200" b="1" dirty="0">
                <a:latin typeface="微软雅黑" pitchFamily="34" charset="-122"/>
                <a:ea typeface="微软雅黑" pitchFamily="34" charset="-122"/>
              </a:rPr>
              <a:t>接口。现有的</a:t>
            </a:r>
            <a:r>
              <a:rPr lang="en-US" altLang="zh-CN" sz="1200" b="1" dirty="0">
                <a:latin typeface="微软雅黑" pitchFamily="34" charset="-122"/>
                <a:ea typeface="微软雅黑" pitchFamily="34" charset="-122"/>
              </a:rPr>
              <a:t>SDN</a:t>
            </a:r>
            <a:r>
              <a:rPr lang="zh-CN" altLang="en-US" sz="1200" b="1" dirty="0">
                <a:latin typeface="微软雅黑" pitchFamily="34" charset="-122"/>
                <a:ea typeface="微软雅黑" pitchFamily="34" charset="-122"/>
              </a:rPr>
              <a:t>控制器基本上都支持</a:t>
            </a:r>
            <a:r>
              <a:rPr lang="en-US" altLang="zh-CN" sz="1200" b="1" dirty="0">
                <a:latin typeface="微软雅黑" pitchFamily="34" charset="-122"/>
                <a:ea typeface="微软雅黑" pitchFamily="34" charset="-122"/>
              </a:rPr>
              <a:t>OpenFlow</a:t>
            </a:r>
            <a:r>
              <a:rPr lang="zh-CN" altLang="en-US" sz="1200" b="1" dirty="0" smtClean="0">
                <a:latin typeface="微软雅黑" pitchFamily="34" charset="-122"/>
                <a:ea typeface="微软雅黑" pitchFamily="34" charset="-122"/>
              </a:rPr>
              <a:t>协议。</a:t>
            </a:r>
          </a:p>
        </p:txBody>
      </p:sp>
      <p:sp>
        <p:nvSpPr>
          <p:cNvPr id="90" name="Rectangle 284">
            <a:extLst>
              <a:ext uri="{FF2B5EF4-FFF2-40B4-BE49-F238E27FC236}">
                <a16:creationId xmlns:a16="http://schemas.microsoft.com/office/drawing/2014/main" id="{944E854B-8227-5B4D-85A7-A109A955A3A0}"/>
              </a:ext>
            </a:extLst>
          </p:cNvPr>
          <p:cNvSpPr/>
          <p:nvPr/>
        </p:nvSpPr>
        <p:spPr bwMode="auto">
          <a:xfrm>
            <a:off x="4928135" y="1311523"/>
            <a:ext cx="3850105" cy="3173365"/>
          </a:xfrm>
          <a:prstGeom prst="rect">
            <a:avLst/>
          </a:prstGeom>
          <a:solidFill>
            <a:schemeClr val="accent2">
              <a:lumMod val="40000"/>
              <a:lumOff val="60000"/>
            </a:schemeClr>
          </a:solidFill>
          <a:ln/>
        </p:spPr>
        <p:style>
          <a:lnRef idx="1">
            <a:schemeClr val="accent5"/>
          </a:lnRef>
          <a:fillRef idx="3">
            <a:schemeClr val="accent5"/>
          </a:fillRef>
          <a:effectRef idx="2">
            <a:schemeClr val="accent5"/>
          </a:effectRef>
          <a:fontRef idx="minor">
            <a:schemeClr val="lt1"/>
          </a:fontRef>
        </p:style>
        <p:txBody>
          <a:bodyPr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FFFFFF"/>
              </a:solidFill>
              <a:effectLst/>
              <a:uLnTx/>
              <a:uFillTx/>
              <a:cs typeface="+mn-cs"/>
            </a:endParaRPr>
          </a:p>
        </p:txBody>
      </p:sp>
      <p:sp>
        <p:nvSpPr>
          <p:cNvPr id="92" name="Rounded Rectangle 286">
            <a:extLst>
              <a:ext uri="{FF2B5EF4-FFF2-40B4-BE49-F238E27FC236}">
                <a16:creationId xmlns:a16="http://schemas.microsoft.com/office/drawing/2014/main" id="{B0C05023-542D-7B4C-94D1-9A99FB8BB403}"/>
              </a:ext>
            </a:extLst>
          </p:cNvPr>
          <p:cNvSpPr/>
          <p:nvPr/>
        </p:nvSpPr>
        <p:spPr>
          <a:xfrm>
            <a:off x="5034013" y="2285019"/>
            <a:ext cx="3660787" cy="1334096"/>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kern="0" dirty="0">
              <a:solidFill>
                <a:srgbClr val="000000"/>
              </a:solidFill>
              <a:latin typeface="Arial" charset="0"/>
              <a:ea typeface="ＭＳ Ｐゴシック" charset="0"/>
            </a:endParaRPr>
          </a:p>
        </p:txBody>
      </p:sp>
      <p:sp>
        <p:nvSpPr>
          <p:cNvPr id="93" name="Rounded Rectangle 287">
            <a:extLst>
              <a:ext uri="{FF2B5EF4-FFF2-40B4-BE49-F238E27FC236}">
                <a16:creationId xmlns:a16="http://schemas.microsoft.com/office/drawing/2014/main" id="{287C38A3-0850-C44D-B7B8-A9745DE5768E}"/>
              </a:ext>
            </a:extLst>
          </p:cNvPr>
          <p:cNvSpPr/>
          <p:nvPr/>
        </p:nvSpPr>
        <p:spPr>
          <a:xfrm>
            <a:off x="5034013" y="3682436"/>
            <a:ext cx="3660788" cy="737977"/>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kern="0" dirty="0">
              <a:solidFill>
                <a:srgbClr val="000000"/>
              </a:solidFill>
              <a:latin typeface="Arial" charset="0"/>
              <a:ea typeface="ＭＳ Ｐゴシック" charset="0"/>
            </a:endParaRPr>
          </a:p>
        </p:txBody>
      </p:sp>
      <p:cxnSp>
        <p:nvCxnSpPr>
          <p:cNvPr id="94" name="Straight Connector 288">
            <a:extLst>
              <a:ext uri="{FF2B5EF4-FFF2-40B4-BE49-F238E27FC236}">
                <a16:creationId xmlns:a16="http://schemas.microsoft.com/office/drawing/2014/main" id="{1BA3E4C1-2167-2941-8758-AC27C65BF336}"/>
              </a:ext>
            </a:extLst>
          </p:cNvPr>
          <p:cNvCxnSpPr/>
          <p:nvPr/>
        </p:nvCxnSpPr>
        <p:spPr bwMode="auto">
          <a:xfrm>
            <a:off x="4340728" y="4563171"/>
            <a:ext cx="4530222" cy="2153"/>
          </a:xfrm>
          <a:prstGeom prst="line">
            <a:avLst/>
          </a:prstGeom>
          <a:solidFill>
            <a:srgbClr val="00CC99"/>
          </a:solidFill>
          <a:ln w="19050" cap="flat" cmpd="sng" algn="ctr">
            <a:solidFill>
              <a:srgbClr val="00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95" name="TextBox 289">
            <a:extLst>
              <a:ext uri="{FF2B5EF4-FFF2-40B4-BE49-F238E27FC236}">
                <a16:creationId xmlns:a16="http://schemas.microsoft.com/office/drawing/2014/main" id="{FEF8BDCE-10A3-4945-890E-07302A2DDCE0}"/>
              </a:ext>
            </a:extLst>
          </p:cNvPr>
          <p:cNvSpPr txBox="1"/>
          <p:nvPr/>
        </p:nvSpPr>
        <p:spPr>
          <a:xfrm>
            <a:off x="5176718" y="2280411"/>
            <a:ext cx="2654898" cy="330761"/>
          </a:xfrm>
          <a:prstGeom prst="rect">
            <a:avLst/>
          </a:prstGeom>
          <a:noFill/>
        </p:spPr>
        <p:txBody>
          <a:bodyPr wrap="square" rtlCol="0">
            <a:spAutoFit/>
          </a:bodyPr>
          <a:lstStyle/>
          <a:p>
            <a:pPr eaLnBrk="0" fontAlgn="base" hangingPunct="0">
              <a:lnSpc>
                <a:spcPts val="1800"/>
              </a:lnSpc>
              <a:spcBef>
                <a:spcPct val="0"/>
              </a:spcBef>
              <a:spcAft>
                <a:spcPct val="0"/>
              </a:spcAft>
            </a:pPr>
            <a:r>
              <a:rPr lang="zh-CN" altLang="en-US" sz="1100" dirty="0">
                <a:solidFill>
                  <a:srgbClr val="000000"/>
                </a:solidFill>
                <a:cs typeface="Arial"/>
              </a:rPr>
              <a:t>网络范围分布式和健壮的状态管理</a:t>
            </a:r>
          </a:p>
        </p:txBody>
      </p:sp>
      <p:sp>
        <p:nvSpPr>
          <p:cNvPr id="96" name="TextBox 290">
            <a:extLst>
              <a:ext uri="{FF2B5EF4-FFF2-40B4-BE49-F238E27FC236}">
                <a16:creationId xmlns:a16="http://schemas.microsoft.com/office/drawing/2014/main" id="{1233DE24-DE17-EB41-94D3-7D3C67F566A0}"/>
              </a:ext>
            </a:extLst>
          </p:cNvPr>
          <p:cNvSpPr txBox="1"/>
          <p:nvPr/>
        </p:nvSpPr>
        <p:spPr>
          <a:xfrm>
            <a:off x="5082002" y="3645737"/>
            <a:ext cx="2413368" cy="323165"/>
          </a:xfrm>
          <a:prstGeom prst="rect">
            <a:avLst/>
          </a:prstGeom>
          <a:noFill/>
        </p:spPr>
        <p:txBody>
          <a:bodyPr wrap="square" rtlCol="0">
            <a:spAutoFit/>
          </a:bodyPr>
          <a:lstStyle/>
          <a:p>
            <a:pPr eaLnBrk="0" fontAlgn="base" hangingPunct="0">
              <a:lnSpc>
                <a:spcPts val="1800"/>
              </a:lnSpc>
              <a:spcBef>
                <a:spcPct val="0"/>
              </a:spcBef>
              <a:spcAft>
                <a:spcPct val="0"/>
              </a:spcAft>
            </a:pPr>
            <a:r>
              <a:rPr lang="zh-CN" altLang="en-US" sz="1100" dirty="0">
                <a:solidFill>
                  <a:srgbClr val="000000"/>
                </a:solidFill>
                <a:cs typeface="Arial"/>
              </a:rPr>
              <a:t>与</a:t>
            </a:r>
            <a:r>
              <a:rPr lang="zh-CN" altLang="en-US" sz="1100" dirty="0" smtClean="0">
                <a:solidFill>
                  <a:srgbClr val="000000"/>
                </a:solidFill>
                <a:cs typeface="Arial"/>
              </a:rPr>
              <a:t>数据</a:t>
            </a:r>
            <a:r>
              <a:rPr lang="zh-CN" altLang="en-US" sz="1100" dirty="0">
                <a:solidFill>
                  <a:srgbClr val="000000"/>
                </a:solidFill>
                <a:cs typeface="Arial"/>
              </a:rPr>
              <a:t>平面</a:t>
            </a:r>
            <a:r>
              <a:rPr lang="zh-CN" altLang="en-US" sz="1100" dirty="0" smtClean="0">
                <a:solidFill>
                  <a:srgbClr val="000000"/>
                </a:solidFill>
                <a:cs typeface="Arial"/>
              </a:rPr>
              <a:t>中</a:t>
            </a:r>
            <a:r>
              <a:rPr lang="zh-CN" altLang="en-US" sz="1100" dirty="0">
                <a:solidFill>
                  <a:srgbClr val="000000"/>
                </a:solidFill>
                <a:cs typeface="Arial"/>
              </a:rPr>
              <a:t>受控设备的通信</a:t>
            </a:r>
          </a:p>
        </p:txBody>
      </p:sp>
      <p:sp>
        <p:nvSpPr>
          <p:cNvPr id="98" name="Rounded Rectangle 292">
            <a:extLst>
              <a:ext uri="{FF2B5EF4-FFF2-40B4-BE49-F238E27FC236}">
                <a16:creationId xmlns:a16="http://schemas.microsoft.com/office/drawing/2014/main" id="{785F579F-89F0-D849-A148-DA31C29E0478}"/>
              </a:ext>
            </a:extLst>
          </p:cNvPr>
          <p:cNvSpPr/>
          <p:nvPr/>
        </p:nvSpPr>
        <p:spPr>
          <a:xfrm>
            <a:off x="5300822" y="3111180"/>
            <a:ext cx="897471" cy="39471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链路状</a:t>
            </a:r>
            <a:endParaRPr lang="en-US" altLang="zh-CN" sz="1050" kern="0" dirty="0">
              <a:solidFill>
                <a:srgbClr val="000000"/>
              </a:solidFill>
              <a:cs typeface="Arial"/>
            </a:endParaRPr>
          </a:p>
          <a:p>
            <a:pPr algn="ctr" eaLnBrk="0" fontAlgn="base" hangingPunct="0">
              <a:spcBef>
                <a:spcPct val="0"/>
              </a:spcBef>
              <a:spcAft>
                <a:spcPct val="0"/>
              </a:spcAft>
            </a:pPr>
            <a:r>
              <a:rPr lang="zh-CN" altLang="en-US" sz="1050" kern="0" dirty="0">
                <a:solidFill>
                  <a:srgbClr val="000000"/>
                </a:solidFill>
                <a:cs typeface="Arial"/>
              </a:rPr>
              <a:t>态信息</a:t>
            </a:r>
            <a:endParaRPr lang="en-US" altLang="zh-CN" sz="1050" kern="0" dirty="0">
              <a:solidFill>
                <a:srgbClr val="000000"/>
              </a:solidFill>
              <a:cs typeface="Arial"/>
            </a:endParaRPr>
          </a:p>
        </p:txBody>
      </p:sp>
      <p:sp>
        <p:nvSpPr>
          <p:cNvPr id="101" name="Rounded Rectangle 295">
            <a:extLst>
              <a:ext uri="{FF2B5EF4-FFF2-40B4-BE49-F238E27FC236}">
                <a16:creationId xmlns:a16="http://schemas.microsoft.com/office/drawing/2014/main" id="{8817EFC4-E482-D24A-BC32-D4E6D7FB0BEB}"/>
              </a:ext>
            </a:extLst>
          </p:cNvPr>
          <p:cNvSpPr/>
          <p:nvPr/>
        </p:nvSpPr>
        <p:spPr>
          <a:xfrm>
            <a:off x="7686608" y="3101051"/>
            <a:ext cx="851561" cy="40484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交换机信息</a:t>
            </a:r>
            <a:endParaRPr lang="en-US" altLang="zh-CN" sz="1050" kern="0" dirty="0">
              <a:solidFill>
                <a:srgbClr val="000000"/>
              </a:solidFill>
              <a:cs typeface="Arial"/>
            </a:endParaRPr>
          </a:p>
        </p:txBody>
      </p:sp>
      <p:sp>
        <p:nvSpPr>
          <p:cNvPr id="104" name="Rounded Rectangle 298">
            <a:extLst>
              <a:ext uri="{FF2B5EF4-FFF2-40B4-BE49-F238E27FC236}">
                <a16:creationId xmlns:a16="http://schemas.microsoft.com/office/drawing/2014/main" id="{0C279289-40E0-5040-BA32-5B9616160FE8}"/>
              </a:ext>
            </a:extLst>
          </p:cNvPr>
          <p:cNvSpPr/>
          <p:nvPr/>
        </p:nvSpPr>
        <p:spPr>
          <a:xfrm>
            <a:off x="6322851" y="3101051"/>
            <a:ext cx="844867" cy="40484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主机信息</a:t>
            </a:r>
            <a:endParaRPr lang="en-US" altLang="zh-CN" sz="1050" kern="0" dirty="0">
              <a:solidFill>
                <a:srgbClr val="000000"/>
              </a:solidFill>
              <a:cs typeface="Arial"/>
            </a:endParaRPr>
          </a:p>
        </p:txBody>
      </p:sp>
      <p:sp>
        <p:nvSpPr>
          <p:cNvPr id="107" name="Rounded Rectangle 301">
            <a:extLst>
              <a:ext uri="{FF2B5EF4-FFF2-40B4-BE49-F238E27FC236}">
                <a16:creationId xmlns:a16="http://schemas.microsoft.com/office/drawing/2014/main" id="{72A6745C-527A-3346-B849-6DEC25931482}"/>
              </a:ext>
            </a:extLst>
          </p:cNvPr>
          <p:cNvSpPr/>
          <p:nvPr/>
        </p:nvSpPr>
        <p:spPr>
          <a:xfrm>
            <a:off x="5625186" y="2628860"/>
            <a:ext cx="889706" cy="376878"/>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统计</a:t>
            </a:r>
            <a:endParaRPr lang="en-US" altLang="zh-CN" sz="1050" kern="0" dirty="0">
              <a:solidFill>
                <a:srgbClr val="000000"/>
              </a:solidFill>
              <a:cs typeface="Arial"/>
            </a:endParaRPr>
          </a:p>
        </p:txBody>
      </p:sp>
      <p:sp>
        <p:nvSpPr>
          <p:cNvPr id="110" name="Rounded Rectangle 304">
            <a:extLst>
              <a:ext uri="{FF2B5EF4-FFF2-40B4-BE49-F238E27FC236}">
                <a16:creationId xmlns:a16="http://schemas.microsoft.com/office/drawing/2014/main" id="{E293BA32-8AD1-2E4F-BF8B-655127670D8C}"/>
              </a:ext>
            </a:extLst>
          </p:cNvPr>
          <p:cNvSpPr/>
          <p:nvPr/>
        </p:nvSpPr>
        <p:spPr>
          <a:xfrm>
            <a:off x="7254254" y="2628859"/>
            <a:ext cx="907969" cy="38873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流表</a:t>
            </a:r>
            <a:endParaRPr lang="en-US" altLang="zh-CN" sz="1050" kern="0" dirty="0">
              <a:solidFill>
                <a:srgbClr val="000000"/>
              </a:solidFill>
              <a:cs typeface="Arial"/>
            </a:endParaRPr>
          </a:p>
        </p:txBody>
      </p:sp>
      <p:sp>
        <p:nvSpPr>
          <p:cNvPr id="140" name="TextBox 306">
            <a:extLst>
              <a:ext uri="{FF2B5EF4-FFF2-40B4-BE49-F238E27FC236}">
                <a16:creationId xmlns:a16="http://schemas.microsoft.com/office/drawing/2014/main" id="{9CB3D047-79BA-D64C-96E0-34616543CDAB}"/>
              </a:ext>
            </a:extLst>
          </p:cNvPr>
          <p:cNvSpPr txBox="1"/>
          <p:nvPr/>
        </p:nvSpPr>
        <p:spPr>
          <a:xfrm>
            <a:off x="6607036" y="2524503"/>
            <a:ext cx="570238" cy="400110"/>
          </a:xfrm>
          <a:prstGeom prst="rect">
            <a:avLst/>
          </a:prstGeom>
          <a:noFill/>
        </p:spPr>
        <p:txBody>
          <a:bodyPr wrap="square" rtlCol="0">
            <a:spAutoFit/>
          </a:bodyPr>
          <a:lstStyle/>
          <a:p>
            <a:pPr eaLnBrk="0" fontAlgn="base" hangingPunct="0">
              <a:spcBef>
                <a:spcPct val="0"/>
              </a:spcBef>
              <a:spcAft>
                <a:spcPct val="0"/>
              </a:spcAft>
            </a:pPr>
            <a:r>
              <a:rPr lang="en-US" sz="2000" dirty="0"/>
              <a:t>…  </a:t>
            </a:r>
          </a:p>
        </p:txBody>
      </p:sp>
      <p:sp>
        <p:nvSpPr>
          <p:cNvPr id="141" name="TextBox 307">
            <a:extLst>
              <a:ext uri="{FF2B5EF4-FFF2-40B4-BE49-F238E27FC236}">
                <a16:creationId xmlns:a16="http://schemas.microsoft.com/office/drawing/2014/main" id="{0FE2F351-A5BF-7E4A-BD31-F4DFA935F67B}"/>
              </a:ext>
            </a:extLst>
          </p:cNvPr>
          <p:cNvSpPr txBox="1"/>
          <p:nvPr/>
        </p:nvSpPr>
        <p:spPr>
          <a:xfrm>
            <a:off x="7291771" y="3060587"/>
            <a:ext cx="476412" cy="400110"/>
          </a:xfrm>
          <a:prstGeom prst="rect">
            <a:avLst/>
          </a:prstGeom>
          <a:noFill/>
        </p:spPr>
        <p:txBody>
          <a:bodyPr wrap="none" rtlCol="0">
            <a:spAutoFit/>
          </a:bodyPr>
          <a:lstStyle/>
          <a:p>
            <a:pPr eaLnBrk="0" fontAlgn="base" hangingPunct="0">
              <a:spcBef>
                <a:spcPct val="0"/>
              </a:spcBef>
              <a:spcAft>
                <a:spcPct val="0"/>
              </a:spcAft>
            </a:pPr>
            <a:r>
              <a:rPr lang="en-US" sz="2000" dirty="0"/>
              <a:t>…  </a:t>
            </a:r>
          </a:p>
        </p:txBody>
      </p:sp>
      <p:sp>
        <p:nvSpPr>
          <p:cNvPr id="147" name="Rounded Rectangle 309">
            <a:extLst>
              <a:ext uri="{FF2B5EF4-FFF2-40B4-BE49-F238E27FC236}">
                <a16:creationId xmlns:a16="http://schemas.microsoft.com/office/drawing/2014/main" id="{D70B5B43-83B8-D248-A4C5-56B1B99D7540}"/>
              </a:ext>
            </a:extLst>
          </p:cNvPr>
          <p:cNvSpPr/>
          <p:nvPr/>
        </p:nvSpPr>
        <p:spPr>
          <a:xfrm>
            <a:off x="5176718" y="4035024"/>
            <a:ext cx="1257452" cy="286798"/>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1050" kern="0" dirty="0">
                <a:solidFill>
                  <a:srgbClr val="000000"/>
                </a:solidFill>
                <a:cs typeface="Arial"/>
              </a:rPr>
              <a:t>OpenFlow</a:t>
            </a:r>
          </a:p>
        </p:txBody>
      </p:sp>
      <p:sp>
        <p:nvSpPr>
          <p:cNvPr id="151" name="Rounded Rectangle 312">
            <a:extLst>
              <a:ext uri="{FF2B5EF4-FFF2-40B4-BE49-F238E27FC236}">
                <a16:creationId xmlns:a16="http://schemas.microsoft.com/office/drawing/2014/main" id="{85D1F457-4FAB-1547-8FDB-F99750CAEB89}"/>
              </a:ext>
            </a:extLst>
          </p:cNvPr>
          <p:cNvSpPr/>
          <p:nvPr/>
        </p:nvSpPr>
        <p:spPr>
          <a:xfrm>
            <a:off x="7045950" y="4039781"/>
            <a:ext cx="1244650" cy="307410"/>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1050" kern="0" dirty="0">
                <a:solidFill>
                  <a:srgbClr val="000000"/>
                </a:solidFill>
                <a:cs typeface="Arial"/>
              </a:rPr>
              <a:t>SNMP</a:t>
            </a:r>
          </a:p>
        </p:txBody>
      </p:sp>
      <p:sp>
        <p:nvSpPr>
          <p:cNvPr id="153" name="TextBox 314">
            <a:extLst>
              <a:ext uri="{FF2B5EF4-FFF2-40B4-BE49-F238E27FC236}">
                <a16:creationId xmlns:a16="http://schemas.microsoft.com/office/drawing/2014/main" id="{B03FB035-AB1A-294C-B7DD-352BD9267278}"/>
              </a:ext>
            </a:extLst>
          </p:cNvPr>
          <p:cNvSpPr txBox="1"/>
          <p:nvPr/>
        </p:nvSpPr>
        <p:spPr>
          <a:xfrm>
            <a:off x="6476832" y="3911917"/>
            <a:ext cx="476412" cy="400110"/>
          </a:xfrm>
          <a:prstGeom prst="rect">
            <a:avLst/>
          </a:prstGeom>
          <a:noFill/>
        </p:spPr>
        <p:txBody>
          <a:bodyPr wrap="none" rtlCol="0">
            <a:spAutoFit/>
          </a:bodyPr>
          <a:lstStyle/>
          <a:p>
            <a:pPr eaLnBrk="0" fontAlgn="base" hangingPunct="0">
              <a:spcBef>
                <a:spcPct val="0"/>
              </a:spcBef>
              <a:spcAft>
                <a:spcPct val="0"/>
              </a:spcAft>
            </a:pPr>
            <a:r>
              <a:rPr lang="en-US" sz="2000" dirty="0"/>
              <a:t>… </a:t>
            </a:r>
            <a:r>
              <a:rPr lang="en-US" sz="2000" dirty="0">
                <a:solidFill>
                  <a:srgbClr val="00CC99">
                    <a:lumMod val="60000"/>
                    <a:lumOff val="40000"/>
                  </a:srgbClr>
                </a:solidFill>
              </a:rPr>
              <a:t> </a:t>
            </a:r>
          </a:p>
        </p:txBody>
      </p:sp>
      <p:sp>
        <p:nvSpPr>
          <p:cNvPr id="157" name="Rounded Rectangle 318">
            <a:extLst>
              <a:ext uri="{FF2B5EF4-FFF2-40B4-BE49-F238E27FC236}">
                <a16:creationId xmlns:a16="http://schemas.microsoft.com/office/drawing/2014/main" id="{9FC19565-BA27-CF4F-9461-F1C46FCA8EEF}"/>
              </a:ext>
            </a:extLst>
          </p:cNvPr>
          <p:cNvSpPr/>
          <p:nvPr/>
        </p:nvSpPr>
        <p:spPr>
          <a:xfrm>
            <a:off x="5034013" y="1374603"/>
            <a:ext cx="3660788" cy="86488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kern="0" dirty="0">
              <a:solidFill>
                <a:srgbClr val="000000"/>
              </a:solidFill>
              <a:latin typeface="Arial" charset="0"/>
              <a:ea typeface="ＭＳ Ｐゴシック" charset="0"/>
            </a:endParaRPr>
          </a:p>
        </p:txBody>
      </p:sp>
      <p:sp>
        <p:nvSpPr>
          <p:cNvPr id="159" name="Rounded Rectangle 320">
            <a:extLst>
              <a:ext uri="{FF2B5EF4-FFF2-40B4-BE49-F238E27FC236}">
                <a16:creationId xmlns:a16="http://schemas.microsoft.com/office/drawing/2014/main" id="{70508080-4FED-294C-9D0D-78B9AED5A157}"/>
              </a:ext>
            </a:extLst>
          </p:cNvPr>
          <p:cNvSpPr/>
          <p:nvPr/>
        </p:nvSpPr>
        <p:spPr>
          <a:xfrm>
            <a:off x="5263769" y="1695289"/>
            <a:ext cx="809773" cy="45982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1050" kern="0" dirty="0">
                <a:solidFill>
                  <a:srgbClr val="000000"/>
                </a:solidFill>
                <a:cs typeface="Arial"/>
              </a:rPr>
              <a:t>网络图</a:t>
            </a:r>
          </a:p>
        </p:txBody>
      </p:sp>
      <p:sp>
        <p:nvSpPr>
          <p:cNvPr id="162" name="Rounded Rectangle 323">
            <a:extLst>
              <a:ext uri="{FF2B5EF4-FFF2-40B4-BE49-F238E27FC236}">
                <a16:creationId xmlns:a16="http://schemas.microsoft.com/office/drawing/2014/main" id="{238BD2F6-10FC-6749-9824-BF523F2C8381}"/>
              </a:ext>
            </a:extLst>
          </p:cNvPr>
          <p:cNvSpPr/>
          <p:nvPr/>
        </p:nvSpPr>
        <p:spPr>
          <a:xfrm>
            <a:off x="7730808" y="1715743"/>
            <a:ext cx="807361" cy="45982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defRPr/>
            </a:pPr>
            <a:r>
              <a:rPr lang="zh-CN" altLang="en-US" sz="1050" kern="0" dirty="0">
                <a:solidFill>
                  <a:srgbClr val="000000"/>
                </a:solidFill>
                <a:cs typeface="Arial"/>
              </a:rPr>
              <a:t>意图</a:t>
            </a:r>
            <a:r>
              <a:rPr lang="en-US" altLang="zh-CN" sz="1050" kern="0" dirty="0" smtClean="0">
                <a:solidFill>
                  <a:srgbClr val="000000"/>
                </a:solidFill>
                <a:cs typeface="Arial"/>
              </a:rPr>
              <a:t>API</a:t>
            </a:r>
            <a:endParaRPr lang="en-US" altLang="zh-CN" sz="1050" kern="0" dirty="0">
              <a:solidFill>
                <a:srgbClr val="000000"/>
              </a:solidFill>
              <a:cs typeface="Arial"/>
            </a:endParaRPr>
          </a:p>
        </p:txBody>
      </p:sp>
      <p:sp>
        <p:nvSpPr>
          <p:cNvPr id="165" name="Rounded Rectangle 326">
            <a:extLst>
              <a:ext uri="{FF2B5EF4-FFF2-40B4-BE49-F238E27FC236}">
                <a16:creationId xmlns:a16="http://schemas.microsoft.com/office/drawing/2014/main" id="{F5B67F4E-4B50-0049-AB26-880C7EF3F117}"/>
              </a:ext>
            </a:extLst>
          </p:cNvPr>
          <p:cNvSpPr/>
          <p:nvPr/>
        </p:nvSpPr>
        <p:spPr>
          <a:xfrm>
            <a:off x="6378394" y="1693745"/>
            <a:ext cx="856936" cy="45982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1050" kern="0" dirty="0">
                <a:solidFill>
                  <a:srgbClr val="000000"/>
                </a:solidFill>
                <a:cs typeface="Arial"/>
              </a:rPr>
              <a:t>REST</a:t>
            </a:r>
            <a:r>
              <a:rPr lang="zh-CN" altLang="en-US" sz="1050" kern="0" dirty="0">
                <a:solidFill>
                  <a:srgbClr val="000000"/>
                </a:solidFill>
                <a:cs typeface="Arial"/>
              </a:rPr>
              <a:t>风格</a:t>
            </a:r>
            <a:endParaRPr lang="en-US" altLang="zh-CN" sz="1050" kern="0" dirty="0">
              <a:solidFill>
                <a:srgbClr val="000000"/>
              </a:solidFill>
              <a:cs typeface="Arial"/>
            </a:endParaRPr>
          </a:p>
          <a:p>
            <a:pPr algn="ctr" eaLnBrk="0" fontAlgn="base" hangingPunct="0">
              <a:spcBef>
                <a:spcPct val="0"/>
              </a:spcBef>
              <a:spcAft>
                <a:spcPct val="0"/>
              </a:spcAft>
            </a:pPr>
            <a:r>
              <a:rPr lang="zh-CN" altLang="en-US" sz="1050" kern="0" dirty="0">
                <a:solidFill>
                  <a:srgbClr val="000000"/>
                </a:solidFill>
                <a:cs typeface="Arial"/>
              </a:rPr>
              <a:t>的</a:t>
            </a:r>
            <a:r>
              <a:rPr lang="en-US" altLang="zh-CN" sz="1050" kern="0" dirty="0">
                <a:solidFill>
                  <a:srgbClr val="000000"/>
                </a:solidFill>
                <a:cs typeface="Arial"/>
              </a:rPr>
              <a:t>API</a:t>
            </a:r>
          </a:p>
        </p:txBody>
      </p:sp>
      <p:sp>
        <p:nvSpPr>
          <p:cNvPr id="167" name="TextBox 328">
            <a:extLst>
              <a:ext uri="{FF2B5EF4-FFF2-40B4-BE49-F238E27FC236}">
                <a16:creationId xmlns:a16="http://schemas.microsoft.com/office/drawing/2014/main" id="{38B852BE-9C6C-474A-AD5F-393039D0D661}"/>
              </a:ext>
            </a:extLst>
          </p:cNvPr>
          <p:cNvSpPr txBox="1"/>
          <p:nvPr/>
        </p:nvSpPr>
        <p:spPr>
          <a:xfrm>
            <a:off x="7243381" y="1712819"/>
            <a:ext cx="476412" cy="400110"/>
          </a:xfrm>
          <a:prstGeom prst="rect">
            <a:avLst/>
          </a:prstGeom>
          <a:noFill/>
        </p:spPr>
        <p:txBody>
          <a:bodyPr wrap="none" rtlCol="0">
            <a:spAutoFit/>
          </a:bodyPr>
          <a:lstStyle/>
          <a:p>
            <a:pPr eaLnBrk="0" fontAlgn="base" hangingPunct="0">
              <a:spcBef>
                <a:spcPct val="0"/>
              </a:spcBef>
              <a:spcAft>
                <a:spcPct val="0"/>
              </a:spcAft>
            </a:pPr>
            <a:r>
              <a:rPr lang="en-US" sz="2000" dirty="0"/>
              <a:t>…</a:t>
            </a:r>
            <a:r>
              <a:rPr lang="en-US" sz="2000" dirty="0">
                <a:solidFill>
                  <a:srgbClr val="00CC99">
                    <a:lumMod val="60000"/>
                    <a:lumOff val="40000"/>
                  </a:srgbClr>
                </a:solidFill>
              </a:rPr>
              <a:t>  </a:t>
            </a:r>
          </a:p>
        </p:txBody>
      </p:sp>
      <p:sp>
        <p:nvSpPr>
          <p:cNvPr id="168" name="TextBox 329">
            <a:extLst>
              <a:ext uri="{FF2B5EF4-FFF2-40B4-BE49-F238E27FC236}">
                <a16:creationId xmlns:a16="http://schemas.microsoft.com/office/drawing/2014/main" id="{CD58AB62-EE81-684F-AAAA-1262DCBC90EF}"/>
              </a:ext>
            </a:extLst>
          </p:cNvPr>
          <p:cNvSpPr txBox="1"/>
          <p:nvPr/>
        </p:nvSpPr>
        <p:spPr>
          <a:xfrm>
            <a:off x="5030057" y="1374603"/>
            <a:ext cx="3367615" cy="323165"/>
          </a:xfrm>
          <a:prstGeom prst="rect">
            <a:avLst/>
          </a:prstGeom>
          <a:noFill/>
        </p:spPr>
        <p:txBody>
          <a:bodyPr wrap="square" rtlCol="0">
            <a:spAutoFit/>
          </a:bodyPr>
          <a:lstStyle/>
          <a:p>
            <a:pPr eaLnBrk="0" fontAlgn="base" hangingPunct="0">
              <a:lnSpc>
                <a:spcPts val="1800"/>
              </a:lnSpc>
              <a:spcBef>
                <a:spcPct val="0"/>
              </a:spcBef>
              <a:spcAft>
                <a:spcPct val="0"/>
              </a:spcAft>
            </a:pPr>
            <a:r>
              <a:rPr lang="zh-CN" altLang="en-US" sz="1100" dirty="0">
                <a:solidFill>
                  <a:srgbClr val="000000"/>
                </a:solidFill>
                <a:cs typeface="Arial"/>
              </a:rPr>
              <a:t>与网络控制应用程序的通信</a:t>
            </a:r>
          </a:p>
        </p:txBody>
      </p:sp>
      <p:cxnSp>
        <p:nvCxnSpPr>
          <p:cNvPr id="169" name="Straight Connector 330">
            <a:extLst>
              <a:ext uri="{FF2B5EF4-FFF2-40B4-BE49-F238E27FC236}">
                <a16:creationId xmlns:a16="http://schemas.microsoft.com/office/drawing/2014/main" id="{B8830464-03B5-0F4C-9648-5F38F26A43A3}"/>
              </a:ext>
            </a:extLst>
          </p:cNvPr>
          <p:cNvCxnSpPr/>
          <p:nvPr/>
        </p:nvCxnSpPr>
        <p:spPr bwMode="auto">
          <a:xfrm>
            <a:off x="4337165" y="1206200"/>
            <a:ext cx="4533785" cy="21868"/>
          </a:xfrm>
          <a:prstGeom prst="line">
            <a:avLst/>
          </a:prstGeom>
          <a:solidFill>
            <a:srgbClr val="00CC99"/>
          </a:solidFill>
          <a:ln w="19050" cap="flat" cmpd="sng" algn="ctr">
            <a:solidFill>
              <a:srgbClr val="00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284" name="上下箭头 283"/>
          <p:cNvSpPr/>
          <p:nvPr/>
        </p:nvSpPr>
        <p:spPr>
          <a:xfrm>
            <a:off x="6767368" y="4425690"/>
            <a:ext cx="197146" cy="307211"/>
          </a:xfrm>
          <a:prstGeom prst="upDown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6" name="上下箭头 285"/>
          <p:cNvSpPr/>
          <p:nvPr/>
        </p:nvSpPr>
        <p:spPr>
          <a:xfrm>
            <a:off x="6738922" y="1072766"/>
            <a:ext cx="197146" cy="307211"/>
          </a:xfrm>
          <a:prstGeom prst="upDownArrow">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TextBox 109"/>
          <p:cNvSpPr txBox="1"/>
          <p:nvPr/>
        </p:nvSpPr>
        <p:spPr>
          <a:xfrm>
            <a:off x="6923422" y="4522989"/>
            <a:ext cx="736099" cy="276999"/>
          </a:xfrm>
          <a:prstGeom prst="rect">
            <a:avLst/>
          </a:prstGeom>
          <a:noFill/>
        </p:spPr>
        <p:txBody>
          <a:bodyPr wrap="none" rtlCol="0">
            <a:spAutoFit/>
          </a:bodyPr>
          <a:lstStyle/>
          <a:p>
            <a:pPr algn="ctr"/>
            <a:r>
              <a:rPr lang="zh-CN" altLang="en-US" sz="1200" dirty="0" smtClean="0"/>
              <a:t>南向 </a:t>
            </a:r>
            <a:r>
              <a:rPr lang="en-US" altLang="zh-CN" sz="1200" dirty="0" smtClean="0">
                <a:cs typeface="Times New Roman" pitchFamily="18" charset="0"/>
              </a:rPr>
              <a:t>API</a:t>
            </a:r>
            <a:endParaRPr lang="zh-CN" altLang="en-US" sz="1200" dirty="0">
              <a:cs typeface="Times New Roman" pitchFamily="18" charset="0"/>
            </a:endParaRPr>
          </a:p>
        </p:txBody>
      </p:sp>
      <p:sp>
        <p:nvSpPr>
          <p:cNvPr id="288" name="TextBox 112"/>
          <p:cNvSpPr txBox="1"/>
          <p:nvPr/>
        </p:nvSpPr>
        <p:spPr>
          <a:xfrm>
            <a:off x="7063121" y="982175"/>
            <a:ext cx="736099" cy="276999"/>
          </a:xfrm>
          <a:prstGeom prst="rect">
            <a:avLst/>
          </a:prstGeom>
          <a:noFill/>
        </p:spPr>
        <p:txBody>
          <a:bodyPr wrap="none" rtlCol="0">
            <a:spAutoFit/>
          </a:bodyPr>
          <a:lstStyle/>
          <a:p>
            <a:pPr algn="ctr"/>
            <a:r>
              <a:rPr lang="zh-CN" altLang="en-US" sz="1200" dirty="0" smtClean="0"/>
              <a:t>北向 </a:t>
            </a:r>
            <a:r>
              <a:rPr lang="en-US" altLang="zh-CN" sz="1200" dirty="0" smtClean="0">
                <a:cs typeface="Times New Roman" pitchFamily="18" charset="0"/>
              </a:rPr>
              <a:t>API</a:t>
            </a:r>
            <a:endParaRPr lang="zh-CN" altLang="en-US" sz="1200" dirty="0">
              <a:cs typeface="Times New Roman" pitchFamily="18" charset="0"/>
            </a:endParaRPr>
          </a:p>
        </p:txBody>
      </p:sp>
      <p:sp>
        <p:nvSpPr>
          <p:cNvPr id="36" name="TextBox 32"/>
          <p:cNvSpPr txBox="1"/>
          <p:nvPr/>
        </p:nvSpPr>
        <p:spPr>
          <a:xfrm>
            <a:off x="3981449" y="2913211"/>
            <a:ext cx="1058600" cy="461665"/>
          </a:xfrm>
          <a:prstGeom prst="rect">
            <a:avLst/>
          </a:prstGeom>
          <a:noFill/>
        </p:spPr>
        <p:txBody>
          <a:bodyPr wrap="square" rtlCol="0">
            <a:spAutoFit/>
          </a:bodyPr>
          <a:lstStyle/>
          <a:p>
            <a:pPr algn="ctr"/>
            <a:r>
              <a:rPr lang="zh-CN" altLang="en-US" sz="1200" dirty="0" smtClean="0">
                <a:cs typeface="Times New Roman" pitchFamily="18" charset="0"/>
              </a:rPr>
              <a:t>全网状态</a:t>
            </a:r>
            <a:endParaRPr lang="en-US" altLang="zh-CN" sz="1200" dirty="0" smtClean="0">
              <a:cs typeface="Times New Roman" pitchFamily="18" charset="0"/>
            </a:endParaRPr>
          </a:p>
          <a:p>
            <a:pPr algn="ctr"/>
            <a:r>
              <a:rPr lang="zh-CN" altLang="en-US" sz="1200" dirty="0" smtClean="0">
                <a:cs typeface="Times New Roman" pitchFamily="18" charset="0"/>
              </a:rPr>
              <a:t>管理层</a:t>
            </a:r>
            <a:endParaRPr lang="zh-CN" altLang="en-US" sz="1200" dirty="0">
              <a:cs typeface="Times New Roman" pitchFamily="18" charset="0"/>
            </a:endParaRPr>
          </a:p>
        </p:txBody>
      </p:sp>
      <p:sp>
        <p:nvSpPr>
          <p:cNvPr id="37" name="TextBox 33"/>
          <p:cNvSpPr txBox="1"/>
          <p:nvPr/>
        </p:nvSpPr>
        <p:spPr>
          <a:xfrm>
            <a:off x="3981449" y="1623938"/>
            <a:ext cx="1052919" cy="461665"/>
          </a:xfrm>
          <a:prstGeom prst="rect">
            <a:avLst/>
          </a:prstGeom>
          <a:noFill/>
        </p:spPr>
        <p:txBody>
          <a:bodyPr wrap="square" rtlCol="0">
            <a:spAutoFit/>
          </a:bodyPr>
          <a:lstStyle/>
          <a:p>
            <a:pPr algn="ctr"/>
            <a:r>
              <a:rPr lang="zh-CN" altLang="en-US" sz="1200" dirty="0" smtClean="0">
                <a:cs typeface="Times New Roman" pitchFamily="18" charset="0"/>
              </a:rPr>
              <a:t>到应用平面的接口</a:t>
            </a:r>
            <a:endParaRPr lang="zh-CN" altLang="en-US" sz="1200" dirty="0">
              <a:cs typeface="Times New Roman" pitchFamily="18" charset="0"/>
            </a:endParaRPr>
          </a:p>
        </p:txBody>
      </p:sp>
    </p:spTree>
    <p:custDataLst>
      <p:tags r:id="rId1"/>
    </p:custDataLst>
    <p:extLst>
      <p:ext uri="{BB962C8B-B14F-4D97-AF65-F5344CB8AC3E}">
        <p14:creationId xmlns:p14="http://schemas.microsoft.com/office/powerpoint/2010/main" val="52158278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fade">
                                      <p:cBhvr>
                                        <p:cTn id="15" dur="500"/>
                                        <p:tgtEl>
                                          <p:spTgt spid="4">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fade">
                                      <p:cBhvr>
                                        <p:cTn id="18" dur="500"/>
                                        <p:tgtEl>
                                          <p:spTgt spid="4">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animEffect transition="in" filter="fade">
                                      <p:cBhvr>
                                        <p:cTn id="21"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16" name="Rectangle 6"/>
          <p:cNvSpPr>
            <a:spLocks noChangeArrowheads="1"/>
          </p:cNvSpPr>
          <p:nvPr/>
        </p:nvSpPr>
        <p:spPr bwMode="auto">
          <a:xfrm>
            <a:off x="3542715" y="576646"/>
            <a:ext cx="20585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smtClean="0">
                <a:solidFill>
                  <a:schemeClr val="bg1"/>
                </a:solidFill>
                <a:latin typeface="微软雅黑" pitchFamily="34" charset="-122"/>
                <a:ea typeface="微软雅黑" pitchFamily="34" charset="-122"/>
              </a:rPr>
              <a:t>ONOS</a:t>
            </a:r>
            <a:r>
              <a:rPr lang="zh-CN" altLang="en-US" sz="2400" b="1" dirty="0" smtClean="0">
                <a:solidFill>
                  <a:schemeClr val="bg1"/>
                </a:solidFill>
                <a:latin typeface="微软雅黑" pitchFamily="34" charset="-122"/>
                <a:ea typeface="微软雅黑" pitchFamily="34" charset="-122"/>
              </a:rPr>
              <a:t>控制器</a:t>
            </a:r>
            <a:endParaRPr lang="zh-CN" altLang="en-US" sz="2400" b="1" dirty="0">
              <a:solidFill>
                <a:schemeClr val="bg1"/>
              </a:solidFill>
              <a:latin typeface="微软雅黑" pitchFamily="34" charset="-122"/>
              <a:ea typeface="微软雅黑" pitchFamily="34" charset="-122"/>
            </a:endParaRPr>
          </a:p>
        </p:txBody>
      </p:sp>
      <p:sp>
        <p:nvSpPr>
          <p:cNvPr id="150" name="Rectangle 8"/>
          <p:cNvSpPr>
            <a:spLocks noChangeArrowheads="1"/>
          </p:cNvSpPr>
          <p:nvPr/>
        </p:nvSpPr>
        <p:spPr bwMode="auto">
          <a:xfrm>
            <a:off x="5368563" y="1171384"/>
            <a:ext cx="3748641" cy="297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500"/>
              </a:lnSpc>
              <a:buClr>
                <a:srgbClr val="0070C0"/>
              </a:buClr>
              <a:buFont typeface="Wingdings" pitchFamily="2" charset="2"/>
              <a:buChar char="l"/>
            </a:pPr>
            <a:r>
              <a:rPr lang="en-US" altLang="zh-CN" sz="1400" b="1" dirty="0" err="1">
                <a:latin typeface="微软雅黑" pitchFamily="34" charset="-122"/>
                <a:ea typeface="微软雅黑" pitchFamily="34" charset="-122"/>
              </a:rPr>
              <a:t>ON.Lab</a:t>
            </a:r>
            <a:r>
              <a:rPr lang="zh-CN" altLang="en-US" sz="1400" b="1" dirty="0">
                <a:latin typeface="微软雅黑" pitchFamily="34" charset="-122"/>
                <a:ea typeface="微软雅黑" pitchFamily="34" charset="-122"/>
              </a:rPr>
              <a:t>主导开发</a:t>
            </a:r>
            <a:r>
              <a:rPr lang="zh-CN" altLang="en-US" sz="1400" b="1" dirty="0" smtClean="0">
                <a:latin typeface="微软雅黑" pitchFamily="34" charset="-122"/>
                <a:ea typeface="微软雅黑" pitchFamily="34" charset="-122"/>
              </a:rPr>
              <a:t>的</a:t>
            </a:r>
            <a:r>
              <a:rPr lang="zh-CN" altLang="en-US" sz="1400" b="1" dirty="0" smtClean="0">
                <a:solidFill>
                  <a:srgbClr val="C00000"/>
                </a:solidFill>
                <a:latin typeface="微软雅黑" pitchFamily="34" charset="-122"/>
                <a:ea typeface="微软雅黑" pitchFamily="34" charset="-122"/>
              </a:rPr>
              <a:t>开</a:t>
            </a:r>
            <a:r>
              <a:rPr lang="zh-CN" altLang="en-US" sz="1400" b="1" dirty="0">
                <a:solidFill>
                  <a:srgbClr val="C00000"/>
                </a:solidFill>
                <a:latin typeface="微软雅黑" pitchFamily="34" charset="-122"/>
                <a:ea typeface="微软雅黑" pitchFamily="34" charset="-122"/>
              </a:rPr>
              <a:t>源</a:t>
            </a:r>
            <a:r>
              <a:rPr lang="en-US" altLang="zh-CN" sz="1400" b="1" dirty="0">
                <a:latin typeface="微软雅黑" pitchFamily="34" charset="-122"/>
                <a:ea typeface="微软雅黑" pitchFamily="34" charset="-122"/>
              </a:rPr>
              <a:t>SDN</a:t>
            </a:r>
            <a:r>
              <a:rPr lang="zh-CN" altLang="en-US" sz="1400" b="1" dirty="0" smtClean="0">
                <a:latin typeface="微软雅黑" pitchFamily="34" charset="-122"/>
                <a:ea typeface="微软雅黑" pitchFamily="34" charset="-122"/>
              </a:rPr>
              <a:t>控制器，</a:t>
            </a:r>
            <a:r>
              <a:rPr lang="zh-CN" altLang="en-US" sz="1400" b="1" dirty="0" smtClean="0">
                <a:solidFill>
                  <a:srgbClr val="C00000"/>
                </a:solidFill>
                <a:latin typeface="微软雅黑" pitchFamily="34" charset="-122"/>
                <a:ea typeface="微软雅黑" pitchFamily="34" charset="-122"/>
              </a:rPr>
              <a:t>分布式架构。</a:t>
            </a:r>
            <a:endParaRPr lang="en-US" altLang="zh-CN" sz="1400" b="1" dirty="0" smtClean="0">
              <a:solidFill>
                <a:srgbClr val="C00000"/>
              </a:solidFill>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自上而下包括</a:t>
            </a:r>
            <a:r>
              <a:rPr lang="zh-CN" altLang="en-US" sz="1400" b="1" dirty="0">
                <a:solidFill>
                  <a:srgbClr val="C00000"/>
                </a:solidFill>
                <a:latin typeface="微软雅黑" pitchFamily="34" charset="-122"/>
                <a:ea typeface="微软雅黑" pitchFamily="34" charset="-122"/>
              </a:rPr>
              <a:t>北向接口层、分布式核心层、南向接口层</a:t>
            </a:r>
            <a:r>
              <a:rPr lang="zh-CN" altLang="en-US" sz="1400" b="1" dirty="0" smtClean="0">
                <a:solidFill>
                  <a:srgbClr val="C00000"/>
                </a:solidFill>
                <a:latin typeface="微软雅黑" pitchFamily="34" charset="-122"/>
                <a:ea typeface="微软雅黑" pitchFamily="34" charset="-122"/>
              </a:rPr>
              <a:t>、适</a:t>
            </a:r>
            <a:r>
              <a:rPr lang="zh-CN" altLang="en-US" sz="1400" b="1" dirty="0">
                <a:solidFill>
                  <a:srgbClr val="C00000"/>
                </a:solidFill>
                <a:latin typeface="微软雅黑" pitchFamily="34" charset="-122"/>
                <a:ea typeface="微软雅黑" pitchFamily="34" charset="-122"/>
              </a:rPr>
              <a:t>配层、以及南向协议层</a:t>
            </a:r>
            <a:r>
              <a:rPr lang="en-US" altLang="zh-CN" sz="1400" b="1" dirty="0">
                <a:latin typeface="微软雅黑" pitchFamily="34" charset="-122"/>
                <a:ea typeface="微软雅黑" pitchFamily="34" charset="-122"/>
              </a:rPr>
              <a:t>5</a:t>
            </a:r>
            <a:r>
              <a:rPr lang="zh-CN" altLang="en-US" sz="1400" b="1" dirty="0">
                <a:latin typeface="微软雅黑" pitchFamily="34" charset="-122"/>
                <a:ea typeface="微软雅黑" pitchFamily="34" charset="-122"/>
              </a:rPr>
              <a:t>个</a:t>
            </a:r>
            <a:r>
              <a:rPr lang="zh-CN" altLang="en-US" sz="1400" b="1" dirty="0" smtClean="0">
                <a:latin typeface="微软雅黑" pitchFamily="34" charset="-122"/>
                <a:ea typeface="微软雅黑" pitchFamily="34" charset="-122"/>
              </a:rPr>
              <a:t>部分。</a:t>
            </a:r>
            <a:endParaRPr lang="en-US" altLang="zh-CN" sz="14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200" b="1" dirty="0" smtClean="0">
                <a:latin typeface="微软雅黑" pitchFamily="34" charset="-122"/>
                <a:ea typeface="微软雅黑" pitchFamily="34" charset="-122"/>
              </a:rPr>
              <a:t>北向接口层又称为</a:t>
            </a:r>
            <a:r>
              <a:rPr lang="zh-CN" altLang="en-US" sz="1200" b="1" dirty="0" smtClean="0">
                <a:solidFill>
                  <a:srgbClr val="C00000"/>
                </a:solidFill>
                <a:latin typeface="微软雅黑" pitchFamily="34" charset="-122"/>
                <a:ea typeface="微软雅黑" pitchFamily="34" charset="-122"/>
              </a:rPr>
              <a:t>北向抽象及协议</a:t>
            </a:r>
            <a:r>
              <a:rPr lang="zh-CN" altLang="en-US" sz="1200" b="1" dirty="0" smtClean="0">
                <a:latin typeface="微软雅黑" pitchFamily="34" charset="-122"/>
                <a:ea typeface="微软雅黑" pitchFamily="34" charset="-122"/>
              </a:rPr>
              <a:t>。</a:t>
            </a:r>
            <a:endParaRPr lang="en-US" altLang="zh-CN" sz="12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200" b="1" dirty="0" smtClean="0">
                <a:latin typeface="微软雅黑" pitchFamily="34" charset="-122"/>
                <a:ea typeface="微软雅黑" pitchFamily="34" charset="-122"/>
              </a:rPr>
              <a:t>南向接口层、适配层、南向协议层又统称为</a:t>
            </a:r>
            <a:r>
              <a:rPr lang="zh-CN" altLang="en-US" sz="1200" b="1" dirty="0" smtClean="0">
                <a:solidFill>
                  <a:srgbClr val="C00000"/>
                </a:solidFill>
                <a:latin typeface="微软雅黑" pitchFamily="34" charset="-122"/>
                <a:ea typeface="微软雅黑" pitchFamily="34" charset="-122"/>
              </a:rPr>
              <a:t>南向抽象及协议</a:t>
            </a:r>
            <a:r>
              <a:rPr lang="zh-CN" altLang="en-US" sz="1200" b="1" dirty="0" smtClean="0">
                <a:latin typeface="微软雅黑" pitchFamily="34" charset="-122"/>
                <a:ea typeface="微软雅黑" pitchFamily="34" charset="-122"/>
              </a:rPr>
              <a:t>。</a:t>
            </a:r>
            <a:endParaRPr lang="en-US" altLang="zh-CN" sz="12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支持通过</a:t>
            </a:r>
            <a:r>
              <a:rPr lang="zh-CN" altLang="en-US" sz="1400" b="1" dirty="0">
                <a:solidFill>
                  <a:srgbClr val="C00000"/>
                </a:solidFill>
                <a:latin typeface="微软雅黑" pitchFamily="34" charset="-122"/>
                <a:ea typeface="微软雅黑" pitchFamily="34" charset="-122"/>
              </a:rPr>
              <a:t>意图框架</a:t>
            </a:r>
            <a:r>
              <a:rPr lang="zh-CN" altLang="en-US" sz="1400" b="1" dirty="0">
                <a:latin typeface="微软雅黑" pitchFamily="34" charset="-122"/>
                <a:ea typeface="微软雅黑" pitchFamily="34" charset="-122"/>
              </a:rPr>
              <a:t>来定义抽象的网络</a:t>
            </a:r>
            <a:r>
              <a:rPr lang="zh-CN" altLang="en-US" sz="1400" b="1" dirty="0" smtClean="0">
                <a:latin typeface="微软雅黑" pitchFamily="34" charset="-122"/>
                <a:ea typeface="微软雅黑" pitchFamily="34" charset="-122"/>
              </a:rPr>
              <a:t>策略。</a:t>
            </a:r>
            <a:endParaRPr lang="en-US" altLang="zh-CN" sz="1400" b="1" dirty="0">
              <a:latin typeface="微软雅黑" pitchFamily="34" charset="-122"/>
              <a:ea typeface="微软雅黑" pitchFamily="34" charset="-122"/>
            </a:endParaRPr>
          </a:p>
        </p:txBody>
      </p:sp>
      <p:grpSp>
        <p:nvGrpSpPr>
          <p:cNvPr id="2" name="组合 1"/>
          <p:cNvGrpSpPr/>
          <p:nvPr/>
        </p:nvGrpSpPr>
        <p:grpSpPr>
          <a:xfrm>
            <a:off x="463921" y="1105469"/>
            <a:ext cx="4429814" cy="3340044"/>
            <a:chOff x="137954" y="990779"/>
            <a:chExt cx="5647722" cy="4073711"/>
          </a:xfrm>
        </p:grpSpPr>
        <p:sp>
          <p:nvSpPr>
            <p:cNvPr id="149" name="TextBox 210">
              <a:extLst>
                <a:ext uri="{FF2B5EF4-FFF2-40B4-BE49-F238E27FC236}">
                  <a16:creationId xmlns:a16="http://schemas.microsoft.com/office/drawing/2014/main" id="{5BA7F55D-3522-9D40-A236-6BF6C46857C7}"/>
                </a:ext>
              </a:extLst>
            </p:cNvPr>
            <p:cNvSpPr txBox="1"/>
            <p:nvPr/>
          </p:nvSpPr>
          <p:spPr>
            <a:xfrm>
              <a:off x="265028" y="990779"/>
              <a:ext cx="1028915" cy="487997"/>
            </a:xfrm>
            <a:prstGeom prst="rect">
              <a:avLst/>
            </a:prstGeom>
            <a:solidFill>
              <a:schemeClr val="bg1"/>
            </a:solidFill>
          </p:spPr>
          <p:txBody>
            <a:bodyPr wrap="square" rtlCol="0">
              <a:spAutoFit/>
            </a:bodyPr>
            <a:lstStyle>
              <a:defPPr>
                <a:defRPr lang="zh-CN"/>
              </a:defPPr>
              <a:lvl1pPr algn="ctr" eaLnBrk="0" fontAlgn="base" hangingPunct="0">
                <a:lnSpc>
                  <a:spcPct val="90000"/>
                </a:lnSpc>
                <a:spcBef>
                  <a:spcPct val="0"/>
                </a:spcBef>
                <a:spcAft>
                  <a:spcPct val="0"/>
                </a:spcAft>
                <a:defRPr sz="1400">
                  <a:solidFill>
                    <a:srgbClr val="000000"/>
                  </a:solidFill>
                  <a:latin typeface="Arial"/>
                  <a:ea typeface="ＭＳ Ｐゴシック" charset="0"/>
                  <a:cs typeface="Arial"/>
                </a:defRPr>
              </a:lvl1pPr>
            </a:lstStyle>
            <a:p>
              <a:pPr>
                <a:lnSpc>
                  <a:spcPts val="1200"/>
                </a:lnSpc>
              </a:pPr>
              <a:r>
                <a:rPr lang="zh-CN" altLang="en-US" sz="900" b="1" dirty="0">
                  <a:latin typeface="+mn-lt"/>
                  <a:ea typeface="+mn-ea"/>
                </a:rPr>
                <a:t>网络</a:t>
              </a:r>
              <a:r>
                <a:rPr lang="zh-CN" altLang="en-US" sz="900" b="1" dirty="0" smtClean="0">
                  <a:latin typeface="+mn-lt"/>
                  <a:ea typeface="+mn-ea"/>
                </a:rPr>
                <a:t>控制</a:t>
              </a:r>
              <a:endParaRPr lang="en-US" altLang="zh-CN" sz="900" b="1" dirty="0" smtClean="0">
                <a:latin typeface="+mn-lt"/>
                <a:ea typeface="+mn-ea"/>
              </a:endParaRPr>
            </a:p>
            <a:p>
              <a:pPr>
                <a:lnSpc>
                  <a:spcPts val="1200"/>
                </a:lnSpc>
              </a:pPr>
              <a:r>
                <a:rPr lang="zh-CN" altLang="en-US" sz="900" b="1" dirty="0" smtClean="0">
                  <a:latin typeface="+mn-lt"/>
                  <a:ea typeface="+mn-ea"/>
                </a:rPr>
                <a:t>应用程序</a:t>
              </a:r>
              <a:endParaRPr lang="en-US" sz="900" b="1" dirty="0">
                <a:latin typeface="+mn-lt"/>
                <a:ea typeface="+mn-ea"/>
              </a:endParaRPr>
            </a:p>
          </p:txBody>
        </p:sp>
        <p:cxnSp>
          <p:nvCxnSpPr>
            <p:cNvPr id="20" name="Straight Connector 164">
              <a:extLst>
                <a:ext uri="{FF2B5EF4-FFF2-40B4-BE49-F238E27FC236}">
                  <a16:creationId xmlns:a16="http://schemas.microsoft.com/office/drawing/2014/main" id="{B21516A3-9168-5A49-BB27-52176C92B938}"/>
                </a:ext>
              </a:extLst>
            </p:cNvPr>
            <p:cNvCxnSpPr/>
            <p:nvPr/>
          </p:nvCxnSpPr>
          <p:spPr>
            <a:xfrm>
              <a:off x="1174585" y="1508374"/>
              <a:ext cx="4611090" cy="1332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Oval 212">
              <a:extLst>
                <a:ext uri="{FF2B5EF4-FFF2-40B4-BE49-F238E27FC236}">
                  <a16:creationId xmlns:a16="http://schemas.microsoft.com/office/drawing/2014/main" id="{63396159-2590-154F-A47D-AE772D5BD572}"/>
                </a:ext>
              </a:extLst>
            </p:cNvPr>
            <p:cNvSpPr/>
            <p:nvPr/>
          </p:nvSpPr>
          <p:spPr>
            <a:xfrm>
              <a:off x="1395429" y="1036250"/>
              <a:ext cx="1008863" cy="381143"/>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b="1" dirty="0" smtClean="0">
                  <a:solidFill>
                    <a:schemeClr val="tx1"/>
                  </a:solidFill>
                </a:rPr>
                <a:t>流量</a:t>
              </a:r>
              <a:endParaRPr lang="en-US" altLang="zh-CN" sz="1000" b="1" dirty="0" smtClean="0">
                <a:solidFill>
                  <a:schemeClr val="tx1"/>
                </a:solidFill>
              </a:endParaRPr>
            </a:p>
            <a:p>
              <a:pPr algn="ctr"/>
              <a:r>
                <a:rPr lang="zh-CN" altLang="en-US" sz="1000" b="1" dirty="0" smtClean="0">
                  <a:solidFill>
                    <a:schemeClr val="tx1"/>
                  </a:solidFill>
                </a:rPr>
                <a:t>工程</a:t>
              </a:r>
              <a:endParaRPr lang="en-US" altLang="zh-CN" sz="1000" b="1" dirty="0">
                <a:solidFill>
                  <a:schemeClr val="tx1"/>
                </a:solidFill>
              </a:endParaRPr>
            </a:p>
          </p:txBody>
        </p:sp>
        <p:sp>
          <p:nvSpPr>
            <p:cNvPr id="61" name="Rounded Rectangle 148">
              <a:extLst>
                <a:ext uri="{FF2B5EF4-FFF2-40B4-BE49-F238E27FC236}">
                  <a16:creationId xmlns:a16="http://schemas.microsoft.com/office/drawing/2014/main" id="{E99A6AA0-07FB-1C4C-972D-6F9E4C71E394}"/>
                </a:ext>
              </a:extLst>
            </p:cNvPr>
            <p:cNvSpPr/>
            <p:nvPr/>
          </p:nvSpPr>
          <p:spPr>
            <a:xfrm>
              <a:off x="1184594" y="1608254"/>
              <a:ext cx="4601082"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000000"/>
                </a:solidFill>
                <a:effectLst/>
                <a:uLnTx/>
                <a:uFillTx/>
              </a:endParaRPr>
            </a:p>
          </p:txBody>
        </p:sp>
        <p:sp>
          <p:nvSpPr>
            <p:cNvPr id="66" name="Rounded Rectangle 127">
              <a:extLst>
                <a:ext uri="{FF2B5EF4-FFF2-40B4-BE49-F238E27FC236}">
                  <a16:creationId xmlns:a16="http://schemas.microsoft.com/office/drawing/2014/main" id="{11EFF8DB-F7D6-F34F-9A62-91332868BEEF}"/>
                </a:ext>
              </a:extLst>
            </p:cNvPr>
            <p:cNvSpPr/>
            <p:nvPr/>
          </p:nvSpPr>
          <p:spPr>
            <a:xfrm>
              <a:off x="1909455" y="1717869"/>
              <a:ext cx="1130456" cy="35126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REST API</a:t>
              </a:r>
            </a:p>
          </p:txBody>
        </p:sp>
        <p:sp>
          <p:nvSpPr>
            <p:cNvPr id="64" name="Rounded Rectangle 178">
              <a:extLst>
                <a:ext uri="{FF2B5EF4-FFF2-40B4-BE49-F238E27FC236}">
                  <a16:creationId xmlns:a16="http://schemas.microsoft.com/office/drawing/2014/main" id="{251FA6D6-570F-5043-8D40-0C68D81CB6B5}"/>
                </a:ext>
              </a:extLst>
            </p:cNvPr>
            <p:cNvSpPr/>
            <p:nvPr/>
          </p:nvSpPr>
          <p:spPr>
            <a:xfrm>
              <a:off x="3169420" y="1717871"/>
              <a:ext cx="1073389" cy="35126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意图框架</a:t>
              </a:r>
              <a:endParaRPr lang="en-US" sz="900" b="1" kern="0" dirty="0">
                <a:solidFill>
                  <a:srgbClr val="000000"/>
                </a:solidFill>
              </a:endParaRPr>
            </a:p>
          </p:txBody>
        </p:sp>
        <p:sp>
          <p:nvSpPr>
            <p:cNvPr id="69" name="Rounded Rectangle 124">
              <a:extLst>
                <a:ext uri="{FF2B5EF4-FFF2-40B4-BE49-F238E27FC236}">
                  <a16:creationId xmlns:a16="http://schemas.microsoft.com/office/drawing/2014/main" id="{15918E48-99B5-A449-B81F-5A158B747E62}"/>
                </a:ext>
              </a:extLst>
            </p:cNvPr>
            <p:cNvSpPr/>
            <p:nvPr/>
          </p:nvSpPr>
          <p:spPr>
            <a:xfrm>
              <a:off x="1184594" y="2244520"/>
              <a:ext cx="4601081" cy="88104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70" name="TextBox 132">
              <a:extLst>
                <a:ext uri="{FF2B5EF4-FFF2-40B4-BE49-F238E27FC236}">
                  <a16:creationId xmlns:a16="http://schemas.microsoft.com/office/drawing/2014/main" id="{C6312439-3E2F-644C-8FD1-E8F71A7DB152}"/>
                </a:ext>
              </a:extLst>
            </p:cNvPr>
            <p:cNvSpPr txBox="1"/>
            <p:nvPr/>
          </p:nvSpPr>
          <p:spPr>
            <a:xfrm>
              <a:off x="1052404" y="2439604"/>
              <a:ext cx="1064730" cy="487997"/>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smtClean="0">
                  <a:solidFill>
                    <a:srgbClr val="000000"/>
                  </a:solidFill>
                  <a:cs typeface="Arial"/>
                </a:rPr>
                <a:t>分布式</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核心</a:t>
              </a:r>
              <a:endParaRPr lang="en-US" sz="900" b="1" dirty="0">
                <a:solidFill>
                  <a:srgbClr val="000000"/>
                </a:solidFill>
                <a:cs typeface="Arial"/>
              </a:endParaRPr>
            </a:p>
          </p:txBody>
        </p:sp>
        <p:sp>
          <p:nvSpPr>
            <p:cNvPr id="86" name="Rounded Rectangle 187">
              <a:extLst>
                <a:ext uri="{FF2B5EF4-FFF2-40B4-BE49-F238E27FC236}">
                  <a16:creationId xmlns:a16="http://schemas.microsoft.com/office/drawing/2014/main" id="{D26CA676-9ED8-CC4E-8413-ADE7E23BE8F2}"/>
                </a:ext>
              </a:extLst>
            </p:cNvPr>
            <p:cNvSpPr/>
            <p:nvPr/>
          </p:nvSpPr>
          <p:spPr>
            <a:xfrm>
              <a:off x="1929663"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设备管理</a:t>
              </a:r>
              <a:endParaRPr lang="en-US" sz="900" b="1" kern="0" dirty="0">
                <a:solidFill>
                  <a:srgbClr val="000000"/>
                </a:solidFill>
              </a:endParaRPr>
            </a:p>
          </p:txBody>
        </p:sp>
        <p:sp>
          <p:nvSpPr>
            <p:cNvPr id="95" name="Rounded Rectangle 178">
              <a:extLst>
                <a:ext uri="{FF2B5EF4-FFF2-40B4-BE49-F238E27FC236}">
                  <a16:creationId xmlns:a16="http://schemas.microsoft.com/office/drawing/2014/main" id="{251FA6D6-570F-5043-8D40-0C68D81CB6B5}"/>
                </a:ext>
              </a:extLst>
            </p:cNvPr>
            <p:cNvSpPr/>
            <p:nvPr/>
          </p:nvSpPr>
          <p:spPr>
            <a:xfrm>
              <a:off x="4395090" y="1717871"/>
              <a:ext cx="1205085" cy="35126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网络视图抽象</a:t>
              </a:r>
              <a:endParaRPr lang="en-US" sz="900" b="1" kern="0" dirty="0">
                <a:solidFill>
                  <a:srgbClr val="000000"/>
                </a:solidFill>
              </a:endParaRPr>
            </a:p>
          </p:txBody>
        </p:sp>
        <p:sp>
          <p:nvSpPr>
            <p:cNvPr id="96" name="Rounded Rectangle 187">
              <a:extLst>
                <a:ext uri="{FF2B5EF4-FFF2-40B4-BE49-F238E27FC236}">
                  <a16:creationId xmlns:a16="http://schemas.microsoft.com/office/drawing/2014/main" id="{D26CA676-9ED8-CC4E-8413-ADE7E23BE8F2}"/>
                </a:ext>
              </a:extLst>
            </p:cNvPr>
            <p:cNvSpPr/>
            <p:nvPr/>
          </p:nvSpPr>
          <p:spPr>
            <a:xfrm>
              <a:off x="2970172"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流管理</a:t>
              </a:r>
              <a:endParaRPr lang="en-US" sz="900" b="1" kern="0" dirty="0">
                <a:solidFill>
                  <a:srgbClr val="000000"/>
                </a:solidFill>
              </a:endParaRPr>
            </a:p>
          </p:txBody>
        </p:sp>
        <p:sp>
          <p:nvSpPr>
            <p:cNvPr id="97" name="Rounded Rectangle 187">
              <a:extLst>
                <a:ext uri="{FF2B5EF4-FFF2-40B4-BE49-F238E27FC236}">
                  <a16:creationId xmlns:a16="http://schemas.microsoft.com/office/drawing/2014/main" id="{D26CA676-9ED8-CC4E-8413-ADE7E23BE8F2}"/>
                </a:ext>
              </a:extLst>
            </p:cNvPr>
            <p:cNvSpPr/>
            <p:nvPr/>
          </p:nvSpPr>
          <p:spPr>
            <a:xfrm>
              <a:off x="2957003"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主机管理</a:t>
              </a:r>
              <a:endParaRPr lang="en-US" sz="900" b="1" kern="0" dirty="0">
                <a:solidFill>
                  <a:srgbClr val="000000"/>
                </a:solidFill>
              </a:endParaRPr>
            </a:p>
          </p:txBody>
        </p:sp>
        <p:sp>
          <p:nvSpPr>
            <p:cNvPr id="98" name="Rounded Rectangle 187">
              <a:extLst>
                <a:ext uri="{FF2B5EF4-FFF2-40B4-BE49-F238E27FC236}">
                  <a16:creationId xmlns:a16="http://schemas.microsoft.com/office/drawing/2014/main" id="{D26CA676-9ED8-CC4E-8413-ADE7E23BE8F2}"/>
                </a:ext>
              </a:extLst>
            </p:cNvPr>
            <p:cNvSpPr/>
            <p:nvPr/>
          </p:nvSpPr>
          <p:spPr>
            <a:xfrm>
              <a:off x="3914767"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链路发现</a:t>
              </a:r>
              <a:endParaRPr lang="en-US" sz="900" b="1" kern="0" dirty="0">
                <a:solidFill>
                  <a:srgbClr val="000000"/>
                </a:solidFill>
              </a:endParaRPr>
            </a:p>
          </p:txBody>
        </p:sp>
        <p:sp>
          <p:nvSpPr>
            <p:cNvPr id="99" name="Rounded Rectangle 187">
              <a:extLst>
                <a:ext uri="{FF2B5EF4-FFF2-40B4-BE49-F238E27FC236}">
                  <a16:creationId xmlns:a16="http://schemas.microsoft.com/office/drawing/2014/main" id="{D26CA676-9ED8-CC4E-8413-ADE7E23BE8F2}"/>
                </a:ext>
              </a:extLst>
            </p:cNvPr>
            <p:cNvSpPr/>
            <p:nvPr/>
          </p:nvSpPr>
          <p:spPr>
            <a:xfrm>
              <a:off x="1943167"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lvl="0" algn="ctr" eaLnBrk="0" fontAlgn="base" hangingPunct="0">
                <a:spcBef>
                  <a:spcPct val="0"/>
                </a:spcBef>
                <a:spcAft>
                  <a:spcPct val="0"/>
                </a:spcAft>
                <a:defRPr/>
              </a:pPr>
              <a:r>
                <a:rPr lang="zh-CN" altLang="en-US" sz="900" b="1" kern="0" dirty="0">
                  <a:solidFill>
                    <a:srgbClr val="000000"/>
                  </a:solidFill>
                </a:rPr>
                <a:t>路径计算</a:t>
              </a:r>
              <a:endParaRPr kumimoji="0" lang="en-US" sz="900" b="1" i="0" u="none" strike="noStrike" kern="0" cap="none" spc="0" normalizeH="0" baseline="0" noProof="0" dirty="0">
                <a:ln>
                  <a:noFill/>
                </a:ln>
                <a:solidFill>
                  <a:srgbClr val="000000"/>
                </a:solidFill>
                <a:effectLst/>
                <a:uLnTx/>
                <a:uFillTx/>
              </a:endParaRPr>
            </a:p>
          </p:txBody>
        </p:sp>
        <p:sp>
          <p:nvSpPr>
            <p:cNvPr id="100" name="Rounded Rectangle 187">
              <a:extLst>
                <a:ext uri="{FF2B5EF4-FFF2-40B4-BE49-F238E27FC236}">
                  <a16:creationId xmlns:a16="http://schemas.microsoft.com/office/drawing/2014/main" id="{D26CA676-9ED8-CC4E-8413-ADE7E23BE8F2}"/>
                </a:ext>
              </a:extLst>
            </p:cNvPr>
            <p:cNvSpPr/>
            <p:nvPr/>
          </p:nvSpPr>
          <p:spPr>
            <a:xfrm>
              <a:off x="3927935"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意图编译</a:t>
              </a:r>
              <a:endParaRPr lang="en-US" sz="900" b="1" kern="0" dirty="0">
                <a:solidFill>
                  <a:srgbClr val="000000"/>
                </a:solidFill>
              </a:endParaRPr>
            </a:p>
          </p:txBody>
        </p:sp>
        <p:sp>
          <p:nvSpPr>
            <p:cNvPr id="101" name="Rounded Rectangle 148">
              <a:extLst>
                <a:ext uri="{FF2B5EF4-FFF2-40B4-BE49-F238E27FC236}">
                  <a16:creationId xmlns:a16="http://schemas.microsoft.com/office/drawing/2014/main" id="{E99A6AA0-07FB-1C4C-972D-6F9E4C71E394}"/>
                </a:ext>
              </a:extLst>
            </p:cNvPr>
            <p:cNvSpPr/>
            <p:nvPr/>
          </p:nvSpPr>
          <p:spPr>
            <a:xfrm>
              <a:off x="1184594" y="3184342"/>
              <a:ext cx="4601081"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105" name="Rounded Rectangle 148">
              <a:extLst>
                <a:ext uri="{FF2B5EF4-FFF2-40B4-BE49-F238E27FC236}">
                  <a16:creationId xmlns:a16="http://schemas.microsoft.com/office/drawing/2014/main" id="{E99A6AA0-07FB-1C4C-972D-6F9E4C71E394}"/>
                </a:ext>
              </a:extLst>
            </p:cNvPr>
            <p:cNvSpPr/>
            <p:nvPr/>
          </p:nvSpPr>
          <p:spPr>
            <a:xfrm>
              <a:off x="1184594" y="3804196"/>
              <a:ext cx="4601081"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113" name="Rounded Rectangle 148">
              <a:extLst>
                <a:ext uri="{FF2B5EF4-FFF2-40B4-BE49-F238E27FC236}">
                  <a16:creationId xmlns:a16="http://schemas.microsoft.com/office/drawing/2014/main" id="{E99A6AA0-07FB-1C4C-972D-6F9E4C71E394}"/>
                </a:ext>
              </a:extLst>
            </p:cNvPr>
            <p:cNvSpPr/>
            <p:nvPr/>
          </p:nvSpPr>
          <p:spPr>
            <a:xfrm>
              <a:off x="1184594" y="4444111"/>
              <a:ext cx="4601081"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117" name="TextBox 132">
              <a:extLst>
                <a:ext uri="{FF2B5EF4-FFF2-40B4-BE49-F238E27FC236}">
                  <a16:creationId xmlns:a16="http://schemas.microsoft.com/office/drawing/2014/main" id="{C6312439-3E2F-644C-8FD1-E8F71A7DB152}"/>
                </a:ext>
              </a:extLst>
            </p:cNvPr>
            <p:cNvSpPr txBox="1"/>
            <p:nvPr/>
          </p:nvSpPr>
          <p:spPr>
            <a:xfrm>
              <a:off x="1006945" y="1672169"/>
              <a:ext cx="1064730" cy="487997"/>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a:solidFill>
                    <a:srgbClr val="000000"/>
                  </a:solidFill>
                  <a:cs typeface="Arial"/>
                </a:rPr>
                <a:t>北</a:t>
              </a:r>
              <a:r>
                <a:rPr lang="zh-CN" altLang="en-US" sz="900" b="1" dirty="0" smtClean="0">
                  <a:solidFill>
                    <a:srgbClr val="000000"/>
                  </a:solidFill>
                  <a:cs typeface="Arial"/>
                </a:rPr>
                <a:t>向</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接口</a:t>
              </a:r>
              <a:endParaRPr lang="en-US" sz="900" b="1" dirty="0">
                <a:solidFill>
                  <a:srgbClr val="000000"/>
                </a:solidFill>
                <a:cs typeface="Arial"/>
              </a:endParaRPr>
            </a:p>
          </p:txBody>
        </p:sp>
        <p:sp>
          <p:nvSpPr>
            <p:cNvPr id="118" name="Rounded Rectangle 127">
              <a:extLst>
                <a:ext uri="{FF2B5EF4-FFF2-40B4-BE49-F238E27FC236}">
                  <a16:creationId xmlns:a16="http://schemas.microsoft.com/office/drawing/2014/main" id="{11EFF8DB-F7D6-F34F-9A62-91332868BEEF}"/>
                </a:ext>
              </a:extLst>
            </p:cNvPr>
            <p:cNvSpPr/>
            <p:nvPr/>
          </p:nvSpPr>
          <p:spPr>
            <a:xfrm>
              <a:off x="1960503" y="3305077"/>
              <a:ext cx="1339836" cy="395169"/>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网络设备服务接口</a:t>
              </a:r>
              <a:endParaRPr lang="en-US" altLang="zh-CN" sz="900" b="1" kern="0" dirty="0">
                <a:solidFill>
                  <a:srgbClr val="000000"/>
                </a:solidFill>
              </a:endParaRPr>
            </a:p>
          </p:txBody>
        </p:sp>
        <p:sp>
          <p:nvSpPr>
            <p:cNvPr id="120" name="Rounded Rectangle 178">
              <a:extLst>
                <a:ext uri="{FF2B5EF4-FFF2-40B4-BE49-F238E27FC236}">
                  <a16:creationId xmlns:a16="http://schemas.microsoft.com/office/drawing/2014/main" id="{251FA6D6-570F-5043-8D40-0C68D81CB6B5}"/>
                </a:ext>
              </a:extLst>
            </p:cNvPr>
            <p:cNvSpPr/>
            <p:nvPr/>
          </p:nvSpPr>
          <p:spPr>
            <a:xfrm>
              <a:off x="3973655" y="3305079"/>
              <a:ext cx="1434597" cy="395169"/>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流规则服务接口</a:t>
              </a:r>
              <a:endParaRPr lang="en-US" sz="900" b="1" kern="0" dirty="0">
                <a:solidFill>
                  <a:srgbClr val="000000"/>
                </a:solidFill>
              </a:endParaRPr>
            </a:p>
          </p:txBody>
        </p:sp>
        <p:sp>
          <p:nvSpPr>
            <p:cNvPr id="121" name="TextBox 132">
              <a:extLst>
                <a:ext uri="{FF2B5EF4-FFF2-40B4-BE49-F238E27FC236}">
                  <a16:creationId xmlns:a16="http://schemas.microsoft.com/office/drawing/2014/main" id="{C6312439-3E2F-644C-8FD1-E8F71A7DB152}"/>
                </a:ext>
              </a:extLst>
            </p:cNvPr>
            <p:cNvSpPr txBox="1"/>
            <p:nvPr/>
          </p:nvSpPr>
          <p:spPr>
            <a:xfrm>
              <a:off x="1057993" y="3233565"/>
              <a:ext cx="1064730" cy="487997"/>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a:solidFill>
                    <a:srgbClr val="000000"/>
                  </a:solidFill>
                  <a:cs typeface="Arial"/>
                </a:rPr>
                <a:t>南向</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接口</a:t>
              </a:r>
              <a:endParaRPr lang="en-US" sz="900" b="1" dirty="0">
                <a:solidFill>
                  <a:srgbClr val="000000"/>
                </a:solidFill>
                <a:cs typeface="Arial"/>
              </a:endParaRPr>
            </a:p>
          </p:txBody>
        </p:sp>
        <p:sp>
          <p:nvSpPr>
            <p:cNvPr id="125" name="TextBox 132">
              <a:extLst>
                <a:ext uri="{FF2B5EF4-FFF2-40B4-BE49-F238E27FC236}">
                  <a16:creationId xmlns:a16="http://schemas.microsoft.com/office/drawing/2014/main" id="{C6312439-3E2F-644C-8FD1-E8F71A7DB152}"/>
                </a:ext>
              </a:extLst>
            </p:cNvPr>
            <p:cNvSpPr txBox="1"/>
            <p:nvPr/>
          </p:nvSpPr>
          <p:spPr>
            <a:xfrm>
              <a:off x="1025865" y="3947233"/>
              <a:ext cx="1064730" cy="287793"/>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smtClean="0">
                  <a:solidFill>
                    <a:srgbClr val="000000"/>
                  </a:solidFill>
                  <a:cs typeface="Arial"/>
                </a:rPr>
                <a:t>适配</a:t>
              </a:r>
              <a:endParaRPr lang="en-US" sz="900" b="1" dirty="0">
                <a:solidFill>
                  <a:srgbClr val="000000"/>
                </a:solidFill>
                <a:cs typeface="Arial"/>
              </a:endParaRPr>
            </a:p>
          </p:txBody>
        </p:sp>
        <p:sp>
          <p:nvSpPr>
            <p:cNvPr id="129" name="TextBox 132">
              <a:extLst>
                <a:ext uri="{FF2B5EF4-FFF2-40B4-BE49-F238E27FC236}">
                  <a16:creationId xmlns:a16="http://schemas.microsoft.com/office/drawing/2014/main" id="{C6312439-3E2F-644C-8FD1-E8F71A7DB152}"/>
                </a:ext>
              </a:extLst>
            </p:cNvPr>
            <p:cNvSpPr txBox="1"/>
            <p:nvPr/>
          </p:nvSpPr>
          <p:spPr>
            <a:xfrm>
              <a:off x="1057993" y="4470040"/>
              <a:ext cx="1064730" cy="475484"/>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smtClean="0">
                  <a:solidFill>
                    <a:srgbClr val="000000"/>
                  </a:solidFill>
                  <a:cs typeface="Arial"/>
                </a:rPr>
                <a:t>南向</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协议</a:t>
              </a:r>
              <a:endParaRPr lang="en-US" sz="900" b="1" dirty="0">
                <a:solidFill>
                  <a:srgbClr val="000000"/>
                </a:solidFill>
                <a:cs typeface="Arial"/>
              </a:endParaRPr>
            </a:p>
          </p:txBody>
        </p:sp>
        <p:sp>
          <p:nvSpPr>
            <p:cNvPr id="130" name="Rounded Rectangle 187">
              <a:extLst>
                <a:ext uri="{FF2B5EF4-FFF2-40B4-BE49-F238E27FC236}">
                  <a16:creationId xmlns:a16="http://schemas.microsoft.com/office/drawing/2014/main" id="{D26CA676-9ED8-CC4E-8413-ADE7E23BE8F2}"/>
                </a:ext>
              </a:extLst>
            </p:cNvPr>
            <p:cNvSpPr/>
            <p:nvPr/>
          </p:nvSpPr>
          <p:spPr>
            <a:xfrm>
              <a:off x="1942369" y="392824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设备抽象</a:t>
              </a:r>
              <a:endParaRPr lang="en-US" sz="900" b="1" kern="0" dirty="0">
                <a:solidFill>
                  <a:srgbClr val="000000"/>
                </a:solidFill>
              </a:endParaRPr>
            </a:p>
          </p:txBody>
        </p:sp>
        <p:sp>
          <p:nvSpPr>
            <p:cNvPr id="131" name="Rounded Rectangle 187">
              <a:extLst>
                <a:ext uri="{FF2B5EF4-FFF2-40B4-BE49-F238E27FC236}">
                  <a16:creationId xmlns:a16="http://schemas.microsoft.com/office/drawing/2014/main" id="{D26CA676-9ED8-CC4E-8413-ADE7E23BE8F2}"/>
                </a:ext>
              </a:extLst>
            </p:cNvPr>
            <p:cNvSpPr/>
            <p:nvPr/>
          </p:nvSpPr>
          <p:spPr>
            <a:xfrm>
              <a:off x="2908751" y="392824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主机抽象</a:t>
              </a:r>
              <a:endParaRPr lang="en-US" sz="900" b="1" kern="0" dirty="0">
                <a:solidFill>
                  <a:srgbClr val="000000"/>
                </a:solidFill>
              </a:endParaRPr>
            </a:p>
          </p:txBody>
        </p:sp>
        <p:sp>
          <p:nvSpPr>
            <p:cNvPr id="132" name="Rounded Rectangle 187">
              <a:extLst>
                <a:ext uri="{FF2B5EF4-FFF2-40B4-BE49-F238E27FC236}">
                  <a16:creationId xmlns:a16="http://schemas.microsoft.com/office/drawing/2014/main" id="{D26CA676-9ED8-CC4E-8413-ADE7E23BE8F2}"/>
                </a:ext>
              </a:extLst>
            </p:cNvPr>
            <p:cNvSpPr/>
            <p:nvPr/>
          </p:nvSpPr>
          <p:spPr>
            <a:xfrm>
              <a:off x="3866514" y="392824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链路抽象</a:t>
              </a:r>
              <a:endParaRPr lang="en-US" sz="900" b="1" kern="0" dirty="0">
                <a:solidFill>
                  <a:srgbClr val="000000"/>
                </a:solidFill>
              </a:endParaRPr>
            </a:p>
          </p:txBody>
        </p:sp>
        <p:sp>
          <p:nvSpPr>
            <p:cNvPr id="133" name="Rounded Rectangle 187">
              <a:extLst>
                <a:ext uri="{FF2B5EF4-FFF2-40B4-BE49-F238E27FC236}">
                  <a16:creationId xmlns:a16="http://schemas.microsoft.com/office/drawing/2014/main" id="{D26CA676-9ED8-CC4E-8413-ADE7E23BE8F2}"/>
                </a:ext>
              </a:extLst>
            </p:cNvPr>
            <p:cNvSpPr/>
            <p:nvPr/>
          </p:nvSpPr>
          <p:spPr>
            <a:xfrm>
              <a:off x="4811394" y="394348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流抽象</a:t>
              </a:r>
              <a:endParaRPr lang="en-US" sz="900" b="1" kern="0" dirty="0">
                <a:solidFill>
                  <a:srgbClr val="000000"/>
                </a:solidFill>
              </a:endParaRPr>
            </a:p>
          </p:txBody>
        </p:sp>
        <p:sp>
          <p:nvSpPr>
            <p:cNvPr id="134" name="Rounded Rectangle 187">
              <a:extLst>
                <a:ext uri="{FF2B5EF4-FFF2-40B4-BE49-F238E27FC236}">
                  <a16:creationId xmlns:a16="http://schemas.microsoft.com/office/drawing/2014/main" id="{D26CA676-9ED8-CC4E-8413-ADE7E23BE8F2}"/>
                </a:ext>
              </a:extLst>
            </p:cNvPr>
            <p:cNvSpPr/>
            <p:nvPr/>
          </p:nvSpPr>
          <p:spPr>
            <a:xfrm>
              <a:off x="1942369" y="4541038"/>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OpenFlow</a:t>
              </a:r>
              <a:endParaRPr lang="en-US" sz="900" b="1" kern="0" dirty="0">
                <a:solidFill>
                  <a:srgbClr val="000000"/>
                </a:solidFill>
              </a:endParaRPr>
            </a:p>
          </p:txBody>
        </p:sp>
        <p:sp>
          <p:nvSpPr>
            <p:cNvPr id="135" name="Rounded Rectangle 187">
              <a:extLst>
                <a:ext uri="{FF2B5EF4-FFF2-40B4-BE49-F238E27FC236}">
                  <a16:creationId xmlns:a16="http://schemas.microsoft.com/office/drawing/2014/main" id="{D26CA676-9ED8-CC4E-8413-ADE7E23BE8F2}"/>
                </a:ext>
              </a:extLst>
            </p:cNvPr>
            <p:cNvSpPr/>
            <p:nvPr/>
          </p:nvSpPr>
          <p:spPr>
            <a:xfrm>
              <a:off x="2908751" y="4541038"/>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err="1">
                  <a:solidFill>
                    <a:srgbClr val="000000"/>
                  </a:solidFill>
                </a:rPr>
                <a:t>NetConf</a:t>
              </a:r>
              <a:endParaRPr lang="en-US" sz="900" b="1" kern="0" dirty="0">
                <a:solidFill>
                  <a:srgbClr val="000000"/>
                </a:solidFill>
              </a:endParaRPr>
            </a:p>
          </p:txBody>
        </p:sp>
        <p:sp>
          <p:nvSpPr>
            <p:cNvPr id="136" name="Rounded Rectangle 187">
              <a:extLst>
                <a:ext uri="{FF2B5EF4-FFF2-40B4-BE49-F238E27FC236}">
                  <a16:creationId xmlns:a16="http://schemas.microsoft.com/office/drawing/2014/main" id="{D26CA676-9ED8-CC4E-8413-ADE7E23BE8F2}"/>
                </a:ext>
              </a:extLst>
            </p:cNvPr>
            <p:cNvSpPr/>
            <p:nvPr/>
          </p:nvSpPr>
          <p:spPr>
            <a:xfrm>
              <a:off x="3866514" y="4541038"/>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OVSDB</a:t>
              </a:r>
              <a:endParaRPr lang="en-US" sz="900" b="1" kern="0" dirty="0">
                <a:solidFill>
                  <a:srgbClr val="000000"/>
                </a:solidFill>
              </a:endParaRPr>
            </a:p>
          </p:txBody>
        </p:sp>
        <p:sp>
          <p:nvSpPr>
            <p:cNvPr id="137" name="Rounded Rectangle 187">
              <a:extLst>
                <a:ext uri="{FF2B5EF4-FFF2-40B4-BE49-F238E27FC236}">
                  <a16:creationId xmlns:a16="http://schemas.microsoft.com/office/drawing/2014/main" id="{D26CA676-9ED8-CC4E-8413-ADE7E23BE8F2}"/>
                </a:ext>
              </a:extLst>
            </p:cNvPr>
            <p:cNvSpPr/>
            <p:nvPr/>
          </p:nvSpPr>
          <p:spPr>
            <a:xfrm>
              <a:off x="4811394" y="4556279"/>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SNMP</a:t>
              </a:r>
              <a:endParaRPr lang="en-US" sz="900" b="1" kern="0" dirty="0">
                <a:solidFill>
                  <a:srgbClr val="000000"/>
                </a:solidFill>
              </a:endParaRPr>
            </a:p>
          </p:txBody>
        </p:sp>
        <p:sp>
          <p:nvSpPr>
            <p:cNvPr id="138" name="Rounded Rectangle 187">
              <a:extLst>
                <a:ext uri="{FF2B5EF4-FFF2-40B4-BE49-F238E27FC236}">
                  <a16:creationId xmlns:a16="http://schemas.microsoft.com/office/drawing/2014/main" id="{D26CA676-9ED8-CC4E-8413-ADE7E23BE8F2}"/>
                </a:ext>
              </a:extLst>
            </p:cNvPr>
            <p:cNvSpPr/>
            <p:nvPr/>
          </p:nvSpPr>
          <p:spPr>
            <a:xfrm>
              <a:off x="4831328"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拓扑管理</a:t>
              </a:r>
              <a:endParaRPr lang="en-US" sz="900" b="1" kern="0" dirty="0">
                <a:solidFill>
                  <a:srgbClr val="000000"/>
                </a:solidFill>
              </a:endParaRPr>
            </a:p>
          </p:txBody>
        </p:sp>
        <p:sp>
          <p:nvSpPr>
            <p:cNvPr id="139" name="Rounded Rectangle 187">
              <a:extLst>
                <a:ext uri="{FF2B5EF4-FFF2-40B4-BE49-F238E27FC236}">
                  <a16:creationId xmlns:a16="http://schemas.microsoft.com/office/drawing/2014/main" id="{D26CA676-9ED8-CC4E-8413-ADE7E23BE8F2}"/>
                </a:ext>
              </a:extLst>
            </p:cNvPr>
            <p:cNvSpPr/>
            <p:nvPr/>
          </p:nvSpPr>
          <p:spPr>
            <a:xfrm>
              <a:off x="4844497"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网络状态</a:t>
              </a:r>
              <a:endParaRPr lang="en-US" sz="900" b="1" kern="0" dirty="0">
                <a:solidFill>
                  <a:srgbClr val="000000"/>
                </a:solidFill>
              </a:endParaRPr>
            </a:p>
          </p:txBody>
        </p:sp>
        <p:cxnSp>
          <p:nvCxnSpPr>
            <p:cNvPr id="140" name="Straight Connector 164">
              <a:extLst>
                <a:ext uri="{FF2B5EF4-FFF2-40B4-BE49-F238E27FC236}">
                  <a16:creationId xmlns:a16="http://schemas.microsoft.com/office/drawing/2014/main" id="{B21516A3-9168-5A49-BB27-52176C92B938}"/>
                </a:ext>
              </a:extLst>
            </p:cNvPr>
            <p:cNvCxnSpPr/>
            <p:nvPr/>
          </p:nvCxnSpPr>
          <p:spPr>
            <a:xfrm flipV="1">
              <a:off x="244191" y="1507204"/>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2" name="Straight Connector 164">
              <a:extLst>
                <a:ext uri="{FF2B5EF4-FFF2-40B4-BE49-F238E27FC236}">
                  <a16:creationId xmlns:a16="http://schemas.microsoft.com/office/drawing/2014/main" id="{B21516A3-9168-5A49-BB27-52176C92B938}"/>
                </a:ext>
              </a:extLst>
            </p:cNvPr>
            <p:cNvCxnSpPr/>
            <p:nvPr/>
          </p:nvCxnSpPr>
          <p:spPr>
            <a:xfrm flipV="1">
              <a:off x="244191" y="3159654"/>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3" name="Straight Connector 164">
              <a:extLst>
                <a:ext uri="{FF2B5EF4-FFF2-40B4-BE49-F238E27FC236}">
                  <a16:creationId xmlns:a16="http://schemas.microsoft.com/office/drawing/2014/main" id="{B21516A3-9168-5A49-BB27-52176C92B938}"/>
                </a:ext>
              </a:extLst>
            </p:cNvPr>
            <p:cNvCxnSpPr/>
            <p:nvPr/>
          </p:nvCxnSpPr>
          <p:spPr>
            <a:xfrm flipV="1">
              <a:off x="244191" y="5041400"/>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4" name="Straight Connector 164">
              <a:extLst>
                <a:ext uri="{FF2B5EF4-FFF2-40B4-BE49-F238E27FC236}">
                  <a16:creationId xmlns:a16="http://schemas.microsoft.com/office/drawing/2014/main" id="{B21516A3-9168-5A49-BB27-52176C92B938}"/>
                </a:ext>
              </a:extLst>
            </p:cNvPr>
            <p:cNvCxnSpPr/>
            <p:nvPr/>
          </p:nvCxnSpPr>
          <p:spPr>
            <a:xfrm flipV="1">
              <a:off x="244191" y="2263068"/>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 name="直接箭头连接符 7"/>
            <p:cNvCxnSpPr/>
            <p:nvPr/>
          </p:nvCxnSpPr>
          <p:spPr>
            <a:xfrm>
              <a:off x="714595" y="1514449"/>
              <a:ext cx="0" cy="76310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flipH="1">
              <a:off x="696259" y="2298114"/>
              <a:ext cx="1604" cy="86154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a:off x="693031" y="3231046"/>
              <a:ext cx="3228" cy="178856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10">
              <a:extLst>
                <a:ext uri="{FF2B5EF4-FFF2-40B4-BE49-F238E27FC236}">
                  <a16:creationId xmlns:a16="http://schemas.microsoft.com/office/drawing/2014/main" id="{5BA7F55D-3522-9D40-A236-6BF6C46857C7}"/>
                </a:ext>
              </a:extLst>
            </p:cNvPr>
            <p:cNvSpPr txBox="1"/>
            <p:nvPr/>
          </p:nvSpPr>
          <p:spPr>
            <a:xfrm>
              <a:off x="155679" y="1706075"/>
              <a:ext cx="1028915" cy="487997"/>
            </a:xfrm>
            <a:prstGeom prst="rect">
              <a:avLst/>
            </a:prstGeom>
            <a:solidFill>
              <a:schemeClr val="bg1"/>
            </a:solidFill>
          </p:spPr>
          <p:txBody>
            <a:bodyPr wrap="square" rtlCol="0">
              <a:spAutoFit/>
            </a:bodyPr>
            <a:lstStyle/>
            <a:p>
              <a:pPr algn="ctr">
                <a:lnSpc>
                  <a:spcPts val="1200"/>
                </a:lnSpc>
              </a:pPr>
              <a:r>
                <a:rPr lang="zh-CN" altLang="en-US" sz="900" b="1" dirty="0" smtClean="0"/>
                <a:t>北向抽象</a:t>
              </a:r>
              <a:endParaRPr lang="en-US" altLang="zh-CN" sz="900" b="1" dirty="0" smtClean="0"/>
            </a:p>
            <a:p>
              <a:pPr algn="ctr">
                <a:lnSpc>
                  <a:spcPts val="1200"/>
                </a:lnSpc>
              </a:pPr>
              <a:r>
                <a:rPr lang="zh-CN" altLang="en-US" sz="900" b="1" dirty="0" smtClean="0"/>
                <a:t>及协议</a:t>
              </a:r>
              <a:endParaRPr lang="en-US" sz="900" b="1" dirty="0"/>
            </a:p>
          </p:txBody>
        </p:sp>
        <p:sp>
          <p:nvSpPr>
            <p:cNvPr id="147" name="TextBox 210">
              <a:extLst>
                <a:ext uri="{FF2B5EF4-FFF2-40B4-BE49-F238E27FC236}">
                  <a16:creationId xmlns:a16="http://schemas.microsoft.com/office/drawing/2014/main" id="{5BA7F55D-3522-9D40-A236-6BF6C46857C7}"/>
                </a:ext>
              </a:extLst>
            </p:cNvPr>
            <p:cNvSpPr txBox="1"/>
            <p:nvPr/>
          </p:nvSpPr>
          <p:spPr>
            <a:xfrm>
              <a:off x="137954" y="2506232"/>
              <a:ext cx="1028915" cy="487997"/>
            </a:xfrm>
            <a:prstGeom prst="rect">
              <a:avLst/>
            </a:prstGeom>
            <a:solidFill>
              <a:schemeClr val="bg1"/>
            </a:solidFill>
          </p:spPr>
          <p:txBody>
            <a:bodyPr wrap="square" rtlCol="0">
              <a:spAutoFit/>
            </a:bodyPr>
            <a:lstStyle/>
            <a:p>
              <a:pPr algn="ctr" eaLnBrk="0" fontAlgn="base" hangingPunct="0">
                <a:lnSpc>
                  <a:spcPts val="1200"/>
                </a:lnSpc>
                <a:spcBef>
                  <a:spcPct val="0"/>
                </a:spcBef>
                <a:spcAft>
                  <a:spcPct val="0"/>
                </a:spcAft>
              </a:pPr>
              <a:r>
                <a:rPr lang="en-US" altLang="zh-CN" sz="900" b="1" dirty="0">
                  <a:solidFill>
                    <a:srgbClr val="000000"/>
                  </a:solidFill>
                  <a:cs typeface="Arial"/>
                </a:rPr>
                <a:t>ONOS</a:t>
              </a:r>
              <a:r>
                <a:rPr lang="zh-CN" altLang="en-US" sz="900" b="1" dirty="0">
                  <a:solidFill>
                    <a:srgbClr val="000000"/>
                  </a:solidFill>
                  <a:cs typeface="Arial"/>
                </a:rPr>
                <a:t>分</a:t>
              </a:r>
              <a:endParaRPr lang="en-US" altLang="zh-CN" sz="900" b="1" dirty="0">
                <a:solidFill>
                  <a:srgbClr val="000000"/>
                </a:solidFill>
                <a:cs typeface="Arial"/>
              </a:endParaRPr>
            </a:p>
            <a:p>
              <a:pPr algn="ctr" eaLnBrk="0" fontAlgn="base" hangingPunct="0">
                <a:lnSpc>
                  <a:spcPts val="1200"/>
                </a:lnSpc>
                <a:spcBef>
                  <a:spcPct val="0"/>
                </a:spcBef>
                <a:spcAft>
                  <a:spcPct val="0"/>
                </a:spcAft>
              </a:pPr>
              <a:r>
                <a:rPr lang="zh-CN" altLang="en-US" sz="900" b="1" dirty="0">
                  <a:solidFill>
                    <a:srgbClr val="000000"/>
                  </a:solidFill>
                  <a:cs typeface="Arial"/>
                </a:rPr>
                <a:t>布式核心</a:t>
              </a:r>
              <a:endParaRPr lang="en-US" altLang="zh-CN" sz="900" b="1" dirty="0">
                <a:solidFill>
                  <a:srgbClr val="000000"/>
                </a:solidFill>
                <a:cs typeface="Arial"/>
              </a:endParaRPr>
            </a:p>
          </p:txBody>
        </p:sp>
        <p:sp>
          <p:nvSpPr>
            <p:cNvPr id="148" name="TextBox 210">
              <a:extLst>
                <a:ext uri="{FF2B5EF4-FFF2-40B4-BE49-F238E27FC236}">
                  <a16:creationId xmlns:a16="http://schemas.microsoft.com/office/drawing/2014/main" id="{5BA7F55D-3522-9D40-A236-6BF6C46857C7}"/>
                </a:ext>
              </a:extLst>
            </p:cNvPr>
            <p:cNvSpPr txBox="1"/>
            <p:nvPr/>
          </p:nvSpPr>
          <p:spPr>
            <a:xfrm>
              <a:off x="170316" y="3841966"/>
              <a:ext cx="1028915" cy="487997"/>
            </a:xfrm>
            <a:prstGeom prst="rect">
              <a:avLst/>
            </a:prstGeom>
            <a:solidFill>
              <a:schemeClr val="bg1"/>
            </a:solidFill>
          </p:spPr>
          <p:txBody>
            <a:bodyPr wrap="square" rtlCol="0">
              <a:spAutoFit/>
            </a:bodyPr>
            <a:lstStyle/>
            <a:p>
              <a:pPr algn="ctr">
                <a:lnSpc>
                  <a:spcPts val="1200"/>
                </a:lnSpc>
              </a:pPr>
              <a:r>
                <a:rPr lang="zh-CN" altLang="en-US" sz="900" b="1" dirty="0"/>
                <a:t>南向抽象</a:t>
              </a:r>
            </a:p>
            <a:p>
              <a:pPr algn="ctr">
                <a:lnSpc>
                  <a:spcPts val="1200"/>
                </a:lnSpc>
              </a:pPr>
              <a:r>
                <a:rPr lang="zh-CN" altLang="en-US" sz="900" b="1" dirty="0"/>
                <a:t>及协议</a:t>
              </a:r>
              <a:endParaRPr lang="en-US" sz="900" b="1" dirty="0"/>
            </a:p>
          </p:txBody>
        </p:sp>
        <p:cxnSp>
          <p:nvCxnSpPr>
            <p:cNvPr id="151" name="Straight Connector 164">
              <a:extLst>
                <a:ext uri="{FF2B5EF4-FFF2-40B4-BE49-F238E27FC236}">
                  <a16:creationId xmlns:a16="http://schemas.microsoft.com/office/drawing/2014/main" id="{B21516A3-9168-5A49-BB27-52176C92B938}"/>
                </a:ext>
              </a:extLst>
            </p:cNvPr>
            <p:cNvCxnSpPr/>
            <p:nvPr/>
          </p:nvCxnSpPr>
          <p:spPr>
            <a:xfrm>
              <a:off x="1168424" y="5051170"/>
              <a:ext cx="4611090" cy="1332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grpSp>
      <p:sp>
        <p:nvSpPr>
          <p:cNvPr id="55" name="TextBox 132">
            <a:extLst>
              <a:ext uri="{FF2B5EF4-FFF2-40B4-BE49-F238E27FC236}">
                <a16:creationId xmlns:a16="http://schemas.microsoft.com/office/drawing/2014/main" id="{C6312439-3E2F-644C-8FD1-E8F71A7DB152}"/>
              </a:ext>
            </a:extLst>
          </p:cNvPr>
          <p:cNvSpPr txBox="1"/>
          <p:nvPr/>
        </p:nvSpPr>
        <p:spPr>
          <a:xfrm>
            <a:off x="3982829" y="1181867"/>
            <a:ext cx="58917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000" b="1" dirty="0" smtClean="0">
                <a:solidFill>
                  <a:srgbClr val="000000"/>
                </a:solidFill>
                <a:cs typeface="Arial"/>
              </a:rPr>
              <a:t>...</a:t>
            </a:r>
            <a:endParaRPr lang="en-US" sz="1000" b="1" dirty="0">
              <a:solidFill>
                <a:srgbClr val="000000"/>
              </a:solidFill>
              <a:cs typeface="Arial"/>
            </a:endParaRPr>
          </a:p>
        </p:txBody>
      </p:sp>
      <p:sp>
        <p:nvSpPr>
          <p:cNvPr id="54" name="Oval 216">
            <a:extLst>
              <a:ext uri="{FF2B5EF4-FFF2-40B4-BE49-F238E27FC236}">
                <a16:creationId xmlns:a16="http://schemas.microsoft.com/office/drawing/2014/main" id="{21E76008-C977-704E-A46B-8762C970FAD4}"/>
              </a:ext>
            </a:extLst>
          </p:cNvPr>
          <p:cNvSpPr/>
          <p:nvPr/>
        </p:nvSpPr>
        <p:spPr>
          <a:xfrm>
            <a:off x="2304456" y="1145910"/>
            <a:ext cx="877433" cy="312500"/>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b="1" dirty="0" smtClean="0">
                <a:solidFill>
                  <a:schemeClr val="tx1"/>
                </a:solidFill>
              </a:rPr>
              <a:t>防火墙</a:t>
            </a:r>
            <a:endParaRPr lang="en-US" sz="1000" b="1" dirty="0">
              <a:solidFill>
                <a:schemeClr val="tx1"/>
              </a:solidFill>
            </a:endParaRPr>
          </a:p>
        </p:txBody>
      </p:sp>
      <p:sp>
        <p:nvSpPr>
          <p:cNvPr id="56" name="Oval 219">
            <a:extLst>
              <a:ext uri="{FF2B5EF4-FFF2-40B4-BE49-F238E27FC236}">
                <a16:creationId xmlns:a16="http://schemas.microsoft.com/office/drawing/2014/main" id="{9C655D12-82F9-2B4F-AD39-3319D0C1C85B}"/>
              </a:ext>
            </a:extLst>
          </p:cNvPr>
          <p:cNvSpPr/>
          <p:nvPr/>
        </p:nvSpPr>
        <p:spPr>
          <a:xfrm>
            <a:off x="3233421" y="1149125"/>
            <a:ext cx="791306" cy="312500"/>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b="1" dirty="0" smtClean="0">
                <a:solidFill>
                  <a:schemeClr val="tx1"/>
                </a:solidFill>
              </a:rPr>
              <a:t>负载</a:t>
            </a:r>
            <a:endParaRPr lang="en-US" altLang="zh-CN" sz="1000" b="1" dirty="0" smtClean="0">
              <a:solidFill>
                <a:schemeClr val="tx1"/>
              </a:solidFill>
            </a:endParaRPr>
          </a:p>
          <a:p>
            <a:pPr algn="ctr"/>
            <a:r>
              <a:rPr lang="zh-CN" altLang="en-US" sz="1000" b="1" dirty="0" smtClean="0">
                <a:solidFill>
                  <a:schemeClr val="tx1"/>
                </a:solidFill>
              </a:rPr>
              <a:t>均衡</a:t>
            </a:r>
            <a:endParaRPr lang="en-US" sz="1000" b="1" dirty="0">
              <a:solidFill>
                <a:schemeClr val="tx1"/>
              </a:solidFill>
            </a:endParaRPr>
          </a:p>
        </p:txBody>
      </p:sp>
    </p:spTree>
    <p:custDataLst>
      <p:tags r:id="rId1"/>
    </p:custDataLst>
    <p:extLst>
      <p:ext uri="{BB962C8B-B14F-4D97-AF65-F5344CB8AC3E}">
        <p14:creationId xmlns:p14="http://schemas.microsoft.com/office/powerpoint/2010/main" val="8379093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xEl>
                                              <p:pRg st="1" end="1"/>
                                            </p:txEl>
                                          </p:spTgt>
                                        </p:tgtEl>
                                        <p:attrNameLst>
                                          <p:attrName>style.visibility</p:attrName>
                                        </p:attrNameLst>
                                      </p:cBhvr>
                                      <p:to>
                                        <p:strVal val="visible"/>
                                      </p:to>
                                    </p:set>
                                    <p:animEffect transition="in" filter="fade">
                                      <p:cBhvr>
                                        <p:cTn id="7" dur="500"/>
                                        <p:tgtEl>
                                          <p:spTgt spid="15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0">
                                            <p:txEl>
                                              <p:pRg st="2" end="2"/>
                                            </p:txEl>
                                          </p:spTgt>
                                        </p:tgtEl>
                                        <p:attrNameLst>
                                          <p:attrName>style.visibility</p:attrName>
                                        </p:attrNameLst>
                                      </p:cBhvr>
                                      <p:to>
                                        <p:strVal val="visible"/>
                                      </p:to>
                                    </p:set>
                                    <p:animEffect transition="in" filter="fade">
                                      <p:cBhvr>
                                        <p:cTn id="10" dur="500"/>
                                        <p:tgtEl>
                                          <p:spTgt spid="150">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50">
                                            <p:txEl>
                                              <p:pRg st="3" end="3"/>
                                            </p:txEl>
                                          </p:spTgt>
                                        </p:tgtEl>
                                        <p:attrNameLst>
                                          <p:attrName>style.visibility</p:attrName>
                                        </p:attrNameLst>
                                      </p:cBhvr>
                                      <p:to>
                                        <p:strVal val="visible"/>
                                      </p:to>
                                    </p:set>
                                    <p:animEffect transition="in" filter="fade">
                                      <p:cBhvr>
                                        <p:cTn id="13" dur="500"/>
                                        <p:tgtEl>
                                          <p:spTgt spid="150">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50">
                                            <p:txEl>
                                              <p:pRg st="4" end="4"/>
                                            </p:txEl>
                                          </p:spTgt>
                                        </p:tgtEl>
                                        <p:attrNameLst>
                                          <p:attrName>style.visibility</p:attrName>
                                        </p:attrNameLst>
                                      </p:cBhvr>
                                      <p:to>
                                        <p:strVal val="visible"/>
                                      </p:to>
                                    </p:set>
                                    <p:animEffect transition="in" filter="fade">
                                      <p:cBhvr>
                                        <p:cTn id="18" dur="500"/>
                                        <p:tgtEl>
                                          <p:spTgt spid="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latin typeface="宋体" charset="-122"/>
            </a:endParaRPr>
          </a:p>
        </p:txBody>
      </p:sp>
      <p:sp>
        <p:nvSpPr>
          <p:cNvPr id="16" name="Rectangle 6"/>
          <p:cNvSpPr>
            <a:spLocks noChangeArrowheads="1"/>
          </p:cNvSpPr>
          <p:nvPr/>
        </p:nvSpPr>
        <p:spPr bwMode="auto">
          <a:xfrm>
            <a:off x="3542715" y="576646"/>
            <a:ext cx="20585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smtClean="0">
                <a:solidFill>
                  <a:schemeClr val="bg1"/>
                </a:solidFill>
                <a:latin typeface="微软雅黑" pitchFamily="34" charset="-122"/>
                <a:ea typeface="微软雅黑" pitchFamily="34" charset="-122"/>
              </a:rPr>
              <a:t>ONOS</a:t>
            </a:r>
            <a:r>
              <a:rPr lang="zh-CN" altLang="en-US" sz="2400" b="1" dirty="0" smtClean="0">
                <a:solidFill>
                  <a:schemeClr val="bg1"/>
                </a:solidFill>
                <a:latin typeface="微软雅黑" pitchFamily="34" charset="-122"/>
                <a:ea typeface="微软雅黑" pitchFamily="34" charset="-122"/>
              </a:rPr>
              <a:t>控制器</a:t>
            </a:r>
            <a:endParaRPr lang="zh-CN" altLang="en-US" sz="2400" b="1" dirty="0">
              <a:solidFill>
                <a:schemeClr val="bg1"/>
              </a:solidFill>
              <a:latin typeface="微软雅黑" pitchFamily="34" charset="-122"/>
              <a:ea typeface="微软雅黑" pitchFamily="34" charset="-122"/>
            </a:endParaRPr>
          </a:p>
        </p:txBody>
      </p:sp>
      <p:sp>
        <p:nvSpPr>
          <p:cNvPr id="150" name="Rectangle 8"/>
          <p:cNvSpPr>
            <a:spLocks noChangeArrowheads="1"/>
          </p:cNvSpPr>
          <p:nvPr/>
        </p:nvSpPr>
        <p:spPr bwMode="auto">
          <a:xfrm>
            <a:off x="5368564" y="1171384"/>
            <a:ext cx="3613512" cy="3575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500"/>
              </a:lnSpc>
              <a:buClr>
                <a:srgbClr val="0070C0"/>
              </a:buClr>
              <a:buFont typeface="Wingdings" pitchFamily="2" charset="2"/>
              <a:buChar char="l"/>
            </a:pPr>
            <a:r>
              <a:rPr lang="zh-CN" altLang="en-US" sz="1200" b="1" dirty="0">
                <a:latin typeface="微软雅黑" pitchFamily="34" charset="-122"/>
                <a:ea typeface="微软雅黑" pitchFamily="34" charset="-122"/>
              </a:rPr>
              <a:t>北向接口层支持通过</a:t>
            </a:r>
            <a:r>
              <a:rPr lang="en-US" altLang="zh-CN" sz="1200" b="1" dirty="0">
                <a:solidFill>
                  <a:srgbClr val="C00000"/>
                </a:solidFill>
                <a:latin typeface="微软雅黑" pitchFamily="34" charset="-122"/>
                <a:ea typeface="微软雅黑" pitchFamily="34" charset="-122"/>
              </a:rPr>
              <a:t>REST</a:t>
            </a:r>
            <a:r>
              <a:rPr lang="zh-CN" altLang="en-US" sz="1200" b="1" dirty="0">
                <a:solidFill>
                  <a:srgbClr val="C00000"/>
                </a:solidFill>
                <a:latin typeface="微软雅黑" pitchFamily="34" charset="-122"/>
                <a:ea typeface="微软雅黑" pitchFamily="34" charset="-122"/>
              </a:rPr>
              <a:t>风格的</a:t>
            </a:r>
            <a:r>
              <a:rPr lang="en-US" altLang="zh-CN" sz="1200" b="1" dirty="0">
                <a:solidFill>
                  <a:srgbClr val="C00000"/>
                </a:solidFill>
                <a:latin typeface="微软雅黑" pitchFamily="34" charset="-122"/>
                <a:ea typeface="微软雅黑" pitchFamily="34" charset="-122"/>
              </a:rPr>
              <a:t>API</a:t>
            </a:r>
            <a:r>
              <a:rPr lang="zh-CN" altLang="en-US" sz="1200" b="1" dirty="0">
                <a:solidFill>
                  <a:srgbClr val="C00000"/>
                </a:solidFill>
                <a:latin typeface="微软雅黑" pitchFamily="34" charset="-122"/>
                <a:ea typeface="微软雅黑" pitchFamily="34" charset="-122"/>
              </a:rPr>
              <a:t>直接操作网络资源</a:t>
            </a:r>
            <a:r>
              <a:rPr lang="zh-CN" altLang="en-US" sz="1200" b="1" dirty="0">
                <a:latin typeface="微软雅黑" pitchFamily="34" charset="-122"/>
                <a:ea typeface="微软雅黑" pitchFamily="34" charset="-122"/>
              </a:rPr>
              <a:t>，如创建流表或读取设备状态</a:t>
            </a:r>
            <a:r>
              <a:rPr lang="zh-CN" altLang="en-US" sz="1200" b="1" dirty="0" smtClean="0">
                <a:latin typeface="微软雅黑" pitchFamily="34" charset="-122"/>
                <a:ea typeface="微软雅黑" pitchFamily="34" charset="-122"/>
              </a:rPr>
              <a:t>等。</a:t>
            </a:r>
            <a:endParaRPr lang="en-US" altLang="zh-CN" sz="12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200" b="1" dirty="0">
                <a:latin typeface="微软雅黑" pitchFamily="34" charset="-122"/>
                <a:ea typeface="微软雅黑" pitchFamily="34" charset="-122"/>
              </a:rPr>
              <a:t>分布式核心层负责</a:t>
            </a:r>
            <a:r>
              <a:rPr lang="zh-CN" altLang="en-US" sz="1200" b="1" dirty="0">
                <a:solidFill>
                  <a:srgbClr val="C00000"/>
                </a:solidFill>
                <a:latin typeface="微软雅黑" pitchFamily="34" charset="-122"/>
                <a:ea typeface="微软雅黑" pitchFamily="34" charset="-122"/>
              </a:rPr>
              <a:t>全局网络状态的维护与控制策略的执行</a:t>
            </a:r>
            <a:r>
              <a:rPr lang="zh-CN" altLang="en-US" sz="1200" b="1" dirty="0">
                <a:latin typeface="微软雅黑" pitchFamily="34" charset="-122"/>
                <a:ea typeface="微软雅黑" pitchFamily="34" charset="-122"/>
              </a:rPr>
              <a:t>，包括</a:t>
            </a:r>
            <a:r>
              <a:rPr lang="zh-CN" altLang="en-US" sz="1200" b="1" dirty="0" smtClean="0">
                <a:latin typeface="微软雅黑" pitchFamily="34" charset="-122"/>
                <a:ea typeface="微软雅黑" pitchFamily="34" charset="-122"/>
              </a:rPr>
              <a:t>维护网络</a:t>
            </a:r>
            <a:r>
              <a:rPr lang="zh-CN" altLang="en-US" sz="1200" b="1" dirty="0">
                <a:latin typeface="微软雅黑" pitchFamily="34" charset="-122"/>
                <a:ea typeface="微软雅黑" pitchFamily="34" charset="-122"/>
              </a:rPr>
              <a:t>状态信息</a:t>
            </a:r>
            <a:r>
              <a:rPr lang="zh-CN" altLang="en-US" sz="1200" b="1" dirty="0" smtClean="0">
                <a:latin typeface="微软雅黑" pitchFamily="34" charset="-122"/>
                <a:ea typeface="微软雅黑" pitchFamily="34" charset="-122"/>
              </a:rPr>
              <a:t>，计算转发</a:t>
            </a:r>
            <a:r>
              <a:rPr lang="zh-CN" altLang="en-US" sz="1200" b="1" dirty="0">
                <a:latin typeface="微软雅黑" pitchFamily="34" charset="-122"/>
                <a:ea typeface="微软雅黑" pitchFamily="34" charset="-122"/>
              </a:rPr>
              <a:t>路径</a:t>
            </a:r>
            <a:r>
              <a:rPr lang="zh-CN" altLang="en-US" sz="1200" b="1" dirty="0" smtClean="0">
                <a:latin typeface="微软雅黑" pitchFamily="34" charset="-122"/>
                <a:ea typeface="微软雅黑" pitchFamily="34" charset="-122"/>
              </a:rPr>
              <a:t>，生成</a:t>
            </a:r>
            <a:r>
              <a:rPr lang="zh-CN" altLang="en-US" sz="1200" b="1" dirty="0">
                <a:latin typeface="微软雅黑" pitchFamily="34" charset="-122"/>
                <a:ea typeface="微软雅黑" pitchFamily="34" charset="-122"/>
              </a:rPr>
              <a:t>和下发流表项等</a:t>
            </a:r>
            <a:r>
              <a:rPr lang="zh-CN" altLang="en-US" sz="1200" b="1" dirty="0" smtClean="0">
                <a:latin typeface="微软雅黑" pitchFamily="34" charset="-122"/>
                <a:ea typeface="微软雅黑" pitchFamily="34" charset="-122"/>
              </a:rPr>
              <a:t>。</a:t>
            </a:r>
            <a:endParaRPr lang="en-US" altLang="zh-CN" sz="1200" b="1" dirty="0" smtClean="0">
              <a:latin typeface="微软雅黑" pitchFamily="34" charset="-122"/>
              <a:ea typeface="微软雅黑" pitchFamily="34" charset="-122"/>
            </a:endParaRPr>
          </a:p>
          <a:p>
            <a:pPr marL="285750" indent="-285750" algn="just">
              <a:lnSpc>
                <a:spcPts val="2500"/>
              </a:lnSpc>
              <a:buClr>
                <a:srgbClr val="0070C0"/>
              </a:buClr>
              <a:buFont typeface="Wingdings" pitchFamily="2" charset="2"/>
              <a:buChar char="l"/>
            </a:pPr>
            <a:r>
              <a:rPr lang="zh-CN" altLang="en-US" sz="1200" b="1" dirty="0" smtClean="0">
                <a:latin typeface="微软雅黑" pitchFamily="34" charset="-122"/>
                <a:ea typeface="微软雅黑" pitchFamily="34" charset="-122"/>
              </a:rPr>
              <a:t>南向</a:t>
            </a:r>
            <a:r>
              <a:rPr lang="zh-CN" altLang="en-US" sz="1200" b="1" dirty="0">
                <a:latin typeface="微软雅黑" pitchFamily="34" charset="-122"/>
                <a:ea typeface="微软雅黑" pitchFamily="34" charset="-122"/>
              </a:rPr>
              <a:t>接口层、适配层以及南向协议层</a:t>
            </a:r>
            <a:r>
              <a:rPr lang="zh-CN" altLang="en-US" sz="1200" b="1" dirty="0" smtClean="0">
                <a:solidFill>
                  <a:srgbClr val="C00000"/>
                </a:solidFill>
                <a:latin typeface="微软雅黑" pitchFamily="34" charset="-122"/>
                <a:ea typeface="微软雅黑" pitchFamily="34" charset="-122"/>
              </a:rPr>
              <a:t>对主机</a:t>
            </a:r>
            <a:r>
              <a:rPr lang="zh-CN" altLang="en-US" sz="1200" b="1" dirty="0">
                <a:solidFill>
                  <a:srgbClr val="C00000"/>
                </a:solidFill>
                <a:latin typeface="微软雅黑" pitchFamily="34" charset="-122"/>
                <a:ea typeface="微软雅黑" pitchFamily="34" charset="-122"/>
              </a:rPr>
              <a:t>、链路、交换机和协议</a:t>
            </a:r>
            <a:r>
              <a:rPr lang="zh-CN" altLang="en-US" sz="1200" b="1" dirty="0" smtClean="0">
                <a:solidFill>
                  <a:srgbClr val="C00000"/>
                </a:solidFill>
                <a:latin typeface="微软雅黑" pitchFamily="34" charset="-122"/>
                <a:ea typeface="微软雅黑" pitchFamily="34" charset="-122"/>
              </a:rPr>
              <a:t>进行抽象</a:t>
            </a:r>
            <a:r>
              <a:rPr lang="zh-CN" altLang="en-US" sz="1200" b="1" dirty="0">
                <a:solidFill>
                  <a:srgbClr val="C00000"/>
                </a:solidFill>
                <a:latin typeface="微软雅黑" pitchFamily="34" charset="-122"/>
                <a:ea typeface="微软雅黑" pitchFamily="34" charset="-122"/>
              </a:rPr>
              <a:t>描述，确保分布式核心层在实现</a:t>
            </a:r>
            <a:r>
              <a:rPr lang="zh-CN" altLang="en-US" sz="1200" b="1" dirty="0" smtClean="0">
                <a:solidFill>
                  <a:srgbClr val="C00000"/>
                </a:solidFill>
                <a:latin typeface="微软雅黑" pitchFamily="34" charset="-122"/>
                <a:ea typeface="微软雅黑" pitchFamily="34" charset="-122"/>
              </a:rPr>
              <a:t>上保持</a:t>
            </a:r>
            <a:r>
              <a:rPr lang="zh-CN" altLang="en-US" sz="1200" b="1" dirty="0">
                <a:solidFill>
                  <a:srgbClr val="C00000"/>
                </a:solidFill>
                <a:latin typeface="微软雅黑" pitchFamily="34" charset="-122"/>
                <a:ea typeface="微软雅黑" pitchFamily="34" charset="-122"/>
              </a:rPr>
              <a:t>对设备和协议的无关性</a:t>
            </a:r>
            <a:r>
              <a:rPr lang="zh-CN" altLang="en-US" sz="1200" b="1" dirty="0" smtClean="0">
                <a:latin typeface="微软雅黑" pitchFamily="34" charset="-122"/>
                <a:ea typeface="微软雅黑" pitchFamily="34" charset="-122"/>
              </a:rPr>
              <a:t>，将</a:t>
            </a:r>
            <a:r>
              <a:rPr lang="zh-CN" altLang="en-US" sz="1200" b="1" dirty="0">
                <a:latin typeface="微软雅黑" pitchFamily="34" charset="-122"/>
                <a:ea typeface="微软雅黑" pitchFamily="34" charset="-122"/>
              </a:rPr>
              <a:t>分布式核心层下发的抽象指令转换为具体协议消息，并通过</a:t>
            </a:r>
            <a:r>
              <a:rPr lang="en-US" altLang="zh-CN" sz="1200" b="1" dirty="0">
                <a:latin typeface="微软雅黑" pitchFamily="34" charset="-122"/>
                <a:ea typeface="微软雅黑" pitchFamily="34" charset="-122"/>
              </a:rPr>
              <a:t>OpenFlow</a:t>
            </a:r>
            <a:r>
              <a:rPr lang="zh-CN" altLang="en-US" sz="1200" b="1" dirty="0">
                <a:latin typeface="微软雅黑" pitchFamily="34" charset="-122"/>
                <a:ea typeface="微软雅黑" pitchFamily="34" charset="-122"/>
              </a:rPr>
              <a:t>等南向协议与数据平面设备进行交互。</a:t>
            </a:r>
            <a:endParaRPr lang="en-US" altLang="zh-CN" sz="1200" b="1" dirty="0">
              <a:latin typeface="微软雅黑" pitchFamily="34" charset="-122"/>
              <a:ea typeface="微软雅黑" pitchFamily="34" charset="-122"/>
            </a:endParaRPr>
          </a:p>
        </p:txBody>
      </p:sp>
      <p:grpSp>
        <p:nvGrpSpPr>
          <p:cNvPr id="2" name="组合 1"/>
          <p:cNvGrpSpPr/>
          <p:nvPr/>
        </p:nvGrpSpPr>
        <p:grpSpPr>
          <a:xfrm>
            <a:off x="463921" y="1105469"/>
            <a:ext cx="4429814" cy="3340044"/>
            <a:chOff x="137954" y="990779"/>
            <a:chExt cx="5647722" cy="4073711"/>
          </a:xfrm>
        </p:grpSpPr>
        <p:sp>
          <p:nvSpPr>
            <p:cNvPr id="149" name="TextBox 210">
              <a:extLst>
                <a:ext uri="{FF2B5EF4-FFF2-40B4-BE49-F238E27FC236}">
                  <a16:creationId xmlns:a16="http://schemas.microsoft.com/office/drawing/2014/main" id="{5BA7F55D-3522-9D40-A236-6BF6C46857C7}"/>
                </a:ext>
              </a:extLst>
            </p:cNvPr>
            <p:cNvSpPr txBox="1"/>
            <p:nvPr/>
          </p:nvSpPr>
          <p:spPr>
            <a:xfrm>
              <a:off x="265028" y="990779"/>
              <a:ext cx="1028915" cy="487997"/>
            </a:xfrm>
            <a:prstGeom prst="rect">
              <a:avLst/>
            </a:prstGeom>
            <a:solidFill>
              <a:schemeClr val="bg1"/>
            </a:solidFill>
          </p:spPr>
          <p:txBody>
            <a:bodyPr wrap="square" rtlCol="0">
              <a:spAutoFit/>
            </a:bodyPr>
            <a:lstStyle>
              <a:defPPr>
                <a:defRPr lang="zh-CN"/>
              </a:defPPr>
              <a:lvl1pPr algn="ctr" eaLnBrk="0" fontAlgn="base" hangingPunct="0">
                <a:lnSpc>
                  <a:spcPct val="90000"/>
                </a:lnSpc>
                <a:spcBef>
                  <a:spcPct val="0"/>
                </a:spcBef>
                <a:spcAft>
                  <a:spcPct val="0"/>
                </a:spcAft>
                <a:defRPr sz="1400">
                  <a:solidFill>
                    <a:srgbClr val="000000"/>
                  </a:solidFill>
                  <a:latin typeface="Arial"/>
                  <a:ea typeface="ＭＳ Ｐゴシック" charset="0"/>
                  <a:cs typeface="Arial"/>
                </a:defRPr>
              </a:lvl1pPr>
            </a:lstStyle>
            <a:p>
              <a:pPr>
                <a:lnSpc>
                  <a:spcPts val="1200"/>
                </a:lnSpc>
              </a:pPr>
              <a:r>
                <a:rPr lang="zh-CN" altLang="en-US" sz="900" b="1" dirty="0">
                  <a:latin typeface="+mn-lt"/>
                  <a:ea typeface="+mn-ea"/>
                </a:rPr>
                <a:t>网络</a:t>
              </a:r>
              <a:r>
                <a:rPr lang="zh-CN" altLang="en-US" sz="900" b="1" dirty="0" smtClean="0">
                  <a:latin typeface="+mn-lt"/>
                  <a:ea typeface="+mn-ea"/>
                </a:rPr>
                <a:t>控制</a:t>
              </a:r>
              <a:endParaRPr lang="en-US" altLang="zh-CN" sz="900" b="1" dirty="0" smtClean="0">
                <a:latin typeface="+mn-lt"/>
                <a:ea typeface="+mn-ea"/>
              </a:endParaRPr>
            </a:p>
            <a:p>
              <a:pPr>
                <a:lnSpc>
                  <a:spcPts val="1200"/>
                </a:lnSpc>
              </a:pPr>
              <a:r>
                <a:rPr lang="zh-CN" altLang="en-US" sz="900" b="1" dirty="0" smtClean="0">
                  <a:latin typeface="+mn-lt"/>
                  <a:ea typeface="+mn-ea"/>
                </a:rPr>
                <a:t>应用程序</a:t>
              </a:r>
              <a:endParaRPr lang="en-US" sz="900" b="1" dirty="0">
                <a:latin typeface="+mn-lt"/>
                <a:ea typeface="+mn-ea"/>
              </a:endParaRPr>
            </a:p>
          </p:txBody>
        </p:sp>
        <p:cxnSp>
          <p:nvCxnSpPr>
            <p:cNvPr id="20" name="Straight Connector 164">
              <a:extLst>
                <a:ext uri="{FF2B5EF4-FFF2-40B4-BE49-F238E27FC236}">
                  <a16:creationId xmlns:a16="http://schemas.microsoft.com/office/drawing/2014/main" id="{B21516A3-9168-5A49-BB27-52176C92B938}"/>
                </a:ext>
              </a:extLst>
            </p:cNvPr>
            <p:cNvCxnSpPr/>
            <p:nvPr/>
          </p:nvCxnSpPr>
          <p:spPr>
            <a:xfrm>
              <a:off x="1174585" y="1508374"/>
              <a:ext cx="4611090" cy="1332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Oval 212">
              <a:extLst>
                <a:ext uri="{FF2B5EF4-FFF2-40B4-BE49-F238E27FC236}">
                  <a16:creationId xmlns:a16="http://schemas.microsoft.com/office/drawing/2014/main" id="{63396159-2590-154F-A47D-AE772D5BD572}"/>
                </a:ext>
              </a:extLst>
            </p:cNvPr>
            <p:cNvSpPr/>
            <p:nvPr/>
          </p:nvSpPr>
          <p:spPr>
            <a:xfrm>
              <a:off x="1395429" y="1036250"/>
              <a:ext cx="1008863" cy="381143"/>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b="1" dirty="0" smtClean="0">
                  <a:solidFill>
                    <a:schemeClr val="tx1"/>
                  </a:solidFill>
                </a:rPr>
                <a:t>流量</a:t>
              </a:r>
              <a:endParaRPr lang="en-US" altLang="zh-CN" sz="1000" b="1" dirty="0" smtClean="0">
                <a:solidFill>
                  <a:schemeClr val="tx1"/>
                </a:solidFill>
              </a:endParaRPr>
            </a:p>
            <a:p>
              <a:pPr algn="ctr"/>
              <a:r>
                <a:rPr lang="zh-CN" altLang="en-US" sz="1000" b="1" dirty="0" smtClean="0">
                  <a:solidFill>
                    <a:schemeClr val="tx1"/>
                  </a:solidFill>
                </a:rPr>
                <a:t>工程</a:t>
              </a:r>
              <a:endParaRPr lang="en-US" altLang="zh-CN" sz="1000" b="1" dirty="0">
                <a:solidFill>
                  <a:schemeClr val="tx1"/>
                </a:solidFill>
              </a:endParaRPr>
            </a:p>
          </p:txBody>
        </p:sp>
        <p:sp>
          <p:nvSpPr>
            <p:cNvPr id="27" name="Oval 216">
              <a:extLst>
                <a:ext uri="{FF2B5EF4-FFF2-40B4-BE49-F238E27FC236}">
                  <a16:creationId xmlns:a16="http://schemas.microsoft.com/office/drawing/2014/main" id="{21E76008-C977-704E-A46B-8762C970FAD4}"/>
                </a:ext>
              </a:extLst>
            </p:cNvPr>
            <p:cNvSpPr/>
            <p:nvPr/>
          </p:nvSpPr>
          <p:spPr>
            <a:xfrm>
              <a:off x="2484515" y="1040103"/>
              <a:ext cx="1118669" cy="381143"/>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b="1" dirty="0" smtClean="0">
                  <a:solidFill>
                    <a:schemeClr val="tx1"/>
                  </a:solidFill>
                </a:rPr>
                <a:t>防火墙</a:t>
              </a:r>
              <a:endParaRPr lang="en-US" sz="1000" b="1" dirty="0">
                <a:solidFill>
                  <a:schemeClr val="tx1"/>
                </a:solidFill>
              </a:endParaRPr>
            </a:p>
          </p:txBody>
        </p:sp>
        <p:sp>
          <p:nvSpPr>
            <p:cNvPr id="30" name="Oval 219">
              <a:extLst>
                <a:ext uri="{FF2B5EF4-FFF2-40B4-BE49-F238E27FC236}">
                  <a16:creationId xmlns:a16="http://schemas.microsoft.com/office/drawing/2014/main" id="{9C655D12-82F9-2B4F-AD39-3319D0C1C85B}"/>
                </a:ext>
              </a:extLst>
            </p:cNvPr>
            <p:cNvSpPr/>
            <p:nvPr/>
          </p:nvSpPr>
          <p:spPr>
            <a:xfrm>
              <a:off x="3668885" y="1044024"/>
              <a:ext cx="1008863" cy="381143"/>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000" b="1" dirty="0" smtClean="0">
                  <a:solidFill>
                    <a:schemeClr val="tx1"/>
                  </a:solidFill>
                </a:rPr>
                <a:t>负载</a:t>
              </a:r>
              <a:endParaRPr lang="en-US" altLang="zh-CN" sz="1000" b="1" dirty="0" smtClean="0">
                <a:solidFill>
                  <a:schemeClr val="tx1"/>
                </a:solidFill>
              </a:endParaRPr>
            </a:p>
            <a:p>
              <a:pPr algn="ctr"/>
              <a:r>
                <a:rPr lang="zh-CN" altLang="en-US" sz="1000" b="1" dirty="0" smtClean="0">
                  <a:solidFill>
                    <a:schemeClr val="tx1"/>
                  </a:solidFill>
                </a:rPr>
                <a:t>均衡</a:t>
              </a:r>
              <a:endParaRPr lang="en-US" sz="1000" b="1" dirty="0">
                <a:solidFill>
                  <a:schemeClr val="tx1"/>
                </a:solidFill>
              </a:endParaRPr>
            </a:p>
          </p:txBody>
        </p:sp>
        <p:sp>
          <p:nvSpPr>
            <p:cNvPr id="61" name="Rounded Rectangle 148">
              <a:extLst>
                <a:ext uri="{FF2B5EF4-FFF2-40B4-BE49-F238E27FC236}">
                  <a16:creationId xmlns:a16="http://schemas.microsoft.com/office/drawing/2014/main" id="{E99A6AA0-07FB-1C4C-972D-6F9E4C71E394}"/>
                </a:ext>
              </a:extLst>
            </p:cNvPr>
            <p:cNvSpPr/>
            <p:nvPr/>
          </p:nvSpPr>
          <p:spPr>
            <a:xfrm>
              <a:off x="1184594" y="1608254"/>
              <a:ext cx="4601082"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dirty="0">
                <a:ln>
                  <a:noFill/>
                </a:ln>
                <a:solidFill>
                  <a:srgbClr val="000000"/>
                </a:solidFill>
                <a:effectLst/>
                <a:uLnTx/>
                <a:uFillTx/>
              </a:endParaRPr>
            </a:p>
          </p:txBody>
        </p:sp>
        <p:sp>
          <p:nvSpPr>
            <p:cNvPr id="66" name="Rounded Rectangle 127">
              <a:extLst>
                <a:ext uri="{FF2B5EF4-FFF2-40B4-BE49-F238E27FC236}">
                  <a16:creationId xmlns:a16="http://schemas.microsoft.com/office/drawing/2014/main" id="{11EFF8DB-F7D6-F34F-9A62-91332868BEEF}"/>
                </a:ext>
              </a:extLst>
            </p:cNvPr>
            <p:cNvSpPr/>
            <p:nvPr/>
          </p:nvSpPr>
          <p:spPr>
            <a:xfrm>
              <a:off x="1909455" y="1717869"/>
              <a:ext cx="1130456" cy="35126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REST API</a:t>
              </a:r>
            </a:p>
          </p:txBody>
        </p:sp>
        <p:sp>
          <p:nvSpPr>
            <p:cNvPr id="64" name="Rounded Rectangle 178">
              <a:extLst>
                <a:ext uri="{FF2B5EF4-FFF2-40B4-BE49-F238E27FC236}">
                  <a16:creationId xmlns:a16="http://schemas.microsoft.com/office/drawing/2014/main" id="{251FA6D6-570F-5043-8D40-0C68D81CB6B5}"/>
                </a:ext>
              </a:extLst>
            </p:cNvPr>
            <p:cNvSpPr/>
            <p:nvPr/>
          </p:nvSpPr>
          <p:spPr>
            <a:xfrm>
              <a:off x="3169420" y="1717871"/>
              <a:ext cx="1073389" cy="35126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意图框架</a:t>
              </a:r>
              <a:endParaRPr lang="en-US" sz="900" b="1" kern="0" dirty="0">
                <a:solidFill>
                  <a:srgbClr val="000000"/>
                </a:solidFill>
              </a:endParaRPr>
            </a:p>
          </p:txBody>
        </p:sp>
        <p:sp>
          <p:nvSpPr>
            <p:cNvPr id="69" name="Rounded Rectangle 124">
              <a:extLst>
                <a:ext uri="{FF2B5EF4-FFF2-40B4-BE49-F238E27FC236}">
                  <a16:creationId xmlns:a16="http://schemas.microsoft.com/office/drawing/2014/main" id="{15918E48-99B5-A449-B81F-5A158B747E62}"/>
                </a:ext>
              </a:extLst>
            </p:cNvPr>
            <p:cNvSpPr/>
            <p:nvPr/>
          </p:nvSpPr>
          <p:spPr>
            <a:xfrm>
              <a:off x="1184594" y="2244520"/>
              <a:ext cx="4601081" cy="88104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70" name="TextBox 132">
              <a:extLst>
                <a:ext uri="{FF2B5EF4-FFF2-40B4-BE49-F238E27FC236}">
                  <a16:creationId xmlns:a16="http://schemas.microsoft.com/office/drawing/2014/main" id="{C6312439-3E2F-644C-8FD1-E8F71A7DB152}"/>
                </a:ext>
              </a:extLst>
            </p:cNvPr>
            <p:cNvSpPr txBox="1"/>
            <p:nvPr/>
          </p:nvSpPr>
          <p:spPr>
            <a:xfrm>
              <a:off x="1052404" y="2439604"/>
              <a:ext cx="1064730" cy="487997"/>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smtClean="0">
                  <a:solidFill>
                    <a:srgbClr val="000000"/>
                  </a:solidFill>
                  <a:cs typeface="Arial"/>
                </a:rPr>
                <a:t>分布式</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核心</a:t>
              </a:r>
              <a:endParaRPr lang="en-US" sz="900" b="1" dirty="0">
                <a:solidFill>
                  <a:srgbClr val="000000"/>
                </a:solidFill>
                <a:cs typeface="Arial"/>
              </a:endParaRPr>
            </a:p>
          </p:txBody>
        </p:sp>
        <p:sp>
          <p:nvSpPr>
            <p:cNvPr id="86" name="Rounded Rectangle 187">
              <a:extLst>
                <a:ext uri="{FF2B5EF4-FFF2-40B4-BE49-F238E27FC236}">
                  <a16:creationId xmlns:a16="http://schemas.microsoft.com/office/drawing/2014/main" id="{D26CA676-9ED8-CC4E-8413-ADE7E23BE8F2}"/>
                </a:ext>
              </a:extLst>
            </p:cNvPr>
            <p:cNvSpPr/>
            <p:nvPr/>
          </p:nvSpPr>
          <p:spPr>
            <a:xfrm>
              <a:off x="1929663"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设备管理</a:t>
              </a:r>
              <a:endParaRPr lang="en-US" sz="900" b="1" kern="0" dirty="0">
                <a:solidFill>
                  <a:srgbClr val="000000"/>
                </a:solidFill>
              </a:endParaRPr>
            </a:p>
          </p:txBody>
        </p:sp>
        <p:sp>
          <p:nvSpPr>
            <p:cNvPr id="95" name="Rounded Rectangle 178">
              <a:extLst>
                <a:ext uri="{FF2B5EF4-FFF2-40B4-BE49-F238E27FC236}">
                  <a16:creationId xmlns:a16="http://schemas.microsoft.com/office/drawing/2014/main" id="{251FA6D6-570F-5043-8D40-0C68D81CB6B5}"/>
                </a:ext>
              </a:extLst>
            </p:cNvPr>
            <p:cNvSpPr/>
            <p:nvPr/>
          </p:nvSpPr>
          <p:spPr>
            <a:xfrm>
              <a:off x="4395090" y="1717871"/>
              <a:ext cx="1205085" cy="35126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网络视图抽象</a:t>
              </a:r>
              <a:endParaRPr lang="en-US" sz="900" b="1" kern="0" dirty="0">
                <a:solidFill>
                  <a:srgbClr val="000000"/>
                </a:solidFill>
              </a:endParaRPr>
            </a:p>
          </p:txBody>
        </p:sp>
        <p:sp>
          <p:nvSpPr>
            <p:cNvPr id="96" name="Rounded Rectangle 187">
              <a:extLst>
                <a:ext uri="{FF2B5EF4-FFF2-40B4-BE49-F238E27FC236}">
                  <a16:creationId xmlns:a16="http://schemas.microsoft.com/office/drawing/2014/main" id="{D26CA676-9ED8-CC4E-8413-ADE7E23BE8F2}"/>
                </a:ext>
              </a:extLst>
            </p:cNvPr>
            <p:cNvSpPr/>
            <p:nvPr/>
          </p:nvSpPr>
          <p:spPr>
            <a:xfrm>
              <a:off x="2970172"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流管理</a:t>
              </a:r>
              <a:endParaRPr lang="en-US" sz="900" b="1" kern="0" dirty="0">
                <a:solidFill>
                  <a:srgbClr val="000000"/>
                </a:solidFill>
              </a:endParaRPr>
            </a:p>
          </p:txBody>
        </p:sp>
        <p:sp>
          <p:nvSpPr>
            <p:cNvPr id="97" name="Rounded Rectangle 187">
              <a:extLst>
                <a:ext uri="{FF2B5EF4-FFF2-40B4-BE49-F238E27FC236}">
                  <a16:creationId xmlns:a16="http://schemas.microsoft.com/office/drawing/2014/main" id="{D26CA676-9ED8-CC4E-8413-ADE7E23BE8F2}"/>
                </a:ext>
              </a:extLst>
            </p:cNvPr>
            <p:cNvSpPr/>
            <p:nvPr/>
          </p:nvSpPr>
          <p:spPr>
            <a:xfrm>
              <a:off x="2957003"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主机管理</a:t>
              </a:r>
              <a:endParaRPr lang="en-US" sz="900" b="1" kern="0" dirty="0">
                <a:solidFill>
                  <a:srgbClr val="000000"/>
                </a:solidFill>
              </a:endParaRPr>
            </a:p>
          </p:txBody>
        </p:sp>
        <p:sp>
          <p:nvSpPr>
            <p:cNvPr id="98" name="Rounded Rectangle 187">
              <a:extLst>
                <a:ext uri="{FF2B5EF4-FFF2-40B4-BE49-F238E27FC236}">
                  <a16:creationId xmlns:a16="http://schemas.microsoft.com/office/drawing/2014/main" id="{D26CA676-9ED8-CC4E-8413-ADE7E23BE8F2}"/>
                </a:ext>
              </a:extLst>
            </p:cNvPr>
            <p:cNvSpPr/>
            <p:nvPr/>
          </p:nvSpPr>
          <p:spPr>
            <a:xfrm>
              <a:off x="3914767"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链路发现</a:t>
              </a:r>
              <a:endParaRPr lang="en-US" sz="900" b="1" kern="0" dirty="0">
                <a:solidFill>
                  <a:srgbClr val="000000"/>
                </a:solidFill>
              </a:endParaRPr>
            </a:p>
          </p:txBody>
        </p:sp>
        <p:sp>
          <p:nvSpPr>
            <p:cNvPr id="99" name="Rounded Rectangle 187">
              <a:extLst>
                <a:ext uri="{FF2B5EF4-FFF2-40B4-BE49-F238E27FC236}">
                  <a16:creationId xmlns:a16="http://schemas.microsoft.com/office/drawing/2014/main" id="{D26CA676-9ED8-CC4E-8413-ADE7E23BE8F2}"/>
                </a:ext>
              </a:extLst>
            </p:cNvPr>
            <p:cNvSpPr/>
            <p:nvPr/>
          </p:nvSpPr>
          <p:spPr>
            <a:xfrm>
              <a:off x="1943167"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lvl="0" algn="ctr" eaLnBrk="0" fontAlgn="base" hangingPunct="0">
                <a:spcBef>
                  <a:spcPct val="0"/>
                </a:spcBef>
                <a:spcAft>
                  <a:spcPct val="0"/>
                </a:spcAft>
                <a:defRPr/>
              </a:pPr>
              <a:r>
                <a:rPr lang="zh-CN" altLang="en-US" sz="900" b="1" kern="0" dirty="0">
                  <a:solidFill>
                    <a:srgbClr val="000000"/>
                  </a:solidFill>
                </a:rPr>
                <a:t>路径计算</a:t>
              </a:r>
              <a:endParaRPr kumimoji="0" lang="en-US" sz="900" b="1" i="0" u="none" strike="noStrike" kern="0" cap="none" spc="0" normalizeH="0" baseline="0" noProof="0" dirty="0">
                <a:ln>
                  <a:noFill/>
                </a:ln>
                <a:solidFill>
                  <a:srgbClr val="000000"/>
                </a:solidFill>
                <a:effectLst/>
                <a:uLnTx/>
                <a:uFillTx/>
              </a:endParaRPr>
            </a:p>
          </p:txBody>
        </p:sp>
        <p:sp>
          <p:nvSpPr>
            <p:cNvPr id="100" name="Rounded Rectangle 187">
              <a:extLst>
                <a:ext uri="{FF2B5EF4-FFF2-40B4-BE49-F238E27FC236}">
                  <a16:creationId xmlns:a16="http://schemas.microsoft.com/office/drawing/2014/main" id="{D26CA676-9ED8-CC4E-8413-ADE7E23BE8F2}"/>
                </a:ext>
              </a:extLst>
            </p:cNvPr>
            <p:cNvSpPr/>
            <p:nvPr/>
          </p:nvSpPr>
          <p:spPr>
            <a:xfrm>
              <a:off x="3927935"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意图编译</a:t>
              </a:r>
              <a:endParaRPr lang="en-US" sz="900" b="1" kern="0" dirty="0">
                <a:solidFill>
                  <a:srgbClr val="000000"/>
                </a:solidFill>
              </a:endParaRPr>
            </a:p>
          </p:txBody>
        </p:sp>
        <p:sp>
          <p:nvSpPr>
            <p:cNvPr id="101" name="Rounded Rectangle 148">
              <a:extLst>
                <a:ext uri="{FF2B5EF4-FFF2-40B4-BE49-F238E27FC236}">
                  <a16:creationId xmlns:a16="http://schemas.microsoft.com/office/drawing/2014/main" id="{E99A6AA0-07FB-1C4C-972D-6F9E4C71E394}"/>
                </a:ext>
              </a:extLst>
            </p:cNvPr>
            <p:cNvSpPr/>
            <p:nvPr/>
          </p:nvSpPr>
          <p:spPr>
            <a:xfrm>
              <a:off x="1184594" y="3184342"/>
              <a:ext cx="4601081"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105" name="Rounded Rectangle 148">
              <a:extLst>
                <a:ext uri="{FF2B5EF4-FFF2-40B4-BE49-F238E27FC236}">
                  <a16:creationId xmlns:a16="http://schemas.microsoft.com/office/drawing/2014/main" id="{E99A6AA0-07FB-1C4C-972D-6F9E4C71E394}"/>
                </a:ext>
              </a:extLst>
            </p:cNvPr>
            <p:cNvSpPr/>
            <p:nvPr/>
          </p:nvSpPr>
          <p:spPr>
            <a:xfrm>
              <a:off x="1184594" y="3804196"/>
              <a:ext cx="4601081"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113" name="Rounded Rectangle 148">
              <a:extLst>
                <a:ext uri="{FF2B5EF4-FFF2-40B4-BE49-F238E27FC236}">
                  <a16:creationId xmlns:a16="http://schemas.microsoft.com/office/drawing/2014/main" id="{E99A6AA0-07FB-1C4C-972D-6F9E4C71E394}"/>
                </a:ext>
              </a:extLst>
            </p:cNvPr>
            <p:cNvSpPr/>
            <p:nvPr/>
          </p:nvSpPr>
          <p:spPr>
            <a:xfrm>
              <a:off x="1184594" y="4444111"/>
              <a:ext cx="4601081" cy="575499"/>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200" b="1" kern="0" dirty="0">
                <a:solidFill>
                  <a:srgbClr val="000000"/>
                </a:solidFill>
              </a:endParaRPr>
            </a:p>
          </p:txBody>
        </p:sp>
        <p:sp>
          <p:nvSpPr>
            <p:cNvPr id="117" name="TextBox 132">
              <a:extLst>
                <a:ext uri="{FF2B5EF4-FFF2-40B4-BE49-F238E27FC236}">
                  <a16:creationId xmlns:a16="http://schemas.microsoft.com/office/drawing/2014/main" id="{C6312439-3E2F-644C-8FD1-E8F71A7DB152}"/>
                </a:ext>
              </a:extLst>
            </p:cNvPr>
            <p:cNvSpPr txBox="1"/>
            <p:nvPr/>
          </p:nvSpPr>
          <p:spPr>
            <a:xfrm>
              <a:off x="1006945" y="1672169"/>
              <a:ext cx="1064730" cy="487997"/>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a:solidFill>
                    <a:srgbClr val="000000"/>
                  </a:solidFill>
                  <a:cs typeface="Arial"/>
                </a:rPr>
                <a:t>北</a:t>
              </a:r>
              <a:r>
                <a:rPr lang="zh-CN" altLang="en-US" sz="900" b="1" dirty="0" smtClean="0">
                  <a:solidFill>
                    <a:srgbClr val="000000"/>
                  </a:solidFill>
                  <a:cs typeface="Arial"/>
                </a:rPr>
                <a:t>向</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接口</a:t>
              </a:r>
              <a:endParaRPr lang="en-US" sz="900" b="1" dirty="0">
                <a:solidFill>
                  <a:srgbClr val="000000"/>
                </a:solidFill>
                <a:cs typeface="Arial"/>
              </a:endParaRPr>
            </a:p>
          </p:txBody>
        </p:sp>
        <p:sp>
          <p:nvSpPr>
            <p:cNvPr id="118" name="Rounded Rectangle 127">
              <a:extLst>
                <a:ext uri="{FF2B5EF4-FFF2-40B4-BE49-F238E27FC236}">
                  <a16:creationId xmlns:a16="http://schemas.microsoft.com/office/drawing/2014/main" id="{11EFF8DB-F7D6-F34F-9A62-91332868BEEF}"/>
                </a:ext>
              </a:extLst>
            </p:cNvPr>
            <p:cNvSpPr/>
            <p:nvPr/>
          </p:nvSpPr>
          <p:spPr>
            <a:xfrm>
              <a:off x="1960503" y="3305077"/>
              <a:ext cx="1339836" cy="395169"/>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网络设备服务接口</a:t>
              </a:r>
              <a:endParaRPr lang="en-US" altLang="zh-CN" sz="900" b="1" kern="0" dirty="0">
                <a:solidFill>
                  <a:srgbClr val="000000"/>
                </a:solidFill>
              </a:endParaRPr>
            </a:p>
          </p:txBody>
        </p:sp>
        <p:sp>
          <p:nvSpPr>
            <p:cNvPr id="120" name="Rounded Rectangle 178">
              <a:extLst>
                <a:ext uri="{FF2B5EF4-FFF2-40B4-BE49-F238E27FC236}">
                  <a16:creationId xmlns:a16="http://schemas.microsoft.com/office/drawing/2014/main" id="{251FA6D6-570F-5043-8D40-0C68D81CB6B5}"/>
                </a:ext>
              </a:extLst>
            </p:cNvPr>
            <p:cNvSpPr/>
            <p:nvPr/>
          </p:nvSpPr>
          <p:spPr>
            <a:xfrm>
              <a:off x="3973655" y="3305079"/>
              <a:ext cx="1434597" cy="395169"/>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流规则服务接口</a:t>
              </a:r>
              <a:endParaRPr lang="en-US" sz="900" b="1" kern="0" dirty="0">
                <a:solidFill>
                  <a:srgbClr val="000000"/>
                </a:solidFill>
              </a:endParaRPr>
            </a:p>
          </p:txBody>
        </p:sp>
        <p:sp>
          <p:nvSpPr>
            <p:cNvPr id="121" name="TextBox 132">
              <a:extLst>
                <a:ext uri="{FF2B5EF4-FFF2-40B4-BE49-F238E27FC236}">
                  <a16:creationId xmlns:a16="http://schemas.microsoft.com/office/drawing/2014/main" id="{C6312439-3E2F-644C-8FD1-E8F71A7DB152}"/>
                </a:ext>
              </a:extLst>
            </p:cNvPr>
            <p:cNvSpPr txBox="1"/>
            <p:nvPr/>
          </p:nvSpPr>
          <p:spPr>
            <a:xfrm>
              <a:off x="1057993" y="3233565"/>
              <a:ext cx="1064730" cy="487997"/>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a:solidFill>
                    <a:srgbClr val="000000"/>
                  </a:solidFill>
                  <a:cs typeface="Arial"/>
                </a:rPr>
                <a:t>南向</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接口</a:t>
              </a:r>
              <a:endParaRPr lang="en-US" sz="900" b="1" dirty="0">
                <a:solidFill>
                  <a:srgbClr val="000000"/>
                </a:solidFill>
                <a:cs typeface="Arial"/>
              </a:endParaRPr>
            </a:p>
          </p:txBody>
        </p:sp>
        <p:sp>
          <p:nvSpPr>
            <p:cNvPr id="130" name="Rounded Rectangle 187">
              <a:extLst>
                <a:ext uri="{FF2B5EF4-FFF2-40B4-BE49-F238E27FC236}">
                  <a16:creationId xmlns:a16="http://schemas.microsoft.com/office/drawing/2014/main" id="{D26CA676-9ED8-CC4E-8413-ADE7E23BE8F2}"/>
                </a:ext>
              </a:extLst>
            </p:cNvPr>
            <p:cNvSpPr/>
            <p:nvPr/>
          </p:nvSpPr>
          <p:spPr>
            <a:xfrm>
              <a:off x="1942369" y="392824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设备抽象</a:t>
              </a:r>
              <a:endParaRPr lang="en-US" sz="900" b="1" kern="0" dirty="0">
                <a:solidFill>
                  <a:srgbClr val="000000"/>
                </a:solidFill>
              </a:endParaRPr>
            </a:p>
          </p:txBody>
        </p:sp>
        <p:sp>
          <p:nvSpPr>
            <p:cNvPr id="131" name="Rounded Rectangle 187">
              <a:extLst>
                <a:ext uri="{FF2B5EF4-FFF2-40B4-BE49-F238E27FC236}">
                  <a16:creationId xmlns:a16="http://schemas.microsoft.com/office/drawing/2014/main" id="{D26CA676-9ED8-CC4E-8413-ADE7E23BE8F2}"/>
                </a:ext>
              </a:extLst>
            </p:cNvPr>
            <p:cNvSpPr/>
            <p:nvPr/>
          </p:nvSpPr>
          <p:spPr>
            <a:xfrm>
              <a:off x="2908751" y="392824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主机抽象</a:t>
              </a:r>
              <a:endParaRPr lang="en-US" sz="900" b="1" kern="0" dirty="0">
                <a:solidFill>
                  <a:srgbClr val="000000"/>
                </a:solidFill>
              </a:endParaRPr>
            </a:p>
          </p:txBody>
        </p:sp>
        <p:sp>
          <p:nvSpPr>
            <p:cNvPr id="132" name="Rounded Rectangle 187">
              <a:extLst>
                <a:ext uri="{FF2B5EF4-FFF2-40B4-BE49-F238E27FC236}">
                  <a16:creationId xmlns:a16="http://schemas.microsoft.com/office/drawing/2014/main" id="{D26CA676-9ED8-CC4E-8413-ADE7E23BE8F2}"/>
                </a:ext>
              </a:extLst>
            </p:cNvPr>
            <p:cNvSpPr/>
            <p:nvPr/>
          </p:nvSpPr>
          <p:spPr>
            <a:xfrm>
              <a:off x="3866514" y="392824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链路抽象</a:t>
              </a:r>
              <a:endParaRPr lang="en-US" sz="900" b="1" kern="0" dirty="0">
                <a:solidFill>
                  <a:srgbClr val="000000"/>
                </a:solidFill>
              </a:endParaRPr>
            </a:p>
          </p:txBody>
        </p:sp>
        <p:sp>
          <p:nvSpPr>
            <p:cNvPr id="133" name="Rounded Rectangle 187">
              <a:extLst>
                <a:ext uri="{FF2B5EF4-FFF2-40B4-BE49-F238E27FC236}">
                  <a16:creationId xmlns:a16="http://schemas.microsoft.com/office/drawing/2014/main" id="{D26CA676-9ED8-CC4E-8413-ADE7E23BE8F2}"/>
                </a:ext>
              </a:extLst>
            </p:cNvPr>
            <p:cNvSpPr/>
            <p:nvPr/>
          </p:nvSpPr>
          <p:spPr>
            <a:xfrm>
              <a:off x="4811394" y="3943480"/>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流抽象</a:t>
              </a:r>
              <a:endParaRPr lang="en-US" sz="900" b="1" kern="0" dirty="0">
                <a:solidFill>
                  <a:srgbClr val="000000"/>
                </a:solidFill>
              </a:endParaRPr>
            </a:p>
          </p:txBody>
        </p:sp>
        <p:sp>
          <p:nvSpPr>
            <p:cNvPr id="134" name="Rounded Rectangle 187">
              <a:extLst>
                <a:ext uri="{FF2B5EF4-FFF2-40B4-BE49-F238E27FC236}">
                  <a16:creationId xmlns:a16="http://schemas.microsoft.com/office/drawing/2014/main" id="{D26CA676-9ED8-CC4E-8413-ADE7E23BE8F2}"/>
                </a:ext>
              </a:extLst>
            </p:cNvPr>
            <p:cNvSpPr/>
            <p:nvPr/>
          </p:nvSpPr>
          <p:spPr>
            <a:xfrm>
              <a:off x="1942369" y="4541038"/>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OpenFlow</a:t>
              </a:r>
              <a:endParaRPr lang="en-US" sz="900" b="1" kern="0" dirty="0">
                <a:solidFill>
                  <a:srgbClr val="000000"/>
                </a:solidFill>
              </a:endParaRPr>
            </a:p>
          </p:txBody>
        </p:sp>
        <p:sp>
          <p:nvSpPr>
            <p:cNvPr id="135" name="Rounded Rectangle 187">
              <a:extLst>
                <a:ext uri="{FF2B5EF4-FFF2-40B4-BE49-F238E27FC236}">
                  <a16:creationId xmlns:a16="http://schemas.microsoft.com/office/drawing/2014/main" id="{D26CA676-9ED8-CC4E-8413-ADE7E23BE8F2}"/>
                </a:ext>
              </a:extLst>
            </p:cNvPr>
            <p:cNvSpPr/>
            <p:nvPr/>
          </p:nvSpPr>
          <p:spPr>
            <a:xfrm>
              <a:off x="2908751" y="4541038"/>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err="1">
                  <a:solidFill>
                    <a:srgbClr val="000000"/>
                  </a:solidFill>
                </a:rPr>
                <a:t>NetConf</a:t>
              </a:r>
              <a:endParaRPr lang="en-US" sz="900" b="1" kern="0" dirty="0">
                <a:solidFill>
                  <a:srgbClr val="000000"/>
                </a:solidFill>
              </a:endParaRPr>
            </a:p>
          </p:txBody>
        </p:sp>
        <p:sp>
          <p:nvSpPr>
            <p:cNvPr id="136" name="Rounded Rectangle 187">
              <a:extLst>
                <a:ext uri="{FF2B5EF4-FFF2-40B4-BE49-F238E27FC236}">
                  <a16:creationId xmlns:a16="http://schemas.microsoft.com/office/drawing/2014/main" id="{D26CA676-9ED8-CC4E-8413-ADE7E23BE8F2}"/>
                </a:ext>
              </a:extLst>
            </p:cNvPr>
            <p:cNvSpPr/>
            <p:nvPr/>
          </p:nvSpPr>
          <p:spPr>
            <a:xfrm>
              <a:off x="3866514" y="4541038"/>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OVSDB</a:t>
              </a:r>
              <a:endParaRPr lang="en-US" sz="900" b="1" kern="0" dirty="0">
                <a:solidFill>
                  <a:srgbClr val="000000"/>
                </a:solidFill>
              </a:endParaRPr>
            </a:p>
          </p:txBody>
        </p:sp>
        <p:sp>
          <p:nvSpPr>
            <p:cNvPr id="137" name="Rounded Rectangle 187">
              <a:extLst>
                <a:ext uri="{FF2B5EF4-FFF2-40B4-BE49-F238E27FC236}">
                  <a16:creationId xmlns:a16="http://schemas.microsoft.com/office/drawing/2014/main" id="{D26CA676-9ED8-CC4E-8413-ADE7E23BE8F2}"/>
                </a:ext>
              </a:extLst>
            </p:cNvPr>
            <p:cNvSpPr/>
            <p:nvPr/>
          </p:nvSpPr>
          <p:spPr>
            <a:xfrm>
              <a:off x="4811394" y="4556279"/>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b="1" kern="0" dirty="0">
                  <a:solidFill>
                    <a:srgbClr val="000000"/>
                  </a:solidFill>
                </a:rPr>
                <a:t>SNMP</a:t>
              </a:r>
              <a:endParaRPr lang="en-US" sz="900" b="1" kern="0" dirty="0">
                <a:solidFill>
                  <a:srgbClr val="000000"/>
                </a:solidFill>
              </a:endParaRPr>
            </a:p>
          </p:txBody>
        </p:sp>
        <p:sp>
          <p:nvSpPr>
            <p:cNvPr id="138" name="Rounded Rectangle 187">
              <a:extLst>
                <a:ext uri="{FF2B5EF4-FFF2-40B4-BE49-F238E27FC236}">
                  <a16:creationId xmlns:a16="http://schemas.microsoft.com/office/drawing/2014/main" id="{D26CA676-9ED8-CC4E-8413-ADE7E23BE8F2}"/>
                </a:ext>
              </a:extLst>
            </p:cNvPr>
            <p:cNvSpPr/>
            <p:nvPr/>
          </p:nvSpPr>
          <p:spPr>
            <a:xfrm>
              <a:off x="4831328" y="230913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拓扑管理</a:t>
              </a:r>
              <a:endParaRPr lang="en-US" sz="900" b="1" kern="0" dirty="0">
                <a:solidFill>
                  <a:srgbClr val="000000"/>
                </a:solidFill>
              </a:endParaRPr>
            </a:p>
          </p:txBody>
        </p:sp>
        <p:sp>
          <p:nvSpPr>
            <p:cNvPr id="139" name="Rounded Rectangle 187">
              <a:extLst>
                <a:ext uri="{FF2B5EF4-FFF2-40B4-BE49-F238E27FC236}">
                  <a16:creationId xmlns:a16="http://schemas.microsoft.com/office/drawing/2014/main" id="{D26CA676-9ED8-CC4E-8413-ADE7E23BE8F2}"/>
                </a:ext>
              </a:extLst>
            </p:cNvPr>
            <p:cNvSpPr/>
            <p:nvPr/>
          </p:nvSpPr>
          <p:spPr>
            <a:xfrm>
              <a:off x="4844497" y="2731494"/>
              <a:ext cx="788779" cy="307354"/>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b="1" kern="0" dirty="0">
                  <a:solidFill>
                    <a:srgbClr val="000000"/>
                  </a:solidFill>
                </a:rPr>
                <a:t>网络状态</a:t>
              </a:r>
              <a:endParaRPr lang="en-US" sz="900" b="1" kern="0" dirty="0">
                <a:solidFill>
                  <a:srgbClr val="000000"/>
                </a:solidFill>
              </a:endParaRPr>
            </a:p>
          </p:txBody>
        </p:sp>
        <p:cxnSp>
          <p:nvCxnSpPr>
            <p:cNvPr id="140" name="Straight Connector 164">
              <a:extLst>
                <a:ext uri="{FF2B5EF4-FFF2-40B4-BE49-F238E27FC236}">
                  <a16:creationId xmlns:a16="http://schemas.microsoft.com/office/drawing/2014/main" id="{B21516A3-9168-5A49-BB27-52176C92B938}"/>
                </a:ext>
              </a:extLst>
            </p:cNvPr>
            <p:cNvCxnSpPr/>
            <p:nvPr/>
          </p:nvCxnSpPr>
          <p:spPr>
            <a:xfrm flipV="1">
              <a:off x="244191" y="1507204"/>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2" name="Straight Connector 164">
              <a:extLst>
                <a:ext uri="{FF2B5EF4-FFF2-40B4-BE49-F238E27FC236}">
                  <a16:creationId xmlns:a16="http://schemas.microsoft.com/office/drawing/2014/main" id="{B21516A3-9168-5A49-BB27-52176C92B938}"/>
                </a:ext>
              </a:extLst>
            </p:cNvPr>
            <p:cNvCxnSpPr/>
            <p:nvPr/>
          </p:nvCxnSpPr>
          <p:spPr>
            <a:xfrm flipV="1">
              <a:off x="244191" y="3159654"/>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3" name="Straight Connector 164">
              <a:extLst>
                <a:ext uri="{FF2B5EF4-FFF2-40B4-BE49-F238E27FC236}">
                  <a16:creationId xmlns:a16="http://schemas.microsoft.com/office/drawing/2014/main" id="{B21516A3-9168-5A49-BB27-52176C92B938}"/>
                </a:ext>
              </a:extLst>
            </p:cNvPr>
            <p:cNvCxnSpPr/>
            <p:nvPr/>
          </p:nvCxnSpPr>
          <p:spPr>
            <a:xfrm flipV="1">
              <a:off x="244191" y="5041400"/>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4" name="Straight Connector 164">
              <a:extLst>
                <a:ext uri="{FF2B5EF4-FFF2-40B4-BE49-F238E27FC236}">
                  <a16:creationId xmlns:a16="http://schemas.microsoft.com/office/drawing/2014/main" id="{B21516A3-9168-5A49-BB27-52176C92B938}"/>
                </a:ext>
              </a:extLst>
            </p:cNvPr>
            <p:cNvCxnSpPr/>
            <p:nvPr/>
          </p:nvCxnSpPr>
          <p:spPr>
            <a:xfrm flipV="1">
              <a:off x="244191" y="2263068"/>
              <a:ext cx="940809" cy="1449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8" name="直接箭头连接符 7"/>
            <p:cNvCxnSpPr/>
            <p:nvPr/>
          </p:nvCxnSpPr>
          <p:spPr>
            <a:xfrm>
              <a:off x="714595" y="1514449"/>
              <a:ext cx="0" cy="763109"/>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flipH="1">
              <a:off x="696259" y="2298114"/>
              <a:ext cx="1604" cy="86154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a:off x="693031" y="3231046"/>
              <a:ext cx="3228" cy="1788564"/>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TextBox 210">
              <a:extLst>
                <a:ext uri="{FF2B5EF4-FFF2-40B4-BE49-F238E27FC236}">
                  <a16:creationId xmlns:a16="http://schemas.microsoft.com/office/drawing/2014/main" id="{5BA7F55D-3522-9D40-A236-6BF6C46857C7}"/>
                </a:ext>
              </a:extLst>
            </p:cNvPr>
            <p:cNvSpPr txBox="1"/>
            <p:nvPr/>
          </p:nvSpPr>
          <p:spPr>
            <a:xfrm>
              <a:off x="155679" y="1706075"/>
              <a:ext cx="1028915" cy="487997"/>
            </a:xfrm>
            <a:prstGeom prst="rect">
              <a:avLst/>
            </a:prstGeom>
            <a:solidFill>
              <a:schemeClr val="bg1"/>
            </a:solidFill>
          </p:spPr>
          <p:txBody>
            <a:bodyPr wrap="square" rtlCol="0">
              <a:spAutoFit/>
            </a:bodyPr>
            <a:lstStyle/>
            <a:p>
              <a:pPr algn="ctr">
                <a:lnSpc>
                  <a:spcPts val="1200"/>
                </a:lnSpc>
              </a:pPr>
              <a:r>
                <a:rPr lang="zh-CN" altLang="en-US" sz="900" b="1" dirty="0" smtClean="0"/>
                <a:t>北向抽象</a:t>
              </a:r>
              <a:endParaRPr lang="en-US" altLang="zh-CN" sz="900" b="1" dirty="0" smtClean="0"/>
            </a:p>
            <a:p>
              <a:pPr algn="ctr">
                <a:lnSpc>
                  <a:spcPts val="1200"/>
                </a:lnSpc>
              </a:pPr>
              <a:r>
                <a:rPr lang="zh-CN" altLang="en-US" sz="900" b="1" dirty="0" smtClean="0"/>
                <a:t>及协议</a:t>
              </a:r>
              <a:endParaRPr lang="en-US" sz="900" b="1" dirty="0"/>
            </a:p>
          </p:txBody>
        </p:sp>
        <p:sp>
          <p:nvSpPr>
            <p:cNvPr id="147" name="TextBox 210">
              <a:extLst>
                <a:ext uri="{FF2B5EF4-FFF2-40B4-BE49-F238E27FC236}">
                  <a16:creationId xmlns:a16="http://schemas.microsoft.com/office/drawing/2014/main" id="{5BA7F55D-3522-9D40-A236-6BF6C46857C7}"/>
                </a:ext>
              </a:extLst>
            </p:cNvPr>
            <p:cNvSpPr txBox="1"/>
            <p:nvPr/>
          </p:nvSpPr>
          <p:spPr>
            <a:xfrm>
              <a:off x="137954" y="2506232"/>
              <a:ext cx="1028915" cy="487997"/>
            </a:xfrm>
            <a:prstGeom prst="rect">
              <a:avLst/>
            </a:prstGeom>
            <a:solidFill>
              <a:schemeClr val="bg1"/>
            </a:solidFill>
          </p:spPr>
          <p:txBody>
            <a:bodyPr wrap="square" rtlCol="0">
              <a:spAutoFit/>
            </a:bodyPr>
            <a:lstStyle/>
            <a:p>
              <a:pPr algn="ctr" eaLnBrk="0" fontAlgn="base" hangingPunct="0">
                <a:lnSpc>
                  <a:spcPts val="1200"/>
                </a:lnSpc>
                <a:spcBef>
                  <a:spcPct val="0"/>
                </a:spcBef>
                <a:spcAft>
                  <a:spcPct val="0"/>
                </a:spcAft>
              </a:pPr>
              <a:r>
                <a:rPr lang="en-US" altLang="zh-CN" sz="900" b="1" dirty="0">
                  <a:solidFill>
                    <a:srgbClr val="000000"/>
                  </a:solidFill>
                  <a:cs typeface="Arial"/>
                </a:rPr>
                <a:t>ONOS</a:t>
              </a:r>
              <a:r>
                <a:rPr lang="zh-CN" altLang="en-US" sz="900" b="1" dirty="0">
                  <a:solidFill>
                    <a:srgbClr val="000000"/>
                  </a:solidFill>
                  <a:cs typeface="Arial"/>
                </a:rPr>
                <a:t>分</a:t>
              </a:r>
              <a:endParaRPr lang="en-US" altLang="zh-CN" sz="900" b="1" dirty="0">
                <a:solidFill>
                  <a:srgbClr val="000000"/>
                </a:solidFill>
                <a:cs typeface="Arial"/>
              </a:endParaRPr>
            </a:p>
            <a:p>
              <a:pPr algn="ctr" eaLnBrk="0" fontAlgn="base" hangingPunct="0">
                <a:lnSpc>
                  <a:spcPts val="1200"/>
                </a:lnSpc>
                <a:spcBef>
                  <a:spcPct val="0"/>
                </a:spcBef>
                <a:spcAft>
                  <a:spcPct val="0"/>
                </a:spcAft>
              </a:pPr>
              <a:r>
                <a:rPr lang="zh-CN" altLang="en-US" sz="900" b="1" dirty="0">
                  <a:solidFill>
                    <a:srgbClr val="000000"/>
                  </a:solidFill>
                  <a:cs typeface="Arial"/>
                </a:rPr>
                <a:t>布式核心</a:t>
              </a:r>
              <a:endParaRPr lang="en-US" altLang="zh-CN" sz="900" b="1" dirty="0">
                <a:solidFill>
                  <a:srgbClr val="000000"/>
                </a:solidFill>
                <a:cs typeface="Arial"/>
              </a:endParaRPr>
            </a:p>
          </p:txBody>
        </p:sp>
        <p:sp>
          <p:nvSpPr>
            <p:cNvPr id="148" name="TextBox 210">
              <a:extLst>
                <a:ext uri="{FF2B5EF4-FFF2-40B4-BE49-F238E27FC236}">
                  <a16:creationId xmlns:a16="http://schemas.microsoft.com/office/drawing/2014/main" id="{5BA7F55D-3522-9D40-A236-6BF6C46857C7}"/>
                </a:ext>
              </a:extLst>
            </p:cNvPr>
            <p:cNvSpPr txBox="1"/>
            <p:nvPr/>
          </p:nvSpPr>
          <p:spPr>
            <a:xfrm>
              <a:off x="170316" y="3841966"/>
              <a:ext cx="1028915" cy="487997"/>
            </a:xfrm>
            <a:prstGeom prst="rect">
              <a:avLst/>
            </a:prstGeom>
            <a:solidFill>
              <a:schemeClr val="bg1"/>
            </a:solidFill>
          </p:spPr>
          <p:txBody>
            <a:bodyPr wrap="square" rtlCol="0">
              <a:spAutoFit/>
            </a:bodyPr>
            <a:lstStyle/>
            <a:p>
              <a:pPr algn="ctr">
                <a:lnSpc>
                  <a:spcPts val="1200"/>
                </a:lnSpc>
              </a:pPr>
              <a:r>
                <a:rPr lang="zh-CN" altLang="en-US" sz="900" b="1" dirty="0"/>
                <a:t>南向抽象</a:t>
              </a:r>
            </a:p>
            <a:p>
              <a:pPr algn="ctr">
                <a:lnSpc>
                  <a:spcPts val="1200"/>
                </a:lnSpc>
              </a:pPr>
              <a:r>
                <a:rPr lang="zh-CN" altLang="en-US" sz="900" b="1" dirty="0"/>
                <a:t>及协议</a:t>
              </a:r>
              <a:endParaRPr lang="en-US" sz="900" b="1" dirty="0"/>
            </a:p>
          </p:txBody>
        </p:sp>
        <p:cxnSp>
          <p:nvCxnSpPr>
            <p:cNvPr id="151" name="Straight Connector 164">
              <a:extLst>
                <a:ext uri="{FF2B5EF4-FFF2-40B4-BE49-F238E27FC236}">
                  <a16:creationId xmlns:a16="http://schemas.microsoft.com/office/drawing/2014/main" id="{B21516A3-9168-5A49-BB27-52176C92B938}"/>
                </a:ext>
              </a:extLst>
            </p:cNvPr>
            <p:cNvCxnSpPr/>
            <p:nvPr/>
          </p:nvCxnSpPr>
          <p:spPr>
            <a:xfrm>
              <a:off x="1168424" y="5051170"/>
              <a:ext cx="4611090" cy="13320"/>
            </a:xfrm>
            <a:prstGeom prst="line">
              <a:avLst/>
            </a:prstGeom>
            <a:ln w="1905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grpSp>
      <p:sp>
        <p:nvSpPr>
          <p:cNvPr id="55" name="TextBox 132">
            <a:extLst>
              <a:ext uri="{FF2B5EF4-FFF2-40B4-BE49-F238E27FC236}">
                <a16:creationId xmlns:a16="http://schemas.microsoft.com/office/drawing/2014/main" id="{C6312439-3E2F-644C-8FD1-E8F71A7DB152}"/>
              </a:ext>
            </a:extLst>
          </p:cNvPr>
          <p:cNvSpPr txBox="1"/>
          <p:nvPr/>
        </p:nvSpPr>
        <p:spPr>
          <a:xfrm>
            <a:off x="4008530" y="1184223"/>
            <a:ext cx="58917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000" b="1" dirty="0" smtClean="0">
                <a:solidFill>
                  <a:srgbClr val="000000"/>
                </a:solidFill>
                <a:cs typeface="Arial"/>
              </a:rPr>
              <a:t>...</a:t>
            </a:r>
            <a:endParaRPr lang="en-US" sz="1000" b="1" dirty="0">
              <a:solidFill>
                <a:srgbClr val="000000"/>
              </a:solidFill>
              <a:cs typeface="Arial"/>
            </a:endParaRPr>
          </a:p>
        </p:txBody>
      </p:sp>
      <p:sp>
        <p:nvSpPr>
          <p:cNvPr id="54" name="TextBox 132">
            <a:extLst>
              <a:ext uri="{FF2B5EF4-FFF2-40B4-BE49-F238E27FC236}">
                <a16:creationId xmlns:a16="http://schemas.microsoft.com/office/drawing/2014/main" id="{C6312439-3E2F-644C-8FD1-E8F71A7DB152}"/>
              </a:ext>
            </a:extLst>
          </p:cNvPr>
          <p:cNvSpPr txBox="1"/>
          <p:nvPr/>
        </p:nvSpPr>
        <p:spPr>
          <a:xfrm>
            <a:off x="1160358" y="3519947"/>
            <a:ext cx="835125" cy="235962"/>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smtClean="0">
                <a:solidFill>
                  <a:srgbClr val="000000"/>
                </a:solidFill>
                <a:cs typeface="Arial"/>
              </a:rPr>
              <a:t>适配</a:t>
            </a:r>
            <a:endParaRPr lang="en-US" sz="900" b="1" dirty="0">
              <a:solidFill>
                <a:srgbClr val="000000"/>
              </a:solidFill>
              <a:cs typeface="Arial"/>
            </a:endParaRPr>
          </a:p>
        </p:txBody>
      </p:sp>
      <p:sp>
        <p:nvSpPr>
          <p:cNvPr id="56" name="TextBox 132">
            <a:extLst>
              <a:ext uri="{FF2B5EF4-FFF2-40B4-BE49-F238E27FC236}">
                <a16:creationId xmlns:a16="http://schemas.microsoft.com/office/drawing/2014/main" id="{C6312439-3E2F-644C-8FD1-E8F71A7DB152}"/>
              </a:ext>
            </a:extLst>
          </p:cNvPr>
          <p:cNvSpPr txBox="1"/>
          <p:nvPr/>
        </p:nvSpPr>
        <p:spPr>
          <a:xfrm>
            <a:off x="1185557" y="3958122"/>
            <a:ext cx="835125" cy="389850"/>
          </a:xfrm>
          <a:prstGeom prst="rect">
            <a:avLst/>
          </a:prstGeom>
          <a:noFill/>
        </p:spPr>
        <p:txBody>
          <a:bodyPr wrap="square" rtlCol="0">
            <a:spAutoFit/>
          </a:bodyPr>
          <a:lstStyle/>
          <a:p>
            <a:pPr algn="ctr" eaLnBrk="0" fontAlgn="base" hangingPunct="0">
              <a:lnSpc>
                <a:spcPts val="1200"/>
              </a:lnSpc>
              <a:spcBef>
                <a:spcPct val="0"/>
              </a:spcBef>
              <a:spcAft>
                <a:spcPct val="0"/>
              </a:spcAft>
            </a:pPr>
            <a:r>
              <a:rPr lang="zh-CN" altLang="en-US" sz="900" b="1" dirty="0" smtClean="0">
                <a:solidFill>
                  <a:srgbClr val="000000"/>
                </a:solidFill>
                <a:cs typeface="Arial"/>
              </a:rPr>
              <a:t>南向</a:t>
            </a:r>
            <a:endParaRPr lang="en-US" altLang="zh-CN" sz="900" b="1" dirty="0" smtClean="0">
              <a:solidFill>
                <a:srgbClr val="000000"/>
              </a:solidFill>
              <a:cs typeface="Arial"/>
            </a:endParaRPr>
          </a:p>
          <a:p>
            <a:pPr algn="ctr" eaLnBrk="0" fontAlgn="base" hangingPunct="0">
              <a:lnSpc>
                <a:spcPts val="1200"/>
              </a:lnSpc>
              <a:spcBef>
                <a:spcPct val="0"/>
              </a:spcBef>
              <a:spcAft>
                <a:spcPct val="0"/>
              </a:spcAft>
            </a:pPr>
            <a:r>
              <a:rPr lang="zh-CN" altLang="en-US" sz="900" b="1" dirty="0" smtClean="0">
                <a:solidFill>
                  <a:srgbClr val="000000"/>
                </a:solidFill>
                <a:cs typeface="Arial"/>
              </a:rPr>
              <a:t>协议</a:t>
            </a:r>
            <a:endParaRPr lang="en-US" sz="900" b="1" dirty="0">
              <a:solidFill>
                <a:srgbClr val="000000"/>
              </a:solidFill>
              <a:cs typeface="Arial"/>
            </a:endParaRPr>
          </a:p>
        </p:txBody>
      </p:sp>
    </p:spTree>
    <p:custDataLst>
      <p:tags r:id="rId1"/>
    </p:custDataLst>
    <p:extLst>
      <p:ext uri="{BB962C8B-B14F-4D97-AF65-F5344CB8AC3E}">
        <p14:creationId xmlns:p14="http://schemas.microsoft.com/office/powerpoint/2010/main" val="393016310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0">
                                            <p:txEl>
                                              <p:pRg st="1" end="1"/>
                                            </p:txEl>
                                          </p:spTgt>
                                        </p:tgtEl>
                                        <p:attrNameLst>
                                          <p:attrName>style.visibility</p:attrName>
                                        </p:attrNameLst>
                                      </p:cBhvr>
                                      <p:to>
                                        <p:strVal val="visible"/>
                                      </p:to>
                                    </p:set>
                                    <p:animEffect transition="in" filter="fade">
                                      <p:cBhvr>
                                        <p:cTn id="7" dur="500"/>
                                        <p:tgtEl>
                                          <p:spTgt spid="15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
                                            <p:txEl>
                                              <p:pRg st="2" end="2"/>
                                            </p:txEl>
                                          </p:spTgt>
                                        </p:tgtEl>
                                        <p:attrNameLst>
                                          <p:attrName>style.visibility</p:attrName>
                                        </p:attrNameLst>
                                      </p:cBhvr>
                                      <p:to>
                                        <p:strVal val="visible"/>
                                      </p:to>
                                    </p:set>
                                    <p:animEffect transition="in" filter="fade">
                                      <p:cBhvr>
                                        <p:cTn id="12" dur="500"/>
                                        <p:tgtEl>
                                          <p:spTgt spid="1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p>
        </p:txBody>
      </p:sp>
      <p:sp>
        <p:nvSpPr>
          <p:cNvPr id="16" name="Rectangle 6"/>
          <p:cNvSpPr>
            <a:spLocks noChangeArrowheads="1"/>
          </p:cNvSpPr>
          <p:nvPr/>
        </p:nvSpPr>
        <p:spPr bwMode="auto">
          <a:xfrm>
            <a:off x="3144593" y="576646"/>
            <a:ext cx="28548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err="1">
                <a:solidFill>
                  <a:schemeClr val="bg1"/>
                </a:solidFill>
                <a:ea typeface="微软雅黑" pitchFamily="34" charset="-122"/>
              </a:rPr>
              <a:t>OpenDaylight</a:t>
            </a:r>
            <a:r>
              <a:rPr lang="zh-CN" altLang="en-US" sz="2400" b="1" dirty="0" smtClean="0">
                <a:solidFill>
                  <a:schemeClr val="bg1"/>
                </a:solidFill>
                <a:ea typeface="微软雅黑" pitchFamily="34" charset="-122"/>
              </a:rPr>
              <a:t>控制器</a:t>
            </a:r>
            <a:endParaRPr lang="zh-CN" altLang="en-US" sz="2400" b="1" dirty="0">
              <a:solidFill>
                <a:schemeClr val="bg1"/>
              </a:solidFill>
              <a:ea typeface="微软雅黑" pitchFamily="34" charset="-122"/>
            </a:endParaRPr>
          </a:p>
        </p:txBody>
      </p:sp>
      <p:sp>
        <p:nvSpPr>
          <p:cNvPr id="42" name="Rectangle 8"/>
          <p:cNvSpPr>
            <a:spLocks noChangeArrowheads="1"/>
          </p:cNvSpPr>
          <p:nvPr/>
        </p:nvSpPr>
        <p:spPr bwMode="auto">
          <a:xfrm>
            <a:off x="5383610" y="1171384"/>
            <a:ext cx="3733594" cy="265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500"/>
              </a:lnSpc>
              <a:buClr>
                <a:srgbClr val="0070C0"/>
              </a:buClr>
              <a:buFont typeface="Wingdings" pitchFamily="2" charset="2"/>
              <a:buChar char="l"/>
            </a:pPr>
            <a:r>
              <a:rPr lang="en-US" altLang="zh-CN" sz="1400" b="1" dirty="0" err="1">
                <a:latin typeface="微软雅黑" pitchFamily="34" charset="-122"/>
                <a:ea typeface="微软雅黑" pitchFamily="34" charset="-122"/>
              </a:rPr>
              <a:t>OpenDaylight</a:t>
            </a:r>
            <a:r>
              <a:rPr lang="zh-CN" altLang="en-US" sz="1400" b="1" dirty="0" smtClean="0">
                <a:latin typeface="微软雅黑" pitchFamily="34" charset="-122"/>
                <a:ea typeface="微软雅黑" pitchFamily="34" charset="-122"/>
              </a:rPr>
              <a:t>（</a:t>
            </a:r>
            <a:r>
              <a:rPr lang="en-US" altLang="zh-CN" sz="1400" b="1" dirty="0" smtClean="0">
                <a:latin typeface="微软雅黑" pitchFamily="34" charset="-122"/>
                <a:ea typeface="微软雅黑" pitchFamily="34" charset="-122"/>
              </a:rPr>
              <a:t>ODL</a:t>
            </a:r>
            <a:r>
              <a:rPr lang="zh-CN" altLang="en-US" sz="1400" b="1" dirty="0">
                <a:latin typeface="微软雅黑" pitchFamily="34" charset="-122"/>
                <a:ea typeface="微软雅黑" pitchFamily="34" charset="-122"/>
              </a:rPr>
              <a:t>）是一个模块化、可扩展的开源</a:t>
            </a:r>
            <a:r>
              <a:rPr lang="en-US" altLang="zh-CN" sz="1400" b="1" dirty="0">
                <a:latin typeface="微软雅黑" pitchFamily="34" charset="-122"/>
                <a:ea typeface="微软雅黑" pitchFamily="34" charset="-122"/>
              </a:rPr>
              <a:t>SDN</a:t>
            </a:r>
            <a:r>
              <a:rPr lang="zh-CN" altLang="en-US" sz="1400" b="1" dirty="0">
                <a:latin typeface="微软雅黑" pitchFamily="34" charset="-122"/>
                <a:ea typeface="微软雅黑" pitchFamily="34" charset="-122"/>
              </a:rPr>
              <a:t>控制器</a:t>
            </a:r>
            <a:r>
              <a:rPr lang="zh-CN" altLang="en-US" sz="1400" b="1" dirty="0" smtClean="0">
                <a:latin typeface="微软雅黑" pitchFamily="34" charset="-122"/>
                <a:ea typeface="微软雅黑" pitchFamily="34" charset="-122"/>
              </a:rPr>
              <a:t>平台。</a:t>
            </a:r>
            <a:endParaRPr lang="en-US" altLang="zh-CN" sz="1400" b="1" dirty="0" smtClean="0">
              <a:solidFill>
                <a:srgbClr val="C00000"/>
              </a:solidFill>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自上而下四个逻辑层次：</a:t>
            </a:r>
            <a:r>
              <a:rPr lang="zh-CN" altLang="en-US" sz="1400" b="1" dirty="0">
                <a:solidFill>
                  <a:srgbClr val="C00000"/>
                </a:solidFill>
                <a:latin typeface="微软雅黑" pitchFamily="34" charset="-122"/>
                <a:ea typeface="微软雅黑" pitchFamily="34" charset="-122"/>
              </a:rPr>
              <a:t>网络应用编排与服务层、北向接口层、控制平台层、南向接口与协议插件</a:t>
            </a:r>
            <a:r>
              <a:rPr lang="zh-CN" altLang="en-US" sz="1400" b="1" dirty="0" smtClean="0">
                <a:solidFill>
                  <a:srgbClr val="C00000"/>
                </a:solidFill>
                <a:latin typeface="微软雅黑" pitchFamily="34" charset="-122"/>
                <a:ea typeface="微软雅黑" pitchFamily="34" charset="-122"/>
              </a:rPr>
              <a:t>层</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200" b="1" dirty="0">
                <a:latin typeface="微软雅黑" pitchFamily="34" charset="-122"/>
                <a:ea typeface="微软雅黑" pitchFamily="34" charset="-122"/>
              </a:rPr>
              <a:t>网络应用编排与服务层包括构建</a:t>
            </a:r>
            <a:r>
              <a:rPr lang="zh-CN" altLang="en-US" sz="1200" b="1" dirty="0" smtClean="0">
                <a:latin typeface="微软雅黑" pitchFamily="34" charset="-122"/>
                <a:ea typeface="微软雅黑" pitchFamily="34" charset="-122"/>
              </a:rPr>
              <a:t>在</a:t>
            </a:r>
            <a:r>
              <a:rPr lang="en-US" altLang="zh-CN" sz="1200" b="1" dirty="0" smtClean="0">
                <a:latin typeface="微软雅黑" pitchFamily="34" charset="-122"/>
                <a:ea typeface="微软雅黑" pitchFamily="34" charset="-122"/>
              </a:rPr>
              <a:t>ODL</a:t>
            </a:r>
            <a:r>
              <a:rPr lang="zh-CN" altLang="en-US" sz="1200" b="1" dirty="0" smtClean="0">
                <a:latin typeface="微软雅黑" pitchFamily="34" charset="-122"/>
                <a:ea typeface="微软雅黑" pitchFamily="34" charset="-122"/>
              </a:rPr>
              <a:t>之上</a:t>
            </a:r>
            <a:r>
              <a:rPr lang="zh-CN" altLang="en-US" sz="1200" b="1" dirty="0">
                <a:latin typeface="微软雅黑" pitchFamily="34" charset="-122"/>
                <a:ea typeface="微软雅黑" pitchFamily="34" charset="-122"/>
              </a:rPr>
              <a:t>的各种网络应用，如网络管理、安全、优化和分析应用等</a:t>
            </a:r>
            <a:endParaRPr lang="en-US" altLang="zh-CN" sz="1200" b="1" dirty="0" smtClean="0">
              <a:latin typeface="微软雅黑" pitchFamily="34" charset="-122"/>
              <a:ea typeface="微软雅黑" pitchFamily="34" charset="-122"/>
            </a:endParaRPr>
          </a:p>
        </p:txBody>
      </p:sp>
      <p:sp>
        <p:nvSpPr>
          <p:cNvPr id="95" name="Rounded Rectangle 102"/>
          <p:cNvSpPr/>
          <p:nvPr/>
        </p:nvSpPr>
        <p:spPr>
          <a:xfrm>
            <a:off x="695206" y="2130768"/>
            <a:ext cx="4450876" cy="1798411"/>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96" name="Rounded Rectangle 13"/>
          <p:cNvSpPr/>
          <p:nvPr/>
        </p:nvSpPr>
        <p:spPr>
          <a:xfrm>
            <a:off x="1240290" y="2160908"/>
            <a:ext cx="3834820" cy="1333659"/>
          </a:xfrm>
          <a:prstGeom prst="roundRect">
            <a:avLst/>
          </a:prstGeom>
          <a:solidFill>
            <a:schemeClr val="accent3">
              <a:lumMod val="40000"/>
              <a:lumOff val="60000"/>
            </a:schemeClr>
          </a:solidFill>
          <a:ln w="12700">
            <a:solidFill>
              <a:schemeClr val="accent5">
                <a:lumMod val="75000"/>
              </a:schemeClr>
            </a:solidFill>
            <a:prstDash val="solid"/>
          </a:ln>
          <a:effectLst>
            <a:outerShdw blurRad="50800" dist="38100" dir="2700000" algn="tl" rotWithShape="0">
              <a:srgbClr val="CCFFCC">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cs typeface="Arial"/>
            </a:endParaRPr>
          </a:p>
        </p:txBody>
      </p:sp>
      <p:sp>
        <p:nvSpPr>
          <p:cNvPr id="100" name="TextBox 217"/>
          <p:cNvSpPr txBox="1"/>
          <p:nvPr/>
        </p:nvSpPr>
        <p:spPr>
          <a:xfrm>
            <a:off x="1240289" y="2161082"/>
            <a:ext cx="3784645" cy="271869"/>
          </a:xfrm>
          <a:prstGeom prst="rect">
            <a:avLst/>
          </a:prstGeom>
          <a:noFill/>
        </p:spPr>
        <p:txBody>
          <a:bodyPr wrap="square" rtlCol="0">
            <a:spAutoFit/>
          </a:bodyPr>
          <a:lstStyle/>
          <a:p>
            <a:pPr algn="ctr">
              <a:lnSpc>
                <a:spcPts val="1400"/>
              </a:lnSpc>
            </a:pPr>
            <a:r>
              <a:rPr lang="zh-CN" altLang="en-US" sz="800" b="1" dirty="0">
                <a:solidFill>
                  <a:srgbClr val="C00000"/>
                </a:solidFill>
                <a:cs typeface="Arial"/>
              </a:rPr>
              <a:t>网络</a:t>
            </a:r>
            <a:r>
              <a:rPr lang="zh-CN" altLang="en-US" sz="800" b="1" dirty="0" smtClean="0">
                <a:solidFill>
                  <a:srgbClr val="C00000"/>
                </a:solidFill>
                <a:cs typeface="Arial"/>
              </a:rPr>
              <a:t>功能及网络服务组件</a:t>
            </a:r>
            <a:endParaRPr lang="en-US" sz="800" b="1" dirty="0">
              <a:solidFill>
                <a:srgbClr val="C00000"/>
              </a:solidFill>
              <a:cs typeface="Arial"/>
            </a:endParaRPr>
          </a:p>
        </p:txBody>
      </p:sp>
      <p:sp>
        <p:nvSpPr>
          <p:cNvPr id="102" name="Rounded Rectangle 98"/>
          <p:cNvSpPr/>
          <p:nvPr/>
        </p:nvSpPr>
        <p:spPr>
          <a:xfrm>
            <a:off x="695207" y="1688703"/>
            <a:ext cx="4450875" cy="38716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06" name="Rounded Rectangle 99"/>
          <p:cNvSpPr/>
          <p:nvPr/>
        </p:nvSpPr>
        <p:spPr>
          <a:xfrm>
            <a:off x="695206" y="3988534"/>
            <a:ext cx="4450876" cy="471480"/>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32" name="Rounded Rectangle 19"/>
          <p:cNvSpPr/>
          <p:nvPr/>
        </p:nvSpPr>
        <p:spPr>
          <a:xfrm>
            <a:off x="1252679" y="3548121"/>
            <a:ext cx="3802152" cy="304151"/>
          </a:xfrm>
          <a:prstGeom prst="roundRect">
            <a:avLst/>
          </a:prstGeom>
          <a:solidFill>
            <a:schemeClr val="accent3">
              <a:lumMod val="40000"/>
              <a:lumOff val="60000"/>
            </a:schemeClr>
          </a:solidFill>
          <a:ln w="12700">
            <a:solidFill>
              <a:schemeClr val="accent5">
                <a:lumMod val="75000"/>
              </a:schemeClr>
            </a:solidFill>
            <a:prstDash val="solid"/>
          </a:ln>
          <a:effectLst>
            <a:outerShdw blurRad="50800" dist="38100" dir="2700000" algn="tl" rotWithShape="0">
              <a:srgbClr val="CCFFCC">
                <a:alpha val="43000"/>
              </a:srgb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dirty="0" smtClean="0"/>
              <a:t>服务抽象层</a:t>
            </a:r>
            <a:r>
              <a:rPr lang="en-US" altLang="zh-CN" sz="800" b="1" dirty="0" smtClean="0"/>
              <a:t>(SAL, Service </a:t>
            </a:r>
            <a:r>
              <a:rPr lang="en-US" altLang="zh-CN" sz="800" b="1" dirty="0"/>
              <a:t>Abstraction </a:t>
            </a:r>
            <a:r>
              <a:rPr lang="en-US" altLang="zh-CN" sz="800" b="1" dirty="0" smtClean="0"/>
              <a:t>Layer)</a:t>
            </a:r>
            <a:endParaRPr lang="en-US" altLang="zh-CN" sz="800" b="1" dirty="0"/>
          </a:p>
        </p:txBody>
      </p:sp>
      <p:cxnSp>
        <p:nvCxnSpPr>
          <p:cNvPr id="141" name="Straight Connector 103"/>
          <p:cNvCxnSpPr/>
          <p:nvPr/>
        </p:nvCxnSpPr>
        <p:spPr bwMode="auto">
          <a:xfrm>
            <a:off x="592425" y="4501859"/>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2" name="Straight Connector 212"/>
          <p:cNvCxnSpPr/>
          <p:nvPr/>
        </p:nvCxnSpPr>
        <p:spPr bwMode="auto">
          <a:xfrm>
            <a:off x="638167" y="1638468"/>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63" name="TextBox 132">
            <a:extLst>
              <a:ext uri="{FF2B5EF4-FFF2-40B4-BE49-F238E27FC236}">
                <a16:creationId xmlns:a16="http://schemas.microsoft.com/office/drawing/2014/main" id="{C6312439-3E2F-644C-8FD1-E8F71A7DB152}"/>
              </a:ext>
            </a:extLst>
          </p:cNvPr>
          <p:cNvSpPr txBox="1"/>
          <p:nvPr/>
        </p:nvSpPr>
        <p:spPr>
          <a:xfrm>
            <a:off x="866586" y="1153397"/>
            <a:ext cx="895163"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网络应用编排与服务层</a:t>
            </a:r>
            <a:endParaRPr lang="en-US" sz="1000" b="1" dirty="0">
              <a:solidFill>
                <a:srgbClr val="000000"/>
              </a:solidFill>
              <a:cs typeface="Arial"/>
            </a:endParaRPr>
          </a:p>
        </p:txBody>
      </p:sp>
      <p:sp>
        <p:nvSpPr>
          <p:cNvPr id="64" name="TextBox 132">
            <a:extLst>
              <a:ext uri="{FF2B5EF4-FFF2-40B4-BE49-F238E27FC236}">
                <a16:creationId xmlns:a16="http://schemas.microsoft.com/office/drawing/2014/main" id="{C6312439-3E2F-644C-8FD1-E8F71A7DB152}"/>
              </a:ext>
            </a:extLst>
          </p:cNvPr>
          <p:cNvSpPr txBox="1"/>
          <p:nvPr/>
        </p:nvSpPr>
        <p:spPr>
          <a:xfrm>
            <a:off x="921735" y="1785482"/>
            <a:ext cx="91976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北向接口层</a:t>
            </a:r>
            <a:endParaRPr lang="en-US" sz="1000" b="1" dirty="0">
              <a:solidFill>
                <a:srgbClr val="000000"/>
              </a:solidFill>
              <a:cs typeface="Arial"/>
            </a:endParaRPr>
          </a:p>
        </p:txBody>
      </p:sp>
      <p:sp>
        <p:nvSpPr>
          <p:cNvPr id="65" name="TextBox 132">
            <a:extLst>
              <a:ext uri="{FF2B5EF4-FFF2-40B4-BE49-F238E27FC236}">
                <a16:creationId xmlns:a16="http://schemas.microsoft.com/office/drawing/2014/main" id="{C6312439-3E2F-644C-8FD1-E8F71A7DB152}"/>
              </a:ext>
            </a:extLst>
          </p:cNvPr>
          <p:cNvSpPr txBox="1"/>
          <p:nvPr/>
        </p:nvSpPr>
        <p:spPr>
          <a:xfrm>
            <a:off x="641665" y="2941183"/>
            <a:ext cx="669787"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控制</a:t>
            </a:r>
            <a:endParaRPr lang="en-US" altLang="zh-CN" sz="1000" b="1" dirty="0" smtClean="0">
              <a:solidFill>
                <a:srgbClr val="000000"/>
              </a:solidFill>
              <a:cs typeface="Arial"/>
            </a:endParaRPr>
          </a:p>
          <a:p>
            <a:pPr algn="ctr" eaLnBrk="0" fontAlgn="base" hangingPunct="0">
              <a:lnSpc>
                <a:spcPct val="90000"/>
              </a:lnSpc>
              <a:spcBef>
                <a:spcPct val="0"/>
              </a:spcBef>
              <a:spcAft>
                <a:spcPct val="0"/>
              </a:spcAft>
            </a:pPr>
            <a:r>
              <a:rPr lang="zh-CN" altLang="en-US" sz="1000" b="1">
                <a:solidFill>
                  <a:srgbClr val="000000"/>
                </a:solidFill>
                <a:cs typeface="Arial"/>
              </a:rPr>
              <a:t>平台</a:t>
            </a:r>
            <a:r>
              <a:rPr lang="zh-CN" altLang="en-US" sz="1000" b="1" smtClean="0">
                <a:solidFill>
                  <a:srgbClr val="000000"/>
                </a:solidFill>
                <a:cs typeface="Arial"/>
              </a:rPr>
              <a:t>层</a:t>
            </a:r>
            <a:endParaRPr lang="en-US" sz="1000" b="1" dirty="0">
              <a:solidFill>
                <a:srgbClr val="000000"/>
              </a:solidFill>
              <a:cs typeface="Arial"/>
            </a:endParaRPr>
          </a:p>
        </p:txBody>
      </p:sp>
      <p:sp>
        <p:nvSpPr>
          <p:cNvPr id="66" name="TextBox 132">
            <a:extLst>
              <a:ext uri="{FF2B5EF4-FFF2-40B4-BE49-F238E27FC236}">
                <a16:creationId xmlns:a16="http://schemas.microsoft.com/office/drawing/2014/main" id="{C6312439-3E2F-644C-8FD1-E8F71A7DB152}"/>
              </a:ext>
            </a:extLst>
          </p:cNvPr>
          <p:cNvSpPr txBox="1"/>
          <p:nvPr/>
        </p:nvSpPr>
        <p:spPr>
          <a:xfrm>
            <a:off x="866586" y="4030544"/>
            <a:ext cx="825538"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南向接口与协议插件层</a:t>
            </a:r>
            <a:endParaRPr lang="en-US" sz="1000" b="1" dirty="0">
              <a:solidFill>
                <a:srgbClr val="000000"/>
              </a:solidFill>
              <a:cs typeface="Arial"/>
            </a:endParaRPr>
          </a:p>
        </p:txBody>
      </p:sp>
      <p:sp>
        <p:nvSpPr>
          <p:cNvPr id="67" name="Oval 212">
            <a:extLst>
              <a:ext uri="{FF2B5EF4-FFF2-40B4-BE49-F238E27FC236}">
                <a16:creationId xmlns:a16="http://schemas.microsoft.com/office/drawing/2014/main" id="{63396159-2590-154F-A47D-AE772D5BD572}"/>
              </a:ext>
            </a:extLst>
          </p:cNvPr>
          <p:cNvSpPr/>
          <p:nvPr/>
        </p:nvSpPr>
        <p:spPr>
          <a:xfrm>
            <a:off x="1832514" y="1166857"/>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流量</a:t>
            </a:r>
            <a:endParaRPr lang="en-US" altLang="zh-CN" sz="900" b="1" dirty="0" smtClean="0">
              <a:solidFill>
                <a:schemeClr val="tx1"/>
              </a:solidFill>
            </a:endParaRPr>
          </a:p>
          <a:p>
            <a:pPr algn="ctr"/>
            <a:r>
              <a:rPr lang="zh-CN" altLang="en-US" sz="900" b="1" dirty="0" smtClean="0">
                <a:solidFill>
                  <a:schemeClr val="tx1"/>
                </a:solidFill>
              </a:rPr>
              <a:t>工程</a:t>
            </a:r>
            <a:endParaRPr lang="en-US" altLang="zh-CN" sz="900" b="1" dirty="0">
              <a:solidFill>
                <a:schemeClr val="tx1"/>
              </a:solidFill>
            </a:endParaRPr>
          </a:p>
        </p:txBody>
      </p:sp>
      <p:sp>
        <p:nvSpPr>
          <p:cNvPr id="69" name="Oval 216">
            <a:extLst>
              <a:ext uri="{FF2B5EF4-FFF2-40B4-BE49-F238E27FC236}">
                <a16:creationId xmlns:a16="http://schemas.microsoft.com/office/drawing/2014/main" id="{21E76008-C977-704E-A46B-8762C970FAD4}"/>
              </a:ext>
            </a:extLst>
          </p:cNvPr>
          <p:cNvSpPr/>
          <p:nvPr/>
        </p:nvSpPr>
        <p:spPr>
          <a:xfrm>
            <a:off x="2658515" y="1169753"/>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防火墙</a:t>
            </a:r>
            <a:endParaRPr lang="en-US" sz="900" b="1" dirty="0">
              <a:solidFill>
                <a:schemeClr val="tx1"/>
              </a:solidFill>
            </a:endParaRPr>
          </a:p>
        </p:txBody>
      </p:sp>
      <p:sp>
        <p:nvSpPr>
          <p:cNvPr id="70" name="Oval 219">
            <a:extLst>
              <a:ext uri="{FF2B5EF4-FFF2-40B4-BE49-F238E27FC236}">
                <a16:creationId xmlns:a16="http://schemas.microsoft.com/office/drawing/2014/main" id="{9C655D12-82F9-2B4F-AD39-3319D0C1C85B}"/>
              </a:ext>
            </a:extLst>
          </p:cNvPr>
          <p:cNvSpPr/>
          <p:nvPr/>
        </p:nvSpPr>
        <p:spPr>
          <a:xfrm>
            <a:off x="3524036" y="1172699"/>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负载</a:t>
            </a:r>
            <a:endParaRPr lang="en-US" altLang="zh-CN" sz="900" b="1" dirty="0" smtClean="0">
              <a:solidFill>
                <a:schemeClr val="tx1"/>
              </a:solidFill>
            </a:endParaRPr>
          </a:p>
          <a:p>
            <a:pPr algn="ctr"/>
            <a:r>
              <a:rPr lang="zh-CN" altLang="en-US" sz="900" b="1" dirty="0" smtClean="0">
                <a:solidFill>
                  <a:schemeClr val="tx1"/>
                </a:solidFill>
              </a:rPr>
              <a:t>均衡</a:t>
            </a:r>
            <a:endParaRPr lang="en-US" sz="900" b="1" dirty="0">
              <a:solidFill>
                <a:schemeClr val="tx1"/>
              </a:solidFill>
            </a:endParaRPr>
          </a:p>
        </p:txBody>
      </p:sp>
      <p:sp>
        <p:nvSpPr>
          <p:cNvPr id="75" name="Rounded Rectangle 187">
            <a:extLst>
              <a:ext uri="{FF2B5EF4-FFF2-40B4-BE49-F238E27FC236}">
                <a16:creationId xmlns:a16="http://schemas.microsoft.com/office/drawing/2014/main" id="{D26CA676-9ED8-CC4E-8413-ADE7E23BE8F2}"/>
              </a:ext>
            </a:extLst>
          </p:cNvPr>
          <p:cNvSpPr/>
          <p:nvPr/>
        </p:nvSpPr>
        <p:spPr>
          <a:xfrm>
            <a:off x="1913733"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OpenFlow</a:t>
            </a:r>
            <a:endParaRPr lang="en-US" sz="800" b="1" kern="0" dirty="0">
              <a:solidFill>
                <a:srgbClr val="000000"/>
              </a:solidFill>
            </a:endParaRPr>
          </a:p>
        </p:txBody>
      </p:sp>
      <p:sp>
        <p:nvSpPr>
          <p:cNvPr id="76" name="Rounded Rectangle 187">
            <a:extLst>
              <a:ext uri="{FF2B5EF4-FFF2-40B4-BE49-F238E27FC236}">
                <a16:creationId xmlns:a16="http://schemas.microsoft.com/office/drawing/2014/main" id="{D26CA676-9ED8-CC4E-8413-ADE7E23BE8F2}"/>
              </a:ext>
            </a:extLst>
          </p:cNvPr>
          <p:cNvSpPr/>
          <p:nvPr/>
        </p:nvSpPr>
        <p:spPr>
          <a:xfrm>
            <a:off x="2646671"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err="1">
                <a:solidFill>
                  <a:srgbClr val="000000"/>
                </a:solidFill>
              </a:rPr>
              <a:t>NetConf</a:t>
            </a:r>
            <a:endParaRPr lang="en-US" sz="800" b="1" kern="0" dirty="0">
              <a:solidFill>
                <a:srgbClr val="000000"/>
              </a:solidFill>
            </a:endParaRPr>
          </a:p>
        </p:txBody>
      </p:sp>
      <p:sp>
        <p:nvSpPr>
          <p:cNvPr id="77" name="Rounded Rectangle 187">
            <a:extLst>
              <a:ext uri="{FF2B5EF4-FFF2-40B4-BE49-F238E27FC236}">
                <a16:creationId xmlns:a16="http://schemas.microsoft.com/office/drawing/2014/main" id="{D26CA676-9ED8-CC4E-8413-ADE7E23BE8F2}"/>
              </a:ext>
            </a:extLst>
          </p:cNvPr>
          <p:cNvSpPr/>
          <p:nvPr/>
        </p:nvSpPr>
        <p:spPr>
          <a:xfrm>
            <a:off x="3373071"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OVSDB</a:t>
            </a:r>
            <a:endParaRPr lang="en-US" sz="800" b="1" kern="0" dirty="0">
              <a:solidFill>
                <a:srgbClr val="000000"/>
              </a:solidFill>
            </a:endParaRPr>
          </a:p>
        </p:txBody>
      </p:sp>
      <p:sp>
        <p:nvSpPr>
          <p:cNvPr id="78" name="Rounded Rectangle 187">
            <a:extLst>
              <a:ext uri="{FF2B5EF4-FFF2-40B4-BE49-F238E27FC236}">
                <a16:creationId xmlns:a16="http://schemas.microsoft.com/office/drawing/2014/main" id="{D26CA676-9ED8-CC4E-8413-ADE7E23BE8F2}"/>
              </a:ext>
            </a:extLst>
          </p:cNvPr>
          <p:cNvSpPr/>
          <p:nvPr/>
        </p:nvSpPr>
        <p:spPr>
          <a:xfrm>
            <a:off x="4089700" y="4099789"/>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SNMP</a:t>
            </a:r>
            <a:endParaRPr lang="en-US" sz="800" b="1" kern="0" dirty="0">
              <a:solidFill>
                <a:srgbClr val="000000"/>
              </a:solidFill>
            </a:endParaRPr>
          </a:p>
        </p:txBody>
      </p:sp>
      <p:sp>
        <p:nvSpPr>
          <p:cNvPr id="79" name="Rounded Rectangle 127">
            <a:extLst>
              <a:ext uri="{FF2B5EF4-FFF2-40B4-BE49-F238E27FC236}">
                <a16:creationId xmlns:a16="http://schemas.microsoft.com/office/drawing/2014/main" id="{11EFF8DB-F7D6-F34F-9A62-91332868BEEF}"/>
              </a:ext>
            </a:extLst>
          </p:cNvPr>
          <p:cNvSpPr/>
          <p:nvPr/>
        </p:nvSpPr>
        <p:spPr>
          <a:xfrm>
            <a:off x="2338169" y="1719923"/>
            <a:ext cx="857377"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REST API</a:t>
            </a:r>
          </a:p>
        </p:txBody>
      </p:sp>
      <p:sp>
        <p:nvSpPr>
          <p:cNvPr id="44" name="Rounded Rectangle 3"/>
          <p:cNvSpPr/>
          <p:nvPr/>
        </p:nvSpPr>
        <p:spPr>
          <a:xfrm>
            <a:off x="2542189" y="2438819"/>
            <a:ext cx="2472086" cy="1032395"/>
          </a:xfrm>
          <a:prstGeom prst="roundRect">
            <a:avLst/>
          </a:prstGeom>
          <a:solidFill>
            <a:schemeClr val="accent4">
              <a:lumMod val="20000"/>
              <a:lumOff val="80000"/>
            </a:schemeClr>
          </a:solidFill>
          <a:ln w="12700">
            <a:solidFill>
              <a:schemeClr val="tx1"/>
            </a:solidFill>
          </a:ln>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endParaRPr>
          </a:p>
        </p:txBody>
      </p:sp>
      <p:sp>
        <p:nvSpPr>
          <p:cNvPr id="98" name="Rounded Rectangle 3"/>
          <p:cNvSpPr/>
          <p:nvPr/>
        </p:nvSpPr>
        <p:spPr>
          <a:xfrm>
            <a:off x="2609340" y="2704605"/>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拓扑管理器</a:t>
            </a:r>
            <a:endParaRPr kumimoji="0" lang="en-US" sz="800" b="1" i="0" u="none" strike="noStrike" cap="none" normalizeH="0" baseline="0" dirty="0" smtClean="0">
              <a:ln>
                <a:noFill/>
              </a:ln>
              <a:solidFill>
                <a:schemeClr val="tx1"/>
              </a:solidFill>
              <a:effectLst/>
            </a:endParaRPr>
          </a:p>
        </p:txBody>
      </p:sp>
      <p:sp>
        <p:nvSpPr>
          <p:cNvPr id="46" name="Rounded Rectangle 3"/>
          <p:cNvSpPr/>
          <p:nvPr/>
        </p:nvSpPr>
        <p:spPr>
          <a:xfrm>
            <a:off x="3414370" y="2708291"/>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交换机管理器</a:t>
            </a:r>
            <a:endParaRPr kumimoji="0" lang="en-US" sz="800" b="1" i="0" u="none" strike="noStrike" cap="none" normalizeH="0" baseline="0" dirty="0" smtClean="0">
              <a:ln>
                <a:noFill/>
              </a:ln>
              <a:solidFill>
                <a:schemeClr val="tx1"/>
              </a:solidFill>
              <a:effectLst/>
            </a:endParaRPr>
          </a:p>
        </p:txBody>
      </p:sp>
      <p:sp>
        <p:nvSpPr>
          <p:cNvPr id="47" name="Rounded Rectangle 3"/>
          <p:cNvSpPr/>
          <p:nvPr/>
        </p:nvSpPr>
        <p:spPr>
          <a:xfrm>
            <a:off x="4232236" y="2711810"/>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转发规则</a:t>
            </a:r>
            <a:endParaRPr kumimoji="0" lang="en-US" altLang="zh-CN" sz="800" b="1" i="0" u="none" strike="noStrike" cap="none" normalizeH="0" baseline="0" dirty="0" smtClean="0">
              <a:ln>
                <a:noFill/>
              </a:ln>
              <a:solidFill>
                <a:schemeClr val="tx1"/>
              </a:solidFill>
              <a:effectLst/>
            </a:endParaRPr>
          </a:p>
          <a:p>
            <a:pPr marL="0" marR="0" indent="0" algn="ctr" defTabSz="914400" rtl="0" eaLnBrk="0" fontAlgn="base" latinLnBrk="0" hangingPunct="0">
              <a:lnSpc>
                <a:spcPct val="100000"/>
              </a:lnSpc>
              <a:spcBef>
                <a:spcPct val="0"/>
              </a:spcBef>
              <a:spcAft>
                <a:spcPct val="0"/>
              </a:spcAft>
              <a:buClrTx/>
              <a:buSzTx/>
              <a:buFontTx/>
              <a:buNone/>
              <a:tabLst/>
            </a:pPr>
            <a:r>
              <a:rPr lang="zh-CN" altLang="en-US" sz="800" b="1" dirty="0"/>
              <a:t>管理器</a:t>
            </a:r>
            <a:endParaRPr kumimoji="0" lang="en-US" sz="800" b="1" i="0" u="none" strike="noStrike" cap="none" normalizeH="0" baseline="0" dirty="0" smtClean="0">
              <a:ln>
                <a:noFill/>
              </a:ln>
              <a:solidFill>
                <a:schemeClr val="tx1"/>
              </a:solidFill>
              <a:effectLst/>
            </a:endParaRPr>
          </a:p>
        </p:txBody>
      </p:sp>
      <p:sp>
        <p:nvSpPr>
          <p:cNvPr id="48" name="Rounded Rectangle 3"/>
          <p:cNvSpPr/>
          <p:nvPr/>
        </p:nvSpPr>
        <p:spPr>
          <a:xfrm>
            <a:off x="2838177" y="3068790"/>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主机管理器</a:t>
            </a:r>
            <a:endParaRPr kumimoji="0" lang="en-US" sz="800" b="1" i="0" u="none" strike="noStrike" cap="none" normalizeH="0" baseline="0" dirty="0" smtClean="0">
              <a:ln>
                <a:noFill/>
              </a:ln>
              <a:solidFill>
                <a:schemeClr val="tx1"/>
              </a:solidFill>
              <a:effectLst/>
            </a:endParaRPr>
          </a:p>
        </p:txBody>
      </p:sp>
      <p:sp>
        <p:nvSpPr>
          <p:cNvPr id="49" name="Rounded Rectangle 3"/>
          <p:cNvSpPr/>
          <p:nvPr/>
        </p:nvSpPr>
        <p:spPr>
          <a:xfrm>
            <a:off x="3947725" y="3079764"/>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统计管理器</a:t>
            </a:r>
            <a:endParaRPr kumimoji="0" lang="en-US" sz="800" b="1" i="0" u="none" strike="noStrike" cap="none" normalizeH="0" baseline="0" dirty="0" smtClean="0">
              <a:ln>
                <a:noFill/>
              </a:ln>
              <a:solidFill>
                <a:schemeClr val="tx1"/>
              </a:solidFill>
              <a:effectLst/>
            </a:endParaRPr>
          </a:p>
        </p:txBody>
      </p:sp>
      <p:sp>
        <p:nvSpPr>
          <p:cNvPr id="50" name="TextBox 217"/>
          <p:cNvSpPr txBox="1"/>
          <p:nvPr/>
        </p:nvSpPr>
        <p:spPr>
          <a:xfrm>
            <a:off x="2664042" y="2472317"/>
            <a:ext cx="2158871" cy="271869"/>
          </a:xfrm>
          <a:prstGeom prst="rect">
            <a:avLst/>
          </a:prstGeom>
          <a:noFill/>
        </p:spPr>
        <p:txBody>
          <a:bodyPr wrap="square" rtlCol="0">
            <a:spAutoFit/>
          </a:bodyPr>
          <a:lstStyle/>
          <a:p>
            <a:pPr algn="ctr">
              <a:lnSpc>
                <a:spcPts val="1400"/>
              </a:lnSpc>
            </a:pPr>
            <a:r>
              <a:rPr lang="zh-CN" altLang="en-US" sz="800" b="1" dirty="0" smtClean="0">
                <a:solidFill>
                  <a:srgbClr val="C00000"/>
                </a:solidFill>
                <a:cs typeface="Arial"/>
              </a:rPr>
              <a:t>基础网络服务</a:t>
            </a:r>
            <a:endParaRPr lang="en-US" sz="800" b="1" dirty="0">
              <a:solidFill>
                <a:srgbClr val="C00000"/>
              </a:solidFill>
              <a:cs typeface="Arial"/>
            </a:endParaRPr>
          </a:p>
        </p:txBody>
      </p:sp>
      <p:sp>
        <p:nvSpPr>
          <p:cNvPr id="51" name="Rounded Rectangle 3"/>
          <p:cNvSpPr/>
          <p:nvPr/>
        </p:nvSpPr>
        <p:spPr>
          <a:xfrm>
            <a:off x="1259288" y="2438819"/>
            <a:ext cx="1209553" cy="1008477"/>
          </a:xfrm>
          <a:prstGeom prst="roundRect">
            <a:avLst/>
          </a:prstGeom>
          <a:solidFill>
            <a:schemeClr val="accent4">
              <a:lumMod val="20000"/>
              <a:lumOff val="80000"/>
            </a:schemeClr>
          </a:solidFill>
          <a:ln w="12700">
            <a:solidFill>
              <a:schemeClr val="tx1"/>
            </a:solidFill>
          </a:ln>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endParaRPr>
          </a:p>
        </p:txBody>
      </p:sp>
      <p:sp>
        <p:nvSpPr>
          <p:cNvPr id="52" name="TextBox 217"/>
          <p:cNvSpPr txBox="1"/>
          <p:nvPr/>
        </p:nvSpPr>
        <p:spPr>
          <a:xfrm>
            <a:off x="1229631" y="2469168"/>
            <a:ext cx="1239211" cy="271869"/>
          </a:xfrm>
          <a:prstGeom prst="rect">
            <a:avLst/>
          </a:prstGeom>
          <a:noFill/>
        </p:spPr>
        <p:txBody>
          <a:bodyPr wrap="square" rtlCol="0">
            <a:spAutoFit/>
          </a:bodyPr>
          <a:lstStyle/>
          <a:p>
            <a:pPr algn="ctr">
              <a:lnSpc>
                <a:spcPts val="1400"/>
              </a:lnSpc>
            </a:pPr>
            <a:r>
              <a:rPr lang="zh-CN" altLang="en-US" sz="800" b="1" dirty="0">
                <a:solidFill>
                  <a:srgbClr val="C00000"/>
                </a:solidFill>
                <a:cs typeface="Arial"/>
              </a:rPr>
              <a:t>扩展网络</a:t>
            </a:r>
            <a:r>
              <a:rPr lang="zh-CN" altLang="en-US" sz="800" b="1" dirty="0" smtClean="0">
                <a:solidFill>
                  <a:srgbClr val="C00000"/>
                </a:solidFill>
                <a:cs typeface="Arial"/>
              </a:rPr>
              <a:t>服务与功能</a:t>
            </a:r>
            <a:endParaRPr lang="en-US" sz="800" b="1" dirty="0">
              <a:solidFill>
                <a:srgbClr val="C00000"/>
              </a:solidFill>
              <a:cs typeface="Arial"/>
            </a:endParaRPr>
          </a:p>
        </p:txBody>
      </p:sp>
      <p:sp>
        <p:nvSpPr>
          <p:cNvPr id="53" name="Rounded Rectangle 3"/>
          <p:cNvSpPr/>
          <p:nvPr/>
        </p:nvSpPr>
        <p:spPr>
          <a:xfrm>
            <a:off x="1485083" y="2685613"/>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服务功能链 </a:t>
            </a:r>
            <a:endParaRPr kumimoji="0" lang="en-US" sz="800" b="1" i="0" u="none" strike="noStrike" cap="none" normalizeH="0" baseline="0" dirty="0" smtClean="0">
              <a:ln>
                <a:noFill/>
              </a:ln>
              <a:solidFill>
                <a:schemeClr val="tx1"/>
              </a:solidFill>
              <a:effectLst/>
            </a:endParaRPr>
          </a:p>
        </p:txBody>
      </p:sp>
      <p:sp>
        <p:nvSpPr>
          <p:cNvPr id="54" name="Rounded Rectangle 3"/>
          <p:cNvSpPr/>
          <p:nvPr/>
        </p:nvSpPr>
        <p:spPr>
          <a:xfrm>
            <a:off x="1498643" y="2944191"/>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虚拟租户网络</a:t>
            </a:r>
            <a:endParaRPr kumimoji="0" lang="en-US" sz="800" b="1" i="0" u="none" strike="noStrike" cap="none" normalizeH="0" baseline="0" dirty="0" smtClean="0">
              <a:ln>
                <a:noFill/>
              </a:ln>
              <a:solidFill>
                <a:schemeClr val="tx1"/>
              </a:solidFill>
              <a:effectLst/>
            </a:endParaRPr>
          </a:p>
        </p:txBody>
      </p:sp>
      <p:sp>
        <p:nvSpPr>
          <p:cNvPr id="55" name="Rounded Rectangle 3"/>
          <p:cNvSpPr/>
          <p:nvPr/>
        </p:nvSpPr>
        <p:spPr>
          <a:xfrm>
            <a:off x="1498643" y="3205407"/>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800" b="1" i="0" u="none" strike="noStrike" cap="none" normalizeH="0" baseline="0" dirty="0" smtClean="0">
                <a:ln>
                  <a:noFill/>
                </a:ln>
                <a:solidFill>
                  <a:schemeClr val="tx1"/>
                </a:solidFill>
                <a:effectLst/>
              </a:rPr>
              <a:t>OVSDB</a:t>
            </a:r>
            <a:r>
              <a:rPr kumimoji="0" lang="zh-CN" altLang="en-US" sz="800" b="1" i="0" u="none" strike="noStrike" cap="none" normalizeH="0" baseline="0" dirty="0" smtClean="0">
                <a:ln>
                  <a:noFill/>
                </a:ln>
                <a:solidFill>
                  <a:schemeClr val="tx1"/>
                </a:solidFill>
                <a:effectLst/>
              </a:rPr>
              <a:t>服务</a:t>
            </a:r>
            <a:endParaRPr kumimoji="0" lang="en-US" sz="800" b="1" i="0" u="none" strike="noStrike" cap="none" normalizeH="0" baseline="0" dirty="0" smtClean="0">
              <a:ln>
                <a:noFill/>
              </a:ln>
              <a:solidFill>
                <a:schemeClr val="tx1"/>
              </a:solidFill>
              <a:effectLst/>
            </a:endParaRPr>
          </a:p>
        </p:txBody>
      </p:sp>
      <p:sp>
        <p:nvSpPr>
          <p:cNvPr id="57" name="TextBox 132">
            <a:extLst>
              <a:ext uri="{FF2B5EF4-FFF2-40B4-BE49-F238E27FC236}">
                <a16:creationId xmlns:a16="http://schemas.microsoft.com/office/drawing/2014/main" id="{C6312439-3E2F-644C-8FD1-E8F71A7DB152}"/>
              </a:ext>
            </a:extLst>
          </p:cNvPr>
          <p:cNvSpPr txBox="1"/>
          <p:nvPr/>
        </p:nvSpPr>
        <p:spPr>
          <a:xfrm>
            <a:off x="4348681" y="1213444"/>
            <a:ext cx="58917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000" b="1" dirty="0" smtClean="0">
                <a:solidFill>
                  <a:srgbClr val="000000"/>
                </a:solidFill>
                <a:cs typeface="Arial"/>
              </a:rPr>
              <a:t>...</a:t>
            </a:r>
            <a:endParaRPr lang="en-US" sz="1000" b="1" dirty="0">
              <a:solidFill>
                <a:srgbClr val="000000"/>
              </a:solidFill>
              <a:cs typeface="Arial"/>
            </a:endParaRPr>
          </a:p>
        </p:txBody>
      </p:sp>
    </p:spTree>
    <p:custDataLst>
      <p:tags r:id="rId1"/>
    </p:custDataLst>
    <p:extLst>
      <p:ext uri="{BB962C8B-B14F-4D97-AF65-F5344CB8AC3E}">
        <p14:creationId xmlns:p14="http://schemas.microsoft.com/office/powerpoint/2010/main" val="4298736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xEl>
                                              <p:pRg st="1" end="1"/>
                                            </p:txEl>
                                          </p:spTgt>
                                        </p:tgtEl>
                                        <p:attrNameLst>
                                          <p:attrName>style.visibility</p:attrName>
                                        </p:attrNameLst>
                                      </p:cBhvr>
                                      <p:to>
                                        <p:strVal val="visible"/>
                                      </p:to>
                                    </p:set>
                                    <p:animEffect transition="in" filter="fade">
                                      <p:cBhvr>
                                        <p:cTn id="7" dur="500"/>
                                        <p:tgtEl>
                                          <p:spTgt spid="4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2">
                                            <p:txEl>
                                              <p:pRg st="2" end="2"/>
                                            </p:txEl>
                                          </p:spTgt>
                                        </p:tgtEl>
                                        <p:attrNameLst>
                                          <p:attrName>style.visibility</p:attrName>
                                        </p:attrNameLst>
                                      </p:cBhvr>
                                      <p:to>
                                        <p:strVal val="visible"/>
                                      </p:to>
                                    </p:set>
                                    <p:animEffect transition="in" filter="fade">
                                      <p:cBhvr>
                                        <p:cTn id="10" dur="500"/>
                                        <p:tgtEl>
                                          <p:spTgt spid="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p>
        </p:txBody>
      </p:sp>
      <p:sp>
        <p:nvSpPr>
          <p:cNvPr id="16" name="Rectangle 6"/>
          <p:cNvSpPr>
            <a:spLocks noChangeArrowheads="1"/>
          </p:cNvSpPr>
          <p:nvPr/>
        </p:nvSpPr>
        <p:spPr bwMode="auto">
          <a:xfrm>
            <a:off x="3144593" y="576646"/>
            <a:ext cx="28548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err="1">
                <a:solidFill>
                  <a:schemeClr val="bg1"/>
                </a:solidFill>
                <a:ea typeface="微软雅黑" pitchFamily="34" charset="-122"/>
              </a:rPr>
              <a:t>OpenDaylight</a:t>
            </a:r>
            <a:r>
              <a:rPr lang="zh-CN" altLang="en-US" sz="2400" b="1" dirty="0" smtClean="0">
                <a:solidFill>
                  <a:schemeClr val="bg1"/>
                </a:solidFill>
                <a:ea typeface="微软雅黑" pitchFamily="34" charset="-122"/>
              </a:rPr>
              <a:t>控制器</a:t>
            </a:r>
            <a:endParaRPr lang="zh-CN" altLang="en-US" sz="2400" b="1" dirty="0">
              <a:solidFill>
                <a:schemeClr val="bg1"/>
              </a:solidFill>
              <a:ea typeface="微软雅黑" pitchFamily="34" charset="-122"/>
            </a:endParaRPr>
          </a:p>
        </p:txBody>
      </p:sp>
      <p:sp>
        <p:nvSpPr>
          <p:cNvPr id="42" name="Rectangle 8"/>
          <p:cNvSpPr>
            <a:spLocks noChangeArrowheads="1"/>
          </p:cNvSpPr>
          <p:nvPr/>
        </p:nvSpPr>
        <p:spPr bwMode="auto">
          <a:xfrm>
            <a:off x="5367691" y="1171384"/>
            <a:ext cx="3749513"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en-US" altLang="zh-CN" sz="1400" b="1" dirty="0" err="1">
                <a:latin typeface="微软雅黑" pitchFamily="34" charset="-122"/>
                <a:ea typeface="微软雅黑" pitchFamily="34" charset="-122"/>
              </a:rPr>
              <a:t>OpenDaylight</a:t>
            </a:r>
            <a:r>
              <a:rPr lang="zh-CN" altLang="en-US" sz="1400" b="1" dirty="0" smtClean="0">
                <a:latin typeface="微软雅黑" pitchFamily="34" charset="-122"/>
                <a:ea typeface="微软雅黑" pitchFamily="34" charset="-122"/>
              </a:rPr>
              <a:t>（</a:t>
            </a:r>
            <a:r>
              <a:rPr lang="en-US" altLang="zh-CN" sz="1400" b="1" dirty="0" smtClean="0">
                <a:latin typeface="微软雅黑" pitchFamily="34" charset="-122"/>
                <a:ea typeface="微软雅黑" pitchFamily="34" charset="-122"/>
              </a:rPr>
              <a:t>ODL</a:t>
            </a:r>
            <a:r>
              <a:rPr lang="zh-CN" altLang="en-US" sz="1400" b="1" dirty="0">
                <a:latin typeface="微软雅黑" pitchFamily="34" charset="-122"/>
                <a:ea typeface="微软雅黑" pitchFamily="34" charset="-122"/>
              </a:rPr>
              <a:t>）是一个模块化、可扩展的开源</a:t>
            </a:r>
            <a:r>
              <a:rPr lang="en-US" altLang="zh-CN" sz="1400" b="1" dirty="0">
                <a:latin typeface="微软雅黑" pitchFamily="34" charset="-122"/>
                <a:ea typeface="微软雅黑" pitchFamily="34" charset="-122"/>
              </a:rPr>
              <a:t>SDN</a:t>
            </a:r>
            <a:r>
              <a:rPr lang="zh-CN" altLang="en-US" sz="1400" b="1" dirty="0">
                <a:latin typeface="微软雅黑" pitchFamily="34" charset="-122"/>
                <a:ea typeface="微软雅黑" pitchFamily="34" charset="-122"/>
              </a:rPr>
              <a:t>控制器</a:t>
            </a:r>
            <a:r>
              <a:rPr lang="zh-CN" altLang="en-US" sz="1400" b="1" dirty="0" smtClean="0">
                <a:latin typeface="微软雅黑" pitchFamily="34" charset="-122"/>
                <a:ea typeface="微软雅黑" pitchFamily="34" charset="-122"/>
              </a:rPr>
              <a:t>平台。</a:t>
            </a:r>
            <a:endParaRPr lang="en-US" altLang="zh-CN" sz="1400" b="1" dirty="0" smtClean="0">
              <a:solidFill>
                <a:srgbClr val="C00000"/>
              </a:solidFill>
              <a:latin typeface="微软雅黑" pitchFamily="34" charset="-122"/>
              <a:ea typeface="微软雅黑" pitchFamily="34" charset="-122"/>
            </a:endParaRPr>
          </a:p>
          <a:p>
            <a:pPr marL="285750" indent="-285750">
              <a:lnSpc>
                <a:spcPts val="2400"/>
              </a:lnSpc>
              <a:buClr>
                <a:srgbClr val="0070C0"/>
              </a:buClr>
              <a:buFont typeface="Wingdings" pitchFamily="2" charset="2"/>
              <a:buChar char="l"/>
            </a:pPr>
            <a:r>
              <a:rPr lang="zh-CN" altLang="en-US" sz="1400" b="1" dirty="0">
                <a:latin typeface="微软雅黑" pitchFamily="34" charset="-122"/>
                <a:ea typeface="微软雅黑" pitchFamily="34" charset="-122"/>
              </a:rPr>
              <a:t>自上而下四个逻辑层次：</a:t>
            </a:r>
            <a:r>
              <a:rPr lang="zh-CN" altLang="en-US" sz="1400" b="1" dirty="0">
                <a:solidFill>
                  <a:srgbClr val="C00000"/>
                </a:solidFill>
                <a:latin typeface="微软雅黑" pitchFamily="34" charset="-122"/>
                <a:ea typeface="微软雅黑" pitchFamily="34" charset="-122"/>
              </a:rPr>
              <a:t>网络应用编排与服务层、北向接口层、控制平台层、南向接口与协议插件</a:t>
            </a:r>
            <a:r>
              <a:rPr lang="zh-CN" altLang="en-US" sz="1400" b="1" dirty="0" smtClean="0">
                <a:solidFill>
                  <a:srgbClr val="C00000"/>
                </a:solidFill>
                <a:latin typeface="微软雅黑" pitchFamily="34" charset="-122"/>
                <a:ea typeface="微软雅黑" pitchFamily="34" charset="-122"/>
              </a:rPr>
              <a:t>层</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a:p>
            <a:pPr marL="742950" lvl="1" indent="-285750">
              <a:lnSpc>
                <a:spcPts val="2000"/>
              </a:lnSpc>
              <a:buClr>
                <a:srgbClr val="0070C0"/>
              </a:buClr>
              <a:buFont typeface="Wingdings" pitchFamily="2" charset="2"/>
              <a:buChar char="l"/>
            </a:pPr>
            <a:r>
              <a:rPr lang="zh-CN" altLang="en-US" sz="1200" b="1" dirty="0">
                <a:latin typeface="微软雅黑" pitchFamily="34" charset="-122"/>
                <a:ea typeface="微软雅黑" pitchFamily="34" charset="-122"/>
              </a:rPr>
              <a:t>控制平台</a:t>
            </a:r>
            <a:r>
              <a:rPr lang="zh-CN" altLang="en-US" sz="1200" b="1" dirty="0" smtClean="0">
                <a:latin typeface="微软雅黑" pitchFamily="34" charset="-122"/>
                <a:ea typeface="微软雅黑" pitchFamily="34" charset="-122"/>
              </a:rPr>
              <a:t>层实现</a:t>
            </a:r>
            <a:r>
              <a:rPr lang="zh-CN" altLang="en-US" sz="1200" b="1" dirty="0">
                <a:latin typeface="微软雅黑" pitchFamily="34" charset="-122"/>
                <a:ea typeface="微软雅黑" pitchFamily="34" charset="-122"/>
              </a:rPr>
              <a:t>与网络控制相关的功能，包括</a:t>
            </a:r>
            <a:r>
              <a:rPr lang="zh-CN" altLang="en-US" sz="1200" b="1" dirty="0">
                <a:solidFill>
                  <a:srgbClr val="C00000"/>
                </a:solidFill>
                <a:latin typeface="微软雅黑" pitchFamily="34" charset="-122"/>
                <a:ea typeface="微软雅黑" pitchFamily="34" charset="-122"/>
              </a:rPr>
              <a:t>服务抽象层、网络功能及网络服务组件</a:t>
            </a:r>
            <a:r>
              <a:rPr lang="zh-CN" altLang="en-US" sz="1200" b="1" dirty="0">
                <a:latin typeface="微软雅黑" pitchFamily="34" charset="-122"/>
                <a:ea typeface="微软雅黑" pitchFamily="34" charset="-122"/>
              </a:rPr>
              <a:t>两部分内容</a:t>
            </a:r>
            <a:r>
              <a:rPr lang="zh-CN" altLang="en-US" sz="1200" b="1" dirty="0" smtClean="0">
                <a:latin typeface="微软雅黑" pitchFamily="34" charset="-122"/>
                <a:ea typeface="微软雅黑" pitchFamily="34" charset="-122"/>
              </a:rPr>
              <a:t>。</a:t>
            </a:r>
            <a:endParaRPr lang="en-US" altLang="zh-CN" sz="1200" b="1" dirty="0" smtClean="0">
              <a:latin typeface="微软雅黑" pitchFamily="34" charset="-122"/>
              <a:ea typeface="微软雅黑" pitchFamily="34" charset="-122"/>
            </a:endParaRPr>
          </a:p>
          <a:p>
            <a:pPr marL="742950" lvl="1" indent="-285750">
              <a:lnSpc>
                <a:spcPts val="2000"/>
              </a:lnSpc>
              <a:buClr>
                <a:srgbClr val="0070C0"/>
              </a:buClr>
              <a:buFont typeface="Wingdings" pitchFamily="2" charset="2"/>
              <a:buChar char="l"/>
            </a:pPr>
            <a:r>
              <a:rPr lang="zh-CN" altLang="en-US" sz="1200" b="1" dirty="0">
                <a:latin typeface="微软雅黑" pitchFamily="34" charset="-122"/>
                <a:ea typeface="微软雅黑" pitchFamily="34" charset="-122"/>
              </a:rPr>
              <a:t>服务抽象层</a:t>
            </a:r>
            <a:r>
              <a:rPr lang="zh-CN" altLang="en-US" sz="1200" b="1" dirty="0" smtClean="0">
                <a:latin typeface="微软雅黑" pitchFamily="34" charset="-122"/>
                <a:ea typeface="微软雅黑" pitchFamily="34" charset="-122"/>
              </a:rPr>
              <a:t>通过</a:t>
            </a:r>
            <a:r>
              <a:rPr lang="zh-CN" altLang="en-US" sz="1200" b="1" dirty="0">
                <a:latin typeface="微软雅黑" pitchFamily="34" charset="-122"/>
                <a:ea typeface="微软雅黑" pitchFamily="34" charset="-122"/>
              </a:rPr>
              <a:t>统一的抽象为上层控制模块</a:t>
            </a:r>
            <a:r>
              <a:rPr lang="zh-CN" altLang="en-US" sz="1200" b="1" dirty="0">
                <a:solidFill>
                  <a:srgbClr val="C00000"/>
                </a:solidFill>
                <a:latin typeface="微软雅黑" pitchFamily="34" charset="-122"/>
                <a:ea typeface="微软雅黑" pitchFamily="34" charset="-122"/>
              </a:rPr>
              <a:t>屏蔽</a:t>
            </a:r>
            <a:r>
              <a:rPr lang="zh-CN" altLang="en-US" sz="1200" b="1" dirty="0">
                <a:latin typeface="微软雅黑" pitchFamily="34" charset="-122"/>
                <a:ea typeface="微软雅黑" pitchFamily="34" charset="-122"/>
              </a:rPr>
              <a:t>不同南向接口协议之间的差异</a:t>
            </a:r>
            <a:r>
              <a:rPr lang="zh-CN" altLang="en-US" sz="1200" b="1" dirty="0" smtClean="0">
                <a:latin typeface="微软雅黑" pitchFamily="34" charset="-122"/>
                <a:ea typeface="微软雅黑" pitchFamily="34" charset="-122"/>
              </a:rPr>
              <a:t>性。</a:t>
            </a:r>
            <a:endParaRPr lang="en-US" altLang="zh-CN" sz="1200" b="1" dirty="0" smtClean="0">
              <a:latin typeface="微软雅黑" pitchFamily="34" charset="-122"/>
              <a:ea typeface="微软雅黑" pitchFamily="34" charset="-122"/>
            </a:endParaRPr>
          </a:p>
          <a:p>
            <a:pPr marL="742950" lvl="1" indent="-285750">
              <a:lnSpc>
                <a:spcPts val="2000"/>
              </a:lnSpc>
              <a:buClr>
                <a:srgbClr val="0070C0"/>
              </a:buClr>
              <a:buFont typeface="Wingdings" pitchFamily="2" charset="2"/>
              <a:buChar char="l"/>
            </a:pPr>
            <a:r>
              <a:rPr lang="zh-CN" altLang="en-US" sz="1200" b="1" dirty="0">
                <a:latin typeface="微软雅黑" pitchFamily="34" charset="-122"/>
                <a:ea typeface="微软雅黑" pitchFamily="34" charset="-122"/>
              </a:rPr>
              <a:t>网络功能及网络服务组件</a:t>
            </a:r>
            <a:r>
              <a:rPr lang="zh-CN" altLang="en-US" sz="1200" b="1" dirty="0">
                <a:solidFill>
                  <a:srgbClr val="C00000"/>
                </a:solidFill>
                <a:latin typeface="微软雅黑" pitchFamily="34" charset="-122"/>
                <a:ea typeface="微软雅黑" pitchFamily="34" charset="-122"/>
              </a:rPr>
              <a:t>实现具体的网络控制功能</a:t>
            </a:r>
            <a:r>
              <a:rPr lang="zh-CN" altLang="en-US" sz="1200" b="1" dirty="0">
                <a:latin typeface="微软雅黑" pitchFamily="34" charset="-122"/>
                <a:ea typeface="微软雅黑" pitchFamily="34" charset="-122"/>
              </a:rPr>
              <a:t>，例如拓扑发现、路由计算、访问控制</a:t>
            </a:r>
            <a:r>
              <a:rPr lang="zh-CN" altLang="en-US" sz="1200" b="1" dirty="0" smtClean="0">
                <a:latin typeface="微软雅黑" pitchFamily="34" charset="-122"/>
                <a:ea typeface="微软雅黑" pitchFamily="34" charset="-122"/>
              </a:rPr>
              <a:t>等。</a:t>
            </a:r>
            <a:endParaRPr lang="en-US" altLang="zh-CN" sz="1200" b="1" dirty="0" smtClean="0">
              <a:latin typeface="微软雅黑" pitchFamily="34" charset="-122"/>
              <a:ea typeface="微软雅黑" pitchFamily="34" charset="-122"/>
            </a:endParaRPr>
          </a:p>
        </p:txBody>
      </p:sp>
      <p:sp>
        <p:nvSpPr>
          <p:cNvPr id="95" name="Rounded Rectangle 102"/>
          <p:cNvSpPr/>
          <p:nvPr/>
        </p:nvSpPr>
        <p:spPr>
          <a:xfrm>
            <a:off x="695206" y="2130768"/>
            <a:ext cx="4450876" cy="1798411"/>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96" name="Rounded Rectangle 13"/>
          <p:cNvSpPr/>
          <p:nvPr/>
        </p:nvSpPr>
        <p:spPr>
          <a:xfrm>
            <a:off x="1240290" y="2160908"/>
            <a:ext cx="3834820" cy="1333659"/>
          </a:xfrm>
          <a:prstGeom prst="roundRect">
            <a:avLst/>
          </a:prstGeom>
          <a:solidFill>
            <a:schemeClr val="accent3">
              <a:lumMod val="40000"/>
              <a:lumOff val="60000"/>
            </a:schemeClr>
          </a:solidFill>
          <a:ln w="12700">
            <a:solidFill>
              <a:schemeClr val="accent5">
                <a:lumMod val="75000"/>
              </a:schemeClr>
            </a:solidFill>
            <a:prstDash val="solid"/>
          </a:ln>
          <a:effectLst>
            <a:outerShdw blurRad="50800" dist="38100" dir="2700000" algn="tl" rotWithShape="0">
              <a:srgbClr val="CCFFCC">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cs typeface="Arial"/>
            </a:endParaRPr>
          </a:p>
        </p:txBody>
      </p:sp>
      <p:sp>
        <p:nvSpPr>
          <p:cNvPr id="100" name="TextBox 217"/>
          <p:cNvSpPr txBox="1"/>
          <p:nvPr/>
        </p:nvSpPr>
        <p:spPr>
          <a:xfrm>
            <a:off x="1240289" y="2161082"/>
            <a:ext cx="3784645" cy="271869"/>
          </a:xfrm>
          <a:prstGeom prst="rect">
            <a:avLst/>
          </a:prstGeom>
          <a:noFill/>
        </p:spPr>
        <p:txBody>
          <a:bodyPr wrap="square" rtlCol="0">
            <a:spAutoFit/>
          </a:bodyPr>
          <a:lstStyle/>
          <a:p>
            <a:pPr algn="ctr">
              <a:lnSpc>
                <a:spcPts val="1400"/>
              </a:lnSpc>
            </a:pPr>
            <a:r>
              <a:rPr lang="zh-CN" altLang="en-US" sz="800" b="1" dirty="0">
                <a:solidFill>
                  <a:srgbClr val="C00000"/>
                </a:solidFill>
                <a:cs typeface="Arial"/>
              </a:rPr>
              <a:t>网络</a:t>
            </a:r>
            <a:r>
              <a:rPr lang="zh-CN" altLang="en-US" sz="800" b="1" dirty="0" smtClean="0">
                <a:solidFill>
                  <a:srgbClr val="C00000"/>
                </a:solidFill>
                <a:cs typeface="Arial"/>
              </a:rPr>
              <a:t>功能及网络服务组件</a:t>
            </a:r>
            <a:endParaRPr lang="en-US" sz="800" b="1" dirty="0">
              <a:solidFill>
                <a:srgbClr val="C00000"/>
              </a:solidFill>
              <a:cs typeface="Arial"/>
            </a:endParaRPr>
          </a:p>
        </p:txBody>
      </p:sp>
      <p:sp>
        <p:nvSpPr>
          <p:cNvPr id="102" name="Rounded Rectangle 98"/>
          <p:cNvSpPr/>
          <p:nvPr/>
        </p:nvSpPr>
        <p:spPr>
          <a:xfrm>
            <a:off x="695207" y="1688703"/>
            <a:ext cx="4450875" cy="38716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06" name="Rounded Rectangle 99"/>
          <p:cNvSpPr/>
          <p:nvPr/>
        </p:nvSpPr>
        <p:spPr>
          <a:xfrm>
            <a:off x="695206" y="3988534"/>
            <a:ext cx="4450876" cy="471480"/>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32" name="Rounded Rectangle 19"/>
          <p:cNvSpPr/>
          <p:nvPr/>
        </p:nvSpPr>
        <p:spPr>
          <a:xfrm>
            <a:off x="1252679" y="3548121"/>
            <a:ext cx="3802152" cy="304151"/>
          </a:xfrm>
          <a:prstGeom prst="roundRect">
            <a:avLst/>
          </a:prstGeom>
          <a:solidFill>
            <a:schemeClr val="accent3">
              <a:lumMod val="40000"/>
              <a:lumOff val="60000"/>
            </a:schemeClr>
          </a:solidFill>
          <a:ln w="12700">
            <a:solidFill>
              <a:schemeClr val="accent5">
                <a:lumMod val="75000"/>
              </a:schemeClr>
            </a:solidFill>
            <a:prstDash val="solid"/>
          </a:ln>
          <a:effectLst>
            <a:outerShdw blurRad="50800" dist="38100" dir="2700000" algn="tl" rotWithShape="0">
              <a:srgbClr val="CCFFCC">
                <a:alpha val="43000"/>
              </a:srgb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dirty="0" smtClean="0"/>
              <a:t>服务抽象层</a:t>
            </a:r>
            <a:r>
              <a:rPr lang="en-US" altLang="zh-CN" sz="800" b="1" dirty="0" smtClean="0"/>
              <a:t>(SAL, Service </a:t>
            </a:r>
            <a:r>
              <a:rPr lang="en-US" altLang="zh-CN" sz="800" b="1" dirty="0"/>
              <a:t>Abstraction </a:t>
            </a:r>
            <a:r>
              <a:rPr lang="en-US" altLang="zh-CN" sz="800" b="1" dirty="0" smtClean="0"/>
              <a:t>Layer)</a:t>
            </a:r>
            <a:endParaRPr lang="en-US" altLang="zh-CN" sz="800" b="1" dirty="0"/>
          </a:p>
        </p:txBody>
      </p:sp>
      <p:cxnSp>
        <p:nvCxnSpPr>
          <p:cNvPr id="141" name="Straight Connector 103"/>
          <p:cNvCxnSpPr/>
          <p:nvPr/>
        </p:nvCxnSpPr>
        <p:spPr bwMode="auto">
          <a:xfrm>
            <a:off x="592425" y="4501859"/>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2" name="Straight Connector 212"/>
          <p:cNvCxnSpPr/>
          <p:nvPr/>
        </p:nvCxnSpPr>
        <p:spPr bwMode="auto">
          <a:xfrm>
            <a:off x="638167" y="1638468"/>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63" name="TextBox 132">
            <a:extLst>
              <a:ext uri="{FF2B5EF4-FFF2-40B4-BE49-F238E27FC236}">
                <a16:creationId xmlns:a16="http://schemas.microsoft.com/office/drawing/2014/main" id="{C6312439-3E2F-644C-8FD1-E8F71A7DB152}"/>
              </a:ext>
            </a:extLst>
          </p:cNvPr>
          <p:cNvSpPr txBox="1"/>
          <p:nvPr/>
        </p:nvSpPr>
        <p:spPr>
          <a:xfrm>
            <a:off x="866586" y="1153397"/>
            <a:ext cx="895163"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网络应用编排与服务层</a:t>
            </a:r>
            <a:endParaRPr lang="en-US" sz="1000" b="1" dirty="0">
              <a:solidFill>
                <a:srgbClr val="000000"/>
              </a:solidFill>
              <a:cs typeface="Arial"/>
            </a:endParaRPr>
          </a:p>
        </p:txBody>
      </p:sp>
      <p:sp>
        <p:nvSpPr>
          <p:cNvPr id="64" name="TextBox 132">
            <a:extLst>
              <a:ext uri="{FF2B5EF4-FFF2-40B4-BE49-F238E27FC236}">
                <a16:creationId xmlns:a16="http://schemas.microsoft.com/office/drawing/2014/main" id="{C6312439-3E2F-644C-8FD1-E8F71A7DB152}"/>
              </a:ext>
            </a:extLst>
          </p:cNvPr>
          <p:cNvSpPr txBox="1"/>
          <p:nvPr/>
        </p:nvSpPr>
        <p:spPr>
          <a:xfrm>
            <a:off x="921735" y="1785482"/>
            <a:ext cx="91976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北向接口层</a:t>
            </a:r>
            <a:endParaRPr lang="en-US" sz="1000" b="1" dirty="0">
              <a:solidFill>
                <a:srgbClr val="000000"/>
              </a:solidFill>
              <a:cs typeface="Arial"/>
            </a:endParaRPr>
          </a:p>
        </p:txBody>
      </p:sp>
      <p:sp>
        <p:nvSpPr>
          <p:cNvPr id="65" name="TextBox 132">
            <a:extLst>
              <a:ext uri="{FF2B5EF4-FFF2-40B4-BE49-F238E27FC236}">
                <a16:creationId xmlns:a16="http://schemas.microsoft.com/office/drawing/2014/main" id="{C6312439-3E2F-644C-8FD1-E8F71A7DB152}"/>
              </a:ext>
            </a:extLst>
          </p:cNvPr>
          <p:cNvSpPr txBox="1"/>
          <p:nvPr/>
        </p:nvSpPr>
        <p:spPr>
          <a:xfrm>
            <a:off x="641665" y="2941183"/>
            <a:ext cx="669787"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控制</a:t>
            </a:r>
            <a:endParaRPr lang="en-US" altLang="zh-CN" sz="1000" b="1" dirty="0" smtClean="0">
              <a:solidFill>
                <a:srgbClr val="000000"/>
              </a:solidFill>
              <a:cs typeface="Arial"/>
            </a:endParaRPr>
          </a:p>
          <a:p>
            <a:pPr algn="ctr" eaLnBrk="0" fontAlgn="base" hangingPunct="0">
              <a:lnSpc>
                <a:spcPct val="90000"/>
              </a:lnSpc>
              <a:spcBef>
                <a:spcPct val="0"/>
              </a:spcBef>
              <a:spcAft>
                <a:spcPct val="0"/>
              </a:spcAft>
            </a:pPr>
            <a:r>
              <a:rPr lang="zh-CN" altLang="en-US" sz="1000" b="1">
                <a:solidFill>
                  <a:srgbClr val="000000"/>
                </a:solidFill>
                <a:cs typeface="Arial"/>
              </a:rPr>
              <a:t>平台</a:t>
            </a:r>
            <a:r>
              <a:rPr lang="zh-CN" altLang="en-US" sz="1000" b="1" smtClean="0">
                <a:solidFill>
                  <a:srgbClr val="000000"/>
                </a:solidFill>
                <a:cs typeface="Arial"/>
              </a:rPr>
              <a:t>层</a:t>
            </a:r>
            <a:endParaRPr lang="en-US" sz="1000" b="1" dirty="0">
              <a:solidFill>
                <a:srgbClr val="000000"/>
              </a:solidFill>
              <a:cs typeface="Arial"/>
            </a:endParaRPr>
          </a:p>
        </p:txBody>
      </p:sp>
      <p:sp>
        <p:nvSpPr>
          <p:cNvPr id="66" name="TextBox 132">
            <a:extLst>
              <a:ext uri="{FF2B5EF4-FFF2-40B4-BE49-F238E27FC236}">
                <a16:creationId xmlns:a16="http://schemas.microsoft.com/office/drawing/2014/main" id="{C6312439-3E2F-644C-8FD1-E8F71A7DB152}"/>
              </a:ext>
            </a:extLst>
          </p:cNvPr>
          <p:cNvSpPr txBox="1"/>
          <p:nvPr/>
        </p:nvSpPr>
        <p:spPr>
          <a:xfrm>
            <a:off x="866586" y="4030544"/>
            <a:ext cx="825538"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南向接口与协议插件层</a:t>
            </a:r>
            <a:endParaRPr lang="en-US" sz="1000" b="1" dirty="0">
              <a:solidFill>
                <a:srgbClr val="000000"/>
              </a:solidFill>
              <a:cs typeface="Arial"/>
            </a:endParaRPr>
          </a:p>
        </p:txBody>
      </p:sp>
      <p:sp>
        <p:nvSpPr>
          <p:cNvPr id="67" name="Oval 212">
            <a:extLst>
              <a:ext uri="{FF2B5EF4-FFF2-40B4-BE49-F238E27FC236}">
                <a16:creationId xmlns:a16="http://schemas.microsoft.com/office/drawing/2014/main" id="{63396159-2590-154F-A47D-AE772D5BD572}"/>
              </a:ext>
            </a:extLst>
          </p:cNvPr>
          <p:cNvSpPr/>
          <p:nvPr/>
        </p:nvSpPr>
        <p:spPr>
          <a:xfrm>
            <a:off x="1832514" y="1166857"/>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流量</a:t>
            </a:r>
            <a:endParaRPr lang="en-US" altLang="zh-CN" sz="900" b="1" dirty="0" smtClean="0">
              <a:solidFill>
                <a:schemeClr val="tx1"/>
              </a:solidFill>
            </a:endParaRPr>
          </a:p>
          <a:p>
            <a:pPr algn="ctr"/>
            <a:r>
              <a:rPr lang="zh-CN" altLang="en-US" sz="900" b="1" dirty="0" smtClean="0">
                <a:solidFill>
                  <a:schemeClr val="tx1"/>
                </a:solidFill>
              </a:rPr>
              <a:t>工程</a:t>
            </a:r>
            <a:endParaRPr lang="en-US" altLang="zh-CN" sz="900" b="1" dirty="0">
              <a:solidFill>
                <a:schemeClr val="tx1"/>
              </a:solidFill>
            </a:endParaRPr>
          </a:p>
        </p:txBody>
      </p:sp>
      <p:sp>
        <p:nvSpPr>
          <p:cNvPr id="69" name="Oval 216">
            <a:extLst>
              <a:ext uri="{FF2B5EF4-FFF2-40B4-BE49-F238E27FC236}">
                <a16:creationId xmlns:a16="http://schemas.microsoft.com/office/drawing/2014/main" id="{21E76008-C977-704E-A46B-8762C970FAD4}"/>
              </a:ext>
            </a:extLst>
          </p:cNvPr>
          <p:cNvSpPr/>
          <p:nvPr/>
        </p:nvSpPr>
        <p:spPr>
          <a:xfrm>
            <a:off x="2658515" y="1169753"/>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防火墙</a:t>
            </a:r>
            <a:endParaRPr lang="en-US" sz="900" b="1" dirty="0">
              <a:solidFill>
                <a:schemeClr val="tx1"/>
              </a:solidFill>
            </a:endParaRPr>
          </a:p>
        </p:txBody>
      </p:sp>
      <p:sp>
        <p:nvSpPr>
          <p:cNvPr id="70" name="Oval 219">
            <a:extLst>
              <a:ext uri="{FF2B5EF4-FFF2-40B4-BE49-F238E27FC236}">
                <a16:creationId xmlns:a16="http://schemas.microsoft.com/office/drawing/2014/main" id="{9C655D12-82F9-2B4F-AD39-3319D0C1C85B}"/>
              </a:ext>
            </a:extLst>
          </p:cNvPr>
          <p:cNvSpPr/>
          <p:nvPr/>
        </p:nvSpPr>
        <p:spPr>
          <a:xfrm>
            <a:off x="3524036" y="1172699"/>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负载</a:t>
            </a:r>
            <a:endParaRPr lang="en-US" altLang="zh-CN" sz="900" b="1" dirty="0" smtClean="0">
              <a:solidFill>
                <a:schemeClr val="tx1"/>
              </a:solidFill>
            </a:endParaRPr>
          </a:p>
          <a:p>
            <a:pPr algn="ctr"/>
            <a:r>
              <a:rPr lang="zh-CN" altLang="en-US" sz="900" b="1" dirty="0" smtClean="0">
                <a:solidFill>
                  <a:schemeClr val="tx1"/>
                </a:solidFill>
              </a:rPr>
              <a:t>均衡</a:t>
            </a:r>
            <a:endParaRPr lang="en-US" sz="900" b="1" dirty="0">
              <a:solidFill>
                <a:schemeClr val="tx1"/>
              </a:solidFill>
            </a:endParaRPr>
          </a:p>
        </p:txBody>
      </p:sp>
      <p:sp>
        <p:nvSpPr>
          <p:cNvPr id="75" name="Rounded Rectangle 187">
            <a:extLst>
              <a:ext uri="{FF2B5EF4-FFF2-40B4-BE49-F238E27FC236}">
                <a16:creationId xmlns:a16="http://schemas.microsoft.com/office/drawing/2014/main" id="{D26CA676-9ED8-CC4E-8413-ADE7E23BE8F2}"/>
              </a:ext>
            </a:extLst>
          </p:cNvPr>
          <p:cNvSpPr/>
          <p:nvPr/>
        </p:nvSpPr>
        <p:spPr>
          <a:xfrm>
            <a:off x="1913733"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OpenFlow</a:t>
            </a:r>
            <a:endParaRPr lang="en-US" sz="800" b="1" kern="0" dirty="0">
              <a:solidFill>
                <a:srgbClr val="000000"/>
              </a:solidFill>
            </a:endParaRPr>
          </a:p>
        </p:txBody>
      </p:sp>
      <p:sp>
        <p:nvSpPr>
          <p:cNvPr id="76" name="Rounded Rectangle 187">
            <a:extLst>
              <a:ext uri="{FF2B5EF4-FFF2-40B4-BE49-F238E27FC236}">
                <a16:creationId xmlns:a16="http://schemas.microsoft.com/office/drawing/2014/main" id="{D26CA676-9ED8-CC4E-8413-ADE7E23BE8F2}"/>
              </a:ext>
            </a:extLst>
          </p:cNvPr>
          <p:cNvSpPr/>
          <p:nvPr/>
        </p:nvSpPr>
        <p:spPr>
          <a:xfrm>
            <a:off x="2646671"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err="1">
                <a:solidFill>
                  <a:srgbClr val="000000"/>
                </a:solidFill>
              </a:rPr>
              <a:t>NetConf</a:t>
            </a:r>
            <a:endParaRPr lang="en-US" sz="800" b="1" kern="0" dirty="0">
              <a:solidFill>
                <a:srgbClr val="000000"/>
              </a:solidFill>
            </a:endParaRPr>
          </a:p>
        </p:txBody>
      </p:sp>
      <p:sp>
        <p:nvSpPr>
          <p:cNvPr id="77" name="Rounded Rectangle 187">
            <a:extLst>
              <a:ext uri="{FF2B5EF4-FFF2-40B4-BE49-F238E27FC236}">
                <a16:creationId xmlns:a16="http://schemas.microsoft.com/office/drawing/2014/main" id="{D26CA676-9ED8-CC4E-8413-ADE7E23BE8F2}"/>
              </a:ext>
            </a:extLst>
          </p:cNvPr>
          <p:cNvSpPr/>
          <p:nvPr/>
        </p:nvSpPr>
        <p:spPr>
          <a:xfrm>
            <a:off x="3373071"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OVSDB</a:t>
            </a:r>
            <a:endParaRPr lang="en-US" sz="800" b="1" kern="0" dirty="0">
              <a:solidFill>
                <a:srgbClr val="000000"/>
              </a:solidFill>
            </a:endParaRPr>
          </a:p>
        </p:txBody>
      </p:sp>
      <p:sp>
        <p:nvSpPr>
          <p:cNvPr id="78" name="Rounded Rectangle 187">
            <a:extLst>
              <a:ext uri="{FF2B5EF4-FFF2-40B4-BE49-F238E27FC236}">
                <a16:creationId xmlns:a16="http://schemas.microsoft.com/office/drawing/2014/main" id="{D26CA676-9ED8-CC4E-8413-ADE7E23BE8F2}"/>
              </a:ext>
            </a:extLst>
          </p:cNvPr>
          <p:cNvSpPr/>
          <p:nvPr/>
        </p:nvSpPr>
        <p:spPr>
          <a:xfrm>
            <a:off x="4089700" y="4099789"/>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SNMP</a:t>
            </a:r>
            <a:endParaRPr lang="en-US" sz="800" b="1" kern="0" dirty="0">
              <a:solidFill>
                <a:srgbClr val="000000"/>
              </a:solidFill>
            </a:endParaRPr>
          </a:p>
        </p:txBody>
      </p:sp>
      <p:sp>
        <p:nvSpPr>
          <p:cNvPr id="79" name="Rounded Rectangle 127">
            <a:extLst>
              <a:ext uri="{FF2B5EF4-FFF2-40B4-BE49-F238E27FC236}">
                <a16:creationId xmlns:a16="http://schemas.microsoft.com/office/drawing/2014/main" id="{11EFF8DB-F7D6-F34F-9A62-91332868BEEF}"/>
              </a:ext>
            </a:extLst>
          </p:cNvPr>
          <p:cNvSpPr/>
          <p:nvPr/>
        </p:nvSpPr>
        <p:spPr>
          <a:xfrm>
            <a:off x="2338169" y="1719923"/>
            <a:ext cx="857377"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REST API</a:t>
            </a:r>
          </a:p>
        </p:txBody>
      </p:sp>
      <p:sp>
        <p:nvSpPr>
          <p:cNvPr id="44" name="Rounded Rectangle 3"/>
          <p:cNvSpPr/>
          <p:nvPr/>
        </p:nvSpPr>
        <p:spPr>
          <a:xfrm>
            <a:off x="2542189" y="2438819"/>
            <a:ext cx="2472086" cy="1032395"/>
          </a:xfrm>
          <a:prstGeom prst="roundRect">
            <a:avLst/>
          </a:prstGeom>
          <a:solidFill>
            <a:schemeClr val="accent4">
              <a:lumMod val="20000"/>
              <a:lumOff val="80000"/>
            </a:schemeClr>
          </a:solidFill>
          <a:ln w="12700">
            <a:solidFill>
              <a:schemeClr val="tx1"/>
            </a:solidFill>
          </a:ln>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endParaRPr>
          </a:p>
        </p:txBody>
      </p:sp>
      <p:sp>
        <p:nvSpPr>
          <p:cNvPr id="98" name="Rounded Rectangle 3"/>
          <p:cNvSpPr/>
          <p:nvPr/>
        </p:nvSpPr>
        <p:spPr>
          <a:xfrm>
            <a:off x="2609340" y="2704605"/>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拓扑管理器</a:t>
            </a:r>
            <a:endParaRPr kumimoji="0" lang="en-US" sz="800" b="1" i="0" u="none" strike="noStrike" cap="none" normalizeH="0" baseline="0" dirty="0" smtClean="0">
              <a:ln>
                <a:noFill/>
              </a:ln>
              <a:solidFill>
                <a:schemeClr val="tx1"/>
              </a:solidFill>
              <a:effectLst/>
            </a:endParaRPr>
          </a:p>
        </p:txBody>
      </p:sp>
      <p:sp>
        <p:nvSpPr>
          <p:cNvPr id="46" name="Rounded Rectangle 3"/>
          <p:cNvSpPr/>
          <p:nvPr/>
        </p:nvSpPr>
        <p:spPr>
          <a:xfrm>
            <a:off x="3414370" y="2708291"/>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交换机管理器</a:t>
            </a:r>
            <a:endParaRPr kumimoji="0" lang="en-US" sz="800" b="1" i="0" u="none" strike="noStrike" cap="none" normalizeH="0" baseline="0" dirty="0" smtClean="0">
              <a:ln>
                <a:noFill/>
              </a:ln>
              <a:solidFill>
                <a:schemeClr val="tx1"/>
              </a:solidFill>
              <a:effectLst/>
            </a:endParaRPr>
          </a:p>
        </p:txBody>
      </p:sp>
      <p:sp>
        <p:nvSpPr>
          <p:cNvPr id="47" name="Rounded Rectangle 3"/>
          <p:cNvSpPr/>
          <p:nvPr/>
        </p:nvSpPr>
        <p:spPr>
          <a:xfrm>
            <a:off x="4232236" y="2711810"/>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转发规则</a:t>
            </a:r>
            <a:endParaRPr kumimoji="0" lang="en-US" altLang="zh-CN" sz="800" b="1" i="0" u="none" strike="noStrike" cap="none" normalizeH="0" baseline="0" dirty="0" smtClean="0">
              <a:ln>
                <a:noFill/>
              </a:ln>
              <a:solidFill>
                <a:schemeClr val="tx1"/>
              </a:solidFill>
              <a:effectLst/>
            </a:endParaRPr>
          </a:p>
          <a:p>
            <a:pPr marL="0" marR="0" indent="0" algn="ctr" defTabSz="914400" rtl="0" eaLnBrk="0" fontAlgn="base" latinLnBrk="0" hangingPunct="0">
              <a:lnSpc>
                <a:spcPct val="100000"/>
              </a:lnSpc>
              <a:spcBef>
                <a:spcPct val="0"/>
              </a:spcBef>
              <a:spcAft>
                <a:spcPct val="0"/>
              </a:spcAft>
              <a:buClrTx/>
              <a:buSzTx/>
              <a:buFontTx/>
              <a:buNone/>
              <a:tabLst/>
            </a:pPr>
            <a:r>
              <a:rPr lang="zh-CN" altLang="en-US" sz="800" b="1" dirty="0"/>
              <a:t>管理器</a:t>
            </a:r>
            <a:endParaRPr kumimoji="0" lang="en-US" sz="800" b="1" i="0" u="none" strike="noStrike" cap="none" normalizeH="0" baseline="0" dirty="0" smtClean="0">
              <a:ln>
                <a:noFill/>
              </a:ln>
              <a:solidFill>
                <a:schemeClr val="tx1"/>
              </a:solidFill>
              <a:effectLst/>
            </a:endParaRPr>
          </a:p>
        </p:txBody>
      </p:sp>
      <p:sp>
        <p:nvSpPr>
          <p:cNvPr id="48" name="Rounded Rectangle 3"/>
          <p:cNvSpPr/>
          <p:nvPr/>
        </p:nvSpPr>
        <p:spPr>
          <a:xfrm>
            <a:off x="2838177" y="3068790"/>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主机管理器</a:t>
            </a:r>
            <a:endParaRPr kumimoji="0" lang="en-US" sz="800" b="1" i="0" u="none" strike="noStrike" cap="none" normalizeH="0" baseline="0" dirty="0" smtClean="0">
              <a:ln>
                <a:noFill/>
              </a:ln>
              <a:solidFill>
                <a:schemeClr val="tx1"/>
              </a:solidFill>
              <a:effectLst/>
            </a:endParaRPr>
          </a:p>
        </p:txBody>
      </p:sp>
      <p:sp>
        <p:nvSpPr>
          <p:cNvPr id="49" name="Rounded Rectangle 3"/>
          <p:cNvSpPr/>
          <p:nvPr/>
        </p:nvSpPr>
        <p:spPr>
          <a:xfrm>
            <a:off x="3947725" y="3079764"/>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统计管理器</a:t>
            </a:r>
            <a:endParaRPr kumimoji="0" lang="en-US" sz="800" b="1" i="0" u="none" strike="noStrike" cap="none" normalizeH="0" baseline="0" dirty="0" smtClean="0">
              <a:ln>
                <a:noFill/>
              </a:ln>
              <a:solidFill>
                <a:schemeClr val="tx1"/>
              </a:solidFill>
              <a:effectLst/>
            </a:endParaRPr>
          </a:p>
        </p:txBody>
      </p:sp>
      <p:sp>
        <p:nvSpPr>
          <p:cNvPr id="50" name="TextBox 217"/>
          <p:cNvSpPr txBox="1"/>
          <p:nvPr/>
        </p:nvSpPr>
        <p:spPr>
          <a:xfrm>
            <a:off x="2664042" y="2472317"/>
            <a:ext cx="2158871" cy="271869"/>
          </a:xfrm>
          <a:prstGeom prst="rect">
            <a:avLst/>
          </a:prstGeom>
          <a:noFill/>
        </p:spPr>
        <p:txBody>
          <a:bodyPr wrap="square" rtlCol="0">
            <a:spAutoFit/>
          </a:bodyPr>
          <a:lstStyle/>
          <a:p>
            <a:pPr algn="ctr">
              <a:lnSpc>
                <a:spcPts val="1400"/>
              </a:lnSpc>
            </a:pPr>
            <a:r>
              <a:rPr lang="zh-CN" altLang="en-US" sz="800" b="1" dirty="0" smtClean="0">
                <a:solidFill>
                  <a:srgbClr val="C00000"/>
                </a:solidFill>
                <a:cs typeface="Arial"/>
              </a:rPr>
              <a:t>基础网络服务</a:t>
            </a:r>
            <a:endParaRPr lang="en-US" sz="800" b="1" dirty="0">
              <a:solidFill>
                <a:srgbClr val="C00000"/>
              </a:solidFill>
              <a:cs typeface="Arial"/>
            </a:endParaRPr>
          </a:p>
        </p:txBody>
      </p:sp>
      <p:sp>
        <p:nvSpPr>
          <p:cNvPr id="51" name="Rounded Rectangle 3"/>
          <p:cNvSpPr/>
          <p:nvPr/>
        </p:nvSpPr>
        <p:spPr>
          <a:xfrm>
            <a:off x="1259288" y="2438819"/>
            <a:ext cx="1209553" cy="1008477"/>
          </a:xfrm>
          <a:prstGeom prst="roundRect">
            <a:avLst/>
          </a:prstGeom>
          <a:solidFill>
            <a:schemeClr val="accent4">
              <a:lumMod val="20000"/>
              <a:lumOff val="80000"/>
            </a:schemeClr>
          </a:solidFill>
          <a:ln w="12700">
            <a:solidFill>
              <a:schemeClr val="tx1"/>
            </a:solidFill>
          </a:ln>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endParaRPr>
          </a:p>
        </p:txBody>
      </p:sp>
      <p:sp>
        <p:nvSpPr>
          <p:cNvPr id="52" name="TextBox 217"/>
          <p:cNvSpPr txBox="1"/>
          <p:nvPr/>
        </p:nvSpPr>
        <p:spPr>
          <a:xfrm>
            <a:off x="1229631" y="2469168"/>
            <a:ext cx="1239211" cy="271869"/>
          </a:xfrm>
          <a:prstGeom prst="rect">
            <a:avLst/>
          </a:prstGeom>
          <a:noFill/>
        </p:spPr>
        <p:txBody>
          <a:bodyPr wrap="square" rtlCol="0">
            <a:spAutoFit/>
          </a:bodyPr>
          <a:lstStyle/>
          <a:p>
            <a:pPr algn="ctr">
              <a:lnSpc>
                <a:spcPts val="1400"/>
              </a:lnSpc>
            </a:pPr>
            <a:r>
              <a:rPr lang="zh-CN" altLang="en-US" sz="800" b="1" dirty="0">
                <a:solidFill>
                  <a:srgbClr val="C00000"/>
                </a:solidFill>
                <a:cs typeface="Arial"/>
              </a:rPr>
              <a:t>扩展网络</a:t>
            </a:r>
            <a:r>
              <a:rPr lang="zh-CN" altLang="en-US" sz="800" b="1" dirty="0" smtClean="0">
                <a:solidFill>
                  <a:srgbClr val="C00000"/>
                </a:solidFill>
                <a:cs typeface="Arial"/>
              </a:rPr>
              <a:t>服务与功能</a:t>
            </a:r>
            <a:endParaRPr lang="en-US" sz="800" b="1" dirty="0">
              <a:solidFill>
                <a:srgbClr val="C00000"/>
              </a:solidFill>
              <a:cs typeface="Arial"/>
            </a:endParaRPr>
          </a:p>
        </p:txBody>
      </p:sp>
      <p:sp>
        <p:nvSpPr>
          <p:cNvPr id="53" name="Rounded Rectangle 3"/>
          <p:cNvSpPr/>
          <p:nvPr/>
        </p:nvSpPr>
        <p:spPr>
          <a:xfrm>
            <a:off x="1485083" y="2685613"/>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服务功能链 </a:t>
            </a:r>
            <a:endParaRPr kumimoji="0" lang="en-US" sz="800" b="1" i="0" u="none" strike="noStrike" cap="none" normalizeH="0" baseline="0" dirty="0" smtClean="0">
              <a:ln>
                <a:noFill/>
              </a:ln>
              <a:solidFill>
                <a:schemeClr val="tx1"/>
              </a:solidFill>
              <a:effectLst/>
            </a:endParaRPr>
          </a:p>
        </p:txBody>
      </p:sp>
      <p:sp>
        <p:nvSpPr>
          <p:cNvPr id="54" name="Rounded Rectangle 3"/>
          <p:cNvSpPr/>
          <p:nvPr/>
        </p:nvSpPr>
        <p:spPr>
          <a:xfrm>
            <a:off x="1498643" y="2944191"/>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虚拟租户网络</a:t>
            </a:r>
            <a:endParaRPr kumimoji="0" lang="en-US" sz="800" b="1" i="0" u="none" strike="noStrike" cap="none" normalizeH="0" baseline="0" dirty="0" smtClean="0">
              <a:ln>
                <a:noFill/>
              </a:ln>
              <a:solidFill>
                <a:schemeClr val="tx1"/>
              </a:solidFill>
              <a:effectLst/>
            </a:endParaRPr>
          </a:p>
        </p:txBody>
      </p:sp>
      <p:sp>
        <p:nvSpPr>
          <p:cNvPr id="55" name="Rounded Rectangle 3"/>
          <p:cNvSpPr/>
          <p:nvPr/>
        </p:nvSpPr>
        <p:spPr>
          <a:xfrm>
            <a:off x="1498643" y="3205407"/>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800" b="1" i="0" u="none" strike="noStrike" cap="none" normalizeH="0" baseline="0" dirty="0" smtClean="0">
                <a:ln>
                  <a:noFill/>
                </a:ln>
                <a:solidFill>
                  <a:schemeClr val="tx1"/>
                </a:solidFill>
                <a:effectLst/>
              </a:rPr>
              <a:t>OVSDB</a:t>
            </a:r>
            <a:r>
              <a:rPr kumimoji="0" lang="zh-CN" altLang="en-US" sz="800" b="1" i="0" u="none" strike="noStrike" cap="none" normalizeH="0" baseline="0" dirty="0" smtClean="0">
                <a:ln>
                  <a:noFill/>
                </a:ln>
                <a:solidFill>
                  <a:schemeClr val="tx1"/>
                </a:solidFill>
                <a:effectLst/>
              </a:rPr>
              <a:t>服务</a:t>
            </a:r>
            <a:endParaRPr kumimoji="0" lang="en-US" sz="800" b="1" i="0" u="none" strike="noStrike" cap="none" normalizeH="0" baseline="0" dirty="0" smtClean="0">
              <a:ln>
                <a:noFill/>
              </a:ln>
              <a:solidFill>
                <a:schemeClr val="tx1"/>
              </a:solidFill>
              <a:effectLst/>
            </a:endParaRPr>
          </a:p>
        </p:txBody>
      </p:sp>
      <p:sp>
        <p:nvSpPr>
          <p:cNvPr id="38" name="TextBox 132">
            <a:extLst>
              <a:ext uri="{FF2B5EF4-FFF2-40B4-BE49-F238E27FC236}">
                <a16:creationId xmlns:a16="http://schemas.microsoft.com/office/drawing/2014/main" id="{C6312439-3E2F-644C-8FD1-E8F71A7DB152}"/>
              </a:ext>
            </a:extLst>
          </p:cNvPr>
          <p:cNvSpPr txBox="1"/>
          <p:nvPr/>
        </p:nvSpPr>
        <p:spPr>
          <a:xfrm>
            <a:off x="4348681" y="1213444"/>
            <a:ext cx="58917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000" b="1" dirty="0" smtClean="0">
                <a:solidFill>
                  <a:srgbClr val="000000"/>
                </a:solidFill>
                <a:cs typeface="Arial"/>
              </a:rPr>
              <a:t>...</a:t>
            </a:r>
            <a:endParaRPr lang="en-US" sz="1000" b="1" dirty="0">
              <a:solidFill>
                <a:srgbClr val="000000"/>
              </a:solidFill>
              <a:cs typeface="Arial"/>
            </a:endParaRPr>
          </a:p>
        </p:txBody>
      </p:sp>
    </p:spTree>
    <p:custDataLst>
      <p:tags r:id="rId1"/>
    </p:custDataLst>
    <p:extLst>
      <p:ext uri="{BB962C8B-B14F-4D97-AF65-F5344CB8AC3E}">
        <p14:creationId xmlns:p14="http://schemas.microsoft.com/office/powerpoint/2010/main" val="9438729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xEl>
                                              <p:pRg st="3" end="3"/>
                                            </p:txEl>
                                          </p:spTgt>
                                        </p:tgtEl>
                                        <p:attrNameLst>
                                          <p:attrName>style.visibility</p:attrName>
                                        </p:attrNameLst>
                                      </p:cBhvr>
                                      <p:to>
                                        <p:strVal val="visible"/>
                                      </p:to>
                                    </p:set>
                                    <p:animEffect transition="in" filter="fade">
                                      <p:cBhvr>
                                        <p:cTn id="7" dur="500"/>
                                        <p:tgtEl>
                                          <p:spTgt spid="4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
                                            <p:txEl>
                                              <p:pRg st="4" end="4"/>
                                            </p:txEl>
                                          </p:spTgt>
                                        </p:tgtEl>
                                        <p:attrNameLst>
                                          <p:attrName>style.visibility</p:attrName>
                                        </p:attrNameLst>
                                      </p:cBhvr>
                                      <p:to>
                                        <p:strVal val="visible"/>
                                      </p:to>
                                    </p:set>
                                    <p:animEffect transition="in" filter="fade">
                                      <p:cBhvr>
                                        <p:cTn id="12" dur="500"/>
                                        <p:tgtEl>
                                          <p:spTgt spid="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p>
        </p:txBody>
      </p:sp>
      <p:sp>
        <p:nvSpPr>
          <p:cNvPr id="16" name="Rectangle 6"/>
          <p:cNvSpPr>
            <a:spLocks noChangeArrowheads="1"/>
          </p:cNvSpPr>
          <p:nvPr/>
        </p:nvSpPr>
        <p:spPr bwMode="auto">
          <a:xfrm>
            <a:off x="3144593" y="576646"/>
            <a:ext cx="28548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err="1">
                <a:solidFill>
                  <a:schemeClr val="bg1"/>
                </a:solidFill>
                <a:ea typeface="微软雅黑" pitchFamily="34" charset="-122"/>
              </a:rPr>
              <a:t>OpenDaylight</a:t>
            </a:r>
            <a:r>
              <a:rPr lang="zh-CN" altLang="en-US" sz="2400" b="1" dirty="0" smtClean="0">
                <a:solidFill>
                  <a:schemeClr val="bg1"/>
                </a:solidFill>
                <a:ea typeface="微软雅黑" pitchFamily="34" charset="-122"/>
              </a:rPr>
              <a:t>控制器</a:t>
            </a:r>
            <a:endParaRPr lang="zh-CN" altLang="en-US" sz="2400" b="1" dirty="0">
              <a:solidFill>
                <a:schemeClr val="bg1"/>
              </a:solidFill>
              <a:ea typeface="微软雅黑" pitchFamily="34" charset="-122"/>
            </a:endParaRPr>
          </a:p>
        </p:txBody>
      </p:sp>
      <p:sp>
        <p:nvSpPr>
          <p:cNvPr id="42" name="Rectangle 8"/>
          <p:cNvSpPr>
            <a:spLocks noChangeArrowheads="1"/>
          </p:cNvSpPr>
          <p:nvPr/>
        </p:nvSpPr>
        <p:spPr bwMode="auto">
          <a:xfrm>
            <a:off x="5333273" y="1171384"/>
            <a:ext cx="3783931" cy="277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500"/>
              </a:lnSpc>
              <a:buClr>
                <a:srgbClr val="0070C0"/>
              </a:buClr>
              <a:buFont typeface="Wingdings" pitchFamily="2" charset="2"/>
              <a:buChar char="l"/>
            </a:pPr>
            <a:r>
              <a:rPr lang="en-US" altLang="zh-CN" sz="1400" b="1" dirty="0" err="1">
                <a:latin typeface="微软雅黑" pitchFamily="34" charset="-122"/>
                <a:ea typeface="微软雅黑" pitchFamily="34" charset="-122"/>
              </a:rPr>
              <a:t>OpenDaylight</a:t>
            </a:r>
            <a:r>
              <a:rPr lang="zh-CN" altLang="en-US" sz="1400" b="1" dirty="0" smtClean="0">
                <a:latin typeface="微软雅黑" pitchFamily="34" charset="-122"/>
                <a:ea typeface="微软雅黑" pitchFamily="34" charset="-122"/>
              </a:rPr>
              <a:t>（</a:t>
            </a:r>
            <a:r>
              <a:rPr lang="en-US" altLang="zh-CN" sz="1400" b="1" dirty="0" smtClean="0">
                <a:latin typeface="微软雅黑" pitchFamily="34" charset="-122"/>
                <a:ea typeface="微软雅黑" pitchFamily="34" charset="-122"/>
              </a:rPr>
              <a:t>ODL</a:t>
            </a:r>
            <a:r>
              <a:rPr lang="zh-CN" altLang="en-US" sz="1400" b="1" dirty="0">
                <a:latin typeface="微软雅黑" pitchFamily="34" charset="-122"/>
                <a:ea typeface="微软雅黑" pitchFamily="34" charset="-122"/>
              </a:rPr>
              <a:t>）是一个模块化、可扩展的开源</a:t>
            </a:r>
            <a:r>
              <a:rPr lang="en-US" altLang="zh-CN" sz="1400" b="1" dirty="0">
                <a:latin typeface="微软雅黑" pitchFamily="34" charset="-122"/>
                <a:ea typeface="微软雅黑" pitchFamily="34" charset="-122"/>
              </a:rPr>
              <a:t>SDN</a:t>
            </a:r>
            <a:r>
              <a:rPr lang="zh-CN" altLang="en-US" sz="1400" b="1" dirty="0">
                <a:latin typeface="微软雅黑" pitchFamily="34" charset="-122"/>
                <a:ea typeface="微软雅黑" pitchFamily="34" charset="-122"/>
              </a:rPr>
              <a:t>控制器</a:t>
            </a:r>
            <a:r>
              <a:rPr lang="zh-CN" altLang="en-US" sz="1400" b="1" dirty="0" smtClean="0">
                <a:latin typeface="微软雅黑" pitchFamily="34" charset="-122"/>
                <a:ea typeface="微软雅黑" pitchFamily="34" charset="-122"/>
              </a:rPr>
              <a:t>平台。</a:t>
            </a:r>
            <a:endParaRPr lang="en-US" altLang="zh-CN" sz="1400" b="1" dirty="0" smtClean="0">
              <a:solidFill>
                <a:srgbClr val="C00000"/>
              </a:solidFill>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自上而下四个逻辑层次：</a:t>
            </a:r>
            <a:r>
              <a:rPr lang="zh-CN" altLang="en-US" sz="1400" b="1" dirty="0">
                <a:solidFill>
                  <a:srgbClr val="C00000"/>
                </a:solidFill>
                <a:latin typeface="微软雅黑" pitchFamily="34" charset="-122"/>
                <a:ea typeface="微软雅黑" pitchFamily="34" charset="-122"/>
              </a:rPr>
              <a:t>网络应用编排与服务层、北向接口层、控制平台层、南向接口与协议插件</a:t>
            </a:r>
            <a:r>
              <a:rPr lang="zh-CN" altLang="en-US" sz="1400" b="1" dirty="0" smtClean="0">
                <a:solidFill>
                  <a:srgbClr val="C00000"/>
                </a:solidFill>
                <a:latin typeface="微软雅黑" pitchFamily="34" charset="-122"/>
                <a:ea typeface="微软雅黑" pitchFamily="34" charset="-122"/>
              </a:rPr>
              <a:t>层</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a:p>
            <a:pPr marL="742950" lvl="1" indent="-285750">
              <a:lnSpc>
                <a:spcPts val="2100"/>
              </a:lnSpc>
              <a:buClr>
                <a:srgbClr val="0070C0"/>
              </a:buClr>
              <a:buFont typeface="Wingdings" pitchFamily="2" charset="2"/>
              <a:buChar char="l"/>
            </a:pPr>
            <a:r>
              <a:rPr lang="zh-CN" altLang="en-US" sz="1200" b="1" dirty="0">
                <a:latin typeface="微软雅黑" pitchFamily="34" charset="-122"/>
                <a:ea typeface="微软雅黑" pitchFamily="34" charset="-122"/>
              </a:rPr>
              <a:t>南向接口与协议插件层主要通过插件的方式来支持多种协议，包括</a:t>
            </a:r>
            <a:r>
              <a:rPr lang="en-US" altLang="zh-CN" sz="1200" b="1" dirty="0">
                <a:latin typeface="微软雅黑" pitchFamily="34" charset="-122"/>
                <a:ea typeface="微软雅黑" pitchFamily="34" charset="-122"/>
              </a:rPr>
              <a:t>OpenFlow</a:t>
            </a:r>
            <a:r>
              <a:rPr lang="zh-CN" altLang="en-US" sz="1200" b="1" dirty="0">
                <a:latin typeface="微软雅黑" pitchFamily="34" charset="-122"/>
                <a:ea typeface="微软雅黑" pitchFamily="34" charset="-122"/>
              </a:rPr>
              <a:t>、</a:t>
            </a:r>
            <a:r>
              <a:rPr lang="en-US" altLang="zh-CN" sz="1200" b="1" dirty="0" smtClean="0">
                <a:latin typeface="微软雅黑" pitchFamily="34" charset="-122"/>
                <a:ea typeface="微软雅黑" pitchFamily="34" charset="-122"/>
              </a:rPr>
              <a:t>OVSDB</a:t>
            </a:r>
            <a:r>
              <a:rPr lang="zh-CN" altLang="en-US" sz="1200" b="1" dirty="0" smtClean="0">
                <a:latin typeface="微软雅黑" pitchFamily="34" charset="-122"/>
                <a:ea typeface="微软雅黑" pitchFamily="34" charset="-122"/>
              </a:rPr>
              <a:t>、</a:t>
            </a:r>
            <a:r>
              <a:rPr lang="en-US" altLang="zh-CN" sz="1200" b="1" dirty="0">
                <a:latin typeface="微软雅黑" pitchFamily="34" charset="-122"/>
                <a:ea typeface="微软雅黑" pitchFamily="34" charset="-122"/>
              </a:rPr>
              <a:t>NETCONF</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SNMP</a:t>
            </a:r>
            <a:r>
              <a:rPr lang="zh-CN" altLang="en-US" sz="1200" b="1" dirty="0">
                <a:latin typeface="微软雅黑" pitchFamily="34" charset="-122"/>
                <a:ea typeface="微软雅黑" pitchFamily="34" charset="-122"/>
              </a:rPr>
              <a:t>等，用于与数据平面的网络设备进行交互。</a:t>
            </a:r>
            <a:endParaRPr lang="en-US" altLang="zh-CN" sz="1200" b="1" dirty="0" smtClean="0">
              <a:latin typeface="微软雅黑" pitchFamily="34" charset="-122"/>
              <a:ea typeface="微软雅黑" pitchFamily="34" charset="-122"/>
            </a:endParaRPr>
          </a:p>
        </p:txBody>
      </p:sp>
      <p:sp>
        <p:nvSpPr>
          <p:cNvPr id="95" name="Rounded Rectangle 102"/>
          <p:cNvSpPr/>
          <p:nvPr/>
        </p:nvSpPr>
        <p:spPr>
          <a:xfrm>
            <a:off x="695206" y="2130768"/>
            <a:ext cx="4450876" cy="1798411"/>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96" name="Rounded Rectangle 13"/>
          <p:cNvSpPr/>
          <p:nvPr/>
        </p:nvSpPr>
        <p:spPr>
          <a:xfrm>
            <a:off x="1240290" y="2160908"/>
            <a:ext cx="3834820" cy="1333659"/>
          </a:xfrm>
          <a:prstGeom prst="roundRect">
            <a:avLst/>
          </a:prstGeom>
          <a:solidFill>
            <a:schemeClr val="accent3">
              <a:lumMod val="40000"/>
              <a:lumOff val="60000"/>
            </a:schemeClr>
          </a:solidFill>
          <a:ln w="12700">
            <a:solidFill>
              <a:schemeClr val="accent5">
                <a:lumMod val="75000"/>
              </a:schemeClr>
            </a:solidFill>
            <a:prstDash val="solid"/>
          </a:ln>
          <a:effectLst>
            <a:outerShdw blurRad="50800" dist="38100" dir="2700000" algn="tl" rotWithShape="0">
              <a:srgbClr val="CCFFCC">
                <a:alpha val="43000"/>
              </a:srgbClr>
            </a:outerShdw>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cs typeface="Arial"/>
            </a:endParaRPr>
          </a:p>
        </p:txBody>
      </p:sp>
      <p:sp>
        <p:nvSpPr>
          <p:cNvPr id="100" name="TextBox 217"/>
          <p:cNvSpPr txBox="1"/>
          <p:nvPr/>
        </p:nvSpPr>
        <p:spPr>
          <a:xfrm>
            <a:off x="1240289" y="2161082"/>
            <a:ext cx="3784645" cy="271869"/>
          </a:xfrm>
          <a:prstGeom prst="rect">
            <a:avLst/>
          </a:prstGeom>
          <a:noFill/>
        </p:spPr>
        <p:txBody>
          <a:bodyPr wrap="square" rtlCol="0">
            <a:spAutoFit/>
          </a:bodyPr>
          <a:lstStyle/>
          <a:p>
            <a:pPr algn="ctr">
              <a:lnSpc>
                <a:spcPts val="1400"/>
              </a:lnSpc>
            </a:pPr>
            <a:r>
              <a:rPr lang="zh-CN" altLang="en-US" sz="800" b="1" dirty="0">
                <a:solidFill>
                  <a:srgbClr val="C00000"/>
                </a:solidFill>
                <a:cs typeface="Arial"/>
              </a:rPr>
              <a:t>网络</a:t>
            </a:r>
            <a:r>
              <a:rPr lang="zh-CN" altLang="en-US" sz="800" b="1" dirty="0" smtClean="0">
                <a:solidFill>
                  <a:srgbClr val="C00000"/>
                </a:solidFill>
                <a:cs typeface="Arial"/>
              </a:rPr>
              <a:t>功能及网络服务组件</a:t>
            </a:r>
            <a:endParaRPr lang="en-US" sz="800" b="1" dirty="0">
              <a:solidFill>
                <a:srgbClr val="C00000"/>
              </a:solidFill>
              <a:cs typeface="Arial"/>
            </a:endParaRPr>
          </a:p>
        </p:txBody>
      </p:sp>
      <p:sp>
        <p:nvSpPr>
          <p:cNvPr id="102" name="Rounded Rectangle 98"/>
          <p:cNvSpPr/>
          <p:nvPr/>
        </p:nvSpPr>
        <p:spPr>
          <a:xfrm>
            <a:off x="695207" y="1688703"/>
            <a:ext cx="4450875" cy="387164"/>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06" name="Rounded Rectangle 99"/>
          <p:cNvSpPr/>
          <p:nvPr/>
        </p:nvSpPr>
        <p:spPr>
          <a:xfrm>
            <a:off x="695206" y="3988534"/>
            <a:ext cx="4450876" cy="471480"/>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32" name="Rounded Rectangle 19"/>
          <p:cNvSpPr/>
          <p:nvPr/>
        </p:nvSpPr>
        <p:spPr>
          <a:xfrm>
            <a:off x="1252679" y="3548121"/>
            <a:ext cx="3802152" cy="304151"/>
          </a:xfrm>
          <a:prstGeom prst="roundRect">
            <a:avLst/>
          </a:prstGeom>
          <a:solidFill>
            <a:schemeClr val="accent3">
              <a:lumMod val="40000"/>
              <a:lumOff val="60000"/>
            </a:schemeClr>
          </a:solidFill>
          <a:ln w="12700">
            <a:solidFill>
              <a:schemeClr val="accent5">
                <a:lumMod val="75000"/>
              </a:schemeClr>
            </a:solidFill>
            <a:prstDash val="solid"/>
          </a:ln>
          <a:effectLst>
            <a:outerShdw blurRad="50800" dist="38100" dir="2700000" algn="tl" rotWithShape="0">
              <a:srgbClr val="CCFFCC">
                <a:alpha val="43000"/>
              </a:srgb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dirty="0" smtClean="0"/>
              <a:t>服务抽象层</a:t>
            </a:r>
            <a:r>
              <a:rPr lang="en-US" altLang="zh-CN" sz="800" b="1" dirty="0" smtClean="0"/>
              <a:t>(SAL, Service </a:t>
            </a:r>
            <a:r>
              <a:rPr lang="en-US" altLang="zh-CN" sz="800" b="1" dirty="0"/>
              <a:t>Abstraction </a:t>
            </a:r>
            <a:r>
              <a:rPr lang="en-US" altLang="zh-CN" sz="800" b="1" dirty="0" smtClean="0"/>
              <a:t>Layer)</a:t>
            </a:r>
            <a:endParaRPr lang="en-US" altLang="zh-CN" sz="800" b="1" dirty="0"/>
          </a:p>
        </p:txBody>
      </p:sp>
      <p:cxnSp>
        <p:nvCxnSpPr>
          <p:cNvPr id="141" name="Straight Connector 103"/>
          <p:cNvCxnSpPr/>
          <p:nvPr/>
        </p:nvCxnSpPr>
        <p:spPr bwMode="auto">
          <a:xfrm>
            <a:off x="592425" y="4501859"/>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2" name="Straight Connector 212"/>
          <p:cNvCxnSpPr/>
          <p:nvPr/>
        </p:nvCxnSpPr>
        <p:spPr bwMode="auto">
          <a:xfrm>
            <a:off x="638167" y="1638468"/>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63" name="TextBox 132">
            <a:extLst>
              <a:ext uri="{FF2B5EF4-FFF2-40B4-BE49-F238E27FC236}">
                <a16:creationId xmlns:a16="http://schemas.microsoft.com/office/drawing/2014/main" id="{C6312439-3E2F-644C-8FD1-E8F71A7DB152}"/>
              </a:ext>
            </a:extLst>
          </p:cNvPr>
          <p:cNvSpPr txBox="1"/>
          <p:nvPr/>
        </p:nvSpPr>
        <p:spPr>
          <a:xfrm>
            <a:off x="866586" y="1153397"/>
            <a:ext cx="895163"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网络应用编排与服务层</a:t>
            </a:r>
            <a:endParaRPr lang="en-US" sz="1000" b="1" dirty="0">
              <a:solidFill>
                <a:srgbClr val="000000"/>
              </a:solidFill>
              <a:cs typeface="Arial"/>
            </a:endParaRPr>
          </a:p>
        </p:txBody>
      </p:sp>
      <p:sp>
        <p:nvSpPr>
          <p:cNvPr id="64" name="TextBox 132">
            <a:extLst>
              <a:ext uri="{FF2B5EF4-FFF2-40B4-BE49-F238E27FC236}">
                <a16:creationId xmlns:a16="http://schemas.microsoft.com/office/drawing/2014/main" id="{C6312439-3E2F-644C-8FD1-E8F71A7DB152}"/>
              </a:ext>
            </a:extLst>
          </p:cNvPr>
          <p:cNvSpPr txBox="1"/>
          <p:nvPr/>
        </p:nvSpPr>
        <p:spPr>
          <a:xfrm>
            <a:off x="921735" y="1785482"/>
            <a:ext cx="91976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北向接口层</a:t>
            </a:r>
            <a:endParaRPr lang="en-US" sz="1000" b="1" dirty="0">
              <a:solidFill>
                <a:srgbClr val="000000"/>
              </a:solidFill>
              <a:cs typeface="Arial"/>
            </a:endParaRPr>
          </a:p>
        </p:txBody>
      </p:sp>
      <p:sp>
        <p:nvSpPr>
          <p:cNvPr id="65" name="TextBox 132">
            <a:extLst>
              <a:ext uri="{FF2B5EF4-FFF2-40B4-BE49-F238E27FC236}">
                <a16:creationId xmlns:a16="http://schemas.microsoft.com/office/drawing/2014/main" id="{C6312439-3E2F-644C-8FD1-E8F71A7DB152}"/>
              </a:ext>
            </a:extLst>
          </p:cNvPr>
          <p:cNvSpPr txBox="1"/>
          <p:nvPr/>
        </p:nvSpPr>
        <p:spPr>
          <a:xfrm>
            <a:off x="641665" y="2941183"/>
            <a:ext cx="669787"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控制</a:t>
            </a:r>
            <a:endParaRPr lang="en-US" altLang="zh-CN" sz="1000" b="1" dirty="0" smtClean="0">
              <a:solidFill>
                <a:srgbClr val="000000"/>
              </a:solidFill>
              <a:cs typeface="Arial"/>
            </a:endParaRPr>
          </a:p>
          <a:p>
            <a:pPr algn="ctr" eaLnBrk="0" fontAlgn="base" hangingPunct="0">
              <a:lnSpc>
                <a:spcPct val="90000"/>
              </a:lnSpc>
              <a:spcBef>
                <a:spcPct val="0"/>
              </a:spcBef>
              <a:spcAft>
                <a:spcPct val="0"/>
              </a:spcAft>
            </a:pPr>
            <a:r>
              <a:rPr lang="zh-CN" altLang="en-US" sz="1000" b="1">
                <a:solidFill>
                  <a:srgbClr val="000000"/>
                </a:solidFill>
                <a:cs typeface="Arial"/>
              </a:rPr>
              <a:t>平台</a:t>
            </a:r>
            <a:r>
              <a:rPr lang="zh-CN" altLang="en-US" sz="1000" b="1" smtClean="0">
                <a:solidFill>
                  <a:srgbClr val="000000"/>
                </a:solidFill>
                <a:cs typeface="Arial"/>
              </a:rPr>
              <a:t>层</a:t>
            </a:r>
            <a:endParaRPr lang="en-US" sz="1000" b="1" dirty="0">
              <a:solidFill>
                <a:srgbClr val="000000"/>
              </a:solidFill>
              <a:cs typeface="Arial"/>
            </a:endParaRPr>
          </a:p>
        </p:txBody>
      </p:sp>
      <p:sp>
        <p:nvSpPr>
          <p:cNvPr id="66" name="TextBox 132">
            <a:extLst>
              <a:ext uri="{FF2B5EF4-FFF2-40B4-BE49-F238E27FC236}">
                <a16:creationId xmlns:a16="http://schemas.microsoft.com/office/drawing/2014/main" id="{C6312439-3E2F-644C-8FD1-E8F71A7DB152}"/>
              </a:ext>
            </a:extLst>
          </p:cNvPr>
          <p:cNvSpPr txBox="1"/>
          <p:nvPr/>
        </p:nvSpPr>
        <p:spPr>
          <a:xfrm>
            <a:off x="866586" y="4030544"/>
            <a:ext cx="825538"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南向接口与协议插件层</a:t>
            </a:r>
            <a:endParaRPr lang="en-US" sz="1000" b="1" dirty="0">
              <a:solidFill>
                <a:srgbClr val="000000"/>
              </a:solidFill>
              <a:cs typeface="Arial"/>
            </a:endParaRPr>
          </a:p>
        </p:txBody>
      </p:sp>
      <p:sp>
        <p:nvSpPr>
          <p:cNvPr id="67" name="Oval 212">
            <a:extLst>
              <a:ext uri="{FF2B5EF4-FFF2-40B4-BE49-F238E27FC236}">
                <a16:creationId xmlns:a16="http://schemas.microsoft.com/office/drawing/2014/main" id="{63396159-2590-154F-A47D-AE772D5BD572}"/>
              </a:ext>
            </a:extLst>
          </p:cNvPr>
          <p:cNvSpPr/>
          <p:nvPr/>
        </p:nvSpPr>
        <p:spPr>
          <a:xfrm>
            <a:off x="1832514" y="1166857"/>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流量</a:t>
            </a:r>
            <a:endParaRPr lang="en-US" altLang="zh-CN" sz="900" b="1" dirty="0" smtClean="0">
              <a:solidFill>
                <a:schemeClr val="tx1"/>
              </a:solidFill>
            </a:endParaRPr>
          </a:p>
          <a:p>
            <a:pPr algn="ctr"/>
            <a:r>
              <a:rPr lang="zh-CN" altLang="en-US" sz="900" b="1" dirty="0" smtClean="0">
                <a:solidFill>
                  <a:schemeClr val="tx1"/>
                </a:solidFill>
              </a:rPr>
              <a:t>工程</a:t>
            </a:r>
            <a:endParaRPr lang="en-US" altLang="zh-CN" sz="900" b="1" dirty="0">
              <a:solidFill>
                <a:schemeClr val="tx1"/>
              </a:solidFill>
            </a:endParaRPr>
          </a:p>
        </p:txBody>
      </p:sp>
      <p:sp>
        <p:nvSpPr>
          <p:cNvPr id="69" name="Oval 216">
            <a:extLst>
              <a:ext uri="{FF2B5EF4-FFF2-40B4-BE49-F238E27FC236}">
                <a16:creationId xmlns:a16="http://schemas.microsoft.com/office/drawing/2014/main" id="{21E76008-C977-704E-A46B-8762C970FAD4}"/>
              </a:ext>
            </a:extLst>
          </p:cNvPr>
          <p:cNvSpPr/>
          <p:nvPr/>
        </p:nvSpPr>
        <p:spPr>
          <a:xfrm>
            <a:off x="2658515" y="1169753"/>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防火墙</a:t>
            </a:r>
            <a:endParaRPr lang="en-US" sz="900" b="1" dirty="0">
              <a:solidFill>
                <a:schemeClr val="tx1"/>
              </a:solidFill>
            </a:endParaRPr>
          </a:p>
        </p:txBody>
      </p:sp>
      <p:sp>
        <p:nvSpPr>
          <p:cNvPr id="70" name="Oval 219">
            <a:extLst>
              <a:ext uri="{FF2B5EF4-FFF2-40B4-BE49-F238E27FC236}">
                <a16:creationId xmlns:a16="http://schemas.microsoft.com/office/drawing/2014/main" id="{9C655D12-82F9-2B4F-AD39-3319D0C1C85B}"/>
              </a:ext>
            </a:extLst>
          </p:cNvPr>
          <p:cNvSpPr/>
          <p:nvPr/>
        </p:nvSpPr>
        <p:spPr>
          <a:xfrm>
            <a:off x="3524036" y="1172699"/>
            <a:ext cx="765156" cy="286447"/>
          </a:xfrm>
          <a:prstGeom prst="ellipse">
            <a:avLst/>
          </a:prstGeom>
          <a:solidFill>
            <a:schemeClr val="accent6">
              <a:lumMod val="20000"/>
              <a:lumOff val="80000"/>
            </a:schemeClr>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900" b="1" dirty="0" smtClean="0">
                <a:solidFill>
                  <a:schemeClr val="tx1"/>
                </a:solidFill>
              </a:rPr>
              <a:t>负载</a:t>
            </a:r>
            <a:endParaRPr lang="en-US" altLang="zh-CN" sz="900" b="1" dirty="0" smtClean="0">
              <a:solidFill>
                <a:schemeClr val="tx1"/>
              </a:solidFill>
            </a:endParaRPr>
          </a:p>
          <a:p>
            <a:pPr algn="ctr"/>
            <a:r>
              <a:rPr lang="zh-CN" altLang="en-US" sz="900" b="1" dirty="0" smtClean="0">
                <a:solidFill>
                  <a:schemeClr val="tx1"/>
                </a:solidFill>
              </a:rPr>
              <a:t>均衡</a:t>
            </a:r>
            <a:endParaRPr lang="en-US" sz="900" b="1" dirty="0">
              <a:solidFill>
                <a:schemeClr val="tx1"/>
              </a:solidFill>
            </a:endParaRPr>
          </a:p>
        </p:txBody>
      </p:sp>
      <p:sp>
        <p:nvSpPr>
          <p:cNvPr id="75" name="Rounded Rectangle 187">
            <a:extLst>
              <a:ext uri="{FF2B5EF4-FFF2-40B4-BE49-F238E27FC236}">
                <a16:creationId xmlns:a16="http://schemas.microsoft.com/office/drawing/2014/main" id="{D26CA676-9ED8-CC4E-8413-ADE7E23BE8F2}"/>
              </a:ext>
            </a:extLst>
          </p:cNvPr>
          <p:cNvSpPr/>
          <p:nvPr/>
        </p:nvSpPr>
        <p:spPr>
          <a:xfrm>
            <a:off x="1913733"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OpenFlow</a:t>
            </a:r>
            <a:endParaRPr lang="en-US" sz="800" b="1" kern="0" dirty="0">
              <a:solidFill>
                <a:srgbClr val="000000"/>
              </a:solidFill>
            </a:endParaRPr>
          </a:p>
        </p:txBody>
      </p:sp>
      <p:sp>
        <p:nvSpPr>
          <p:cNvPr id="76" name="Rounded Rectangle 187">
            <a:extLst>
              <a:ext uri="{FF2B5EF4-FFF2-40B4-BE49-F238E27FC236}">
                <a16:creationId xmlns:a16="http://schemas.microsoft.com/office/drawing/2014/main" id="{D26CA676-9ED8-CC4E-8413-ADE7E23BE8F2}"/>
              </a:ext>
            </a:extLst>
          </p:cNvPr>
          <p:cNvSpPr/>
          <p:nvPr/>
        </p:nvSpPr>
        <p:spPr>
          <a:xfrm>
            <a:off x="2646671"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err="1">
                <a:solidFill>
                  <a:srgbClr val="000000"/>
                </a:solidFill>
              </a:rPr>
              <a:t>NetConf</a:t>
            </a:r>
            <a:endParaRPr lang="en-US" sz="800" b="1" kern="0" dirty="0">
              <a:solidFill>
                <a:srgbClr val="000000"/>
              </a:solidFill>
            </a:endParaRPr>
          </a:p>
        </p:txBody>
      </p:sp>
      <p:sp>
        <p:nvSpPr>
          <p:cNvPr id="77" name="Rounded Rectangle 187">
            <a:extLst>
              <a:ext uri="{FF2B5EF4-FFF2-40B4-BE49-F238E27FC236}">
                <a16:creationId xmlns:a16="http://schemas.microsoft.com/office/drawing/2014/main" id="{D26CA676-9ED8-CC4E-8413-ADE7E23BE8F2}"/>
              </a:ext>
            </a:extLst>
          </p:cNvPr>
          <p:cNvSpPr/>
          <p:nvPr/>
        </p:nvSpPr>
        <p:spPr>
          <a:xfrm>
            <a:off x="3373071" y="4088335"/>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OVSDB</a:t>
            </a:r>
            <a:endParaRPr lang="en-US" sz="800" b="1" kern="0" dirty="0">
              <a:solidFill>
                <a:srgbClr val="000000"/>
              </a:solidFill>
            </a:endParaRPr>
          </a:p>
        </p:txBody>
      </p:sp>
      <p:sp>
        <p:nvSpPr>
          <p:cNvPr id="78" name="Rounded Rectangle 187">
            <a:extLst>
              <a:ext uri="{FF2B5EF4-FFF2-40B4-BE49-F238E27FC236}">
                <a16:creationId xmlns:a16="http://schemas.microsoft.com/office/drawing/2014/main" id="{D26CA676-9ED8-CC4E-8413-ADE7E23BE8F2}"/>
              </a:ext>
            </a:extLst>
          </p:cNvPr>
          <p:cNvSpPr/>
          <p:nvPr/>
        </p:nvSpPr>
        <p:spPr>
          <a:xfrm>
            <a:off x="4089700" y="4099789"/>
            <a:ext cx="598237"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SNMP</a:t>
            </a:r>
            <a:endParaRPr lang="en-US" sz="800" b="1" kern="0" dirty="0">
              <a:solidFill>
                <a:srgbClr val="000000"/>
              </a:solidFill>
            </a:endParaRPr>
          </a:p>
        </p:txBody>
      </p:sp>
      <p:sp>
        <p:nvSpPr>
          <p:cNvPr id="79" name="Rounded Rectangle 127">
            <a:extLst>
              <a:ext uri="{FF2B5EF4-FFF2-40B4-BE49-F238E27FC236}">
                <a16:creationId xmlns:a16="http://schemas.microsoft.com/office/drawing/2014/main" id="{11EFF8DB-F7D6-F34F-9A62-91332868BEEF}"/>
              </a:ext>
            </a:extLst>
          </p:cNvPr>
          <p:cNvSpPr/>
          <p:nvPr/>
        </p:nvSpPr>
        <p:spPr>
          <a:xfrm>
            <a:off x="2338169" y="1719923"/>
            <a:ext cx="857377"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REST API</a:t>
            </a:r>
          </a:p>
        </p:txBody>
      </p:sp>
      <p:sp>
        <p:nvSpPr>
          <p:cNvPr id="44" name="Rounded Rectangle 3"/>
          <p:cNvSpPr/>
          <p:nvPr/>
        </p:nvSpPr>
        <p:spPr>
          <a:xfrm>
            <a:off x="2542189" y="2438819"/>
            <a:ext cx="2472086" cy="1032395"/>
          </a:xfrm>
          <a:prstGeom prst="roundRect">
            <a:avLst/>
          </a:prstGeom>
          <a:solidFill>
            <a:schemeClr val="accent4">
              <a:lumMod val="20000"/>
              <a:lumOff val="80000"/>
            </a:schemeClr>
          </a:solidFill>
          <a:ln w="12700">
            <a:solidFill>
              <a:schemeClr val="tx1"/>
            </a:solidFill>
          </a:ln>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endParaRPr>
          </a:p>
        </p:txBody>
      </p:sp>
      <p:sp>
        <p:nvSpPr>
          <p:cNvPr id="98" name="Rounded Rectangle 3"/>
          <p:cNvSpPr/>
          <p:nvPr/>
        </p:nvSpPr>
        <p:spPr>
          <a:xfrm>
            <a:off x="2609340" y="2704605"/>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拓扑管理器</a:t>
            </a:r>
            <a:endParaRPr kumimoji="0" lang="en-US" sz="800" b="1" i="0" u="none" strike="noStrike" cap="none" normalizeH="0" baseline="0" dirty="0" smtClean="0">
              <a:ln>
                <a:noFill/>
              </a:ln>
              <a:solidFill>
                <a:schemeClr val="tx1"/>
              </a:solidFill>
              <a:effectLst/>
            </a:endParaRPr>
          </a:p>
        </p:txBody>
      </p:sp>
      <p:sp>
        <p:nvSpPr>
          <p:cNvPr id="46" name="Rounded Rectangle 3"/>
          <p:cNvSpPr/>
          <p:nvPr/>
        </p:nvSpPr>
        <p:spPr>
          <a:xfrm>
            <a:off x="3414370" y="2708291"/>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交换机管理器</a:t>
            </a:r>
            <a:endParaRPr kumimoji="0" lang="en-US" sz="800" b="1" i="0" u="none" strike="noStrike" cap="none" normalizeH="0" baseline="0" dirty="0" smtClean="0">
              <a:ln>
                <a:noFill/>
              </a:ln>
              <a:solidFill>
                <a:schemeClr val="tx1"/>
              </a:solidFill>
              <a:effectLst/>
            </a:endParaRPr>
          </a:p>
        </p:txBody>
      </p:sp>
      <p:sp>
        <p:nvSpPr>
          <p:cNvPr id="47" name="Rounded Rectangle 3"/>
          <p:cNvSpPr/>
          <p:nvPr/>
        </p:nvSpPr>
        <p:spPr>
          <a:xfrm>
            <a:off x="4232236" y="2711810"/>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转发规则</a:t>
            </a:r>
            <a:endParaRPr kumimoji="0" lang="en-US" altLang="zh-CN" sz="800" b="1" i="0" u="none" strike="noStrike" cap="none" normalizeH="0" baseline="0" dirty="0" smtClean="0">
              <a:ln>
                <a:noFill/>
              </a:ln>
              <a:solidFill>
                <a:schemeClr val="tx1"/>
              </a:solidFill>
              <a:effectLst/>
            </a:endParaRPr>
          </a:p>
          <a:p>
            <a:pPr marL="0" marR="0" indent="0" algn="ctr" defTabSz="914400" rtl="0" eaLnBrk="0" fontAlgn="base" latinLnBrk="0" hangingPunct="0">
              <a:lnSpc>
                <a:spcPct val="100000"/>
              </a:lnSpc>
              <a:spcBef>
                <a:spcPct val="0"/>
              </a:spcBef>
              <a:spcAft>
                <a:spcPct val="0"/>
              </a:spcAft>
              <a:buClrTx/>
              <a:buSzTx/>
              <a:buFontTx/>
              <a:buNone/>
              <a:tabLst/>
            </a:pPr>
            <a:r>
              <a:rPr lang="zh-CN" altLang="en-US" sz="800" b="1" dirty="0"/>
              <a:t>管理器</a:t>
            </a:r>
            <a:endParaRPr kumimoji="0" lang="en-US" sz="800" b="1" i="0" u="none" strike="noStrike" cap="none" normalizeH="0" baseline="0" dirty="0" smtClean="0">
              <a:ln>
                <a:noFill/>
              </a:ln>
              <a:solidFill>
                <a:schemeClr val="tx1"/>
              </a:solidFill>
              <a:effectLst/>
            </a:endParaRPr>
          </a:p>
        </p:txBody>
      </p:sp>
      <p:sp>
        <p:nvSpPr>
          <p:cNvPr id="48" name="Rounded Rectangle 3"/>
          <p:cNvSpPr/>
          <p:nvPr/>
        </p:nvSpPr>
        <p:spPr>
          <a:xfrm>
            <a:off x="2838177" y="3068790"/>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主机管理器</a:t>
            </a:r>
            <a:endParaRPr kumimoji="0" lang="en-US" sz="800" b="1" i="0" u="none" strike="noStrike" cap="none" normalizeH="0" baseline="0" dirty="0" smtClean="0">
              <a:ln>
                <a:noFill/>
              </a:ln>
              <a:solidFill>
                <a:schemeClr val="tx1"/>
              </a:solidFill>
              <a:effectLst/>
            </a:endParaRPr>
          </a:p>
        </p:txBody>
      </p:sp>
      <p:sp>
        <p:nvSpPr>
          <p:cNvPr id="49" name="Rounded Rectangle 3"/>
          <p:cNvSpPr/>
          <p:nvPr/>
        </p:nvSpPr>
        <p:spPr>
          <a:xfrm>
            <a:off x="3947725" y="3079764"/>
            <a:ext cx="740213" cy="297612"/>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统计管理器</a:t>
            </a:r>
            <a:endParaRPr kumimoji="0" lang="en-US" sz="800" b="1" i="0" u="none" strike="noStrike" cap="none" normalizeH="0" baseline="0" dirty="0" smtClean="0">
              <a:ln>
                <a:noFill/>
              </a:ln>
              <a:solidFill>
                <a:schemeClr val="tx1"/>
              </a:solidFill>
              <a:effectLst/>
            </a:endParaRPr>
          </a:p>
        </p:txBody>
      </p:sp>
      <p:sp>
        <p:nvSpPr>
          <p:cNvPr id="50" name="TextBox 217"/>
          <p:cNvSpPr txBox="1"/>
          <p:nvPr/>
        </p:nvSpPr>
        <p:spPr>
          <a:xfrm>
            <a:off x="2664042" y="2472317"/>
            <a:ext cx="2158871" cy="271869"/>
          </a:xfrm>
          <a:prstGeom prst="rect">
            <a:avLst/>
          </a:prstGeom>
          <a:noFill/>
        </p:spPr>
        <p:txBody>
          <a:bodyPr wrap="square" rtlCol="0">
            <a:spAutoFit/>
          </a:bodyPr>
          <a:lstStyle/>
          <a:p>
            <a:pPr algn="ctr">
              <a:lnSpc>
                <a:spcPts val="1400"/>
              </a:lnSpc>
            </a:pPr>
            <a:r>
              <a:rPr lang="zh-CN" altLang="en-US" sz="800" b="1" dirty="0" smtClean="0">
                <a:solidFill>
                  <a:srgbClr val="C00000"/>
                </a:solidFill>
                <a:cs typeface="Arial"/>
              </a:rPr>
              <a:t>基础网络服务</a:t>
            </a:r>
            <a:endParaRPr lang="en-US" sz="800" b="1" dirty="0">
              <a:solidFill>
                <a:srgbClr val="C00000"/>
              </a:solidFill>
              <a:cs typeface="Arial"/>
            </a:endParaRPr>
          </a:p>
        </p:txBody>
      </p:sp>
      <p:sp>
        <p:nvSpPr>
          <p:cNvPr id="51" name="Rounded Rectangle 3"/>
          <p:cNvSpPr/>
          <p:nvPr/>
        </p:nvSpPr>
        <p:spPr>
          <a:xfrm>
            <a:off x="1259288" y="2438819"/>
            <a:ext cx="1209553" cy="1008477"/>
          </a:xfrm>
          <a:prstGeom prst="roundRect">
            <a:avLst/>
          </a:prstGeom>
          <a:solidFill>
            <a:schemeClr val="accent4">
              <a:lumMod val="20000"/>
              <a:lumOff val="80000"/>
            </a:schemeClr>
          </a:solidFill>
          <a:ln w="12700">
            <a:solidFill>
              <a:schemeClr val="tx1"/>
            </a:solidFill>
          </a:ln>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800" b="1" i="0" u="none" strike="noStrike" cap="none" normalizeH="0" baseline="0" smtClean="0">
              <a:ln>
                <a:noFill/>
              </a:ln>
              <a:solidFill>
                <a:schemeClr val="tx1"/>
              </a:solidFill>
              <a:effectLst/>
            </a:endParaRPr>
          </a:p>
        </p:txBody>
      </p:sp>
      <p:sp>
        <p:nvSpPr>
          <p:cNvPr id="52" name="TextBox 217"/>
          <p:cNvSpPr txBox="1"/>
          <p:nvPr/>
        </p:nvSpPr>
        <p:spPr>
          <a:xfrm>
            <a:off x="1229631" y="2469168"/>
            <a:ext cx="1239211" cy="271869"/>
          </a:xfrm>
          <a:prstGeom prst="rect">
            <a:avLst/>
          </a:prstGeom>
          <a:noFill/>
        </p:spPr>
        <p:txBody>
          <a:bodyPr wrap="square" rtlCol="0">
            <a:spAutoFit/>
          </a:bodyPr>
          <a:lstStyle/>
          <a:p>
            <a:pPr algn="ctr">
              <a:lnSpc>
                <a:spcPts val="1400"/>
              </a:lnSpc>
            </a:pPr>
            <a:r>
              <a:rPr lang="zh-CN" altLang="en-US" sz="800" b="1" dirty="0">
                <a:solidFill>
                  <a:srgbClr val="C00000"/>
                </a:solidFill>
                <a:cs typeface="Arial"/>
              </a:rPr>
              <a:t>扩展网络</a:t>
            </a:r>
            <a:r>
              <a:rPr lang="zh-CN" altLang="en-US" sz="800" b="1" dirty="0" smtClean="0">
                <a:solidFill>
                  <a:srgbClr val="C00000"/>
                </a:solidFill>
                <a:cs typeface="Arial"/>
              </a:rPr>
              <a:t>服务与功能</a:t>
            </a:r>
            <a:endParaRPr lang="en-US" sz="800" b="1" dirty="0">
              <a:solidFill>
                <a:srgbClr val="C00000"/>
              </a:solidFill>
              <a:cs typeface="Arial"/>
            </a:endParaRPr>
          </a:p>
        </p:txBody>
      </p:sp>
      <p:sp>
        <p:nvSpPr>
          <p:cNvPr id="53" name="Rounded Rectangle 3"/>
          <p:cNvSpPr/>
          <p:nvPr/>
        </p:nvSpPr>
        <p:spPr>
          <a:xfrm>
            <a:off x="1485083" y="2685613"/>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服务功能链 </a:t>
            </a:r>
            <a:endParaRPr kumimoji="0" lang="en-US" sz="800" b="1" i="0" u="none" strike="noStrike" cap="none" normalizeH="0" baseline="0" dirty="0" smtClean="0">
              <a:ln>
                <a:noFill/>
              </a:ln>
              <a:solidFill>
                <a:schemeClr val="tx1"/>
              </a:solidFill>
              <a:effectLst/>
            </a:endParaRPr>
          </a:p>
        </p:txBody>
      </p:sp>
      <p:sp>
        <p:nvSpPr>
          <p:cNvPr id="54" name="Rounded Rectangle 3"/>
          <p:cNvSpPr/>
          <p:nvPr/>
        </p:nvSpPr>
        <p:spPr>
          <a:xfrm>
            <a:off x="1498643" y="2944191"/>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zh-CN" altLang="en-US" sz="800" b="1" i="0" u="none" strike="noStrike" cap="none" normalizeH="0" baseline="0" dirty="0" smtClean="0">
                <a:ln>
                  <a:noFill/>
                </a:ln>
                <a:solidFill>
                  <a:schemeClr val="tx1"/>
                </a:solidFill>
                <a:effectLst/>
              </a:rPr>
              <a:t>虚拟租户网络</a:t>
            </a:r>
            <a:endParaRPr kumimoji="0" lang="en-US" sz="800" b="1" i="0" u="none" strike="noStrike" cap="none" normalizeH="0" baseline="0" dirty="0" smtClean="0">
              <a:ln>
                <a:noFill/>
              </a:ln>
              <a:solidFill>
                <a:schemeClr val="tx1"/>
              </a:solidFill>
              <a:effectLst/>
            </a:endParaRPr>
          </a:p>
        </p:txBody>
      </p:sp>
      <p:sp>
        <p:nvSpPr>
          <p:cNvPr id="55" name="Rounded Rectangle 3"/>
          <p:cNvSpPr/>
          <p:nvPr/>
        </p:nvSpPr>
        <p:spPr>
          <a:xfrm>
            <a:off x="1498643" y="3205407"/>
            <a:ext cx="740213" cy="224464"/>
          </a:xfrm>
          <a:prstGeom prst="roundRect">
            <a:avLst/>
          </a:prstGeom>
          <a:solidFill>
            <a:srgbClr val="CCFFCC"/>
          </a:solidFill>
          <a:ln w="12700">
            <a:solidFill>
              <a:schemeClr val="tx1"/>
            </a:solidFill>
          </a:ln>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altLang="zh-CN" sz="800" b="1" i="0" u="none" strike="noStrike" cap="none" normalizeH="0" baseline="0" dirty="0" smtClean="0">
                <a:ln>
                  <a:noFill/>
                </a:ln>
                <a:solidFill>
                  <a:schemeClr val="tx1"/>
                </a:solidFill>
                <a:effectLst/>
              </a:rPr>
              <a:t>OVSDB</a:t>
            </a:r>
            <a:r>
              <a:rPr kumimoji="0" lang="zh-CN" altLang="en-US" sz="800" b="1" i="0" u="none" strike="noStrike" cap="none" normalizeH="0" baseline="0" dirty="0" smtClean="0">
                <a:ln>
                  <a:noFill/>
                </a:ln>
                <a:solidFill>
                  <a:schemeClr val="tx1"/>
                </a:solidFill>
                <a:effectLst/>
              </a:rPr>
              <a:t>服务</a:t>
            </a:r>
            <a:endParaRPr kumimoji="0" lang="en-US" sz="800" b="1" i="0" u="none" strike="noStrike" cap="none" normalizeH="0" baseline="0" dirty="0" smtClean="0">
              <a:ln>
                <a:noFill/>
              </a:ln>
              <a:solidFill>
                <a:schemeClr val="tx1"/>
              </a:solidFill>
              <a:effectLst/>
            </a:endParaRPr>
          </a:p>
        </p:txBody>
      </p:sp>
      <p:sp>
        <p:nvSpPr>
          <p:cNvPr id="38" name="TextBox 132">
            <a:extLst>
              <a:ext uri="{FF2B5EF4-FFF2-40B4-BE49-F238E27FC236}">
                <a16:creationId xmlns:a16="http://schemas.microsoft.com/office/drawing/2014/main" id="{C6312439-3E2F-644C-8FD1-E8F71A7DB152}"/>
              </a:ext>
            </a:extLst>
          </p:cNvPr>
          <p:cNvSpPr txBox="1"/>
          <p:nvPr/>
        </p:nvSpPr>
        <p:spPr>
          <a:xfrm>
            <a:off x="4348681" y="1213444"/>
            <a:ext cx="58917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sz="1000" b="1" dirty="0" smtClean="0">
                <a:solidFill>
                  <a:srgbClr val="000000"/>
                </a:solidFill>
                <a:cs typeface="Arial"/>
              </a:rPr>
              <a:t>...</a:t>
            </a:r>
            <a:endParaRPr lang="en-US" sz="1000" b="1" dirty="0">
              <a:solidFill>
                <a:srgbClr val="000000"/>
              </a:solidFill>
              <a:cs typeface="Arial"/>
            </a:endParaRPr>
          </a:p>
        </p:txBody>
      </p:sp>
    </p:spTree>
    <p:extLst>
      <p:ext uri="{BB962C8B-B14F-4D97-AF65-F5344CB8AC3E}">
        <p14:creationId xmlns:p14="http://schemas.microsoft.com/office/powerpoint/2010/main" val="12206961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45144" y="617509"/>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a:p>
        </p:txBody>
      </p:sp>
      <p:sp>
        <p:nvSpPr>
          <p:cNvPr id="16" name="Rectangle 6"/>
          <p:cNvSpPr>
            <a:spLocks noChangeArrowheads="1"/>
          </p:cNvSpPr>
          <p:nvPr/>
        </p:nvSpPr>
        <p:spPr bwMode="auto">
          <a:xfrm>
            <a:off x="3753957" y="576646"/>
            <a:ext cx="163609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ea typeface="微软雅黑" pitchFamily="34" charset="-122"/>
              </a:rPr>
              <a:t>RYU</a:t>
            </a:r>
            <a:r>
              <a:rPr lang="zh-CN" altLang="en-US" sz="2400" b="1" dirty="0" smtClean="0">
                <a:solidFill>
                  <a:schemeClr val="bg1"/>
                </a:solidFill>
                <a:ea typeface="微软雅黑" pitchFamily="34" charset="-122"/>
              </a:rPr>
              <a:t>控制器</a:t>
            </a:r>
            <a:endParaRPr lang="zh-CN" altLang="en-US" sz="2400" b="1" dirty="0">
              <a:solidFill>
                <a:schemeClr val="bg1"/>
              </a:solidFill>
              <a:ea typeface="微软雅黑" pitchFamily="34" charset="-122"/>
            </a:endParaRPr>
          </a:p>
        </p:txBody>
      </p:sp>
      <p:sp>
        <p:nvSpPr>
          <p:cNvPr id="6" name="Rectangle 8"/>
          <p:cNvSpPr>
            <a:spLocks noChangeArrowheads="1"/>
          </p:cNvSpPr>
          <p:nvPr/>
        </p:nvSpPr>
        <p:spPr bwMode="auto">
          <a:xfrm>
            <a:off x="5047651" y="1212024"/>
            <a:ext cx="374951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400"/>
              </a:lnSpc>
              <a:buClr>
                <a:srgbClr val="0070C0"/>
              </a:buClr>
              <a:buFont typeface="Wingdings" pitchFamily="2" charset="2"/>
              <a:buChar char="l"/>
            </a:pPr>
            <a:r>
              <a:rPr lang="en-US" altLang="zh-CN" sz="1400" b="1" dirty="0">
                <a:latin typeface="微软雅黑" pitchFamily="34" charset="-122"/>
                <a:ea typeface="微软雅黑" pitchFamily="34" charset="-122"/>
              </a:rPr>
              <a:t>RYU</a:t>
            </a:r>
            <a:r>
              <a:rPr lang="zh-CN" altLang="en-US" sz="1400" b="1" dirty="0">
                <a:latin typeface="微软雅黑" pitchFamily="34" charset="-122"/>
                <a:ea typeface="微软雅黑" pitchFamily="34" charset="-122"/>
              </a:rPr>
              <a:t>控制器同样采用了分层</a:t>
            </a:r>
            <a:r>
              <a:rPr lang="zh-CN" altLang="en-US" sz="1400" b="1" dirty="0" smtClean="0">
                <a:latin typeface="微软雅黑" pitchFamily="34" charset="-122"/>
                <a:ea typeface="微软雅黑" pitchFamily="34" charset="-122"/>
              </a:rPr>
              <a:t>架构。</a:t>
            </a:r>
            <a:endParaRPr lang="en-US" altLang="zh-CN" sz="1400" b="1" dirty="0" smtClean="0">
              <a:latin typeface="微软雅黑" pitchFamily="34" charset="-122"/>
              <a:ea typeface="微软雅黑" pitchFamily="34" charset="-122"/>
            </a:endParaRPr>
          </a:p>
          <a:p>
            <a:pPr marL="742950" lvl="1" indent="-285750">
              <a:lnSpc>
                <a:spcPts val="2100"/>
              </a:lnSpc>
              <a:buClr>
                <a:srgbClr val="0070C0"/>
              </a:buClr>
              <a:buFont typeface="Wingdings" pitchFamily="2" charset="2"/>
              <a:buChar char="l"/>
            </a:pPr>
            <a:r>
              <a:rPr lang="zh-CN" altLang="en-US" sz="1200" b="1" dirty="0">
                <a:solidFill>
                  <a:srgbClr val="C00000"/>
                </a:solidFill>
                <a:latin typeface="微软雅黑" pitchFamily="34" charset="-122"/>
                <a:ea typeface="微软雅黑" pitchFamily="34" charset="-122"/>
              </a:rPr>
              <a:t>北向接口</a:t>
            </a:r>
            <a:r>
              <a:rPr lang="zh-CN" altLang="en-US" sz="1200" b="1" dirty="0" smtClean="0">
                <a:solidFill>
                  <a:srgbClr val="C00000"/>
                </a:solidFill>
                <a:latin typeface="微软雅黑" pitchFamily="34" charset="-122"/>
                <a:ea typeface="微软雅黑" pitchFamily="34" charset="-122"/>
              </a:rPr>
              <a:t>层</a:t>
            </a:r>
            <a:r>
              <a:rPr lang="zh-CN" altLang="en-US" sz="1200" b="1" dirty="0" smtClean="0">
                <a:latin typeface="微软雅黑" pitchFamily="34" charset="-122"/>
                <a:ea typeface="微软雅黑" pitchFamily="34" charset="-122"/>
              </a:rPr>
              <a:t>：提供</a:t>
            </a:r>
            <a:r>
              <a:rPr lang="en-US" altLang="zh-CN" sz="1200" b="1" dirty="0" smtClean="0">
                <a:latin typeface="微软雅黑" pitchFamily="34" charset="-122"/>
                <a:ea typeface="微软雅黑" pitchFamily="34" charset="-122"/>
              </a:rPr>
              <a:t>REST API</a:t>
            </a:r>
            <a:r>
              <a:rPr lang="zh-CN" altLang="en-US" sz="1200" b="1" dirty="0" smtClean="0">
                <a:latin typeface="微软雅黑" pitchFamily="34" charset="-122"/>
                <a:ea typeface="微软雅黑" pitchFamily="34" charset="-122"/>
              </a:rPr>
              <a:t>和用户自定义</a:t>
            </a:r>
            <a:r>
              <a:rPr lang="en-US" altLang="zh-CN" sz="1200" b="1" dirty="0" smtClean="0">
                <a:latin typeface="微软雅黑" pitchFamily="34" charset="-122"/>
                <a:ea typeface="微软雅黑" pitchFamily="34" charset="-122"/>
              </a:rPr>
              <a:t>API</a:t>
            </a:r>
            <a:r>
              <a:rPr lang="zh-CN" altLang="en-US" sz="1200" b="1" dirty="0">
                <a:latin typeface="微软雅黑" pitchFamily="34" charset="-122"/>
                <a:ea typeface="微软雅黑" pitchFamily="34" charset="-122"/>
              </a:rPr>
              <a:t>，</a:t>
            </a:r>
            <a:r>
              <a:rPr lang="zh-CN" altLang="en-US" sz="1200" b="1" dirty="0" smtClean="0">
                <a:latin typeface="微软雅黑" pitchFamily="34" charset="-122"/>
                <a:ea typeface="微软雅黑" pitchFamily="34" charset="-122"/>
              </a:rPr>
              <a:t>支持网络配置</a:t>
            </a:r>
            <a:r>
              <a:rPr lang="zh-CN" altLang="en-US" sz="1200" b="1" dirty="0">
                <a:latin typeface="微软雅黑" pitchFamily="34" charset="-122"/>
                <a:ea typeface="微软雅黑" pitchFamily="34" charset="-122"/>
              </a:rPr>
              <a:t>和策略管理</a:t>
            </a:r>
            <a:r>
              <a:rPr lang="zh-CN" altLang="en-US" sz="1200" b="1" dirty="0" smtClean="0">
                <a:latin typeface="微软雅黑" pitchFamily="34" charset="-122"/>
                <a:ea typeface="微软雅黑" pitchFamily="34" charset="-122"/>
              </a:rPr>
              <a:t>，以及上层</a:t>
            </a:r>
            <a:r>
              <a:rPr lang="zh-CN" altLang="en-US" sz="1200" b="1" dirty="0">
                <a:latin typeface="微软雅黑" pitchFamily="34" charset="-122"/>
                <a:ea typeface="微软雅黑" pitchFamily="34" charset="-122"/>
              </a:rPr>
              <a:t>网络应用与</a:t>
            </a:r>
            <a:r>
              <a:rPr lang="en-US" altLang="zh-CN" sz="1200" b="1" dirty="0">
                <a:latin typeface="微软雅黑" pitchFamily="34" charset="-122"/>
                <a:ea typeface="微软雅黑" pitchFamily="34" charset="-122"/>
              </a:rPr>
              <a:t>RYU</a:t>
            </a:r>
            <a:r>
              <a:rPr lang="zh-CN" altLang="en-US" sz="1200" b="1" dirty="0">
                <a:latin typeface="微软雅黑" pitchFamily="34" charset="-122"/>
                <a:ea typeface="微软雅黑" pitchFamily="34" charset="-122"/>
              </a:rPr>
              <a:t>控制器交互。</a:t>
            </a:r>
            <a:endParaRPr lang="en-US" altLang="zh-CN" sz="1200" b="1" dirty="0">
              <a:latin typeface="微软雅黑" pitchFamily="34" charset="-122"/>
              <a:ea typeface="微软雅黑" pitchFamily="34" charset="-122"/>
            </a:endParaRPr>
          </a:p>
          <a:p>
            <a:pPr marL="742950" lvl="1" indent="-285750">
              <a:lnSpc>
                <a:spcPts val="2100"/>
              </a:lnSpc>
              <a:buClr>
                <a:srgbClr val="0070C0"/>
              </a:buClr>
              <a:buFont typeface="Wingdings" pitchFamily="2" charset="2"/>
              <a:buChar char="l"/>
            </a:pPr>
            <a:r>
              <a:rPr lang="en-US" altLang="zh-CN" sz="1200" b="1" dirty="0">
                <a:solidFill>
                  <a:srgbClr val="C00000"/>
                </a:solidFill>
                <a:latin typeface="微软雅黑" pitchFamily="34" charset="-122"/>
                <a:ea typeface="微软雅黑" pitchFamily="34" charset="-122"/>
              </a:rPr>
              <a:t>RYU SDN</a:t>
            </a:r>
            <a:r>
              <a:rPr lang="zh-CN" altLang="en-US" sz="1200" b="1" dirty="0">
                <a:solidFill>
                  <a:srgbClr val="C00000"/>
                </a:solidFill>
                <a:latin typeface="微软雅黑" pitchFamily="34" charset="-122"/>
                <a:ea typeface="微软雅黑" pitchFamily="34" charset="-122"/>
              </a:rPr>
              <a:t>框架</a:t>
            </a:r>
            <a:r>
              <a:rPr lang="zh-CN" altLang="en-US" sz="1200" b="1" dirty="0" smtClean="0">
                <a:solidFill>
                  <a:srgbClr val="C00000"/>
                </a:solidFill>
                <a:latin typeface="微软雅黑" pitchFamily="34" charset="-122"/>
                <a:ea typeface="微软雅黑" pitchFamily="34" charset="-122"/>
              </a:rPr>
              <a:t>层</a:t>
            </a:r>
            <a:r>
              <a:rPr lang="zh-CN" altLang="en-US" sz="1200" b="1" dirty="0" smtClean="0">
                <a:latin typeface="微软雅黑" pitchFamily="34" charset="-122"/>
                <a:ea typeface="微软雅黑" pitchFamily="34" charset="-122"/>
              </a:rPr>
              <a:t>：实现</a:t>
            </a:r>
            <a:r>
              <a:rPr lang="zh-CN" altLang="en-US" sz="1200" b="1" dirty="0">
                <a:latin typeface="微软雅黑" pitchFamily="34" charset="-122"/>
                <a:ea typeface="微软雅黑" pitchFamily="34" charset="-122"/>
              </a:rPr>
              <a:t>网络控制功能，包括内置应用和功能</a:t>
            </a:r>
            <a:r>
              <a:rPr lang="zh-CN" altLang="en-US" sz="1200" b="1" dirty="0" smtClean="0">
                <a:latin typeface="微软雅黑" pitchFamily="34" charset="-122"/>
                <a:ea typeface="微软雅黑" pitchFamily="34" charset="-122"/>
              </a:rPr>
              <a:t>库等关键模块。</a:t>
            </a:r>
            <a:endParaRPr lang="en-US" altLang="zh-CN" sz="1200" b="1" dirty="0" smtClean="0">
              <a:latin typeface="微软雅黑" pitchFamily="34" charset="-122"/>
              <a:ea typeface="微软雅黑" pitchFamily="34" charset="-122"/>
            </a:endParaRPr>
          </a:p>
          <a:p>
            <a:pPr marL="742950" lvl="1" indent="-285750">
              <a:lnSpc>
                <a:spcPts val="2100"/>
              </a:lnSpc>
              <a:buClr>
                <a:srgbClr val="0070C0"/>
              </a:buClr>
              <a:buFont typeface="Wingdings" pitchFamily="2" charset="2"/>
              <a:buChar char="l"/>
            </a:pPr>
            <a:r>
              <a:rPr lang="zh-CN" altLang="en-US" sz="1200" b="1" dirty="0" smtClean="0">
                <a:solidFill>
                  <a:srgbClr val="C00000"/>
                </a:solidFill>
                <a:latin typeface="微软雅黑" pitchFamily="34" charset="-122"/>
                <a:ea typeface="微软雅黑" pitchFamily="34" charset="-122"/>
              </a:rPr>
              <a:t>南向</a:t>
            </a:r>
            <a:r>
              <a:rPr lang="zh-CN" altLang="en-US" sz="1200" b="1" dirty="0">
                <a:solidFill>
                  <a:srgbClr val="C00000"/>
                </a:solidFill>
                <a:latin typeface="微软雅黑" pitchFamily="34" charset="-122"/>
                <a:ea typeface="微软雅黑" pitchFamily="34" charset="-122"/>
              </a:rPr>
              <a:t>接口</a:t>
            </a:r>
            <a:r>
              <a:rPr lang="zh-CN" altLang="en-US" sz="1200" b="1" dirty="0" smtClean="0">
                <a:solidFill>
                  <a:srgbClr val="C00000"/>
                </a:solidFill>
                <a:latin typeface="微软雅黑" pitchFamily="34" charset="-122"/>
                <a:ea typeface="微软雅黑" pitchFamily="34" charset="-122"/>
              </a:rPr>
              <a:t>层</a:t>
            </a:r>
            <a:r>
              <a:rPr lang="zh-CN" altLang="en-US" sz="1200" b="1" dirty="0" smtClean="0">
                <a:latin typeface="微软雅黑" pitchFamily="34" charset="-122"/>
                <a:ea typeface="微软雅黑" pitchFamily="34" charset="-122"/>
              </a:rPr>
              <a:t>：负责</a:t>
            </a:r>
            <a:r>
              <a:rPr lang="en-US" altLang="zh-CN" sz="1200" b="1" dirty="0">
                <a:latin typeface="微软雅黑" pitchFamily="34" charset="-122"/>
                <a:ea typeface="微软雅黑" pitchFamily="34" charset="-122"/>
              </a:rPr>
              <a:t>RYU</a:t>
            </a:r>
            <a:r>
              <a:rPr lang="zh-CN" altLang="en-US" sz="1200" b="1" dirty="0">
                <a:latin typeface="微软雅黑" pitchFamily="34" charset="-122"/>
                <a:ea typeface="微软雅黑" pitchFamily="34" charset="-122"/>
              </a:rPr>
              <a:t>控制器</a:t>
            </a:r>
            <a:r>
              <a:rPr lang="zh-CN" altLang="en-US" sz="1200" b="1" dirty="0" smtClean="0">
                <a:latin typeface="微软雅黑" pitchFamily="34" charset="-122"/>
                <a:ea typeface="微软雅黑" pitchFamily="34" charset="-122"/>
              </a:rPr>
              <a:t>与数据平面设备的通信，支持</a:t>
            </a:r>
            <a:r>
              <a:rPr lang="en-US" altLang="zh-CN" sz="1200" b="1" dirty="0" smtClean="0">
                <a:latin typeface="微软雅黑" pitchFamily="34" charset="-122"/>
                <a:ea typeface="微软雅黑" pitchFamily="34" charset="-122"/>
              </a:rPr>
              <a:t>OpenFlow</a:t>
            </a:r>
            <a:r>
              <a:rPr lang="zh-CN" altLang="en-US" sz="1200" b="1" dirty="0" smtClean="0">
                <a:latin typeface="微软雅黑" pitchFamily="34" charset="-122"/>
                <a:ea typeface="微软雅黑" pitchFamily="34" charset="-122"/>
              </a:rPr>
              <a:t>协议和传统网络协议。</a:t>
            </a:r>
            <a:endParaRPr lang="en-US" altLang="zh-CN" sz="1200" b="1" dirty="0">
              <a:latin typeface="微软雅黑" pitchFamily="34" charset="-122"/>
              <a:ea typeface="微软雅黑" pitchFamily="34" charset="-122"/>
            </a:endParaRPr>
          </a:p>
        </p:txBody>
      </p:sp>
      <p:sp>
        <p:nvSpPr>
          <p:cNvPr id="7" name="Rounded Rectangle 102"/>
          <p:cNvSpPr/>
          <p:nvPr/>
        </p:nvSpPr>
        <p:spPr>
          <a:xfrm>
            <a:off x="695206" y="2341283"/>
            <a:ext cx="4278114" cy="1587895"/>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1" name="Rounded Rectangle 99"/>
          <p:cNvSpPr/>
          <p:nvPr/>
        </p:nvSpPr>
        <p:spPr>
          <a:xfrm>
            <a:off x="695206" y="1831660"/>
            <a:ext cx="4278114" cy="471480"/>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800" b="1" kern="0">
              <a:solidFill>
                <a:srgbClr val="000000"/>
              </a:solidFill>
            </a:endParaRPr>
          </a:p>
        </p:txBody>
      </p:sp>
      <p:sp>
        <p:nvSpPr>
          <p:cNvPr id="12" name="Rounded Rectangle 19"/>
          <p:cNvSpPr/>
          <p:nvPr/>
        </p:nvSpPr>
        <p:spPr>
          <a:xfrm>
            <a:off x="1252679" y="2957954"/>
            <a:ext cx="3569931" cy="340597"/>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a:solidFill>
                  <a:srgbClr val="000000"/>
                </a:solidFill>
              </a:rPr>
              <a:t>功能库：</a:t>
            </a:r>
            <a:r>
              <a:rPr lang="en-US" altLang="zh-CN" sz="800" b="1" kern="0" dirty="0">
                <a:solidFill>
                  <a:srgbClr val="000000"/>
                </a:solidFill>
              </a:rPr>
              <a:t>OF REST</a:t>
            </a:r>
            <a:r>
              <a:rPr lang="zh-CN" altLang="en-US" sz="800" b="1" kern="0" dirty="0">
                <a:solidFill>
                  <a:srgbClr val="000000"/>
                </a:solidFill>
              </a:rPr>
              <a:t>，拓扑发现，防火墙，</a:t>
            </a:r>
            <a:r>
              <a:rPr lang="en-US" altLang="zh-CN" sz="800" b="1" kern="0" dirty="0">
                <a:solidFill>
                  <a:srgbClr val="000000"/>
                </a:solidFill>
              </a:rPr>
              <a:t>……</a:t>
            </a:r>
          </a:p>
        </p:txBody>
      </p:sp>
      <p:cxnSp>
        <p:nvCxnSpPr>
          <p:cNvPr id="13" name="Straight Connector 103"/>
          <p:cNvCxnSpPr/>
          <p:nvPr/>
        </p:nvCxnSpPr>
        <p:spPr bwMode="auto">
          <a:xfrm>
            <a:off x="592425" y="4182235"/>
            <a:ext cx="4608000" cy="0"/>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4" name="Straight Connector 212"/>
          <p:cNvCxnSpPr/>
          <p:nvPr/>
        </p:nvCxnSpPr>
        <p:spPr bwMode="auto">
          <a:xfrm>
            <a:off x="704563" y="1771257"/>
            <a:ext cx="4283847" cy="17885"/>
          </a:xfrm>
          <a:prstGeom prst="line">
            <a:avLst/>
          </a:prstGeom>
          <a:solidFill>
            <a:schemeClr val="accent1"/>
          </a:solidFill>
          <a:ln w="19050" cap="flat" cmpd="sng" algn="ctr">
            <a:solidFill>
              <a:schemeClr val="tx1"/>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7" name="TextBox 132">
            <a:extLst>
              <a:ext uri="{FF2B5EF4-FFF2-40B4-BE49-F238E27FC236}">
                <a16:creationId xmlns:a16="http://schemas.microsoft.com/office/drawing/2014/main" id="{C6312439-3E2F-644C-8FD1-E8F71A7DB152}"/>
              </a:ext>
            </a:extLst>
          </p:cNvPr>
          <p:cNvSpPr txBox="1"/>
          <p:nvPr/>
        </p:nvSpPr>
        <p:spPr>
          <a:xfrm>
            <a:off x="868806" y="1392075"/>
            <a:ext cx="895163"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网络</a:t>
            </a:r>
            <a:r>
              <a:rPr lang="zh-CN" altLang="en-US" sz="1000" b="1" dirty="0" smtClean="0">
                <a:solidFill>
                  <a:srgbClr val="000000"/>
                </a:solidFill>
                <a:cs typeface="Arial"/>
              </a:rPr>
              <a:t>应用</a:t>
            </a:r>
            <a:endParaRPr lang="en-US" sz="1000" b="1" dirty="0">
              <a:solidFill>
                <a:srgbClr val="000000"/>
              </a:solidFill>
              <a:cs typeface="Arial"/>
            </a:endParaRPr>
          </a:p>
        </p:txBody>
      </p:sp>
      <p:sp>
        <p:nvSpPr>
          <p:cNvPr id="18" name="TextBox 132">
            <a:extLst>
              <a:ext uri="{FF2B5EF4-FFF2-40B4-BE49-F238E27FC236}">
                <a16:creationId xmlns:a16="http://schemas.microsoft.com/office/drawing/2014/main" id="{C6312439-3E2F-644C-8FD1-E8F71A7DB152}"/>
              </a:ext>
            </a:extLst>
          </p:cNvPr>
          <p:cNvSpPr txBox="1"/>
          <p:nvPr/>
        </p:nvSpPr>
        <p:spPr>
          <a:xfrm>
            <a:off x="921735" y="1969577"/>
            <a:ext cx="919761"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smtClean="0">
                <a:solidFill>
                  <a:srgbClr val="000000"/>
                </a:solidFill>
                <a:cs typeface="Arial"/>
              </a:rPr>
              <a:t>北向接口层</a:t>
            </a:r>
            <a:endParaRPr lang="en-US" sz="1000" b="1" dirty="0">
              <a:solidFill>
                <a:srgbClr val="000000"/>
              </a:solidFill>
              <a:cs typeface="Arial"/>
            </a:endParaRPr>
          </a:p>
        </p:txBody>
      </p:sp>
      <p:sp>
        <p:nvSpPr>
          <p:cNvPr id="19" name="TextBox 132">
            <a:extLst>
              <a:ext uri="{FF2B5EF4-FFF2-40B4-BE49-F238E27FC236}">
                <a16:creationId xmlns:a16="http://schemas.microsoft.com/office/drawing/2014/main" id="{C6312439-3E2F-644C-8FD1-E8F71A7DB152}"/>
              </a:ext>
            </a:extLst>
          </p:cNvPr>
          <p:cNvSpPr txBox="1"/>
          <p:nvPr/>
        </p:nvSpPr>
        <p:spPr>
          <a:xfrm>
            <a:off x="641665" y="2941183"/>
            <a:ext cx="669787" cy="3693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altLang="zh-CN" sz="1000" b="1" dirty="0">
                <a:solidFill>
                  <a:srgbClr val="000000"/>
                </a:solidFill>
                <a:cs typeface="Arial"/>
              </a:rPr>
              <a:t>RYU SDN</a:t>
            </a:r>
            <a:r>
              <a:rPr lang="zh-CN" altLang="en-US" sz="1000" b="1" dirty="0">
                <a:solidFill>
                  <a:srgbClr val="000000"/>
                </a:solidFill>
                <a:cs typeface="Arial"/>
              </a:rPr>
              <a:t>框架层</a:t>
            </a:r>
            <a:endParaRPr lang="en-US" sz="1000" b="1" dirty="0">
              <a:solidFill>
                <a:srgbClr val="000000"/>
              </a:solidFill>
              <a:cs typeface="Arial"/>
            </a:endParaRPr>
          </a:p>
        </p:txBody>
      </p:sp>
      <p:sp>
        <p:nvSpPr>
          <p:cNvPr id="20" name="TextBox 132">
            <a:extLst>
              <a:ext uri="{FF2B5EF4-FFF2-40B4-BE49-F238E27FC236}">
                <a16:creationId xmlns:a16="http://schemas.microsoft.com/office/drawing/2014/main" id="{C6312439-3E2F-644C-8FD1-E8F71A7DB152}"/>
              </a:ext>
            </a:extLst>
          </p:cNvPr>
          <p:cNvSpPr txBox="1"/>
          <p:nvPr/>
        </p:nvSpPr>
        <p:spPr>
          <a:xfrm>
            <a:off x="638167" y="3920387"/>
            <a:ext cx="825538" cy="2308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zh-CN" altLang="en-US" sz="1000" b="1" dirty="0">
                <a:solidFill>
                  <a:srgbClr val="000000"/>
                </a:solidFill>
                <a:cs typeface="Arial"/>
              </a:rPr>
              <a:t>南向</a:t>
            </a:r>
            <a:r>
              <a:rPr lang="zh-CN" altLang="en-US" sz="1000" b="1" dirty="0" smtClean="0">
                <a:solidFill>
                  <a:srgbClr val="000000"/>
                </a:solidFill>
                <a:cs typeface="Arial"/>
              </a:rPr>
              <a:t>接口层</a:t>
            </a:r>
            <a:endParaRPr lang="en-US" sz="1000" b="1" dirty="0">
              <a:solidFill>
                <a:srgbClr val="000000"/>
              </a:solidFill>
              <a:cs typeface="Arial"/>
            </a:endParaRPr>
          </a:p>
        </p:txBody>
      </p:sp>
      <p:sp>
        <p:nvSpPr>
          <p:cNvPr id="25" name="Rounded Rectangle 187">
            <a:extLst>
              <a:ext uri="{FF2B5EF4-FFF2-40B4-BE49-F238E27FC236}">
                <a16:creationId xmlns:a16="http://schemas.microsoft.com/office/drawing/2014/main" id="{D26CA676-9ED8-CC4E-8413-ADE7E23BE8F2}"/>
              </a:ext>
            </a:extLst>
          </p:cNvPr>
          <p:cNvSpPr/>
          <p:nvPr/>
        </p:nvSpPr>
        <p:spPr>
          <a:xfrm>
            <a:off x="1445434" y="4271467"/>
            <a:ext cx="978848"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smtClean="0">
                <a:solidFill>
                  <a:srgbClr val="000000"/>
                </a:solidFill>
              </a:rPr>
              <a:t>OpenFlow</a:t>
            </a:r>
            <a:r>
              <a:rPr lang="zh-CN" altLang="en-US" sz="800" b="1" kern="0" dirty="0" smtClean="0">
                <a:solidFill>
                  <a:srgbClr val="000000"/>
                </a:solidFill>
              </a:rPr>
              <a:t>交换机</a:t>
            </a:r>
            <a:endParaRPr lang="en-US" sz="800" b="1" kern="0" dirty="0">
              <a:solidFill>
                <a:srgbClr val="000000"/>
              </a:solidFill>
            </a:endParaRPr>
          </a:p>
        </p:txBody>
      </p:sp>
      <p:sp>
        <p:nvSpPr>
          <p:cNvPr id="28" name="Rounded Rectangle 187">
            <a:extLst>
              <a:ext uri="{FF2B5EF4-FFF2-40B4-BE49-F238E27FC236}">
                <a16:creationId xmlns:a16="http://schemas.microsoft.com/office/drawing/2014/main" id="{D26CA676-9ED8-CC4E-8413-ADE7E23BE8F2}"/>
              </a:ext>
            </a:extLst>
          </p:cNvPr>
          <p:cNvSpPr/>
          <p:nvPr/>
        </p:nvSpPr>
        <p:spPr>
          <a:xfrm>
            <a:off x="3676415" y="4296173"/>
            <a:ext cx="895990" cy="296993"/>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smtClean="0">
                <a:solidFill>
                  <a:srgbClr val="000000"/>
                </a:solidFill>
              </a:rPr>
              <a:t>传统网络设备</a:t>
            </a:r>
            <a:endParaRPr lang="en-US" sz="800" b="1" kern="0" dirty="0">
              <a:solidFill>
                <a:srgbClr val="000000"/>
              </a:solidFill>
            </a:endParaRPr>
          </a:p>
        </p:txBody>
      </p:sp>
      <p:sp>
        <p:nvSpPr>
          <p:cNvPr id="29" name="Rounded Rectangle 127">
            <a:extLst>
              <a:ext uri="{FF2B5EF4-FFF2-40B4-BE49-F238E27FC236}">
                <a16:creationId xmlns:a16="http://schemas.microsoft.com/office/drawing/2014/main" id="{11EFF8DB-F7D6-F34F-9A62-91332868BEEF}"/>
              </a:ext>
            </a:extLst>
          </p:cNvPr>
          <p:cNvSpPr/>
          <p:nvPr/>
        </p:nvSpPr>
        <p:spPr>
          <a:xfrm>
            <a:off x="1928101" y="1923672"/>
            <a:ext cx="857377"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REST API</a:t>
            </a:r>
          </a:p>
        </p:txBody>
      </p:sp>
      <p:sp>
        <p:nvSpPr>
          <p:cNvPr id="42" name="Rounded Rectangle 19"/>
          <p:cNvSpPr/>
          <p:nvPr/>
        </p:nvSpPr>
        <p:spPr>
          <a:xfrm>
            <a:off x="1252679" y="2529762"/>
            <a:ext cx="3569931" cy="331621"/>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a:solidFill>
                  <a:srgbClr val="000000"/>
                </a:solidFill>
              </a:rPr>
              <a:t>内置应用：租户隔离，</a:t>
            </a:r>
            <a:r>
              <a:rPr lang="en-US" altLang="zh-CN" sz="800" b="1" kern="0" dirty="0">
                <a:solidFill>
                  <a:srgbClr val="000000"/>
                </a:solidFill>
              </a:rPr>
              <a:t>L2</a:t>
            </a:r>
            <a:r>
              <a:rPr lang="zh-CN" altLang="en-US" sz="800" b="1" kern="0" dirty="0">
                <a:solidFill>
                  <a:srgbClr val="000000"/>
                </a:solidFill>
              </a:rPr>
              <a:t>交换机，</a:t>
            </a:r>
            <a:r>
              <a:rPr lang="en-US" altLang="zh-CN" sz="800" b="1" kern="0" dirty="0">
                <a:solidFill>
                  <a:srgbClr val="000000"/>
                </a:solidFill>
              </a:rPr>
              <a:t>……</a:t>
            </a:r>
          </a:p>
        </p:txBody>
      </p:sp>
      <p:sp>
        <p:nvSpPr>
          <p:cNvPr id="45" name="Rounded Rectangle 19"/>
          <p:cNvSpPr/>
          <p:nvPr/>
        </p:nvSpPr>
        <p:spPr>
          <a:xfrm>
            <a:off x="1247732" y="3433081"/>
            <a:ext cx="1398939" cy="418518"/>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800" b="1" kern="0" dirty="0">
                <a:solidFill>
                  <a:srgbClr val="000000"/>
                </a:solidFill>
              </a:rPr>
              <a:t>OpenFlow</a:t>
            </a:r>
            <a:r>
              <a:rPr lang="zh-CN" altLang="en-US" sz="800" b="1" kern="0" dirty="0">
                <a:solidFill>
                  <a:srgbClr val="000000"/>
                </a:solidFill>
              </a:rPr>
              <a:t>协议</a:t>
            </a:r>
          </a:p>
          <a:p>
            <a:pPr algn="ctr" eaLnBrk="0" fontAlgn="base" hangingPunct="0">
              <a:spcBef>
                <a:spcPct val="0"/>
              </a:spcBef>
              <a:spcAft>
                <a:spcPct val="0"/>
              </a:spcAft>
            </a:pPr>
            <a:r>
              <a:rPr lang="zh-CN" altLang="en-US" sz="800" b="1" kern="0" dirty="0">
                <a:solidFill>
                  <a:srgbClr val="000000"/>
                </a:solidFill>
              </a:rPr>
              <a:t>解析与序列化</a:t>
            </a:r>
            <a:endParaRPr lang="en-US" altLang="zh-CN" sz="800" b="1" kern="0" dirty="0">
              <a:solidFill>
                <a:srgbClr val="000000"/>
              </a:solidFill>
            </a:endParaRPr>
          </a:p>
        </p:txBody>
      </p:sp>
      <p:sp>
        <p:nvSpPr>
          <p:cNvPr id="46" name="Rounded Rectangle 19"/>
          <p:cNvSpPr/>
          <p:nvPr/>
        </p:nvSpPr>
        <p:spPr>
          <a:xfrm>
            <a:off x="3423671" y="3428579"/>
            <a:ext cx="1398939" cy="418518"/>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a:solidFill>
                  <a:srgbClr val="000000"/>
                </a:solidFill>
              </a:rPr>
              <a:t>非</a:t>
            </a:r>
            <a:r>
              <a:rPr lang="en-US" altLang="zh-CN" sz="800" b="1" kern="0" dirty="0">
                <a:solidFill>
                  <a:srgbClr val="000000"/>
                </a:solidFill>
              </a:rPr>
              <a:t>OpenFlow</a:t>
            </a:r>
            <a:r>
              <a:rPr lang="zh-CN" altLang="en-US" sz="800" b="1" kern="0" dirty="0">
                <a:solidFill>
                  <a:srgbClr val="000000"/>
                </a:solidFill>
              </a:rPr>
              <a:t>协议</a:t>
            </a:r>
          </a:p>
          <a:p>
            <a:pPr algn="ctr" eaLnBrk="0" fontAlgn="base" hangingPunct="0">
              <a:spcBef>
                <a:spcPct val="0"/>
              </a:spcBef>
              <a:spcAft>
                <a:spcPct val="0"/>
              </a:spcAft>
            </a:pPr>
            <a:r>
              <a:rPr lang="zh-CN" altLang="en-US" sz="800" b="1" kern="0" dirty="0">
                <a:solidFill>
                  <a:srgbClr val="000000"/>
                </a:solidFill>
              </a:rPr>
              <a:t>解析与序列化</a:t>
            </a:r>
            <a:endParaRPr lang="en-US" altLang="zh-CN" sz="800" b="1" kern="0" dirty="0">
              <a:solidFill>
                <a:srgbClr val="000000"/>
              </a:solidFill>
            </a:endParaRPr>
          </a:p>
        </p:txBody>
      </p:sp>
      <p:cxnSp>
        <p:nvCxnSpPr>
          <p:cNvPr id="4" name="直接箭头连接符 3"/>
          <p:cNvCxnSpPr>
            <a:stCxn id="45" idx="2"/>
            <a:endCxn id="25" idx="0"/>
          </p:cNvCxnSpPr>
          <p:nvPr/>
        </p:nvCxnSpPr>
        <p:spPr>
          <a:xfrm flipH="1">
            <a:off x="1934858" y="3851599"/>
            <a:ext cx="0" cy="41986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a:stCxn id="46" idx="2"/>
            <a:endCxn id="28" idx="0"/>
          </p:cNvCxnSpPr>
          <p:nvPr/>
        </p:nvCxnSpPr>
        <p:spPr>
          <a:xfrm>
            <a:off x="4123141" y="3847097"/>
            <a:ext cx="1269" cy="4490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Rounded Rectangle 127">
            <a:extLst>
              <a:ext uri="{FF2B5EF4-FFF2-40B4-BE49-F238E27FC236}">
                <a16:creationId xmlns:a16="http://schemas.microsoft.com/office/drawing/2014/main" id="{11EFF8DB-F7D6-F34F-9A62-91332868BEEF}"/>
              </a:ext>
            </a:extLst>
          </p:cNvPr>
          <p:cNvSpPr/>
          <p:nvPr/>
        </p:nvSpPr>
        <p:spPr>
          <a:xfrm>
            <a:off x="1836081" y="1327049"/>
            <a:ext cx="667780"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smtClean="0">
                <a:solidFill>
                  <a:srgbClr val="000000"/>
                </a:solidFill>
              </a:rPr>
              <a:t>网络管理</a:t>
            </a:r>
            <a:endParaRPr lang="en-US" altLang="zh-CN" sz="800" b="1" kern="0" dirty="0">
              <a:solidFill>
                <a:srgbClr val="000000"/>
              </a:solidFill>
            </a:endParaRPr>
          </a:p>
        </p:txBody>
      </p:sp>
      <p:sp>
        <p:nvSpPr>
          <p:cNvPr id="50" name="Rounded Rectangle 127">
            <a:extLst>
              <a:ext uri="{FF2B5EF4-FFF2-40B4-BE49-F238E27FC236}">
                <a16:creationId xmlns:a16="http://schemas.microsoft.com/office/drawing/2014/main" id="{11EFF8DB-F7D6-F34F-9A62-91332868BEEF}"/>
              </a:ext>
            </a:extLst>
          </p:cNvPr>
          <p:cNvSpPr/>
          <p:nvPr/>
        </p:nvSpPr>
        <p:spPr>
          <a:xfrm>
            <a:off x="2700048" y="1327049"/>
            <a:ext cx="667780"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smtClean="0">
                <a:solidFill>
                  <a:srgbClr val="000000"/>
                </a:solidFill>
              </a:rPr>
              <a:t>云平台编排</a:t>
            </a:r>
            <a:endParaRPr lang="en-US" altLang="zh-CN" sz="800" b="1" kern="0" dirty="0">
              <a:solidFill>
                <a:srgbClr val="000000"/>
              </a:solidFill>
            </a:endParaRPr>
          </a:p>
        </p:txBody>
      </p:sp>
      <p:sp>
        <p:nvSpPr>
          <p:cNvPr id="51" name="Rounded Rectangle 127">
            <a:extLst>
              <a:ext uri="{FF2B5EF4-FFF2-40B4-BE49-F238E27FC236}">
                <a16:creationId xmlns:a16="http://schemas.microsoft.com/office/drawing/2014/main" id="{11EFF8DB-F7D6-F34F-9A62-91332868BEEF}"/>
              </a:ext>
            </a:extLst>
          </p:cNvPr>
          <p:cNvSpPr/>
          <p:nvPr/>
        </p:nvSpPr>
        <p:spPr>
          <a:xfrm>
            <a:off x="3246292" y="1946854"/>
            <a:ext cx="857377"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kern="0" dirty="0" smtClean="0">
                <a:solidFill>
                  <a:srgbClr val="000000"/>
                </a:solidFill>
              </a:rPr>
              <a:t>用户自定义</a:t>
            </a:r>
            <a:r>
              <a:rPr lang="en-US" altLang="zh-CN" sz="800" b="1" kern="0" dirty="0" smtClean="0">
                <a:solidFill>
                  <a:srgbClr val="000000"/>
                </a:solidFill>
              </a:rPr>
              <a:t>API</a:t>
            </a:r>
            <a:endParaRPr lang="en-US" altLang="zh-CN" sz="800" b="1" kern="0" dirty="0">
              <a:solidFill>
                <a:srgbClr val="000000"/>
              </a:solidFill>
            </a:endParaRPr>
          </a:p>
        </p:txBody>
      </p:sp>
      <p:sp>
        <p:nvSpPr>
          <p:cNvPr id="52" name="Rounded Rectangle 127">
            <a:extLst>
              <a:ext uri="{FF2B5EF4-FFF2-40B4-BE49-F238E27FC236}">
                <a16:creationId xmlns:a16="http://schemas.microsoft.com/office/drawing/2014/main" id="{11EFF8DB-F7D6-F34F-9A62-91332868BEEF}"/>
              </a:ext>
            </a:extLst>
          </p:cNvPr>
          <p:cNvSpPr/>
          <p:nvPr/>
        </p:nvSpPr>
        <p:spPr>
          <a:xfrm>
            <a:off x="3829585" y="1327049"/>
            <a:ext cx="667780" cy="295352"/>
          </a:xfrm>
          <a:prstGeom prst="roundRect">
            <a:avLst/>
          </a:prstGeom>
          <a:solidFill>
            <a:schemeClr val="accent6">
              <a:lumMod val="20000"/>
              <a:lumOff val="80000"/>
            </a:schemeClr>
          </a:solidFill>
          <a:ln w="12700">
            <a:solidFill>
              <a:schemeClr val="accent6"/>
            </a:solidFill>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800" b="1" dirty="0" smtClean="0"/>
              <a:t>用户应用</a:t>
            </a:r>
            <a:endParaRPr lang="zh-CN" altLang="en-US" sz="800" b="1" dirty="0"/>
          </a:p>
        </p:txBody>
      </p:sp>
      <p:sp>
        <p:nvSpPr>
          <p:cNvPr id="48" name="矩形 47"/>
          <p:cNvSpPr/>
          <p:nvPr/>
        </p:nvSpPr>
        <p:spPr>
          <a:xfrm>
            <a:off x="1856643" y="3943302"/>
            <a:ext cx="729687" cy="21698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altLang="zh-CN" sz="900" b="1" dirty="0">
                <a:solidFill>
                  <a:srgbClr val="000000"/>
                </a:solidFill>
                <a:cs typeface="Arial"/>
              </a:rPr>
              <a:t>OpenFlow</a:t>
            </a:r>
            <a:endParaRPr lang="zh-CN" altLang="en-US" sz="900" b="1" dirty="0">
              <a:solidFill>
                <a:srgbClr val="000000"/>
              </a:solidFill>
              <a:cs typeface="Arial"/>
            </a:endParaRPr>
          </a:p>
        </p:txBody>
      </p:sp>
      <p:sp>
        <p:nvSpPr>
          <p:cNvPr id="54" name="矩形 53"/>
          <p:cNvSpPr/>
          <p:nvPr/>
        </p:nvSpPr>
        <p:spPr>
          <a:xfrm>
            <a:off x="4039143" y="3873550"/>
            <a:ext cx="1064714" cy="341632"/>
          </a:xfrm>
          <a:prstGeom prst="rect">
            <a:avLst/>
          </a:prstGeom>
          <a:noFill/>
        </p:spPr>
        <p:txBody>
          <a:bodyPr wrap="square" rtlCol="0">
            <a:spAutoFit/>
          </a:bodyPr>
          <a:lstStyle/>
          <a:p>
            <a:pPr algn="ctr" eaLnBrk="0" fontAlgn="base" hangingPunct="0">
              <a:lnSpc>
                <a:spcPct val="90000"/>
              </a:lnSpc>
              <a:spcBef>
                <a:spcPct val="0"/>
              </a:spcBef>
              <a:spcAft>
                <a:spcPct val="0"/>
              </a:spcAft>
            </a:pPr>
            <a:r>
              <a:rPr lang="en-US" altLang="zh-CN" sz="900" b="1" dirty="0">
                <a:solidFill>
                  <a:srgbClr val="000000"/>
                </a:solidFill>
                <a:cs typeface="Arial"/>
              </a:rPr>
              <a:t>SNMP/</a:t>
            </a:r>
            <a:r>
              <a:rPr lang="en-US" altLang="zh-CN" sz="900" b="1" dirty="0" err="1">
                <a:solidFill>
                  <a:srgbClr val="000000"/>
                </a:solidFill>
                <a:cs typeface="Arial"/>
              </a:rPr>
              <a:t>NetFlow</a:t>
            </a:r>
            <a:r>
              <a:rPr lang="en-US" altLang="zh-CN" sz="900" b="1" dirty="0">
                <a:solidFill>
                  <a:srgbClr val="000000"/>
                </a:solidFill>
                <a:cs typeface="Arial"/>
              </a:rPr>
              <a:t>/</a:t>
            </a:r>
          </a:p>
          <a:p>
            <a:pPr algn="ctr" eaLnBrk="0" fontAlgn="base" hangingPunct="0">
              <a:lnSpc>
                <a:spcPct val="90000"/>
              </a:lnSpc>
              <a:spcBef>
                <a:spcPct val="0"/>
              </a:spcBef>
              <a:spcAft>
                <a:spcPct val="0"/>
              </a:spcAft>
            </a:pPr>
            <a:r>
              <a:rPr lang="en-US" altLang="zh-CN" sz="900" b="1" dirty="0" err="1">
                <a:solidFill>
                  <a:srgbClr val="000000"/>
                </a:solidFill>
                <a:cs typeface="Arial"/>
              </a:rPr>
              <a:t>NetConf</a:t>
            </a:r>
            <a:r>
              <a:rPr lang="en-US" altLang="zh-CN" sz="900" b="1" dirty="0">
                <a:solidFill>
                  <a:srgbClr val="000000"/>
                </a:solidFill>
                <a:cs typeface="Arial"/>
              </a:rPr>
              <a:t>/</a:t>
            </a:r>
            <a:r>
              <a:rPr lang="en-US" altLang="zh-CN" sz="900" b="1" dirty="0" err="1">
                <a:solidFill>
                  <a:srgbClr val="000000"/>
                </a:solidFill>
                <a:cs typeface="Arial"/>
              </a:rPr>
              <a:t>vrrp</a:t>
            </a:r>
            <a:endParaRPr lang="zh-CN" altLang="en-US" sz="900" b="1" dirty="0">
              <a:solidFill>
                <a:srgbClr val="000000"/>
              </a:solidFill>
              <a:cs typeface="Arial"/>
            </a:endParaRPr>
          </a:p>
        </p:txBody>
      </p:sp>
      <p:cxnSp>
        <p:nvCxnSpPr>
          <p:cNvPr id="60" name="直接箭头连接符 59"/>
          <p:cNvCxnSpPr>
            <a:stCxn id="49" idx="2"/>
            <a:endCxn id="29" idx="0"/>
          </p:cNvCxnSpPr>
          <p:nvPr/>
        </p:nvCxnSpPr>
        <p:spPr>
          <a:xfrm>
            <a:off x="2169971" y="1622401"/>
            <a:ext cx="186819" cy="30127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stCxn id="50" idx="2"/>
            <a:endCxn id="29" idx="0"/>
          </p:cNvCxnSpPr>
          <p:nvPr/>
        </p:nvCxnSpPr>
        <p:spPr>
          <a:xfrm flipH="1">
            <a:off x="2356790" y="1622401"/>
            <a:ext cx="677148" cy="30127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52" idx="2"/>
            <a:endCxn id="51" idx="0"/>
          </p:cNvCxnSpPr>
          <p:nvPr/>
        </p:nvCxnSpPr>
        <p:spPr>
          <a:xfrm flipH="1">
            <a:off x="3674981" y="1622401"/>
            <a:ext cx="488494" cy="32445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1" name="TextBox 328">
            <a:extLst>
              <a:ext uri="{FF2B5EF4-FFF2-40B4-BE49-F238E27FC236}">
                <a16:creationId xmlns:a16="http://schemas.microsoft.com/office/drawing/2014/main" id="{38B852BE-9C6C-474A-AD5F-393039D0D661}"/>
              </a:ext>
            </a:extLst>
          </p:cNvPr>
          <p:cNvSpPr txBox="1"/>
          <p:nvPr/>
        </p:nvSpPr>
        <p:spPr>
          <a:xfrm>
            <a:off x="3480856" y="1294576"/>
            <a:ext cx="388248" cy="307777"/>
          </a:xfrm>
          <a:prstGeom prst="rect">
            <a:avLst/>
          </a:prstGeom>
          <a:noFill/>
        </p:spPr>
        <p:txBody>
          <a:bodyPr wrap="none" rtlCol="0">
            <a:spAutoFit/>
          </a:bodyPr>
          <a:lstStyle/>
          <a:p>
            <a:pPr eaLnBrk="0" fontAlgn="base" hangingPunct="0">
              <a:spcBef>
                <a:spcPct val="0"/>
              </a:spcBef>
              <a:spcAft>
                <a:spcPct val="0"/>
              </a:spcAft>
            </a:pPr>
            <a:r>
              <a:rPr lang="en-US" sz="1400" dirty="0"/>
              <a:t>…</a:t>
            </a:r>
            <a:r>
              <a:rPr lang="en-US" sz="1400" dirty="0">
                <a:solidFill>
                  <a:srgbClr val="00CC99">
                    <a:lumMod val="60000"/>
                    <a:lumOff val="40000"/>
                  </a:srgbClr>
                </a:solidFill>
              </a:rPr>
              <a:t>  </a:t>
            </a:r>
          </a:p>
        </p:txBody>
      </p:sp>
    </p:spTree>
    <p:extLst>
      <p:ext uri="{BB962C8B-B14F-4D97-AF65-F5344CB8AC3E}">
        <p14:creationId xmlns:p14="http://schemas.microsoft.com/office/powerpoint/2010/main" val="35500894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6" name="Rectangle 6"/>
          <p:cNvSpPr>
            <a:spLocks noChangeArrowheads="1"/>
          </p:cNvSpPr>
          <p:nvPr/>
        </p:nvSpPr>
        <p:spPr bwMode="auto">
          <a:xfrm>
            <a:off x="1941968" y="580933"/>
            <a:ext cx="5260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a:solidFill>
                  <a:schemeClr val="bg1"/>
                </a:solidFill>
                <a:latin typeface="微软雅黑" pitchFamily="34" charset="-122"/>
                <a:ea typeface="微软雅黑" pitchFamily="34" charset="-122"/>
              </a:rPr>
              <a:t>SDN</a:t>
            </a:r>
            <a:r>
              <a:rPr lang="zh-CN" altLang="en-US" sz="2000" b="1" dirty="0">
                <a:solidFill>
                  <a:schemeClr val="bg1"/>
                </a:solidFill>
                <a:latin typeface="微软雅黑" pitchFamily="34" charset="-122"/>
                <a:ea typeface="微软雅黑" pitchFamily="34" charset="-122"/>
              </a:rPr>
              <a:t>控制平面与数据平面的交互</a:t>
            </a:r>
          </a:p>
        </p:txBody>
      </p:sp>
      <p:sp>
        <p:nvSpPr>
          <p:cNvPr id="148" name="TextBox 34"/>
          <p:cNvSpPr txBox="1"/>
          <p:nvPr/>
        </p:nvSpPr>
        <p:spPr>
          <a:xfrm>
            <a:off x="576599" y="3527798"/>
            <a:ext cx="720872" cy="246221"/>
          </a:xfrm>
          <a:prstGeom prst="rect">
            <a:avLst/>
          </a:prstGeom>
          <a:solidFill>
            <a:schemeClr val="bg1"/>
          </a:solidFill>
        </p:spPr>
        <p:txBody>
          <a:bodyPr wrap="square" rtlCol="0">
            <a:spAutoFit/>
          </a:bodyPr>
          <a:lstStyle/>
          <a:p>
            <a:pPr algn="ctr"/>
            <a:r>
              <a:rPr lang="zh-CN" altLang="en-US" sz="1000" dirty="0" smtClean="0">
                <a:cs typeface="Times New Roman" pitchFamily="18" charset="0"/>
              </a:rPr>
              <a:t>通信层</a:t>
            </a:r>
            <a:endParaRPr lang="zh-CN" altLang="en-US" sz="1000" dirty="0">
              <a:cs typeface="Times New Roman" pitchFamily="18" charset="0"/>
            </a:endParaRPr>
          </a:p>
        </p:txBody>
      </p:sp>
      <p:cxnSp>
        <p:nvCxnSpPr>
          <p:cNvPr id="152" name="Straight Connector 288">
            <a:extLst>
              <a:ext uri="{FF2B5EF4-FFF2-40B4-BE49-F238E27FC236}">
                <a16:creationId xmlns:a16="http://schemas.microsoft.com/office/drawing/2014/main" id="{1BA3E4C1-2167-2941-8758-AC27C65BF336}"/>
              </a:ext>
            </a:extLst>
          </p:cNvPr>
          <p:cNvCxnSpPr/>
          <p:nvPr/>
        </p:nvCxnSpPr>
        <p:spPr bwMode="auto">
          <a:xfrm>
            <a:off x="651081" y="3860944"/>
            <a:ext cx="4530222" cy="2153"/>
          </a:xfrm>
          <a:prstGeom prst="line">
            <a:avLst/>
          </a:prstGeom>
          <a:solidFill>
            <a:srgbClr val="00CC99"/>
          </a:solidFill>
          <a:ln w="19050" cap="flat" cmpd="sng" algn="ctr">
            <a:solidFill>
              <a:srgbClr val="00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50" name="Rounded Rectangle 286">
            <a:extLst>
              <a:ext uri="{FF2B5EF4-FFF2-40B4-BE49-F238E27FC236}">
                <a16:creationId xmlns:a16="http://schemas.microsoft.com/office/drawing/2014/main" id="{B0C05023-542D-7B4C-94D1-9A99FB8BB403}"/>
              </a:ext>
            </a:extLst>
          </p:cNvPr>
          <p:cNvSpPr/>
          <p:nvPr/>
        </p:nvSpPr>
        <p:spPr>
          <a:xfrm>
            <a:off x="1402463" y="2373833"/>
            <a:ext cx="3651557" cy="887718"/>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51" name="Rounded Rectangle 287">
            <a:extLst>
              <a:ext uri="{FF2B5EF4-FFF2-40B4-BE49-F238E27FC236}">
                <a16:creationId xmlns:a16="http://schemas.microsoft.com/office/drawing/2014/main" id="{287C38A3-0850-C44D-B7B8-A9745DE5768E}"/>
              </a:ext>
            </a:extLst>
          </p:cNvPr>
          <p:cNvSpPr/>
          <p:nvPr/>
        </p:nvSpPr>
        <p:spPr>
          <a:xfrm>
            <a:off x="1402463" y="3395350"/>
            <a:ext cx="3651558" cy="426656"/>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55" name="Rounded Rectangle 292">
            <a:extLst>
              <a:ext uri="{FF2B5EF4-FFF2-40B4-BE49-F238E27FC236}">
                <a16:creationId xmlns:a16="http://schemas.microsoft.com/office/drawing/2014/main" id="{785F579F-89F0-D849-A148-DA31C29E0478}"/>
              </a:ext>
            </a:extLst>
          </p:cNvPr>
          <p:cNvSpPr/>
          <p:nvPr/>
        </p:nvSpPr>
        <p:spPr>
          <a:xfrm>
            <a:off x="1668599" y="2858026"/>
            <a:ext cx="895208" cy="314681"/>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链路状</a:t>
            </a:r>
            <a:endParaRPr lang="en-US" altLang="zh-CN" sz="900" kern="0" dirty="0" smtClean="0">
              <a:solidFill>
                <a:srgbClr val="000000"/>
              </a:solidFill>
              <a:cs typeface="Arial"/>
            </a:endParaRPr>
          </a:p>
          <a:p>
            <a:pPr algn="ctr" eaLnBrk="0" fontAlgn="base" hangingPunct="0">
              <a:spcBef>
                <a:spcPct val="0"/>
              </a:spcBef>
              <a:spcAft>
                <a:spcPct val="0"/>
              </a:spcAft>
            </a:pPr>
            <a:r>
              <a:rPr lang="zh-CN" altLang="en-US" sz="900" kern="0" dirty="0" smtClean="0">
                <a:solidFill>
                  <a:srgbClr val="000000"/>
                </a:solidFill>
                <a:cs typeface="Arial"/>
              </a:rPr>
              <a:t>态信息</a:t>
            </a:r>
            <a:endParaRPr lang="en-US" altLang="zh-CN" sz="900" kern="0" dirty="0">
              <a:solidFill>
                <a:srgbClr val="000000"/>
              </a:solidFill>
              <a:cs typeface="Arial"/>
            </a:endParaRPr>
          </a:p>
        </p:txBody>
      </p:sp>
      <p:sp>
        <p:nvSpPr>
          <p:cNvPr id="156" name="Rounded Rectangle 295">
            <a:extLst>
              <a:ext uri="{FF2B5EF4-FFF2-40B4-BE49-F238E27FC236}">
                <a16:creationId xmlns:a16="http://schemas.microsoft.com/office/drawing/2014/main" id="{8817EFC4-E482-D24A-BC32-D4E6D7FB0BEB}"/>
              </a:ext>
            </a:extLst>
          </p:cNvPr>
          <p:cNvSpPr/>
          <p:nvPr/>
        </p:nvSpPr>
        <p:spPr>
          <a:xfrm>
            <a:off x="3901082" y="2862225"/>
            <a:ext cx="849414" cy="32275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a:solidFill>
                  <a:srgbClr val="000000"/>
                </a:solidFill>
                <a:cs typeface="Arial"/>
              </a:rPr>
              <a:t>流表管理</a:t>
            </a:r>
            <a:endParaRPr lang="en-US" altLang="zh-CN" sz="900" kern="0" dirty="0">
              <a:solidFill>
                <a:srgbClr val="000000"/>
              </a:solidFill>
              <a:cs typeface="Arial"/>
            </a:endParaRPr>
          </a:p>
        </p:txBody>
      </p:sp>
      <p:sp>
        <p:nvSpPr>
          <p:cNvPr id="157" name="Rounded Rectangle 298">
            <a:extLst>
              <a:ext uri="{FF2B5EF4-FFF2-40B4-BE49-F238E27FC236}">
                <a16:creationId xmlns:a16="http://schemas.microsoft.com/office/drawing/2014/main" id="{0C279289-40E0-5040-BA32-5B9616160FE8}"/>
              </a:ext>
            </a:extLst>
          </p:cNvPr>
          <p:cNvSpPr/>
          <p:nvPr/>
        </p:nvSpPr>
        <p:spPr>
          <a:xfrm>
            <a:off x="2688052" y="2849951"/>
            <a:ext cx="842737" cy="32275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交换机信息</a:t>
            </a:r>
            <a:endParaRPr lang="en-US" altLang="zh-CN" sz="900" kern="0" dirty="0">
              <a:solidFill>
                <a:srgbClr val="000000"/>
              </a:solidFill>
              <a:cs typeface="Arial"/>
            </a:endParaRPr>
          </a:p>
        </p:txBody>
      </p:sp>
      <p:sp>
        <p:nvSpPr>
          <p:cNvPr id="158" name="Rounded Rectangle 301">
            <a:extLst>
              <a:ext uri="{FF2B5EF4-FFF2-40B4-BE49-F238E27FC236}">
                <a16:creationId xmlns:a16="http://schemas.microsoft.com/office/drawing/2014/main" id="{72A6745C-527A-3346-B849-6DEC25931482}"/>
              </a:ext>
            </a:extLst>
          </p:cNvPr>
          <p:cNvSpPr/>
          <p:nvPr/>
        </p:nvSpPr>
        <p:spPr>
          <a:xfrm>
            <a:off x="1992146" y="2473505"/>
            <a:ext cx="887463" cy="300459"/>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统计信息</a:t>
            </a:r>
            <a:endParaRPr lang="en-US" altLang="zh-CN" sz="900" kern="0" dirty="0">
              <a:solidFill>
                <a:srgbClr val="000000"/>
              </a:solidFill>
              <a:cs typeface="Arial"/>
            </a:endParaRPr>
          </a:p>
        </p:txBody>
      </p:sp>
      <p:sp>
        <p:nvSpPr>
          <p:cNvPr id="159" name="Rounded Rectangle 304">
            <a:extLst>
              <a:ext uri="{FF2B5EF4-FFF2-40B4-BE49-F238E27FC236}">
                <a16:creationId xmlns:a16="http://schemas.microsoft.com/office/drawing/2014/main" id="{E293BA32-8AD1-2E4F-BF8B-655127670D8C}"/>
              </a:ext>
            </a:extLst>
          </p:cNvPr>
          <p:cNvSpPr/>
          <p:nvPr/>
        </p:nvSpPr>
        <p:spPr>
          <a:xfrm>
            <a:off x="4327035" y="2435159"/>
            <a:ext cx="651878" cy="309913"/>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a:solidFill>
                  <a:srgbClr val="000000"/>
                </a:solidFill>
                <a:cs typeface="Arial"/>
              </a:rPr>
              <a:t>主机信息</a:t>
            </a:r>
            <a:endParaRPr lang="en-US" altLang="zh-CN" sz="900" kern="0" dirty="0">
              <a:solidFill>
                <a:srgbClr val="000000"/>
              </a:solidFill>
              <a:cs typeface="Arial"/>
            </a:endParaRPr>
          </a:p>
        </p:txBody>
      </p:sp>
      <p:sp>
        <p:nvSpPr>
          <p:cNvPr id="160" name="TextBox 306">
            <a:extLst>
              <a:ext uri="{FF2B5EF4-FFF2-40B4-BE49-F238E27FC236}">
                <a16:creationId xmlns:a16="http://schemas.microsoft.com/office/drawing/2014/main" id="{9CB3D047-79BA-D64C-96E0-34616543CDAB}"/>
              </a:ext>
            </a:extLst>
          </p:cNvPr>
          <p:cNvSpPr txBox="1"/>
          <p:nvPr/>
        </p:nvSpPr>
        <p:spPr>
          <a:xfrm>
            <a:off x="2971520" y="2390309"/>
            <a:ext cx="568800" cy="338554"/>
          </a:xfrm>
          <a:prstGeom prst="rect">
            <a:avLst/>
          </a:prstGeom>
          <a:noFill/>
        </p:spPr>
        <p:txBody>
          <a:bodyPr wrap="square" rtlCol="0">
            <a:spAutoFit/>
          </a:bodyPr>
          <a:lstStyle/>
          <a:p>
            <a:pPr eaLnBrk="0" fontAlgn="base" hangingPunct="0">
              <a:spcBef>
                <a:spcPct val="0"/>
              </a:spcBef>
              <a:spcAft>
                <a:spcPct val="0"/>
              </a:spcAft>
            </a:pPr>
            <a:r>
              <a:rPr lang="en-US" sz="1600" dirty="0"/>
              <a:t>…  </a:t>
            </a:r>
          </a:p>
        </p:txBody>
      </p:sp>
      <p:sp>
        <p:nvSpPr>
          <p:cNvPr id="161" name="TextBox 307">
            <a:extLst>
              <a:ext uri="{FF2B5EF4-FFF2-40B4-BE49-F238E27FC236}">
                <a16:creationId xmlns:a16="http://schemas.microsoft.com/office/drawing/2014/main" id="{0FE2F351-A5BF-7E4A-BD31-F4DFA935F67B}"/>
              </a:ext>
            </a:extLst>
          </p:cNvPr>
          <p:cNvSpPr txBox="1"/>
          <p:nvPr/>
        </p:nvSpPr>
        <p:spPr>
          <a:xfrm>
            <a:off x="3556337" y="2817692"/>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  </a:t>
            </a:r>
          </a:p>
        </p:txBody>
      </p:sp>
      <p:sp>
        <p:nvSpPr>
          <p:cNvPr id="162" name="Rounded Rectangle 309">
            <a:extLst>
              <a:ext uri="{FF2B5EF4-FFF2-40B4-BE49-F238E27FC236}">
                <a16:creationId xmlns:a16="http://schemas.microsoft.com/office/drawing/2014/main" id="{D70B5B43-83B8-D248-A4C5-56B1B99D7540}"/>
              </a:ext>
            </a:extLst>
          </p:cNvPr>
          <p:cNvSpPr/>
          <p:nvPr/>
        </p:nvSpPr>
        <p:spPr>
          <a:xfrm>
            <a:off x="1544808" y="3514762"/>
            <a:ext cx="1254282" cy="228644"/>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kern="0" dirty="0">
                <a:solidFill>
                  <a:srgbClr val="000000"/>
                </a:solidFill>
                <a:cs typeface="Arial"/>
              </a:rPr>
              <a:t>OpenFlow</a:t>
            </a:r>
          </a:p>
        </p:txBody>
      </p:sp>
      <p:sp>
        <p:nvSpPr>
          <p:cNvPr id="163" name="Rounded Rectangle 312">
            <a:extLst>
              <a:ext uri="{FF2B5EF4-FFF2-40B4-BE49-F238E27FC236}">
                <a16:creationId xmlns:a16="http://schemas.microsoft.com/office/drawing/2014/main" id="{85D1F457-4FAB-1547-8FDB-F99750CAEB89}"/>
              </a:ext>
            </a:extLst>
          </p:cNvPr>
          <p:cNvSpPr/>
          <p:nvPr/>
        </p:nvSpPr>
        <p:spPr>
          <a:xfrm>
            <a:off x="3409328" y="3518554"/>
            <a:ext cx="1241512" cy="24507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kern="0" dirty="0">
                <a:solidFill>
                  <a:srgbClr val="000000"/>
                </a:solidFill>
                <a:cs typeface="Arial"/>
              </a:rPr>
              <a:t>SNMP</a:t>
            </a:r>
          </a:p>
        </p:txBody>
      </p:sp>
      <p:sp>
        <p:nvSpPr>
          <p:cNvPr id="164" name="TextBox 314">
            <a:extLst>
              <a:ext uri="{FF2B5EF4-FFF2-40B4-BE49-F238E27FC236}">
                <a16:creationId xmlns:a16="http://schemas.microsoft.com/office/drawing/2014/main" id="{B03FB035-AB1A-294C-B7DD-352BD9267278}"/>
              </a:ext>
            </a:extLst>
          </p:cNvPr>
          <p:cNvSpPr txBox="1"/>
          <p:nvPr/>
        </p:nvSpPr>
        <p:spPr>
          <a:xfrm>
            <a:off x="2841644" y="3416617"/>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 </a:t>
            </a:r>
            <a:r>
              <a:rPr lang="en-US" sz="1600" dirty="0">
                <a:solidFill>
                  <a:srgbClr val="00CC99">
                    <a:lumMod val="60000"/>
                    <a:lumOff val="40000"/>
                  </a:srgbClr>
                </a:solidFill>
              </a:rPr>
              <a:t> </a:t>
            </a:r>
          </a:p>
        </p:txBody>
      </p:sp>
      <p:sp>
        <p:nvSpPr>
          <p:cNvPr id="165" name="Rounded Rectangle 318">
            <a:extLst>
              <a:ext uri="{FF2B5EF4-FFF2-40B4-BE49-F238E27FC236}">
                <a16:creationId xmlns:a16="http://schemas.microsoft.com/office/drawing/2014/main" id="{9FC19565-BA27-CF4F-9461-F1C46FCA8EEF}"/>
              </a:ext>
            </a:extLst>
          </p:cNvPr>
          <p:cNvSpPr/>
          <p:nvPr/>
        </p:nvSpPr>
        <p:spPr>
          <a:xfrm>
            <a:off x="1402463" y="1740156"/>
            <a:ext cx="3651558" cy="502710"/>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66" name="Rounded Rectangle 320">
            <a:extLst>
              <a:ext uri="{FF2B5EF4-FFF2-40B4-BE49-F238E27FC236}">
                <a16:creationId xmlns:a16="http://schemas.microsoft.com/office/drawing/2014/main" id="{70508080-4FED-294C-9D0D-78B9AED5A157}"/>
              </a:ext>
            </a:extLst>
          </p:cNvPr>
          <p:cNvSpPr/>
          <p:nvPr/>
        </p:nvSpPr>
        <p:spPr>
          <a:xfrm>
            <a:off x="1775321" y="1860458"/>
            <a:ext cx="807731" cy="315144"/>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a:solidFill>
                  <a:srgbClr val="000000"/>
                </a:solidFill>
                <a:cs typeface="Arial"/>
              </a:rPr>
              <a:t>网络图</a:t>
            </a:r>
          </a:p>
        </p:txBody>
      </p:sp>
      <p:sp>
        <p:nvSpPr>
          <p:cNvPr id="167" name="Rounded Rectangle 323">
            <a:extLst>
              <a:ext uri="{FF2B5EF4-FFF2-40B4-BE49-F238E27FC236}">
                <a16:creationId xmlns:a16="http://schemas.microsoft.com/office/drawing/2014/main" id="{238BD2F6-10FC-6749-9824-BF523F2C8381}"/>
              </a:ext>
            </a:extLst>
          </p:cNvPr>
          <p:cNvSpPr/>
          <p:nvPr/>
        </p:nvSpPr>
        <p:spPr>
          <a:xfrm>
            <a:off x="4092459" y="1825322"/>
            <a:ext cx="80532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defRPr/>
            </a:pPr>
            <a:r>
              <a:rPr lang="zh-CN" altLang="en-US" sz="900" kern="0" dirty="0">
                <a:solidFill>
                  <a:srgbClr val="000000"/>
                </a:solidFill>
                <a:cs typeface="Arial"/>
              </a:rPr>
              <a:t>意图</a:t>
            </a:r>
            <a:r>
              <a:rPr lang="en-US" altLang="zh-CN" sz="900" kern="0" dirty="0" smtClean="0">
                <a:solidFill>
                  <a:srgbClr val="000000"/>
                </a:solidFill>
                <a:cs typeface="Arial"/>
              </a:rPr>
              <a:t>API</a:t>
            </a:r>
            <a:endParaRPr lang="en-US" altLang="zh-CN" sz="900" kern="0" dirty="0">
              <a:solidFill>
                <a:srgbClr val="000000"/>
              </a:solidFill>
              <a:cs typeface="Arial"/>
            </a:endParaRPr>
          </a:p>
        </p:txBody>
      </p:sp>
      <p:sp>
        <p:nvSpPr>
          <p:cNvPr id="168" name="Rounded Rectangle 326">
            <a:extLst>
              <a:ext uri="{FF2B5EF4-FFF2-40B4-BE49-F238E27FC236}">
                <a16:creationId xmlns:a16="http://schemas.microsoft.com/office/drawing/2014/main" id="{F5B67F4E-4B50-0049-AB26-880C7EF3F117}"/>
              </a:ext>
            </a:extLst>
          </p:cNvPr>
          <p:cNvSpPr/>
          <p:nvPr/>
        </p:nvSpPr>
        <p:spPr>
          <a:xfrm>
            <a:off x="2807355" y="1807784"/>
            <a:ext cx="85477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kern="0" dirty="0">
                <a:solidFill>
                  <a:srgbClr val="000000"/>
                </a:solidFill>
                <a:cs typeface="Arial"/>
              </a:rPr>
              <a:t>REST</a:t>
            </a:r>
            <a:r>
              <a:rPr lang="zh-CN" altLang="en-US" sz="900" kern="0" dirty="0">
                <a:solidFill>
                  <a:srgbClr val="000000"/>
                </a:solidFill>
                <a:cs typeface="Arial"/>
              </a:rPr>
              <a:t>风格</a:t>
            </a:r>
            <a:endParaRPr lang="en-US" altLang="zh-CN" sz="900" kern="0" dirty="0">
              <a:solidFill>
                <a:srgbClr val="000000"/>
              </a:solidFill>
              <a:cs typeface="Arial"/>
            </a:endParaRPr>
          </a:p>
          <a:p>
            <a:pPr algn="ctr" eaLnBrk="0" fontAlgn="base" hangingPunct="0">
              <a:spcBef>
                <a:spcPct val="0"/>
              </a:spcBef>
              <a:spcAft>
                <a:spcPct val="0"/>
              </a:spcAft>
            </a:pPr>
            <a:r>
              <a:rPr lang="zh-CN" altLang="en-US" sz="900" kern="0" dirty="0">
                <a:solidFill>
                  <a:srgbClr val="000000"/>
                </a:solidFill>
                <a:cs typeface="Arial"/>
              </a:rPr>
              <a:t>的</a:t>
            </a:r>
            <a:r>
              <a:rPr lang="en-US" altLang="zh-CN" sz="900" kern="0" dirty="0">
                <a:solidFill>
                  <a:srgbClr val="000000"/>
                </a:solidFill>
                <a:cs typeface="Arial"/>
              </a:rPr>
              <a:t>API</a:t>
            </a:r>
          </a:p>
        </p:txBody>
      </p:sp>
      <p:sp>
        <p:nvSpPr>
          <p:cNvPr id="169" name="TextBox 328">
            <a:extLst>
              <a:ext uri="{FF2B5EF4-FFF2-40B4-BE49-F238E27FC236}">
                <a16:creationId xmlns:a16="http://schemas.microsoft.com/office/drawing/2014/main" id="{38B852BE-9C6C-474A-AD5F-393039D0D661}"/>
              </a:ext>
            </a:extLst>
          </p:cNvPr>
          <p:cNvSpPr txBox="1"/>
          <p:nvPr/>
        </p:nvSpPr>
        <p:spPr>
          <a:xfrm>
            <a:off x="3710590" y="1822990"/>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a:t>
            </a:r>
            <a:r>
              <a:rPr lang="en-US" sz="1600" dirty="0">
                <a:solidFill>
                  <a:srgbClr val="00CC99">
                    <a:lumMod val="60000"/>
                    <a:lumOff val="40000"/>
                  </a:srgbClr>
                </a:solidFill>
              </a:rPr>
              <a:t>  </a:t>
            </a:r>
          </a:p>
        </p:txBody>
      </p:sp>
      <p:sp>
        <p:nvSpPr>
          <p:cNvPr id="171" name="TextBox 32"/>
          <p:cNvSpPr txBox="1"/>
          <p:nvPr/>
        </p:nvSpPr>
        <p:spPr>
          <a:xfrm>
            <a:off x="287569" y="2438931"/>
            <a:ext cx="1058600" cy="400110"/>
          </a:xfrm>
          <a:prstGeom prst="rect">
            <a:avLst/>
          </a:prstGeom>
          <a:noFill/>
        </p:spPr>
        <p:txBody>
          <a:bodyPr wrap="square" rtlCol="0">
            <a:spAutoFit/>
          </a:bodyPr>
          <a:lstStyle/>
          <a:p>
            <a:pPr algn="ctr"/>
            <a:r>
              <a:rPr lang="zh-CN" altLang="en-US" sz="1000" dirty="0" smtClean="0">
                <a:cs typeface="Times New Roman" pitchFamily="18" charset="0"/>
              </a:rPr>
              <a:t>网络范围的</a:t>
            </a:r>
            <a:endParaRPr lang="en-US" altLang="zh-CN" sz="1000" dirty="0" smtClean="0">
              <a:cs typeface="Times New Roman" pitchFamily="18" charset="0"/>
            </a:endParaRPr>
          </a:p>
          <a:p>
            <a:pPr algn="ctr"/>
            <a:r>
              <a:rPr lang="zh-CN" altLang="en-US" sz="1000" dirty="0" smtClean="0">
                <a:cs typeface="Times New Roman" pitchFamily="18" charset="0"/>
              </a:rPr>
              <a:t>状态管理层</a:t>
            </a:r>
            <a:endParaRPr lang="zh-CN" altLang="en-US" sz="1000" dirty="0">
              <a:cs typeface="Times New Roman" pitchFamily="18" charset="0"/>
            </a:endParaRPr>
          </a:p>
        </p:txBody>
      </p:sp>
      <p:sp>
        <p:nvSpPr>
          <p:cNvPr id="172" name="TextBox 33"/>
          <p:cNvSpPr txBox="1"/>
          <p:nvPr/>
        </p:nvSpPr>
        <p:spPr>
          <a:xfrm>
            <a:off x="278637" y="1628417"/>
            <a:ext cx="1052919" cy="553998"/>
          </a:xfrm>
          <a:prstGeom prst="rect">
            <a:avLst/>
          </a:prstGeom>
          <a:noFill/>
        </p:spPr>
        <p:txBody>
          <a:bodyPr wrap="square" rtlCol="0">
            <a:spAutoFit/>
          </a:bodyPr>
          <a:lstStyle/>
          <a:p>
            <a:pPr algn="ctr"/>
            <a:r>
              <a:rPr lang="zh-CN" altLang="en-US" sz="1000" dirty="0" smtClean="0">
                <a:cs typeface="Times New Roman" pitchFamily="18" charset="0"/>
              </a:rPr>
              <a:t>到网络控制</a:t>
            </a:r>
            <a:endParaRPr lang="en-US" altLang="zh-CN" sz="1000" dirty="0" smtClean="0">
              <a:cs typeface="Times New Roman" pitchFamily="18" charset="0"/>
            </a:endParaRPr>
          </a:p>
          <a:p>
            <a:pPr algn="ctr"/>
            <a:r>
              <a:rPr lang="zh-CN" altLang="en-US" sz="1000" dirty="0" smtClean="0">
                <a:cs typeface="Times New Roman" pitchFamily="18" charset="0"/>
              </a:rPr>
              <a:t>应用程序层</a:t>
            </a:r>
            <a:endParaRPr lang="en-US" altLang="zh-CN" sz="1000" dirty="0" smtClean="0">
              <a:cs typeface="Times New Roman" pitchFamily="18" charset="0"/>
            </a:endParaRPr>
          </a:p>
          <a:p>
            <a:pPr algn="ctr"/>
            <a:r>
              <a:rPr lang="zh-CN" altLang="en-US" sz="1000" dirty="0" smtClean="0">
                <a:cs typeface="Times New Roman" pitchFamily="18" charset="0"/>
              </a:rPr>
              <a:t>的接口</a:t>
            </a:r>
            <a:endParaRPr lang="zh-CN" altLang="en-US" sz="1000" dirty="0">
              <a:cs typeface="Times New Roman" pitchFamily="18" charset="0"/>
            </a:endParaRPr>
          </a:p>
        </p:txBody>
      </p:sp>
      <p:sp>
        <p:nvSpPr>
          <p:cNvPr id="173" name="Rounded Rectangle 318">
            <a:extLst>
              <a:ext uri="{FF2B5EF4-FFF2-40B4-BE49-F238E27FC236}">
                <a16:creationId xmlns:a16="http://schemas.microsoft.com/office/drawing/2014/main" id="{9FC19565-BA27-CF4F-9461-F1C46FCA8EEF}"/>
              </a:ext>
            </a:extLst>
          </p:cNvPr>
          <p:cNvSpPr/>
          <p:nvPr/>
        </p:nvSpPr>
        <p:spPr>
          <a:xfrm>
            <a:off x="1371184" y="1106251"/>
            <a:ext cx="3651558" cy="507498"/>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74" name="Rounded Rectangle 320">
            <a:extLst>
              <a:ext uri="{FF2B5EF4-FFF2-40B4-BE49-F238E27FC236}">
                <a16:creationId xmlns:a16="http://schemas.microsoft.com/office/drawing/2014/main" id="{70508080-4FED-294C-9D0D-78B9AED5A157}"/>
              </a:ext>
            </a:extLst>
          </p:cNvPr>
          <p:cNvSpPr/>
          <p:nvPr/>
        </p:nvSpPr>
        <p:spPr>
          <a:xfrm>
            <a:off x="1483943" y="1177782"/>
            <a:ext cx="807731"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路由计算</a:t>
            </a:r>
            <a:endParaRPr lang="zh-CN" altLang="en-US" sz="900" kern="0" dirty="0">
              <a:solidFill>
                <a:srgbClr val="000000"/>
              </a:solidFill>
              <a:cs typeface="Arial"/>
            </a:endParaRPr>
          </a:p>
        </p:txBody>
      </p:sp>
      <p:sp>
        <p:nvSpPr>
          <p:cNvPr id="175" name="Rounded Rectangle 323">
            <a:extLst>
              <a:ext uri="{FF2B5EF4-FFF2-40B4-BE49-F238E27FC236}">
                <a16:creationId xmlns:a16="http://schemas.microsoft.com/office/drawing/2014/main" id="{238BD2F6-10FC-6749-9824-BF523F2C8381}"/>
              </a:ext>
            </a:extLst>
          </p:cNvPr>
          <p:cNvSpPr/>
          <p:nvPr/>
        </p:nvSpPr>
        <p:spPr>
          <a:xfrm>
            <a:off x="4061180" y="1196206"/>
            <a:ext cx="80532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defRPr/>
            </a:pPr>
            <a:r>
              <a:rPr lang="zh-CN" altLang="en-US" sz="900" kern="0" dirty="0" smtClean="0">
                <a:solidFill>
                  <a:srgbClr val="000000"/>
                </a:solidFill>
                <a:cs typeface="Arial"/>
              </a:rPr>
              <a:t>负载均衡</a:t>
            </a:r>
            <a:endParaRPr lang="en-US" altLang="zh-CN" sz="900" kern="0" dirty="0">
              <a:solidFill>
                <a:srgbClr val="000000"/>
              </a:solidFill>
              <a:cs typeface="Arial"/>
            </a:endParaRPr>
          </a:p>
        </p:txBody>
      </p:sp>
      <p:sp>
        <p:nvSpPr>
          <p:cNvPr id="176" name="Rounded Rectangle 326">
            <a:extLst>
              <a:ext uri="{FF2B5EF4-FFF2-40B4-BE49-F238E27FC236}">
                <a16:creationId xmlns:a16="http://schemas.microsoft.com/office/drawing/2014/main" id="{F5B67F4E-4B50-0049-AB26-880C7EF3F117}"/>
              </a:ext>
            </a:extLst>
          </p:cNvPr>
          <p:cNvSpPr/>
          <p:nvPr/>
        </p:nvSpPr>
        <p:spPr>
          <a:xfrm>
            <a:off x="2712176" y="1178668"/>
            <a:ext cx="85477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流量工程</a:t>
            </a:r>
            <a:endParaRPr lang="en-US" altLang="zh-CN" sz="900" kern="0" dirty="0">
              <a:solidFill>
                <a:srgbClr val="000000"/>
              </a:solidFill>
              <a:cs typeface="Arial"/>
            </a:endParaRPr>
          </a:p>
        </p:txBody>
      </p:sp>
      <p:sp>
        <p:nvSpPr>
          <p:cNvPr id="177" name="TextBox 328">
            <a:extLst>
              <a:ext uri="{FF2B5EF4-FFF2-40B4-BE49-F238E27FC236}">
                <a16:creationId xmlns:a16="http://schemas.microsoft.com/office/drawing/2014/main" id="{38B852BE-9C6C-474A-AD5F-393039D0D661}"/>
              </a:ext>
            </a:extLst>
          </p:cNvPr>
          <p:cNvSpPr txBox="1"/>
          <p:nvPr/>
        </p:nvSpPr>
        <p:spPr>
          <a:xfrm>
            <a:off x="3574982" y="1193874"/>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a:t>
            </a:r>
            <a:r>
              <a:rPr lang="en-US" sz="1600" dirty="0">
                <a:solidFill>
                  <a:srgbClr val="00CC99">
                    <a:lumMod val="60000"/>
                    <a:lumOff val="40000"/>
                  </a:srgbClr>
                </a:solidFill>
              </a:rPr>
              <a:t>  </a:t>
            </a:r>
          </a:p>
        </p:txBody>
      </p:sp>
      <p:pic>
        <p:nvPicPr>
          <p:cNvPr id="7" name="图片 6"/>
          <p:cNvPicPr>
            <a:picLocks noChangeAspect="1"/>
          </p:cNvPicPr>
          <p:nvPr/>
        </p:nvPicPr>
        <p:blipFill>
          <a:blip r:embed="rId4"/>
          <a:stretch>
            <a:fillRect/>
          </a:stretch>
        </p:blipFill>
        <p:spPr>
          <a:xfrm>
            <a:off x="2890904" y="4602709"/>
            <a:ext cx="320184" cy="196000"/>
          </a:xfrm>
          <a:prstGeom prst="rect">
            <a:avLst/>
          </a:prstGeom>
        </p:spPr>
      </p:pic>
      <p:pic>
        <p:nvPicPr>
          <p:cNvPr id="8" name="图片 7"/>
          <p:cNvPicPr>
            <a:picLocks noChangeAspect="1"/>
          </p:cNvPicPr>
          <p:nvPr/>
        </p:nvPicPr>
        <p:blipFill>
          <a:blip r:embed="rId5"/>
          <a:stretch>
            <a:fillRect/>
          </a:stretch>
        </p:blipFill>
        <p:spPr>
          <a:xfrm>
            <a:off x="2115693" y="4358756"/>
            <a:ext cx="320184" cy="196000"/>
          </a:xfrm>
          <a:prstGeom prst="rect">
            <a:avLst/>
          </a:prstGeom>
        </p:spPr>
      </p:pic>
      <p:pic>
        <p:nvPicPr>
          <p:cNvPr id="9" name="图片 8"/>
          <p:cNvPicPr>
            <a:picLocks noChangeAspect="1"/>
          </p:cNvPicPr>
          <p:nvPr/>
        </p:nvPicPr>
        <p:blipFill>
          <a:blip r:embed="rId6"/>
          <a:stretch>
            <a:fillRect/>
          </a:stretch>
        </p:blipFill>
        <p:spPr>
          <a:xfrm>
            <a:off x="2879609" y="4217163"/>
            <a:ext cx="320184" cy="196000"/>
          </a:xfrm>
          <a:prstGeom prst="rect">
            <a:avLst/>
          </a:prstGeom>
        </p:spPr>
      </p:pic>
      <p:pic>
        <p:nvPicPr>
          <p:cNvPr id="10" name="图片 9"/>
          <p:cNvPicPr>
            <a:picLocks noChangeAspect="1"/>
          </p:cNvPicPr>
          <p:nvPr/>
        </p:nvPicPr>
        <p:blipFill>
          <a:blip r:embed="rId7"/>
          <a:stretch>
            <a:fillRect/>
          </a:stretch>
        </p:blipFill>
        <p:spPr>
          <a:xfrm>
            <a:off x="3679853" y="4353890"/>
            <a:ext cx="320184" cy="196000"/>
          </a:xfrm>
          <a:prstGeom prst="rect">
            <a:avLst/>
          </a:prstGeom>
        </p:spPr>
      </p:pic>
      <p:cxnSp>
        <p:nvCxnSpPr>
          <p:cNvPr id="12" name="直接连接符 11"/>
          <p:cNvCxnSpPr>
            <a:stCxn id="8" idx="3"/>
            <a:endCxn id="7" idx="1"/>
          </p:cNvCxnSpPr>
          <p:nvPr/>
        </p:nvCxnSpPr>
        <p:spPr>
          <a:xfrm>
            <a:off x="2435877" y="4456756"/>
            <a:ext cx="455027" cy="243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3"/>
            <a:endCxn id="10" idx="1"/>
          </p:cNvCxnSpPr>
          <p:nvPr/>
        </p:nvCxnSpPr>
        <p:spPr>
          <a:xfrm flipV="1">
            <a:off x="3211088" y="4451890"/>
            <a:ext cx="468765" cy="248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直接连接符 179"/>
          <p:cNvCxnSpPr>
            <a:stCxn id="10" idx="1"/>
            <a:endCxn id="9" idx="3"/>
          </p:cNvCxnSpPr>
          <p:nvPr/>
        </p:nvCxnSpPr>
        <p:spPr>
          <a:xfrm flipH="1" flipV="1">
            <a:off x="3199793" y="4315163"/>
            <a:ext cx="480060" cy="136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直接连接符 181"/>
          <p:cNvCxnSpPr>
            <a:stCxn id="9" idx="1"/>
            <a:endCxn id="8" idx="3"/>
          </p:cNvCxnSpPr>
          <p:nvPr/>
        </p:nvCxnSpPr>
        <p:spPr>
          <a:xfrm flipH="1">
            <a:off x="2435877" y="4315163"/>
            <a:ext cx="443732" cy="141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直接连接符 183"/>
          <p:cNvCxnSpPr>
            <a:stCxn id="9" idx="2"/>
            <a:endCxn id="7" idx="0"/>
          </p:cNvCxnSpPr>
          <p:nvPr/>
        </p:nvCxnSpPr>
        <p:spPr>
          <a:xfrm>
            <a:off x="3039701" y="4413163"/>
            <a:ext cx="11295" cy="189546"/>
          </a:xfrm>
          <a:prstGeom prst="line">
            <a:avLst/>
          </a:prstGeom>
        </p:spPr>
        <p:style>
          <a:lnRef idx="1">
            <a:schemeClr val="accent1"/>
          </a:lnRef>
          <a:fillRef idx="0">
            <a:schemeClr val="accent1"/>
          </a:fillRef>
          <a:effectRef idx="0">
            <a:schemeClr val="accent1"/>
          </a:effectRef>
          <a:fontRef idx="minor">
            <a:schemeClr val="tx1"/>
          </a:fontRef>
        </p:style>
      </p:cxnSp>
      <p:pic>
        <p:nvPicPr>
          <p:cNvPr id="190" name="Picture 98"/>
          <p:cNvPicPr>
            <a:picLocks noChangeArrowheads="1"/>
          </p:cNvPicPr>
          <p:nvPr/>
        </p:nvPicPr>
        <p:blipFill>
          <a:blip r:embed="rId8" cstate="print"/>
          <a:srcRect/>
          <a:stretch>
            <a:fillRect/>
          </a:stretch>
        </p:blipFill>
        <p:spPr bwMode="auto">
          <a:xfrm>
            <a:off x="1575457" y="4348398"/>
            <a:ext cx="202900" cy="197257"/>
          </a:xfrm>
          <a:prstGeom prst="rect">
            <a:avLst/>
          </a:prstGeom>
          <a:noFill/>
          <a:ln w="9525">
            <a:noFill/>
            <a:miter lim="800000"/>
            <a:headEnd/>
            <a:tailEnd/>
          </a:ln>
        </p:spPr>
      </p:pic>
      <p:pic>
        <p:nvPicPr>
          <p:cNvPr id="191" name="Picture 21"/>
          <p:cNvPicPr>
            <a:picLocks noChangeArrowheads="1"/>
          </p:cNvPicPr>
          <p:nvPr/>
        </p:nvPicPr>
        <p:blipFill>
          <a:blip r:embed="rId9" cstate="print"/>
          <a:srcRect/>
          <a:stretch>
            <a:fillRect/>
          </a:stretch>
        </p:blipFill>
        <p:spPr bwMode="auto">
          <a:xfrm>
            <a:off x="4339488" y="4323551"/>
            <a:ext cx="147167" cy="256497"/>
          </a:xfrm>
          <a:prstGeom prst="rect">
            <a:avLst/>
          </a:prstGeom>
          <a:noFill/>
          <a:ln w="12699">
            <a:noFill/>
            <a:miter lim="800000"/>
            <a:headEnd/>
            <a:tailEnd/>
          </a:ln>
          <a:effectLst/>
        </p:spPr>
      </p:pic>
      <p:cxnSp>
        <p:nvCxnSpPr>
          <p:cNvPr id="193" name="直接连接符 192"/>
          <p:cNvCxnSpPr>
            <a:stCxn id="190" idx="3"/>
            <a:endCxn id="8" idx="1"/>
          </p:cNvCxnSpPr>
          <p:nvPr/>
        </p:nvCxnSpPr>
        <p:spPr>
          <a:xfrm>
            <a:off x="1778357" y="4447027"/>
            <a:ext cx="337336" cy="97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10" idx="3"/>
            <a:endCxn id="191" idx="1"/>
          </p:cNvCxnSpPr>
          <p:nvPr/>
        </p:nvCxnSpPr>
        <p:spPr>
          <a:xfrm flipV="1">
            <a:off x="4000037" y="4451800"/>
            <a:ext cx="339451" cy="90"/>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130742" y="3730194"/>
            <a:ext cx="145043" cy="615350"/>
            <a:chOff x="2130742" y="3840252"/>
            <a:chExt cx="145043" cy="615350"/>
          </a:xfrm>
        </p:grpSpPr>
        <p:cxnSp>
          <p:nvCxnSpPr>
            <p:cNvPr id="197" name="直接箭头连接符 196"/>
            <p:cNvCxnSpPr/>
            <p:nvPr/>
          </p:nvCxnSpPr>
          <p:spPr>
            <a:xfrm flipH="1" flipV="1">
              <a:off x="2171949" y="3840252"/>
              <a:ext cx="103836" cy="61535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1" name="Oval 371">
              <a:extLst>
                <a:ext uri="{FF2B5EF4-FFF2-40B4-BE49-F238E27FC236}">
                  <a16:creationId xmlns:a16="http://schemas.microsoft.com/office/drawing/2014/main" id="{64D78EC7-F7C7-3F45-961B-64EA2E033912}"/>
                </a:ext>
              </a:extLst>
            </p:cNvPr>
            <p:cNvSpPr/>
            <p:nvPr/>
          </p:nvSpPr>
          <p:spPr>
            <a:xfrm>
              <a:off x="2130742" y="4019543"/>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1</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18" name="组合 17"/>
          <p:cNvGrpSpPr/>
          <p:nvPr/>
        </p:nvGrpSpPr>
        <p:grpSpPr>
          <a:xfrm>
            <a:off x="1540024" y="1549511"/>
            <a:ext cx="631925" cy="1957925"/>
            <a:chOff x="1540024" y="1659569"/>
            <a:chExt cx="631925" cy="1957925"/>
          </a:xfrm>
        </p:grpSpPr>
        <p:grpSp>
          <p:nvGrpSpPr>
            <p:cNvPr id="17" name="组合 16"/>
            <p:cNvGrpSpPr/>
            <p:nvPr/>
          </p:nvGrpSpPr>
          <p:grpSpPr>
            <a:xfrm>
              <a:off x="1600361" y="1659569"/>
              <a:ext cx="571588" cy="1957925"/>
              <a:chOff x="1600361" y="1659569"/>
              <a:chExt cx="571588" cy="1957925"/>
            </a:xfrm>
          </p:grpSpPr>
          <p:cxnSp>
            <p:nvCxnSpPr>
              <p:cNvPr id="199" name="直接连接符 198"/>
              <p:cNvCxnSpPr/>
              <p:nvPr/>
            </p:nvCxnSpPr>
            <p:spPr>
              <a:xfrm flipV="1">
                <a:off x="2162421" y="3437494"/>
                <a:ext cx="0" cy="18000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flipH="1">
                <a:off x="1600361" y="3437495"/>
                <a:ext cx="571588" cy="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04" name="直接箭头连接符 203"/>
              <p:cNvCxnSpPr/>
              <p:nvPr/>
            </p:nvCxnSpPr>
            <p:spPr>
              <a:xfrm flipV="1">
                <a:off x="1609889" y="1659569"/>
                <a:ext cx="0" cy="1782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251" name="Oval 371">
              <a:extLst>
                <a:ext uri="{FF2B5EF4-FFF2-40B4-BE49-F238E27FC236}">
                  <a16:creationId xmlns:a16="http://schemas.microsoft.com/office/drawing/2014/main" id="{64D78EC7-F7C7-3F45-961B-64EA2E033912}"/>
                </a:ext>
              </a:extLst>
            </p:cNvPr>
            <p:cNvSpPr/>
            <p:nvPr/>
          </p:nvSpPr>
          <p:spPr>
            <a:xfrm>
              <a:off x="1540024" y="2500367"/>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2</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4" name="组合 3"/>
          <p:cNvGrpSpPr/>
          <p:nvPr/>
        </p:nvGrpSpPr>
        <p:grpSpPr>
          <a:xfrm>
            <a:off x="1855760" y="1548624"/>
            <a:ext cx="144000" cy="306000"/>
            <a:chOff x="1855760" y="1641214"/>
            <a:chExt cx="144000" cy="324000"/>
          </a:xfrm>
        </p:grpSpPr>
        <p:cxnSp>
          <p:nvCxnSpPr>
            <p:cNvPr id="210" name="直接箭头连接符 209"/>
            <p:cNvCxnSpPr/>
            <p:nvPr/>
          </p:nvCxnSpPr>
          <p:spPr>
            <a:xfrm flipV="1">
              <a:off x="1921932" y="1641214"/>
              <a:ext cx="0" cy="324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52" name="Oval 371">
              <a:extLst>
                <a:ext uri="{FF2B5EF4-FFF2-40B4-BE49-F238E27FC236}">
                  <a16:creationId xmlns:a16="http://schemas.microsoft.com/office/drawing/2014/main" id="{64D78EC7-F7C7-3F45-961B-64EA2E033912}"/>
                </a:ext>
              </a:extLst>
            </p:cNvPr>
            <p:cNvSpPr/>
            <p:nvPr/>
          </p:nvSpPr>
          <p:spPr>
            <a:xfrm>
              <a:off x="1855760" y="1750930"/>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3</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20" name="组合 19"/>
          <p:cNvGrpSpPr/>
          <p:nvPr/>
        </p:nvGrpSpPr>
        <p:grpSpPr>
          <a:xfrm>
            <a:off x="2137833" y="1540470"/>
            <a:ext cx="1907117" cy="1312600"/>
            <a:chOff x="2137833" y="1650528"/>
            <a:chExt cx="1907117" cy="1312600"/>
          </a:xfrm>
        </p:grpSpPr>
        <p:grpSp>
          <p:nvGrpSpPr>
            <p:cNvPr id="19" name="组合 18"/>
            <p:cNvGrpSpPr/>
            <p:nvPr/>
          </p:nvGrpSpPr>
          <p:grpSpPr>
            <a:xfrm>
              <a:off x="2137833" y="1650528"/>
              <a:ext cx="1907117" cy="1312600"/>
              <a:chOff x="2137833" y="1650528"/>
              <a:chExt cx="1907117" cy="1312600"/>
            </a:xfrm>
          </p:grpSpPr>
          <p:cxnSp>
            <p:nvCxnSpPr>
              <p:cNvPr id="216" name="直接箭头连接符 215"/>
              <p:cNvCxnSpPr/>
              <p:nvPr/>
            </p:nvCxnSpPr>
            <p:spPr>
              <a:xfrm flipV="1">
                <a:off x="2148419" y="1650528"/>
                <a:ext cx="0" cy="1260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a:off x="2137833" y="1773355"/>
                <a:ext cx="1907117" cy="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p:nvPr/>
            </p:nvCxnSpPr>
            <p:spPr>
              <a:xfrm>
                <a:off x="4038598" y="1765479"/>
                <a:ext cx="0" cy="1197649"/>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253" name="Oval 371">
              <a:extLst>
                <a:ext uri="{FF2B5EF4-FFF2-40B4-BE49-F238E27FC236}">
                  <a16:creationId xmlns:a16="http://schemas.microsoft.com/office/drawing/2014/main" id="{64D78EC7-F7C7-3F45-961B-64EA2E033912}"/>
                </a:ext>
              </a:extLst>
            </p:cNvPr>
            <p:cNvSpPr/>
            <p:nvPr/>
          </p:nvSpPr>
          <p:spPr>
            <a:xfrm>
              <a:off x="2642208" y="1703539"/>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4</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22" name="组合 21"/>
          <p:cNvGrpSpPr/>
          <p:nvPr/>
        </p:nvGrpSpPr>
        <p:grpSpPr>
          <a:xfrm>
            <a:off x="2472267" y="3182885"/>
            <a:ext cx="1588913" cy="322457"/>
            <a:chOff x="2472267" y="3292943"/>
            <a:chExt cx="1588913" cy="322457"/>
          </a:xfrm>
        </p:grpSpPr>
        <p:grpSp>
          <p:nvGrpSpPr>
            <p:cNvPr id="21" name="组合 20"/>
            <p:cNvGrpSpPr/>
            <p:nvPr/>
          </p:nvGrpSpPr>
          <p:grpSpPr>
            <a:xfrm>
              <a:off x="2472267" y="3292943"/>
              <a:ext cx="1588913" cy="322457"/>
              <a:chOff x="2472267" y="3292943"/>
              <a:chExt cx="1588913" cy="322457"/>
            </a:xfrm>
          </p:grpSpPr>
          <p:cxnSp>
            <p:nvCxnSpPr>
              <p:cNvPr id="224" name="直接连接符 223"/>
              <p:cNvCxnSpPr/>
              <p:nvPr/>
            </p:nvCxnSpPr>
            <p:spPr>
              <a:xfrm>
                <a:off x="4051652" y="3292943"/>
                <a:ext cx="0" cy="125494"/>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flipH="1" flipV="1">
                <a:off x="2472267" y="3409438"/>
                <a:ext cx="1588913" cy="4233"/>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8" name="直接箭头连接符 227"/>
              <p:cNvCxnSpPr/>
              <p:nvPr/>
            </p:nvCxnSpPr>
            <p:spPr>
              <a:xfrm>
                <a:off x="2481046" y="3407321"/>
                <a:ext cx="0" cy="208079"/>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254" name="Oval 371">
              <a:extLst>
                <a:ext uri="{FF2B5EF4-FFF2-40B4-BE49-F238E27FC236}">
                  <a16:creationId xmlns:a16="http://schemas.microsoft.com/office/drawing/2014/main" id="{64D78EC7-F7C7-3F45-961B-64EA2E033912}"/>
                </a:ext>
              </a:extLst>
            </p:cNvPr>
            <p:cNvSpPr/>
            <p:nvPr/>
          </p:nvSpPr>
          <p:spPr>
            <a:xfrm>
              <a:off x="3415613" y="3355756"/>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5</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15" name="组合 14"/>
          <p:cNvGrpSpPr/>
          <p:nvPr/>
        </p:nvGrpSpPr>
        <p:grpSpPr>
          <a:xfrm>
            <a:off x="2290120" y="3739644"/>
            <a:ext cx="1418335" cy="653291"/>
            <a:chOff x="2290120" y="3849702"/>
            <a:chExt cx="1418335" cy="653291"/>
          </a:xfrm>
        </p:grpSpPr>
        <p:cxnSp>
          <p:nvCxnSpPr>
            <p:cNvPr id="230" name="直接箭头连接符 229"/>
            <p:cNvCxnSpPr/>
            <p:nvPr/>
          </p:nvCxnSpPr>
          <p:spPr>
            <a:xfrm>
              <a:off x="2480521" y="3849702"/>
              <a:ext cx="0" cy="20807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直接箭头连接符 231"/>
            <p:cNvCxnSpPr/>
            <p:nvPr/>
          </p:nvCxnSpPr>
          <p:spPr>
            <a:xfrm flipH="1">
              <a:off x="2290120" y="4060445"/>
              <a:ext cx="189157" cy="394389"/>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p:nvPr/>
          </p:nvCxnSpPr>
          <p:spPr>
            <a:xfrm>
              <a:off x="2476282" y="4060445"/>
              <a:ext cx="456710" cy="280206"/>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6" name="直接箭头连接符 235"/>
            <p:cNvCxnSpPr/>
            <p:nvPr/>
          </p:nvCxnSpPr>
          <p:spPr>
            <a:xfrm>
              <a:off x="2484455" y="4070993"/>
              <a:ext cx="1224000" cy="432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55" name="Oval 371">
              <a:extLst>
                <a:ext uri="{FF2B5EF4-FFF2-40B4-BE49-F238E27FC236}">
                  <a16:creationId xmlns:a16="http://schemas.microsoft.com/office/drawing/2014/main" id="{64D78EC7-F7C7-3F45-961B-64EA2E033912}"/>
                </a:ext>
              </a:extLst>
            </p:cNvPr>
            <p:cNvSpPr/>
            <p:nvPr/>
          </p:nvSpPr>
          <p:spPr>
            <a:xfrm>
              <a:off x="2450491" y="4138425"/>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6</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sp>
        <p:nvSpPr>
          <p:cNvPr id="258" name="Rectangle 8"/>
          <p:cNvSpPr>
            <a:spLocks noChangeArrowheads="1"/>
          </p:cNvSpPr>
          <p:nvPr/>
        </p:nvSpPr>
        <p:spPr bwMode="auto">
          <a:xfrm>
            <a:off x="5212752" y="1212024"/>
            <a:ext cx="374951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① </a:t>
            </a:r>
            <a:r>
              <a:rPr lang="en-US" altLang="zh-CN" sz="1000" b="1" dirty="0">
                <a:latin typeface="微软雅黑" pitchFamily="34" charset="-122"/>
                <a:ea typeface="微软雅黑" pitchFamily="34" charset="-122"/>
              </a:rPr>
              <a:t>S1</a:t>
            </a:r>
            <a:r>
              <a:rPr lang="zh-CN" altLang="en-US" sz="1000" b="1" dirty="0">
                <a:latin typeface="微软雅黑" pitchFamily="34" charset="-122"/>
                <a:ea typeface="微软雅黑" pitchFamily="34" charset="-122"/>
              </a:rPr>
              <a:t>的流表中无匹配流表项，则通过</a:t>
            </a:r>
            <a:r>
              <a:rPr lang="en-US" altLang="zh-CN" sz="1000" b="1" dirty="0">
                <a:latin typeface="微软雅黑" pitchFamily="34" charset="-122"/>
                <a:ea typeface="微软雅黑" pitchFamily="34" charset="-122"/>
              </a:rPr>
              <a:t>Packet-In</a:t>
            </a:r>
            <a:r>
              <a:rPr lang="zh-CN" altLang="en-US" sz="1000" b="1" dirty="0">
                <a:latin typeface="微软雅黑" pitchFamily="34" charset="-122"/>
                <a:ea typeface="微软雅黑" pitchFamily="34" charset="-122"/>
              </a:rPr>
              <a:t>消息将分组上报给控制器。</a:t>
            </a:r>
          </a:p>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② </a:t>
            </a:r>
            <a:r>
              <a:rPr lang="en-US" altLang="zh-CN" sz="1000" b="1" dirty="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协议模块解析</a:t>
            </a:r>
            <a:r>
              <a:rPr lang="en-US" altLang="zh-CN" sz="1000" b="1" dirty="0">
                <a:latin typeface="微软雅黑" pitchFamily="34" charset="-122"/>
                <a:ea typeface="微软雅黑" pitchFamily="34" charset="-122"/>
              </a:rPr>
              <a:t>Packet-In</a:t>
            </a:r>
            <a:r>
              <a:rPr lang="zh-CN" altLang="en-US" sz="1000" b="1" dirty="0">
                <a:latin typeface="微软雅黑" pitchFamily="34" charset="-122"/>
                <a:ea typeface="微软雅黑" pitchFamily="34" charset="-122"/>
              </a:rPr>
              <a:t>消息，获取其中包含的数据，随后将该消息封装成事件并通告至处理该事件的应用，这里即路由计算应用。</a:t>
            </a:r>
          </a:p>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③ 路由计算应用通过北向接口获取网络视图信息，并计算获得最优转发路径</a:t>
            </a:r>
            <a:r>
              <a:rPr lang="en-US" altLang="zh-CN" sz="1000" b="1" dirty="0">
                <a:latin typeface="微软雅黑" pitchFamily="34" charset="-122"/>
                <a:ea typeface="微软雅黑" pitchFamily="34" charset="-122"/>
              </a:rPr>
              <a:t>S1→S2→S4</a:t>
            </a:r>
            <a:r>
              <a:rPr lang="zh-CN" altLang="en-US" sz="1000" b="1" dirty="0">
                <a:latin typeface="微软雅黑" pitchFamily="34" charset="-122"/>
                <a:ea typeface="微软雅黑" pitchFamily="34" charset="-122"/>
              </a:rPr>
              <a:t>。</a:t>
            </a:r>
          </a:p>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④ 路由计算应用将路径信息发送至流表管理模块。</a:t>
            </a:r>
          </a:p>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⑤ 流表管理模块根据路径信息生成流表项，并调用</a:t>
            </a:r>
            <a:r>
              <a:rPr lang="en-US" altLang="zh-CN" sz="1000" b="1" dirty="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协议模块下发流表项。</a:t>
            </a:r>
          </a:p>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⑥ </a:t>
            </a:r>
            <a:r>
              <a:rPr lang="en-US" altLang="zh-CN" sz="1000" b="1" dirty="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协议模块将流表项下发至对应的</a:t>
            </a:r>
            <a:r>
              <a:rPr lang="en-US" altLang="zh-CN" sz="1000" b="1" dirty="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交换机。交换机随后即可根据流表项正常转发分组。</a:t>
            </a:r>
            <a:endParaRPr lang="en-US" altLang="zh-CN" sz="900" b="1" dirty="0">
              <a:latin typeface="微软雅黑" pitchFamily="34" charset="-122"/>
              <a:ea typeface="微软雅黑" pitchFamily="34" charset="-122"/>
            </a:endParaRPr>
          </a:p>
        </p:txBody>
      </p:sp>
      <p:sp>
        <p:nvSpPr>
          <p:cNvPr id="81" name="TextBox 34"/>
          <p:cNvSpPr txBox="1"/>
          <p:nvPr/>
        </p:nvSpPr>
        <p:spPr>
          <a:xfrm>
            <a:off x="2082626" y="4477635"/>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1</a:t>
            </a:r>
            <a:endParaRPr lang="zh-CN" altLang="en-US" sz="1000" baseline="-25000" dirty="0">
              <a:cs typeface="Times New Roman" pitchFamily="18" charset="0"/>
            </a:endParaRPr>
          </a:p>
        </p:txBody>
      </p:sp>
      <p:sp>
        <p:nvSpPr>
          <p:cNvPr id="82" name="TextBox 34"/>
          <p:cNvSpPr txBox="1"/>
          <p:nvPr/>
        </p:nvSpPr>
        <p:spPr>
          <a:xfrm>
            <a:off x="2735991" y="4283910"/>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2</a:t>
            </a:r>
            <a:endParaRPr lang="zh-CN" altLang="en-US" sz="1000" baseline="-25000" dirty="0">
              <a:cs typeface="Times New Roman" pitchFamily="18" charset="0"/>
            </a:endParaRPr>
          </a:p>
        </p:txBody>
      </p:sp>
      <p:sp>
        <p:nvSpPr>
          <p:cNvPr id="83" name="TextBox 34"/>
          <p:cNvSpPr txBox="1"/>
          <p:nvPr/>
        </p:nvSpPr>
        <p:spPr>
          <a:xfrm>
            <a:off x="3012378" y="4400229"/>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3</a:t>
            </a:r>
            <a:endParaRPr lang="zh-CN" altLang="en-US" sz="1000" baseline="-25000" dirty="0">
              <a:cs typeface="Times New Roman" pitchFamily="18" charset="0"/>
            </a:endParaRPr>
          </a:p>
        </p:txBody>
      </p:sp>
      <p:sp>
        <p:nvSpPr>
          <p:cNvPr id="84" name="TextBox 34"/>
          <p:cNvSpPr txBox="1"/>
          <p:nvPr/>
        </p:nvSpPr>
        <p:spPr>
          <a:xfrm>
            <a:off x="3661372" y="4100364"/>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4</a:t>
            </a:r>
            <a:endParaRPr lang="zh-CN" altLang="en-US" sz="1000" baseline="-25000" dirty="0">
              <a:cs typeface="Times New Roman" pitchFamily="18" charset="0"/>
            </a:endParaRPr>
          </a:p>
        </p:txBody>
      </p:sp>
      <p:sp>
        <p:nvSpPr>
          <p:cNvPr id="85" name="TextBox 34"/>
          <p:cNvSpPr txBox="1"/>
          <p:nvPr/>
        </p:nvSpPr>
        <p:spPr>
          <a:xfrm>
            <a:off x="1303936" y="4327342"/>
            <a:ext cx="358586" cy="246221"/>
          </a:xfrm>
          <a:prstGeom prst="rect">
            <a:avLst/>
          </a:prstGeom>
          <a:noFill/>
        </p:spPr>
        <p:txBody>
          <a:bodyPr wrap="square" rtlCol="0">
            <a:spAutoFit/>
          </a:bodyPr>
          <a:lstStyle/>
          <a:p>
            <a:pPr algn="ctr"/>
            <a:r>
              <a:rPr lang="en-US" altLang="zh-CN" sz="1000" dirty="0" smtClean="0">
                <a:cs typeface="Times New Roman" pitchFamily="18" charset="0"/>
              </a:rPr>
              <a:t>H</a:t>
            </a:r>
            <a:r>
              <a:rPr lang="en-US" altLang="zh-CN" sz="1000" baseline="-25000" dirty="0" smtClean="0">
                <a:cs typeface="Times New Roman" pitchFamily="18" charset="0"/>
              </a:rPr>
              <a:t>1</a:t>
            </a:r>
            <a:endParaRPr lang="zh-CN" altLang="en-US" sz="1000" baseline="-25000" dirty="0">
              <a:cs typeface="Times New Roman" pitchFamily="18" charset="0"/>
            </a:endParaRPr>
          </a:p>
        </p:txBody>
      </p:sp>
      <p:sp>
        <p:nvSpPr>
          <p:cNvPr id="86" name="TextBox 34"/>
          <p:cNvSpPr txBox="1"/>
          <p:nvPr/>
        </p:nvSpPr>
        <p:spPr>
          <a:xfrm>
            <a:off x="4408232" y="4316993"/>
            <a:ext cx="409407" cy="246221"/>
          </a:xfrm>
          <a:prstGeom prst="rect">
            <a:avLst/>
          </a:prstGeom>
          <a:noFill/>
        </p:spPr>
        <p:txBody>
          <a:bodyPr wrap="square" rtlCol="0">
            <a:spAutoFit/>
          </a:bodyPr>
          <a:lstStyle/>
          <a:p>
            <a:pPr algn="ctr"/>
            <a:r>
              <a:rPr lang="en-US" altLang="zh-CN" sz="1000" dirty="0" smtClean="0">
                <a:cs typeface="Times New Roman" pitchFamily="18" charset="0"/>
              </a:rPr>
              <a:t>W</a:t>
            </a:r>
            <a:r>
              <a:rPr lang="en-US" altLang="zh-CN" sz="1000" baseline="-25000" dirty="0" smtClean="0">
                <a:cs typeface="Times New Roman" pitchFamily="18" charset="0"/>
              </a:rPr>
              <a:t>1</a:t>
            </a:r>
            <a:endParaRPr lang="zh-CN" altLang="en-US" sz="1000" baseline="-25000" dirty="0">
              <a:cs typeface="Times New Roman" pitchFamily="18" charset="0"/>
            </a:endParaRPr>
          </a:p>
        </p:txBody>
      </p:sp>
    </p:spTree>
    <p:custDataLst>
      <p:tags r:id="rId1"/>
    </p:custDataLst>
    <p:extLst>
      <p:ext uri="{BB962C8B-B14F-4D97-AF65-F5344CB8AC3E}">
        <p14:creationId xmlns:p14="http://schemas.microsoft.com/office/powerpoint/2010/main" val="22231223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8">
                                            <p:txEl>
                                              <p:pRg st="0" end="0"/>
                                            </p:txEl>
                                          </p:spTgt>
                                        </p:tgtEl>
                                        <p:attrNameLst>
                                          <p:attrName>style.visibility</p:attrName>
                                        </p:attrNameLst>
                                      </p:cBhvr>
                                      <p:to>
                                        <p:strVal val="visible"/>
                                      </p:to>
                                    </p:set>
                                    <p:animEffect transition="in" filter="fade">
                                      <p:cBhvr>
                                        <p:cTn id="11" dur="500"/>
                                        <p:tgtEl>
                                          <p:spTgt spid="25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58">
                                            <p:txEl>
                                              <p:pRg st="1" end="1"/>
                                            </p:txEl>
                                          </p:spTgt>
                                        </p:tgtEl>
                                        <p:attrNameLst>
                                          <p:attrName>style.visibility</p:attrName>
                                        </p:attrNameLst>
                                      </p:cBhvr>
                                      <p:to>
                                        <p:strVal val="visible"/>
                                      </p:to>
                                    </p:set>
                                    <p:animEffect transition="in" filter="fade">
                                      <p:cBhvr>
                                        <p:cTn id="20" dur="500"/>
                                        <p:tgtEl>
                                          <p:spTgt spid="258">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00"/>
                                        <p:tgtEl>
                                          <p:spTgt spid="4"/>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58">
                                            <p:txEl>
                                              <p:pRg st="2" end="2"/>
                                            </p:txEl>
                                          </p:spTgt>
                                        </p:tgtEl>
                                        <p:attrNameLst>
                                          <p:attrName>style.visibility</p:attrName>
                                        </p:attrNameLst>
                                      </p:cBhvr>
                                      <p:to>
                                        <p:strVal val="visible"/>
                                      </p:to>
                                    </p:set>
                                    <p:animEffect transition="in" filter="fade">
                                      <p:cBhvr>
                                        <p:cTn id="29" dur="500"/>
                                        <p:tgtEl>
                                          <p:spTgt spid="258">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258">
                                            <p:txEl>
                                              <p:pRg st="3" end="3"/>
                                            </p:txEl>
                                          </p:spTgt>
                                        </p:tgtEl>
                                        <p:attrNameLst>
                                          <p:attrName>style.visibility</p:attrName>
                                        </p:attrNameLst>
                                      </p:cBhvr>
                                      <p:to>
                                        <p:strVal val="visible"/>
                                      </p:to>
                                    </p:set>
                                    <p:animEffect transition="in" filter="fade">
                                      <p:cBhvr>
                                        <p:cTn id="38" dur="500"/>
                                        <p:tgtEl>
                                          <p:spTgt spid="258">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right)">
                                      <p:cBhvr>
                                        <p:cTn id="43" dur="500"/>
                                        <p:tgtEl>
                                          <p:spTgt spid="22"/>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58">
                                            <p:txEl>
                                              <p:pRg st="4" end="4"/>
                                            </p:txEl>
                                          </p:spTgt>
                                        </p:tgtEl>
                                        <p:attrNameLst>
                                          <p:attrName>style.visibility</p:attrName>
                                        </p:attrNameLst>
                                      </p:cBhvr>
                                      <p:to>
                                        <p:strVal val="visible"/>
                                      </p:to>
                                    </p:set>
                                    <p:animEffect transition="in" filter="fade">
                                      <p:cBhvr>
                                        <p:cTn id="47" dur="500"/>
                                        <p:tgtEl>
                                          <p:spTgt spid="258">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up)">
                                      <p:cBhvr>
                                        <p:cTn id="52" dur="500"/>
                                        <p:tgtEl>
                                          <p:spTgt spid="15"/>
                                        </p:tgtEl>
                                      </p:cBhvr>
                                    </p:animEffect>
                                  </p:childTnLst>
                                </p:cTn>
                              </p:par>
                            </p:childTnLst>
                          </p:cTn>
                        </p:par>
                        <p:par>
                          <p:cTn id="53" fill="hold">
                            <p:stCondLst>
                              <p:cond delay="500"/>
                            </p:stCondLst>
                            <p:childTnLst>
                              <p:par>
                                <p:cTn id="54" presetID="10" presetClass="entr" presetSubtype="0" fill="hold" nodeType="afterEffect">
                                  <p:stCondLst>
                                    <p:cond delay="0"/>
                                  </p:stCondLst>
                                  <p:childTnLst>
                                    <p:set>
                                      <p:cBhvr>
                                        <p:cTn id="55" dur="1" fill="hold">
                                          <p:stCondLst>
                                            <p:cond delay="0"/>
                                          </p:stCondLst>
                                        </p:cTn>
                                        <p:tgtEl>
                                          <p:spTgt spid="258">
                                            <p:txEl>
                                              <p:pRg st="5" end="5"/>
                                            </p:txEl>
                                          </p:spTgt>
                                        </p:tgtEl>
                                        <p:attrNameLst>
                                          <p:attrName>style.visibility</p:attrName>
                                        </p:attrNameLst>
                                      </p:cBhvr>
                                      <p:to>
                                        <p:strVal val="visible"/>
                                      </p:to>
                                    </p:set>
                                    <p:animEffect transition="in" filter="fade">
                                      <p:cBhvr>
                                        <p:cTn id="56" dur="500"/>
                                        <p:tgtEl>
                                          <p:spTgt spid="2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6" name="Rectangle 6"/>
          <p:cNvSpPr>
            <a:spLocks noChangeArrowheads="1"/>
          </p:cNvSpPr>
          <p:nvPr/>
        </p:nvSpPr>
        <p:spPr bwMode="auto">
          <a:xfrm>
            <a:off x="1941968" y="580933"/>
            <a:ext cx="5260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a:solidFill>
                  <a:schemeClr val="bg1"/>
                </a:solidFill>
                <a:latin typeface="微软雅黑" pitchFamily="34" charset="-122"/>
                <a:ea typeface="微软雅黑" pitchFamily="34" charset="-122"/>
              </a:rPr>
              <a:t>SDN</a:t>
            </a:r>
            <a:r>
              <a:rPr lang="zh-CN" altLang="en-US" sz="2000" b="1" dirty="0">
                <a:solidFill>
                  <a:schemeClr val="bg1"/>
                </a:solidFill>
                <a:latin typeface="微软雅黑" pitchFamily="34" charset="-122"/>
                <a:ea typeface="微软雅黑" pitchFamily="34" charset="-122"/>
              </a:rPr>
              <a:t>控制平面与数据平面的交互</a:t>
            </a:r>
          </a:p>
        </p:txBody>
      </p:sp>
      <p:sp>
        <p:nvSpPr>
          <p:cNvPr id="148" name="TextBox 34"/>
          <p:cNvSpPr txBox="1"/>
          <p:nvPr/>
        </p:nvSpPr>
        <p:spPr>
          <a:xfrm>
            <a:off x="576599" y="3527795"/>
            <a:ext cx="720872" cy="246221"/>
          </a:xfrm>
          <a:prstGeom prst="rect">
            <a:avLst/>
          </a:prstGeom>
          <a:solidFill>
            <a:schemeClr val="bg1"/>
          </a:solidFill>
        </p:spPr>
        <p:txBody>
          <a:bodyPr wrap="square" rtlCol="0">
            <a:spAutoFit/>
          </a:bodyPr>
          <a:lstStyle/>
          <a:p>
            <a:pPr algn="ctr"/>
            <a:r>
              <a:rPr lang="zh-CN" altLang="en-US" sz="1000" dirty="0" smtClean="0">
                <a:cs typeface="Times New Roman" pitchFamily="18" charset="0"/>
              </a:rPr>
              <a:t>通信层</a:t>
            </a:r>
            <a:endParaRPr lang="zh-CN" altLang="en-US" sz="1000" dirty="0">
              <a:cs typeface="Times New Roman" pitchFamily="18" charset="0"/>
            </a:endParaRPr>
          </a:p>
        </p:txBody>
      </p:sp>
      <p:cxnSp>
        <p:nvCxnSpPr>
          <p:cNvPr id="152" name="Straight Connector 288">
            <a:extLst>
              <a:ext uri="{FF2B5EF4-FFF2-40B4-BE49-F238E27FC236}">
                <a16:creationId xmlns:a16="http://schemas.microsoft.com/office/drawing/2014/main" id="{1BA3E4C1-2167-2941-8758-AC27C65BF336}"/>
              </a:ext>
            </a:extLst>
          </p:cNvPr>
          <p:cNvCxnSpPr/>
          <p:nvPr/>
        </p:nvCxnSpPr>
        <p:spPr bwMode="auto">
          <a:xfrm>
            <a:off x="651081" y="3860941"/>
            <a:ext cx="4530222" cy="2153"/>
          </a:xfrm>
          <a:prstGeom prst="line">
            <a:avLst/>
          </a:prstGeom>
          <a:solidFill>
            <a:srgbClr val="00CC99"/>
          </a:solidFill>
          <a:ln w="19050" cap="flat" cmpd="sng" algn="ctr">
            <a:solidFill>
              <a:srgbClr val="000000"/>
            </a:solidFill>
            <a:prstDash val="dash"/>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
        <p:nvSpPr>
          <p:cNvPr id="150" name="Rounded Rectangle 286">
            <a:extLst>
              <a:ext uri="{FF2B5EF4-FFF2-40B4-BE49-F238E27FC236}">
                <a16:creationId xmlns:a16="http://schemas.microsoft.com/office/drawing/2014/main" id="{B0C05023-542D-7B4C-94D1-9A99FB8BB403}"/>
              </a:ext>
            </a:extLst>
          </p:cNvPr>
          <p:cNvSpPr/>
          <p:nvPr/>
        </p:nvSpPr>
        <p:spPr>
          <a:xfrm>
            <a:off x="1402463" y="2373830"/>
            <a:ext cx="3651557" cy="887718"/>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51" name="Rounded Rectangle 287">
            <a:extLst>
              <a:ext uri="{FF2B5EF4-FFF2-40B4-BE49-F238E27FC236}">
                <a16:creationId xmlns:a16="http://schemas.microsoft.com/office/drawing/2014/main" id="{287C38A3-0850-C44D-B7B8-A9745DE5768E}"/>
              </a:ext>
            </a:extLst>
          </p:cNvPr>
          <p:cNvSpPr/>
          <p:nvPr/>
        </p:nvSpPr>
        <p:spPr>
          <a:xfrm>
            <a:off x="1402463" y="3395347"/>
            <a:ext cx="3651558" cy="426656"/>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55" name="Rounded Rectangle 292">
            <a:extLst>
              <a:ext uri="{FF2B5EF4-FFF2-40B4-BE49-F238E27FC236}">
                <a16:creationId xmlns:a16="http://schemas.microsoft.com/office/drawing/2014/main" id="{785F579F-89F0-D849-A148-DA31C29E0478}"/>
              </a:ext>
            </a:extLst>
          </p:cNvPr>
          <p:cNvSpPr/>
          <p:nvPr/>
        </p:nvSpPr>
        <p:spPr>
          <a:xfrm>
            <a:off x="1668599" y="2858023"/>
            <a:ext cx="895208" cy="314681"/>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链路状</a:t>
            </a:r>
            <a:endParaRPr lang="en-US" altLang="zh-CN" sz="900" kern="0" dirty="0" smtClean="0">
              <a:solidFill>
                <a:srgbClr val="000000"/>
              </a:solidFill>
              <a:cs typeface="Arial"/>
            </a:endParaRPr>
          </a:p>
          <a:p>
            <a:pPr algn="ctr" eaLnBrk="0" fontAlgn="base" hangingPunct="0">
              <a:spcBef>
                <a:spcPct val="0"/>
              </a:spcBef>
              <a:spcAft>
                <a:spcPct val="0"/>
              </a:spcAft>
            </a:pPr>
            <a:r>
              <a:rPr lang="zh-CN" altLang="en-US" sz="900" kern="0" dirty="0" smtClean="0">
                <a:solidFill>
                  <a:srgbClr val="000000"/>
                </a:solidFill>
                <a:cs typeface="Arial"/>
              </a:rPr>
              <a:t>态信息</a:t>
            </a:r>
            <a:endParaRPr lang="en-US" altLang="zh-CN" sz="900" kern="0" dirty="0">
              <a:solidFill>
                <a:srgbClr val="000000"/>
              </a:solidFill>
              <a:cs typeface="Arial"/>
            </a:endParaRPr>
          </a:p>
        </p:txBody>
      </p:sp>
      <p:sp>
        <p:nvSpPr>
          <p:cNvPr id="156" name="Rounded Rectangle 295">
            <a:extLst>
              <a:ext uri="{FF2B5EF4-FFF2-40B4-BE49-F238E27FC236}">
                <a16:creationId xmlns:a16="http://schemas.microsoft.com/office/drawing/2014/main" id="{8817EFC4-E482-D24A-BC32-D4E6D7FB0BEB}"/>
              </a:ext>
            </a:extLst>
          </p:cNvPr>
          <p:cNvSpPr/>
          <p:nvPr/>
        </p:nvSpPr>
        <p:spPr>
          <a:xfrm>
            <a:off x="3901082" y="2862222"/>
            <a:ext cx="849414" cy="32275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a:solidFill>
                  <a:srgbClr val="000000"/>
                </a:solidFill>
                <a:cs typeface="Arial"/>
              </a:rPr>
              <a:t>流表管理</a:t>
            </a:r>
            <a:endParaRPr lang="en-US" altLang="zh-CN" sz="900" kern="0" dirty="0">
              <a:solidFill>
                <a:srgbClr val="000000"/>
              </a:solidFill>
              <a:cs typeface="Arial"/>
            </a:endParaRPr>
          </a:p>
        </p:txBody>
      </p:sp>
      <p:sp>
        <p:nvSpPr>
          <p:cNvPr id="157" name="Rounded Rectangle 298">
            <a:extLst>
              <a:ext uri="{FF2B5EF4-FFF2-40B4-BE49-F238E27FC236}">
                <a16:creationId xmlns:a16="http://schemas.microsoft.com/office/drawing/2014/main" id="{0C279289-40E0-5040-BA32-5B9616160FE8}"/>
              </a:ext>
            </a:extLst>
          </p:cNvPr>
          <p:cNvSpPr/>
          <p:nvPr/>
        </p:nvSpPr>
        <p:spPr>
          <a:xfrm>
            <a:off x="2688052" y="2849948"/>
            <a:ext cx="842737" cy="322756"/>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交换机信息</a:t>
            </a:r>
            <a:endParaRPr lang="en-US" altLang="zh-CN" sz="900" kern="0" dirty="0">
              <a:solidFill>
                <a:srgbClr val="000000"/>
              </a:solidFill>
              <a:cs typeface="Arial"/>
            </a:endParaRPr>
          </a:p>
        </p:txBody>
      </p:sp>
      <p:sp>
        <p:nvSpPr>
          <p:cNvPr id="158" name="Rounded Rectangle 301">
            <a:extLst>
              <a:ext uri="{FF2B5EF4-FFF2-40B4-BE49-F238E27FC236}">
                <a16:creationId xmlns:a16="http://schemas.microsoft.com/office/drawing/2014/main" id="{72A6745C-527A-3346-B849-6DEC25931482}"/>
              </a:ext>
            </a:extLst>
          </p:cNvPr>
          <p:cNvSpPr/>
          <p:nvPr/>
        </p:nvSpPr>
        <p:spPr>
          <a:xfrm>
            <a:off x="1992146" y="2473502"/>
            <a:ext cx="887463" cy="300459"/>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统计信息</a:t>
            </a:r>
            <a:endParaRPr lang="en-US" altLang="zh-CN" sz="900" kern="0" dirty="0">
              <a:solidFill>
                <a:srgbClr val="000000"/>
              </a:solidFill>
              <a:cs typeface="Arial"/>
            </a:endParaRPr>
          </a:p>
        </p:txBody>
      </p:sp>
      <p:sp>
        <p:nvSpPr>
          <p:cNvPr id="159" name="Rounded Rectangle 304">
            <a:extLst>
              <a:ext uri="{FF2B5EF4-FFF2-40B4-BE49-F238E27FC236}">
                <a16:creationId xmlns:a16="http://schemas.microsoft.com/office/drawing/2014/main" id="{E293BA32-8AD1-2E4F-BF8B-655127670D8C}"/>
              </a:ext>
            </a:extLst>
          </p:cNvPr>
          <p:cNvSpPr/>
          <p:nvPr/>
        </p:nvSpPr>
        <p:spPr>
          <a:xfrm>
            <a:off x="4327035" y="2435156"/>
            <a:ext cx="651878" cy="309913"/>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a:solidFill>
                  <a:srgbClr val="000000"/>
                </a:solidFill>
                <a:cs typeface="Arial"/>
              </a:rPr>
              <a:t>主机信息</a:t>
            </a:r>
            <a:endParaRPr lang="en-US" altLang="zh-CN" sz="900" kern="0" dirty="0">
              <a:solidFill>
                <a:srgbClr val="000000"/>
              </a:solidFill>
              <a:cs typeface="Arial"/>
            </a:endParaRPr>
          </a:p>
        </p:txBody>
      </p:sp>
      <p:sp>
        <p:nvSpPr>
          <p:cNvPr id="160" name="TextBox 306">
            <a:extLst>
              <a:ext uri="{FF2B5EF4-FFF2-40B4-BE49-F238E27FC236}">
                <a16:creationId xmlns:a16="http://schemas.microsoft.com/office/drawing/2014/main" id="{9CB3D047-79BA-D64C-96E0-34616543CDAB}"/>
              </a:ext>
            </a:extLst>
          </p:cNvPr>
          <p:cNvSpPr txBox="1"/>
          <p:nvPr/>
        </p:nvSpPr>
        <p:spPr>
          <a:xfrm>
            <a:off x="2971520" y="2390306"/>
            <a:ext cx="568800" cy="338554"/>
          </a:xfrm>
          <a:prstGeom prst="rect">
            <a:avLst/>
          </a:prstGeom>
          <a:noFill/>
        </p:spPr>
        <p:txBody>
          <a:bodyPr wrap="square" rtlCol="0">
            <a:spAutoFit/>
          </a:bodyPr>
          <a:lstStyle/>
          <a:p>
            <a:pPr eaLnBrk="0" fontAlgn="base" hangingPunct="0">
              <a:spcBef>
                <a:spcPct val="0"/>
              </a:spcBef>
              <a:spcAft>
                <a:spcPct val="0"/>
              </a:spcAft>
            </a:pPr>
            <a:r>
              <a:rPr lang="en-US" sz="1600" dirty="0"/>
              <a:t>…  </a:t>
            </a:r>
          </a:p>
        </p:txBody>
      </p:sp>
      <p:sp>
        <p:nvSpPr>
          <p:cNvPr id="161" name="TextBox 307">
            <a:extLst>
              <a:ext uri="{FF2B5EF4-FFF2-40B4-BE49-F238E27FC236}">
                <a16:creationId xmlns:a16="http://schemas.microsoft.com/office/drawing/2014/main" id="{0FE2F351-A5BF-7E4A-BD31-F4DFA935F67B}"/>
              </a:ext>
            </a:extLst>
          </p:cNvPr>
          <p:cNvSpPr txBox="1"/>
          <p:nvPr/>
        </p:nvSpPr>
        <p:spPr>
          <a:xfrm>
            <a:off x="3556337" y="2817689"/>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  </a:t>
            </a:r>
          </a:p>
        </p:txBody>
      </p:sp>
      <p:sp>
        <p:nvSpPr>
          <p:cNvPr id="162" name="Rounded Rectangle 309">
            <a:extLst>
              <a:ext uri="{FF2B5EF4-FFF2-40B4-BE49-F238E27FC236}">
                <a16:creationId xmlns:a16="http://schemas.microsoft.com/office/drawing/2014/main" id="{D70B5B43-83B8-D248-A4C5-56B1B99D7540}"/>
              </a:ext>
            </a:extLst>
          </p:cNvPr>
          <p:cNvSpPr/>
          <p:nvPr/>
        </p:nvSpPr>
        <p:spPr>
          <a:xfrm>
            <a:off x="1544808" y="3514759"/>
            <a:ext cx="1254282" cy="228644"/>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kern="0" dirty="0">
                <a:solidFill>
                  <a:srgbClr val="000000"/>
                </a:solidFill>
                <a:cs typeface="Arial"/>
              </a:rPr>
              <a:t>OpenFlow</a:t>
            </a:r>
          </a:p>
        </p:txBody>
      </p:sp>
      <p:sp>
        <p:nvSpPr>
          <p:cNvPr id="163" name="Rounded Rectangle 312">
            <a:extLst>
              <a:ext uri="{FF2B5EF4-FFF2-40B4-BE49-F238E27FC236}">
                <a16:creationId xmlns:a16="http://schemas.microsoft.com/office/drawing/2014/main" id="{85D1F457-4FAB-1547-8FDB-F99750CAEB89}"/>
              </a:ext>
            </a:extLst>
          </p:cNvPr>
          <p:cNvSpPr/>
          <p:nvPr/>
        </p:nvSpPr>
        <p:spPr>
          <a:xfrm>
            <a:off x="3409328" y="3518551"/>
            <a:ext cx="1241512" cy="24507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kern="0" dirty="0">
                <a:solidFill>
                  <a:srgbClr val="000000"/>
                </a:solidFill>
                <a:cs typeface="Arial"/>
              </a:rPr>
              <a:t>SNMP</a:t>
            </a:r>
          </a:p>
        </p:txBody>
      </p:sp>
      <p:sp>
        <p:nvSpPr>
          <p:cNvPr id="164" name="TextBox 314">
            <a:extLst>
              <a:ext uri="{FF2B5EF4-FFF2-40B4-BE49-F238E27FC236}">
                <a16:creationId xmlns:a16="http://schemas.microsoft.com/office/drawing/2014/main" id="{B03FB035-AB1A-294C-B7DD-352BD9267278}"/>
              </a:ext>
            </a:extLst>
          </p:cNvPr>
          <p:cNvSpPr txBox="1"/>
          <p:nvPr/>
        </p:nvSpPr>
        <p:spPr>
          <a:xfrm>
            <a:off x="2841644" y="3416614"/>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 </a:t>
            </a:r>
            <a:r>
              <a:rPr lang="en-US" sz="1600" dirty="0">
                <a:solidFill>
                  <a:srgbClr val="00CC99">
                    <a:lumMod val="60000"/>
                    <a:lumOff val="40000"/>
                  </a:srgbClr>
                </a:solidFill>
              </a:rPr>
              <a:t> </a:t>
            </a:r>
          </a:p>
        </p:txBody>
      </p:sp>
      <p:sp>
        <p:nvSpPr>
          <p:cNvPr id="165" name="Rounded Rectangle 318">
            <a:extLst>
              <a:ext uri="{FF2B5EF4-FFF2-40B4-BE49-F238E27FC236}">
                <a16:creationId xmlns:a16="http://schemas.microsoft.com/office/drawing/2014/main" id="{9FC19565-BA27-CF4F-9461-F1C46FCA8EEF}"/>
              </a:ext>
            </a:extLst>
          </p:cNvPr>
          <p:cNvSpPr/>
          <p:nvPr/>
        </p:nvSpPr>
        <p:spPr>
          <a:xfrm>
            <a:off x="1402463" y="1740153"/>
            <a:ext cx="3651558" cy="502710"/>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66" name="Rounded Rectangle 320">
            <a:extLst>
              <a:ext uri="{FF2B5EF4-FFF2-40B4-BE49-F238E27FC236}">
                <a16:creationId xmlns:a16="http://schemas.microsoft.com/office/drawing/2014/main" id="{70508080-4FED-294C-9D0D-78B9AED5A157}"/>
              </a:ext>
            </a:extLst>
          </p:cNvPr>
          <p:cNvSpPr/>
          <p:nvPr/>
        </p:nvSpPr>
        <p:spPr>
          <a:xfrm>
            <a:off x="1775321" y="1860455"/>
            <a:ext cx="807731" cy="315144"/>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a:solidFill>
                  <a:srgbClr val="000000"/>
                </a:solidFill>
                <a:cs typeface="Arial"/>
              </a:rPr>
              <a:t>网络图</a:t>
            </a:r>
          </a:p>
        </p:txBody>
      </p:sp>
      <p:sp>
        <p:nvSpPr>
          <p:cNvPr id="167" name="Rounded Rectangle 323">
            <a:extLst>
              <a:ext uri="{FF2B5EF4-FFF2-40B4-BE49-F238E27FC236}">
                <a16:creationId xmlns:a16="http://schemas.microsoft.com/office/drawing/2014/main" id="{238BD2F6-10FC-6749-9824-BF523F2C8381}"/>
              </a:ext>
            </a:extLst>
          </p:cNvPr>
          <p:cNvSpPr/>
          <p:nvPr/>
        </p:nvSpPr>
        <p:spPr>
          <a:xfrm>
            <a:off x="4092459" y="1825319"/>
            <a:ext cx="80532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defRPr/>
            </a:pPr>
            <a:r>
              <a:rPr lang="zh-CN" altLang="en-US" sz="900" kern="0" dirty="0">
                <a:solidFill>
                  <a:srgbClr val="000000"/>
                </a:solidFill>
                <a:cs typeface="Arial"/>
              </a:rPr>
              <a:t>意图</a:t>
            </a:r>
            <a:r>
              <a:rPr lang="en-US" altLang="zh-CN" sz="900" kern="0" dirty="0" smtClean="0">
                <a:solidFill>
                  <a:srgbClr val="000000"/>
                </a:solidFill>
                <a:cs typeface="Arial"/>
              </a:rPr>
              <a:t>API</a:t>
            </a:r>
            <a:endParaRPr lang="en-US" altLang="zh-CN" sz="900" kern="0" dirty="0">
              <a:solidFill>
                <a:srgbClr val="000000"/>
              </a:solidFill>
              <a:cs typeface="Arial"/>
            </a:endParaRPr>
          </a:p>
        </p:txBody>
      </p:sp>
      <p:sp>
        <p:nvSpPr>
          <p:cNvPr id="168" name="Rounded Rectangle 326">
            <a:extLst>
              <a:ext uri="{FF2B5EF4-FFF2-40B4-BE49-F238E27FC236}">
                <a16:creationId xmlns:a16="http://schemas.microsoft.com/office/drawing/2014/main" id="{F5B67F4E-4B50-0049-AB26-880C7EF3F117}"/>
              </a:ext>
            </a:extLst>
          </p:cNvPr>
          <p:cNvSpPr/>
          <p:nvPr/>
        </p:nvSpPr>
        <p:spPr>
          <a:xfrm>
            <a:off x="2807355" y="1807781"/>
            <a:ext cx="85477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altLang="zh-CN" sz="900" kern="0" dirty="0">
                <a:solidFill>
                  <a:srgbClr val="000000"/>
                </a:solidFill>
                <a:cs typeface="Arial"/>
              </a:rPr>
              <a:t>REST</a:t>
            </a:r>
            <a:r>
              <a:rPr lang="zh-CN" altLang="en-US" sz="900" kern="0" dirty="0">
                <a:solidFill>
                  <a:srgbClr val="000000"/>
                </a:solidFill>
                <a:cs typeface="Arial"/>
              </a:rPr>
              <a:t>风格</a:t>
            </a:r>
            <a:endParaRPr lang="en-US" altLang="zh-CN" sz="900" kern="0" dirty="0">
              <a:solidFill>
                <a:srgbClr val="000000"/>
              </a:solidFill>
              <a:cs typeface="Arial"/>
            </a:endParaRPr>
          </a:p>
          <a:p>
            <a:pPr algn="ctr" eaLnBrk="0" fontAlgn="base" hangingPunct="0">
              <a:spcBef>
                <a:spcPct val="0"/>
              </a:spcBef>
              <a:spcAft>
                <a:spcPct val="0"/>
              </a:spcAft>
            </a:pPr>
            <a:r>
              <a:rPr lang="zh-CN" altLang="en-US" sz="900" kern="0" dirty="0">
                <a:solidFill>
                  <a:srgbClr val="000000"/>
                </a:solidFill>
                <a:cs typeface="Arial"/>
              </a:rPr>
              <a:t>的</a:t>
            </a:r>
            <a:r>
              <a:rPr lang="en-US" altLang="zh-CN" sz="900" kern="0" dirty="0">
                <a:solidFill>
                  <a:srgbClr val="000000"/>
                </a:solidFill>
                <a:cs typeface="Arial"/>
              </a:rPr>
              <a:t>API</a:t>
            </a:r>
          </a:p>
        </p:txBody>
      </p:sp>
      <p:sp>
        <p:nvSpPr>
          <p:cNvPr id="169" name="TextBox 328">
            <a:extLst>
              <a:ext uri="{FF2B5EF4-FFF2-40B4-BE49-F238E27FC236}">
                <a16:creationId xmlns:a16="http://schemas.microsoft.com/office/drawing/2014/main" id="{38B852BE-9C6C-474A-AD5F-393039D0D661}"/>
              </a:ext>
            </a:extLst>
          </p:cNvPr>
          <p:cNvSpPr txBox="1"/>
          <p:nvPr/>
        </p:nvSpPr>
        <p:spPr>
          <a:xfrm>
            <a:off x="3710590" y="1822987"/>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a:t>
            </a:r>
            <a:r>
              <a:rPr lang="en-US" sz="1600" dirty="0">
                <a:solidFill>
                  <a:srgbClr val="00CC99">
                    <a:lumMod val="60000"/>
                    <a:lumOff val="40000"/>
                  </a:srgbClr>
                </a:solidFill>
              </a:rPr>
              <a:t>  </a:t>
            </a:r>
          </a:p>
        </p:txBody>
      </p:sp>
      <p:sp>
        <p:nvSpPr>
          <p:cNvPr id="171" name="TextBox 32"/>
          <p:cNvSpPr txBox="1"/>
          <p:nvPr/>
        </p:nvSpPr>
        <p:spPr>
          <a:xfrm>
            <a:off x="287569" y="2438928"/>
            <a:ext cx="1058600" cy="400110"/>
          </a:xfrm>
          <a:prstGeom prst="rect">
            <a:avLst/>
          </a:prstGeom>
          <a:noFill/>
        </p:spPr>
        <p:txBody>
          <a:bodyPr wrap="square" rtlCol="0">
            <a:spAutoFit/>
          </a:bodyPr>
          <a:lstStyle/>
          <a:p>
            <a:pPr algn="ctr"/>
            <a:r>
              <a:rPr lang="zh-CN" altLang="en-US" sz="1000" dirty="0" smtClean="0">
                <a:cs typeface="Times New Roman" pitchFamily="18" charset="0"/>
              </a:rPr>
              <a:t>网络范围的</a:t>
            </a:r>
            <a:endParaRPr lang="en-US" altLang="zh-CN" sz="1000" dirty="0" smtClean="0">
              <a:cs typeface="Times New Roman" pitchFamily="18" charset="0"/>
            </a:endParaRPr>
          </a:p>
          <a:p>
            <a:pPr algn="ctr"/>
            <a:r>
              <a:rPr lang="zh-CN" altLang="en-US" sz="1000" dirty="0" smtClean="0">
                <a:cs typeface="Times New Roman" pitchFamily="18" charset="0"/>
              </a:rPr>
              <a:t>状态管理层</a:t>
            </a:r>
            <a:endParaRPr lang="zh-CN" altLang="en-US" sz="1000" dirty="0">
              <a:cs typeface="Times New Roman" pitchFamily="18" charset="0"/>
            </a:endParaRPr>
          </a:p>
        </p:txBody>
      </p:sp>
      <p:sp>
        <p:nvSpPr>
          <p:cNvPr id="172" name="TextBox 33"/>
          <p:cNvSpPr txBox="1"/>
          <p:nvPr/>
        </p:nvSpPr>
        <p:spPr>
          <a:xfrm>
            <a:off x="278637" y="1628414"/>
            <a:ext cx="1052919" cy="553998"/>
          </a:xfrm>
          <a:prstGeom prst="rect">
            <a:avLst/>
          </a:prstGeom>
          <a:noFill/>
        </p:spPr>
        <p:txBody>
          <a:bodyPr wrap="square" rtlCol="0">
            <a:spAutoFit/>
          </a:bodyPr>
          <a:lstStyle/>
          <a:p>
            <a:pPr algn="ctr"/>
            <a:r>
              <a:rPr lang="zh-CN" altLang="en-US" sz="1000" dirty="0" smtClean="0">
                <a:cs typeface="Times New Roman" pitchFamily="18" charset="0"/>
              </a:rPr>
              <a:t>到网络控制</a:t>
            </a:r>
            <a:endParaRPr lang="en-US" altLang="zh-CN" sz="1000" dirty="0" smtClean="0">
              <a:cs typeface="Times New Roman" pitchFamily="18" charset="0"/>
            </a:endParaRPr>
          </a:p>
          <a:p>
            <a:pPr algn="ctr"/>
            <a:r>
              <a:rPr lang="zh-CN" altLang="en-US" sz="1000" dirty="0" smtClean="0">
                <a:cs typeface="Times New Roman" pitchFamily="18" charset="0"/>
              </a:rPr>
              <a:t>应用程序层</a:t>
            </a:r>
            <a:endParaRPr lang="en-US" altLang="zh-CN" sz="1000" dirty="0" smtClean="0">
              <a:cs typeface="Times New Roman" pitchFamily="18" charset="0"/>
            </a:endParaRPr>
          </a:p>
          <a:p>
            <a:pPr algn="ctr"/>
            <a:r>
              <a:rPr lang="zh-CN" altLang="en-US" sz="1000" dirty="0" smtClean="0">
                <a:cs typeface="Times New Roman" pitchFamily="18" charset="0"/>
              </a:rPr>
              <a:t>的接口</a:t>
            </a:r>
            <a:endParaRPr lang="zh-CN" altLang="en-US" sz="1000" dirty="0">
              <a:cs typeface="Times New Roman" pitchFamily="18" charset="0"/>
            </a:endParaRPr>
          </a:p>
        </p:txBody>
      </p:sp>
      <p:sp>
        <p:nvSpPr>
          <p:cNvPr id="173" name="Rounded Rectangle 318">
            <a:extLst>
              <a:ext uri="{FF2B5EF4-FFF2-40B4-BE49-F238E27FC236}">
                <a16:creationId xmlns:a16="http://schemas.microsoft.com/office/drawing/2014/main" id="{9FC19565-BA27-CF4F-9461-F1C46FCA8EEF}"/>
              </a:ext>
            </a:extLst>
          </p:cNvPr>
          <p:cNvSpPr/>
          <p:nvPr/>
        </p:nvSpPr>
        <p:spPr>
          <a:xfrm>
            <a:off x="1371184" y="1106248"/>
            <a:ext cx="3651558" cy="507498"/>
          </a:xfrm>
          <a:prstGeom prst="roundRect">
            <a:avLst/>
          </a:prstGeom>
          <a:solidFill>
            <a:schemeClr val="tx2">
              <a:lumMod val="20000"/>
              <a:lumOff val="80000"/>
            </a:schemeClr>
          </a:solidFill>
          <a:ln w="12700">
            <a:noFill/>
            <a:tailEnd type="arrow"/>
          </a:ln>
        </p:spPr>
        <p:txBody>
          <a:bodyPr vert="horz" wrap="non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1400" kern="0" dirty="0">
              <a:solidFill>
                <a:srgbClr val="000000"/>
              </a:solidFill>
              <a:latin typeface="Arial" charset="0"/>
              <a:ea typeface="ＭＳ Ｐゴシック" charset="0"/>
            </a:endParaRPr>
          </a:p>
        </p:txBody>
      </p:sp>
      <p:sp>
        <p:nvSpPr>
          <p:cNvPr id="174" name="Rounded Rectangle 320">
            <a:extLst>
              <a:ext uri="{FF2B5EF4-FFF2-40B4-BE49-F238E27FC236}">
                <a16:creationId xmlns:a16="http://schemas.microsoft.com/office/drawing/2014/main" id="{70508080-4FED-294C-9D0D-78B9AED5A157}"/>
              </a:ext>
            </a:extLst>
          </p:cNvPr>
          <p:cNvSpPr/>
          <p:nvPr/>
        </p:nvSpPr>
        <p:spPr>
          <a:xfrm>
            <a:off x="1483943" y="1177779"/>
            <a:ext cx="807731"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路由计算</a:t>
            </a:r>
            <a:endParaRPr lang="zh-CN" altLang="en-US" sz="900" kern="0" dirty="0">
              <a:solidFill>
                <a:srgbClr val="000000"/>
              </a:solidFill>
              <a:cs typeface="Arial"/>
            </a:endParaRPr>
          </a:p>
        </p:txBody>
      </p:sp>
      <p:sp>
        <p:nvSpPr>
          <p:cNvPr id="175" name="Rounded Rectangle 323">
            <a:extLst>
              <a:ext uri="{FF2B5EF4-FFF2-40B4-BE49-F238E27FC236}">
                <a16:creationId xmlns:a16="http://schemas.microsoft.com/office/drawing/2014/main" id="{238BD2F6-10FC-6749-9824-BF523F2C8381}"/>
              </a:ext>
            </a:extLst>
          </p:cNvPr>
          <p:cNvSpPr/>
          <p:nvPr/>
        </p:nvSpPr>
        <p:spPr>
          <a:xfrm>
            <a:off x="4061180" y="1196203"/>
            <a:ext cx="80532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defRPr/>
            </a:pPr>
            <a:r>
              <a:rPr lang="zh-CN" altLang="en-US" sz="900" kern="0" dirty="0" smtClean="0">
                <a:solidFill>
                  <a:srgbClr val="000000"/>
                </a:solidFill>
                <a:cs typeface="Arial"/>
              </a:rPr>
              <a:t>负载均衡</a:t>
            </a:r>
            <a:endParaRPr lang="en-US" altLang="zh-CN" sz="900" kern="0" dirty="0">
              <a:solidFill>
                <a:srgbClr val="000000"/>
              </a:solidFill>
              <a:cs typeface="Arial"/>
            </a:endParaRPr>
          </a:p>
        </p:txBody>
      </p:sp>
      <p:sp>
        <p:nvSpPr>
          <p:cNvPr id="176" name="Rounded Rectangle 326">
            <a:extLst>
              <a:ext uri="{FF2B5EF4-FFF2-40B4-BE49-F238E27FC236}">
                <a16:creationId xmlns:a16="http://schemas.microsoft.com/office/drawing/2014/main" id="{F5B67F4E-4B50-0049-AB26-880C7EF3F117}"/>
              </a:ext>
            </a:extLst>
          </p:cNvPr>
          <p:cNvSpPr/>
          <p:nvPr/>
        </p:nvSpPr>
        <p:spPr>
          <a:xfrm>
            <a:off x="2712176" y="1178665"/>
            <a:ext cx="854775" cy="366587"/>
          </a:xfrm>
          <a:prstGeom prst="roundRect">
            <a:avLst/>
          </a:prstGeom>
          <a:ln/>
        </p:spPr>
        <p:style>
          <a:lnRef idx="1">
            <a:schemeClr val="accent6"/>
          </a:lnRef>
          <a:fillRef idx="2">
            <a:schemeClr val="accent6"/>
          </a:fillRef>
          <a:effectRef idx="1">
            <a:schemeClr val="accent6"/>
          </a:effectRef>
          <a:fontRef idx="minor">
            <a:schemeClr val="dk1"/>
          </a:fontRef>
        </p:style>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zh-CN" altLang="en-US" sz="900" kern="0" dirty="0" smtClean="0">
                <a:solidFill>
                  <a:srgbClr val="000000"/>
                </a:solidFill>
                <a:cs typeface="Arial"/>
              </a:rPr>
              <a:t>流量工程</a:t>
            </a:r>
            <a:endParaRPr lang="en-US" altLang="zh-CN" sz="900" kern="0" dirty="0">
              <a:solidFill>
                <a:srgbClr val="000000"/>
              </a:solidFill>
              <a:cs typeface="Arial"/>
            </a:endParaRPr>
          </a:p>
        </p:txBody>
      </p:sp>
      <p:sp>
        <p:nvSpPr>
          <p:cNvPr id="177" name="TextBox 328">
            <a:extLst>
              <a:ext uri="{FF2B5EF4-FFF2-40B4-BE49-F238E27FC236}">
                <a16:creationId xmlns:a16="http://schemas.microsoft.com/office/drawing/2014/main" id="{38B852BE-9C6C-474A-AD5F-393039D0D661}"/>
              </a:ext>
            </a:extLst>
          </p:cNvPr>
          <p:cNvSpPr txBox="1"/>
          <p:nvPr/>
        </p:nvSpPr>
        <p:spPr>
          <a:xfrm>
            <a:off x="3574982" y="1193871"/>
            <a:ext cx="418704" cy="338554"/>
          </a:xfrm>
          <a:prstGeom prst="rect">
            <a:avLst/>
          </a:prstGeom>
          <a:noFill/>
        </p:spPr>
        <p:txBody>
          <a:bodyPr wrap="none" rtlCol="0">
            <a:spAutoFit/>
          </a:bodyPr>
          <a:lstStyle/>
          <a:p>
            <a:pPr eaLnBrk="0" fontAlgn="base" hangingPunct="0">
              <a:spcBef>
                <a:spcPct val="0"/>
              </a:spcBef>
              <a:spcAft>
                <a:spcPct val="0"/>
              </a:spcAft>
            </a:pPr>
            <a:r>
              <a:rPr lang="en-US" sz="1600" dirty="0"/>
              <a:t>…</a:t>
            </a:r>
            <a:r>
              <a:rPr lang="en-US" sz="1600" dirty="0">
                <a:solidFill>
                  <a:srgbClr val="00CC99">
                    <a:lumMod val="60000"/>
                    <a:lumOff val="40000"/>
                  </a:srgbClr>
                </a:solidFill>
              </a:rPr>
              <a:t>  </a:t>
            </a:r>
          </a:p>
        </p:txBody>
      </p:sp>
      <p:pic>
        <p:nvPicPr>
          <p:cNvPr id="7" name="图片 6"/>
          <p:cNvPicPr>
            <a:picLocks noChangeAspect="1"/>
          </p:cNvPicPr>
          <p:nvPr/>
        </p:nvPicPr>
        <p:blipFill>
          <a:blip r:embed="rId4"/>
          <a:stretch>
            <a:fillRect/>
          </a:stretch>
        </p:blipFill>
        <p:spPr>
          <a:xfrm>
            <a:off x="2890904" y="4602706"/>
            <a:ext cx="320184" cy="196000"/>
          </a:xfrm>
          <a:prstGeom prst="rect">
            <a:avLst/>
          </a:prstGeom>
        </p:spPr>
      </p:pic>
      <p:pic>
        <p:nvPicPr>
          <p:cNvPr id="8" name="图片 7"/>
          <p:cNvPicPr>
            <a:picLocks noChangeAspect="1"/>
          </p:cNvPicPr>
          <p:nvPr/>
        </p:nvPicPr>
        <p:blipFill>
          <a:blip r:embed="rId5"/>
          <a:stretch>
            <a:fillRect/>
          </a:stretch>
        </p:blipFill>
        <p:spPr>
          <a:xfrm>
            <a:off x="2115693" y="4358753"/>
            <a:ext cx="320184" cy="196000"/>
          </a:xfrm>
          <a:prstGeom prst="rect">
            <a:avLst/>
          </a:prstGeom>
        </p:spPr>
      </p:pic>
      <p:pic>
        <p:nvPicPr>
          <p:cNvPr id="9" name="图片 8"/>
          <p:cNvPicPr>
            <a:picLocks noChangeAspect="1"/>
          </p:cNvPicPr>
          <p:nvPr/>
        </p:nvPicPr>
        <p:blipFill>
          <a:blip r:embed="rId6"/>
          <a:stretch>
            <a:fillRect/>
          </a:stretch>
        </p:blipFill>
        <p:spPr>
          <a:xfrm>
            <a:off x="2879609" y="4217160"/>
            <a:ext cx="320184" cy="196000"/>
          </a:xfrm>
          <a:prstGeom prst="rect">
            <a:avLst/>
          </a:prstGeom>
        </p:spPr>
      </p:pic>
      <p:pic>
        <p:nvPicPr>
          <p:cNvPr id="10" name="图片 9"/>
          <p:cNvPicPr>
            <a:picLocks noChangeAspect="1"/>
          </p:cNvPicPr>
          <p:nvPr/>
        </p:nvPicPr>
        <p:blipFill>
          <a:blip r:embed="rId7"/>
          <a:stretch>
            <a:fillRect/>
          </a:stretch>
        </p:blipFill>
        <p:spPr>
          <a:xfrm>
            <a:off x="3679853" y="4353887"/>
            <a:ext cx="320184" cy="196000"/>
          </a:xfrm>
          <a:prstGeom prst="rect">
            <a:avLst/>
          </a:prstGeom>
        </p:spPr>
      </p:pic>
      <p:cxnSp>
        <p:nvCxnSpPr>
          <p:cNvPr id="12" name="直接连接符 11"/>
          <p:cNvCxnSpPr>
            <a:stCxn id="8" idx="3"/>
            <a:endCxn id="7" idx="1"/>
          </p:cNvCxnSpPr>
          <p:nvPr/>
        </p:nvCxnSpPr>
        <p:spPr>
          <a:xfrm>
            <a:off x="2435877" y="4456753"/>
            <a:ext cx="455027" cy="2439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7" idx="3"/>
            <a:endCxn id="10" idx="1"/>
          </p:cNvCxnSpPr>
          <p:nvPr/>
        </p:nvCxnSpPr>
        <p:spPr>
          <a:xfrm flipV="1">
            <a:off x="3211088" y="4451887"/>
            <a:ext cx="468765" cy="24881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0" name="直接连接符 179"/>
          <p:cNvCxnSpPr>
            <a:stCxn id="10" idx="1"/>
            <a:endCxn id="9" idx="3"/>
          </p:cNvCxnSpPr>
          <p:nvPr/>
        </p:nvCxnSpPr>
        <p:spPr>
          <a:xfrm flipH="1" flipV="1">
            <a:off x="3199793" y="4315160"/>
            <a:ext cx="480060" cy="136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2" name="直接连接符 181"/>
          <p:cNvCxnSpPr>
            <a:stCxn id="9" idx="1"/>
            <a:endCxn id="8" idx="3"/>
          </p:cNvCxnSpPr>
          <p:nvPr/>
        </p:nvCxnSpPr>
        <p:spPr>
          <a:xfrm flipH="1">
            <a:off x="2435877" y="4315160"/>
            <a:ext cx="443732" cy="1415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4" name="直接连接符 183"/>
          <p:cNvCxnSpPr>
            <a:stCxn id="9" idx="2"/>
            <a:endCxn id="7" idx="0"/>
          </p:cNvCxnSpPr>
          <p:nvPr/>
        </p:nvCxnSpPr>
        <p:spPr>
          <a:xfrm>
            <a:off x="3039701" y="4413160"/>
            <a:ext cx="11295" cy="189546"/>
          </a:xfrm>
          <a:prstGeom prst="line">
            <a:avLst/>
          </a:prstGeom>
        </p:spPr>
        <p:style>
          <a:lnRef idx="1">
            <a:schemeClr val="accent1"/>
          </a:lnRef>
          <a:fillRef idx="0">
            <a:schemeClr val="accent1"/>
          </a:fillRef>
          <a:effectRef idx="0">
            <a:schemeClr val="accent1"/>
          </a:effectRef>
          <a:fontRef idx="minor">
            <a:schemeClr val="tx1"/>
          </a:fontRef>
        </p:style>
      </p:cxnSp>
      <p:pic>
        <p:nvPicPr>
          <p:cNvPr id="190" name="Picture 98"/>
          <p:cNvPicPr>
            <a:picLocks noChangeArrowheads="1"/>
          </p:cNvPicPr>
          <p:nvPr/>
        </p:nvPicPr>
        <p:blipFill>
          <a:blip r:embed="rId8" cstate="print"/>
          <a:srcRect/>
          <a:stretch>
            <a:fillRect/>
          </a:stretch>
        </p:blipFill>
        <p:spPr bwMode="auto">
          <a:xfrm>
            <a:off x="1579690" y="4356865"/>
            <a:ext cx="202900" cy="197257"/>
          </a:xfrm>
          <a:prstGeom prst="rect">
            <a:avLst/>
          </a:prstGeom>
          <a:noFill/>
          <a:ln w="9525">
            <a:noFill/>
            <a:miter lim="800000"/>
            <a:headEnd/>
            <a:tailEnd/>
          </a:ln>
        </p:spPr>
      </p:pic>
      <p:pic>
        <p:nvPicPr>
          <p:cNvPr id="191" name="Picture 21"/>
          <p:cNvPicPr>
            <a:picLocks noChangeArrowheads="1"/>
          </p:cNvPicPr>
          <p:nvPr/>
        </p:nvPicPr>
        <p:blipFill>
          <a:blip r:embed="rId9" cstate="print"/>
          <a:srcRect/>
          <a:stretch>
            <a:fillRect/>
          </a:stretch>
        </p:blipFill>
        <p:spPr bwMode="auto">
          <a:xfrm>
            <a:off x="4335255" y="4315082"/>
            <a:ext cx="147167" cy="256497"/>
          </a:xfrm>
          <a:prstGeom prst="rect">
            <a:avLst/>
          </a:prstGeom>
          <a:noFill/>
          <a:ln w="12699">
            <a:noFill/>
            <a:miter lim="800000"/>
            <a:headEnd/>
            <a:tailEnd/>
          </a:ln>
          <a:effectLst/>
        </p:spPr>
      </p:pic>
      <p:cxnSp>
        <p:nvCxnSpPr>
          <p:cNvPr id="193" name="直接连接符 192"/>
          <p:cNvCxnSpPr>
            <a:stCxn id="190" idx="3"/>
            <a:endCxn id="8" idx="1"/>
          </p:cNvCxnSpPr>
          <p:nvPr/>
        </p:nvCxnSpPr>
        <p:spPr>
          <a:xfrm>
            <a:off x="1782590" y="4455494"/>
            <a:ext cx="333103" cy="12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10" idx="3"/>
            <a:endCxn id="191" idx="1"/>
          </p:cNvCxnSpPr>
          <p:nvPr/>
        </p:nvCxnSpPr>
        <p:spPr>
          <a:xfrm flipV="1">
            <a:off x="4000037" y="4443331"/>
            <a:ext cx="335218" cy="8556"/>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2130742" y="3730191"/>
            <a:ext cx="145043" cy="615350"/>
            <a:chOff x="2130742" y="3840252"/>
            <a:chExt cx="145043" cy="615350"/>
          </a:xfrm>
        </p:grpSpPr>
        <p:cxnSp>
          <p:nvCxnSpPr>
            <p:cNvPr id="197" name="直接箭头连接符 196"/>
            <p:cNvCxnSpPr/>
            <p:nvPr/>
          </p:nvCxnSpPr>
          <p:spPr>
            <a:xfrm flipH="1" flipV="1">
              <a:off x="2171949" y="3840252"/>
              <a:ext cx="103836" cy="61535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1" name="Oval 371">
              <a:extLst>
                <a:ext uri="{FF2B5EF4-FFF2-40B4-BE49-F238E27FC236}">
                  <a16:creationId xmlns:a16="http://schemas.microsoft.com/office/drawing/2014/main" id="{64D78EC7-F7C7-3F45-961B-64EA2E033912}"/>
                </a:ext>
              </a:extLst>
            </p:cNvPr>
            <p:cNvSpPr/>
            <p:nvPr/>
          </p:nvSpPr>
          <p:spPr>
            <a:xfrm>
              <a:off x="2130742" y="4019543"/>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1</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4" name="组合 3"/>
          <p:cNvGrpSpPr/>
          <p:nvPr/>
        </p:nvGrpSpPr>
        <p:grpSpPr>
          <a:xfrm>
            <a:off x="1855760" y="1531153"/>
            <a:ext cx="144000" cy="324000"/>
            <a:chOff x="1855760" y="1641214"/>
            <a:chExt cx="144000" cy="324000"/>
          </a:xfrm>
        </p:grpSpPr>
        <p:cxnSp>
          <p:nvCxnSpPr>
            <p:cNvPr id="210" name="直接箭头连接符 209"/>
            <p:cNvCxnSpPr/>
            <p:nvPr/>
          </p:nvCxnSpPr>
          <p:spPr>
            <a:xfrm flipV="1">
              <a:off x="1921932" y="1641214"/>
              <a:ext cx="0" cy="324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52" name="Oval 371">
              <a:extLst>
                <a:ext uri="{FF2B5EF4-FFF2-40B4-BE49-F238E27FC236}">
                  <a16:creationId xmlns:a16="http://schemas.microsoft.com/office/drawing/2014/main" id="{64D78EC7-F7C7-3F45-961B-64EA2E033912}"/>
                </a:ext>
              </a:extLst>
            </p:cNvPr>
            <p:cNvSpPr/>
            <p:nvPr/>
          </p:nvSpPr>
          <p:spPr>
            <a:xfrm>
              <a:off x="1855760" y="1750930"/>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4</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11" name="组合 10"/>
          <p:cNvGrpSpPr/>
          <p:nvPr/>
        </p:nvGrpSpPr>
        <p:grpSpPr>
          <a:xfrm>
            <a:off x="2137833" y="1535703"/>
            <a:ext cx="1923347" cy="1314188"/>
            <a:chOff x="2137833" y="1645764"/>
            <a:chExt cx="1923347" cy="1314188"/>
          </a:xfrm>
        </p:grpSpPr>
        <p:grpSp>
          <p:nvGrpSpPr>
            <p:cNvPr id="249" name="组合 248"/>
            <p:cNvGrpSpPr/>
            <p:nvPr/>
          </p:nvGrpSpPr>
          <p:grpSpPr>
            <a:xfrm>
              <a:off x="2137833" y="1645764"/>
              <a:ext cx="1923347" cy="1314188"/>
              <a:chOff x="2137833" y="1653896"/>
              <a:chExt cx="1923347" cy="1314188"/>
            </a:xfrm>
          </p:grpSpPr>
          <p:cxnSp>
            <p:nvCxnSpPr>
              <p:cNvPr id="216" name="直接箭头连接符 215"/>
              <p:cNvCxnSpPr/>
              <p:nvPr/>
            </p:nvCxnSpPr>
            <p:spPr>
              <a:xfrm flipV="1">
                <a:off x="2142067" y="1653896"/>
                <a:ext cx="0" cy="1260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a:off x="2137833" y="1781487"/>
                <a:ext cx="1907117" cy="2556"/>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0" name="直接箭头连接符 219"/>
              <p:cNvCxnSpPr/>
              <p:nvPr/>
            </p:nvCxnSpPr>
            <p:spPr>
              <a:xfrm>
                <a:off x="4044950" y="1783604"/>
                <a:ext cx="16230" cy="118448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253" name="Oval 371">
              <a:extLst>
                <a:ext uri="{FF2B5EF4-FFF2-40B4-BE49-F238E27FC236}">
                  <a16:creationId xmlns:a16="http://schemas.microsoft.com/office/drawing/2014/main" id="{64D78EC7-F7C7-3F45-961B-64EA2E033912}"/>
                </a:ext>
              </a:extLst>
            </p:cNvPr>
            <p:cNvSpPr/>
            <p:nvPr/>
          </p:nvSpPr>
          <p:spPr>
            <a:xfrm>
              <a:off x="2642208" y="1703539"/>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5</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13" name="组合 12"/>
          <p:cNvGrpSpPr/>
          <p:nvPr/>
        </p:nvGrpSpPr>
        <p:grpSpPr>
          <a:xfrm>
            <a:off x="2472267" y="3171766"/>
            <a:ext cx="1588913" cy="333573"/>
            <a:chOff x="2472267" y="3281827"/>
            <a:chExt cx="1588913" cy="333573"/>
          </a:xfrm>
        </p:grpSpPr>
        <p:grpSp>
          <p:nvGrpSpPr>
            <p:cNvPr id="250" name="组合 249"/>
            <p:cNvGrpSpPr/>
            <p:nvPr/>
          </p:nvGrpSpPr>
          <p:grpSpPr>
            <a:xfrm>
              <a:off x="2472267" y="3281827"/>
              <a:ext cx="1588913" cy="333573"/>
              <a:chOff x="2472267" y="3295039"/>
              <a:chExt cx="1588913" cy="333573"/>
            </a:xfrm>
          </p:grpSpPr>
          <p:cxnSp>
            <p:nvCxnSpPr>
              <p:cNvPr id="224" name="直接连接符 223"/>
              <p:cNvCxnSpPr/>
              <p:nvPr/>
            </p:nvCxnSpPr>
            <p:spPr>
              <a:xfrm>
                <a:off x="4053065" y="3295039"/>
                <a:ext cx="0" cy="125494"/>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flipH="1" flipV="1">
                <a:off x="2472267" y="3422650"/>
                <a:ext cx="1588913" cy="4233"/>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28" name="直接箭头连接符 227"/>
              <p:cNvCxnSpPr/>
              <p:nvPr/>
            </p:nvCxnSpPr>
            <p:spPr>
              <a:xfrm>
                <a:off x="2476282" y="3420533"/>
                <a:ext cx="0" cy="208079"/>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254" name="Oval 371">
              <a:extLst>
                <a:ext uri="{FF2B5EF4-FFF2-40B4-BE49-F238E27FC236}">
                  <a16:creationId xmlns:a16="http://schemas.microsoft.com/office/drawing/2014/main" id="{64D78EC7-F7C7-3F45-961B-64EA2E033912}"/>
                </a:ext>
              </a:extLst>
            </p:cNvPr>
            <p:cNvSpPr/>
            <p:nvPr/>
          </p:nvSpPr>
          <p:spPr>
            <a:xfrm>
              <a:off x="3415613" y="3355756"/>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6</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15" name="组合 14"/>
          <p:cNvGrpSpPr/>
          <p:nvPr/>
        </p:nvGrpSpPr>
        <p:grpSpPr>
          <a:xfrm>
            <a:off x="2290120" y="3739641"/>
            <a:ext cx="1418335" cy="961065"/>
            <a:chOff x="2290120" y="3849702"/>
            <a:chExt cx="1418335" cy="961065"/>
          </a:xfrm>
        </p:grpSpPr>
        <p:cxnSp>
          <p:nvCxnSpPr>
            <p:cNvPr id="230" name="直接箭头连接符 229"/>
            <p:cNvCxnSpPr/>
            <p:nvPr/>
          </p:nvCxnSpPr>
          <p:spPr>
            <a:xfrm>
              <a:off x="2480521" y="3849702"/>
              <a:ext cx="0" cy="208079"/>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直接箭头连接符 231"/>
            <p:cNvCxnSpPr/>
            <p:nvPr/>
          </p:nvCxnSpPr>
          <p:spPr>
            <a:xfrm flipH="1">
              <a:off x="2290120" y="4060445"/>
              <a:ext cx="189157" cy="394389"/>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4" name="直接箭头连接符 233"/>
            <p:cNvCxnSpPr>
              <a:endCxn id="7" idx="1"/>
            </p:cNvCxnSpPr>
            <p:nvPr/>
          </p:nvCxnSpPr>
          <p:spPr>
            <a:xfrm>
              <a:off x="2476282" y="4060445"/>
              <a:ext cx="414622" cy="750322"/>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36" name="直接箭头连接符 235"/>
            <p:cNvCxnSpPr/>
            <p:nvPr/>
          </p:nvCxnSpPr>
          <p:spPr>
            <a:xfrm>
              <a:off x="2484455" y="4070993"/>
              <a:ext cx="1224000" cy="432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55" name="Oval 371">
              <a:extLst>
                <a:ext uri="{FF2B5EF4-FFF2-40B4-BE49-F238E27FC236}">
                  <a16:creationId xmlns:a16="http://schemas.microsoft.com/office/drawing/2014/main" id="{64D78EC7-F7C7-3F45-961B-64EA2E033912}"/>
                </a:ext>
              </a:extLst>
            </p:cNvPr>
            <p:cNvSpPr/>
            <p:nvPr/>
          </p:nvSpPr>
          <p:spPr>
            <a:xfrm>
              <a:off x="2421916" y="4005075"/>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7</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grpSp>
        <p:nvGrpSpPr>
          <p:cNvPr id="3" name="组合 2"/>
          <p:cNvGrpSpPr/>
          <p:nvPr/>
        </p:nvGrpSpPr>
        <p:grpSpPr>
          <a:xfrm>
            <a:off x="1941967" y="3178358"/>
            <a:ext cx="229981" cy="327929"/>
            <a:chOff x="1941967" y="3178358"/>
            <a:chExt cx="229981" cy="327929"/>
          </a:xfrm>
        </p:grpSpPr>
        <p:cxnSp>
          <p:nvCxnSpPr>
            <p:cNvPr id="201" name="直接连接符 200"/>
            <p:cNvCxnSpPr/>
            <p:nvPr/>
          </p:nvCxnSpPr>
          <p:spPr>
            <a:xfrm flipH="1">
              <a:off x="1941967" y="3348794"/>
              <a:ext cx="229981" cy="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204" name="直接箭头连接符 203"/>
            <p:cNvCxnSpPr/>
            <p:nvPr/>
          </p:nvCxnSpPr>
          <p:spPr>
            <a:xfrm flipV="1">
              <a:off x="1941967" y="3178358"/>
              <a:ext cx="0" cy="180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51" name="Oval 371">
              <a:extLst>
                <a:ext uri="{FF2B5EF4-FFF2-40B4-BE49-F238E27FC236}">
                  <a16:creationId xmlns:a16="http://schemas.microsoft.com/office/drawing/2014/main" id="{64D78EC7-F7C7-3F45-961B-64EA2E033912}"/>
                </a:ext>
              </a:extLst>
            </p:cNvPr>
            <p:cNvSpPr/>
            <p:nvPr/>
          </p:nvSpPr>
          <p:spPr>
            <a:xfrm>
              <a:off x="1976751" y="3279290"/>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2</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cxnSp>
          <p:nvCxnSpPr>
            <p:cNvPr id="75" name="直接箭头连接符 74"/>
            <p:cNvCxnSpPr/>
            <p:nvPr/>
          </p:nvCxnSpPr>
          <p:spPr>
            <a:xfrm flipV="1">
              <a:off x="2162420" y="3344287"/>
              <a:ext cx="0" cy="162000"/>
            </a:xfrm>
            <a:prstGeom prst="straightConnector1">
              <a:avLst/>
            </a:prstGeom>
            <a:ln w="19050">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1532756" y="1549508"/>
            <a:ext cx="356242" cy="1308493"/>
            <a:chOff x="1532756" y="1659569"/>
            <a:chExt cx="356242" cy="1308493"/>
          </a:xfrm>
        </p:grpSpPr>
        <p:grpSp>
          <p:nvGrpSpPr>
            <p:cNvPr id="77" name="组合 76"/>
            <p:cNvGrpSpPr/>
            <p:nvPr/>
          </p:nvGrpSpPr>
          <p:grpSpPr>
            <a:xfrm>
              <a:off x="1600361" y="1659569"/>
              <a:ext cx="288637" cy="1308493"/>
              <a:chOff x="1600361" y="1659569"/>
              <a:chExt cx="571588" cy="1957925"/>
            </a:xfrm>
          </p:grpSpPr>
          <p:cxnSp>
            <p:nvCxnSpPr>
              <p:cNvPr id="79" name="直接连接符 78"/>
              <p:cNvCxnSpPr/>
              <p:nvPr/>
            </p:nvCxnSpPr>
            <p:spPr>
              <a:xfrm flipV="1">
                <a:off x="2154037" y="3437494"/>
                <a:ext cx="0" cy="18000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1600361" y="3437495"/>
                <a:ext cx="571588" cy="0"/>
              </a:xfrm>
              <a:prstGeom prst="line">
                <a:avLst/>
              </a:prstGeom>
              <a:ln w="19050">
                <a:solidFill>
                  <a:srgbClr val="C00000"/>
                </a:solidFill>
                <a:prstDash val="solid"/>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flipV="1">
                <a:off x="1618273" y="1659569"/>
                <a:ext cx="0" cy="1782000"/>
              </a:xfrm>
              <a:prstGeom prst="straightConnector1">
                <a:avLst/>
              </a:prstGeom>
              <a:ln w="19050">
                <a:solidFill>
                  <a:srgbClr val="C00000"/>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78" name="Oval 371">
              <a:extLst>
                <a:ext uri="{FF2B5EF4-FFF2-40B4-BE49-F238E27FC236}">
                  <a16:creationId xmlns:a16="http://schemas.microsoft.com/office/drawing/2014/main" id="{64D78EC7-F7C7-3F45-961B-64EA2E033912}"/>
                </a:ext>
              </a:extLst>
            </p:cNvPr>
            <p:cNvSpPr/>
            <p:nvPr/>
          </p:nvSpPr>
          <p:spPr>
            <a:xfrm>
              <a:off x="1532756" y="2269071"/>
              <a:ext cx="144000" cy="144000"/>
            </a:xfrm>
            <a:prstGeom prst="ellipse">
              <a:avLst/>
            </a:prstGeom>
            <a:solidFill>
              <a:srgbClr val="FFFFFF"/>
            </a:solidFill>
            <a:ln w="12700">
              <a:solidFill>
                <a:srgbClr val="C00000"/>
              </a:solidFill>
            </a:ln>
          </p:spPr>
          <p:txBody>
            <a:bodyPr vert="horz" wrap="none" lIns="0" tIns="0" rIns="0" bIns="0" numCol="1" rtlCol="0" anchor="ctr" anchorCtr="0" compatLnSpc="1">
              <a:prstTxWarp prst="textNoShape">
                <a:avLst/>
              </a:prstTxWarp>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900" b="0" i="0" u="none" strike="noStrike" kern="0" cap="none" spc="0" normalizeH="0" baseline="0" noProof="0" dirty="0" smtClean="0">
                  <a:ln>
                    <a:noFill/>
                  </a:ln>
                  <a:solidFill>
                    <a:srgbClr val="000000"/>
                  </a:solidFill>
                  <a:effectLst/>
                  <a:uLnTx/>
                  <a:uFillTx/>
                  <a:latin typeface="Arial"/>
                  <a:ea typeface="ＭＳ Ｐゴシック" charset="0"/>
                  <a:cs typeface="Arial"/>
                </a:rPr>
                <a:t>3</a:t>
              </a:r>
              <a:endParaRPr kumimoji="0" lang="en-US" sz="900" b="0" i="0" u="none" strike="noStrike" kern="0" cap="none" spc="0" normalizeH="0" baseline="0" noProof="0" dirty="0">
                <a:ln>
                  <a:noFill/>
                </a:ln>
                <a:solidFill>
                  <a:srgbClr val="000000"/>
                </a:solidFill>
                <a:effectLst/>
                <a:uLnTx/>
                <a:uFillTx/>
                <a:latin typeface="Arial"/>
                <a:ea typeface="ＭＳ Ｐゴシック" charset="0"/>
                <a:cs typeface="Arial"/>
              </a:endParaRPr>
            </a:p>
          </p:txBody>
        </p:sp>
      </p:grpSp>
      <p:sp>
        <p:nvSpPr>
          <p:cNvPr id="83" name="Rectangle 8"/>
          <p:cNvSpPr>
            <a:spLocks noChangeArrowheads="1"/>
          </p:cNvSpPr>
          <p:nvPr/>
        </p:nvSpPr>
        <p:spPr bwMode="auto">
          <a:xfrm>
            <a:off x="5212752" y="1212024"/>
            <a:ext cx="374951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000"/>
              </a:lnSpc>
              <a:buClr>
                <a:srgbClr val="0070C0"/>
              </a:buClr>
              <a:buFont typeface="Wingdings" pitchFamily="2" charset="2"/>
              <a:buChar char="l"/>
            </a:pPr>
            <a:r>
              <a:rPr lang="zh-CN" altLang="en-US" sz="1000" b="1" dirty="0">
                <a:latin typeface="微软雅黑" pitchFamily="34" charset="-122"/>
                <a:ea typeface="微软雅黑" pitchFamily="34" charset="-122"/>
              </a:rPr>
              <a:t>① </a:t>
            </a:r>
            <a:r>
              <a:rPr lang="en-US" altLang="zh-CN" sz="1000" b="1" dirty="0" smtClean="0">
                <a:latin typeface="微软雅黑" pitchFamily="34" charset="-122"/>
                <a:ea typeface="微软雅黑" pitchFamily="34" charset="-122"/>
              </a:rPr>
              <a:t>S1</a:t>
            </a:r>
            <a:r>
              <a:rPr lang="zh-CN" altLang="en-US" sz="1000" b="1" dirty="0">
                <a:latin typeface="微软雅黑" pitchFamily="34" charset="-122"/>
                <a:ea typeface="微软雅黑" pitchFamily="34" charset="-122"/>
              </a:rPr>
              <a:t>发现链路中断后，主动上报该事件。</a:t>
            </a:r>
          </a:p>
          <a:p>
            <a:pPr marL="285750" indent="-285750">
              <a:lnSpc>
                <a:spcPts val="2000"/>
              </a:lnSpc>
              <a:buClr>
                <a:srgbClr val="0070C0"/>
              </a:buClr>
              <a:buFont typeface="Wingdings" pitchFamily="2" charset="2"/>
              <a:buChar char="l"/>
            </a:pPr>
            <a:r>
              <a:rPr lang="zh-CN" altLang="en-US" sz="1000" b="1" dirty="0" smtClean="0">
                <a:latin typeface="微软雅黑" pitchFamily="34" charset="-122"/>
                <a:ea typeface="微软雅黑" pitchFamily="34" charset="-122"/>
              </a:rPr>
              <a:t>② </a:t>
            </a:r>
            <a:r>
              <a:rPr lang="en-US" altLang="zh-CN" sz="1000" b="1" dirty="0" smtClean="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协议模块解析该事件，获取事件对应的详细信息，随后将该信息发送至链路状态信息模块。</a:t>
            </a:r>
          </a:p>
          <a:p>
            <a:pPr marL="285750" indent="-285750">
              <a:lnSpc>
                <a:spcPts val="2000"/>
              </a:lnSpc>
              <a:buClr>
                <a:srgbClr val="0070C0"/>
              </a:buClr>
              <a:buFont typeface="Wingdings" pitchFamily="2" charset="2"/>
              <a:buChar char="l"/>
            </a:pPr>
            <a:r>
              <a:rPr lang="zh-CN" altLang="en-US" sz="1000" b="1" dirty="0" smtClean="0">
                <a:latin typeface="微软雅黑" pitchFamily="34" charset="-122"/>
                <a:ea typeface="微软雅黑" pitchFamily="34" charset="-122"/>
              </a:rPr>
              <a:t>③ 链路</a:t>
            </a:r>
            <a:r>
              <a:rPr lang="zh-CN" altLang="en-US" sz="1000" b="1" dirty="0">
                <a:latin typeface="微软雅黑" pitchFamily="34" charset="-122"/>
                <a:ea typeface="微软雅黑" pitchFamily="34" charset="-122"/>
              </a:rPr>
              <a:t>状态信息模块收到链路中断信息，更新所维护的链路状态数据库，并通知路由计算应用计算新的路由。</a:t>
            </a:r>
          </a:p>
          <a:p>
            <a:pPr marL="285750" indent="-285750">
              <a:lnSpc>
                <a:spcPts val="2000"/>
              </a:lnSpc>
              <a:buClr>
                <a:srgbClr val="0070C0"/>
              </a:buClr>
              <a:buFont typeface="Wingdings" pitchFamily="2" charset="2"/>
              <a:buChar char="l"/>
            </a:pPr>
            <a:r>
              <a:rPr lang="zh-CN" altLang="en-US" sz="1000" b="1" dirty="0" smtClean="0">
                <a:latin typeface="微软雅黑" pitchFamily="34" charset="-122"/>
                <a:ea typeface="微软雅黑" pitchFamily="34" charset="-122"/>
              </a:rPr>
              <a:t>④ 路由</a:t>
            </a:r>
            <a:r>
              <a:rPr lang="zh-CN" altLang="en-US" sz="1000" b="1" dirty="0">
                <a:latin typeface="微软雅黑" pitchFamily="34" charset="-122"/>
                <a:ea typeface="微软雅黑" pitchFamily="34" charset="-122"/>
              </a:rPr>
              <a:t>计算应用通过北向接口获取当前网络视图信息，并计算获得当前情况下的最优转发路径</a:t>
            </a:r>
            <a:r>
              <a:rPr lang="en-US" altLang="zh-CN" sz="1000" b="1" dirty="0">
                <a:latin typeface="微软雅黑" pitchFamily="34" charset="-122"/>
                <a:ea typeface="微软雅黑" pitchFamily="34" charset="-122"/>
              </a:rPr>
              <a:t>S1→S3→S4</a:t>
            </a:r>
            <a:r>
              <a:rPr lang="zh-CN" altLang="en-US" sz="1000" b="1" dirty="0">
                <a:latin typeface="微软雅黑" pitchFamily="34" charset="-122"/>
                <a:ea typeface="微软雅黑" pitchFamily="34" charset="-122"/>
              </a:rPr>
              <a:t>。</a:t>
            </a:r>
          </a:p>
          <a:p>
            <a:pPr marL="285750" indent="-285750">
              <a:lnSpc>
                <a:spcPts val="2000"/>
              </a:lnSpc>
              <a:buClr>
                <a:srgbClr val="0070C0"/>
              </a:buClr>
              <a:buFont typeface="Wingdings" pitchFamily="2" charset="2"/>
              <a:buChar char="l"/>
            </a:pPr>
            <a:r>
              <a:rPr lang="zh-CN" altLang="en-US" sz="1000" b="1" dirty="0" smtClean="0">
                <a:latin typeface="微软雅黑" pitchFamily="34" charset="-122"/>
                <a:ea typeface="微软雅黑" pitchFamily="34" charset="-122"/>
              </a:rPr>
              <a:t>⑤ 路由</a:t>
            </a:r>
            <a:r>
              <a:rPr lang="zh-CN" altLang="en-US" sz="1000" b="1" dirty="0">
                <a:latin typeface="微软雅黑" pitchFamily="34" charset="-122"/>
                <a:ea typeface="微软雅黑" pitchFamily="34" charset="-122"/>
              </a:rPr>
              <a:t>计算应用将该路径发送至流表管理模块。</a:t>
            </a:r>
          </a:p>
          <a:p>
            <a:pPr marL="285750" indent="-285750">
              <a:lnSpc>
                <a:spcPts val="2000"/>
              </a:lnSpc>
              <a:buClr>
                <a:srgbClr val="0070C0"/>
              </a:buClr>
              <a:buFont typeface="Wingdings" pitchFamily="2" charset="2"/>
              <a:buChar char="l"/>
            </a:pPr>
            <a:r>
              <a:rPr lang="zh-CN" altLang="en-US" sz="1000" b="1" dirty="0" smtClean="0">
                <a:latin typeface="微软雅黑" pitchFamily="34" charset="-122"/>
                <a:ea typeface="微软雅黑" pitchFamily="34" charset="-122"/>
              </a:rPr>
              <a:t>⑥ 流</a:t>
            </a:r>
            <a:r>
              <a:rPr lang="zh-CN" altLang="en-US" sz="1000" b="1" dirty="0">
                <a:latin typeface="微软雅黑" pitchFamily="34" charset="-122"/>
                <a:ea typeface="微软雅黑" pitchFamily="34" charset="-122"/>
              </a:rPr>
              <a:t>表管理模块根据路径信息生成流表项，并调用</a:t>
            </a:r>
            <a:r>
              <a:rPr lang="en-US" altLang="zh-CN" sz="1000" b="1" dirty="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协议模块下发流表项。</a:t>
            </a:r>
          </a:p>
          <a:p>
            <a:pPr marL="285750" indent="-285750">
              <a:lnSpc>
                <a:spcPts val="2000"/>
              </a:lnSpc>
              <a:buClr>
                <a:srgbClr val="0070C0"/>
              </a:buClr>
              <a:buFont typeface="Wingdings" pitchFamily="2" charset="2"/>
              <a:buChar char="l"/>
            </a:pPr>
            <a:r>
              <a:rPr lang="zh-CN" altLang="en-US" sz="1000" b="1" dirty="0" smtClean="0">
                <a:latin typeface="微软雅黑" pitchFamily="34" charset="-122"/>
                <a:ea typeface="微软雅黑" pitchFamily="34" charset="-122"/>
              </a:rPr>
              <a:t>⑦ </a:t>
            </a:r>
            <a:r>
              <a:rPr lang="en-US" altLang="zh-CN" sz="1000" b="1" dirty="0" smtClean="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协议模块将流表项下发至对应的</a:t>
            </a:r>
            <a:r>
              <a:rPr lang="en-US" altLang="zh-CN" sz="1000" b="1" dirty="0">
                <a:latin typeface="微软雅黑" pitchFamily="34" charset="-122"/>
                <a:ea typeface="微软雅黑" pitchFamily="34" charset="-122"/>
              </a:rPr>
              <a:t>OpenFlow</a:t>
            </a:r>
            <a:r>
              <a:rPr lang="zh-CN" altLang="en-US" sz="1000" b="1" dirty="0">
                <a:latin typeface="微软雅黑" pitchFamily="34" charset="-122"/>
                <a:ea typeface="微软雅黑" pitchFamily="34" charset="-122"/>
              </a:rPr>
              <a:t>交换机。交换机随后即可根据流表项正常转发分组。</a:t>
            </a:r>
          </a:p>
        </p:txBody>
      </p:sp>
      <p:sp>
        <p:nvSpPr>
          <p:cNvPr id="84" name="TextBox 34"/>
          <p:cNvSpPr txBox="1"/>
          <p:nvPr/>
        </p:nvSpPr>
        <p:spPr>
          <a:xfrm>
            <a:off x="2082626" y="4477635"/>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1</a:t>
            </a:r>
            <a:endParaRPr lang="zh-CN" altLang="en-US" sz="1000" baseline="-25000" dirty="0">
              <a:cs typeface="Times New Roman" pitchFamily="18" charset="0"/>
            </a:endParaRPr>
          </a:p>
        </p:txBody>
      </p:sp>
      <p:sp>
        <p:nvSpPr>
          <p:cNvPr id="85" name="TextBox 34"/>
          <p:cNvSpPr txBox="1"/>
          <p:nvPr/>
        </p:nvSpPr>
        <p:spPr>
          <a:xfrm>
            <a:off x="2735991" y="4283910"/>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2</a:t>
            </a:r>
            <a:endParaRPr lang="zh-CN" altLang="en-US" sz="1000" baseline="-25000" dirty="0">
              <a:cs typeface="Times New Roman" pitchFamily="18" charset="0"/>
            </a:endParaRPr>
          </a:p>
        </p:txBody>
      </p:sp>
      <p:sp>
        <p:nvSpPr>
          <p:cNvPr id="86" name="TextBox 34"/>
          <p:cNvSpPr txBox="1"/>
          <p:nvPr/>
        </p:nvSpPr>
        <p:spPr>
          <a:xfrm>
            <a:off x="3012378" y="4400229"/>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3</a:t>
            </a:r>
            <a:endParaRPr lang="zh-CN" altLang="en-US" sz="1000" baseline="-25000" dirty="0">
              <a:cs typeface="Times New Roman" pitchFamily="18" charset="0"/>
            </a:endParaRPr>
          </a:p>
        </p:txBody>
      </p:sp>
      <p:sp>
        <p:nvSpPr>
          <p:cNvPr id="87" name="TextBox 34"/>
          <p:cNvSpPr txBox="1"/>
          <p:nvPr/>
        </p:nvSpPr>
        <p:spPr>
          <a:xfrm>
            <a:off x="3661372" y="4100364"/>
            <a:ext cx="358586" cy="246221"/>
          </a:xfrm>
          <a:prstGeom prst="rect">
            <a:avLst/>
          </a:prstGeom>
          <a:noFill/>
        </p:spPr>
        <p:txBody>
          <a:bodyPr wrap="square" rtlCol="0">
            <a:spAutoFit/>
          </a:bodyPr>
          <a:lstStyle/>
          <a:p>
            <a:pPr algn="ctr"/>
            <a:r>
              <a:rPr lang="en-US" altLang="zh-CN" sz="1000" dirty="0" smtClean="0">
                <a:cs typeface="Times New Roman" pitchFamily="18" charset="0"/>
              </a:rPr>
              <a:t>S</a:t>
            </a:r>
            <a:r>
              <a:rPr lang="en-US" altLang="zh-CN" sz="1000" baseline="-25000" dirty="0" smtClean="0">
                <a:cs typeface="Times New Roman" pitchFamily="18" charset="0"/>
              </a:rPr>
              <a:t>4</a:t>
            </a:r>
            <a:endParaRPr lang="zh-CN" altLang="en-US" sz="1000" baseline="-25000" dirty="0">
              <a:cs typeface="Times New Roman" pitchFamily="18" charset="0"/>
            </a:endParaRPr>
          </a:p>
        </p:txBody>
      </p:sp>
      <p:sp>
        <p:nvSpPr>
          <p:cNvPr id="90" name="TextBox 34"/>
          <p:cNvSpPr txBox="1"/>
          <p:nvPr/>
        </p:nvSpPr>
        <p:spPr>
          <a:xfrm>
            <a:off x="1303936" y="4327342"/>
            <a:ext cx="358586" cy="246221"/>
          </a:xfrm>
          <a:prstGeom prst="rect">
            <a:avLst/>
          </a:prstGeom>
          <a:noFill/>
        </p:spPr>
        <p:txBody>
          <a:bodyPr wrap="square" rtlCol="0">
            <a:spAutoFit/>
          </a:bodyPr>
          <a:lstStyle/>
          <a:p>
            <a:pPr algn="ctr"/>
            <a:r>
              <a:rPr lang="en-US" altLang="zh-CN" sz="1000" dirty="0" smtClean="0">
                <a:cs typeface="Times New Roman" pitchFamily="18" charset="0"/>
              </a:rPr>
              <a:t>H</a:t>
            </a:r>
            <a:r>
              <a:rPr lang="en-US" altLang="zh-CN" sz="1000" baseline="-25000" dirty="0" smtClean="0">
                <a:cs typeface="Times New Roman" pitchFamily="18" charset="0"/>
              </a:rPr>
              <a:t>1</a:t>
            </a:r>
            <a:endParaRPr lang="zh-CN" altLang="en-US" sz="1000" baseline="-25000" dirty="0">
              <a:cs typeface="Times New Roman" pitchFamily="18" charset="0"/>
            </a:endParaRPr>
          </a:p>
        </p:txBody>
      </p:sp>
      <p:sp>
        <p:nvSpPr>
          <p:cNvPr id="91" name="TextBox 34"/>
          <p:cNvSpPr txBox="1"/>
          <p:nvPr/>
        </p:nvSpPr>
        <p:spPr>
          <a:xfrm>
            <a:off x="4408232" y="4316993"/>
            <a:ext cx="409407" cy="246221"/>
          </a:xfrm>
          <a:prstGeom prst="rect">
            <a:avLst/>
          </a:prstGeom>
          <a:noFill/>
        </p:spPr>
        <p:txBody>
          <a:bodyPr wrap="square" rtlCol="0">
            <a:spAutoFit/>
          </a:bodyPr>
          <a:lstStyle/>
          <a:p>
            <a:pPr algn="ctr"/>
            <a:r>
              <a:rPr lang="en-US" altLang="zh-CN" sz="1000" dirty="0" smtClean="0">
                <a:cs typeface="Times New Roman" pitchFamily="18" charset="0"/>
              </a:rPr>
              <a:t>W</a:t>
            </a:r>
            <a:r>
              <a:rPr lang="en-US" altLang="zh-CN" sz="1000" baseline="-25000" dirty="0" smtClean="0">
                <a:cs typeface="Times New Roman" pitchFamily="18" charset="0"/>
              </a:rPr>
              <a:t>1</a:t>
            </a:r>
            <a:endParaRPr lang="zh-CN" altLang="en-US" sz="1000" baseline="-25000" dirty="0">
              <a:cs typeface="Times New Roman" pitchFamily="18" charset="0"/>
            </a:endParaRPr>
          </a:p>
        </p:txBody>
      </p:sp>
    </p:spTree>
    <p:custDataLst>
      <p:tags r:id="rId1"/>
    </p:custDataLst>
    <p:extLst>
      <p:ext uri="{BB962C8B-B14F-4D97-AF65-F5344CB8AC3E}">
        <p14:creationId xmlns:p14="http://schemas.microsoft.com/office/powerpoint/2010/main" val="41862310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3">
                                            <p:txEl>
                                              <p:pRg st="0" end="0"/>
                                            </p:txEl>
                                          </p:spTgt>
                                        </p:tgtEl>
                                        <p:attrNameLst>
                                          <p:attrName>style.visibility</p:attrName>
                                        </p:attrNameLst>
                                      </p:cBhvr>
                                      <p:to>
                                        <p:strVal val="visible"/>
                                      </p:to>
                                    </p:set>
                                    <p:animEffect transition="in" filter="fade">
                                      <p:cBhvr>
                                        <p:cTn id="11" dur="500"/>
                                        <p:tgtEl>
                                          <p:spTgt spid="8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83">
                                            <p:txEl>
                                              <p:pRg st="1" end="1"/>
                                            </p:txEl>
                                          </p:spTgt>
                                        </p:tgtEl>
                                        <p:attrNameLst>
                                          <p:attrName>style.visibility</p:attrName>
                                        </p:attrNameLst>
                                      </p:cBhvr>
                                      <p:to>
                                        <p:strVal val="visible"/>
                                      </p:to>
                                    </p:set>
                                    <p:animEffect transition="in" filter="fade">
                                      <p:cBhvr>
                                        <p:cTn id="20" dur="500"/>
                                        <p:tgtEl>
                                          <p:spTgt spid="8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down)">
                                      <p:cBhvr>
                                        <p:cTn id="25" dur="500"/>
                                        <p:tgtEl>
                                          <p:spTgt spid="17"/>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83">
                                            <p:txEl>
                                              <p:pRg st="2" end="2"/>
                                            </p:txEl>
                                          </p:spTgt>
                                        </p:tgtEl>
                                        <p:attrNameLst>
                                          <p:attrName>style.visibility</p:attrName>
                                        </p:attrNameLst>
                                      </p:cBhvr>
                                      <p:to>
                                        <p:strVal val="visible"/>
                                      </p:to>
                                    </p:set>
                                    <p:animEffect transition="in" filter="fade">
                                      <p:cBhvr>
                                        <p:cTn id="29" dur="500"/>
                                        <p:tgtEl>
                                          <p:spTgt spid="8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down)">
                                      <p:cBhvr>
                                        <p:cTn id="34" dur="500"/>
                                        <p:tgtEl>
                                          <p:spTgt spid="4"/>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83">
                                            <p:txEl>
                                              <p:pRg st="3" end="3"/>
                                            </p:txEl>
                                          </p:spTgt>
                                        </p:tgtEl>
                                        <p:attrNameLst>
                                          <p:attrName>style.visibility</p:attrName>
                                        </p:attrNameLst>
                                      </p:cBhvr>
                                      <p:to>
                                        <p:strVal val="visible"/>
                                      </p:to>
                                    </p:set>
                                    <p:animEffect transition="in" filter="fade">
                                      <p:cBhvr>
                                        <p:cTn id="38" dur="500"/>
                                        <p:tgtEl>
                                          <p:spTgt spid="8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up)">
                                      <p:cBhvr>
                                        <p:cTn id="43" dur="500"/>
                                        <p:tgtEl>
                                          <p:spTgt spid="11"/>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83">
                                            <p:txEl>
                                              <p:pRg st="4" end="4"/>
                                            </p:txEl>
                                          </p:spTgt>
                                        </p:tgtEl>
                                        <p:attrNameLst>
                                          <p:attrName>style.visibility</p:attrName>
                                        </p:attrNameLst>
                                      </p:cBhvr>
                                      <p:to>
                                        <p:strVal val="visible"/>
                                      </p:to>
                                    </p:set>
                                    <p:animEffect transition="in" filter="fade">
                                      <p:cBhvr>
                                        <p:cTn id="47" dur="500"/>
                                        <p:tgtEl>
                                          <p:spTgt spid="8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right)">
                                      <p:cBhvr>
                                        <p:cTn id="52" dur="500"/>
                                        <p:tgtEl>
                                          <p:spTgt spid="13"/>
                                        </p:tgtEl>
                                      </p:cBhvr>
                                    </p:animEffect>
                                  </p:childTnLst>
                                </p:cTn>
                              </p:par>
                            </p:childTnLst>
                          </p:cTn>
                        </p:par>
                        <p:par>
                          <p:cTn id="53" fill="hold">
                            <p:stCondLst>
                              <p:cond delay="500"/>
                            </p:stCondLst>
                            <p:childTnLst>
                              <p:par>
                                <p:cTn id="54" presetID="10" presetClass="entr" presetSubtype="0" fill="hold" nodeType="afterEffect">
                                  <p:stCondLst>
                                    <p:cond delay="0"/>
                                  </p:stCondLst>
                                  <p:childTnLst>
                                    <p:set>
                                      <p:cBhvr>
                                        <p:cTn id="55" dur="1" fill="hold">
                                          <p:stCondLst>
                                            <p:cond delay="0"/>
                                          </p:stCondLst>
                                        </p:cTn>
                                        <p:tgtEl>
                                          <p:spTgt spid="83">
                                            <p:txEl>
                                              <p:pRg st="5" end="5"/>
                                            </p:txEl>
                                          </p:spTgt>
                                        </p:tgtEl>
                                        <p:attrNameLst>
                                          <p:attrName>style.visibility</p:attrName>
                                        </p:attrNameLst>
                                      </p:cBhvr>
                                      <p:to>
                                        <p:strVal val="visible"/>
                                      </p:to>
                                    </p:set>
                                    <p:animEffect transition="in" filter="fade">
                                      <p:cBhvr>
                                        <p:cTn id="56" dur="500"/>
                                        <p:tgtEl>
                                          <p:spTgt spid="8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up)">
                                      <p:cBhvr>
                                        <p:cTn id="61" dur="500"/>
                                        <p:tgtEl>
                                          <p:spTgt spid="15"/>
                                        </p:tgtEl>
                                      </p:cBhvr>
                                    </p:animEffect>
                                  </p:childTnLst>
                                </p:cTn>
                              </p:par>
                            </p:childTnLst>
                          </p:cTn>
                        </p:par>
                        <p:par>
                          <p:cTn id="62" fill="hold">
                            <p:stCondLst>
                              <p:cond delay="500"/>
                            </p:stCondLst>
                            <p:childTnLst>
                              <p:par>
                                <p:cTn id="63" presetID="10" presetClass="entr" presetSubtype="0" fill="hold" nodeType="afterEffect">
                                  <p:stCondLst>
                                    <p:cond delay="0"/>
                                  </p:stCondLst>
                                  <p:childTnLst>
                                    <p:set>
                                      <p:cBhvr>
                                        <p:cTn id="64" dur="1" fill="hold">
                                          <p:stCondLst>
                                            <p:cond delay="0"/>
                                          </p:stCondLst>
                                        </p:cTn>
                                        <p:tgtEl>
                                          <p:spTgt spid="83">
                                            <p:txEl>
                                              <p:pRg st="6" end="6"/>
                                            </p:txEl>
                                          </p:spTgt>
                                        </p:tgtEl>
                                        <p:attrNameLst>
                                          <p:attrName>style.visibility</p:attrName>
                                        </p:attrNameLst>
                                      </p:cBhvr>
                                      <p:to>
                                        <p:strVal val="visible"/>
                                      </p:to>
                                    </p:set>
                                    <p:animEffect transition="in" filter="fade">
                                      <p:cBhvr>
                                        <p:cTn id="65" dur="500"/>
                                        <p:tgtEl>
                                          <p:spTgt spid="8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5">
            <a:extLst>
              <a:ext uri="{FF2B5EF4-FFF2-40B4-BE49-F238E27FC236}">
                <a16:creationId xmlns:a16="http://schemas.microsoft.com/office/drawing/2014/main" id="{B2AA1E60-782C-6849-AF84-B063430DBAAE}"/>
              </a:ext>
            </a:extLst>
          </p:cNvPr>
          <p:cNvSpPr>
            <a:spLocks noGrp="1"/>
          </p:cNvSpPr>
          <p:nvPr>
            <p:ph sz="quarter" idx="4294967295"/>
          </p:nvPr>
        </p:nvSpPr>
        <p:spPr>
          <a:xfrm>
            <a:off x="385011" y="1014255"/>
            <a:ext cx="4704979" cy="3480744"/>
          </a:xfrm>
        </p:spPr>
        <p:txBody>
          <a:bodyPr>
            <a:noAutofit/>
          </a:bodyPr>
          <a:lstStyle/>
          <a:p>
            <a:pPr>
              <a:lnSpc>
                <a:spcPct val="140000"/>
              </a:lnSpc>
              <a:spcBef>
                <a:spcPts val="0"/>
              </a:spcBef>
            </a:pPr>
            <a:r>
              <a:rPr lang="en-US" altLang="zh-CN" sz="1800" b="1" dirty="0" err="1">
                <a:latin typeface="微软雅黑" panose="020B0503020204020204" pitchFamily="34" charset="-122"/>
                <a:ea typeface="微软雅黑" panose="020B0503020204020204" pitchFamily="34" charset="-122"/>
                <a:cs typeface="Times New Roman" panose="02020603050405020304" pitchFamily="18" charset="0"/>
              </a:rPr>
              <a:t>OpenFlow</a:t>
            </a:r>
            <a:r>
              <a:rPr lang="en-US" altLang="zh-CN" sz="1800" b="1" dirty="0">
                <a:latin typeface="微软雅黑" panose="020B0503020204020204" pitchFamily="34" charset="-122"/>
                <a:ea typeface="微软雅黑" panose="020B0503020204020204" pitchFamily="34" charset="-122"/>
                <a:cs typeface="Times New Roman" panose="02020603050405020304" pitchFamily="18" charset="0"/>
              </a:rPr>
              <a:t> 1.0 </a:t>
            </a: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局限性</a:t>
            </a:r>
            <a:endParaRPr lang="en-US" altLang="zh-CN" sz="18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40000"/>
              </a:lnSpc>
              <a:spcBef>
                <a:spcPts val="0"/>
              </a:spcBef>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能够匹配的首部字段数量有限（</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12</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个）</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lvl="2">
              <a:lnSpc>
                <a:spcPct val="14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地址、目的</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地址</a:t>
            </a:r>
          </a:p>
          <a:p>
            <a:pPr lvl="2">
              <a:lnSpc>
                <a:spcPct val="14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源</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地址、目的</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地址</a:t>
            </a:r>
          </a:p>
          <a:p>
            <a:pPr lvl="2">
              <a:lnSpc>
                <a:spcPct val="14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传输层协议、端口号</a:t>
            </a:r>
          </a:p>
          <a:p>
            <a:pPr lvl="2">
              <a:lnSpc>
                <a:spcPct val="140000"/>
              </a:lnSpc>
              <a:spcBef>
                <a:spcPts val="0"/>
              </a:spcBef>
            </a:pP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40000"/>
              </a:lnSpc>
              <a:spcBef>
                <a:spcPts val="0"/>
              </a:spcBef>
            </a:pP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后续版本的</a:t>
            </a:r>
            <a:r>
              <a:rPr lang="en-US" altLang="zh-CN" sz="1800" b="1" dirty="0" err="1">
                <a:latin typeface="微软雅黑" panose="020B0503020204020204" pitchFamily="34" charset="-122"/>
                <a:ea typeface="微软雅黑" panose="020B0503020204020204" pitchFamily="34" charset="-122"/>
                <a:cs typeface="Times New Roman" panose="02020603050405020304" pitchFamily="18" charset="0"/>
              </a:rPr>
              <a:t>OpenFlow</a:t>
            </a:r>
            <a:endParaRPr lang="en-US" altLang="zh-CN" sz="18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40000"/>
              </a:lnSpc>
              <a:spcBef>
                <a:spcPts val="0"/>
              </a:spcBef>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匹配字段不断增加</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40000"/>
              </a:lnSpc>
              <a:spcBef>
                <a:spcPts val="0"/>
              </a:spcBef>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是否足够？能否一直增加下去？</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6096048" y="1356896"/>
            <a:ext cx="2074793" cy="1333221"/>
          </a:xfrm>
          <a:prstGeom prst="rect">
            <a:avLst/>
          </a:prstGeom>
        </p:spPr>
      </p:pic>
      <p:sp>
        <p:nvSpPr>
          <p:cNvPr id="4" name="云形标注 3"/>
          <p:cNvSpPr/>
          <p:nvPr/>
        </p:nvSpPr>
        <p:spPr bwMode="auto">
          <a:xfrm>
            <a:off x="5089990" y="2994412"/>
            <a:ext cx="2926140" cy="1296144"/>
          </a:xfrm>
          <a:prstGeom prst="cloudCallout">
            <a:avLst>
              <a:gd name="adj1" fmla="val -49228"/>
              <a:gd name="adj2" fmla="val 43394"/>
            </a:avLst>
          </a:prstGeom>
          <a:solidFill>
            <a:srgbClr val="FFFF00">
              <a:alpha val="56000"/>
            </a:srgbClr>
          </a:solidFill>
          <a:ln>
            <a:noFill/>
          </a:ln>
          <a:effectLst/>
          <a:extLst/>
        </p:spPr>
        <p:txBody>
          <a:bodyPr vert="horz" wrap="square" lIns="68580" tIns="34290" rIns="68580" bIns="34290" numCol="1" rtlCol="0" anchor="ctr" anchorCtr="0" compatLnSpc="1">
            <a:prstTxWarp prst="textNoShape">
              <a:avLst/>
            </a:prstTxWarp>
          </a:bodyPr>
          <a:lstStyle/>
          <a:p>
            <a:pPr algn="ctr" defTabSz="685800" fontAlgn="base">
              <a:lnSpc>
                <a:spcPct val="120000"/>
              </a:lnSpc>
              <a:spcBef>
                <a:spcPct val="0"/>
              </a:spcBef>
              <a:spcAft>
                <a:spcPct val="0"/>
              </a:spcAft>
            </a:pPr>
            <a:r>
              <a:rPr lang="zh-CN" altLang="en-US" sz="1350" dirty="0">
                <a:solidFill>
                  <a:srgbClr val="FF0000"/>
                </a:solidFill>
              </a:rPr>
              <a:t>如果流表项不支持，在</a:t>
            </a:r>
            <a:r>
              <a:rPr lang="en-US" altLang="zh-CN" sz="1350" dirty="0" err="1">
                <a:solidFill>
                  <a:srgbClr val="FF0000"/>
                </a:solidFill>
              </a:rPr>
              <a:t>OpenFlow</a:t>
            </a:r>
            <a:r>
              <a:rPr lang="zh-CN" altLang="en-US" sz="1350" dirty="0">
                <a:solidFill>
                  <a:srgbClr val="FF0000"/>
                </a:solidFill>
              </a:rPr>
              <a:t>网络中是不是就绝对无法修改了，有无变通方法，优缺点？</a:t>
            </a:r>
            <a:endParaRPr lang="zh-CN" altLang="en-US" sz="1350" dirty="0">
              <a:solidFill>
                <a:srgbClr val="FF0000"/>
              </a:solidFill>
              <a:latin typeface="Calibri" pitchFamily="34" charset="0"/>
              <a:ea typeface="宋体" pitchFamily="2" charset="-122"/>
            </a:endParaRPr>
          </a:p>
        </p:txBody>
      </p:sp>
      <p:sp>
        <p:nvSpPr>
          <p:cNvPr id="12"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5"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b="1" dirty="0">
                <a:solidFill>
                  <a:schemeClr val="bg1"/>
                </a:solidFill>
                <a:latin typeface="微软雅黑" pitchFamily="34" charset="-122"/>
                <a:ea typeface="微软雅黑" pitchFamily="34" charset="-122"/>
              </a:rPr>
              <a:t>流表越来越复杂</a:t>
            </a:r>
            <a:endParaRPr lang="zh-CN" altLang="en-US" sz="24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1093256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xEl>
                                              <p:pRg st="7" end="7"/>
                                            </p:txEl>
                                          </p:spTgt>
                                        </p:tgtEl>
                                        <p:attrNameLst>
                                          <p:attrName>style.visibility</p:attrName>
                                        </p:attrNameLst>
                                      </p:cBhvr>
                                      <p:to>
                                        <p:strVal val="visible"/>
                                      </p:to>
                                    </p:set>
                                    <p:animEffect transition="in" filter="fade">
                                      <p:cBhvr>
                                        <p:cTn id="7" dur="500"/>
                                        <p:tgtEl>
                                          <p:spTgt spid="8">
                                            <p:txEl>
                                              <p:pRg st="7" end="7"/>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8" end="8"/>
                                            </p:txEl>
                                          </p:spTgt>
                                        </p:tgtEl>
                                        <p:attrNameLst>
                                          <p:attrName>style.visibility</p:attrName>
                                        </p:attrNameLst>
                                      </p:cBhvr>
                                      <p:to>
                                        <p:strVal val="visible"/>
                                      </p:to>
                                    </p:set>
                                    <p:animEffect transition="in" filter="fade">
                                      <p:cBhvr>
                                        <p:cTn id="10" dur="500"/>
                                        <p:tgtEl>
                                          <p:spTgt spid="8">
                                            <p:txEl>
                                              <p:pRg st="8" end="8"/>
                                            </p:txEl>
                                          </p:spTgt>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B60E0D5-1903-CE4B-B95D-C35AB92F5B89}"/>
              </a:ext>
            </a:extLst>
          </p:cNvPr>
          <p:cNvSpPr>
            <a:spLocks noGrp="1"/>
          </p:cNvSpPr>
          <p:nvPr>
            <p:ph sz="quarter" idx="13"/>
          </p:nvPr>
        </p:nvSpPr>
        <p:spPr>
          <a:xfrm>
            <a:off x="597229" y="1111466"/>
            <a:ext cx="5915025" cy="2068661"/>
          </a:xfrm>
        </p:spPr>
        <p:txBody>
          <a:bodyPr>
            <a:normAutofit lnSpcReduction="10000"/>
          </a:bodyPr>
          <a:lstStyle/>
          <a:p>
            <a:pPr marL="257175" indent="-257175" defTabSz="342900" eaLnBrk="0" fontAlgn="base" hangingPunct="0">
              <a:lnSpc>
                <a:spcPct val="150000"/>
              </a:lnSpc>
              <a:spcBef>
                <a:spcPts val="0"/>
              </a:spcBef>
              <a:spcAft>
                <a:spcPct val="0"/>
              </a:spcAft>
            </a:pPr>
            <a:r>
              <a:rPr lang="zh-CN" altLang="en-US" sz="2025" b="1" dirty="0">
                <a:latin typeface="微软雅黑" panose="020B0503020204020204" pitchFamily="34" charset="-122"/>
                <a:ea typeface="微软雅黑" panose="020B0503020204020204" pitchFamily="34" charset="-122"/>
                <a:cs typeface="Times New Roman" panose="02020603050405020304" pitchFamily="18" charset="0"/>
              </a:rPr>
              <a:t>能否让用户来自己定义和组合匹配字段？</a:t>
            </a:r>
            <a:endParaRPr lang="en-US" altLang="zh-CN" sz="2025" b="1" dirty="0">
              <a:latin typeface="微软雅黑" panose="020B0503020204020204" pitchFamily="34" charset="-122"/>
              <a:ea typeface="微软雅黑" panose="020B0503020204020204" pitchFamily="34" charset="-122"/>
              <a:cs typeface="Times New Roman" panose="02020603050405020304" pitchFamily="18" charset="0"/>
            </a:endParaRPr>
          </a:p>
          <a:p>
            <a:pPr marL="514350" lvl="1" indent="-257175" defTabSz="342900" eaLnBrk="0" fontAlgn="base" hangingPunct="0">
              <a:lnSpc>
                <a:spcPct val="150000"/>
              </a:lnSpc>
              <a:spcBef>
                <a:spcPts val="0"/>
              </a:spcBef>
              <a:spcAft>
                <a:spcPct val="0"/>
              </a:spcAft>
            </a:pP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协议无关的交换机体系结构：</a:t>
            </a:r>
            <a:r>
              <a:rPr lang="en-US" b="1" dirty="0" smtClean="0">
                <a:latin typeface="微软雅黑" panose="020B0503020204020204" pitchFamily="34" charset="-122"/>
                <a:ea typeface="微软雅黑" panose="020B0503020204020204" pitchFamily="34" charset="-122"/>
                <a:cs typeface="Times New Roman" panose="02020603050405020304" pitchFamily="18" charset="0"/>
              </a:rPr>
              <a:t>Protocol </a:t>
            </a:r>
            <a:r>
              <a:rPr lang="en-US" b="1" dirty="0">
                <a:latin typeface="微软雅黑" panose="020B0503020204020204" pitchFamily="34" charset="-122"/>
                <a:ea typeface="微软雅黑" panose="020B0503020204020204" pitchFamily="34" charset="-122"/>
                <a:cs typeface="Times New Roman" panose="02020603050405020304" pitchFamily="18" charset="0"/>
              </a:rPr>
              <a:t>Independent Switch </a:t>
            </a:r>
            <a:r>
              <a:rPr lang="en-US" b="1" dirty="0" smtClean="0">
                <a:latin typeface="微软雅黑" panose="020B0503020204020204" pitchFamily="34" charset="-122"/>
                <a:ea typeface="微软雅黑" panose="020B0503020204020204" pitchFamily="34" charset="-122"/>
                <a:cs typeface="Times New Roman" panose="02020603050405020304" pitchFamily="18" charset="0"/>
              </a:rPr>
              <a:t>Architecture</a:t>
            </a:r>
          </a:p>
          <a:p>
            <a:pPr marL="514350" lvl="1" indent="-257175" defTabSz="342900" eaLnBrk="0" fontAlgn="base" hangingPunct="0">
              <a:lnSpc>
                <a:spcPct val="150000"/>
              </a:lnSpc>
              <a:spcBef>
                <a:spcPts val="0"/>
              </a:spcBef>
              <a:spcAft>
                <a:spcPct val="0"/>
              </a:spcAft>
            </a:pP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交换机不再与具体的协议功能绑定</a:t>
            </a:r>
            <a:endParaRPr lang="en-US" sz="1800" b="1" i="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lvl="1" indent="-257175" defTabSz="342900" eaLnBrk="0" fontAlgn="base" hangingPunct="0">
              <a:lnSpc>
                <a:spcPct val="150000"/>
              </a:lnSpc>
              <a:spcBef>
                <a:spcPts val="0"/>
              </a:spcBef>
              <a:spcAft>
                <a:spcPct val="0"/>
              </a:spcAft>
            </a:pP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如何实现？需要从体系结构上做出改变</a:t>
            </a:r>
            <a:endParaRPr lang="en-US" sz="1800" b="1" dirty="0">
              <a:latin typeface="微软雅黑" panose="020B0503020204020204" pitchFamily="34" charset="-122"/>
              <a:ea typeface="微软雅黑" panose="020B0503020204020204" pitchFamily="34" charset="-122"/>
              <a:cs typeface="Times New Roman" panose="02020603050405020304" pitchFamily="18" charset="0"/>
            </a:endParaRPr>
          </a:p>
          <a:p>
            <a:pPr marL="557213" lvl="1" indent="-214313" defTabSz="342900" eaLnBrk="0" fontAlgn="base" hangingPunct="0">
              <a:lnSpc>
                <a:spcPct val="150000"/>
              </a:lnSpc>
              <a:spcBef>
                <a:spcPts val="0"/>
              </a:spcBef>
              <a:spcAft>
                <a:spcPct val="0"/>
              </a:spcAft>
            </a:pPr>
            <a:endParaRPr lang="en-US" sz="18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TextBox 8"/>
          <p:cNvSpPr txBox="1"/>
          <p:nvPr/>
        </p:nvSpPr>
        <p:spPr>
          <a:xfrm>
            <a:off x="895150" y="3526190"/>
            <a:ext cx="4759440" cy="769441"/>
          </a:xfrm>
          <a:prstGeom prst="rect">
            <a:avLst/>
          </a:prstGeom>
          <a:noFill/>
        </p:spPr>
        <p:txBody>
          <a:bodyPr wrap="square" rtlCol="0">
            <a:spAutoFit/>
          </a:bodyPr>
          <a:lstStyle/>
          <a:p>
            <a:pPr defTabSz="514350"/>
            <a:r>
              <a:rPr lang="en-US" altLang="zh-CN" sz="1100" dirty="0">
                <a:solidFill>
                  <a:prstClr val="black"/>
                </a:solidFill>
                <a:latin typeface="Candara" panose="020E0502030303020204"/>
              </a:rPr>
              <a:t>P. </a:t>
            </a:r>
            <a:r>
              <a:rPr lang="en-US" altLang="zh-CN" sz="1100" dirty="0" err="1">
                <a:solidFill>
                  <a:prstClr val="black"/>
                </a:solidFill>
                <a:latin typeface="Candara" panose="020E0502030303020204"/>
              </a:rPr>
              <a:t>Bosshart</a:t>
            </a:r>
            <a:r>
              <a:rPr lang="en-US" altLang="zh-CN" sz="1100" dirty="0">
                <a:solidFill>
                  <a:prstClr val="black"/>
                </a:solidFill>
                <a:latin typeface="Candara" panose="020E0502030303020204"/>
              </a:rPr>
              <a:t>, D. Daly, G. Gibb, M. Izzard, N. </a:t>
            </a:r>
            <a:r>
              <a:rPr lang="en-US" altLang="zh-CN" sz="1100" dirty="0" err="1">
                <a:solidFill>
                  <a:prstClr val="black"/>
                </a:solidFill>
                <a:latin typeface="Candara" panose="020E0502030303020204"/>
              </a:rPr>
              <a:t>McKeown</a:t>
            </a:r>
            <a:r>
              <a:rPr lang="en-US" altLang="zh-CN" sz="1100" dirty="0">
                <a:solidFill>
                  <a:prstClr val="black"/>
                </a:solidFill>
                <a:latin typeface="Candara" panose="020E0502030303020204"/>
              </a:rPr>
              <a:t>,  J. Rexford, C. Schlesinger, D. </a:t>
            </a:r>
            <a:r>
              <a:rPr lang="en-US" altLang="zh-CN" sz="1100" dirty="0" err="1">
                <a:solidFill>
                  <a:prstClr val="black"/>
                </a:solidFill>
                <a:latin typeface="Candara" panose="020E0502030303020204"/>
              </a:rPr>
              <a:t>Talayco</a:t>
            </a:r>
            <a:r>
              <a:rPr lang="en-US" altLang="zh-CN" sz="1100" dirty="0">
                <a:solidFill>
                  <a:prstClr val="black"/>
                </a:solidFill>
                <a:latin typeface="Candara" panose="020E0502030303020204"/>
              </a:rPr>
              <a:t>, A. </a:t>
            </a:r>
            <a:r>
              <a:rPr lang="en-US" altLang="zh-CN" sz="1100" dirty="0" err="1">
                <a:solidFill>
                  <a:prstClr val="black"/>
                </a:solidFill>
                <a:latin typeface="Candara" panose="020E0502030303020204"/>
              </a:rPr>
              <a:t>Vahdat</a:t>
            </a:r>
            <a:r>
              <a:rPr lang="en-US" altLang="zh-CN" sz="1100" dirty="0">
                <a:solidFill>
                  <a:prstClr val="black"/>
                </a:solidFill>
                <a:latin typeface="Candara" panose="020E0502030303020204"/>
              </a:rPr>
              <a:t>, G. Varghese, D. Walker. </a:t>
            </a:r>
            <a:r>
              <a:rPr lang="en-US" sz="1100" dirty="0">
                <a:solidFill>
                  <a:prstClr val="black"/>
                </a:solidFill>
                <a:latin typeface="Candara" panose="020E0502030303020204"/>
              </a:rPr>
              <a:t>P4: Programming Protocol-Independent Packet Processors, ACM SIGCOMM Computer Communication Review, Volume 44, Issue 3, July 2014, pp.  87–95</a:t>
            </a:r>
          </a:p>
        </p:txBody>
      </p:sp>
      <p:sp>
        <p:nvSpPr>
          <p:cNvPr id="5" name="object 2"/>
          <p:cNvSpPr/>
          <p:nvPr/>
        </p:nvSpPr>
        <p:spPr>
          <a:xfrm>
            <a:off x="5654590" y="2568004"/>
            <a:ext cx="2361908" cy="2118210"/>
          </a:xfrm>
          <a:prstGeom prst="rect">
            <a:avLst/>
          </a:prstGeom>
          <a:blipFill>
            <a:blip r:embed="rId2" cstate="print"/>
            <a:stretch>
              <a:fillRect/>
            </a:stretch>
          </a:blipFill>
        </p:spPr>
        <p:txBody>
          <a:bodyPr wrap="square" lIns="0" tIns="0" rIns="0" bIns="0" rtlCol="0"/>
          <a:lstStyle/>
          <a:p>
            <a:endParaRPr sz="1350"/>
          </a:p>
        </p:txBody>
      </p:sp>
      <p:sp>
        <p:nvSpPr>
          <p:cNvPr id="13"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6"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b="1" dirty="0">
                <a:solidFill>
                  <a:schemeClr val="bg1"/>
                </a:solidFill>
                <a:latin typeface="微软雅黑" pitchFamily="34" charset="-122"/>
                <a:ea typeface="微软雅黑" pitchFamily="34" charset="-122"/>
              </a:rPr>
              <a:t>换个解决思路？</a:t>
            </a:r>
          </a:p>
        </p:txBody>
      </p:sp>
    </p:spTree>
    <p:extLst>
      <p:ext uri="{BB962C8B-B14F-4D97-AF65-F5344CB8AC3E}">
        <p14:creationId xmlns:p14="http://schemas.microsoft.com/office/powerpoint/2010/main" val="6243209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670071" y="1707654"/>
            <a:ext cx="1358879" cy="385763"/>
          </a:xfrm>
          <a:prstGeom prst="rect">
            <a:avLst/>
          </a:prstGeom>
          <a:solidFill>
            <a:srgbClr val="FFFFFF"/>
          </a:solidFill>
          <a:ln>
            <a:solidFill>
              <a:srgbClr val="7F7F7F"/>
            </a:solidFill>
          </a:ln>
        </p:spPr>
        <p:style>
          <a:lnRef idx="1">
            <a:schemeClr val="accent1"/>
          </a:lnRef>
          <a:fillRef idx="3">
            <a:schemeClr val="accent1"/>
          </a:fillRef>
          <a:effectRef idx="2">
            <a:schemeClr val="accent1"/>
          </a:effectRef>
          <a:fontRef idx="minor">
            <a:schemeClr val="lt1"/>
          </a:fontRef>
        </p:style>
        <p:txBody>
          <a:bodyPr lIns="48001" tIns="24002" rIns="48001" bIns="24002" rtlCol="0" anchor="ctr"/>
          <a:lstStyle/>
          <a:p>
            <a:pPr algn="ctr"/>
            <a:r>
              <a:rPr lang="zh-CN" altLang="en-US" sz="1125" dirty="0">
                <a:solidFill>
                  <a:prstClr val="black"/>
                </a:solidFill>
                <a:latin typeface="Times New Roman" panose="02020603050405020304" pitchFamily="18" charset="0"/>
                <a:cs typeface="Times New Roman" panose="02020603050405020304" pitchFamily="18" charset="0"/>
              </a:rPr>
              <a:t>分组转发</a:t>
            </a:r>
            <a:endParaRPr lang="en-US" sz="1125" dirty="0">
              <a:solidFill>
                <a:prstClr val="black"/>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3641746" y="1707654"/>
            <a:ext cx="1358879" cy="385763"/>
          </a:xfrm>
          <a:prstGeom prst="rect">
            <a:avLst/>
          </a:prstGeom>
          <a:solidFill>
            <a:srgbClr val="FFFFFF"/>
          </a:solidFill>
          <a:ln>
            <a:solidFill>
              <a:srgbClr val="7F7F7F"/>
            </a:solidFill>
          </a:ln>
        </p:spPr>
        <p:style>
          <a:lnRef idx="1">
            <a:schemeClr val="accent1"/>
          </a:lnRef>
          <a:fillRef idx="3">
            <a:schemeClr val="accent1"/>
          </a:fillRef>
          <a:effectRef idx="2">
            <a:schemeClr val="accent1"/>
          </a:effectRef>
          <a:fontRef idx="minor">
            <a:schemeClr val="lt1"/>
          </a:fontRef>
        </p:style>
        <p:txBody>
          <a:bodyPr lIns="48001" tIns="24002" rIns="48001" bIns="24002" rtlCol="0" anchor="ctr"/>
          <a:lstStyle/>
          <a:p>
            <a:pPr algn="ctr"/>
            <a:r>
              <a:rPr lang="zh-CN" altLang="en-US" sz="1125" dirty="0">
                <a:solidFill>
                  <a:prstClr val="black"/>
                </a:solidFill>
                <a:latin typeface="Times New Roman" panose="02020603050405020304" pitchFamily="18" charset="0"/>
                <a:cs typeface="Times New Roman" panose="02020603050405020304" pitchFamily="18" charset="0"/>
              </a:rPr>
              <a:t>访问控制</a:t>
            </a:r>
            <a:endParaRPr lang="en-US" sz="1125" dirty="0">
              <a:solidFill>
                <a:prstClr val="black"/>
              </a:solidFill>
              <a:latin typeface="Times New Roman" panose="02020603050405020304" pitchFamily="18" charset="0"/>
              <a:cs typeface="Times New Roman" panose="02020603050405020304" pitchFamily="18" charset="0"/>
            </a:endParaRPr>
          </a:p>
        </p:txBody>
      </p:sp>
      <p:sp>
        <p:nvSpPr>
          <p:cNvPr id="15" name="Rectangle 14"/>
          <p:cNvSpPr/>
          <p:nvPr/>
        </p:nvSpPr>
        <p:spPr>
          <a:xfrm>
            <a:off x="5857875" y="1707654"/>
            <a:ext cx="1358879" cy="385763"/>
          </a:xfrm>
          <a:prstGeom prst="rect">
            <a:avLst/>
          </a:prstGeom>
          <a:solidFill>
            <a:srgbClr val="FFFFFF"/>
          </a:solidFill>
          <a:ln>
            <a:solidFill>
              <a:srgbClr val="7F7F7F"/>
            </a:solidFill>
          </a:ln>
        </p:spPr>
        <p:style>
          <a:lnRef idx="1">
            <a:schemeClr val="accent1"/>
          </a:lnRef>
          <a:fillRef idx="3">
            <a:schemeClr val="accent1"/>
          </a:fillRef>
          <a:effectRef idx="2">
            <a:schemeClr val="accent1"/>
          </a:effectRef>
          <a:fontRef idx="minor">
            <a:schemeClr val="lt1"/>
          </a:fontRef>
        </p:style>
        <p:txBody>
          <a:bodyPr lIns="48001" tIns="24002" rIns="48001" bIns="24002" rtlCol="0" anchor="ctr"/>
          <a:lstStyle/>
          <a:p>
            <a:pPr algn="ctr"/>
            <a:r>
              <a:rPr lang="zh-CN" altLang="en-US" sz="1125" dirty="0">
                <a:solidFill>
                  <a:prstClr val="black"/>
                </a:solidFill>
                <a:latin typeface="Times New Roman" panose="02020603050405020304" pitchFamily="18" charset="0"/>
                <a:cs typeface="Times New Roman" panose="02020603050405020304" pitchFamily="18" charset="0"/>
              </a:rPr>
              <a:t>负载均衡</a:t>
            </a:r>
            <a:endParaRPr lang="en-US" sz="1125" dirty="0">
              <a:solidFill>
                <a:prstClr val="black"/>
              </a:solidFill>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nvPr>
        </p:nvGraphicFramePr>
        <p:xfrm>
          <a:off x="1625997" y="2193708"/>
          <a:ext cx="1475677" cy="1500963"/>
        </p:xfrm>
        <a:graphic>
          <a:graphicData uri="http://schemas.openxmlformats.org/drawingml/2006/table">
            <a:tbl>
              <a:tblPr firstRow="1" bandRow="1">
                <a:tableStyleId>{69012ECD-51FC-41F1-AA8D-1B2483CD663E}</a:tableStyleId>
              </a:tblPr>
              <a:tblGrid>
                <a:gridCol w="814388">
                  <a:extLst>
                    <a:ext uri="{9D8B030D-6E8A-4147-A177-3AD203B41FA5}">
                      <a16:colId xmlns:a16="http://schemas.microsoft.com/office/drawing/2014/main" val="20000"/>
                    </a:ext>
                  </a:extLst>
                </a:gridCol>
                <a:gridCol w="661289">
                  <a:extLst>
                    <a:ext uri="{9D8B030D-6E8A-4147-A177-3AD203B41FA5}">
                      <a16:colId xmlns:a16="http://schemas.microsoft.com/office/drawing/2014/main" val="20001"/>
                    </a:ext>
                  </a:extLst>
                </a:gridCol>
              </a:tblGrid>
              <a:tr h="197887">
                <a:tc>
                  <a:txBody>
                    <a:bodyPr/>
                    <a:lstStyle/>
                    <a:p>
                      <a:r>
                        <a:rPr lang="en-US" sz="900" dirty="0">
                          <a:latin typeface="Times New Roman" panose="02020603050405020304" pitchFamily="18" charset="0"/>
                          <a:cs typeface="Times New Roman" panose="02020603050405020304" pitchFamily="18" charset="0"/>
                        </a:rPr>
                        <a:t>Match</a:t>
                      </a:r>
                      <a:endParaRPr lang="en-US" sz="900" dirty="0">
                        <a:solidFill>
                          <a:schemeClr val="bg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latin typeface="Times New Roman" panose="02020603050405020304" pitchFamily="18" charset="0"/>
                          <a:cs typeface="Times New Roman" panose="02020603050405020304" pitchFamily="18" charset="0"/>
                        </a:rPr>
                        <a:t>Action</a:t>
                      </a:r>
                      <a:endParaRPr lang="en-US" sz="900" dirty="0">
                        <a:solidFill>
                          <a:srgbClr val="FFFFFF"/>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0"/>
                  </a:ext>
                </a:extLst>
              </a:tr>
              <a:tr h="325769">
                <a:tc>
                  <a:txBody>
                    <a:bodyPr/>
                    <a:lstStyle/>
                    <a:p>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10.0.0.0/24</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err="1">
                          <a:latin typeface="Times New Roman" panose="02020603050405020304" pitchFamily="18" charset="0"/>
                          <a:cs typeface="Times New Roman" panose="02020603050405020304" pitchFamily="18" charset="0"/>
                        </a:rPr>
                        <a:t>fwd</a:t>
                      </a:r>
                      <a:r>
                        <a:rPr lang="en-US" sz="900" dirty="0">
                          <a:latin typeface="Times New Roman" panose="02020603050405020304" pitchFamily="18" charset="0"/>
                          <a:cs typeface="Times New Roman" panose="02020603050405020304" pitchFamily="18" charset="0"/>
                        </a:rPr>
                        <a:t>(1)</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1"/>
                  </a:ext>
                </a:extLst>
              </a:tr>
              <a:tr h="325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10.0.1.0/24</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err="1">
                          <a:solidFill>
                            <a:schemeClr val="tx1"/>
                          </a:solidFill>
                          <a:latin typeface="Times New Roman" panose="02020603050405020304" pitchFamily="18" charset="0"/>
                          <a:cs typeface="Times New Roman" panose="02020603050405020304" pitchFamily="18" charset="0"/>
                        </a:rPr>
                        <a:t>fwd</a:t>
                      </a:r>
                      <a:r>
                        <a:rPr lang="en-US" sz="900" dirty="0">
                          <a:solidFill>
                            <a:schemeClr val="tx1"/>
                          </a:solidFill>
                          <a:latin typeface="Times New Roman" panose="02020603050405020304" pitchFamily="18" charset="0"/>
                          <a:cs typeface="Times New Roman" panose="02020603050405020304" pitchFamily="18" charset="0"/>
                        </a:rPr>
                        <a:t>(2)</a:t>
                      </a:r>
                    </a:p>
                  </a:txBody>
                  <a:tcPr marL="51435" marR="51435" marT="25724" marB="25724"/>
                </a:tc>
                <a:extLst>
                  <a:ext uri="{0D108BD9-81ED-4DB2-BD59-A6C34878D82A}">
                    <a16:rowId xmlns:a16="http://schemas.microsoft.com/office/drawing/2014/main" val="10002"/>
                  </a:ext>
                </a:extLst>
              </a:tr>
              <a:tr h="325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10.0.2.0/24</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err="1">
                          <a:solidFill>
                            <a:schemeClr val="tx1"/>
                          </a:solidFill>
                          <a:latin typeface="Times New Roman" panose="02020603050405020304" pitchFamily="18" charset="0"/>
                          <a:cs typeface="Times New Roman" panose="02020603050405020304" pitchFamily="18" charset="0"/>
                        </a:rPr>
                        <a:t>fwd</a:t>
                      </a:r>
                      <a:r>
                        <a:rPr lang="en-US" sz="900" dirty="0">
                          <a:solidFill>
                            <a:schemeClr val="tx1"/>
                          </a:solidFill>
                          <a:latin typeface="Times New Roman" panose="02020603050405020304" pitchFamily="18" charset="0"/>
                          <a:cs typeface="Times New Roman" panose="02020603050405020304" pitchFamily="18" charset="0"/>
                        </a:rPr>
                        <a:t>(3)</a:t>
                      </a:r>
                    </a:p>
                  </a:txBody>
                  <a:tcPr marL="51435" marR="51435" marT="25724" marB="25724"/>
                </a:tc>
                <a:extLst>
                  <a:ext uri="{0D108BD9-81ED-4DB2-BD59-A6C34878D82A}">
                    <a16:rowId xmlns:a16="http://schemas.microsoft.com/office/drawing/2014/main" val="10003"/>
                  </a:ext>
                </a:extLst>
              </a:tr>
              <a:tr h="325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10.0.3.0/24</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err="1">
                          <a:latin typeface="Times New Roman" panose="02020603050405020304" pitchFamily="18" charset="0"/>
                          <a:cs typeface="Times New Roman" panose="02020603050405020304" pitchFamily="18" charset="0"/>
                        </a:rPr>
                        <a:t>fwd</a:t>
                      </a:r>
                      <a:r>
                        <a:rPr lang="en-US" sz="900" dirty="0">
                          <a:latin typeface="Times New Roman" panose="02020603050405020304" pitchFamily="18" charset="0"/>
                          <a:cs typeface="Times New Roman" panose="02020603050405020304" pitchFamily="18" charset="0"/>
                        </a:rPr>
                        <a:t>(4)</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4"/>
                  </a:ext>
                </a:extLst>
              </a:tr>
            </a:tbl>
          </a:graphicData>
        </a:graphic>
      </p:graphicFrame>
      <p:graphicFrame>
        <p:nvGraphicFramePr>
          <p:cNvPr id="18" name="Table 17"/>
          <p:cNvGraphicFramePr>
            <a:graphicFrameLocks noGrp="1"/>
          </p:cNvGraphicFramePr>
          <p:nvPr>
            <p:extLst/>
          </p:nvPr>
        </p:nvGraphicFramePr>
        <p:xfrm>
          <a:off x="3586163" y="2193708"/>
          <a:ext cx="1475677" cy="1363803"/>
        </p:xfrm>
        <a:graphic>
          <a:graphicData uri="http://schemas.openxmlformats.org/drawingml/2006/table">
            <a:tbl>
              <a:tblPr firstRow="1" bandRow="1">
                <a:tableStyleId>{69012ECD-51FC-41F1-AA8D-1B2483CD663E}</a:tableStyleId>
              </a:tblPr>
              <a:tblGrid>
                <a:gridCol w="814388">
                  <a:extLst>
                    <a:ext uri="{9D8B030D-6E8A-4147-A177-3AD203B41FA5}">
                      <a16:colId xmlns:a16="http://schemas.microsoft.com/office/drawing/2014/main" val="20000"/>
                    </a:ext>
                  </a:extLst>
                </a:gridCol>
                <a:gridCol w="661289">
                  <a:extLst>
                    <a:ext uri="{9D8B030D-6E8A-4147-A177-3AD203B41FA5}">
                      <a16:colId xmlns:a16="http://schemas.microsoft.com/office/drawing/2014/main" val="20001"/>
                    </a:ext>
                  </a:extLst>
                </a:gridCol>
              </a:tblGrid>
              <a:tr h="197887">
                <a:tc>
                  <a:txBody>
                    <a:bodyPr/>
                    <a:lstStyle/>
                    <a:p>
                      <a:r>
                        <a:rPr lang="en-US" sz="900" dirty="0">
                          <a:latin typeface="Times New Roman" panose="02020603050405020304" pitchFamily="18" charset="0"/>
                          <a:cs typeface="Times New Roman" panose="02020603050405020304" pitchFamily="18" charset="0"/>
                        </a:rPr>
                        <a:t>Match</a:t>
                      </a:r>
                      <a:endParaRPr lang="en-US" sz="900" dirty="0">
                        <a:solidFill>
                          <a:schemeClr val="bg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latin typeface="Times New Roman" panose="02020603050405020304" pitchFamily="18" charset="0"/>
                          <a:cs typeface="Times New Roman" panose="02020603050405020304" pitchFamily="18" charset="0"/>
                        </a:rPr>
                        <a:t>Action</a:t>
                      </a:r>
                      <a:endParaRPr lang="en-US" sz="900" dirty="0">
                        <a:solidFill>
                          <a:srgbClr val="FFFFFF"/>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0"/>
                  </a:ext>
                </a:extLst>
              </a:tr>
              <a:tr h="188609">
                <a:tc>
                  <a:txBody>
                    <a:bodyPr/>
                    <a:lstStyle/>
                    <a:p>
                      <a:r>
                        <a:rPr lang="en-US" sz="900" dirty="0" err="1">
                          <a:latin typeface="Times New Roman" panose="02020603050405020304" pitchFamily="18" charset="0"/>
                          <a:cs typeface="Times New Roman" panose="02020603050405020304" pitchFamily="18" charset="0"/>
                        </a:rPr>
                        <a:t>DstPort</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80</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latin typeface="Times New Roman" panose="02020603050405020304" pitchFamily="18" charset="0"/>
                          <a:cs typeface="Times New Roman" panose="02020603050405020304" pitchFamily="18" charset="0"/>
                        </a:rPr>
                        <a:t>drop</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1"/>
                  </a:ext>
                </a:extLst>
              </a:tr>
              <a:tr h="325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10.0.0.1</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solidFill>
                            <a:schemeClr val="tx1"/>
                          </a:solidFill>
                          <a:latin typeface="Times New Roman" panose="02020603050405020304" pitchFamily="18" charset="0"/>
                          <a:cs typeface="Times New Roman" panose="02020603050405020304" pitchFamily="18" charset="0"/>
                        </a:rPr>
                        <a:t>drop</a:t>
                      </a:r>
                    </a:p>
                  </a:txBody>
                  <a:tcPr marL="51435" marR="51435" marT="25724" marB="25724"/>
                </a:tc>
                <a:extLst>
                  <a:ext uri="{0D108BD9-81ED-4DB2-BD59-A6C34878D82A}">
                    <a16:rowId xmlns:a16="http://schemas.microsoft.com/office/drawing/2014/main" val="10002"/>
                  </a:ext>
                </a:extLst>
              </a:tr>
              <a:tr h="325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10.0.0.0/24</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solidFill>
                            <a:schemeClr val="tx1"/>
                          </a:solidFill>
                          <a:latin typeface="Times New Roman" panose="02020603050405020304" pitchFamily="18" charset="0"/>
                          <a:cs typeface="Times New Roman" panose="02020603050405020304" pitchFamily="18" charset="0"/>
                        </a:rPr>
                        <a:t>pass</a:t>
                      </a:r>
                    </a:p>
                  </a:txBody>
                  <a:tcPr marL="51435" marR="51435" marT="25724" marB="25724"/>
                </a:tc>
                <a:extLst>
                  <a:ext uri="{0D108BD9-81ED-4DB2-BD59-A6C34878D82A}">
                    <a16:rowId xmlns:a16="http://schemas.microsoft.com/office/drawing/2014/main" val="10003"/>
                  </a:ext>
                </a:extLst>
              </a:tr>
              <a:tr h="3257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10.0.0.0/16</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latin typeface="Times New Roman" panose="02020603050405020304" pitchFamily="18" charset="0"/>
                          <a:cs typeface="Times New Roman" panose="02020603050405020304" pitchFamily="18" charset="0"/>
                        </a:rPr>
                        <a:t>drop</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nvPr>
        </p:nvGraphicFramePr>
        <p:xfrm>
          <a:off x="5514975" y="2193709"/>
          <a:ext cx="2210551" cy="1080120"/>
        </p:xfrm>
        <a:graphic>
          <a:graphicData uri="http://schemas.openxmlformats.org/drawingml/2006/table">
            <a:tbl>
              <a:tblPr firstRow="1" bandRow="1">
                <a:tableStyleId>{69012ECD-51FC-41F1-AA8D-1B2483CD663E}</a:tableStyleId>
              </a:tblPr>
              <a:tblGrid>
                <a:gridCol w="796088">
                  <a:extLst>
                    <a:ext uri="{9D8B030D-6E8A-4147-A177-3AD203B41FA5}">
                      <a16:colId xmlns:a16="http://schemas.microsoft.com/office/drawing/2014/main" val="20000"/>
                    </a:ext>
                  </a:extLst>
                </a:gridCol>
                <a:gridCol w="1414463">
                  <a:extLst>
                    <a:ext uri="{9D8B030D-6E8A-4147-A177-3AD203B41FA5}">
                      <a16:colId xmlns:a16="http://schemas.microsoft.com/office/drawing/2014/main" val="20001"/>
                    </a:ext>
                  </a:extLst>
                </a:gridCol>
              </a:tblGrid>
              <a:tr h="205280">
                <a:tc>
                  <a:txBody>
                    <a:bodyPr/>
                    <a:lstStyle/>
                    <a:p>
                      <a:r>
                        <a:rPr lang="en-US" sz="900" dirty="0">
                          <a:latin typeface="Times New Roman" panose="02020603050405020304" pitchFamily="18" charset="0"/>
                          <a:cs typeface="Times New Roman" panose="02020603050405020304" pitchFamily="18" charset="0"/>
                        </a:rPr>
                        <a:t>Match</a:t>
                      </a:r>
                      <a:endParaRPr lang="en-US" sz="900" dirty="0">
                        <a:solidFill>
                          <a:schemeClr val="bg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a:latin typeface="Times New Roman" panose="02020603050405020304" pitchFamily="18" charset="0"/>
                          <a:cs typeface="Times New Roman" panose="02020603050405020304" pitchFamily="18" charset="0"/>
                        </a:rPr>
                        <a:t>Action</a:t>
                      </a:r>
                      <a:endParaRPr lang="en-US" sz="900" dirty="0">
                        <a:solidFill>
                          <a:srgbClr val="FFFFFF"/>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0"/>
                  </a:ext>
                </a:extLst>
              </a:tr>
              <a:tr h="3887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10.0.0.10</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err="1">
                          <a:solidFill>
                            <a:schemeClr val="tx1"/>
                          </a:solidFill>
                          <a:latin typeface="Times New Roman" panose="02020603050405020304" pitchFamily="18" charset="0"/>
                          <a:cs typeface="Times New Roman" panose="02020603050405020304" pitchFamily="18" charset="0"/>
                        </a:rPr>
                        <a:t>DstIP</a:t>
                      </a:r>
                      <a:r>
                        <a:rPr lang="en-US" sz="900" baseline="0" dirty="0">
                          <a:solidFill>
                            <a:schemeClr val="tx1"/>
                          </a:solidFill>
                          <a:latin typeface="Times New Roman" panose="02020603050405020304" pitchFamily="18" charset="0"/>
                          <a:cs typeface="Times New Roman" panose="02020603050405020304" pitchFamily="18" charset="0"/>
                        </a:rPr>
                        <a:t> = random(10.0.0.1, 10.0.0.2)</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1"/>
                  </a:ext>
                </a:extLst>
              </a:tr>
              <a:tr h="4861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900" dirty="0" err="1">
                          <a:latin typeface="Times New Roman" panose="02020603050405020304" pitchFamily="18" charset="0"/>
                          <a:cs typeface="Times New Roman" panose="02020603050405020304" pitchFamily="18" charset="0"/>
                        </a:rPr>
                        <a:t>DstIP</a:t>
                      </a:r>
                      <a:r>
                        <a:rPr lang="en-US" sz="900" baseline="0" dirty="0">
                          <a:latin typeface="Times New Roman" panose="02020603050405020304" pitchFamily="18" charset="0"/>
                          <a:cs typeface="Times New Roman" panose="02020603050405020304" pitchFamily="18" charset="0"/>
                        </a:rPr>
                        <a:t> = </a:t>
                      </a:r>
                      <a:r>
                        <a:rPr lang="en-US" sz="900" dirty="0">
                          <a:latin typeface="Times New Roman" panose="02020603050405020304" pitchFamily="18" charset="0"/>
                          <a:cs typeface="Times New Roman" panose="02020603050405020304" pitchFamily="18" charset="0"/>
                        </a:rPr>
                        <a:t>10.0.1.10</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tc>
                  <a:txBody>
                    <a:bodyPr/>
                    <a:lstStyle/>
                    <a:p>
                      <a:r>
                        <a:rPr lang="en-US" sz="900" dirty="0" err="1">
                          <a:solidFill>
                            <a:schemeClr val="tx1"/>
                          </a:solidFill>
                          <a:latin typeface="Times New Roman" panose="02020603050405020304" pitchFamily="18" charset="0"/>
                          <a:cs typeface="Times New Roman" panose="02020603050405020304" pitchFamily="18" charset="0"/>
                        </a:rPr>
                        <a:t>DstIP</a:t>
                      </a:r>
                      <a:r>
                        <a:rPr lang="en-US" sz="900" baseline="0" dirty="0">
                          <a:solidFill>
                            <a:schemeClr val="tx1"/>
                          </a:solidFill>
                          <a:latin typeface="Times New Roman" panose="02020603050405020304" pitchFamily="18" charset="0"/>
                          <a:cs typeface="Times New Roman" panose="02020603050405020304" pitchFamily="18" charset="0"/>
                        </a:rPr>
                        <a:t> = random(10.0.1.1, 10.0.1.2)</a:t>
                      </a:r>
                      <a:endParaRPr lang="en-US" sz="900" dirty="0">
                        <a:solidFill>
                          <a:schemeClr val="tx1"/>
                        </a:solidFill>
                        <a:latin typeface="Times New Roman" panose="02020603050405020304" pitchFamily="18" charset="0"/>
                        <a:cs typeface="Times New Roman" panose="02020603050405020304" pitchFamily="18" charset="0"/>
                      </a:endParaRPr>
                    </a:p>
                  </a:txBody>
                  <a:tcPr marL="51435" marR="51435" marT="25724" marB="25724"/>
                </a:tc>
                <a:extLst>
                  <a:ext uri="{0D108BD9-81ED-4DB2-BD59-A6C34878D82A}">
                    <a16:rowId xmlns:a16="http://schemas.microsoft.com/office/drawing/2014/main" val="10002"/>
                  </a:ext>
                </a:extLst>
              </a:tr>
            </a:tbl>
          </a:graphicData>
        </a:graphic>
      </p:graphicFrame>
      <p:sp>
        <p:nvSpPr>
          <p:cNvPr id="2" name="矩形 1"/>
          <p:cNvSpPr/>
          <p:nvPr/>
        </p:nvSpPr>
        <p:spPr>
          <a:xfrm>
            <a:off x="1546579" y="865369"/>
            <a:ext cx="6075458" cy="782778"/>
          </a:xfrm>
          <a:prstGeom prst="rect">
            <a:avLst/>
          </a:prstGeom>
        </p:spPr>
        <p:txBody>
          <a:bodyPr wrap="square">
            <a:spAutoFit/>
          </a:bodyPr>
          <a:lstStyle/>
          <a:p>
            <a:pPr marL="257175" indent="-257175" defTabSz="342900">
              <a:lnSpc>
                <a:spcPct val="150000"/>
              </a:lnSpc>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数据平面的功能具有典型的通用处理模式</a:t>
            </a:r>
            <a:endParaRPr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557213" lvl="1" indent="-214313" defTabSz="342900">
              <a:lnSpc>
                <a:spcPct val="150000"/>
              </a:lnSpc>
              <a:buFont typeface="Arial" panose="020B0604020202020204" pitchFamily="34" charset="0"/>
              <a:buChar char="–"/>
            </a:pPr>
            <a:r>
              <a:rPr lang="zh-CN" altLang="en-US"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“匹配</a:t>
            </a:r>
            <a:r>
              <a:rPr lang="en-US" altLang="zh-CN"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动作”结构的分组处理（</a:t>
            </a:r>
            <a:r>
              <a:rPr lang="en-US" altLang="zh-CN"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match-action</a:t>
            </a:r>
            <a:r>
              <a:rPr lang="zh-CN" altLang="en-US"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47" name="矩形 46"/>
          <p:cNvSpPr/>
          <p:nvPr/>
        </p:nvSpPr>
        <p:spPr>
          <a:xfrm>
            <a:off x="1670072" y="3689763"/>
            <a:ext cx="6075458" cy="1131079"/>
          </a:xfrm>
          <a:prstGeom prst="rect">
            <a:avLst/>
          </a:prstGeom>
        </p:spPr>
        <p:txBody>
          <a:bodyPr wrap="square">
            <a:spAutoFit/>
          </a:bodyPr>
          <a:lstStyle/>
          <a:p>
            <a:pPr marL="257175" indent="-257175" defTabSz="342900">
              <a:lnSpc>
                <a:spcPct val="150000"/>
              </a:lnSpc>
              <a:buFont typeface="Arial" panose="020B0604020202020204" pitchFamily="34" charset="0"/>
              <a:buChar char="•"/>
            </a:pPr>
            <a:r>
              <a:rPr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核心问题</a:t>
            </a:r>
            <a:endParaRPr lang="en-US" altLang="zh-CN"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600075" lvl="1" indent="-257175" defTabSz="342900">
              <a:lnSpc>
                <a:spcPct val="150000"/>
              </a:lnSpc>
              <a:buFont typeface="Arial" panose="020B0604020202020204" pitchFamily="34" charset="0"/>
              <a:buChar char="•"/>
            </a:pPr>
            <a:r>
              <a:rPr lang="zh-CN" altLang="en-US"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匹配哪些字段？</a:t>
            </a:r>
            <a:endParaRPr lang="en-US" altLang="zh-CN"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600075" lvl="1" indent="-257175" defTabSz="342900">
              <a:lnSpc>
                <a:spcPct val="150000"/>
              </a:lnSpc>
              <a:buFont typeface="Arial" panose="020B0604020202020204" pitchFamily="34" charset="0"/>
              <a:buChar char="•"/>
            </a:pPr>
            <a:r>
              <a:rPr lang="zh-CN" altLang="en-US" sz="135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匹配后做什么样的动作？</a:t>
            </a:r>
          </a:p>
        </p:txBody>
      </p:sp>
      <p:sp>
        <p:nvSpPr>
          <p:cNvPr id="20"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21"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2400" b="1" dirty="0">
                <a:solidFill>
                  <a:schemeClr val="bg1"/>
                </a:solidFill>
                <a:latin typeface="微软雅黑" pitchFamily="34" charset="-122"/>
                <a:ea typeface="微软雅黑" pitchFamily="34" charset="-122"/>
              </a:rPr>
              <a:t>数据平面功能分析</a:t>
            </a:r>
          </a:p>
        </p:txBody>
      </p:sp>
    </p:spTree>
    <p:extLst>
      <p:ext uri="{BB962C8B-B14F-4D97-AF65-F5344CB8AC3E}">
        <p14:creationId xmlns:p14="http://schemas.microsoft.com/office/powerpoint/2010/main" val="14748360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4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9" name="Group 208"/>
          <p:cNvGrpSpPr/>
          <p:nvPr/>
        </p:nvGrpSpPr>
        <p:grpSpPr>
          <a:xfrm>
            <a:off x="2435999" y="2208800"/>
            <a:ext cx="843257" cy="1220157"/>
            <a:chOff x="1485649" y="3204985"/>
            <a:chExt cx="1124341" cy="2169168"/>
          </a:xfrm>
        </p:grpSpPr>
        <p:sp>
          <p:nvSpPr>
            <p:cNvPr id="210" name="Rectangle 209"/>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211" name="Rectangle 210"/>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212" name="Group 211"/>
          <p:cNvGrpSpPr/>
          <p:nvPr/>
        </p:nvGrpSpPr>
        <p:grpSpPr>
          <a:xfrm>
            <a:off x="3498075" y="2212760"/>
            <a:ext cx="843257" cy="1220157"/>
            <a:chOff x="1485649" y="3204985"/>
            <a:chExt cx="1124341" cy="2169168"/>
          </a:xfrm>
        </p:grpSpPr>
        <p:sp>
          <p:nvSpPr>
            <p:cNvPr id="213" name="Rectangle 212"/>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214" name="Rectangle 213"/>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215" name="Group 214"/>
          <p:cNvGrpSpPr/>
          <p:nvPr/>
        </p:nvGrpSpPr>
        <p:grpSpPr>
          <a:xfrm>
            <a:off x="4548039" y="2217410"/>
            <a:ext cx="843257" cy="1220157"/>
            <a:chOff x="1485649" y="3204985"/>
            <a:chExt cx="1124341" cy="2169168"/>
          </a:xfrm>
        </p:grpSpPr>
        <p:sp>
          <p:nvSpPr>
            <p:cNvPr id="216" name="Rectangle 215"/>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217" name="Rectangle 216"/>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218" name="Group 217"/>
          <p:cNvGrpSpPr/>
          <p:nvPr/>
        </p:nvGrpSpPr>
        <p:grpSpPr>
          <a:xfrm>
            <a:off x="5601774" y="2224130"/>
            <a:ext cx="843257" cy="1220157"/>
            <a:chOff x="1485649" y="3204985"/>
            <a:chExt cx="1124341" cy="2169168"/>
          </a:xfrm>
        </p:grpSpPr>
        <p:sp>
          <p:nvSpPr>
            <p:cNvPr id="219" name="Rectangle 218"/>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220" name="Rectangle 219"/>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259" name="Group 258"/>
          <p:cNvGrpSpPr/>
          <p:nvPr/>
        </p:nvGrpSpPr>
        <p:grpSpPr>
          <a:xfrm>
            <a:off x="6752003" y="2387054"/>
            <a:ext cx="414251" cy="389357"/>
            <a:chOff x="8131589" y="4009362"/>
            <a:chExt cx="552334" cy="692189"/>
          </a:xfrm>
        </p:grpSpPr>
        <p:grpSp>
          <p:nvGrpSpPr>
            <p:cNvPr id="260" name="Group 65"/>
            <p:cNvGrpSpPr/>
            <p:nvPr/>
          </p:nvGrpSpPr>
          <p:grpSpPr>
            <a:xfrm>
              <a:off x="8131589" y="4009362"/>
              <a:ext cx="551591" cy="228624"/>
              <a:chOff x="7660968" y="1751777"/>
              <a:chExt cx="1040580" cy="450645"/>
            </a:xfrm>
          </p:grpSpPr>
          <p:sp>
            <p:nvSpPr>
              <p:cNvPr id="265" name="Freeform 264"/>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266" name="Straight Connector 265"/>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7" name="Straight Connector 266"/>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1" name="Group 70"/>
            <p:cNvGrpSpPr/>
            <p:nvPr/>
          </p:nvGrpSpPr>
          <p:grpSpPr>
            <a:xfrm>
              <a:off x="8132332" y="4472927"/>
              <a:ext cx="551591" cy="228624"/>
              <a:chOff x="7660968" y="1751777"/>
              <a:chExt cx="1040580" cy="450645"/>
            </a:xfrm>
          </p:grpSpPr>
          <p:sp>
            <p:nvSpPr>
              <p:cNvPr id="262" name="Freeform 261"/>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263" name="Straight Connector 262"/>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4" name="Straight Connector 263"/>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317" name="Group 316"/>
          <p:cNvGrpSpPr/>
          <p:nvPr/>
        </p:nvGrpSpPr>
        <p:grpSpPr>
          <a:xfrm>
            <a:off x="7188302" y="2392167"/>
            <a:ext cx="384551" cy="893978"/>
            <a:chOff x="2488822" y="2403406"/>
            <a:chExt cx="529093" cy="1589294"/>
          </a:xfrm>
        </p:grpSpPr>
        <p:cxnSp>
          <p:nvCxnSpPr>
            <p:cNvPr id="318" name="Straight Arrow Connector 317"/>
            <p:cNvCxnSpPr/>
            <p:nvPr/>
          </p:nvCxnSpPr>
          <p:spPr>
            <a:xfrm flipV="1">
              <a:off x="2493656" y="24034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19" name="Straight Arrow Connector 318"/>
            <p:cNvCxnSpPr/>
            <p:nvPr/>
          </p:nvCxnSpPr>
          <p:spPr>
            <a:xfrm flipV="1">
              <a:off x="2490064" y="25558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0" name="Straight Arrow Connector 319"/>
            <p:cNvCxnSpPr/>
            <p:nvPr/>
          </p:nvCxnSpPr>
          <p:spPr>
            <a:xfrm flipV="1">
              <a:off x="2493656" y="2717444"/>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1" name="Straight Arrow Connector 320"/>
            <p:cNvCxnSpPr/>
            <p:nvPr/>
          </p:nvCxnSpPr>
          <p:spPr>
            <a:xfrm flipV="1">
              <a:off x="2493656" y="2871548"/>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2" name="Straight Arrow Connector 321"/>
            <p:cNvCxnSpPr/>
            <p:nvPr/>
          </p:nvCxnSpPr>
          <p:spPr>
            <a:xfrm flipV="1">
              <a:off x="2493656" y="303169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3" name="Straight Arrow Connector 322"/>
            <p:cNvCxnSpPr/>
            <p:nvPr/>
          </p:nvCxnSpPr>
          <p:spPr>
            <a:xfrm flipV="1">
              <a:off x="2494729" y="319080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4" name="Straight Arrow Connector 323"/>
            <p:cNvCxnSpPr/>
            <p:nvPr/>
          </p:nvCxnSpPr>
          <p:spPr>
            <a:xfrm flipV="1">
              <a:off x="2493656" y="3352442"/>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5" name="Straight Arrow Connector 324"/>
            <p:cNvCxnSpPr/>
            <p:nvPr/>
          </p:nvCxnSpPr>
          <p:spPr>
            <a:xfrm flipV="1">
              <a:off x="2494729" y="351258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6" name="Straight Arrow Connector 325"/>
            <p:cNvCxnSpPr/>
            <p:nvPr/>
          </p:nvCxnSpPr>
          <p:spPr>
            <a:xfrm flipV="1">
              <a:off x="2495802" y="367169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7" name="Straight Arrow Connector 326"/>
            <p:cNvCxnSpPr/>
            <p:nvPr/>
          </p:nvCxnSpPr>
          <p:spPr>
            <a:xfrm flipV="1">
              <a:off x="2493656" y="383359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8" name="Straight Arrow Connector 327"/>
            <p:cNvCxnSpPr/>
            <p:nvPr/>
          </p:nvCxnSpPr>
          <p:spPr>
            <a:xfrm flipV="1">
              <a:off x="2488822" y="399270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329" name="Group 328"/>
          <p:cNvGrpSpPr/>
          <p:nvPr/>
        </p:nvGrpSpPr>
        <p:grpSpPr>
          <a:xfrm>
            <a:off x="1533083" y="2360108"/>
            <a:ext cx="285831" cy="893978"/>
            <a:chOff x="2488822" y="2403406"/>
            <a:chExt cx="529093" cy="1589294"/>
          </a:xfrm>
        </p:grpSpPr>
        <p:cxnSp>
          <p:nvCxnSpPr>
            <p:cNvPr id="330" name="Straight Arrow Connector 329"/>
            <p:cNvCxnSpPr/>
            <p:nvPr/>
          </p:nvCxnSpPr>
          <p:spPr>
            <a:xfrm flipV="1">
              <a:off x="2493656" y="24034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1" name="Straight Arrow Connector 330"/>
            <p:cNvCxnSpPr/>
            <p:nvPr/>
          </p:nvCxnSpPr>
          <p:spPr>
            <a:xfrm flipV="1">
              <a:off x="2490064" y="25558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2" name="Straight Arrow Connector 331"/>
            <p:cNvCxnSpPr/>
            <p:nvPr/>
          </p:nvCxnSpPr>
          <p:spPr>
            <a:xfrm flipV="1">
              <a:off x="2493656" y="2717444"/>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3" name="Straight Arrow Connector 332"/>
            <p:cNvCxnSpPr/>
            <p:nvPr/>
          </p:nvCxnSpPr>
          <p:spPr>
            <a:xfrm flipV="1">
              <a:off x="2493656" y="2871548"/>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4" name="Straight Arrow Connector 333"/>
            <p:cNvCxnSpPr/>
            <p:nvPr/>
          </p:nvCxnSpPr>
          <p:spPr>
            <a:xfrm flipV="1">
              <a:off x="2493656" y="303169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5" name="Straight Arrow Connector 334"/>
            <p:cNvCxnSpPr/>
            <p:nvPr/>
          </p:nvCxnSpPr>
          <p:spPr>
            <a:xfrm flipV="1">
              <a:off x="2494729" y="319080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6" name="Straight Arrow Connector 335"/>
            <p:cNvCxnSpPr/>
            <p:nvPr/>
          </p:nvCxnSpPr>
          <p:spPr>
            <a:xfrm flipV="1">
              <a:off x="2493656" y="3352442"/>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7" name="Straight Arrow Connector 336"/>
            <p:cNvCxnSpPr/>
            <p:nvPr/>
          </p:nvCxnSpPr>
          <p:spPr>
            <a:xfrm flipV="1">
              <a:off x="2494729" y="351258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8" name="Straight Arrow Connector 337"/>
            <p:cNvCxnSpPr/>
            <p:nvPr/>
          </p:nvCxnSpPr>
          <p:spPr>
            <a:xfrm flipV="1">
              <a:off x="2495802" y="367169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39" name="Straight Arrow Connector 338"/>
            <p:cNvCxnSpPr/>
            <p:nvPr/>
          </p:nvCxnSpPr>
          <p:spPr>
            <a:xfrm flipV="1">
              <a:off x="2493656" y="383359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40" name="Straight Arrow Connector 339"/>
            <p:cNvCxnSpPr/>
            <p:nvPr/>
          </p:nvCxnSpPr>
          <p:spPr>
            <a:xfrm flipV="1">
              <a:off x="2488822" y="399270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341" name="Group 340"/>
          <p:cNvGrpSpPr/>
          <p:nvPr/>
        </p:nvGrpSpPr>
        <p:grpSpPr>
          <a:xfrm>
            <a:off x="2518765" y="2266193"/>
            <a:ext cx="682022" cy="1109874"/>
            <a:chOff x="2449931" y="225721"/>
            <a:chExt cx="909363" cy="1973109"/>
          </a:xfrm>
        </p:grpSpPr>
        <p:sp>
          <p:nvSpPr>
            <p:cNvPr id="342" name="Rectangle 341"/>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619" dirty="0">
                <a:solidFill>
                  <a:prstClr val="white"/>
                </a:solidFill>
                <a:latin typeface="Calibri" panose="020F0502020204030204"/>
              </a:endParaRPr>
            </a:p>
          </p:txBody>
        </p:sp>
        <p:sp>
          <p:nvSpPr>
            <p:cNvPr id="343" name="Rectangle 342"/>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44" name="Rectangle 343"/>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45" name="Rectangle 344"/>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46" name="Rectangle 345"/>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47" name="Rectangle 346"/>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48" name="Trapezoid 347"/>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dirty="0">
                <a:solidFill>
                  <a:prstClr val="white"/>
                </a:solidFill>
                <a:latin typeface="Calibri" panose="020F0502020204030204"/>
              </a:endParaRPr>
            </a:p>
          </p:txBody>
        </p:sp>
        <p:sp>
          <p:nvSpPr>
            <p:cNvPr id="349" name="Trapezoid 348"/>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0" name="Trapezoid 349"/>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1" name="Trapezoid 350"/>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2" name="Trapezoid 351"/>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3" name="Trapezoid 352"/>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grpSp>
        <p:nvGrpSpPr>
          <p:cNvPr id="354" name="Group 353"/>
          <p:cNvGrpSpPr/>
          <p:nvPr/>
        </p:nvGrpSpPr>
        <p:grpSpPr>
          <a:xfrm>
            <a:off x="3568315" y="2278695"/>
            <a:ext cx="682022" cy="1109874"/>
            <a:chOff x="2449931" y="225721"/>
            <a:chExt cx="909363" cy="1973109"/>
          </a:xfrm>
        </p:grpSpPr>
        <p:sp>
          <p:nvSpPr>
            <p:cNvPr id="355" name="Rectangle 354"/>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6" name="Rectangle 355"/>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7" name="Rectangle 356"/>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8" name="Rectangle 357"/>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59" name="Rectangle 358"/>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0" name="Rectangle 359"/>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1" name="Trapezoid 360"/>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2" name="Trapezoid 361"/>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3" name="Trapezoid 362"/>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4" name="Trapezoid 363"/>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5" name="Trapezoid 364"/>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6" name="Trapezoid 365"/>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grpSp>
        <p:nvGrpSpPr>
          <p:cNvPr id="367" name="Group 366"/>
          <p:cNvGrpSpPr/>
          <p:nvPr/>
        </p:nvGrpSpPr>
        <p:grpSpPr>
          <a:xfrm>
            <a:off x="4629234" y="2280389"/>
            <a:ext cx="682022" cy="1109874"/>
            <a:chOff x="2449931" y="225721"/>
            <a:chExt cx="909363" cy="1973109"/>
          </a:xfrm>
        </p:grpSpPr>
        <p:sp>
          <p:nvSpPr>
            <p:cNvPr id="368" name="Rectangle 367"/>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69" name="Rectangle 368"/>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0" name="Rectangle 369"/>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1" name="Rectangle 370"/>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2" name="Rectangle 371"/>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3" name="Rectangle 372"/>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4" name="Trapezoid 373"/>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5" name="Trapezoid 374"/>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6" name="Trapezoid 375"/>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7" name="Trapezoid 376"/>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8" name="Trapezoid 377"/>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79" name="Trapezoid 378"/>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grpSp>
        <p:nvGrpSpPr>
          <p:cNvPr id="380" name="Group 379"/>
          <p:cNvGrpSpPr/>
          <p:nvPr/>
        </p:nvGrpSpPr>
        <p:grpSpPr>
          <a:xfrm>
            <a:off x="5684450" y="2296337"/>
            <a:ext cx="682022" cy="1109874"/>
            <a:chOff x="2449931" y="225721"/>
            <a:chExt cx="909363" cy="1973109"/>
          </a:xfrm>
        </p:grpSpPr>
        <p:sp>
          <p:nvSpPr>
            <p:cNvPr id="381" name="Rectangle 380"/>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2" name="Rectangle 381"/>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3" name="Rectangle 382"/>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4" name="Rectangle 383"/>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5" name="Rectangle 384"/>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6" name="Rectangle 385"/>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7" name="Trapezoid 386"/>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8" name="Trapezoid 387"/>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9" name="Trapezoid 388"/>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0" name="Trapezoid 389"/>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1" name="Trapezoid 390"/>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2" name="Trapezoid 391"/>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sp>
        <p:nvSpPr>
          <p:cNvPr id="394" name="TextBox 393"/>
          <p:cNvSpPr txBox="1"/>
          <p:nvPr/>
        </p:nvSpPr>
        <p:spPr>
          <a:xfrm>
            <a:off x="2393094" y="2007095"/>
            <a:ext cx="1506003" cy="234952"/>
          </a:xfrm>
          <a:prstGeom prst="rect">
            <a:avLst/>
          </a:prstGeom>
          <a:noFill/>
        </p:spPr>
        <p:txBody>
          <a:bodyPr wrap="square" lIns="61229" tIns="30615" rIns="61229" bIns="30615" rtlCol="0">
            <a:spAutoFit/>
          </a:bodyPr>
          <a:lstStyle/>
          <a:p>
            <a:pPr defTabSz="514350"/>
            <a:r>
              <a:rPr lang="en-US" sz="1125" dirty="0" err="1">
                <a:solidFill>
                  <a:prstClr val="black"/>
                </a:solidFill>
                <a:latin typeface="Calibri" panose="020F0502020204030204"/>
              </a:rPr>
              <a:t>Match+Action</a:t>
            </a:r>
            <a:endParaRPr lang="en-US" sz="1125" dirty="0">
              <a:solidFill>
                <a:prstClr val="black"/>
              </a:solidFill>
              <a:latin typeface="Calibri" panose="020F0502020204030204"/>
            </a:endParaRPr>
          </a:p>
        </p:txBody>
      </p:sp>
      <p:grpSp>
        <p:nvGrpSpPr>
          <p:cNvPr id="395" name="Group 394"/>
          <p:cNvGrpSpPr/>
          <p:nvPr/>
        </p:nvGrpSpPr>
        <p:grpSpPr>
          <a:xfrm>
            <a:off x="6752560" y="2908735"/>
            <a:ext cx="414251" cy="389357"/>
            <a:chOff x="8131589" y="4009362"/>
            <a:chExt cx="552334" cy="692189"/>
          </a:xfrm>
        </p:grpSpPr>
        <p:grpSp>
          <p:nvGrpSpPr>
            <p:cNvPr id="396" name="Group 65"/>
            <p:cNvGrpSpPr/>
            <p:nvPr/>
          </p:nvGrpSpPr>
          <p:grpSpPr>
            <a:xfrm>
              <a:off x="8131589" y="4009362"/>
              <a:ext cx="551591" cy="228624"/>
              <a:chOff x="7660968" y="1751777"/>
              <a:chExt cx="1040580" cy="450645"/>
            </a:xfrm>
          </p:grpSpPr>
          <p:sp>
            <p:nvSpPr>
              <p:cNvPr id="401" name="Freeform 400"/>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402" name="Straight Connector 401"/>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3" name="Straight Connector 402"/>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97" name="Group 70"/>
            <p:cNvGrpSpPr/>
            <p:nvPr/>
          </p:nvGrpSpPr>
          <p:grpSpPr>
            <a:xfrm>
              <a:off x="8132332" y="4472927"/>
              <a:ext cx="551591" cy="228624"/>
              <a:chOff x="7660968" y="1751777"/>
              <a:chExt cx="1040580" cy="450645"/>
            </a:xfrm>
          </p:grpSpPr>
          <p:sp>
            <p:nvSpPr>
              <p:cNvPr id="398" name="Freeform 397"/>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399" name="Straight Connector 398"/>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00" name="Straight Connector 399"/>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cxnSp>
        <p:nvCxnSpPr>
          <p:cNvPr id="5" name="Straight Arrow Connector 4"/>
          <p:cNvCxnSpPr>
            <a:endCxn id="211" idx="1"/>
          </p:cNvCxnSpPr>
          <p:nvPr/>
        </p:nvCxnSpPr>
        <p:spPr>
          <a:xfrm>
            <a:off x="2130660" y="2812467"/>
            <a:ext cx="305340" cy="3180"/>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167" name="Straight Arrow Connector 166"/>
          <p:cNvCxnSpPr>
            <a:stCxn id="213" idx="3"/>
            <a:endCxn id="217" idx="1"/>
          </p:cNvCxnSpPr>
          <p:nvPr/>
        </p:nvCxnSpPr>
        <p:spPr>
          <a:xfrm flipV="1">
            <a:off x="4341331" y="2824257"/>
            <a:ext cx="206709" cy="1814"/>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170" name="Straight Arrow Connector 169"/>
          <p:cNvCxnSpPr>
            <a:stCxn id="216" idx="3"/>
            <a:endCxn id="220" idx="1"/>
          </p:cNvCxnSpPr>
          <p:nvPr/>
        </p:nvCxnSpPr>
        <p:spPr>
          <a:xfrm>
            <a:off x="5391296" y="2830720"/>
            <a:ext cx="210479" cy="258"/>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173" name="Straight Arrow Connector 172"/>
          <p:cNvCxnSpPr>
            <a:stCxn id="220" idx="3"/>
          </p:cNvCxnSpPr>
          <p:nvPr/>
        </p:nvCxnSpPr>
        <p:spPr>
          <a:xfrm>
            <a:off x="6445031" y="2830978"/>
            <a:ext cx="306973" cy="3574"/>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164" name="Straight Arrow Connector 163"/>
          <p:cNvCxnSpPr>
            <a:stCxn id="211" idx="3"/>
            <a:endCxn id="214" idx="1"/>
          </p:cNvCxnSpPr>
          <p:nvPr/>
        </p:nvCxnSpPr>
        <p:spPr>
          <a:xfrm>
            <a:off x="3279256" y="2808472"/>
            <a:ext cx="218820" cy="3962"/>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491491" y="2253839"/>
            <a:ext cx="535724" cy="213585"/>
          </a:xfrm>
          <a:prstGeom prst="rect">
            <a:avLst/>
          </a:prstGeom>
          <a:noFill/>
        </p:spPr>
        <p:txBody>
          <a:bodyPr wrap="none" rtlCol="0">
            <a:spAutoFit/>
          </a:bodyPr>
          <a:lstStyle/>
          <a:p>
            <a:pPr defTabSz="514350"/>
            <a:r>
              <a:rPr lang="en-US" sz="788" dirty="0">
                <a:solidFill>
                  <a:prstClr val="black"/>
                </a:solidFill>
                <a:latin typeface="Calibri" panose="020F0502020204030204"/>
              </a:rPr>
              <a:t>Memory</a:t>
            </a:r>
          </a:p>
        </p:txBody>
      </p:sp>
      <p:sp>
        <p:nvSpPr>
          <p:cNvPr id="119" name="TextBox 118"/>
          <p:cNvSpPr txBox="1"/>
          <p:nvPr/>
        </p:nvSpPr>
        <p:spPr>
          <a:xfrm>
            <a:off x="2959659" y="2254232"/>
            <a:ext cx="349776" cy="213585"/>
          </a:xfrm>
          <a:prstGeom prst="rect">
            <a:avLst/>
          </a:prstGeom>
          <a:noFill/>
        </p:spPr>
        <p:txBody>
          <a:bodyPr wrap="none" rtlCol="0">
            <a:spAutoFit/>
          </a:bodyPr>
          <a:lstStyle/>
          <a:p>
            <a:pPr defTabSz="514350"/>
            <a:r>
              <a:rPr lang="en-US" sz="788">
                <a:solidFill>
                  <a:prstClr val="black"/>
                </a:solidFill>
                <a:latin typeface="Calibri" panose="020F0502020204030204"/>
              </a:rPr>
              <a:t>ALU</a:t>
            </a:r>
            <a:endParaRPr lang="en-US" sz="788" dirty="0">
              <a:solidFill>
                <a:prstClr val="black"/>
              </a:solidFill>
              <a:latin typeface="Calibri" panose="020F0502020204030204"/>
            </a:endParaRPr>
          </a:p>
        </p:txBody>
      </p:sp>
      <p:sp>
        <p:nvSpPr>
          <p:cNvPr id="120" name="Rectangle 119"/>
          <p:cNvSpPr/>
          <p:nvPr/>
        </p:nvSpPr>
        <p:spPr>
          <a:xfrm rot="16200000">
            <a:off x="1322346" y="2650715"/>
            <a:ext cx="1309457" cy="315516"/>
          </a:xfrm>
          <a:prstGeom prst="rect">
            <a:avLst/>
          </a:prstGeom>
          <a:solidFill>
            <a:schemeClr val="accent6">
              <a:lumMod val="40000"/>
              <a:lumOff val="60000"/>
            </a:schemeClr>
          </a:solidFill>
          <a:ln/>
        </p:spPr>
        <p:style>
          <a:lnRef idx="1">
            <a:schemeClr val="dk1"/>
          </a:lnRef>
          <a:fillRef idx="2">
            <a:schemeClr val="dk1"/>
          </a:fillRef>
          <a:effectRef idx="1">
            <a:schemeClr val="dk1"/>
          </a:effectRef>
          <a:fontRef idx="minor">
            <a:schemeClr val="dk1"/>
          </a:fontRef>
        </p:style>
        <p:txBody>
          <a:bodyPr lIns="87466" tIns="43733" rIns="87466" bIns="43733" rtlCol="0" anchor="ctr"/>
          <a:lstStyle/>
          <a:p>
            <a:pPr algn="ctr" defTabSz="514350">
              <a:lnSpc>
                <a:spcPts val="1069"/>
              </a:lnSpc>
            </a:pPr>
            <a:r>
              <a:rPr lang="en-US" sz="1125" dirty="0">
                <a:solidFill>
                  <a:srgbClr val="000000"/>
                </a:solidFill>
                <a:latin typeface="Calibri" panose="020F0502020204030204"/>
              </a:rPr>
              <a:t> Programmable</a:t>
            </a:r>
          </a:p>
          <a:p>
            <a:pPr algn="ctr" defTabSz="514350">
              <a:lnSpc>
                <a:spcPts val="1069"/>
              </a:lnSpc>
            </a:pPr>
            <a:r>
              <a:rPr lang="en-US" sz="1125" dirty="0">
                <a:solidFill>
                  <a:srgbClr val="000000"/>
                </a:solidFill>
                <a:latin typeface="Calibri" panose="020F0502020204030204"/>
              </a:rPr>
              <a:t>Parser</a:t>
            </a:r>
          </a:p>
        </p:txBody>
      </p:sp>
      <p:grpSp>
        <p:nvGrpSpPr>
          <p:cNvPr id="7" name="Group 6"/>
          <p:cNvGrpSpPr/>
          <p:nvPr/>
        </p:nvGrpSpPr>
        <p:grpSpPr>
          <a:xfrm>
            <a:off x="1115551" y="1491630"/>
            <a:ext cx="1879928" cy="690919"/>
            <a:chOff x="-48801" y="1323808"/>
            <a:chExt cx="3342094" cy="1228299"/>
          </a:xfrm>
        </p:grpSpPr>
        <p:sp>
          <p:nvSpPr>
            <p:cNvPr id="6" name="TextBox 5"/>
            <p:cNvSpPr txBox="1"/>
            <p:nvPr/>
          </p:nvSpPr>
          <p:spPr>
            <a:xfrm>
              <a:off x="-48801" y="1323808"/>
              <a:ext cx="3342094" cy="492442"/>
            </a:xfrm>
            <a:prstGeom prst="rect">
              <a:avLst/>
            </a:prstGeom>
            <a:noFill/>
          </p:spPr>
          <p:txBody>
            <a:bodyPr wrap="square" rtlCol="0">
              <a:spAutoFit/>
            </a:bodyPr>
            <a:lstStyle/>
            <a:p>
              <a:pPr algn="ctr" defTabSz="514350"/>
              <a:r>
                <a:rPr lang="zh-CN" altLang="en-US" sz="1200" dirty="0">
                  <a:solidFill>
                    <a:prstClr val="black"/>
                  </a:solidFill>
                  <a:latin typeface="Calibri" panose="020F0502020204030204"/>
                </a:rPr>
                <a:t>使用哪些首部字段</a:t>
              </a:r>
              <a:endParaRPr lang="en-US" sz="1200" dirty="0">
                <a:solidFill>
                  <a:prstClr val="black"/>
                </a:solidFill>
                <a:latin typeface="Calibri" panose="020F0502020204030204"/>
              </a:endParaRPr>
            </a:p>
          </p:txBody>
        </p:sp>
        <p:cxnSp>
          <p:nvCxnSpPr>
            <p:cNvPr id="8" name="Straight Arrow Connector 7"/>
            <p:cNvCxnSpPr>
              <a:stCxn id="6" idx="2"/>
              <a:endCxn id="120" idx="3"/>
            </p:cNvCxnSpPr>
            <p:nvPr/>
          </p:nvCxnSpPr>
          <p:spPr>
            <a:xfrm flipH="1">
              <a:off x="1482797" y="1866558"/>
              <a:ext cx="139449" cy="6855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2436001" y="1453739"/>
            <a:ext cx="4009031" cy="677724"/>
            <a:chOff x="2298668" y="1256446"/>
            <a:chExt cx="7127166" cy="1204843"/>
          </a:xfrm>
        </p:grpSpPr>
        <p:sp>
          <p:nvSpPr>
            <p:cNvPr id="9" name="Right Brace 8"/>
            <p:cNvSpPr/>
            <p:nvPr/>
          </p:nvSpPr>
          <p:spPr>
            <a:xfrm rot="16200000">
              <a:off x="5668147" y="-1296398"/>
              <a:ext cx="388208" cy="7127166"/>
            </a:xfrm>
            <a:prstGeom prst="rightBrace">
              <a:avLst>
                <a:gd name="adj1" fmla="val 30766"/>
                <a:gd name="adj2" fmla="val 48982"/>
              </a:avLst>
            </a:prstGeom>
          </p:spPr>
          <p:style>
            <a:lnRef idx="1">
              <a:schemeClr val="accent1"/>
            </a:lnRef>
            <a:fillRef idx="0">
              <a:schemeClr val="accent1"/>
            </a:fillRef>
            <a:effectRef idx="0">
              <a:schemeClr val="accent1"/>
            </a:effectRef>
            <a:fontRef idx="minor">
              <a:schemeClr val="tx1"/>
            </a:fontRef>
          </p:style>
          <p:txBody>
            <a:bodyPr rtlCol="0" anchor="ctr"/>
            <a:lstStyle/>
            <a:p>
              <a:pPr algn="ctr" defTabSz="514350"/>
              <a:endParaRPr lang="en-US" sz="1200">
                <a:solidFill>
                  <a:prstClr val="black"/>
                </a:solidFill>
                <a:latin typeface="Calibri" panose="020F0502020204030204"/>
              </a:endParaRPr>
            </a:p>
          </p:txBody>
        </p:sp>
        <p:sp>
          <p:nvSpPr>
            <p:cNvPr id="124" name="TextBox 123"/>
            <p:cNvSpPr txBox="1"/>
            <p:nvPr/>
          </p:nvSpPr>
          <p:spPr>
            <a:xfrm>
              <a:off x="4013384" y="1256446"/>
              <a:ext cx="4158405" cy="492443"/>
            </a:xfrm>
            <a:prstGeom prst="rect">
              <a:avLst/>
            </a:prstGeom>
            <a:noFill/>
          </p:spPr>
          <p:txBody>
            <a:bodyPr wrap="none" rtlCol="0">
              <a:spAutoFit/>
            </a:bodyPr>
            <a:lstStyle/>
            <a:p>
              <a:pPr algn="ctr" defTabSz="514350"/>
              <a:r>
                <a:rPr lang="zh-CN" altLang="en-US" sz="1200" dirty="0">
                  <a:solidFill>
                    <a:prstClr val="black"/>
                  </a:solidFill>
                  <a:latin typeface="Calibri" panose="020F0502020204030204"/>
                </a:rPr>
                <a:t>使用什么表、以及如何处理分组</a:t>
              </a:r>
              <a:endParaRPr lang="en-US" sz="1200" dirty="0">
                <a:solidFill>
                  <a:prstClr val="black"/>
                </a:solidFill>
                <a:latin typeface="Calibri" panose="020F0502020204030204"/>
              </a:endParaRPr>
            </a:p>
          </p:txBody>
        </p:sp>
        <p:cxnSp>
          <p:nvCxnSpPr>
            <p:cNvPr id="125" name="Straight Arrow Connector 124"/>
            <p:cNvCxnSpPr>
              <a:stCxn id="124" idx="2"/>
              <a:endCxn id="9" idx="1"/>
            </p:cNvCxnSpPr>
            <p:nvPr/>
          </p:nvCxnSpPr>
          <p:spPr>
            <a:xfrm>
              <a:off x="5785359" y="1739841"/>
              <a:ext cx="4337" cy="3332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Box 12"/>
          <p:cNvSpPr txBox="1"/>
          <p:nvPr/>
        </p:nvSpPr>
        <p:spPr>
          <a:xfrm>
            <a:off x="1241586" y="989166"/>
            <a:ext cx="4719049" cy="369332"/>
          </a:xfrm>
          <a:prstGeom prst="rect">
            <a:avLst/>
          </a:prstGeom>
          <a:noFill/>
        </p:spPr>
        <p:txBody>
          <a:bodyPr wrap="none" rtlCol="0">
            <a:spAutoFit/>
          </a:bodyPr>
          <a:lstStyle/>
          <a:p>
            <a:pPr defTabSz="514350"/>
            <a:r>
              <a:rPr lang="en-US" altLang="zh-CN" dirty="0">
                <a:solidFill>
                  <a:prstClr val="black"/>
                </a:solidFill>
                <a:latin typeface="Calibri" panose="020F0502020204030204"/>
              </a:rPr>
              <a:t>PISA</a:t>
            </a:r>
            <a:r>
              <a:rPr lang="zh-CN" altLang="en-US" dirty="0">
                <a:solidFill>
                  <a:prstClr val="black"/>
                </a:solidFill>
                <a:latin typeface="Calibri" panose="020F0502020204030204"/>
              </a:rPr>
              <a:t>：</a:t>
            </a:r>
            <a:r>
              <a:rPr lang="en-US" dirty="0">
                <a:solidFill>
                  <a:prstClr val="black"/>
                </a:solidFill>
                <a:latin typeface="Calibri" panose="020F0502020204030204"/>
              </a:rPr>
              <a:t>protocol independent switch architecture</a:t>
            </a:r>
          </a:p>
        </p:txBody>
      </p:sp>
      <p:sp>
        <p:nvSpPr>
          <p:cNvPr id="135" name="TextBox 12"/>
          <p:cNvSpPr txBox="1"/>
          <p:nvPr/>
        </p:nvSpPr>
        <p:spPr>
          <a:xfrm>
            <a:off x="1685949" y="3816921"/>
            <a:ext cx="5856382" cy="784830"/>
          </a:xfrm>
          <a:prstGeom prst="rect">
            <a:avLst/>
          </a:prstGeom>
          <a:noFill/>
        </p:spPr>
        <p:txBody>
          <a:bodyPr wrap="square" rtlCol="0">
            <a:spAutoFit/>
          </a:bodyPr>
          <a:lstStyle/>
          <a:p>
            <a:pPr defTabSz="514350">
              <a:lnSpc>
                <a:spcPct val="150000"/>
              </a:lnSpc>
            </a:pPr>
            <a:r>
              <a:rPr lang="zh-CN" altLang="en-US" sz="1500" b="1" dirty="0">
                <a:solidFill>
                  <a:prstClr val="black"/>
                </a:solidFill>
                <a:latin typeface="微软雅黑" panose="020B0503020204020204" pitchFamily="34" charset="-122"/>
                <a:ea typeface="微软雅黑" panose="020B0503020204020204" pitchFamily="34" charset="-122"/>
              </a:rPr>
              <a:t>流水线结构，但这里流水线不与具体的协议处理相关联，实现哪些功能需要编译器下发具体指令</a:t>
            </a:r>
            <a:endParaRPr lang="en-US" sz="1500" b="1" dirty="0">
              <a:solidFill>
                <a:prstClr val="black"/>
              </a:solidFill>
              <a:latin typeface="微软雅黑" panose="020B0503020204020204" pitchFamily="34" charset="-122"/>
              <a:ea typeface="微软雅黑" panose="020B0503020204020204" pitchFamily="34" charset="-122"/>
            </a:endParaRPr>
          </a:p>
        </p:txBody>
      </p:sp>
      <p:sp>
        <p:nvSpPr>
          <p:cNvPr id="136"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37"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PISA: </a:t>
            </a:r>
            <a:r>
              <a:rPr lang="zh-CN" altLang="en-US" sz="2400" b="1" dirty="0">
                <a:solidFill>
                  <a:schemeClr val="bg1"/>
                </a:solidFill>
                <a:latin typeface="微软雅黑" pitchFamily="34" charset="-122"/>
                <a:ea typeface="微软雅黑" pitchFamily="34" charset="-122"/>
              </a:rPr>
              <a:t>协议无关交换机体系结构</a:t>
            </a:r>
          </a:p>
        </p:txBody>
      </p:sp>
    </p:spTree>
    <p:custDataLst>
      <p:tags r:id="rId1"/>
    </p:custDataLst>
    <p:extLst>
      <p:ext uri="{BB962C8B-B14F-4D97-AF65-F5344CB8AC3E}">
        <p14:creationId xmlns:p14="http://schemas.microsoft.com/office/powerpoint/2010/main" val="108035388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 grpId="0"/>
      <p:bldP spid="4" grpId="0"/>
      <p:bldP spid="11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Rectangle 172"/>
          <p:cNvSpPr/>
          <p:nvPr/>
        </p:nvSpPr>
        <p:spPr>
          <a:xfrm rot="16200000">
            <a:off x="1322346" y="2076105"/>
            <a:ext cx="1309457" cy="315516"/>
          </a:xfrm>
          <a:prstGeom prst="rect">
            <a:avLst/>
          </a:prstGeom>
          <a:solidFill>
            <a:schemeClr val="accent6">
              <a:lumMod val="40000"/>
              <a:lumOff val="60000"/>
            </a:schemeClr>
          </a:solidFill>
          <a:ln/>
        </p:spPr>
        <p:style>
          <a:lnRef idx="1">
            <a:schemeClr val="dk1"/>
          </a:lnRef>
          <a:fillRef idx="2">
            <a:schemeClr val="dk1"/>
          </a:fillRef>
          <a:effectRef idx="1">
            <a:schemeClr val="dk1"/>
          </a:effectRef>
          <a:fontRef idx="minor">
            <a:schemeClr val="dk1"/>
          </a:fontRef>
        </p:style>
        <p:txBody>
          <a:bodyPr lIns="87466" tIns="43733" rIns="87466" bIns="43733" rtlCol="0" anchor="ctr"/>
          <a:lstStyle/>
          <a:p>
            <a:pPr algn="ctr" defTabSz="514350">
              <a:lnSpc>
                <a:spcPts val="1069"/>
              </a:lnSpc>
            </a:pPr>
            <a:r>
              <a:rPr lang="en-US" sz="1125" dirty="0">
                <a:solidFill>
                  <a:srgbClr val="000000"/>
                </a:solidFill>
                <a:latin typeface="Calibri" panose="020F0502020204030204"/>
              </a:rPr>
              <a:t> Programmable</a:t>
            </a:r>
          </a:p>
          <a:p>
            <a:pPr algn="ctr" defTabSz="514350">
              <a:lnSpc>
                <a:spcPts val="1069"/>
              </a:lnSpc>
            </a:pPr>
            <a:r>
              <a:rPr lang="en-US" sz="1125" dirty="0">
                <a:solidFill>
                  <a:srgbClr val="000000"/>
                </a:solidFill>
                <a:latin typeface="Calibri" panose="020F0502020204030204"/>
              </a:rPr>
              <a:t>Parser</a:t>
            </a:r>
          </a:p>
        </p:txBody>
      </p:sp>
      <p:grpSp>
        <p:nvGrpSpPr>
          <p:cNvPr id="437" name="Group 436"/>
          <p:cNvGrpSpPr/>
          <p:nvPr/>
        </p:nvGrpSpPr>
        <p:grpSpPr>
          <a:xfrm>
            <a:off x="6753729" y="2331526"/>
            <a:ext cx="414251" cy="389357"/>
            <a:chOff x="8131589" y="4009362"/>
            <a:chExt cx="552334" cy="692189"/>
          </a:xfrm>
        </p:grpSpPr>
        <p:grpSp>
          <p:nvGrpSpPr>
            <p:cNvPr id="438" name="Group 65"/>
            <p:cNvGrpSpPr/>
            <p:nvPr/>
          </p:nvGrpSpPr>
          <p:grpSpPr>
            <a:xfrm>
              <a:off x="8131589" y="4009362"/>
              <a:ext cx="551591" cy="228624"/>
              <a:chOff x="7660968" y="1751777"/>
              <a:chExt cx="1040580" cy="450645"/>
            </a:xfrm>
          </p:grpSpPr>
          <p:sp>
            <p:nvSpPr>
              <p:cNvPr id="443" name="Freeform 442"/>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444" name="Straight Connector 443"/>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5" name="Straight Connector 444"/>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439" name="Group 70"/>
            <p:cNvGrpSpPr/>
            <p:nvPr/>
          </p:nvGrpSpPr>
          <p:grpSpPr>
            <a:xfrm>
              <a:off x="8132332" y="4472927"/>
              <a:ext cx="551591" cy="228624"/>
              <a:chOff x="7660968" y="1751777"/>
              <a:chExt cx="1040580" cy="450645"/>
            </a:xfrm>
          </p:grpSpPr>
          <p:sp>
            <p:nvSpPr>
              <p:cNvPr id="440" name="Freeform 439"/>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441" name="Straight Connector 440"/>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2" name="Straight Connector 441"/>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318" name="Group 317"/>
          <p:cNvGrpSpPr/>
          <p:nvPr/>
        </p:nvGrpSpPr>
        <p:grpSpPr>
          <a:xfrm>
            <a:off x="6545527" y="1927213"/>
            <a:ext cx="50230" cy="325531"/>
            <a:chOff x="2682199" y="3319032"/>
            <a:chExt cx="152400" cy="987683"/>
          </a:xfrm>
        </p:grpSpPr>
        <p:sp>
          <p:nvSpPr>
            <p:cNvPr id="319" name="Rectangle 318"/>
            <p:cNvSpPr/>
            <p:nvPr/>
          </p:nvSpPr>
          <p:spPr>
            <a:xfrm>
              <a:off x="2682199" y="3319032"/>
              <a:ext cx="152400" cy="176851"/>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0" name="Rectangle 319"/>
            <p:cNvSpPr/>
            <p:nvPr/>
          </p:nvSpPr>
          <p:spPr>
            <a:xfrm>
              <a:off x="2682199" y="3716850"/>
              <a:ext cx="152400" cy="176851"/>
            </a:xfrm>
            <a:prstGeom prst="rect">
              <a:avLst/>
            </a:prstGeom>
            <a:solidFill>
              <a:srgbClr val="3366FF"/>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1" name="Rectangle 320"/>
            <p:cNvSpPr/>
            <p:nvPr/>
          </p:nvSpPr>
          <p:spPr>
            <a:xfrm>
              <a:off x="2682199" y="4129864"/>
              <a:ext cx="152400" cy="17685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sp>
        <p:nvSpPr>
          <p:cNvPr id="322" name="Rectangle 321"/>
          <p:cNvSpPr/>
          <p:nvPr/>
        </p:nvSpPr>
        <p:spPr>
          <a:xfrm>
            <a:off x="6791206" y="2356528"/>
            <a:ext cx="334097" cy="599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3" name="Rectangle 322"/>
          <p:cNvSpPr/>
          <p:nvPr/>
        </p:nvSpPr>
        <p:spPr>
          <a:xfrm>
            <a:off x="6545527" y="1927213"/>
            <a:ext cx="50230" cy="58289"/>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4" name="Rectangle 323"/>
          <p:cNvSpPr/>
          <p:nvPr/>
        </p:nvSpPr>
        <p:spPr>
          <a:xfrm>
            <a:off x="6545527" y="2058328"/>
            <a:ext cx="50230" cy="58289"/>
          </a:xfrm>
          <a:prstGeom prst="rect">
            <a:avLst/>
          </a:prstGeom>
          <a:solidFill>
            <a:srgbClr val="3366FF"/>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5" name="Rectangle 324"/>
          <p:cNvSpPr/>
          <p:nvPr/>
        </p:nvSpPr>
        <p:spPr>
          <a:xfrm>
            <a:off x="6545527" y="2194454"/>
            <a:ext cx="50230" cy="58289"/>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nvGrpSpPr>
          <p:cNvPr id="338" name="Group 337"/>
          <p:cNvGrpSpPr/>
          <p:nvPr/>
        </p:nvGrpSpPr>
        <p:grpSpPr>
          <a:xfrm>
            <a:off x="2437168" y="1635878"/>
            <a:ext cx="843257" cy="1220157"/>
            <a:chOff x="1485649" y="3204985"/>
            <a:chExt cx="1124341" cy="2169168"/>
          </a:xfrm>
        </p:grpSpPr>
        <p:sp>
          <p:nvSpPr>
            <p:cNvPr id="339" name="Rectangle 338"/>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340" name="Rectangle 339"/>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341" name="Group 340"/>
          <p:cNvGrpSpPr/>
          <p:nvPr/>
        </p:nvGrpSpPr>
        <p:grpSpPr>
          <a:xfrm>
            <a:off x="3499243" y="1635552"/>
            <a:ext cx="843257" cy="1220157"/>
            <a:chOff x="1485649" y="3204985"/>
            <a:chExt cx="1124341" cy="2169168"/>
          </a:xfrm>
        </p:grpSpPr>
        <p:sp>
          <p:nvSpPr>
            <p:cNvPr id="342" name="Rectangle 341"/>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343" name="Rectangle 342"/>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344" name="Group 343"/>
          <p:cNvGrpSpPr/>
          <p:nvPr/>
        </p:nvGrpSpPr>
        <p:grpSpPr>
          <a:xfrm>
            <a:off x="4549207" y="1640201"/>
            <a:ext cx="843257" cy="1220157"/>
            <a:chOff x="1485649" y="3204985"/>
            <a:chExt cx="1124341" cy="2169168"/>
          </a:xfrm>
        </p:grpSpPr>
        <p:sp>
          <p:nvSpPr>
            <p:cNvPr id="345" name="Rectangle 344"/>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346" name="Rectangle 345"/>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347" name="Group 346"/>
          <p:cNvGrpSpPr/>
          <p:nvPr/>
        </p:nvGrpSpPr>
        <p:grpSpPr>
          <a:xfrm>
            <a:off x="5602942" y="1646921"/>
            <a:ext cx="843257" cy="1220157"/>
            <a:chOff x="1485649" y="3204985"/>
            <a:chExt cx="1124341" cy="2169168"/>
          </a:xfrm>
        </p:grpSpPr>
        <p:sp>
          <p:nvSpPr>
            <p:cNvPr id="348" name="Rectangle 347"/>
            <p:cNvSpPr/>
            <p:nvPr/>
          </p:nvSpPr>
          <p:spPr>
            <a:xfrm>
              <a:off x="1492629" y="3216474"/>
              <a:ext cx="1117361" cy="21576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61229" tIns="30615" rIns="61229" bIns="30615" rtlCol="0" anchor="ctr"/>
            <a:lstStyle/>
            <a:p>
              <a:pPr algn="ctr" defTabSz="514350"/>
              <a:endParaRPr lang="en-US" sz="1875" dirty="0">
                <a:solidFill>
                  <a:prstClr val="black"/>
                </a:solidFill>
                <a:latin typeface="Calibri" panose="020F0502020204030204"/>
              </a:endParaRPr>
            </a:p>
          </p:txBody>
        </p:sp>
        <p:sp>
          <p:nvSpPr>
            <p:cNvPr id="349" name="Rectangle 348"/>
            <p:cNvSpPr/>
            <p:nvPr/>
          </p:nvSpPr>
          <p:spPr>
            <a:xfrm>
              <a:off x="1485649" y="3204985"/>
              <a:ext cx="1124341" cy="2157680"/>
            </a:xfrm>
            <a:prstGeom prst="rect">
              <a:avLst/>
            </a:prstGeom>
            <a:solidFill>
              <a:schemeClr val="lt1">
                <a:alpha val="7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defTabSz="514350"/>
              <a:endParaRPr lang="en-US" sz="844">
                <a:solidFill>
                  <a:prstClr val="black"/>
                </a:solidFill>
                <a:latin typeface="Calibri" panose="020F0502020204030204"/>
              </a:endParaRPr>
            </a:p>
          </p:txBody>
        </p:sp>
      </p:grpSp>
      <p:grpSp>
        <p:nvGrpSpPr>
          <p:cNvPr id="350" name="Group 349"/>
          <p:cNvGrpSpPr/>
          <p:nvPr/>
        </p:nvGrpSpPr>
        <p:grpSpPr>
          <a:xfrm>
            <a:off x="6753172" y="1809846"/>
            <a:ext cx="414251" cy="389357"/>
            <a:chOff x="8131589" y="4009362"/>
            <a:chExt cx="552334" cy="692189"/>
          </a:xfrm>
        </p:grpSpPr>
        <p:grpSp>
          <p:nvGrpSpPr>
            <p:cNvPr id="351" name="Group 65"/>
            <p:cNvGrpSpPr/>
            <p:nvPr/>
          </p:nvGrpSpPr>
          <p:grpSpPr>
            <a:xfrm>
              <a:off x="8131589" y="4009362"/>
              <a:ext cx="551591" cy="228624"/>
              <a:chOff x="7660968" y="1751777"/>
              <a:chExt cx="1040580" cy="450645"/>
            </a:xfrm>
          </p:grpSpPr>
          <p:sp>
            <p:nvSpPr>
              <p:cNvPr id="356" name="Freeform 355"/>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357" name="Straight Connector 356"/>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8" name="Straight Connector 357"/>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52" name="Group 70"/>
            <p:cNvGrpSpPr/>
            <p:nvPr/>
          </p:nvGrpSpPr>
          <p:grpSpPr>
            <a:xfrm>
              <a:off x="8132332" y="4472927"/>
              <a:ext cx="551591" cy="228624"/>
              <a:chOff x="7660968" y="1751777"/>
              <a:chExt cx="1040580" cy="450645"/>
            </a:xfrm>
          </p:grpSpPr>
          <p:sp>
            <p:nvSpPr>
              <p:cNvPr id="353" name="Freeform 352"/>
              <p:cNvSpPr/>
              <p:nvPr/>
            </p:nvSpPr>
            <p:spPr>
              <a:xfrm>
                <a:off x="7660968" y="1751777"/>
                <a:ext cx="1040580" cy="450645"/>
              </a:xfrm>
              <a:custGeom>
                <a:avLst/>
                <a:gdLst>
                  <a:gd name="connsiteX0" fmla="*/ 0 w 1040580"/>
                  <a:gd name="connsiteY0" fmla="*/ 0 h 450645"/>
                  <a:gd name="connsiteX1" fmla="*/ 1040580 w 1040580"/>
                  <a:gd name="connsiteY1" fmla="*/ 8193 h 450645"/>
                  <a:gd name="connsiteX2" fmla="*/ 1032387 w 1040580"/>
                  <a:gd name="connsiteY2" fmla="*/ 450645 h 450645"/>
                  <a:gd name="connsiteX3" fmla="*/ 16387 w 1040580"/>
                  <a:gd name="connsiteY3" fmla="*/ 442451 h 450645"/>
                </a:gdLst>
                <a:ahLst/>
                <a:cxnLst>
                  <a:cxn ang="0">
                    <a:pos x="connsiteX0" y="connsiteY0"/>
                  </a:cxn>
                  <a:cxn ang="0">
                    <a:pos x="connsiteX1" y="connsiteY1"/>
                  </a:cxn>
                  <a:cxn ang="0">
                    <a:pos x="connsiteX2" y="connsiteY2"/>
                  </a:cxn>
                  <a:cxn ang="0">
                    <a:pos x="connsiteX3" y="connsiteY3"/>
                  </a:cxn>
                </a:cxnLst>
                <a:rect l="l" t="t" r="r" b="b"/>
                <a:pathLst>
                  <a:path w="1040580" h="450645">
                    <a:moveTo>
                      <a:pt x="0" y="0"/>
                    </a:moveTo>
                    <a:lnTo>
                      <a:pt x="1040580" y="8193"/>
                    </a:lnTo>
                    <a:lnTo>
                      <a:pt x="1032387" y="450645"/>
                    </a:lnTo>
                    <a:lnTo>
                      <a:pt x="16387" y="442451"/>
                    </a:lnTo>
                  </a:path>
                </a:pathLst>
              </a:custGeom>
              <a:noFill/>
              <a:ln w="254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defTabSz="514350"/>
                <a:endParaRPr lang="en-US" sz="844">
                  <a:solidFill>
                    <a:prstClr val="black"/>
                  </a:solidFill>
                  <a:latin typeface="Calibri" panose="020F0502020204030204"/>
                </a:endParaRPr>
              </a:p>
            </p:txBody>
          </p:sp>
          <p:cxnSp>
            <p:nvCxnSpPr>
              <p:cNvPr id="354" name="Straight Connector 353"/>
              <p:cNvCxnSpPr/>
              <p:nvPr/>
            </p:nvCxnSpPr>
            <p:spPr>
              <a:xfrm>
                <a:off x="8501629"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5" name="Straight Connector 354"/>
              <p:cNvCxnSpPr/>
              <p:nvPr/>
            </p:nvCxnSpPr>
            <p:spPr>
              <a:xfrm>
                <a:off x="8268933" y="1751777"/>
                <a:ext cx="0" cy="450645"/>
              </a:xfrm>
              <a:prstGeom prst="line">
                <a:avLst/>
              </a:prstGeom>
              <a:ln w="25400" cmpd="sng">
                <a:solidFill>
                  <a:schemeClr val="tx1"/>
                </a:solidFill>
              </a:ln>
            </p:spPr>
            <p:style>
              <a:lnRef idx="2">
                <a:schemeClr val="accent1"/>
              </a:lnRef>
              <a:fillRef idx="0">
                <a:schemeClr val="accent1"/>
              </a:fillRef>
              <a:effectRef idx="1">
                <a:schemeClr val="accent1"/>
              </a:effectRef>
              <a:fontRef idx="minor">
                <a:schemeClr val="tx1"/>
              </a:fontRef>
            </p:style>
          </p:cxnSp>
        </p:grpSp>
      </p:grpSp>
      <p:grpSp>
        <p:nvGrpSpPr>
          <p:cNvPr id="360" name="Group 359"/>
          <p:cNvGrpSpPr/>
          <p:nvPr/>
        </p:nvGrpSpPr>
        <p:grpSpPr>
          <a:xfrm>
            <a:off x="7189471" y="1814959"/>
            <a:ext cx="384551" cy="893978"/>
            <a:chOff x="2488822" y="2403406"/>
            <a:chExt cx="529093" cy="1589294"/>
          </a:xfrm>
        </p:grpSpPr>
        <p:cxnSp>
          <p:nvCxnSpPr>
            <p:cNvPr id="361" name="Straight Arrow Connector 360"/>
            <p:cNvCxnSpPr/>
            <p:nvPr/>
          </p:nvCxnSpPr>
          <p:spPr>
            <a:xfrm flipV="1">
              <a:off x="2493656" y="24034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2" name="Straight Arrow Connector 361"/>
            <p:cNvCxnSpPr/>
            <p:nvPr/>
          </p:nvCxnSpPr>
          <p:spPr>
            <a:xfrm flipV="1">
              <a:off x="2490064" y="25558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3" name="Straight Arrow Connector 362"/>
            <p:cNvCxnSpPr/>
            <p:nvPr/>
          </p:nvCxnSpPr>
          <p:spPr>
            <a:xfrm flipV="1">
              <a:off x="2493656" y="2717444"/>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4" name="Straight Arrow Connector 363"/>
            <p:cNvCxnSpPr/>
            <p:nvPr/>
          </p:nvCxnSpPr>
          <p:spPr>
            <a:xfrm flipV="1">
              <a:off x="2493656" y="2871548"/>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5" name="Straight Arrow Connector 364"/>
            <p:cNvCxnSpPr/>
            <p:nvPr/>
          </p:nvCxnSpPr>
          <p:spPr>
            <a:xfrm flipV="1">
              <a:off x="2493656" y="303169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6" name="Straight Arrow Connector 365"/>
            <p:cNvCxnSpPr/>
            <p:nvPr/>
          </p:nvCxnSpPr>
          <p:spPr>
            <a:xfrm flipV="1">
              <a:off x="2494729" y="319080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7" name="Straight Arrow Connector 366"/>
            <p:cNvCxnSpPr/>
            <p:nvPr/>
          </p:nvCxnSpPr>
          <p:spPr>
            <a:xfrm flipV="1">
              <a:off x="2493656" y="3352442"/>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8" name="Straight Arrow Connector 367"/>
            <p:cNvCxnSpPr/>
            <p:nvPr/>
          </p:nvCxnSpPr>
          <p:spPr>
            <a:xfrm flipV="1">
              <a:off x="2494729" y="351258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69" name="Straight Arrow Connector 368"/>
            <p:cNvCxnSpPr/>
            <p:nvPr/>
          </p:nvCxnSpPr>
          <p:spPr>
            <a:xfrm flipV="1">
              <a:off x="2495802" y="367169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0" name="Straight Arrow Connector 369"/>
            <p:cNvCxnSpPr/>
            <p:nvPr/>
          </p:nvCxnSpPr>
          <p:spPr>
            <a:xfrm flipV="1">
              <a:off x="2493656" y="383359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1" name="Straight Arrow Connector 370"/>
            <p:cNvCxnSpPr/>
            <p:nvPr/>
          </p:nvCxnSpPr>
          <p:spPr>
            <a:xfrm flipV="1">
              <a:off x="2488822" y="399270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372" name="Group 371"/>
          <p:cNvGrpSpPr/>
          <p:nvPr/>
        </p:nvGrpSpPr>
        <p:grpSpPr>
          <a:xfrm>
            <a:off x="1534252" y="1782900"/>
            <a:ext cx="285831" cy="893978"/>
            <a:chOff x="2488822" y="2403406"/>
            <a:chExt cx="529093" cy="1589294"/>
          </a:xfrm>
        </p:grpSpPr>
        <p:cxnSp>
          <p:nvCxnSpPr>
            <p:cNvPr id="373" name="Straight Arrow Connector 372"/>
            <p:cNvCxnSpPr/>
            <p:nvPr/>
          </p:nvCxnSpPr>
          <p:spPr>
            <a:xfrm flipV="1">
              <a:off x="2493656" y="24034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4" name="Straight Arrow Connector 373"/>
            <p:cNvCxnSpPr/>
            <p:nvPr/>
          </p:nvCxnSpPr>
          <p:spPr>
            <a:xfrm flipV="1">
              <a:off x="2490064" y="2555806"/>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5" name="Straight Arrow Connector 374"/>
            <p:cNvCxnSpPr/>
            <p:nvPr/>
          </p:nvCxnSpPr>
          <p:spPr>
            <a:xfrm flipV="1">
              <a:off x="2493656" y="2717444"/>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6" name="Straight Arrow Connector 375"/>
            <p:cNvCxnSpPr/>
            <p:nvPr/>
          </p:nvCxnSpPr>
          <p:spPr>
            <a:xfrm flipV="1">
              <a:off x="2493656" y="2871548"/>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7" name="Straight Arrow Connector 376"/>
            <p:cNvCxnSpPr/>
            <p:nvPr/>
          </p:nvCxnSpPr>
          <p:spPr>
            <a:xfrm flipV="1">
              <a:off x="2493656" y="303169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8" name="Straight Arrow Connector 377"/>
            <p:cNvCxnSpPr/>
            <p:nvPr/>
          </p:nvCxnSpPr>
          <p:spPr>
            <a:xfrm flipV="1">
              <a:off x="2494729" y="3190805"/>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79" name="Straight Arrow Connector 378"/>
            <p:cNvCxnSpPr/>
            <p:nvPr/>
          </p:nvCxnSpPr>
          <p:spPr>
            <a:xfrm flipV="1">
              <a:off x="2493656" y="3352442"/>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80" name="Straight Arrow Connector 379"/>
            <p:cNvCxnSpPr/>
            <p:nvPr/>
          </p:nvCxnSpPr>
          <p:spPr>
            <a:xfrm flipV="1">
              <a:off x="2494729" y="351258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81" name="Straight Arrow Connector 380"/>
            <p:cNvCxnSpPr/>
            <p:nvPr/>
          </p:nvCxnSpPr>
          <p:spPr>
            <a:xfrm flipV="1">
              <a:off x="2495802" y="3671699"/>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82" name="Straight Arrow Connector 381"/>
            <p:cNvCxnSpPr/>
            <p:nvPr/>
          </p:nvCxnSpPr>
          <p:spPr>
            <a:xfrm flipV="1">
              <a:off x="2493656" y="383359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83" name="Straight Arrow Connector 382"/>
            <p:cNvCxnSpPr/>
            <p:nvPr/>
          </p:nvCxnSpPr>
          <p:spPr>
            <a:xfrm flipV="1">
              <a:off x="2488822" y="3992700"/>
              <a:ext cx="522113" cy="0"/>
            </a:xfrm>
            <a:prstGeom prst="straightConnector1">
              <a:avLst/>
            </a:prstGeom>
            <a:ln w="25400">
              <a:solidFill>
                <a:srgbClr val="C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384" name="Group 383"/>
          <p:cNvGrpSpPr/>
          <p:nvPr/>
        </p:nvGrpSpPr>
        <p:grpSpPr>
          <a:xfrm>
            <a:off x="2519932" y="1688985"/>
            <a:ext cx="682022" cy="1109874"/>
            <a:chOff x="2449931" y="225721"/>
            <a:chExt cx="909363" cy="1973109"/>
          </a:xfrm>
        </p:grpSpPr>
        <p:sp>
          <p:nvSpPr>
            <p:cNvPr id="385" name="Rectangle 384"/>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619" dirty="0">
                <a:solidFill>
                  <a:prstClr val="white"/>
                </a:solidFill>
                <a:latin typeface="Calibri" panose="020F0502020204030204"/>
              </a:endParaRPr>
            </a:p>
          </p:txBody>
        </p:sp>
        <p:sp>
          <p:nvSpPr>
            <p:cNvPr id="386" name="Rectangle 385"/>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7" name="Rectangle 386"/>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8" name="Rectangle 387"/>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89" name="Rectangle 388"/>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0" name="Rectangle 389"/>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1" name="Trapezoid 390"/>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dirty="0">
                <a:solidFill>
                  <a:prstClr val="white"/>
                </a:solidFill>
                <a:latin typeface="Calibri" panose="020F0502020204030204"/>
              </a:endParaRPr>
            </a:p>
          </p:txBody>
        </p:sp>
        <p:sp>
          <p:nvSpPr>
            <p:cNvPr id="392" name="Trapezoid 391"/>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3" name="Trapezoid 392"/>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4" name="Trapezoid 393"/>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5" name="Trapezoid 394"/>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6" name="Trapezoid 395"/>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grpSp>
        <p:nvGrpSpPr>
          <p:cNvPr id="397" name="Group 396"/>
          <p:cNvGrpSpPr/>
          <p:nvPr/>
        </p:nvGrpSpPr>
        <p:grpSpPr>
          <a:xfrm>
            <a:off x="3569483" y="1701487"/>
            <a:ext cx="682022" cy="1109874"/>
            <a:chOff x="2449931" y="225721"/>
            <a:chExt cx="909363" cy="1973109"/>
          </a:xfrm>
        </p:grpSpPr>
        <p:sp>
          <p:nvSpPr>
            <p:cNvPr id="398" name="Rectangle 397"/>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399" name="Rectangle 398"/>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0" name="Rectangle 399"/>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1" name="Rectangle 400"/>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2" name="Rectangle 401"/>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3" name="Rectangle 402"/>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4" name="Trapezoid 403"/>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5" name="Trapezoid 404"/>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6" name="Trapezoid 405"/>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7" name="Trapezoid 406"/>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8" name="Trapezoid 407"/>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09" name="Trapezoid 408"/>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grpSp>
        <p:nvGrpSpPr>
          <p:cNvPr id="410" name="Group 409"/>
          <p:cNvGrpSpPr/>
          <p:nvPr/>
        </p:nvGrpSpPr>
        <p:grpSpPr>
          <a:xfrm>
            <a:off x="4630402" y="1703180"/>
            <a:ext cx="682022" cy="1109874"/>
            <a:chOff x="2449931" y="225721"/>
            <a:chExt cx="909363" cy="1973109"/>
          </a:xfrm>
        </p:grpSpPr>
        <p:sp>
          <p:nvSpPr>
            <p:cNvPr id="411" name="Rectangle 410"/>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2" name="Rectangle 411"/>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3" name="Rectangle 412"/>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4" name="Rectangle 413"/>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5" name="Rectangle 414"/>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6" name="Rectangle 415"/>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7" name="Trapezoid 416"/>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8" name="Trapezoid 417"/>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19" name="Trapezoid 418"/>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0" name="Trapezoid 419"/>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1" name="Trapezoid 420"/>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2" name="Trapezoid 421"/>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grpSp>
        <p:nvGrpSpPr>
          <p:cNvPr id="423" name="Group 422"/>
          <p:cNvGrpSpPr/>
          <p:nvPr/>
        </p:nvGrpSpPr>
        <p:grpSpPr>
          <a:xfrm>
            <a:off x="5685619" y="1719129"/>
            <a:ext cx="682022" cy="1109874"/>
            <a:chOff x="2449931" y="225721"/>
            <a:chExt cx="909363" cy="1973109"/>
          </a:xfrm>
        </p:grpSpPr>
        <p:sp>
          <p:nvSpPr>
            <p:cNvPr id="424" name="Rectangle 423"/>
            <p:cNvSpPr/>
            <p:nvPr/>
          </p:nvSpPr>
          <p:spPr>
            <a:xfrm>
              <a:off x="2449931" y="225721"/>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5" name="Rectangle 424"/>
            <p:cNvSpPr/>
            <p:nvPr/>
          </p:nvSpPr>
          <p:spPr>
            <a:xfrm>
              <a:off x="2449931" y="56313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6" name="Rectangle 425"/>
            <p:cNvSpPr/>
            <p:nvPr/>
          </p:nvSpPr>
          <p:spPr>
            <a:xfrm>
              <a:off x="2449931" y="902860"/>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7" name="Rectangle 426"/>
            <p:cNvSpPr/>
            <p:nvPr/>
          </p:nvSpPr>
          <p:spPr>
            <a:xfrm>
              <a:off x="2449931" y="1244322"/>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8" name="Rectangle 427"/>
            <p:cNvSpPr/>
            <p:nvPr/>
          </p:nvSpPr>
          <p:spPr>
            <a:xfrm>
              <a:off x="2449931" y="1919144"/>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29" name="Rectangle 428"/>
            <p:cNvSpPr/>
            <p:nvPr/>
          </p:nvSpPr>
          <p:spPr>
            <a:xfrm>
              <a:off x="2449931" y="1581733"/>
              <a:ext cx="527194" cy="2796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30" name="Trapezoid 429"/>
            <p:cNvSpPr/>
            <p:nvPr/>
          </p:nvSpPr>
          <p:spPr>
            <a:xfrm rot="5400000">
              <a:off x="3080394" y="231171"/>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31" name="Trapezoid 430"/>
            <p:cNvSpPr/>
            <p:nvPr/>
          </p:nvSpPr>
          <p:spPr>
            <a:xfrm rot="5400000">
              <a:off x="3085058" y="56858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32" name="Trapezoid 431"/>
            <p:cNvSpPr/>
            <p:nvPr/>
          </p:nvSpPr>
          <p:spPr>
            <a:xfrm rot="5400000">
              <a:off x="3085058" y="908310"/>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33" name="Trapezoid 432"/>
            <p:cNvSpPr/>
            <p:nvPr/>
          </p:nvSpPr>
          <p:spPr>
            <a:xfrm rot="5400000">
              <a:off x="3080394" y="125872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34" name="Trapezoid 433"/>
            <p:cNvSpPr/>
            <p:nvPr/>
          </p:nvSpPr>
          <p:spPr>
            <a:xfrm rot="5400000">
              <a:off x="3080394" y="1587183"/>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sp>
          <p:nvSpPr>
            <p:cNvPr id="435" name="Trapezoid 434"/>
            <p:cNvSpPr/>
            <p:nvPr/>
          </p:nvSpPr>
          <p:spPr>
            <a:xfrm rot="5400000">
              <a:off x="3080394" y="1924594"/>
              <a:ext cx="279686" cy="268786"/>
            </a:xfrm>
            <a:prstGeom prst="trapezoid">
              <a:avLst>
                <a:gd name="adj" fmla="val 30807"/>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844">
                <a:solidFill>
                  <a:prstClr val="white"/>
                </a:solidFill>
                <a:latin typeface="Calibri" panose="020F0502020204030204"/>
              </a:endParaRPr>
            </a:p>
          </p:txBody>
        </p:sp>
      </p:grpSp>
      <p:cxnSp>
        <p:nvCxnSpPr>
          <p:cNvPr id="446" name="Straight Arrow Connector 445"/>
          <p:cNvCxnSpPr/>
          <p:nvPr/>
        </p:nvCxnSpPr>
        <p:spPr>
          <a:xfrm>
            <a:off x="2131829" y="2235259"/>
            <a:ext cx="305340" cy="3180"/>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447" name="Straight Arrow Connector 446"/>
          <p:cNvCxnSpPr/>
          <p:nvPr/>
        </p:nvCxnSpPr>
        <p:spPr>
          <a:xfrm flipV="1">
            <a:off x="4342499" y="2247049"/>
            <a:ext cx="206709" cy="1814"/>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448" name="Straight Arrow Connector 447"/>
          <p:cNvCxnSpPr/>
          <p:nvPr/>
        </p:nvCxnSpPr>
        <p:spPr>
          <a:xfrm>
            <a:off x="5392465" y="2253512"/>
            <a:ext cx="210479" cy="258"/>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449" name="Straight Arrow Connector 448"/>
          <p:cNvCxnSpPr/>
          <p:nvPr/>
        </p:nvCxnSpPr>
        <p:spPr>
          <a:xfrm>
            <a:off x="6446199" y="2253770"/>
            <a:ext cx="306973" cy="3574"/>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cxnSp>
        <p:nvCxnSpPr>
          <p:cNvPr id="450" name="Straight Arrow Connector 449"/>
          <p:cNvCxnSpPr/>
          <p:nvPr/>
        </p:nvCxnSpPr>
        <p:spPr>
          <a:xfrm>
            <a:off x="3280424" y="2231264"/>
            <a:ext cx="218820" cy="3962"/>
          </a:xfrm>
          <a:prstGeom prst="straightConnector1">
            <a:avLst/>
          </a:prstGeom>
          <a:ln w="57150" cmpd="sng">
            <a:tailEnd type="arrow"/>
          </a:ln>
        </p:spPr>
        <p:style>
          <a:lnRef idx="2">
            <a:schemeClr val="accent1"/>
          </a:lnRef>
          <a:fillRef idx="0">
            <a:schemeClr val="accent1"/>
          </a:fillRef>
          <a:effectRef idx="1">
            <a:schemeClr val="accent1"/>
          </a:effectRef>
          <a:fontRef idx="minor">
            <a:schemeClr val="tx1"/>
          </a:fontRef>
        </p:style>
      </p:cxnSp>
      <p:sp>
        <p:nvSpPr>
          <p:cNvPr id="282" name="Rectangle 281"/>
          <p:cNvSpPr/>
          <p:nvPr/>
        </p:nvSpPr>
        <p:spPr>
          <a:xfrm>
            <a:off x="1575666" y="1673020"/>
            <a:ext cx="417361" cy="5828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83" name="Rectangle 282"/>
          <p:cNvSpPr/>
          <p:nvPr/>
        </p:nvSpPr>
        <p:spPr>
          <a:xfrm>
            <a:off x="1942796" y="1673020"/>
            <a:ext cx="50230" cy="58289"/>
          </a:xfrm>
          <a:prstGeom prst="rect">
            <a:avLst/>
          </a:prstGeom>
          <a:solidFill>
            <a:srgbClr val="FF9B2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84" name="Rectangle 283"/>
          <p:cNvSpPr/>
          <p:nvPr/>
        </p:nvSpPr>
        <p:spPr>
          <a:xfrm>
            <a:off x="1892566" y="1673020"/>
            <a:ext cx="50230" cy="58289"/>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85" name="Rectangle 284"/>
          <p:cNvSpPr/>
          <p:nvPr/>
        </p:nvSpPr>
        <p:spPr>
          <a:xfrm>
            <a:off x="1842337" y="1673020"/>
            <a:ext cx="50230" cy="58289"/>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86" name="Rectangle 285"/>
          <p:cNvSpPr/>
          <p:nvPr/>
        </p:nvSpPr>
        <p:spPr>
          <a:xfrm>
            <a:off x="1792107" y="1673020"/>
            <a:ext cx="50230" cy="58289"/>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nvGrpSpPr>
          <p:cNvPr id="331" name="Group 330"/>
          <p:cNvGrpSpPr/>
          <p:nvPr/>
        </p:nvGrpSpPr>
        <p:grpSpPr>
          <a:xfrm>
            <a:off x="1205122" y="1673020"/>
            <a:ext cx="417361" cy="58289"/>
            <a:chOff x="503996" y="2137991"/>
            <a:chExt cx="1266304" cy="176851"/>
          </a:xfrm>
        </p:grpSpPr>
        <p:sp>
          <p:nvSpPr>
            <p:cNvPr id="332" name="Rectangle 331"/>
            <p:cNvSpPr/>
            <p:nvPr/>
          </p:nvSpPr>
          <p:spPr>
            <a:xfrm>
              <a:off x="503996" y="2137991"/>
              <a:ext cx="1266304" cy="17685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33" name="Rectangle 332"/>
            <p:cNvSpPr/>
            <p:nvPr/>
          </p:nvSpPr>
          <p:spPr>
            <a:xfrm>
              <a:off x="1617899" y="2137991"/>
              <a:ext cx="152400" cy="176851"/>
            </a:xfrm>
            <a:prstGeom prst="rect">
              <a:avLst/>
            </a:prstGeom>
            <a:solidFill>
              <a:srgbClr val="FF9B2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34" name="Rectangle 333"/>
            <p:cNvSpPr/>
            <p:nvPr/>
          </p:nvSpPr>
          <p:spPr>
            <a:xfrm>
              <a:off x="1465499" y="2137991"/>
              <a:ext cx="152400" cy="176851"/>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35" name="Rectangle 334"/>
            <p:cNvSpPr/>
            <p:nvPr/>
          </p:nvSpPr>
          <p:spPr>
            <a:xfrm>
              <a:off x="1313099" y="2137991"/>
              <a:ext cx="152400" cy="17685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36" name="Rectangle 335"/>
            <p:cNvSpPr/>
            <p:nvPr/>
          </p:nvSpPr>
          <p:spPr>
            <a:xfrm>
              <a:off x="1160699" y="2137991"/>
              <a:ext cx="152400" cy="176851"/>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grpSp>
        <p:nvGrpSpPr>
          <p:cNvPr id="287" name="Group 286"/>
          <p:cNvGrpSpPr/>
          <p:nvPr/>
        </p:nvGrpSpPr>
        <p:grpSpPr>
          <a:xfrm>
            <a:off x="2427866" y="1767640"/>
            <a:ext cx="50230" cy="607802"/>
            <a:chOff x="2682199" y="3319032"/>
            <a:chExt cx="152400" cy="1844119"/>
          </a:xfrm>
        </p:grpSpPr>
        <p:sp>
          <p:nvSpPr>
            <p:cNvPr id="288" name="Rectangle 287"/>
            <p:cNvSpPr/>
            <p:nvPr/>
          </p:nvSpPr>
          <p:spPr>
            <a:xfrm>
              <a:off x="2682199" y="3319032"/>
              <a:ext cx="152400" cy="176851"/>
            </a:xfrm>
            <a:prstGeom prst="rect">
              <a:avLst/>
            </a:prstGeom>
            <a:solidFill>
              <a:srgbClr val="FF9B2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89" name="Rectangle 288"/>
            <p:cNvSpPr/>
            <p:nvPr/>
          </p:nvSpPr>
          <p:spPr>
            <a:xfrm>
              <a:off x="2682199" y="3861354"/>
              <a:ext cx="152400" cy="176852"/>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90" name="Rectangle 289"/>
            <p:cNvSpPr/>
            <p:nvPr/>
          </p:nvSpPr>
          <p:spPr>
            <a:xfrm>
              <a:off x="2682199" y="4433320"/>
              <a:ext cx="152400" cy="176852"/>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91" name="Rectangle 290"/>
            <p:cNvSpPr/>
            <p:nvPr/>
          </p:nvSpPr>
          <p:spPr>
            <a:xfrm>
              <a:off x="2682199" y="4986299"/>
              <a:ext cx="152400" cy="176852"/>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grpSp>
        <p:nvGrpSpPr>
          <p:cNvPr id="293" name="Group 292"/>
          <p:cNvGrpSpPr/>
          <p:nvPr/>
        </p:nvGrpSpPr>
        <p:grpSpPr>
          <a:xfrm>
            <a:off x="3346081" y="1731412"/>
            <a:ext cx="50230" cy="734615"/>
            <a:chOff x="4743832" y="3340154"/>
            <a:chExt cx="152400" cy="2228879"/>
          </a:xfrm>
        </p:grpSpPr>
        <p:grpSp>
          <p:nvGrpSpPr>
            <p:cNvPr id="294" name="Group 293"/>
            <p:cNvGrpSpPr/>
            <p:nvPr/>
          </p:nvGrpSpPr>
          <p:grpSpPr>
            <a:xfrm>
              <a:off x="4743832" y="3340154"/>
              <a:ext cx="152400" cy="1396159"/>
              <a:chOff x="2682199" y="3319032"/>
              <a:chExt cx="152400" cy="1396159"/>
            </a:xfrm>
          </p:grpSpPr>
          <p:sp>
            <p:nvSpPr>
              <p:cNvPr id="297" name="Rectangle 296"/>
              <p:cNvSpPr/>
              <p:nvPr/>
            </p:nvSpPr>
            <p:spPr>
              <a:xfrm>
                <a:off x="2682199" y="3319032"/>
                <a:ext cx="152400" cy="176851"/>
              </a:xfrm>
              <a:prstGeom prst="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98" name="Rectangle 297"/>
              <p:cNvSpPr/>
              <p:nvPr/>
            </p:nvSpPr>
            <p:spPr>
              <a:xfrm>
                <a:off x="2682199" y="3716850"/>
                <a:ext cx="152400" cy="176851"/>
              </a:xfrm>
              <a:prstGeom prst="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99" name="Rectangle 298"/>
              <p:cNvSpPr/>
              <p:nvPr/>
            </p:nvSpPr>
            <p:spPr>
              <a:xfrm>
                <a:off x="2682199" y="4129864"/>
                <a:ext cx="152400" cy="176851"/>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00" name="Rectangle 299"/>
              <p:cNvSpPr/>
              <p:nvPr/>
            </p:nvSpPr>
            <p:spPr>
              <a:xfrm>
                <a:off x="2682199" y="4538340"/>
                <a:ext cx="152400" cy="176851"/>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sp>
          <p:nvSpPr>
            <p:cNvPr id="295" name="Rectangle 294"/>
            <p:cNvSpPr/>
            <p:nvPr/>
          </p:nvSpPr>
          <p:spPr>
            <a:xfrm>
              <a:off x="4743832" y="4994364"/>
              <a:ext cx="152400" cy="176851"/>
            </a:xfrm>
            <a:prstGeom prst="rect">
              <a:avLst/>
            </a:prstGeom>
            <a:solidFill>
              <a:schemeClr val="bg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296" name="Rectangle 295"/>
            <p:cNvSpPr/>
            <p:nvPr/>
          </p:nvSpPr>
          <p:spPr>
            <a:xfrm>
              <a:off x="4743832" y="5392182"/>
              <a:ext cx="152400" cy="176851"/>
            </a:xfrm>
            <a:prstGeom prst="rect">
              <a:avLst/>
            </a:prstGeom>
            <a:solidFill>
              <a:srgbClr val="008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sp>
        <p:nvSpPr>
          <p:cNvPr id="315" name="Rectangle 314"/>
          <p:cNvSpPr/>
          <p:nvPr/>
        </p:nvSpPr>
        <p:spPr>
          <a:xfrm>
            <a:off x="3497743" y="1630103"/>
            <a:ext cx="849992" cy="1215183"/>
          </a:xfrm>
          <a:prstGeom prst="rect">
            <a:avLst/>
          </a:prstGeom>
          <a:solidFill>
            <a:schemeClr val="tx1">
              <a:alpha val="53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01" name="Rectangle 300"/>
          <p:cNvSpPr/>
          <p:nvPr/>
        </p:nvSpPr>
        <p:spPr>
          <a:xfrm>
            <a:off x="2435375" y="1635313"/>
            <a:ext cx="845049" cy="1205372"/>
          </a:xfrm>
          <a:prstGeom prst="rect">
            <a:avLst/>
          </a:prstGeom>
          <a:solidFill>
            <a:schemeClr val="tx1">
              <a:alpha val="53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16" name="Rectangle 315"/>
          <p:cNvSpPr/>
          <p:nvPr/>
        </p:nvSpPr>
        <p:spPr>
          <a:xfrm>
            <a:off x="4546217" y="1642477"/>
            <a:ext cx="841012" cy="1211420"/>
          </a:xfrm>
          <a:prstGeom prst="rect">
            <a:avLst/>
          </a:prstGeom>
          <a:solidFill>
            <a:schemeClr val="tx1">
              <a:alpha val="53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17" name="Rectangle 316"/>
          <p:cNvSpPr/>
          <p:nvPr/>
        </p:nvSpPr>
        <p:spPr>
          <a:xfrm>
            <a:off x="5601876" y="1646076"/>
            <a:ext cx="844324" cy="1203172"/>
          </a:xfrm>
          <a:prstGeom prst="rect">
            <a:avLst/>
          </a:prstGeom>
          <a:solidFill>
            <a:schemeClr val="tx1">
              <a:alpha val="53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nvGrpSpPr>
          <p:cNvPr id="326" name="Group 325"/>
          <p:cNvGrpSpPr/>
          <p:nvPr/>
        </p:nvGrpSpPr>
        <p:grpSpPr>
          <a:xfrm>
            <a:off x="6792970" y="2360141"/>
            <a:ext cx="334097" cy="59943"/>
            <a:chOff x="11652632" y="5034593"/>
            <a:chExt cx="1013676" cy="181871"/>
          </a:xfrm>
        </p:grpSpPr>
        <p:sp>
          <p:nvSpPr>
            <p:cNvPr id="327" name="Rectangle 326"/>
            <p:cNvSpPr/>
            <p:nvPr/>
          </p:nvSpPr>
          <p:spPr>
            <a:xfrm>
              <a:off x="11652632" y="5034593"/>
              <a:ext cx="1013676" cy="18187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8" name="Rectangle 327"/>
            <p:cNvSpPr/>
            <p:nvPr/>
          </p:nvSpPr>
          <p:spPr>
            <a:xfrm>
              <a:off x="12513908" y="5037046"/>
              <a:ext cx="152400" cy="176851"/>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29" name="Rectangle 328"/>
            <p:cNvSpPr/>
            <p:nvPr/>
          </p:nvSpPr>
          <p:spPr>
            <a:xfrm>
              <a:off x="12361508" y="5039613"/>
              <a:ext cx="152400" cy="176851"/>
            </a:xfrm>
            <a:prstGeom prst="rect">
              <a:avLst/>
            </a:prstGeom>
            <a:solidFill>
              <a:srgbClr val="33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30" name="Rectangle 329"/>
            <p:cNvSpPr/>
            <p:nvPr/>
          </p:nvSpPr>
          <p:spPr>
            <a:xfrm>
              <a:off x="12209108" y="5037046"/>
              <a:ext cx="152400" cy="176851"/>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grpSp>
        <p:nvGrpSpPr>
          <p:cNvPr id="302" name="Group 301"/>
          <p:cNvGrpSpPr/>
          <p:nvPr/>
        </p:nvGrpSpPr>
        <p:grpSpPr>
          <a:xfrm>
            <a:off x="4451548" y="1798269"/>
            <a:ext cx="50230" cy="603499"/>
            <a:chOff x="4743832" y="3737972"/>
            <a:chExt cx="152400" cy="1831061"/>
          </a:xfrm>
        </p:grpSpPr>
        <p:grpSp>
          <p:nvGrpSpPr>
            <p:cNvPr id="303" name="Group 302"/>
            <p:cNvGrpSpPr/>
            <p:nvPr/>
          </p:nvGrpSpPr>
          <p:grpSpPr>
            <a:xfrm>
              <a:off x="4743832" y="3737972"/>
              <a:ext cx="152400" cy="589865"/>
              <a:chOff x="2682199" y="3716850"/>
              <a:chExt cx="152400" cy="589865"/>
            </a:xfrm>
          </p:grpSpPr>
          <p:sp>
            <p:nvSpPr>
              <p:cNvPr id="306" name="Rectangle 305"/>
              <p:cNvSpPr/>
              <p:nvPr/>
            </p:nvSpPr>
            <p:spPr>
              <a:xfrm>
                <a:off x="2682199" y="3716850"/>
                <a:ext cx="152400" cy="176851"/>
              </a:xfrm>
              <a:prstGeom prst="rect">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07" name="Rectangle 306"/>
              <p:cNvSpPr/>
              <p:nvPr/>
            </p:nvSpPr>
            <p:spPr>
              <a:xfrm>
                <a:off x="2682199" y="4129864"/>
                <a:ext cx="152400" cy="17685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sp>
          <p:nvSpPr>
            <p:cNvPr id="304" name="Rectangle 303"/>
            <p:cNvSpPr/>
            <p:nvPr/>
          </p:nvSpPr>
          <p:spPr>
            <a:xfrm>
              <a:off x="4743832" y="4994364"/>
              <a:ext cx="152400" cy="176851"/>
            </a:xfrm>
            <a:prstGeom prst="rect">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05" name="Rectangle 304"/>
            <p:cNvSpPr/>
            <p:nvPr/>
          </p:nvSpPr>
          <p:spPr>
            <a:xfrm>
              <a:off x="4743832" y="5392182"/>
              <a:ext cx="152400" cy="176851"/>
            </a:xfrm>
            <a:prstGeom prst="rect">
              <a:avLst/>
            </a:prstGeom>
            <a:solidFill>
              <a:schemeClr val="accent4">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grpSp>
        <p:nvGrpSpPr>
          <p:cNvPr id="308" name="Group 307"/>
          <p:cNvGrpSpPr/>
          <p:nvPr/>
        </p:nvGrpSpPr>
        <p:grpSpPr>
          <a:xfrm>
            <a:off x="5474004" y="1781230"/>
            <a:ext cx="50230" cy="734615"/>
            <a:chOff x="4743832" y="3340154"/>
            <a:chExt cx="152400" cy="2228879"/>
          </a:xfrm>
        </p:grpSpPr>
        <p:grpSp>
          <p:nvGrpSpPr>
            <p:cNvPr id="309" name="Group 308"/>
            <p:cNvGrpSpPr/>
            <p:nvPr/>
          </p:nvGrpSpPr>
          <p:grpSpPr>
            <a:xfrm>
              <a:off x="4743832" y="3340154"/>
              <a:ext cx="152400" cy="987683"/>
              <a:chOff x="2682199" y="3319032"/>
              <a:chExt cx="152400" cy="987683"/>
            </a:xfrm>
          </p:grpSpPr>
          <p:sp>
            <p:nvSpPr>
              <p:cNvPr id="312" name="Rectangle 311"/>
              <p:cNvSpPr/>
              <p:nvPr/>
            </p:nvSpPr>
            <p:spPr>
              <a:xfrm>
                <a:off x="2682199" y="3319032"/>
                <a:ext cx="152400" cy="176851"/>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13" name="Rectangle 312"/>
              <p:cNvSpPr/>
              <p:nvPr/>
            </p:nvSpPr>
            <p:spPr>
              <a:xfrm>
                <a:off x="2682199" y="3716850"/>
                <a:ext cx="152400" cy="17685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14" name="Rectangle 313"/>
              <p:cNvSpPr/>
              <p:nvPr/>
            </p:nvSpPr>
            <p:spPr>
              <a:xfrm>
                <a:off x="2682199" y="4129864"/>
                <a:ext cx="152400" cy="176851"/>
              </a:xfrm>
              <a:prstGeom prst="rect">
                <a:avLst/>
              </a:prstGeom>
              <a:solidFill>
                <a:srgbClr val="3366FF"/>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sp>
          <p:nvSpPr>
            <p:cNvPr id="310" name="Rectangle 309"/>
            <p:cNvSpPr/>
            <p:nvPr/>
          </p:nvSpPr>
          <p:spPr>
            <a:xfrm>
              <a:off x="4743832" y="4994364"/>
              <a:ext cx="152400" cy="176851"/>
            </a:xfrm>
            <a:prstGeom prst="rect">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sp>
          <p:nvSpPr>
            <p:cNvPr id="311" name="Rectangle 310"/>
            <p:cNvSpPr/>
            <p:nvPr/>
          </p:nvSpPr>
          <p:spPr>
            <a:xfrm>
              <a:off x="4743832" y="5392182"/>
              <a:ext cx="152400" cy="176851"/>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defTabSz="514350"/>
              <a:endParaRPr lang="en-US" sz="561">
                <a:solidFill>
                  <a:prstClr val="white"/>
                </a:solidFill>
                <a:latin typeface="Calibri" panose="020F0502020204030204"/>
              </a:endParaRPr>
            </a:p>
          </p:txBody>
        </p:sp>
      </p:grpSp>
      <p:sp>
        <p:nvSpPr>
          <p:cNvPr id="169" name="Content Placeholder 5">
            <a:extLst>
              <a:ext uri="{FF2B5EF4-FFF2-40B4-BE49-F238E27FC236}">
                <a16:creationId xmlns:a16="http://schemas.microsoft.com/office/drawing/2014/main" id="{B2AA1E60-782C-6849-AF84-B063430DBAAE}"/>
              </a:ext>
            </a:extLst>
          </p:cNvPr>
          <p:cNvSpPr txBox="1">
            <a:spLocks/>
          </p:cNvSpPr>
          <p:nvPr/>
        </p:nvSpPr>
        <p:spPr>
          <a:xfrm>
            <a:off x="1531250" y="3147747"/>
            <a:ext cx="5915025" cy="1481122"/>
          </a:xfrm>
          <a:prstGeom prst="rect">
            <a:avLst/>
          </a:prstGeom>
        </p:spPr>
        <p:txBody>
          <a:bodyPr vert="horz" lIns="68580" tIns="34290" rIns="68580" bIns="34290" rtlCol="0">
            <a:noAutofit/>
          </a:bodyPr>
          <a:lst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257175" indent="-257175" defTabSz="342900" eaLnBrk="0" fontAlgn="base" hangingPunct="0">
              <a:lnSpc>
                <a:spcPct val="150000"/>
              </a:lnSpc>
              <a:spcBef>
                <a:spcPts val="0"/>
              </a:spcBef>
              <a:spcAft>
                <a:spcPct val="0"/>
              </a:spcAft>
            </a:pPr>
            <a:r>
              <a:rPr lang="zh-CN" altLang="en-US" sz="1400" b="1"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rPr>
              <a:t>可编程数据平面设计思路</a:t>
            </a:r>
            <a:endParaRPr lang="nn-NO" altLang="zh-CN" sz="1400" b="1" dirty="0">
              <a:solidFill>
                <a:srgbClr val="8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57213" lvl="1" indent="-214313" defTabSz="342900" eaLnBrk="0" fontAlgn="base" hangingPunct="0">
              <a:lnSpc>
                <a:spcPct val="150000"/>
              </a:lnSpc>
              <a:spcBef>
                <a:spcPts val="0"/>
              </a:spcBef>
              <a:spcAft>
                <a:spcPct val="0"/>
              </a:spcAft>
              <a:buFont typeface="Arial" panose="020B0604020202020204" pitchFamily="34" charset="0"/>
              <a:buChar char="–"/>
            </a:pPr>
            <a:r>
              <a:rPr lang="zh-CN" altLang="en-US" sz="1100" b="1" dirty="0">
                <a:latin typeface="微软雅黑" panose="020B0503020204020204" pitchFamily="34" charset="-122"/>
                <a:ea typeface="微软雅黑" panose="020B0503020204020204" pitchFamily="34" charset="-122"/>
                <a:cs typeface="Times New Roman" panose="02020603050405020304" pitchFamily="18" charset="0"/>
              </a:rPr>
              <a:t>可编程的分组解析</a:t>
            </a:r>
            <a:endParaRPr lang="en-US" altLang="zh-CN" sz="1100" b="1" dirty="0">
              <a:latin typeface="微软雅黑" panose="020B0503020204020204" pitchFamily="34" charset="-122"/>
              <a:ea typeface="微软雅黑" panose="020B0503020204020204" pitchFamily="34" charset="-122"/>
              <a:cs typeface="Times New Roman" panose="02020603050405020304" pitchFamily="18" charset="0"/>
            </a:endParaRPr>
          </a:p>
          <a:p>
            <a:pPr marL="557213" lvl="1" indent="-214313" defTabSz="342900" eaLnBrk="0" fontAlgn="base" hangingPunct="0">
              <a:lnSpc>
                <a:spcPct val="150000"/>
              </a:lnSpc>
              <a:spcBef>
                <a:spcPts val="0"/>
              </a:spcBef>
              <a:spcAft>
                <a:spcPct val="0"/>
              </a:spcAft>
              <a:buFont typeface="Arial" panose="020B0604020202020204" pitchFamily="34" charset="0"/>
              <a:buChar char="–"/>
            </a:pPr>
            <a:r>
              <a:rPr lang="zh-CN" altLang="en-US" sz="1100" b="1" dirty="0">
                <a:latin typeface="微软雅黑" panose="020B0503020204020204" pitchFamily="34" charset="-122"/>
                <a:ea typeface="微软雅黑" panose="020B0503020204020204" pitchFamily="34" charset="-122"/>
                <a:cs typeface="Times New Roman" panose="02020603050405020304" pitchFamily="18" charset="0"/>
              </a:rPr>
              <a:t>定制化的匹配</a:t>
            </a:r>
            <a:r>
              <a:rPr lang="en-US" altLang="zh-CN" sz="11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100" b="1" dirty="0">
                <a:latin typeface="微软雅黑" panose="020B0503020204020204" pitchFamily="34" charset="-122"/>
                <a:ea typeface="微软雅黑" panose="020B0503020204020204" pitchFamily="34" charset="-122"/>
                <a:cs typeface="Times New Roman" panose="02020603050405020304" pitchFamily="18" charset="0"/>
              </a:rPr>
              <a:t>动作表</a:t>
            </a:r>
            <a:endParaRPr lang="en-US" altLang="zh-CN" sz="1100" b="1" dirty="0">
              <a:latin typeface="微软雅黑" panose="020B0503020204020204" pitchFamily="34" charset="-122"/>
              <a:ea typeface="微软雅黑" panose="020B0503020204020204" pitchFamily="34" charset="-122"/>
              <a:cs typeface="Times New Roman" panose="02020603050405020304" pitchFamily="18" charset="0"/>
            </a:endParaRPr>
          </a:p>
          <a:p>
            <a:pPr marL="557213" lvl="1" indent="-214313" defTabSz="342900" eaLnBrk="0" fontAlgn="base" hangingPunct="0">
              <a:lnSpc>
                <a:spcPct val="150000"/>
              </a:lnSpc>
              <a:spcBef>
                <a:spcPts val="0"/>
              </a:spcBef>
              <a:spcAft>
                <a:spcPct val="0"/>
              </a:spcAft>
              <a:buFont typeface="Arial" panose="020B0604020202020204" pitchFamily="34" charset="0"/>
              <a:buChar char="–"/>
            </a:pPr>
            <a:r>
              <a:rPr lang="zh-CN" altLang="en-US" sz="1100" b="1" dirty="0">
                <a:latin typeface="微软雅黑" panose="020B0503020204020204" pitchFamily="34" charset="-122"/>
                <a:ea typeface="微软雅黑" panose="020B0503020204020204" pitchFamily="34" charset="-122"/>
                <a:cs typeface="Times New Roman" panose="02020603050405020304" pitchFamily="18" charset="0"/>
              </a:rPr>
              <a:t>用户自定义的动作集合</a:t>
            </a:r>
            <a:endParaRPr lang="en-US" altLang="zh-CN" sz="1100" b="1" dirty="0">
              <a:latin typeface="微软雅黑" panose="020B0503020204020204" pitchFamily="34" charset="-122"/>
              <a:ea typeface="微软雅黑" panose="020B0503020204020204" pitchFamily="34" charset="-122"/>
              <a:cs typeface="Times New Roman" panose="02020603050405020304" pitchFamily="18" charset="0"/>
            </a:endParaRPr>
          </a:p>
          <a:p>
            <a:pPr marL="557213" lvl="1" indent="-214313" defTabSz="342900" eaLnBrk="0" fontAlgn="base" hangingPunct="0">
              <a:lnSpc>
                <a:spcPct val="150000"/>
              </a:lnSpc>
              <a:spcBef>
                <a:spcPts val="0"/>
              </a:spcBef>
              <a:spcAft>
                <a:spcPct val="0"/>
              </a:spcAft>
              <a:buFont typeface="Arial" panose="020B0604020202020204" pitchFamily="34" charset="0"/>
              <a:buChar char="–"/>
            </a:pPr>
            <a:r>
              <a:rPr lang="zh-CN" altLang="en-US" sz="1100" b="1" dirty="0">
                <a:latin typeface="微软雅黑" panose="020B0503020204020204" pitchFamily="34" charset="-122"/>
                <a:ea typeface="微软雅黑" panose="020B0503020204020204" pitchFamily="34" charset="-122"/>
                <a:cs typeface="Times New Roman" panose="02020603050405020304" pitchFamily="18" charset="0"/>
              </a:rPr>
              <a:t>支持存储和捎带分组处理过程中的元数据</a:t>
            </a:r>
            <a:endParaRPr lang="en-US" sz="11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1" name="TextBox 12"/>
          <p:cNvSpPr txBox="1"/>
          <p:nvPr/>
        </p:nvSpPr>
        <p:spPr>
          <a:xfrm>
            <a:off x="1036786" y="1018525"/>
            <a:ext cx="4719049" cy="369332"/>
          </a:xfrm>
          <a:prstGeom prst="rect">
            <a:avLst/>
          </a:prstGeom>
          <a:noFill/>
        </p:spPr>
        <p:txBody>
          <a:bodyPr wrap="none" rtlCol="0">
            <a:spAutoFit/>
          </a:bodyPr>
          <a:lstStyle/>
          <a:p>
            <a:pPr defTabSz="514350"/>
            <a:r>
              <a:rPr lang="en-US" altLang="zh-CN" dirty="0">
                <a:solidFill>
                  <a:prstClr val="black"/>
                </a:solidFill>
                <a:latin typeface="Calibri" panose="020F0502020204030204"/>
              </a:rPr>
              <a:t>PISA</a:t>
            </a:r>
            <a:r>
              <a:rPr lang="zh-CN" altLang="en-US" dirty="0">
                <a:solidFill>
                  <a:prstClr val="black"/>
                </a:solidFill>
                <a:latin typeface="Calibri" panose="020F0502020204030204"/>
              </a:rPr>
              <a:t>：</a:t>
            </a:r>
            <a:r>
              <a:rPr lang="en-US" dirty="0">
                <a:solidFill>
                  <a:prstClr val="black"/>
                </a:solidFill>
                <a:latin typeface="Calibri" panose="020F0502020204030204"/>
              </a:rPr>
              <a:t>protocol independent switch architecture</a:t>
            </a:r>
          </a:p>
        </p:txBody>
      </p:sp>
      <p:sp>
        <p:nvSpPr>
          <p:cNvPr id="177"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78"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PISA: </a:t>
            </a:r>
            <a:r>
              <a:rPr lang="zh-CN" altLang="en-US" sz="2400" b="1" dirty="0">
                <a:solidFill>
                  <a:schemeClr val="bg1"/>
                </a:solidFill>
                <a:latin typeface="微软雅黑" pitchFamily="34" charset="-122"/>
                <a:ea typeface="微软雅黑" pitchFamily="34" charset="-122"/>
              </a:rPr>
              <a:t>协议无关交换机体系结构</a:t>
            </a:r>
          </a:p>
        </p:txBody>
      </p:sp>
    </p:spTree>
    <p:extLst>
      <p:ext uri="{BB962C8B-B14F-4D97-AF65-F5344CB8AC3E}">
        <p14:creationId xmlns:p14="http://schemas.microsoft.com/office/powerpoint/2010/main" val="29729838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0.00078 -0.00047 L 0.05365 -0.00047 " pathEditMode="relative" rAng="0" ptsTypes="AA">
                                      <p:cBhvr>
                                        <p:cTn id="8" dur="2000" fill="hold"/>
                                        <p:tgtEl>
                                          <p:spTgt spid="331"/>
                                        </p:tgtEl>
                                        <p:attrNameLst>
                                          <p:attrName>ppt_x</p:attrName>
                                          <p:attrName>ppt_y</p:attrName>
                                        </p:attrNameLst>
                                      </p:cBhvr>
                                      <p:rCtr x="2721" y="0"/>
                                    </p:animMotion>
                                  </p:childTnLst>
                                </p:cTn>
                              </p:par>
                            </p:childTnLst>
                          </p:cTn>
                        </p:par>
                        <p:par>
                          <p:cTn id="9" fill="hold">
                            <p:stCondLst>
                              <p:cond delay="2000"/>
                            </p:stCondLst>
                            <p:childTnLst>
                              <p:par>
                                <p:cTn id="10" presetID="1" presetClass="entr" presetSubtype="0" fill="hold" grpId="0" nodeType="afterEffect">
                                  <p:stCondLst>
                                    <p:cond delay="0"/>
                                  </p:stCondLst>
                                  <p:childTnLst>
                                    <p:set>
                                      <p:cBhvr>
                                        <p:cTn id="11" dur="1" fill="hold">
                                          <p:stCondLst>
                                            <p:cond delay="0"/>
                                          </p:stCondLst>
                                        </p:cTn>
                                        <p:tgtEl>
                                          <p:spTgt spid="282"/>
                                        </p:tgtEl>
                                        <p:attrNameLst>
                                          <p:attrName>style.visibility</p:attrName>
                                        </p:attrNameLst>
                                      </p:cBhvr>
                                      <p:to>
                                        <p:strVal val="visible"/>
                                      </p:to>
                                    </p:set>
                                  </p:childTnLst>
                                </p:cTn>
                              </p:par>
                              <p:par>
                                <p:cTn id="12" presetID="1" presetClass="entr" presetSubtype="0" fill="hold" grpId="1" nodeType="withEffect">
                                  <p:stCondLst>
                                    <p:cond delay="0"/>
                                  </p:stCondLst>
                                  <p:childTnLst>
                                    <p:set>
                                      <p:cBhvr>
                                        <p:cTn id="13" dur="1" fill="hold">
                                          <p:stCondLst>
                                            <p:cond delay="0"/>
                                          </p:stCondLst>
                                        </p:cTn>
                                        <p:tgtEl>
                                          <p:spTgt spid="283"/>
                                        </p:tgtEl>
                                        <p:attrNameLst>
                                          <p:attrName>style.visibility</p:attrName>
                                        </p:attrNameLst>
                                      </p:cBhvr>
                                      <p:to>
                                        <p:strVal val="visible"/>
                                      </p:to>
                                    </p:set>
                                  </p:childTnLst>
                                </p:cTn>
                              </p:par>
                              <p:par>
                                <p:cTn id="14" presetID="1" presetClass="entr" presetSubtype="0" fill="hold" grpId="1" nodeType="withEffect">
                                  <p:stCondLst>
                                    <p:cond delay="0"/>
                                  </p:stCondLst>
                                  <p:childTnLst>
                                    <p:set>
                                      <p:cBhvr>
                                        <p:cTn id="15" dur="1" fill="hold">
                                          <p:stCondLst>
                                            <p:cond delay="0"/>
                                          </p:stCondLst>
                                        </p:cTn>
                                        <p:tgtEl>
                                          <p:spTgt spid="284"/>
                                        </p:tgtEl>
                                        <p:attrNameLst>
                                          <p:attrName>style.visibility</p:attrName>
                                        </p:attrNameLst>
                                      </p:cBhvr>
                                      <p:to>
                                        <p:strVal val="visible"/>
                                      </p:to>
                                    </p:set>
                                  </p:childTnLst>
                                </p:cTn>
                              </p:par>
                              <p:par>
                                <p:cTn id="16" presetID="1" presetClass="entr" presetSubtype="0" fill="hold" grpId="1" nodeType="withEffect">
                                  <p:stCondLst>
                                    <p:cond delay="0"/>
                                  </p:stCondLst>
                                  <p:childTnLst>
                                    <p:set>
                                      <p:cBhvr>
                                        <p:cTn id="17" dur="1" fill="hold">
                                          <p:stCondLst>
                                            <p:cond delay="0"/>
                                          </p:stCondLst>
                                        </p:cTn>
                                        <p:tgtEl>
                                          <p:spTgt spid="285"/>
                                        </p:tgtEl>
                                        <p:attrNameLst>
                                          <p:attrName>style.visibility</p:attrName>
                                        </p:attrNameLst>
                                      </p:cBhvr>
                                      <p:to>
                                        <p:strVal val="visible"/>
                                      </p:to>
                                    </p:set>
                                  </p:childTnLst>
                                </p:cTn>
                              </p:par>
                              <p:par>
                                <p:cTn id="18" presetID="1" presetClass="entr" presetSubtype="0" fill="hold" grpId="1" nodeType="withEffect">
                                  <p:stCondLst>
                                    <p:cond delay="0"/>
                                  </p:stCondLst>
                                  <p:childTnLst>
                                    <p:set>
                                      <p:cBhvr>
                                        <p:cTn id="19" dur="1" fill="hold">
                                          <p:stCondLst>
                                            <p:cond delay="0"/>
                                          </p:stCondLst>
                                        </p:cTn>
                                        <p:tgtEl>
                                          <p:spTgt spid="28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grpId="0" nodeType="clickEffect">
                                  <p:stCondLst>
                                    <p:cond delay="0"/>
                                  </p:stCondLst>
                                  <p:childTnLst>
                                    <p:animMotion origin="layout" path="M -2.5E-6 2.22222E-6 C 0.00456 0.00741 0.00925 0.01504 0.02123 0.01852 C 0.03295 0.02222 0.05183 0.02153 0.07123 0.02083 " pathEditMode="relative" rAng="0" ptsTypes="AAA">
                                      <p:cBhvr>
                                        <p:cTn id="23" dur="1000" fill="hold"/>
                                        <p:tgtEl>
                                          <p:spTgt spid="283"/>
                                        </p:tgtEl>
                                        <p:attrNameLst>
                                          <p:attrName>ppt_x</p:attrName>
                                          <p:attrName>ppt_y</p:attrName>
                                        </p:attrNameLst>
                                      </p:cBhvr>
                                      <p:rCtr x="3555" y="1065"/>
                                    </p:animMotion>
                                  </p:childTnLst>
                                  <p:subTnLst>
                                    <p:set>
                                      <p:cBhvr override="childStyle">
                                        <p:cTn dur="1" fill="hold" display="0" masterRel="nextClick" afterEffect="1"/>
                                        <p:tgtEl>
                                          <p:spTgt spid="283"/>
                                        </p:tgtEl>
                                        <p:attrNameLst>
                                          <p:attrName>style.visibility</p:attrName>
                                        </p:attrNameLst>
                                      </p:cBhvr>
                                      <p:to>
                                        <p:strVal val="hidden"/>
                                      </p:to>
                                    </p:set>
                                  </p:subTnLst>
                                </p:cTn>
                              </p:par>
                              <p:par>
                                <p:cTn id="24" presetID="0" presetClass="path" presetSubtype="0" accel="50000" decel="50000" fill="hold" grpId="0" nodeType="withEffect">
                                  <p:stCondLst>
                                    <p:cond delay="0"/>
                                  </p:stCondLst>
                                  <p:childTnLst>
                                    <p:animMotion origin="layout" path="M -6.25E-7 2.22222E-6 C 0.00404 0.02338 0.00846 0.04722 0.02162 0.05879 C 0.03451 0.07083 0.05612 0.07037 0.07826 0.07037 " pathEditMode="relative" rAng="0" ptsTypes="AAA">
                                      <p:cBhvr>
                                        <p:cTn id="25" dur="1000" fill="hold"/>
                                        <p:tgtEl>
                                          <p:spTgt spid="284"/>
                                        </p:tgtEl>
                                        <p:attrNameLst>
                                          <p:attrName>ppt_x</p:attrName>
                                          <p:attrName>ppt_y</p:attrName>
                                        </p:attrNameLst>
                                      </p:cBhvr>
                                      <p:rCtr x="3906" y="3519"/>
                                    </p:animMotion>
                                  </p:childTnLst>
                                  <p:subTnLst>
                                    <p:set>
                                      <p:cBhvr override="childStyle">
                                        <p:cTn dur="1" fill="hold" display="0" masterRel="nextClick" afterEffect="1"/>
                                        <p:tgtEl>
                                          <p:spTgt spid="284"/>
                                        </p:tgtEl>
                                        <p:attrNameLst>
                                          <p:attrName>style.visibility</p:attrName>
                                        </p:attrNameLst>
                                      </p:cBhvr>
                                      <p:to>
                                        <p:strVal val="hidden"/>
                                      </p:to>
                                    </p:set>
                                  </p:subTnLst>
                                </p:cTn>
                              </p:par>
                              <p:par>
                                <p:cTn id="26" presetID="0" presetClass="path" presetSubtype="0" accel="50000" decel="50000" fill="hold" grpId="0" nodeType="withEffect">
                                  <p:stCondLst>
                                    <p:cond delay="0"/>
                                  </p:stCondLst>
                                  <p:childTnLst>
                                    <p:animMotion origin="layout" path="M 0.00364 -0.00023 C 0.00521 0.03889 0.00703 0.07801 0.0207 0.09791 C 0.0345 0.11782 0.06029 0.11805 0.08633 0.11852 " pathEditMode="relative" rAng="0" ptsTypes="AAA">
                                      <p:cBhvr>
                                        <p:cTn id="27" dur="1000" fill="hold"/>
                                        <p:tgtEl>
                                          <p:spTgt spid="285"/>
                                        </p:tgtEl>
                                        <p:attrNameLst>
                                          <p:attrName>ppt_x</p:attrName>
                                          <p:attrName>ppt_y</p:attrName>
                                        </p:attrNameLst>
                                      </p:cBhvr>
                                      <p:rCtr x="4128" y="5926"/>
                                    </p:animMotion>
                                  </p:childTnLst>
                                  <p:subTnLst>
                                    <p:set>
                                      <p:cBhvr override="childStyle">
                                        <p:cTn dur="1" fill="hold" display="0" masterRel="nextClick" afterEffect="1"/>
                                        <p:tgtEl>
                                          <p:spTgt spid="285"/>
                                        </p:tgtEl>
                                        <p:attrNameLst>
                                          <p:attrName>style.visibility</p:attrName>
                                        </p:attrNameLst>
                                      </p:cBhvr>
                                      <p:to>
                                        <p:strVal val="hidden"/>
                                      </p:to>
                                    </p:set>
                                  </p:subTnLst>
                                </p:cTn>
                              </p:par>
                              <p:par>
                                <p:cTn id="28" presetID="0" presetClass="path" presetSubtype="0" accel="50000" decel="50000" fill="hold" grpId="0" nodeType="withEffect">
                                  <p:stCondLst>
                                    <p:cond delay="0"/>
                                  </p:stCondLst>
                                  <p:childTnLst>
                                    <p:animMotion origin="layout" path="M 0.0108 -0.00023 C 0.00976 0.05903 0.00911 0.11875 0.02265 0.14676 C 0.03607 0.17523 0.06419 0.17176 0.09258 0.16852 " pathEditMode="relative" rAng="0" ptsTypes="AAA">
                                      <p:cBhvr>
                                        <p:cTn id="29" dur="1000" fill="hold"/>
                                        <p:tgtEl>
                                          <p:spTgt spid="286"/>
                                        </p:tgtEl>
                                        <p:attrNameLst>
                                          <p:attrName>ppt_x</p:attrName>
                                          <p:attrName>ppt_y</p:attrName>
                                        </p:attrNameLst>
                                      </p:cBhvr>
                                      <p:rCtr x="4062" y="8542"/>
                                    </p:animMotion>
                                  </p:childTnLst>
                                  <p:subTnLst>
                                    <p:set>
                                      <p:cBhvr override="childStyle">
                                        <p:cTn dur="1" fill="hold" display="0" masterRel="nextClick" afterEffect="1"/>
                                        <p:tgtEl>
                                          <p:spTgt spid="286"/>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8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0" presetClass="path" presetSubtype="0" accel="50000" decel="50000" fill="hold" nodeType="clickEffect">
                                  <p:stCondLst>
                                    <p:cond delay="0"/>
                                  </p:stCondLst>
                                  <p:childTnLst>
                                    <p:animMotion origin="layout" path="M -0.00013 -0.00046 L 0.13307 0.00069 " pathEditMode="relative" rAng="0" ptsTypes="AA">
                                      <p:cBhvr>
                                        <p:cTn id="37" dur="1000" fill="hold"/>
                                        <p:tgtEl>
                                          <p:spTgt spid="287"/>
                                        </p:tgtEl>
                                        <p:attrNameLst>
                                          <p:attrName>ppt_x</p:attrName>
                                          <p:attrName>ppt_y</p:attrName>
                                        </p:attrNameLst>
                                      </p:cBhvr>
                                      <p:rCtr x="6654" y="46"/>
                                    </p:animMotion>
                                  </p:childTnLst>
                                  <p:subTnLst>
                                    <p:set>
                                      <p:cBhvr override="childStyle">
                                        <p:cTn dur="1" fill="hold" display="0" masterRel="nextClick" afterEffect="1"/>
                                        <p:tgtEl>
                                          <p:spTgt spid="287"/>
                                        </p:tgtEl>
                                        <p:attrNameLst>
                                          <p:attrName>style.visibility</p:attrName>
                                        </p:attrNameLst>
                                      </p:cBhvr>
                                      <p:to>
                                        <p:strVal val="hidden"/>
                                      </p:to>
                                    </p:set>
                                  </p:subTnLst>
                                </p:cTn>
                              </p:par>
                              <p:par>
                                <p:cTn id="38" presetID="10" presetClass="entr" presetSubtype="0" fill="hold" grpId="0" nodeType="withEffect">
                                  <p:stCondLst>
                                    <p:cond delay="0"/>
                                  </p:stCondLst>
                                  <p:childTnLst>
                                    <p:set>
                                      <p:cBhvr>
                                        <p:cTn id="39" dur="1" fill="hold">
                                          <p:stCondLst>
                                            <p:cond delay="0"/>
                                          </p:stCondLst>
                                        </p:cTn>
                                        <p:tgtEl>
                                          <p:spTgt spid="301"/>
                                        </p:tgtEl>
                                        <p:attrNameLst>
                                          <p:attrName>style.visibility</p:attrName>
                                        </p:attrNameLst>
                                      </p:cBhvr>
                                      <p:to>
                                        <p:strVal val="visible"/>
                                      </p:to>
                                    </p:set>
                                    <p:animEffect transition="in" filter="fade">
                                      <p:cBhvr>
                                        <p:cTn id="40" dur="500"/>
                                        <p:tgtEl>
                                          <p:spTgt spid="301"/>
                                        </p:tgtEl>
                                      </p:cBhvr>
                                    </p:animEffect>
                                  </p:childTnLst>
                                </p:cTn>
                              </p:par>
                            </p:childTnLst>
                          </p:cTn>
                        </p:par>
                        <p:par>
                          <p:cTn id="41" fill="hold">
                            <p:stCondLst>
                              <p:cond delay="1000"/>
                            </p:stCondLst>
                            <p:childTnLst>
                              <p:par>
                                <p:cTn id="42" presetID="10" presetClass="exit" presetSubtype="0" fill="hold" grpId="1" nodeType="afterEffect">
                                  <p:stCondLst>
                                    <p:cond delay="0"/>
                                  </p:stCondLst>
                                  <p:childTnLst>
                                    <p:animEffect transition="out" filter="fade">
                                      <p:cBhvr>
                                        <p:cTn id="43" dur="500"/>
                                        <p:tgtEl>
                                          <p:spTgt spid="301"/>
                                        </p:tgtEl>
                                      </p:cBhvr>
                                    </p:animEffect>
                                    <p:set>
                                      <p:cBhvr>
                                        <p:cTn id="44" dur="1" fill="hold">
                                          <p:stCondLst>
                                            <p:cond delay="499"/>
                                          </p:stCondLst>
                                        </p:cTn>
                                        <p:tgtEl>
                                          <p:spTgt spid="301"/>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287"/>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9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15"/>
                                        </p:tgtEl>
                                        <p:attrNameLst>
                                          <p:attrName>style.visibility</p:attrName>
                                        </p:attrNameLst>
                                      </p:cBhvr>
                                      <p:to>
                                        <p:strVal val="visible"/>
                                      </p:to>
                                    </p:set>
                                    <p:animEffect transition="in" filter="fade">
                                      <p:cBhvr>
                                        <p:cTn id="53" dur="500"/>
                                        <p:tgtEl>
                                          <p:spTgt spid="315"/>
                                        </p:tgtEl>
                                      </p:cBhvr>
                                    </p:animEffect>
                                  </p:childTnLst>
                                </p:cTn>
                              </p:par>
                              <p:par>
                                <p:cTn id="54" presetID="0" presetClass="path" presetSubtype="0" accel="50000" decel="50000" fill="hold" nodeType="withEffect">
                                  <p:stCondLst>
                                    <p:cond delay="0"/>
                                  </p:stCondLst>
                                  <p:childTnLst>
                                    <p:animMotion origin="layout" path="M 2.08333E-7 4.44444E-6 L 0.16315 0.00046 " pathEditMode="relative" rAng="0" ptsTypes="AA">
                                      <p:cBhvr>
                                        <p:cTn id="55" dur="1000" fill="hold"/>
                                        <p:tgtEl>
                                          <p:spTgt spid="293"/>
                                        </p:tgtEl>
                                        <p:attrNameLst>
                                          <p:attrName>ppt_x</p:attrName>
                                          <p:attrName>ppt_y</p:attrName>
                                        </p:attrNameLst>
                                      </p:cBhvr>
                                      <p:rCtr x="8151" y="23"/>
                                    </p:animMotion>
                                  </p:childTnLst>
                                </p:cTn>
                              </p:par>
                            </p:childTnLst>
                          </p:cTn>
                        </p:par>
                        <p:par>
                          <p:cTn id="56" fill="hold">
                            <p:stCondLst>
                              <p:cond delay="1000"/>
                            </p:stCondLst>
                            <p:childTnLst>
                              <p:par>
                                <p:cTn id="57" presetID="10" presetClass="exit" presetSubtype="0" fill="hold" grpId="1" nodeType="afterEffect">
                                  <p:stCondLst>
                                    <p:cond delay="0"/>
                                  </p:stCondLst>
                                  <p:childTnLst>
                                    <p:animEffect transition="out" filter="fade">
                                      <p:cBhvr>
                                        <p:cTn id="58" dur="500"/>
                                        <p:tgtEl>
                                          <p:spTgt spid="315"/>
                                        </p:tgtEl>
                                      </p:cBhvr>
                                    </p:animEffect>
                                    <p:set>
                                      <p:cBhvr>
                                        <p:cTn id="59" dur="1" fill="hold">
                                          <p:stCondLst>
                                            <p:cond delay="499"/>
                                          </p:stCondLst>
                                        </p:cTn>
                                        <p:tgtEl>
                                          <p:spTgt spid="315"/>
                                        </p:tgtEl>
                                        <p:attrNameLst>
                                          <p:attrName>style.visibility</p:attrName>
                                        </p:attrNameLst>
                                      </p:cBhvr>
                                      <p:to>
                                        <p:strVal val="hidden"/>
                                      </p:to>
                                    </p:set>
                                  </p:childTnLst>
                                </p:cTn>
                              </p:par>
                              <p:par>
                                <p:cTn id="60" presetID="1" presetClass="exit" presetSubtype="0" fill="hold" nodeType="withEffect">
                                  <p:stCondLst>
                                    <p:cond delay="0"/>
                                  </p:stCondLst>
                                  <p:childTnLst>
                                    <p:set>
                                      <p:cBhvr>
                                        <p:cTn id="61" dur="1" fill="hold">
                                          <p:stCondLst>
                                            <p:cond delay="0"/>
                                          </p:stCondLst>
                                        </p:cTn>
                                        <p:tgtEl>
                                          <p:spTgt spid="293"/>
                                        </p:tgtEl>
                                        <p:attrNameLst>
                                          <p:attrName>style.visibility</p:attrName>
                                        </p:attrNameLst>
                                      </p:cBhvr>
                                      <p:to>
                                        <p:strVal val="hidden"/>
                                      </p:to>
                                    </p:set>
                                  </p:childTnLst>
                                </p:cTn>
                              </p:par>
                              <p:par>
                                <p:cTn id="62" presetID="1" presetClass="entr" presetSubtype="0" fill="hold" nodeType="withEffect">
                                  <p:stCondLst>
                                    <p:cond delay="0"/>
                                  </p:stCondLst>
                                  <p:childTnLst>
                                    <p:set>
                                      <p:cBhvr>
                                        <p:cTn id="63" dur="1" fill="hold">
                                          <p:stCondLst>
                                            <p:cond delay="0"/>
                                          </p:stCondLst>
                                        </p:cTn>
                                        <p:tgtEl>
                                          <p:spTgt spid="30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16"/>
                                        </p:tgtEl>
                                        <p:attrNameLst>
                                          <p:attrName>style.visibility</p:attrName>
                                        </p:attrNameLst>
                                      </p:cBhvr>
                                      <p:to>
                                        <p:strVal val="visible"/>
                                      </p:to>
                                    </p:set>
                                    <p:animEffect transition="in" filter="fade">
                                      <p:cBhvr>
                                        <p:cTn id="68" dur="500"/>
                                        <p:tgtEl>
                                          <p:spTgt spid="316"/>
                                        </p:tgtEl>
                                      </p:cBhvr>
                                    </p:animEffect>
                                  </p:childTnLst>
                                </p:cTn>
                              </p:par>
                              <p:par>
                                <p:cTn id="69" presetID="0" presetClass="path" presetSubtype="0" accel="50000" decel="50000" fill="hold" nodeType="withEffect">
                                  <p:stCondLst>
                                    <p:cond delay="0"/>
                                  </p:stCondLst>
                                  <p:childTnLst>
                                    <p:animMotion origin="layout" path="M 0.00195 1.48148E-6 L 0.15065 -0.00787 " pathEditMode="relative" rAng="0" ptsTypes="AA">
                                      <p:cBhvr>
                                        <p:cTn id="70" dur="1000" fill="hold"/>
                                        <p:tgtEl>
                                          <p:spTgt spid="302"/>
                                        </p:tgtEl>
                                        <p:attrNameLst>
                                          <p:attrName>ppt_x</p:attrName>
                                          <p:attrName>ppt_y</p:attrName>
                                        </p:attrNameLst>
                                      </p:cBhvr>
                                      <p:rCtr x="7435" y="-394"/>
                                    </p:animMotion>
                                  </p:childTnLst>
                                </p:cTn>
                              </p:par>
                            </p:childTnLst>
                          </p:cTn>
                        </p:par>
                        <p:par>
                          <p:cTn id="71" fill="hold">
                            <p:stCondLst>
                              <p:cond delay="1000"/>
                            </p:stCondLst>
                            <p:childTnLst>
                              <p:par>
                                <p:cTn id="72" presetID="10" presetClass="exit" presetSubtype="0" fill="hold" grpId="1" nodeType="afterEffect">
                                  <p:stCondLst>
                                    <p:cond delay="0"/>
                                  </p:stCondLst>
                                  <p:childTnLst>
                                    <p:animEffect transition="out" filter="fade">
                                      <p:cBhvr>
                                        <p:cTn id="73" dur="500"/>
                                        <p:tgtEl>
                                          <p:spTgt spid="316"/>
                                        </p:tgtEl>
                                      </p:cBhvr>
                                    </p:animEffect>
                                    <p:set>
                                      <p:cBhvr>
                                        <p:cTn id="74" dur="1" fill="hold">
                                          <p:stCondLst>
                                            <p:cond delay="499"/>
                                          </p:stCondLst>
                                        </p:cTn>
                                        <p:tgtEl>
                                          <p:spTgt spid="316"/>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308"/>
                                        </p:tgtEl>
                                        <p:attrNameLst>
                                          <p:attrName>style.visibility</p:attrName>
                                        </p:attrNameLst>
                                      </p:cBhvr>
                                      <p:to>
                                        <p:strVal val="visible"/>
                                      </p:to>
                                    </p:set>
                                  </p:childTnLst>
                                </p:cTn>
                              </p:par>
                              <p:par>
                                <p:cTn id="77" presetID="1" presetClass="exit" presetSubtype="0" fill="hold" nodeType="withEffect">
                                  <p:stCondLst>
                                    <p:cond delay="0"/>
                                  </p:stCondLst>
                                  <p:childTnLst>
                                    <p:set>
                                      <p:cBhvr>
                                        <p:cTn id="78" dur="1" fill="hold">
                                          <p:stCondLst>
                                            <p:cond delay="0"/>
                                          </p:stCondLst>
                                        </p:cTn>
                                        <p:tgtEl>
                                          <p:spTgt spid="30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17"/>
                                        </p:tgtEl>
                                        <p:attrNameLst>
                                          <p:attrName>style.visibility</p:attrName>
                                        </p:attrNameLst>
                                      </p:cBhvr>
                                      <p:to>
                                        <p:strVal val="visible"/>
                                      </p:to>
                                    </p:set>
                                    <p:animEffect transition="in" filter="fade">
                                      <p:cBhvr>
                                        <p:cTn id="83" dur="500"/>
                                        <p:tgtEl>
                                          <p:spTgt spid="317"/>
                                        </p:tgtEl>
                                      </p:cBhvr>
                                    </p:animEffect>
                                  </p:childTnLst>
                                </p:cTn>
                              </p:par>
                              <p:par>
                                <p:cTn id="84" presetID="0" presetClass="path" presetSubtype="0" accel="50000" decel="50000" fill="hold" nodeType="withEffect">
                                  <p:stCondLst>
                                    <p:cond delay="0"/>
                                  </p:stCondLst>
                                  <p:childTnLst>
                                    <p:animMotion origin="layout" path="M 3.75E-6 1.48148E-6 L 0.1582 0.00301 " pathEditMode="relative" rAng="0" ptsTypes="AA">
                                      <p:cBhvr>
                                        <p:cTn id="85" dur="1000" fill="hold"/>
                                        <p:tgtEl>
                                          <p:spTgt spid="308"/>
                                        </p:tgtEl>
                                        <p:attrNameLst>
                                          <p:attrName>ppt_x</p:attrName>
                                          <p:attrName>ppt_y</p:attrName>
                                        </p:attrNameLst>
                                      </p:cBhvr>
                                      <p:rCtr x="7904" y="139"/>
                                    </p:animMotion>
                                  </p:childTnLst>
                                </p:cTn>
                              </p:par>
                            </p:childTnLst>
                          </p:cTn>
                        </p:par>
                        <p:par>
                          <p:cTn id="86" fill="hold">
                            <p:stCondLst>
                              <p:cond delay="1000"/>
                            </p:stCondLst>
                            <p:childTnLst>
                              <p:par>
                                <p:cTn id="87" presetID="10" presetClass="exit" presetSubtype="0" fill="hold" grpId="1" nodeType="afterEffect">
                                  <p:stCondLst>
                                    <p:cond delay="0"/>
                                  </p:stCondLst>
                                  <p:childTnLst>
                                    <p:animEffect transition="out" filter="fade">
                                      <p:cBhvr>
                                        <p:cTn id="88" dur="500"/>
                                        <p:tgtEl>
                                          <p:spTgt spid="317"/>
                                        </p:tgtEl>
                                      </p:cBhvr>
                                    </p:animEffect>
                                    <p:set>
                                      <p:cBhvr>
                                        <p:cTn id="89" dur="1" fill="hold">
                                          <p:stCondLst>
                                            <p:cond delay="499"/>
                                          </p:stCondLst>
                                        </p:cTn>
                                        <p:tgtEl>
                                          <p:spTgt spid="317"/>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308"/>
                                        </p:tgtEl>
                                        <p:attrNameLst>
                                          <p:attrName>style.visibility</p:attrName>
                                        </p:attrNameLst>
                                      </p:cBhvr>
                                      <p:to>
                                        <p:strVal val="hidden"/>
                                      </p:to>
                                    </p:set>
                                  </p:childTnLst>
                                </p:cTn>
                              </p:par>
                              <p:par>
                                <p:cTn id="92" presetID="1" presetClass="entr" presetSubtype="0" fill="hold" nodeType="withEffect">
                                  <p:stCondLst>
                                    <p:cond delay="0"/>
                                  </p:stCondLst>
                                  <p:childTnLst>
                                    <p:set>
                                      <p:cBhvr>
                                        <p:cTn id="93" dur="1" fill="hold">
                                          <p:stCondLst>
                                            <p:cond delay="0"/>
                                          </p:stCondLst>
                                        </p:cTn>
                                        <p:tgtEl>
                                          <p:spTgt spid="318"/>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22"/>
                                        </p:tgtEl>
                                        <p:attrNameLst>
                                          <p:attrName>style.visibility</p:attrName>
                                        </p:attrNameLst>
                                      </p:cBhvr>
                                      <p:to>
                                        <p:strVal val="visible"/>
                                      </p:to>
                                    </p:set>
                                  </p:childTnLst>
                                </p:cTn>
                              </p:par>
                              <p:par>
                                <p:cTn id="98" presetID="1" presetClass="entr" presetSubtype="0" fill="hold" grpId="1" nodeType="withEffect">
                                  <p:stCondLst>
                                    <p:cond delay="0"/>
                                  </p:stCondLst>
                                  <p:childTnLst>
                                    <p:set>
                                      <p:cBhvr>
                                        <p:cTn id="99" dur="1" fill="hold">
                                          <p:stCondLst>
                                            <p:cond delay="0"/>
                                          </p:stCondLst>
                                        </p:cTn>
                                        <p:tgtEl>
                                          <p:spTgt spid="323"/>
                                        </p:tgtEl>
                                        <p:attrNameLst>
                                          <p:attrName>style.visibility</p:attrName>
                                        </p:attrNameLst>
                                      </p:cBhvr>
                                      <p:to>
                                        <p:strVal val="visible"/>
                                      </p:to>
                                    </p:set>
                                  </p:childTnLst>
                                </p:cTn>
                              </p:par>
                              <p:par>
                                <p:cTn id="100" presetID="1" presetClass="entr" presetSubtype="0" fill="hold" grpId="1" nodeType="withEffect">
                                  <p:stCondLst>
                                    <p:cond delay="0"/>
                                  </p:stCondLst>
                                  <p:childTnLst>
                                    <p:set>
                                      <p:cBhvr>
                                        <p:cTn id="101" dur="1" fill="hold">
                                          <p:stCondLst>
                                            <p:cond delay="0"/>
                                          </p:stCondLst>
                                        </p:cTn>
                                        <p:tgtEl>
                                          <p:spTgt spid="324"/>
                                        </p:tgtEl>
                                        <p:attrNameLst>
                                          <p:attrName>style.visibility</p:attrName>
                                        </p:attrNameLst>
                                      </p:cBhvr>
                                      <p:to>
                                        <p:strVal val="visible"/>
                                      </p:to>
                                    </p:set>
                                  </p:childTnLst>
                                </p:cTn>
                              </p:par>
                              <p:par>
                                <p:cTn id="102" presetID="1" presetClass="entr" presetSubtype="0" fill="hold" grpId="1" nodeType="withEffect">
                                  <p:stCondLst>
                                    <p:cond delay="0"/>
                                  </p:stCondLst>
                                  <p:childTnLst>
                                    <p:set>
                                      <p:cBhvr>
                                        <p:cTn id="103" dur="1" fill="hold">
                                          <p:stCondLst>
                                            <p:cond delay="0"/>
                                          </p:stCondLst>
                                        </p:cTn>
                                        <p:tgtEl>
                                          <p:spTgt spid="325"/>
                                        </p:tgtEl>
                                        <p:attrNameLst>
                                          <p:attrName>style.visibility</p:attrName>
                                        </p:attrNameLst>
                                      </p:cBhvr>
                                      <p:to>
                                        <p:strVal val="visible"/>
                                      </p:to>
                                    </p:set>
                                  </p:childTnLst>
                                </p:cTn>
                              </p:par>
                              <p:par>
                                <p:cTn id="104" presetID="0" presetClass="path" presetSubtype="0" accel="50000" decel="50000" fill="hold" grpId="0" nodeType="withEffect">
                                  <p:stCondLst>
                                    <p:cond delay="0"/>
                                  </p:stCondLst>
                                  <p:childTnLst>
                                    <p:animMotion origin="layout" path="M -0.00065 0.00069 C 0.00377 0.02963 0.00833 0.05926 0.02148 0.07708 C 0.03489 0.09537 0.05664 0.10162 0.07864 0.10833 " pathEditMode="relative" rAng="0" ptsTypes="AAA">
                                      <p:cBhvr>
                                        <p:cTn id="105" dur="2000" fill="hold"/>
                                        <p:tgtEl>
                                          <p:spTgt spid="323"/>
                                        </p:tgtEl>
                                        <p:attrNameLst>
                                          <p:attrName>ppt_x</p:attrName>
                                          <p:attrName>ppt_y</p:attrName>
                                        </p:attrNameLst>
                                      </p:cBhvr>
                                      <p:rCtr x="3958" y="5370"/>
                                    </p:animMotion>
                                  </p:childTnLst>
                                </p:cTn>
                              </p:par>
                              <p:par>
                                <p:cTn id="106" presetID="0" presetClass="path" presetSubtype="0" accel="50000" decel="50000" fill="hold" grpId="0" nodeType="withEffect">
                                  <p:stCondLst>
                                    <p:cond delay="0"/>
                                  </p:stCondLst>
                                  <p:childTnLst>
                                    <p:animMotion origin="layout" path="M -0.00039 -0.0007 C 0.00169 0.02338 0.00403 0.04791 0.01549 0.06041 C 0.02708 0.07291 0.04791 0.07361 0.06875 0.07453 " pathEditMode="relative" rAng="0" ptsTypes="AAA">
                                      <p:cBhvr>
                                        <p:cTn id="107" dur="2000" fill="hold"/>
                                        <p:tgtEl>
                                          <p:spTgt spid="324"/>
                                        </p:tgtEl>
                                        <p:attrNameLst>
                                          <p:attrName>ppt_x</p:attrName>
                                          <p:attrName>ppt_y</p:attrName>
                                        </p:attrNameLst>
                                      </p:cBhvr>
                                      <p:rCtr x="3451" y="3750"/>
                                    </p:animMotion>
                                  </p:childTnLst>
                                </p:cTn>
                              </p:par>
                              <p:par>
                                <p:cTn id="108" presetID="0" presetClass="path" presetSubtype="0" accel="50000" decel="50000" fill="hold" grpId="0" nodeType="withEffect">
                                  <p:stCondLst>
                                    <p:cond delay="0"/>
                                  </p:stCondLst>
                                  <p:childTnLst>
                                    <p:animMotion origin="layout" path="M -0.00013 0.00278 C 0.00065 0.01713 0.00169 0.03148 0.01106 0.03889 C 0.0207 0.04607 0.03841 0.0456 0.05625 0.0456 " pathEditMode="relative" rAng="0" ptsTypes="AAA">
                                      <p:cBhvr>
                                        <p:cTn id="109" dur="2000" fill="hold"/>
                                        <p:tgtEl>
                                          <p:spTgt spid="325"/>
                                        </p:tgtEl>
                                        <p:attrNameLst>
                                          <p:attrName>ppt_x</p:attrName>
                                          <p:attrName>ppt_y</p:attrName>
                                        </p:attrNameLst>
                                      </p:cBhvr>
                                      <p:rCtr x="2812" y="2130"/>
                                    </p:animMotion>
                                  </p:childTnLst>
                                </p:cTn>
                              </p:par>
                            </p:childTnLst>
                          </p:cTn>
                        </p:par>
                        <p:par>
                          <p:cTn id="110" fill="hold">
                            <p:stCondLst>
                              <p:cond delay="2000"/>
                            </p:stCondLst>
                            <p:childTnLst>
                              <p:par>
                                <p:cTn id="111" presetID="1" presetClass="exit" presetSubtype="0" fill="hold" grpId="2" nodeType="afterEffect">
                                  <p:stCondLst>
                                    <p:cond delay="0"/>
                                  </p:stCondLst>
                                  <p:childTnLst>
                                    <p:set>
                                      <p:cBhvr>
                                        <p:cTn id="112" dur="1" fill="hold">
                                          <p:stCondLst>
                                            <p:cond delay="0"/>
                                          </p:stCondLst>
                                        </p:cTn>
                                        <p:tgtEl>
                                          <p:spTgt spid="323"/>
                                        </p:tgtEl>
                                        <p:attrNameLst>
                                          <p:attrName>style.visibility</p:attrName>
                                        </p:attrNameLst>
                                      </p:cBhvr>
                                      <p:to>
                                        <p:strVal val="hidden"/>
                                      </p:to>
                                    </p:set>
                                  </p:childTnLst>
                                </p:cTn>
                              </p:par>
                              <p:par>
                                <p:cTn id="113" presetID="1" presetClass="exit" presetSubtype="0" fill="hold" grpId="2" nodeType="withEffect">
                                  <p:stCondLst>
                                    <p:cond delay="0"/>
                                  </p:stCondLst>
                                  <p:childTnLst>
                                    <p:set>
                                      <p:cBhvr>
                                        <p:cTn id="114" dur="1" fill="hold">
                                          <p:stCondLst>
                                            <p:cond delay="0"/>
                                          </p:stCondLst>
                                        </p:cTn>
                                        <p:tgtEl>
                                          <p:spTgt spid="324"/>
                                        </p:tgtEl>
                                        <p:attrNameLst>
                                          <p:attrName>style.visibility</p:attrName>
                                        </p:attrNameLst>
                                      </p:cBhvr>
                                      <p:to>
                                        <p:strVal val="hidden"/>
                                      </p:to>
                                    </p:set>
                                  </p:childTnLst>
                                </p:cTn>
                              </p:par>
                              <p:par>
                                <p:cTn id="115" presetID="1" presetClass="exit" presetSubtype="0" fill="hold" grpId="2" nodeType="withEffect">
                                  <p:stCondLst>
                                    <p:cond delay="0"/>
                                  </p:stCondLst>
                                  <p:childTnLst>
                                    <p:set>
                                      <p:cBhvr>
                                        <p:cTn id="116" dur="1" fill="hold">
                                          <p:stCondLst>
                                            <p:cond delay="0"/>
                                          </p:stCondLst>
                                        </p:cTn>
                                        <p:tgtEl>
                                          <p:spTgt spid="325"/>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322"/>
                                        </p:tgtEl>
                                        <p:attrNameLst>
                                          <p:attrName>style.visibility</p:attrName>
                                        </p:attrNameLst>
                                      </p:cBhvr>
                                      <p:to>
                                        <p:strVal val="hidden"/>
                                      </p:to>
                                    </p:set>
                                  </p:childTnLst>
                                </p:cTn>
                              </p:par>
                              <p:par>
                                <p:cTn id="119" presetID="1" presetClass="entr" presetSubtype="0" fill="hold" nodeType="withEffect">
                                  <p:stCondLst>
                                    <p:cond delay="0"/>
                                  </p:stCondLst>
                                  <p:childTnLst>
                                    <p:set>
                                      <p:cBhvr>
                                        <p:cTn id="120" dur="1" fill="hold">
                                          <p:stCondLst>
                                            <p:cond delay="0"/>
                                          </p:stCondLst>
                                        </p:cTn>
                                        <p:tgtEl>
                                          <p:spTgt spid="326"/>
                                        </p:tgtEl>
                                        <p:attrNameLst>
                                          <p:attrName>style.visibility</p:attrName>
                                        </p:attrNameLst>
                                      </p:cBhvr>
                                      <p:to>
                                        <p:strVal val="visible"/>
                                      </p:to>
                                    </p:set>
                                  </p:childTnLst>
                                </p:cTn>
                              </p:par>
                              <p:par>
                                <p:cTn id="121" presetID="0" presetClass="path" presetSubtype="0" accel="50000" decel="50000" fill="hold" nodeType="withEffect">
                                  <p:stCondLst>
                                    <p:cond delay="0"/>
                                  </p:stCondLst>
                                  <p:childTnLst>
                                    <p:animMotion origin="layout" path="M -0.00013 -0.00046 L 0.14661 0.00208 " pathEditMode="relative" rAng="0" ptsTypes="AA">
                                      <p:cBhvr>
                                        <p:cTn id="122" dur="2000" fill="hold"/>
                                        <p:tgtEl>
                                          <p:spTgt spid="326"/>
                                        </p:tgtEl>
                                        <p:attrNameLst>
                                          <p:attrName>ppt_x</p:attrName>
                                          <p:attrName>ppt_y</p:attrName>
                                        </p:attrNameLst>
                                      </p:cBhvr>
                                      <p:rCtr x="7331" y="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 grpId="0" animBg="1"/>
      <p:bldP spid="322" grpId="1" animBg="1"/>
      <p:bldP spid="323" grpId="0" animBg="1"/>
      <p:bldP spid="323" grpId="1" animBg="1"/>
      <p:bldP spid="323" grpId="2" animBg="1"/>
      <p:bldP spid="324" grpId="0" animBg="1"/>
      <p:bldP spid="324" grpId="1" animBg="1"/>
      <p:bldP spid="324" grpId="2" animBg="1"/>
      <p:bldP spid="325" grpId="0" animBg="1"/>
      <p:bldP spid="325" grpId="1" animBg="1"/>
      <p:bldP spid="325" grpId="2" animBg="1"/>
      <p:bldP spid="282" grpId="0" animBg="1"/>
      <p:bldP spid="283" grpId="0" animBg="1"/>
      <p:bldP spid="283" grpId="1" animBg="1"/>
      <p:bldP spid="284" grpId="0" animBg="1"/>
      <p:bldP spid="284" grpId="1" animBg="1"/>
      <p:bldP spid="285" grpId="0" animBg="1"/>
      <p:bldP spid="285" grpId="1" animBg="1"/>
      <p:bldP spid="286" grpId="0" animBg="1"/>
      <p:bldP spid="286" grpId="1" animBg="1"/>
      <p:bldP spid="315" grpId="0" animBg="1"/>
      <p:bldP spid="315" grpId="1" animBg="1"/>
      <p:bldP spid="301" grpId="0" animBg="1"/>
      <p:bldP spid="301" grpId="1" animBg="1"/>
      <p:bldP spid="316" grpId="0" animBg="1"/>
      <p:bldP spid="316" grpId="1" animBg="1"/>
      <p:bldP spid="317" grpId="0" animBg="1"/>
      <p:bldP spid="317"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304D5ED-41B3-C547-8295-3BC497E4F606}"/>
              </a:ext>
            </a:extLst>
          </p:cNvPr>
          <p:cNvSpPr>
            <a:spLocks noGrp="1"/>
          </p:cNvSpPr>
          <p:nvPr>
            <p:ph sz="quarter" idx="13"/>
          </p:nvPr>
        </p:nvSpPr>
        <p:spPr>
          <a:xfrm>
            <a:off x="452388" y="1045855"/>
            <a:ext cx="7642458" cy="3454600"/>
          </a:xfrm>
        </p:spPr>
        <p:txBody>
          <a:bodyPr>
            <a:noAutofit/>
          </a:bodyPr>
          <a:lstStyle/>
          <a:p>
            <a:pPr>
              <a:lnSpc>
                <a:spcPct val="150000"/>
              </a:lnSpc>
              <a:spcBef>
                <a:spcPts val="0"/>
              </a:spcBef>
            </a:pP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P4: Programming Protocol-independent Packet Processors</a:t>
            </a:r>
          </a:p>
          <a:p>
            <a:pPr lvl="1">
              <a:lnSpc>
                <a:spcPct val="15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一种专用领域的编程语言，描述</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PISA</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体系结构应该如何处理数据分组</a:t>
            </a:r>
            <a:endParaRPr lang="en-US" sz="14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ts val="0"/>
              </a:spcBef>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协议无关性</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网络设备不与任何特定的网络协议捆绑在一起，对于任何所需要的网络数据平面协议和数据包处理行为，程序员都可以使用</a:t>
            </a:r>
            <a:r>
              <a:rPr lang="en-US" altLang="zh-CN" sz="1400" b="1" dirty="0">
                <a:latin typeface="微软雅黑" panose="020B0503020204020204" pitchFamily="34" charset="-122"/>
                <a:ea typeface="微软雅黑" panose="020B0503020204020204" pitchFamily="34" charset="-122"/>
                <a:cs typeface="Times New Roman" panose="02020603050405020304" pitchFamily="18" charset="0"/>
              </a:rPr>
              <a:t>P4 </a:t>
            </a: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进行表达</a:t>
            </a:r>
            <a:endParaRPr lang="en-US" sz="14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ts val="0"/>
              </a:spcBef>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目标无关性</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程序员无须关心底层硬件细节，即可描述数据包处理功能</a:t>
            </a:r>
            <a:endParaRPr lang="en-US" altLang="zh-CN" sz="14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编译器负责程序到目标设备的编译</a:t>
            </a:r>
            <a:endParaRPr lang="en-US" sz="1600" b="1"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spcBef>
                <a:spcPts val="0"/>
              </a:spcBef>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可重配置能力</a:t>
            </a:r>
            <a:endParaRPr lang="en-US" altLang="zh-CN" sz="16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0"/>
              </a:spcBef>
            </a:pPr>
            <a:r>
              <a:rPr lang="zh-CN" altLang="en-US" sz="1400" b="1" dirty="0">
                <a:latin typeface="微软雅黑" panose="020B0503020204020204" pitchFamily="34" charset="-122"/>
                <a:ea typeface="微软雅黑" panose="020B0503020204020204" pitchFamily="34" charset="-122"/>
                <a:cs typeface="Times New Roman" panose="02020603050405020304" pitchFamily="18" charset="0"/>
              </a:rPr>
              <a:t>程序员能按需修改部署交换机对数据包的处理方式</a:t>
            </a:r>
            <a:endParaRPr lang="en-US" sz="16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p:cNvPicPr>
            <a:picLocks noChangeAspect="1"/>
          </p:cNvPicPr>
          <p:nvPr/>
        </p:nvPicPr>
        <p:blipFill>
          <a:blip r:embed="rId2"/>
          <a:stretch>
            <a:fillRect/>
          </a:stretch>
        </p:blipFill>
        <p:spPr>
          <a:xfrm>
            <a:off x="6931758" y="3275396"/>
            <a:ext cx="1741163" cy="865003"/>
          </a:xfrm>
          <a:prstGeom prst="rect">
            <a:avLst/>
          </a:prstGeom>
        </p:spPr>
      </p:pic>
      <p:sp>
        <p:nvSpPr>
          <p:cNvPr id="7" name="文本框 6"/>
          <p:cNvSpPr txBox="1"/>
          <p:nvPr/>
        </p:nvSpPr>
        <p:spPr>
          <a:xfrm>
            <a:off x="5301882" y="4292706"/>
            <a:ext cx="3082001" cy="415498"/>
          </a:xfrm>
          <a:prstGeom prst="rect">
            <a:avLst/>
          </a:prstGeom>
          <a:noFill/>
        </p:spPr>
        <p:txBody>
          <a:bodyPr wrap="square" rtlCol="0">
            <a:spAutoFit/>
          </a:bodyPr>
          <a:lstStyle/>
          <a:p>
            <a:pPr algn="ctr"/>
            <a:r>
              <a:rPr lang="en-US" altLang="zh-CN" sz="2100" dirty="0">
                <a:solidFill>
                  <a:srgbClr val="3C82C0"/>
                </a:solidFill>
              </a:rPr>
              <a:t>https://p4.org/</a:t>
            </a:r>
            <a:endParaRPr lang="zh-CN" altLang="en-US" sz="2100" dirty="0">
              <a:solidFill>
                <a:srgbClr val="3C82C0"/>
              </a:solidFill>
            </a:endParaRPr>
          </a:p>
        </p:txBody>
      </p:sp>
      <p:sp>
        <p:nvSpPr>
          <p:cNvPr id="13"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4"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3216725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0" end="0"/>
                                            </p:txEl>
                                          </p:spTgt>
                                        </p:tgtEl>
                                        <p:attrNameLst>
                                          <p:attrName>ppt_c</p:attrName>
                                        </p:attrNameLst>
                                      </p:cBhvr>
                                      <p:to>
                                        <a:srgbClr val="919191"/>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1" end="1"/>
                                            </p:txEl>
                                          </p:spTgt>
                                        </p:tgtEl>
                                        <p:attrNameLst>
                                          <p:attrName>ppt_c</p:attrName>
                                        </p:attrNameLst>
                                      </p:cBhvr>
                                      <p:to>
                                        <a:srgbClr val="919191"/>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2" end="2"/>
                                            </p:txEl>
                                          </p:spTgt>
                                        </p:tgtEl>
                                        <p:attrNameLst>
                                          <p:attrName>ppt_c</p:attrName>
                                        </p:attrNameLst>
                                      </p:cBhvr>
                                      <p:to>
                                        <a:srgbClr val="919191"/>
                                      </p:to>
                                    </p:animClr>
                                  </p:sub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3" end="3"/>
                                            </p:txEl>
                                          </p:spTgt>
                                        </p:tgtEl>
                                        <p:attrNameLst>
                                          <p:attrName>ppt_c</p:attrName>
                                        </p:attrNameLst>
                                      </p:cBhvr>
                                      <p:to>
                                        <a:srgbClr val="919191"/>
                                      </p:to>
                                    </p:animClr>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4" end="4"/>
                                            </p:txEl>
                                          </p:spTgt>
                                        </p:tgtEl>
                                        <p:attrNameLst>
                                          <p:attrName>ppt_c</p:attrName>
                                        </p:attrNameLst>
                                      </p:cBhvr>
                                      <p:to>
                                        <a:srgbClr val="929292"/>
                                      </p:to>
                                    </p:animClr>
                                  </p:sub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5" end="5"/>
                                            </p:txEl>
                                          </p:spTgt>
                                        </p:tgtEl>
                                        <p:attrNameLst>
                                          <p:attrName>ppt_c</p:attrName>
                                        </p:attrNameLst>
                                      </p:cBhvr>
                                      <p:to>
                                        <a:srgbClr val="929292"/>
                                      </p:to>
                                    </p:animClr>
                                  </p:sub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6">
                                            <p:txEl>
                                              <p:pRg st="6" end="6"/>
                                            </p:txEl>
                                          </p:spTgt>
                                        </p:tgtEl>
                                        <p:attrNameLst>
                                          <p:attrName>ppt_c</p:attrName>
                                        </p:attrNameLst>
                                      </p:cBhvr>
                                      <p:to>
                                        <a:srgbClr val="929292"/>
                                      </p:to>
                                    </p:animClr>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对象 14">
            <a:extLst>
              <a:ext uri="{FF2B5EF4-FFF2-40B4-BE49-F238E27FC236}">
                <a16:creationId xmlns:a16="http://schemas.microsoft.com/office/drawing/2014/main" id="{0F07AA96-4CF3-408E-94E2-65126B0FF2CB}"/>
              </a:ext>
            </a:extLst>
          </p:cNvPr>
          <p:cNvGraphicFramePr>
            <a:graphicFrameLocks noChangeAspect="1"/>
          </p:cNvGraphicFramePr>
          <p:nvPr>
            <p:extLst>
              <p:ext uri="{D42A27DB-BD31-4B8C-83A1-F6EECF244321}">
                <p14:modId xmlns:p14="http://schemas.microsoft.com/office/powerpoint/2010/main" val="3475883697"/>
              </p:ext>
            </p:extLst>
          </p:nvPr>
        </p:nvGraphicFramePr>
        <p:xfrm>
          <a:off x="1941910" y="1425343"/>
          <a:ext cx="4724181" cy="2618333"/>
        </p:xfrm>
        <a:graphic>
          <a:graphicData uri="http://schemas.openxmlformats.org/presentationml/2006/ole">
            <mc:AlternateContent xmlns:mc="http://schemas.openxmlformats.org/markup-compatibility/2006">
              <mc:Choice xmlns:v="urn:schemas-microsoft-com:vml" Requires="v">
                <p:oleObj spid="_x0000_s18441" name="Visio" r:id="rId4" imgW="4772006" imgH="2647984" progId="Visio.Drawing.15">
                  <p:embed/>
                </p:oleObj>
              </mc:Choice>
              <mc:Fallback>
                <p:oleObj name="Visio" r:id="rId4" imgW="4772006" imgH="2647984" progId="Visio.Drawing.15">
                  <p:embed/>
                  <p:pic>
                    <p:nvPicPr>
                      <p:cNvPr id="15" name="对象 14">
                        <a:extLst>
                          <a:ext uri="{FF2B5EF4-FFF2-40B4-BE49-F238E27FC236}">
                            <a16:creationId xmlns:a16="http://schemas.microsoft.com/office/drawing/2014/main" id="{0F07AA96-4CF3-408E-94E2-65126B0FF2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1910" y="1425343"/>
                        <a:ext cx="4724181" cy="2618333"/>
                      </a:xfrm>
                      <a:prstGeom prst="rect">
                        <a:avLst/>
                      </a:prstGeom>
                      <a:noFill/>
                    </p:spPr>
                  </p:pic>
                </p:oleObj>
              </mc:Fallback>
            </mc:AlternateContent>
          </a:graphicData>
        </a:graphic>
      </p:graphicFrame>
      <p:sp>
        <p:nvSpPr>
          <p:cNvPr id="16" name="矩形: 圆角 3">
            <a:extLst>
              <a:ext uri="{FF2B5EF4-FFF2-40B4-BE49-F238E27FC236}">
                <a16:creationId xmlns:a16="http://schemas.microsoft.com/office/drawing/2014/main" id="{0C38B230-F023-44CA-9861-AF65B58835A4}"/>
              </a:ext>
            </a:extLst>
          </p:cNvPr>
          <p:cNvSpPr/>
          <p:nvPr/>
        </p:nvSpPr>
        <p:spPr>
          <a:xfrm>
            <a:off x="2265946" y="2332272"/>
            <a:ext cx="972108" cy="135015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矩形: 圆角 6">
            <a:extLst>
              <a:ext uri="{FF2B5EF4-FFF2-40B4-BE49-F238E27FC236}">
                <a16:creationId xmlns:a16="http://schemas.microsoft.com/office/drawing/2014/main" id="{5350CC92-2318-4ADE-8FD4-11EB9B95C1BA}"/>
              </a:ext>
            </a:extLst>
          </p:cNvPr>
          <p:cNvSpPr/>
          <p:nvPr/>
        </p:nvSpPr>
        <p:spPr>
          <a:xfrm>
            <a:off x="3238054" y="2224260"/>
            <a:ext cx="2268254" cy="151216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矩形: 圆角 7">
            <a:extLst>
              <a:ext uri="{FF2B5EF4-FFF2-40B4-BE49-F238E27FC236}">
                <a16:creationId xmlns:a16="http://schemas.microsoft.com/office/drawing/2014/main" id="{C11426F9-F293-4EE9-9CA4-7F77A91CEC8F}"/>
              </a:ext>
            </a:extLst>
          </p:cNvPr>
          <p:cNvSpPr/>
          <p:nvPr/>
        </p:nvSpPr>
        <p:spPr>
          <a:xfrm>
            <a:off x="5506308" y="2332272"/>
            <a:ext cx="972107" cy="135785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9"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架构</a:t>
            </a:r>
          </a:p>
        </p:txBody>
      </p:sp>
    </p:spTree>
    <p:extLst>
      <p:ext uri="{BB962C8B-B14F-4D97-AF65-F5344CB8AC3E}">
        <p14:creationId xmlns:p14="http://schemas.microsoft.com/office/powerpoint/2010/main" val="8048865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xit" presetSubtype="21" fill="hold" grpId="1" nodeType="clickEffect">
                                  <p:stCondLst>
                                    <p:cond delay="0"/>
                                  </p:stCondLst>
                                  <p:childTnLst>
                                    <p:animEffect transition="out" filter="barn(inVertical)">
                                      <p:cBhvr>
                                        <p:cTn id="16" dur="500"/>
                                        <p:tgtEl>
                                          <p:spTgt spid="16"/>
                                        </p:tgtEl>
                                      </p:cBhvr>
                                    </p:animEffect>
                                    <p:set>
                                      <p:cBhvr>
                                        <p:cTn id="17" dur="1" fill="hold">
                                          <p:stCondLst>
                                            <p:cond delay="499"/>
                                          </p:stCondLst>
                                        </p:cTn>
                                        <p:tgtEl>
                                          <p:spTgt spid="16"/>
                                        </p:tgtEl>
                                        <p:attrNameLst>
                                          <p:attrName>style.visibility</p:attrName>
                                        </p:attrNameLst>
                                      </p:cBhvr>
                                      <p:to>
                                        <p:strVal val="hidden"/>
                                      </p:to>
                                    </p:se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xit" presetSubtype="21" fill="hold" grpId="1" nodeType="clickEffect">
                                  <p:stCondLst>
                                    <p:cond delay="0"/>
                                  </p:stCondLst>
                                  <p:childTnLst>
                                    <p:animEffect transition="out" filter="barn(inVertical)">
                                      <p:cBhvr>
                                        <p:cTn id="25" dur="500"/>
                                        <p:tgtEl>
                                          <p:spTgt spid="17"/>
                                        </p:tgtEl>
                                      </p:cBhvr>
                                    </p:animEffect>
                                    <p:set>
                                      <p:cBhvr>
                                        <p:cTn id="26" dur="1" fill="hold">
                                          <p:stCondLst>
                                            <p:cond delay="499"/>
                                          </p:stCondLst>
                                        </p:cTn>
                                        <p:tgtEl>
                                          <p:spTgt spid="17"/>
                                        </p:tgtEl>
                                        <p:attrNameLst>
                                          <p:attrName>style.visibility</p:attrName>
                                        </p:attrNameLst>
                                      </p:cBhvr>
                                      <p:to>
                                        <p:strVal val="hidden"/>
                                      </p:to>
                                    </p:set>
                                  </p:childTnLst>
                                </p:cTn>
                              </p:par>
                            </p:childTnLst>
                          </p:cTn>
                        </p:par>
                        <p:par>
                          <p:cTn id="27" fill="hold">
                            <p:stCondLst>
                              <p:cond delay="500"/>
                            </p:stCondLst>
                            <p:childTnLst>
                              <p:par>
                                <p:cTn id="28" presetID="16" presetClass="entr" presetSubtype="21"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barn(inVertical)">
                                      <p:cBhvr>
                                        <p:cTn id="3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P spid="17" grpId="0" animBg="1"/>
      <p:bldP spid="17" grpId="1" animBg="1"/>
      <p:bldP spid="1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23496" y="2756889"/>
            <a:ext cx="1044530" cy="319326"/>
          </a:xfrm>
          <a:prstGeom prst="rect">
            <a:avLst/>
          </a:prstGeom>
          <a:solidFill>
            <a:srgbClr val="CCFFCC"/>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25" dirty="0">
                <a:solidFill>
                  <a:prstClr val="black"/>
                </a:solidFill>
                <a:latin typeface="Calibri"/>
              </a:rPr>
              <a:t>P4</a:t>
            </a:r>
            <a:r>
              <a:rPr lang="zh-CN" altLang="en-US" sz="1125" dirty="0">
                <a:solidFill>
                  <a:prstClr val="black"/>
                </a:solidFill>
                <a:latin typeface="Calibri"/>
              </a:rPr>
              <a:t>程序</a:t>
            </a:r>
            <a:endParaRPr lang="en-US" sz="1125" dirty="0">
              <a:solidFill>
                <a:prstClr val="black"/>
              </a:solidFill>
              <a:latin typeface="Calibri"/>
            </a:endParaRPr>
          </a:p>
        </p:txBody>
      </p:sp>
      <p:sp>
        <p:nvSpPr>
          <p:cNvPr id="6" name="Rectangle 5"/>
          <p:cNvSpPr/>
          <p:nvPr/>
        </p:nvSpPr>
        <p:spPr>
          <a:xfrm>
            <a:off x="2423496" y="3411790"/>
            <a:ext cx="1044530" cy="487109"/>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1125" dirty="0">
                <a:solidFill>
                  <a:prstClr val="black"/>
                </a:solidFill>
                <a:latin typeface="Calibri"/>
              </a:rPr>
              <a:t>P4</a:t>
            </a:r>
            <a:r>
              <a:rPr lang="zh-CN" altLang="en-US" sz="1125" dirty="0">
                <a:solidFill>
                  <a:prstClr val="black"/>
                </a:solidFill>
                <a:latin typeface="Calibri"/>
              </a:rPr>
              <a:t>底层架构</a:t>
            </a:r>
            <a:endParaRPr lang="en-US" sz="1125" dirty="0">
              <a:solidFill>
                <a:prstClr val="black"/>
              </a:solidFill>
              <a:latin typeface="Calibri"/>
            </a:endParaRPr>
          </a:p>
        </p:txBody>
      </p:sp>
      <p:sp>
        <p:nvSpPr>
          <p:cNvPr id="7" name="Rectangle 6"/>
          <p:cNvSpPr/>
          <p:nvPr/>
        </p:nvSpPr>
        <p:spPr>
          <a:xfrm>
            <a:off x="4835268" y="3410736"/>
            <a:ext cx="1820469" cy="487109"/>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nchor="ctr"/>
          <a:lstStyle/>
          <a:p>
            <a:pPr algn="ctr"/>
            <a:r>
              <a:rPr lang="en-US" sz="1125" dirty="0">
                <a:solidFill>
                  <a:prstClr val="black"/>
                </a:solidFill>
                <a:latin typeface="Calibri"/>
              </a:rPr>
              <a:t>                                 </a:t>
            </a:r>
            <a:r>
              <a:rPr lang="zh-CN" altLang="en-US" sz="1350" dirty="0">
                <a:solidFill>
                  <a:prstClr val="black"/>
                </a:solidFill>
                <a:latin typeface="Calibri"/>
              </a:rPr>
              <a:t>数据平面</a:t>
            </a:r>
            <a:endParaRPr lang="en-US" sz="1125" dirty="0">
              <a:solidFill>
                <a:prstClr val="black"/>
              </a:solidFill>
              <a:latin typeface="Calibri"/>
            </a:endParaRPr>
          </a:p>
        </p:txBody>
      </p:sp>
      <p:sp>
        <p:nvSpPr>
          <p:cNvPr id="8" name="Rectangle 7"/>
          <p:cNvSpPr/>
          <p:nvPr/>
        </p:nvSpPr>
        <p:spPr>
          <a:xfrm>
            <a:off x="3716977" y="2756889"/>
            <a:ext cx="608879" cy="319326"/>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25" dirty="0">
                <a:solidFill>
                  <a:prstClr val="black"/>
                </a:solidFill>
                <a:latin typeface="Calibri"/>
              </a:rPr>
              <a:t>编译</a:t>
            </a:r>
            <a:endParaRPr lang="en-US" sz="1125" dirty="0">
              <a:solidFill>
                <a:prstClr val="black"/>
              </a:solidFill>
              <a:latin typeface="Calibri"/>
            </a:endParaRPr>
          </a:p>
        </p:txBody>
      </p:sp>
      <p:sp>
        <p:nvSpPr>
          <p:cNvPr id="11" name="Rectangle 10"/>
          <p:cNvSpPr/>
          <p:nvPr/>
        </p:nvSpPr>
        <p:spPr>
          <a:xfrm>
            <a:off x="4941505" y="3563361"/>
            <a:ext cx="421376" cy="226472"/>
          </a:xfrm>
          <a:prstGeom prst="rect">
            <a:avLst/>
          </a:prstGeom>
          <a:noFill/>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1125" dirty="0">
                <a:solidFill>
                  <a:prstClr val="black"/>
                </a:solidFill>
                <a:latin typeface="Calibri"/>
              </a:rPr>
              <a:t>Tables</a:t>
            </a:r>
          </a:p>
        </p:txBody>
      </p:sp>
      <p:sp>
        <p:nvSpPr>
          <p:cNvPr id="12" name="Rectangle 11"/>
          <p:cNvSpPr/>
          <p:nvPr/>
        </p:nvSpPr>
        <p:spPr>
          <a:xfrm>
            <a:off x="3716978" y="3277086"/>
            <a:ext cx="826735" cy="424969"/>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900" dirty="0" err="1">
                <a:solidFill>
                  <a:prstClr val="black"/>
                </a:solidFill>
                <a:latin typeface="Calibri"/>
              </a:rPr>
              <a:t>Dataplane</a:t>
            </a:r>
            <a:r>
              <a:rPr lang="en-US" sz="900" dirty="0">
                <a:solidFill>
                  <a:prstClr val="black"/>
                </a:solidFill>
                <a:latin typeface="Calibri"/>
              </a:rPr>
              <a:t/>
            </a:r>
            <a:br>
              <a:rPr lang="en-US" sz="900" dirty="0">
                <a:solidFill>
                  <a:prstClr val="black"/>
                </a:solidFill>
                <a:latin typeface="Calibri"/>
              </a:rPr>
            </a:br>
            <a:r>
              <a:rPr lang="en-US" sz="900" dirty="0">
                <a:solidFill>
                  <a:prstClr val="black"/>
                </a:solidFill>
                <a:latin typeface="Calibri"/>
              </a:rPr>
              <a:t>runtime</a:t>
            </a:r>
          </a:p>
        </p:txBody>
      </p:sp>
      <p:sp>
        <p:nvSpPr>
          <p:cNvPr id="14" name="Down Arrow 13"/>
          <p:cNvSpPr/>
          <p:nvPr/>
        </p:nvSpPr>
        <p:spPr>
          <a:xfrm>
            <a:off x="3896410" y="3084645"/>
            <a:ext cx="189422" cy="189409"/>
          </a:xfrm>
          <a:prstGeom prst="downArrow">
            <a:avLst>
              <a:gd name="adj1" fmla="val 44688"/>
              <a:gd name="adj2" fmla="val 50000"/>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prstClr val="white"/>
              </a:solidFill>
              <a:latin typeface="Calibri"/>
            </a:endParaRPr>
          </a:p>
        </p:txBody>
      </p:sp>
      <p:sp>
        <p:nvSpPr>
          <p:cNvPr id="17" name="Down Arrow 16"/>
          <p:cNvSpPr/>
          <p:nvPr/>
        </p:nvSpPr>
        <p:spPr>
          <a:xfrm>
            <a:off x="5026704" y="2700776"/>
            <a:ext cx="189422" cy="1677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prstClr val="white"/>
              </a:solidFill>
              <a:latin typeface="Calibri"/>
            </a:endParaRPr>
          </a:p>
        </p:txBody>
      </p:sp>
      <p:sp>
        <p:nvSpPr>
          <p:cNvPr id="18" name="Rectangle 17"/>
          <p:cNvSpPr/>
          <p:nvPr/>
        </p:nvSpPr>
        <p:spPr>
          <a:xfrm>
            <a:off x="4835268" y="2365908"/>
            <a:ext cx="1820469" cy="746501"/>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350" dirty="0">
                <a:solidFill>
                  <a:prstClr val="black"/>
                </a:solidFill>
                <a:latin typeface="Calibri"/>
              </a:rPr>
              <a:t>控制平面</a:t>
            </a:r>
            <a:endParaRPr lang="en-US" sz="1350" dirty="0">
              <a:solidFill>
                <a:prstClr val="black"/>
              </a:solidFill>
              <a:latin typeface="Calibri"/>
            </a:endParaRPr>
          </a:p>
        </p:txBody>
      </p:sp>
      <p:sp>
        <p:nvSpPr>
          <p:cNvPr id="19" name="Left-Right Arrow 18"/>
          <p:cNvSpPr/>
          <p:nvPr/>
        </p:nvSpPr>
        <p:spPr>
          <a:xfrm rot="16200000">
            <a:off x="5763330" y="3162600"/>
            <a:ext cx="557021" cy="19779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prstClr val="white"/>
              </a:solidFill>
              <a:latin typeface="Calibri"/>
            </a:endParaRPr>
          </a:p>
        </p:txBody>
      </p:sp>
      <p:sp>
        <p:nvSpPr>
          <p:cNvPr id="21" name="Rectangle 20"/>
          <p:cNvSpPr/>
          <p:nvPr/>
        </p:nvSpPr>
        <p:spPr>
          <a:xfrm>
            <a:off x="2342289" y="2700775"/>
            <a:ext cx="1223129" cy="1324377"/>
          </a:xfrm>
          <a:prstGeom prst="rect">
            <a:avLst/>
          </a:prstGeom>
          <a:noFill/>
          <a:ln>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125">
              <a:solidFill>
                <a:prstClr val="black"/>
              </a:solidFill>
              <a:latin typeface="Calibri"/>
            </a:endParaRPr>
          </a:p>
        </p:txBody>
      </p:sp>
      <p:sp>
        <p:nvSpPr>
          <p:cNvPr id="23" name="Rectangle 22"/>
          <p:cNvSpPr/>
          <p:nvPr/>
        </p:nvSpPr>
        <p:spPr>
          <a:xfrm>
            <a:off x="4761507" y="2289438"/>
            <a:ext cx="1991351" cy="1716418"/>
          </a:xfrm>
          <a:prstGeom prst="rect">
            <a:avLst/>
          </a:prstGeom>
          <a:noFill/>
          <a:ln>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1125">
              <a:solidFill>
                <a:prstClr val="black"/>
              </a:solidFill>
              <a:latin typeface="Calibri"/>
            </a:endParaRPr>
          </a:p>
        </p:txBody>
      </p:sp>
      <p:sp>
        <p:nvSpPr>
          <p:cNvPr id="24" name="TextBox 23"/>
          <p:cNvSpPr txBox="1"/>
          <p:nvPr/>
        </p:nvSpPr>
        <p:spPr>
          <a:xfrm>
            <a:off x="5983384" y="4005857"/>
            <a:ext cx="906017" cy="265457"/>
          </a:xfrm>
          <a:prstGeom prst="rect">
            <a:avLst/>
          </a:prstGeom>
          <a:noFill/>
        </p:spPr>
        <p:txBody>
          <a:bodyPr wrap="none" rtlCol="0">
            <a:spAutoFit/>
          </a:bodyPr>
          <a:lstStyle/>
          <a:p>
            <a:r>
              <a:rPr lang="zh-CN" altLang="en-US" sz="1125" dirty="0">
                <a:solidFill>
                  <a:prstClr val="black"/>
                </a:solidFill>
                <a:latin typeface="Calibri"/>
              </a:rPr>
              <a:t>目标交换机</a:t>
            </a:r>
            <a:endParaRPr lang="en-US" sz="1125" dirty="0">
              <a:solidFill>
                <a:prstClr val="black"/>
              </a:solidFill>
              <a:latin typeface="Calibri"/>
            </a:endParaRPr>
          </a:p>
        </p:txBody>
      </p:sp>
      <p:sp>
        <p:nvSpPr>
          <p:cNvPr id="27" name="TextBox 26"/>
          <p:cNvSpPr txBox="1"/>
          <p:nvPr/>
        </p:nvSpPr>
        <p:spPr>
          <a:xfrm>
            <a:off x="3849849" y="2319156"/>
            <a:ext cx="646331" cy="230832"/>
          </a:xfrm>
          <a:prstGeom prst="rect">
            <a:avLst/>
          </a:prstGeom>
          <a:noFill/>
        </p:spPr>
        <p:txBody>
          <a:bodyPr wrap="none" rtlCol="0">
            <a:spAutoFit/>
          </a:bodyPr>
          <a:lstStyle/>
          <a:p>
            <a:r>
              <a:rPr lang="zh-CN" altLang="en-US" sz="900" dirty="0">
                <a:solidFill>
                  <a:prstClr val="black"/>
                </a:solidFill>
                <a:latin typeface="Calibri"/>
              </a:rPr>
              <a:t>用户编写</a:t>
            </a:r>
            <a:endParaRPr lang="en-US" sz="900" dirty="0">
              <a:solidFill>
                <a:prstClr val="black"/>
              </a:solidFill>
              <a:latin typeface="Calibri"/>
            </a:endParaRPr>
          </a:p>
        </p:txBody>
      </p:sp>
      <p:cxnSp>
        <p:nvCxnSpPr>
          <p:cNvPr id="28" name="Straight Arrow Connector 27"/>
          <p:cNvCxnSpPr/>
          <p:nvPr/>
        </p:nvCxnSpPr>
        <p:spPr>
          <a:xfrm flipH="1">
            <a:off x="3350619" y="2509593"/>
            <a:ext cx="745220" cy="247297"/>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13" name="Rectangle 12"/>
          <p:cNvSpPr/>
          <p:nvPr/>
        </p:nvSpPr>
        <p:spPr>
          <a:xfrm>
            <a:off x="4991525" y="2902700"/>
            <a:ext cx="743702" cy="338980"/>
          </a:xfrm>
          <a:prstGeom prst="rect">
            <a:avLst/>
          </a:prstGeom>
          <a:solidFill>
            <a:srgbClr val="FFFF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25" dirty="0">
                <a:solidFill>
                  <a:prstClr val="black"/>
                </a:solidFill>
                <a:latin typeface="Calibri"/>
              </a:rPr>
              <a:t>API</a:t>
            </a:r>
          </a:p>
        </p:txBody>
      </p:sp>
      <p:sp>
        <p:nvSpPr>
          <p:cNvPr id="29" name="TextBox 28"/>
          <p:cNvSpPr txBox="1"/>
          <p:nvPr/>
        </p:nvSpPr>
        <p:spPr>
          <a:xfrm>
            <a:off x="3064741" y="4085288"/>
            <a:ext cx="761747" cy="230832"/>
          </a:xfrm>
          <a:prstGeom prst="rect">
            <a:avLst/>
          </a:prstGeom>
          <a:noFill/>
        </p:spPr>
        <p:txBody>
          <a:bodyPr wrap="none" rtlCol="0">
            <a:spAutoFit/>
          </a:bodyPr>
          <a:lstStyle/>
          <a:p>
            <a:r>
              <a:rPr lang="zh-CN" altLang="en-US" sz="900" dirty="0">
                <a:solidFill>
                  <a:prstClr val="black"/>
                </a:solidFill>
                <a:latin typeface="Calibri"/>
              </a:rPr>
              <a:t>设备商提供</a:t>
            </a:r>
            <a:endParaRPr lang="en-US" sz="900" dirty="0">
              <a:solidFill>
                <a:prstClr val="black"/>
              </a:solidFill>
              <a:latin typeface="Calibri"/>
            </a:endParaRPr>
          </a:p>
        </p:txBody>
      </p:sp>
      <p:cxnSp>
        <p:nvCxnSpPr>
          <p:cNvPr id="30" name="Straight Arrow Connector 29"/>
          <p:cNvCxnSpPr>
            <a:stCxn id="29" idx="0"/>
          </p:cNvCxnSpPr>
          <p:nvPr/>
        </p:nvCxnSpPr>
        <p:spPr>
          <a:xfrm flipH="1" flipV="1">
            <a:off x="3468025" y="3702055"/>
            <a:ext cx="217582" cy="201911"/>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29" idx="0"/>
          </p:cNvCxnSpPr>
          <p:nvPr/>
        </p:nvCxnSpPr>
        <p:spPr>
          <a:xfrm flipV="1">
            <a:off x="3685608" y="3076216"/>
            <a:ext cx="164242" cy="827750"/>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a:stCxn id="29" idx="0"/>
          </p:cNvCxnSpPr>
          <p:nvPr/>
        </p:nvCxnSpPr>
        <p:spPr>
          <a:xfrm flipV="1">
            <a:off x="3685608" y="3712880"/>
            <a:ext cx="1075901" cy="191085"/>
          </a:xfrm>
          <a:prstGeom prst="straightConnector1">
            <a:avLst/>
          </a:prstGeom>
          <a:ln>
            <a:headEnd type="none"/>
            <a:tailEnd type="triangle"/>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6036798" y="3087754"/>
            <a:ext cx="569388" cy="415498"/>
          </a:xfrm>
          <a:prstGeom prst="rect">
            <a:avLst/>
          </a:prstGeom>
          <a:noFill/>
        </p:spPr>
        <p:txBody>
          <a:bodyPr wrap="none" rtlCol="0">
            <a:spAutoFit/>
          </a:bodyPr>
          <a:lstStyle/>
          <a:p>
            <a:pPr algn="r"/>
            <a:r>
              <a:rPr lang="en-US" sz="1050" i="1" dirty="0">
                <a:solidFill>
                  <a:prstClr val="black"/>
                </a:solidFill>
                <a:latin typeface="Calibri"/>
              </a:rPr>
              <a:t>control</a:t>
            </a:r>
          </a:p>
          <a:p>
            <a:pPr algn="r"/>
            <a:r>
              <a:rPr lang="en-US" sz="1050" i="1" dirty="0">
                <a:solidFill>
                  <a:prstClr val="black"/>
                </a:solidFill>
                <a:latin typeface="Calibri"/>
              </a:rPr>
              <a:t>signals</a:t>
            </a:r>
          </a:p>
        </p:txBody>
      </p:sp>
      <p:sp>
        <p:nvSpPr>
          <p:cNvPr id="10" name="Right Arrow 9"/>
          <p:cNvSpPr/>
          <p:nvPr/>
        </p:nvSpPr>
        <p:spPr>
          <a:xfrm>
            <a:off x="3468026" y="2832661"/>
            <a:ext cx="248952" cy="189431"/>
          </a:xfrm>
          <a:prstGeom prst="rightArrow">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prstClr val="white"/>
              </a:solidFill>
              <a:latin typeface="Calibri"/>
            </a:endParaRPr>
          </a:p>
        </p:txBody>
      </p:sp>
      <p:sp>
        <p:nvSpPr>
          <p:cNvPr id="2" name="Up-Down Arrow 1"/>
          <p:cNvSpPr/>
          <p:nvPr/>
        </p:nvSpPr>
        <p:spPr>
          <a:xfrm>
            <a:off x="5038087" y="3220147"/>
            <a:ext cx="283085" cy="319860"/>
          </a:xfrm>
          <a:prstGeom prst="upDownArrow">
            <a:avLst>
              <a:gd name="adj1" fmla="val 50000"/>
              <a:gd name="adj2" fmla="val 34260"/>
            </a:avLst>
          </a:prstGeom>
          <a:ln/>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endParaRPr lang="en-US" dirty="0">
              <a:solidFill>
                <a:prstClr val="black"/>
              </a:solidFill>
              <a:latin typeface="Calibri"/>
            </a:endParaRPr>
          </a:p>
        </p:txBody>
      </p:sp>
      <p:sp>
        <p:nvSpPr>
          <p:cNvPr id="33" name="Rectangle 32"/>
          <p:cNvSpPr/>
          <p:nvPr/>
        </p:nvSpPr>
        <p:spPr>
          <a:xfrm>
            <a:off x="5417752" y="3563361"/>
            <a:ext cx="421376" cy="226472"/>
          </a:xfrm>
          <a:prstGeom prst="rect">
            <a:avLst/>
          </a:prstGeom>
          <a:noFill/>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788" dirty="0">
                <a:solidFill>
                  <a:prstClr val="black"/>
                </a:solidFill>
                <a:latin typeface="Calibri"/>
              </a:rPr>
              <a:t>extern</a:t>
            </a:r>
            <a:br>
              <a:rPr lang="en-US" sz="788" dirty="0">
                <a:solidFill>
                  <a:prstClr val="black"/>
                </a:solidFill>
                <a:latin typeface="Calibri"/>
              </a:rPr>
            </a:br>
            <a:r>
              <a:rPr lang="en-US" sz="788" dirty="0">
                <a:solidFill>
                  <a:prstClr val="black"/>
                </a:solidFill>
                <a:latin typeface="Calibri"/>
              </a:rPr>
              <a:t>objects</a:t>
            </a:r>
          </a:p>
        </p:txBody>
      </p:sp>
      <p:sp>
        <p:nvSpPr>
          <p:cNvPr id="34" name="Up-Down Arrow 33"/>
          <p:cNvSpPr/>
          <p:nvPr/>
        </p:nvSpPr>
        <p:spPr>
          <a:xfrm>
            <a:off x="5409496" y="3214945"/>
            <a:ext cx="283085" cy="325061"/>
          </a:xfrm>
          <a:prstGeom prst="upDownArrow">
            <a:avLst>
              <a:gd name="adj1" fmla="val 50000"/>
              <a:gd name="adj2" fmla="val 34260"/>
            </a:avLst>
          </a:prstGeom>
          <a:ln/>
        </p:spPr>
        <p:style>
          <a:lnRef idx="2">
            <a:schemeClr val="accent6">
              <a:shade val="50000"/>
            </a:schemeClr>
          </a:lnRef>
          <a:fillRef idx="1">
            <a:schemeClr val="accent6"/>
          </a:fillRef>
          <a:effectRef idx="0">
            <a:schemeClr val="accent6"/>
          </a:effectRef>
          <a:fontRef idx="minor">
            <a:schemeClr val="lt1"/>
          </a:fontRef>
        </p:style>
        <p:txBody>
          <a:bodyPr wrap="none" rtlCol="0" anchor="ctr"/>
          <a:lstStyle/>
          <a:p>
            <a:pPr algn="ctr"/>
            <a:endParaRPr lang="en-US" dirty="0">
              <a:solidFill>
                <a:prstClr val="black"/>
              </a:solidFill>
              <a:latin typeface="Calibri"/>
            </a:endParaRPr>
          </a:p>
        </p:txBody>
      </p:sp>
      <p:sp>
        <p:nvSpPr>
          <p:cNvPr id="35" name="Rectangle 34"/>
          <p:cNvSpPr/>
          <p:nvPr/>
        </p:nvSpPr>
        <p:spPr>
          <a:xfrm>
            <a:off x="4441745" y="2732619"/>
            <a:ext cx="253365" cy="338980"/>
          </a:xfrm>
          <a:prstGeom prst="rect">
            <a:avLst/>
          </a:prstGeom>
          <a:solidFill>
            <a:srgbClr val="FFFFFF"/>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lang="en-US" sz="1125" dirty="0">
                <a:solidFill>
                  <a:prstClr val="black"/>
                </a:solidFill>
                <a:latin typeface="Calibri"/>
              </a:rPr>
              <a:t>API</a:t>
            </a:r>
          </a:p>
        </p:txBody>
      </p:sp>
      <p:sp>
        <p:nvSpPr>
          <p:cNvPr id="37" name="Down Arrow 36"/>
          <p:cNvSpPr/>
          <p:nvPr/>
        </p:nvSpPr>
        <p:spPr>
          <a:xfrm rot="16200000">
            <a:off x="4284287" y="2864624"/>
            <a:ext cx="189422" cy="125496"/>
          </a:xfrm>
          <a:prstGeom prst="downArrow">
            <a:avLst/>
          </a:prstGeom>
          <a:solidFill>
            <a:srgbClr val="FFFF00"/>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solidFill>
                <a:prstClr val="white"/>
              </a:solidFill>
              <a:latin typeface="Calibri"/>
            </a:endParaRPr>
          </a:p>
        </p:txBody>
      </p:sp>
      <p:sp>
        <p:nvSpPr>
          <p:cNvPr id="3" name="Right Arrow 2"/>
          <p:cNvSpPr/>
          <p:nvPr/>
        </p:nvSpPr>
        <p:spPr>
          <a:xfrm>
            <a:off x="4543711" y="3398270"/>
            <a:ext cx="291557" cy="204914"/>
          </a:xfrm>
          <a:prstGeom prst="rightArrow">
            <a:avLst/>
          </a:prstGeom>
          <a:solidFill>
            <a:schemeClr val="bg2">
              <a:lumMod val="90000"/>
            </a:schemeClr>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675" dirty="0">
                <a:solidFill>
                  <a:prstClr val="black"/>
                </a:solidFill>
                <a:latin typeface="Calibri"/>
              </a:rPr>
              <a:t>LOAD</a:t>
            </a:r>
            <a:endParaRPr lang="en-US" sz="788" dirty="0">
              <a:solidFill>
                <a:prstClr val="black"/>
              </a:solidFill>
              <a:latin typeface="Calibri"/>
            </a:endParaRPr>
          </a:p>
        </p:txBody>
      </p:sp>
      <p:sp>
        <p:nvSpPr>
          <p:cNvPr id="38" name="Right Arrow 37"/>
          <p:cNvSpPr/>
          <p:nvPr/>
        </p:nvSpPr>
        <p:spPr>
          <a:xfrm>
            <a:off x="4695110" y="2864696"/>
            <a:ext cx="296415" cy="204914"/>
          </a:xfrm>
          <a:prstGeom prst="rightArrow">
            <a:avLst/>
          </a:prstGeom>
          <a:solidFill>
            <a:schemeClr val="bg2">
              <a:lumMod val="90000"/>
            </a:schemeClr>
          </a:solidFill>
          <a:ln w="285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675" dirty="0">
                <a:solidFill>
                  <a:prstClr val="black"/>
                </a:solidFill>
                <a:latin typeface="Calibri"/>
              </a:rPr>
              <a:t>LOAD</a:t>
            </a:r>
            <a:endParaRPr lang="en-US" sz="788" dirty="0">
              <a:solidFill>
                <a:prstClr val="black"/>
              </a:solidFill>
              <a:latin typeface="Calibri"/>
            </a:endParaRPr>
          </a:p>
        </p:txBody>
      </p:sp>
      <p:sp>
        <p:nvSpPr>
          <p:cNvPr id="48" name="内容占位符 2"/>
          <p:cNvSpPr txBox="1">
            <a:spLocks/>
          </p:cNvSpPr>
          <p:nvPr/>
        </p:nvSpPr>
        <p:spPr>
          <a:xfrm>
            <a:off x="1549743" y="993295"/>
            <a:ext cx="6208611" cy="3593306"/>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cs typeface="+mn-cs"/>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cs typeface="+mn-cs"/>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cs typeface="+mn-cs"/>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cs typeface="+mn-cs"/>
              </a:defRPr>
            </a:lvl5pPr>
            <a:lvl6pPr marL="2514600" indent="-228600" algn="l" rtl="0" eaLnBrk="0" fontAlgn="base" hangingPunct="0">
              <a:spcBef>
                <a:spcPct val="20000"/>
              </a:spcBef>
              <a:spcAft>
                <a:spcPct val="0"/>
              </a:spcAft>
              <a:buFont typeface="Calibri" pitchFamily="34" charset="0"/>
              <a:buChar char="»"/>
              <a:defRPr sz="2000">
                <a:solidFill>
                  <a:schemeClr val="tx1"/>
                </a:solidFill>
                <a:latin typeface="+mn-lt"/>
                <a:cs typeface="+mn-cs"/>
              </a:defRPr>
            </a:lvl6pPr>
            <a:lvl7pPr marL="2971800" indent="-228600" algn="l" rtl="0" eaLnBrk="0" fontAlgn="base" hangingPunct="0">
              <a:spcBef>
                <a:spcPct val="20000"/>
              </a:spcBef>
              <a:spcAft>
                <a:spcPct val="0"/>
              </a:spcAft>
              <a:buFont typeface="Calibri" pitchFamily="34" charset="0"/>
              <a:buChar char="»"/>
              <a:defRPr sz="2000">
                <a:solidFill>
                  <a:schemeClr val="tx1"/>
                </a:solidFill>
                <a:latin typeface="+mn-lt"/>
                <a:cs typeface="+mn-cs"/>
              </a:defRPr>
            </a:lvl7pPr>
            <a:lvl8pPr marL="3429000" indent="-228600" algn="l" rtl="0" eaLnBrk="0" fontAlgn="base" hangingPunct="0">
              <a:spcBef>
                <a:spcPct val="20000"/>
              </a:spcBef>
              <a:spcAft>
                <a:spcPct val="0"/>
              </a:spcAft>
              <a:buFont typeface="Calibri" pitchFamily="34" charset="0"/>
              <a:buChar char="»"/>
              <a:defRPr sz="2000">
                <a:solidFill>
                  <a:schemeClr val="tx1"/>
                </a:solidFill>
                <a:latin typeface="+mn-lt"/>
                <a:cs typeface="+mn-cs"/>
              </a:defRPr>
            </a:lvl8pPr>
            <a:lvl9pPr marL="3886200" indent="-228600" algn="l" rtl="0" eaLnBrk="0" fontAlgn="base" hangingPunct="0">
              <a:spcBef>
                <a:spcPct val="20000"/>
              </a:spcBef>
              <a:spcAft>
                <a:spcPct val="0"/>
              </a:spcAft>
              <a:buFont typeface="Calibri" pitchFamily="34" charset="0"/>
              <a:buChar char="»"/>
              <a:defRPr sz="2000">
                <a:solidFill>
                  <a:schemeClr val="tx1"/>
                </a:solidFill>
                <a:latin typeface="+mn-lt"/>
                <a:cs typeface="+mn-cs"/>
              </a:defRPr>
            </a:lvl9pPr>
          </a:lstStyle>
          <a:p>
            <a:pPr>
              <a:lnSpc>
                <a:spcPct val="150000"/>
              </a:lnSpc>
              <a:spcBef>
                <a:spcPts val="0"/>
              </a:spcBef>
            </a:pPr>
            <a:r>
              <a:rPr lang="en-US" altLang="zh-CN" sz="1800" kern="0" dirty="0">
                <a:latin typeface="Times New Roman" panose="02020603050405020304" pitchFamily="18" charset="0"/>
                <a:cs typeface="Times New Roman" panose="02020603050405020304" pitchFamily="18" charset="0"/>
              </a:rPr>
              <a:t>P4</a:t>
            </a:r>
            <a:r>
              <a:rPr lang="zh-CN" altLang="en-US" sz="1800" kern="0" dirty="0">
                <a:latin typeface="Times New Roman" panose="02020603050405020304" pitchFamily="18" charset="0"/>
                <a:cs typeface="Times New Roman" panose="02020603050405020304" pitchFamily="18" charset="0"/>
              </a:rPr>
              <a:t>程序编译后形成两部分内容</a:t>
            </a:r>
            <a:endParaRPr lang="en-US" altLang="zh-CN" sz="18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zh-CN" altLang="en-US" sz="1200" kern="0" dirty="0">
                <a:latin typeface="Times New Roman" panose="02020603050405020304" pitchFamily="18" charset="0"/>
                <a:cs typeface="Times New Roman" panose="02020603050405020304" pitchFamily="18" charset="0"/>
              </a:rPr>
              <a:t>数据平面执行程序</a:t>
            </a:r>
            <a:endParaRPr lang="en-US" altLang="zh-CN" sz="1200" kern="0" dirty="0">
              <a:latin typeface="Times New Roman" panose="02020603050405020304" pitchFamily="18" charset="0"/>
              <a:cs typeface="Times New Roman" panose="02020603050405020304" pitchFamily="18" charset="0"/>
            </a:endParaRPr>
          </a:p>
          <a:p>
            <a:pPr lvl="1">
              <a:lnSpc>
                <a:spcPct val="150000"/>
              </a:lnSpc>
              <a:spcBef>
                <a:spcPts val="0"/>
              </a:spcBef>
            </a:pPr>
            <a:r>
              <a:rPr lang="zh-CN" altLang="en-US" sz="1200" kern="0" dirty="0">
                <a:latin typeface="Times New Roman" panose="02020603050405020304" pitchFamily="18" charset="0"/>
                <a:cs typeface="Times New Roman" panose="02020603050405020304" pitchFamily="18" charset="0"/>
              </a:rPr>
              <a:t>控制平面与数据平面的</a:t>
            </a:r>
            <a:r>
              <a:rPr lang="en-US" altLang="zh-CN" sz="1200" kern="0" dirty="0">
                <a:latin typeface="Times New Roman" panose="02020603050405020304" pitchFamily="18" charset="0"/>
                <a:cs typeface="Times New Roman" panose="02020603050405020304" pitchFamily="18" charset="0"/>
              </a:rPr>
              <a:t>API</a:t>
            </a:r>
            <a:r>
              <a:rPr lang="zh-CN" altLang="en-US" sz="1200" kern="0" dirty="0">
                <a:latin typeface="Times New Roman" panose="02020603050405020304" pitchFamily="18" charset="0"/>
                <a:cs typeface="Times New Roman" panose="02020603050405020304" pitchFamily="18" charset="0"/>
              </a:rPr>
              <a:t>接口</a:t>
            </a:r>
            <a:r>
              <a:rPr lang="en-US" altLang="zh-CN" sz="1200" kern="0" dirty="0">
                <a:latin typeface="Times New Roman" panose="02020603050405020304" pitchFamily="18" charset="0"/>
                <a:cs typeface="Times New Roman" panose="02020603050405020304" pitchFamily="18" charset="0"/>
              </a:rPr>
              <a:t> </a:t>
            </a:r>
          </a:p>
        </p:txBody>
      </p:sp>
      <p:sp>
        <p:nvSpPr>
          <p:cNvPr id="44"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45"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架构</a:t>
            </a:r>
          </a:p>
        </p:txBody>
      </p:sp>
    </p:spTree>
    <p:extLst>
      <p:ext uri="{BB962C8B-B14F-4D97-AF65-F5344CB8AC3E}">
        <p14:creationId xmlns:p14="http://schemas.microsoft.com/office/powerpoint/2010/main" val="12444257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41968" y="1319464"/>
            <a:ext cx="5193431" cy="2827534"/>
          </a:xfrm>
          <a:prstGeom prst="rect">
            <a:avLst/>
          </a:prstGeom>
          <a:blipFill>
            <a:blip r:embed="rId2" cstate="print"/>
            <a:stretch>
              <a:fillRect/>
            </a:stretch>
          </a:blipFill>
        </p:spPr>
        <p:txBody>
          <a:bodyPr wrap="square" lIns="0" tIns="0" rIns="0" bIns="0" rtlCol="0"/>
          <a:lstStyle/>
          <a:p>
            <a:endParaRPr sz="1055"/>
          </a:p>
        </p:txBody>
      </p:sp>
      <p:sp>
        <p:nvSpPr>
          <p:cNvPr id="10"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3"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与</a:t>
            </a:r>
            <a:r>
              <a:rPr lang="en-US" altLang="zh-CN" sz="2400" b="1" dirty="0">
                <a:solidFill>
                  <a:schemeClr val="bg1"/>
                </a:solidFill>
                <a:latin typeface="微软雅黑" pitchFamily="34" charset="-122"/>
                <a:ea typeface="微软雅黑" pitchFamily="34" charset="-122"/>
              </a:rPr>
              <a:t>OpenFlow</a:t>
            </a:r>
          </a:p>
        </p:txBody>
      </p:sp>
    </p:spTree>
    <p:extLst>
      <p:ext uri="{BB962C8B-B14F-4D97-AF65-F5344CB8AC3E}">
        <p14:creationId xmlns:p14="http://schemas.microsoft.com/office/powerpoint/2010/main" val="19431911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3" name="object 3"/>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4" name="object 4"/>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5" name="object 5"/>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6" name="object 6"/>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7" name="object 7"/>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8" name="object 8"/>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9" name="object 9"/>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10" name="object 10"/>
          <p:cNvSpPr/>
          <p:nvPr/>
        </p:nvSpPr>
        <p:spPr>
          <a:xfrm>
            <a:off x="3404708"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1" name="object 11"/>
          <p:cNvSpPr/>
          <p:nvPr/>
        </p:nvSpPr>
        <p:spPr>
          <a:xfrm>
            <a:off x="3842130" y="2241580"/>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2" name="object 12"/>
          <p:cNvSpPr/>
          <p:nvPr/>
        </p:nvSpPr>
        <p:spPr>
          <a:xfrm>
            <a:off x="3404708"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3" name="object 13"/>
          <p:cNvSpPr/>
          <p:nvPr/>
        </p:nvSpPr>
        <p:spPr>
          <a:xfrm>
            <a:off x="3842130" y="242912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4" name="object 14"/>
          <p:cNvSpPr/>
          <p:nvPr/>
        </p:nvSpPr>
        <p:spPr>
          <a:xfrm>
            <a:off x="3404708"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5" name="object 15"/>
          <p:cNvSpPr/>
          <p:nvPr/>
        </p:nvSpPr>
        <p:spPr>
          <a:xfrm>
            <a:off x="3842130" y="2616673"/>
            <a:ext cx="176808" cy="156047"/>
          </a:xfrm>
          <a:custGeom>
            <a:avLst/>
            <a:gdLst/>
            <a:ahLst/>
            <a:cxnLst/>
            <a:rect l="l" t="t" r="r" b="b"/>
            <a:pathLst>
              <a:path w="335279" h="295910">
                <a:moveTo>
                  <a:pt x="0" y="0"/>
                </a:moveTo>
                <a:lnTo>
                  <a:pt x="0" y="295757"/>
                </a:lnTo>
                <a:lnTo>
                  <a:pt x="334704" y="199443"/>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6" name="object 16"/>
          <p:cNvSpPr/>
          <p:nvPr/>
        </p:nvSpPr>
        <p:spPr>
          <a:xfrm>
            <a:off x="3404708"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7" name="object 17"/>
          <p:cNvSpPr/>
          <p:nvPr/>
        </p:nvSpPr>
        <p:spPr>
          <a:xfrm>
            <a:off x="3842130" y="2804220"/>
            <a:ext cx="176808" cy="156047"/>
          </a:xfrm>
          <a:custGeom>
            <a:avLst/>
            <a:gdLst/>
            <a:ahLst/>
            <a:cxnLst/>
            <a:rect l="l" t="t" r="r" b="b"/>
            <a:pathLst>
              <a:path w="335279" h="295910">
                <a:moveTo>
                  <a:pt x="0" y="0"/>
                </a:moveTo>
                <a:lnTo>
                  <a:pt x="0" y="295757"/>
                </a:lnTo>
                <a:lnTo>
                  <a:pt x="334704" y="199444"/>
                </a:lnTo>
                <a:lnTo>
                  <a:pt x="334704" y="86139"/>
                </a:lnTo>
                <a:lnTo>
                  <a:pt x="0" y="0"/>
                </a:lnTo>
                <a:close/>
              </a:path>
            </a:pathLst>
          </a:custGeom>
          <a:solidFill>
            <a:srgbClr val="F39019">
              <a:alpha val="75000"/>
            </a:srgbClr>
          </a:solidFill>
        </p:spPr>
        <p:txBody>
          <a:bodyPr wrap="square" lIns="0" tIns="0" rIns="0" bIns="0" rtlCol="0"/>
          <a:lstStyle/>
          <a:p>
            <a:endParaRPr sz="1055"/>
          </a:p>
        </p:txBody>
      </p:sp>
      <p:sp>
        <p:nvSpPr>
          <p:cNvPr id="18" name="object 18"/>
          <p:cNvSpPr/>
          <p:nvPr/>
        </p:nvSpPr>
        <p:spPr>
          <a:xfrm>
            <a:off x="3404708"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9" name="object 19"/>
          <p:cNvSpPr/>
          <p:nvPr/>
        </p:nvSpPr>
        <p:spPr>
          <a:xfrm>
            <a:off x="3842130" y="299176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0" name="object 20"/>
          <p:cNvSpPr/>
          <p:nvPr/>
        </p:nvSpPr>
        <p:spPr>
          <a:xfrm>
            <a:off x="3404708"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1" name="object 21"/>
          <p:cNvSpPr/>
          <p:nvPr/>
        </p:nvSpPr>
        <p:spPr>
          <a:xfrm>
            <a:off x="3842130" y="3179314"/>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2" name="object 22"/>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23" name="object 23"/>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24" name="object 24"/>
          <p:cNvSpPr/>
          <p:nvPr/>
        </p:nvSpPr>
        <p:spPr>
          <a:xfrm>
            <a:off x="4254379"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5" name="object 25"/>
          <p:cNvSpPr/>
          <p:nvPr/>
        </p:nvSpPr>
        <p:spPr>
          <a:xfrm>
            <a:off x="4691801"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6" name="object 26"/>
          <p:cNvSpPr/>
          <p:nvPr/>
        </p:nvSpPr>
        <p:spPr>
          <a:xfrm>
            <a:off x="4254379"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7" name="object 27"/>
          <p:cNvSpPr/>
          <p:nvPr/>
        </p:nvSpPr>
        <p:spPr>
          <a:xfrm>
            <a:off x="4691801"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8" name="object 28"/>
          <p:cNvSpPr/>
          <p:nvPr/>
        </p:nvSpPr>
        <p:spPr>
          <a:xfrm>
            <a:off x="4254379"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9" name="object 29"/>
          <p:cNvSpPr/>
          <p:nvPr/>
        </p:nvSpPr>
        <p:spPr>
          <a:xfrm>
            <a:off x="4691801"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0" name="object 30"/>
          <p:cNvSpPr/>
          <p:nvPr/>
        </p:nvSpPr>
        <p:spPr>
          <a:xfrm>
            <a:off x="4254379"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1" name="object 31"/>
          <p:cNvSpPr/>
          <p:nvPr/>
        </p:nvSpPr>
        <p:spPr>
          <a:xfrm>
            <a:off x="4691801"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32" name="object 32"/>
          <p:cNvSpPr/>
          <p:nvPr/>
        </p:nvSpPr>
        <p:spPr>
          <a:xfrm>
            <a:off x="4254379"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3" name="object 33"/>
          <p:cNvSpPr/>
          <p:nvPr/>
        </p:nvSpPr>
        <p:spPr>
          <a:xfrm>
            <a:off x="4691801"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4" name="object 34"/>
          <p:cNvSpPr/>
          <p:nvPr/>
        </p:nvSpPr>
        <p:spPr>
          <a:xfrm>
            <a:off x="4254379"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5" name="object 35"/>
          <p:cNvSpPr/>
          <p:nvPr/>
        </p:nvSpPr>
        <p:spPr>
          <a:xfrm>
            <a:off x="4691801"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6" name="object 36"/>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37" name="object 37"/>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38" name="object 38"/>
          <p:cNvSpPr/>
          <p:nvPr/>
        </p:nvSpPr>
        <p:spPr>
          <a:xfrm>
            <a:off x="5117098" y="2240956"/>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9" name="object 39"/>
          <p:cNvSpPr/>
          <p:nvPr/>
        </p:nvSpPr>
        <p:spPr>
          <a:xfrm>
            <a:off x="5554522"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0" name="object 40"/>
          <p:cNvSpPr/>
          <p:nvPr/>
        </p:nvSpPr>
        <p:spPr>
          <a:xfrm>
            <a:off x="5117098" y="242850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1" name="object 41"/>
          <p:cNvSpPr/>
          <p:nvPr/>
        </p:nvSpPr>
        <p:spPr>
          <a:xfrm>
            <a:off x="5554522"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2" name="object 42"/>
          <p:cNvSpPr/>
          <p:nvPr/>
        </p:nvSpPr>
        <p:spPr>
          <a:xfrm>
            <a:off x="5117098" y="2616050"/>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3" name="object 43"/>
          <p:cNvSpPr/>
          <p:nvPr/>
        </p:nvSpPr>
        <p:spPr>
          <a:xfrm>
            <a:off x="5554522"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4" name="object 44"/>
          <p:cNvSpPr/>
          <p:nvPr/>
        </p:nvSpPr>
        <p:spPr>
          <a:xfrm>
            <a:off x="5117098" y="2803595"/>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5" name="object 45"/>
          <p:cNvSpPr/>
          <p:nvPr/>
        </p:nvSpPr>
        <p:spPr>
          <a:xfrm>
            <a:off x="5554522"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46" name="object 46"/>
          <p:cNvSpPr/>
          <p:nvPr/>
        </p:nvSpPr>
        <p:spPr>
          <a:xfrm>
            <a:off x="5117098" y="299114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7" name="object 47"/>
          <p:cNvSpPr/>
          <p:nvPr/>
        </p:nvSpPr>
        <p:spPr>
          <a:xfrm>
            <a:off x="5554522"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8" name="object 48"/>
          <p:cNvSpPr/>
          <p:nvPr/>
        </p:nvSpPr>
        <p:spPr>
          <a:xfrm>
            <a:off x="5117098" y="3178689"/>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9" name="object 49"/>
          <p:cNvSpPr/>
          <p:nvPr/>
        </p:nvSpPr>
        <p:spPr>
          <a:xfrm>
            <a:off x="5554522"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50" name="object 50"/>
          <p:cNvSpPr/>
          <p:nvPr/>
        </p:nvSpPr>
        <p:spPr>
          <a:xfrm>
            <a:off x="4078936"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1" name="object 51"/>
          <p:cNvSpPr/>
          <p:nvPr/>
        </p:nvSpPr>
        <p:spPr>
          <a:xfrm>
            <a:off x="4936390"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2" name="object 52"/>
          <p:cNvSpPr/>
          <p:nvPr/>
        </p:nvSpPr>
        <p:spPr>
          <a:xfrm>
            <a:off x="300397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3" name="object 53"/>
          <p:cNvSpPr/>
          <p:nvPr/>
        </p:nvSpPr>
        <p:spPr>
          <a:xfrm>
            <a:off x="6005441"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4" name="object 54"/>
          <p:cNvSpPr/>
          <p:nvPr/>
        </p:nvSpPr>
        <p:spPr>
          <a:xfrm>
            <a:off x="2112294" y="2359949"/>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5"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5" name="object 55"/>
          <p:cNvSpPr/>
          <p:nvPr/>
        </p:nvSpPr>
        <p:spPr>
          <a:xfrm>
            <a:off x="2112295" y="2359949"/>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6" name="object 56"/>
          <p:cNvSpPr/>
          <p:nvPr/>
        </p:nvSpPr>
        <p:spPr>
          <a:xfrm>
            <a:off x="2524481" y="2637001"/>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7" name="object 57"/>
          <p:cNvSpPr/>
          <p:nvPr/>
        </p:nvSpPr>
        <p:spPr>
          <a:xfrm>
            <a:off x="2524482" y="2637002"/>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8" name="object 58"/>
          <p:cNvSpPr/>
          <p:nvPr/>
        </p:nvSpPr>
        <p:spPr>
          <a:xfrm>
            <a:off x="2120828" y="2723370"/>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4"/>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4"/>
                </a:lnTo>
                <a:lnTo>
                  <a:pt x="431284" y="314622"/>
                </a:lnTo>
                <a:lnTo>
                  <a:pt x="443577" y="272261"/>
                </a:lnTo>
                <a:lnTo>
                  <a:pt x="447675" y="228600"/>
                </a:lnTo>
                <a:lnTo>
                  <a:pt x="443577" y="184939"/>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59" name="object 59"/>
          <p:cNvSpPr/>
          <p:nvPr/>
        </p:nvSpPr>
        <p:spPr>
          <a:xfrm>
            <a:off x="2120827" y="2723370"/>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0" name="object 60"/>
          <p:cNvSpPr/>
          <p:nvPr/>
        </p:nvSpPr>
        <p:spPr>
          <a:xfrm>
            <a:off x="2553833" y="2941821"/>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61" name="object 61"/>
          <p:cNvSpPr/>
          <p:nvPr/>
        </p:nvSpPr>
        <p:spPr>
          <a:xfrm>
            <a:off x="2553833" y="2941821"/>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2" name="object 62"/>
          <p:cNvSpPr/>
          <p:nvPr/>
        </p:nvSpPr>
        <p:spPr>
          <a:xfrm>
            <a:off x="2220814" y="3126786"/>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4"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3" name="object 63"/>
          <p:cNvSpPr/>
          <p:nvPr/>
        </p:nvSpPr>
        <p:spPr>
          <a:xfrm>
            <a:off x="2220814" y="3126786"/>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4" name="object 64"/>
          <p:cNvSpPr/>
          <p:nvPr/>
        </p:nvSpPr>
        <p:spPr>
          <a:xfrm>
            <a:off x="2461915" y="2203448"/>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4"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5" name="object 65"/>
          <p:cNvSpPr/>
          <p:nvPr/>
        </p:nvSpPr>
        <p:spPr>
          <a:xfrm>
            <a:off x="2461915" y="2203447"/>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6" name="object 66"/>
          <p:cNvSpPr/>
          <p:nvPr/>
        </p:nvSpPr>
        <p:spPr>
          <a:xfrm>
            <a:off x="2285743" y="2254065"/>
            <a:ext cx="188528" cy="79028"/>
          </a:xfrm>
          <a:custGeom>
            <a:avLst/>
            <a:gdLst/>
            <a:ahLst/>
            <a:cxnLst/>
            <a:rect l="l" t="t" r="r" b="b"/>
            <a:pathLst>
              <a:path w="357505" h="149860">
                <a:moveTo>
                  <a:pt x="356988" y="21164"/>
                </a:moveTo>
                <a:lnTo>
                  <a:pt x="308172" y="7204"/>
                </a:lnTo>
                <a:lnTo>
                  <a:pt x="261729" y="149"/>
                </a:lnTo>
                <a:lnTo>
                  <a:pt x="217659" y="0"/>
                </a:lnTo>
                <a:lnTo>
                  <a:pt x="175963" y="6755"/>
                </a:lnTo>
                <a:lnTo>
                  <a:pt x="136639" y="20415"/>
                </a:lnTo>
                <a:lnTo>
                  <a:pt x="99688" y="40980"/>
                </a:lnTo>
                <a:lnTo>
                  <a:pt x="65110" y="68450"/>
                </a:lnTo>
                <a:lnTo>
                  <a:pt x="32905" y="102826"/>
                </a:lnTo>
                <a:lnTo>
                  <a:pt x="3072" y="144106"/>
                </a:lnTo>
                <a:lnTo>
                  <a:pt x="0" y="149686"/>
                </a:lnTo>
              </a:path>
            </a:pathLst>
          </a:custGeom>
          <a:ln w="12700">
            <a:solidFill>
              <a:srgbClr val="0365C0"/>
            </a:solidFill>
          </a:ln>
        </p:spPr>
        <p:txBody>
          <a:bodyPr wrap="square" lIns="0" tIns="0" rIns="0" bIns="0" rtlCol="0"/>
          <a:lstStyle/>
          <a:p>
            <a:endParaRPr sz="1055"/>
          </a:p>
        </p:txBody>
      </p:sp>
      <p:sp>
        <p:nvSpPr>
          <p:cNvPr id="67" name="object 67"/>
          <p:cNvSpPr/>
          <p:nvPr/>
        </p:nvSpPr>
        <p:spPr>
          <a:xfrm>
            <a:off x="2269759" y="2320378"/>
            <a:ext cx="35495" cy="39179"/>
          </a:xfrm>
          <a:custGeom>
            <a:avLst/>
            <a:gdLst/>
            <a:ahLst/>
            <a:cxnLst/>
            <a:rect l="l" t="t" r="r" b="b"/>
            <a:pathLst>
              <a:path w="67310" h="74295">
                <a:moveTo>
                  <a:pt x="0" y="0"/>
                </a:moveTo>
                <a:lnTo>
                  <a:pt x="2745" y="74002"/>
                </a:lnTo>
                <a:lnTo>
                  <a:pt x="66749" y="36755"/>
                </a:lnTo>
              </a:path>
            </a:pathLst>
          </a:custGeom>
          <a:ln w="12699">
            <a:solidFill>
              <a:srgbClr val="0365C0"/>
            </a:solidFill>
          </a:ln>
        </p:spPr>
        <p:txBody>
          <a:bodyPr wrap="square" lIns="0" tIns="0" rIns="0" bIns="0" rtlCol="0"/>
          <a:lstStyle/>
          <a:p>
            <a:endParaRPr sz="1055"/>
          </a:p>
        </p:txBody>
      </p:sp>
      <p:sp>
        <p:nvSpPr>
          <p:cNvPr id="68" name="object 68"/>
          <p:cNvSpPr/>
          <p:nvPr/>
        </p:nvSpPr>
        <p:spPr>
          <a:xfrm>
            <a:off x="2271206" y="2330068"/>
            <a:ext cx="16409" cy="29468"/>
          </a:xfrm>
          <a:custGeom>
            <a:avLst/>
            <a:gdLst/>
            <a:ahLst/>
            <a:cxnLst/>
            <a:rect l="l" t="t" r="r" b="b"/>
            <a:pathLst>
              <a:path w="31114" h="55879">
                <a:moveTo>
                  <a:pt x="30629" y="0"/>
                </a:moveTo>
                <a:lnTo>
                  <a:pt x="0" y="55624"/>
                </a:lnTo>
              </a:path>
            </a:pathLst>
          </a:custGeom>
          <a:ln w="12699">
            <a:solidFill>
              <a:srgbClr val="0365C0"/>
            </a:solidFill>
          </a:ln>
        </p:spPr>
        <p:txBody>
          <a:bodyPr wrap="square" lIns="0" tIns="0" rIns="0" bIns="0" rtlCol="0"/>
          <a:lstStyle/>
          <a:p>
            <a:endParaRPr sz="1055"/>
          </a:p>
        </p:txBody>
      </p:sp>
      <p:sp>
        <p:nvSpPr>
          <p:cNvPr id="69" name="object 69"/>
          <p:cNvSpPr/>
          <p:nvPr/>
        </p:nvSpPr>
        <p:spPr>
          <a:xfrm>
            <a:off x="2348741" y="2456158"/>
            <a:ext cx="255836" cy="148345"/>
          </a:xfrm>
          <a:custGeom>
            <a:avLst/>
            <a:gdLst/>
            <a:ahLst/>
            <a:cxnLst/>
            <a:rect l="l" t="t" r="r" b="b"/>
            <a:pathLst>
              <a:path w="485139" h="281304">
                <a:moveTo>
                  <a:pt x="0" y="2121"/>
                </a:moveTo>
                <a:lnTo>
                  <a:pt x="52280" y="4"/>
                </a:lnTo>
                <a:lnTo>
                  <a:pt x="102036" y="1741"/>
                </a:lnTo>
                <a:lnTo>
                  <a:pt x="149270" y="7332"/>
                </a:lnTo>
                <a:lnTo>
                  <a:pt x="193980" y="16776"/>
                </a:lnTo>
                <a:lnTo>
                  <a:pt x="236167" y="30075"/>
                </a:lnTo>
                <a:lnTo>
                  <a:pt x="275831" y="47227"/>
                </a:lnTo>
                <a:lnTo>
                  <a:pt x="312972" y="68233"/>
                </a:lnTo>
                <a:lnTo>
                  <a:pt x="347589" y="93093"/>
                </a:lnTo>
                <a:lnTo>
                  <a:pt x="379683" y="121807"/>
                </a:lnTo>
                <a:lnTo>
                  <a:pt x="409253" y="154375"/>
                </a:lnTo>
                <a:lnTo>
                  <a:pt x="436300" y="190796"/>
                </a:lnTo>
                <a:lnTo>
                  <a:pt x="460824" y="231072"/>
                </a:lnTo>
                <a:lnTo>
                  <a:pt x="482825" y="275201"/>
                </a:lnTo>
                <a:lnTo>
                  <a:pt x="485136" y="281136"/>
                </a:lnTo>
              </a:path>
            </a:pathLst>
          </a:custGeom>
          <a:ln w="12700">
            <a:solidFill>
              <a:srgbClr val="0365C0"/>
            </a:solidFill>
          </a:ln>
        </p:spPr>
        <p:txBody>
          <a:bodyPr wrap="square" lIns="0" tIns="0" rIns="0" bIns="0" rtlCol="0"/>
          <a:lstStyle/>
          <a:p>
            <a:endParaRPr sz="1055"/>
          </a:p>
        </p:txBody>
      </p:sp>
      <p:sp>
        <p:nvSpPr>
          <p:cNvPr id="70" name="object 70"/>
          <p:cNvSpPr/>
          <p:nvPr/>
        </p:nvSpPr>
        <p:spPr>
          <a:xfrm>
            <a:off x="2584636" y="2594002"/>
            <a:ext cx="37505" cy="38510"/>
          </a:xfrm>
          <a:custGeom>
            <a:avLst/>
            <a:gdLst/>
            <a:ahLst/>
            <a:cxnLst/>
            <a:rect l="l" t="t" r="r" b="b"/>
            <a:pathLst>
              <a:path w="71119" h="73025">
                <a:moveTo>
                  <a:pt x="0" y="27643"/>
                </a:moveTo>
                <a:lnTo>
                  <a:pt x="58541" y="72995"/>
                </a:lnTo>
                <a:lnTo>
                  <a:pt x="71008" y="0"/>
                </a:lnTo>
              </a:path>
            </a:pathLst>
          </a:custGeom>
          <a:ln w="12699">
            <a:solidFill>
              <a:srgbClr val="0365C0"/>
            </a:solidFill>
          </a:ln>
        </p:spPr>
        <p:txBody>
          <a:bodyPr wrap="square" lIns="0" tIns="0" rIns="0" bIns="0" rtlCol="0"/>
          <a:lstStyle/>
          <a:p>
            <a:endParaRPr sz="1055"/>
          </a:p>
        </p:txBody>
      </p:sp>
      <p:sp>
        <p:nvSpPr>
          <p:cNvPr id="71" name="object 71"/>
          <p:cNvSpPr/>
          <p:nvPr/>
        </p:nvSpPr>
        <p:spPr>
          <a:xfrm>
            <a:off x="2603360" y="2601290"/>
            <a:ext cx="12390" cy="31478"/>
          </a:xfrm>
          <a:custGeom>
            <a:avLst/>
            <a:gdLst/>
            <a:ahLst/>
            <a:cxnLst/>
            <a:rect l="l" t="t" r="r" b="b"/>
            <a:pathLst>
              <a:path w="23494" h="59689">
                <a:moveTo>
                  <a:pt x="0" y="0"/>
                </a:moveTo>
                <a:lnTo>
                  <a:pt x="23036" y="59173"/>
                </a:lnTo>
              </a:path>
            </a:pathLst>
          </a:custGeom>
          <a:ln w="12699">
            <a:solidFill>
              <a:srgbClr val="0365C0"/>
            </a:solidFill>
          </a:ln>
        </p:spPr>
        <p:txBody>
          <a:bodyPr wrap="square" lIns="0" tIns="0" rIns="0" bIns="0" rtlCol="0"/>
          <a:lstStyle/>
          <a:p>
            <a:endParaRPr sz="1055"/>
          </a:p>
        </p:txBody>
      </p:sp>
      <p:sp>
        <p:nvSpPr>
          <p:cNvPr id="72" name="object 72"/>
          <p:cNvSpPr/>
          <p:nvPr/>
        </p:nvSpPr>
        <p:spPr>
          <a:xfrm>
            <a:off x="2355088" y="2709416"/>
            <a:ext cx="174464" cy="30473"/>
          </a:xfrm>
          <a:custGeom>
            <a:avLst/>
            <a:gdLst/>
            <a:ahLst/>
            <a:cxnLst/>
            <a:rect l="l" t="t" r="r" b="b"/>
            <a:pathLst>
              <a:path w="330835" h="57785">
                <a:moveTo>
                  <a:pt x="0" y="57189"/>
                </a:moveTo>
                <a:lnTo>
                  <a:pt x="48706" y="33838"/>
                </a:lnTo>
                <a:lnTo>
                  <a:pt x="93043" y="18436"/>
                </a:lnTo>
                <a:lnTo>
                  <a:pt x="138423" y="7662"/>
                </a:lnTo>
                <a:lnTo>
                  <a:pt x="184846" y="1517"/>
                </a:lnTo>
                <a:lnTo>
                  <a:pt x="232312" y="0"/>
                </a:lnTo>
                <a:lnTo>
                  <a:pt x="280821" y="3110"/>
                </a:lnTo>
                <a:lnTo>
                  <a:pt x="330374" y="10849"/>
                </a:lnTo>
              </a:path>
            </a:pathLst>
          </a:custGeom>
          <a:ln w="12700">
            <a:solidFill>
              <a:srgbClr val="0365C0"/>
            </a:solidFill>
          </a:ln>
        </p:spPr>
        <p:txBody>
          <a:bodyPr wrap="square" lIns="0" tIns="0" rIns="0" bIns="0" rtlCol="0"/>
          <a:lstStyle/>
          <a:p>
            <a:endParaRPr sz="1055"/>
          </a:p>
        </p:txBody>
      </p:sp>
      <p:sp>
        <p:nvSpPr>
          <p:cNvPr id="73" name="object 73"/>
          <p:cNvSpPr/>
          <p:nvPr/>
        </p:nvSpPr>
        <p:spPr>
          <a:xfrm>
            <a:off x="2329402" y="2720699"/>
            <a:ext cx="39179" cy="34826"/>
          </a:xfrm>
          <a:custGeom>
            <a:avLst/>
            <a:gdLst/>
            <a:ahLst/>
            <a:cxnLst/>
            <a:rect l="l" t="t" r="r" b="b"/>
            <a:pathLst>
              <a:path w="74294" h="66039">
                <a:moveTo>
                  <a:pt x="34192" y="0"/>
                </a:moveTo>
                <a:lnTo>
                  <a:pt x="0" y="65686"/>
                </a:lnTo>
                <a:lnTo>
                  <a:pt x="74049" y="64945"/>
                </a:lnTo>
              </a:path>
            </a:pathLst>
          </a:custGeom>
          <a:ln w="12699">
            <a:solidFill>
              <a:srgbClr val="0365C0"/>
            </a:solidFill>
          </a:ln>
        </p:spPr>
        <p:txBody>
          <a:bodyPr wrap="square" lIns="0" tIns="0" rIns="0" bIns="0" rtlCol="0"/>
          <a:lstStyle/>
          <a:p>
            <a:endParaRPr sz="1055"/>
          </a:p>
        </p:txBody>
      </p:sp>
      <p:sp>
        <p:nvSpPr>
          <p:cNvPr id="74" name="object 74"/>
          <p:cNvSpPr/>
          <p:nvPr/>
        </p:nvSpPr>
        <p:spPr>
          <a:xfrm>
            <a:off x="2329401" y="2737823"/>
            <a:ext cx="28799" cy="17748"/>
          </a:xfrm>
          <a:custGeom>
            <a:avLst/>
            <a:gdLst/>
            <a:ahLst/>
            <a:cxnLst/>
            <a:rect l="l" t="t" r="r" b="b"/>
            <a:pathLst>
              <a:path w="54610" h="33654">
                <a:moveTo>
                  <a:pt x="54121" y="0"/>
                </a:moveTo>
                <a:lnTo>
                  <a:pt x="0" y="33213"/>
                </a:lnTo>
              </a:path>
            </a:pathLst>
          </a:custGeom>
          <a:ln w="12699">
            <a:solidFill>
              <a:srgbClr val="0365C0"/>
            </a:solidFill>
          </a:ln>
        </p:spPr>
        <p:txBody>
          <a:bodyPr wrap="square" lIns="0" tIns="0" rIns="0" bIns="0" rtlCol="0"/>
          <a:lstStyle/>
          <a:p>
            <a:endParaRPr sz="1055"/>
          </a:p>
        </p:txBody>
      </p:sp>
      <p:sp>
        <p:nvSpPr>
          <p:cNvPr id="75" name="object 75"/>
          <p:cNvSpPr/>
          <p:nvPr/>
        </p:nvSpPr>
        <p:spPr>
          <a:xfrm>
            <a:off x="2463162" y="2820223"/>
            <a:ext cx="75679" cy="185849"/>
          </a:xfrm>
          <a:custGeom>
            <a:avLst/>
            <a:gdLst/>
            <a:ahLst/>
            <a:cxnLst/>
            <a:rect l="l" t="t" r="r" b="b"/>
            <a:pathLst>
              <a:path w="143510" h="352425">
                <a:moveTo>
                  <a:pt x="120617" y="351870"/>
                </a:moveTo>
                <a:lnTo>
                  <a:pt x="71330" y="318853"/>
                </a:lnTo>
                <a:lnTo>
                  <a:pt x="37997" y="287719"/>
                </a:lnTo>
                <a:lnTo>
                  <a:pt x="14998" y="255511"/>
                </a:lnTo>
                <a:lnTo>
                  <a:pt x="0" y="187876"/>
                </a:lnTo>
                <a:lnTo>
                  <a:pt x="8000" y="152448"/>
                </a:lnTo>
                <a:lnTo>
                  <a:pt x="26334" y="115946"/>
                </a:lnTo>
                <a:lnTo>
                  <a:pt x="55001" y="78371"/>
                </a:lnTo>
                <a:lnTo>
                  <a:pt x="94001" y="39722"/>
                </a:lnTo>
                <a:lnTo>
                  <a:pt x="143333" y="0"/>
                </a:lnTo>
              </a:path>
            </a:pathLst>
          </a:custGeom>
          <a:ln w="12700">
            <a:solidFill>
              <a:srgbClr val="0365C0"/>
            </a:solidFill>
          </a:ln>
        </p:spPr>
        <p:txBody>
          <a:bodyPr wrap="square" lIns="0" tIns="0" rIns="0" bIns="0" rtlCol="0"/>
          <a:lstStyle/>
          <a:p>
            <a:endParaRPr sz="1055"/>
          </a:p>
        </p:txBody>
      </p:sp>
      <p:sp>
        <p:nvSpPr>
          <p:cNvPr id="76" name="object 76"/>
          <p:cNvSpPr/>
          <p:nvPr/>
        </p:nvSpPr>
        <p:spPr>
          <a:xfrm>
            <a:off x="2514451" y="2986439"/>
            <a:ext cx="39179" cy="35831"/>
          </a:xfrm>
          <a:custGeom>
            <a:avLst/>
            <a:gdLst/>
            <a:ahLst/>
            <a:cxnLst/>
            <a:rect l="l" t="t" r="r" b="b"/>
            <a:pathLst>
              <a:path w="74294" h="67945">
                <a:moveTo>
                  <a:pt x="0" y="67436"/>
                </a:moveTo>
                <a:lnTo>
                  <a:pt x="73936" y="63284"/>
                </a:lnTo>
                <a:lnTo>
                  <a:pt x="35479" y="0"/>
                </a:lnTo>
              </a:path>
            </a:pathLst>
          </a:custGeom>
          <a:ln w="12699">
            <a:solidFill>
              <a:srgbClr val="0365C0"/>
            </a:solidFill>
          </a:ln>
        </p:spPr>
        <p:txBody>
          <a:bodyPr wrap="square" lIns="0" tIns="0" rIns="0" bIns="0" rtlCol="0"/>
          <a:lstStyle/>
          <a:p>
            <a:endParaRPr sz="1055"/>
          </a:p>
        </p:txBody>
      </p:sp>
      <p:sp>
        <p:nvSpPr>
          <p:cNvPr id="77" name="object 77"/>
          <p:cNvSpPr/>
          <p:nvPr/>
        </p:nvSpPr>
        <p:spPr>
          <a:xfrm>
            <a:off x="2523805" y="3004221"/>
            <a:ext cx="29803" cy="15739"/>
          </a:xfrm>
          <a:custGeom>
            <a:avLst/>
            <a:gdLst/>
            <a:ahLst/>
            <a:cxnLst/>
            <a:rect l="l" t="t" r="r" b="b"/>
            <a:pathLst>
              <a:path w="56514" h="29845">
                <a:moveTo>
                  <a:pt x="0" y="0"/>
                </a:moveTo>
                <a:lnTo>
                  <a:pt x="56196" y="29566"/>
                </a:lnTo>
              </a:path>
            </a:pathLst>
          </a:custGeom>
          <a:ln w="12699">
            <a:solidFill>
              <a:srgbClr val="0365C0"/>
            </a:solidFill>
          </a:ln>
        </p:spPr>
        <p:txBody>
          <a:bodyPr wrap="square" lIns="0" tIns="0" rIns="0" bIns="0" rtlCol="0"/>
          <a:lstStyle/>
          <a:p>
            <a:endParaRPr sz="1055"/>
          </a:p>
        </p:txBody>
      </p:sp>
      <p:sp>
        <p:nvSpPr>
          <p:cNvPr id="78" name="object 78"/>
          <p:cNvSpPr/>
          <p:nvPr/>
        </p:nvSpPr>
        <p:spPr>
          <a:xfrm>
            <a:off x="2487641" y="3181425"/>
            <a:ext cx="153702" cy="110505"/>
          </a:xfrm>
          <a:custGeom>
            <a:avLst/>
            <a:gdLst/>
            <a:ahLst/>
            <a:cxnLst/>
            <a:rect l="l" t="t" r="r" b="b"/>
            <a:pathLst>
              <a:path w="291464" h="209550">
                <a:moveTo>
                  <a:pt x="291170" y="0"/>
                </a:moveTo>
                <a:lnTo>
                  <a:pt x="267168" y="49139"/>
                </a:lnTo>
                <a:lnTo>
                  <a:pt x="239851" y="91708"/>
                </a:lnTo>
                <a:lnTo>
                  <a:pt x="209218" y="127707"/>
                </a:lnTo>
                <a:lnTo>
                  <a:pt x="175270" y="157136"/>
                </a:lnTo>
                <a:lnTo>
                  <a:pt x="138007" y="179995"/>
                </a:lnTo>
                <a:lnTo>
                  <a:pt x="97428" y="196284"/>
                </a:lnTo>
                <a:lnTo>
                  <a:pt x="53534" y="206003"/>
                </a:lnTo>
                <a:lnTo>
                  <a:pt x="6324" y="209152"/>
                </a:lnTo>
                <a:lnTo>
                  <a:pt x="0" y="208560"/>
                </a:lnTo>
              </a:path>
            </a:pathLst>
          </a:custGeom>
          <a:ln w="12700">
            <a:solidFill>
              <a:srgbClr val="0365C0"/>
            </a:solidFill>
          </a:ln>
        </p:spPr>
        <p:txBody>
          <a:bodyPr wrap="square" lIns="0" tIns="0" rIns="0" bIns="0" rtlCol="0"/>
          <a:lstStyle/>
          <a:p>
            <a:endParaRPr sz="1055"/>
          </a:p>
        </p:txBody>
      </p:sp>
      <p:sp>
        <p:nvSpPr>
          <p:cNvPr id="79" name="object 79"/>
          <p:cNvSpPr/>
          <p:nvPr/>
        </p:nvSpPr>
        <p:spPr>
          <a:xfrm>
            <a:off x="2457636" y="3271717"/>
            <a:ext cx="35495" cy="40184"/>
          </a:xfrm>
          <a:custGeom>
            <a:avLst/>
            <a:gdLst/>
            <a:ahLst/>
            <a:cxnLst/>
            <a:rect l="l" t="t" r="r" b="b"/>
            <a:pathLst>
              <a:path w="67310" h="76200">
                <a:moveTo>
                  <a:pt x="66777" y="0"/>
                </a:moveTo>
                <a:lnTo>
                  <a:pt x="0" y="32010"/>
                </a:lnTo>
                <a:lnTo>
                  <a:pt x="59668" y="75867"/>
                </a:lnTo>
              </a:path>
            </a:pathLst>
          </a:custGeom>
          <a:ln w="12699">
            <a:solidFill>
              <a:srgbClr val="0365C0"/>
            </a:solidFill>
          </a:ln>
        </p:spPr>
        <p:txBody>
          <a:bodyPr wrap="square" lIns="0" tIns="0" rIns="0" bIns="0" rtlCol="0"/>
          <a:lstStyle/>
          <a:p>
            <a:endParaRPr sz="1055"/>
          </a:p>
        </p:txBody>
      </p:sp>
      <p:sp>
        <p:nvSpPr>
          <p:cNvPr id="80" name="object 80"/>
          <p:cNvSpPr/>
          <p:nvPr/>
        </p:nvSpPr>
        <p:spPr>
          <a:xfrm>
            <a:off x="2457635" y="3288597"/>
            <a:ext cx="33486" cy="3349"/>
          </a:xfrm>
          <a:custGeom>
            <a:avLst/>
            <a:gdLst/>
            <a:ahLst/>
            <a:cxnLst/>
            <a:rect l="l" t="t" r="r" b="b"/>
            <a:pathLst>
              <a:path w="63500" h="6350">
                <a:moveTo>
                  <a:pt x="63223" y="5923"/>
                </a:moveTo>
                <a:lnTo>
                  <a:pt x="0" y="0"/>
                </a:lnTo>
              </a:path>
            </a:pathLst>
          </a:custGeom>
          <a:ln w="12699">
            <a:solidFill>
              <a:srgbClr val="0365C0"/>
            </a:solidFill>
          </a:ln>
        </p:spPr>
        <p:txBody>
          <a:bodyPr wrap="square" lIns="0" tIns="0" rIns="0" bIns="0" rtlCol="0"/>
          <a:lstStyle/>
          <a:p>
            <a:endParaRPr sz="1055"/>
          </a:p>
        </p:txBody>
      </p:sp>
      <p:graphicFrame>
        <p:nvGraphicFramePr>
          <p:cNvPr id="81" name="object 81"/>
          <p:cNvGraphicFramePr>
            <a:graphicFrameLocks noGrp="1"/>
          </p:cNvGraphicFramePr>
          <p:nvPr>
            <p:extLst/>
          </p:nvPr>
        </p:nvGraphicFramePr>
        <p:xfrm>
          <a:off x="6390607" y="2246282"/>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2" name="object 82"/>
          <p:cNvGraphicFramePr>
            <a:graphicFrameLocks noGrp="1"/>
          </p:cNvGraphicFramePr>
          <p:nvPr>
            <p:extLst/>
          </p:nvPr>
        </p:nvGraphicFramePr>
        <p:xfrm>
          <a:off x="6390607" y="2475884"/>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3" name="object 83"/>
          <p:cNvGraphicFramePr>
            <a:graphicFrameLocks noGrp="1"/>
          </p:cNvGraphicFramePr>
          <p:nvPr>
            <p:extLst/>
          </p:nvPr>
        </p:nvGraphicFramePr>
        <p:xfrm>
          <a:off x="6390607" y="2705486"/>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4" name="object 84"/>
          <p:cNvGraphicFramePr>
            <a:graphicFrameLocks noGrp="1"/>
          </p:cNvGraphicFramePr>
          <p:nvPr>
            <p:extLst/>
          </p:nvPr>
        </p:nvGraphicFramePr>
        <p:xfrm>
          <a:off x="6390607" y="2935089"/>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5" name="object 85"/>
          <p:cNvGraphicFramePr>
            <a:graphicFrameLocks noGrp="1"/>
          </p:cNvGraphicFramePr>
          <p:nvPr>
            <p:extLst/>
          </p:nvPr>
        </p:nvGraphicFramePr>
        <p:xfrm>
          <a:off x="6390607" y="3164691"/>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sp>
        <p:nvSpPr>
          <p:cNvPr id="86" name="object 86"/>
          <p:cNvSpPr/>
          <p:nvPr/>
        </p:nvSpPr>
        <p:spPr>
          <a:xfrm>
            <a:off x="1713324"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7" name="object 87"/>
          <p:cNvSpPr/>
          <p:nvPr/>
        </p:nvSpPr>
        <p:spPr>
          <a:xfrm>
            <a:off x="729196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8" name="object 88"/>
          <p:cNvSpPr txBox="1"/>
          <p:nvPr/>
        </p:nvSpPr>
        <p:spPr>
          <a:xfrm>
            <a:off x="2174379" y="1727895"/>
            <a:ext cx="514350"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解析器</a:t>
            </a:r>
            <a:endParaRPr sz="1319" b="1" dirty="0">
              <a:latin typeface="Lucida Sans Unicode"/>
              <a:cs typeface="Lucida Sans Unicode"/>
            </a:endParaRPr>
          </a:p>
        </p:txBody>
      </p:sp>
      <p:sp>
        <p:nvSpPr>
          <p:cNvPr id="89" name="object 89"/>
          <p:cNvSpPr txBox="1"/>
          <p:nvPr/>
        </p:nvSpPr>
        <p:spPr>
          <a:xfrm>
            <a:off x="3667870" y="1727895"/>
            <a:ext cx="1804913"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匹配</a:t>
            </a:r>
            <a:r>
              <a:rPr lang="en-US" altLang="zh-CN" sz="1319" b="1" spc="-3" dirty="0">
                <a:latin typeface="Lucida Sans Unicode"/>
                <a:cs typeface="Lucida Sans Unicode"/>
              </a:rPr>
              <a:t>-</a:t>
            </a:r>
            <a:r>
              <a:rPr lang="zh-CN" altLang="en-US" sz="1319" b="1" spc="-3" dirty="0">
                <a:latin typeface="Lucida Sans Unicode"/>
                <a:cs typeface="Lucida Sans Unicode"/>
              </a:rPr>
              <a:t>动作流水线</a:t>
            </a:r>
            <a:endParaRPr sz="1319" b="1" dirty="0">
              <a:latin typeface="Lucida Sans Unicode"/>
              <a:cs typeface="Lucida Sans Unicode"/>
            </a:endParaRPr>
          </a:p>
        </p:txBody>
      </p:sp>
      <p:sp>
        <p:nvSpPr>
          <p:cNvPr id="90" name="object 90"/>
          <p:cNvSpPr txBox="1"/>
          <p:nvPr/>
        </p:nvSpPr>
        <p:spPr>
          <a:xfrm>
            <a:off x="6346776" y="1727895"/>
            <a:ext cx="745741"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逆解析器</a:t>
            </a:r>
            <a:endParaRPr sz="1319" b="1" dirty="0">
              <a:latin typeface="Lucida Sans Unicode"/>
              <a:cs typeface="Lucida Sans Unicode"/>
            </a:endParaRPr>
          </a:p>
        </p:txBody>
      </p:sp>
      <p:sp>
        <p:nvSpPr>
          <p:cNvPr id="98"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01"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程序核心组件</a:t>
            </a:r>
          </a:p>
        </p:txBody>
      </p:sp>
    </p:spTree>
    <p:extLst>
      <p:ext uri="{BB962C8B-B14F-4D97-AF65-F5344CB8AC3E}">
        <p14:creationId xmlns:p14="http://schemas.microsoft.com/office/powerpoint/2010/main" val="631845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3" name="object 3"/>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4" name="object 4"/>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5" name="object 5"/>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6" name="object 6"/>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7" name="object 7"/>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8" name="object 8"/>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9" name="object 9"/>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10" name="object 10"/>
          <p:cNvSpPr/>
          <p:nvPr/>
        </p:nvSpPr>
        <p:spPr>
          <a:xfrm>
            <a:off x="3404708"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1" name="object 11"/>
          <p:cNvSpPr/>
          <p:nvPr/>
        </p:nvSpPr>
        <p:spPr>
          <a:xfrm>
            <a:off x="3842130" y="2241580"/>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2" name="object 12"/>
          <p:cNvSpPr/>
          <p:nvPr/>
        </p:nvSpPr>
        <p:spPr>
          <a:xfrm>
            <a:off x="3404708"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3" name="object 13"/>
          <p:cNvSpPr/>
          <p:nvPr/>
        </p:nvSpPr>
        <p:spPr>
          <a:xfrm>
            <a:off x="3842130" y="242912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4" name="object 14"/>
          <p:cNvSpPr/>
          <p:nvPr/>
        </p:nvSpPr>
        <p:spPr>
          <a:xfrm>
            <a:off x="3404708"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5" name="object 15"/>
          <p:cNvSpPr/>
          <p:nvPr/>
        </p:nvSpPr>
        <p:spPr>
          <a:xfrm>
            <a:off x="3842130" y="2616673"/>
            <a:ext cx="176808" cy="156047"/>
          </a:xfrm>
          <a:custGeom>
            <a:avLst/>
            <a:gdLst/>
            <a:ahLst/>
            <a:cxnLst/>
            <a:rect l="l" t="t" r="r" b="b"/>
            <a:pathLst>
              <a:path w="335279" h="295910">
                <a:moveTo>
                  <a:pt x="0" y="0"/>
                </a:moveTo>
                <a:lnTo>
                  <a:pt x="0" y="295757"/>
                </a:lnTo>
                <a:lnTo>
                  <a:pt x="334704" y="199443"/>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6" name="object 16"/>
          <p:cNvSpPr/>
          <p:nvPr/>
        </p:nvSpPr>
        <p:spPr>
          <a:xfrm>
            <a:off x="3404708"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7" name="object 17"/>
          <p:cNvSpPr/>
          <p:nvPr/>
        </p:nvSpPr>
        <p:spPr>
          <a:xfrm>
            <a:off x="3842130" y="2804220"/>
            <a:ext cx="176808" cy="156047"/>
          </a:xfrm>
          <a:custGeom>
            <a:avLst/>
            <a:gdLst/>
            <a:ahLst/>
            <a:cxnLst/>
            <a:rect l="l" t="t" r="r" b="b"/>
            <a:pathLst>
              <a:path w="335279" h="295910">
                <a:moveTo>
                  <a:pt x="0" y="0"/>
                </a:moveTo>
                <a:lnTo>
                  <a:pt x="0" y="295757"/>
                </a:lnTo>
                <a:lnTo>
                  <a:pt x="334704" y="199444"/>
                </a:lnTo>
                <a:lnTo>
                  <a:pt x="334704" y="86139"/>
                </a:lnTo>
                <a:lnTo>
                  <a:pt x="0" y="0"/>
                </a:lnTo>
                <a:close/>
              </a:path>
            </a:pathLst>
          </a:custGeom>
          <a:solidFill>
            <a:srgbClr val="F39019">
              <a:alpha val="75000"/>
            </a:srgbClr>
          </a:solidFill>
        </p:spPr>
        <p:txBody>
          <a:bodyPr wrap="square" lIns="0" tIns="0" rIns="0" bIns="0" rtlCol="0"/>
          <a:lstStyle/>
          <a:p>
            <a:endParaRPr sz="1055"/>
          </a:p>
        </p:txBody>
      </p:sp>
      <p:sp>
        <p:nvSpPr>
          <p:cNvPr id="18" name="object 18"/>
          <p:cNvSpPr/>
          <p:nvPr/>
        </p:nvSpPr>
        <p:spPr>
          <a:xfrm>
            <a:off x="3404708"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9" name="object 19"/>
          <p:cNvSpPr/>
          <p:nvPr/>
        </p:nvSpPr>
        <p:spPr>
          <a:xfrm>
            <a:off x="3842130" y="299176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0" name="object 20"/>
          <p:cNvSpPr/>
          <p:nvPr/>
        </p:nvSpPr>
        <p:spPr>
          <a:xfrm>
            <a:off x="3404708"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1" name="object 21"/>
          <p:cNvSpPr/>
          <p:nvPr/>
        </p:nvSpPr>
        <p:spPr>
          <a:xfrm>
            <a:off x="3842130" y="3179314"/>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2" name="object 22"/>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23" name="object 23"/>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24" name="object 24"/>
          <p:cNvSpPr/>
          <p:nvPr/>
        </p:nvSpPr>
        <p:spPr>
          <a:xfrm>
            <a:off x="4254379"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5" name="object 25"/>
          <p:cNvSpPr/>
          <p:nvPr/>
        </p:nvSpPr>
        <p:spPr>
          <a:xfrm>
            <a:off x="4691801"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6" name="object 26"/>
          <p:cNvSpPr/>
          <p:nvPr/>
        </p:nvSpPr>
        <p:spPr>
          <a:xfrm>
            <a:off x="4254379"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7" name="object 27"/>
          <p:cNvSpPr/>
          <p:nvPr/>
        </p:nvSpPr>
        <p:spPr>
          <a:xfrm>
            <a:off x="4691801"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8" name="object 28"/>
          <p:cNvSpPr/>
          <p:nvPr/>
        </p:nvSpPr>
        <p:spPr>
          <a:xfrm>
            <a:off x="4254379"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9" name="object 29"/>
          <p:cNvSpPr/>
          <p:nvPr/>
        </p:nvSpPr>
        <p:spPr>
          <a:xfrm>
            <a:off x="4691801"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0" name="object 30"/>
          <p:cNvSpPr/>
          <p:nvPr/>
        </p:nvSpPr>
        <p:spPr>
          <a:xfrm>
            <a:off x="4254379"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1" name="object 31"/>
          <p:cNvSpPr/>
          <p:nvPr/>
        </p:nvSpPr>
        <p:spPr>
          <a:xfrm>
            <a:off x="4691801"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32" name="object 32"/>
          <p:cNvSpPr/>
          <p:nvPr/>
        </p:nvSpPr>
        <p:spPr>
          <a:xfrm>
            <a:off x="4254379"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3" name="object 33"/>
          <p:cNvSpPr/>
          <p:nvPr/>
        </p:nvSpPr>
        <p:spPr>
          <a:xfrm>
            <a:off x="4691801"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4" name="object 34"/>
          <p:cNvSpPr/>
          <p:nvPr/>
        </p:nvSpPr>
        <p:spPr>
          <a:xfrm>
            <a:off x="4254379"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5" name="object 35"/>
          <p:cNvSpPr/>
          <p:nvPr/>
        </p:nvSpPr>
        <p:spPr>
          <a:xfrm>
            <a:off x="4691801"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6" name="object 36"/>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37" name="object 37"/>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38" name="object 38"/>
          <p:cNvSpPr/>
          <p:nvPr/>
        </p:nvSpPr>
        <p:spPr>
          <a:xfrm>
            <a:off x="5117098" y="2240956"/>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9" name="object 39"/>
          <p:cNvSpPr/>
          <p:nvPr/>
        </p:nvSpPr>
        <p:spPr>
          <a:xfrm>
            <a:off x="5554522"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0" name="object 40"/>
          <p:cNvSpPr/>
          <p:nvPr/>
        </p:nvSpPr>
        <p:spPr>
          <a:xfrm>
            <a:off x="5117098" y="242850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1" name="object 41"/>
          <p:cNvSpPr/>
          <p:nvPr/>
        </p:nvSpPr>
        <p:spPr>
          <a:xfrm>
            <a:off x="5554522"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2" name="object 42"/>
          <p:cNvSpPr/>
          <p:nvPr/>
        </p:nvSpPr>
        <p:spPr>
          <a:xfrm>
            <a:off x="5117098" y="2616050"/>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3" name="object 43"/>
          <p:cNvSpPr/>
          <p:nvPr/>
        </p:nvSpPr>
        <p:spPr>
          <a:xfrm>
            <a:off x="5554522"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4" name="object 44"/>
          <p:cNvSpPr/>
          <p:nvPr/>
        </p:nvSpPr>
        <p:spPr>
          <a:xfrm>
            <a:off x="5117098" y="2803595"/>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5" name="object 45"/>
          <p:cNvSpPr/>
          <p:nvPr/>
        </p:nvSpPr>
        <p:spPr>
          <a:xfrm>
            <a:off x="5554522"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46" name="object 46"/>
          <p:cNvSpPr/>
          <p:nvPr/>
        </p:nvSpPr>
        <p:spPr>
          <a:xfrm>
            <a:off x="5117098" y="299114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7" name="object 47"/>
          <p:cNvSpPr/>
          <p:nvPr/>
        </p:nvSpPr>
        <p:spPr>
          <a:xfrm>
            <a:off x="5554522"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8" name="object 48"/>
          <p:cNvSpPr/>
          <p:nvPr/>
        </p:nvSpPr>
        <p:spPr>
          <a:xfrm>
            <a:off x="5117098" y="3178689"/>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9" name="object 49"/>
          <p:cNvSpPr/>
          <p:nvPr/>
        </p:nvSpPr>
        <p:spPr>
          <a:xfrm>
            <a:off x="5554522"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50" name="object 50"/>
          <p:cNvSpPr/>
          <p:nvPr/>
        </p:nvSpPr>
        <p:spPr>
          <a:xfrm>
            <a:off x="4078936"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1" name="object 51"/>
          <p:cNvSpPr/>
          <p:nvPr/>
        </p:nvSpPr>
        <p:spPr>
          <a:xfrm>
            <a:off x="4936390"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2" name="object 52"/>
          <p:cNvSpPr/>
          <p:nvPr/>
        </p:nvSpPr>
        <p:spPr>
          <a:xfrm>
            <a:off x="300397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3" name="object 53"/>
          <p:cNvSpPr/>
          <p:nvPr/>
        </p:nvSpPr>
        <p:spPr>
          <a:xfrm>
            <a:off x="6005441"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4" name="object 54"/>
          <p:cNvSpPr/>
          <p:nvPr/>
        </p:nvSpPr>
        <p:spPr>
          <a:xfrm>
            <a:off x="2112294" y="2359949"/>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5"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5" name="object 55"/>
          <p:cNvSpPr/>
          <p:nvPr/>
        </p:nvSpPr>
        <p:spPr>
          <a:xfrm>
            <a:off x="2112295" y="2359949"/>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6" name="object 56"/>
          <p:cNvSpPr/>
          <p:nvPr/>
        </p:nvSpPr>
        <p:spPr>
          <a:xfrm>
            <a:off x="2524481" y="2637001"/>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7" name="object 57"/>
          <p:cNvSpPr/>
          <p:nvPr/>
        </p:nvSpPr>
        <p:spPr>
          <a:xfrm>
            <a:off x="2524482" y="2637002"/>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8" name="object 58"/>
          <p:cNvSpPr/>
          <p:nvPr/>
        </p:nvSpPr>
        <p:spPr>
          <a:xfrm>
            <a:off x="2120828" y="2723370"/>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4"/>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4"/>
                </a:lnTo>
                <a:lnTo>
                  <a:pt x="431284" y="314622"/>
                </a:lnTo>
                <a:lnTo>
                  <a:pt x="443577" y="272261"/>
                </a:lnTo>
                <a:lnTo>
                  <a:pt x="447675" y="228600"/>
                </a:lnTo>
                <a:lnTo>
                  <a:pt x="443577" y="184939"/>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59" name="object 59"/>
          <p:cNvSpPr/>
          <p:nvPr/>
        </p:nvSpPr>
        <p:spPr>
          <a:xfrm>
            <a:off x="2120827" y="2723370"/>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0" name="object 60"/>
          <p:cNvSpPr/>
          <p:nvPr/>
        </p:nvSpPr>
        <p:spPr>
          <a:xfrm>
            <a:off x="2553833" y="2941821"/>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61" name="object 61"/>
          <p:cNvSpPr/>
          <p:nvPr/>
        </p:nvSpPr>
        <p:spPr>
          <a:xfrm>
            <a:off x="2553833" y="2941821"/>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2" name="object 62"/>
          <p:cNvSpPr/>
          <p:nvPr/>
        </p:nvSpPr>
        <p:spPr>
          <a:xfrm>
            <a:off x="2220814" y="3126786"/>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4"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3" name="object 63"/>
          <p:cNvSpPr/>
          <p:nvPr/>
        </p:nvSpPr>
        <p:spPr>
          <a:xfrm>
            <a:off x="2220814" y="3126786"/>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4" name="object 64"/>
          <p:cNvSpPr/>
          <p:nvPr/>
        </p:nvSpPr>
        <p:spPr>
          <a:xfrm>
            <a:off x="2461915" y="2203448"/>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4"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5" name="object 65"/>
          <p:cNvSpPr/>
          <p:nvPr/>
        </p:nvSpPr>
        <p:spPr>
          <a:xfrm>
            <a:off x="2461915" y="2203447"/>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6" name="object 66"/>
          <p:cNvSpPr/>
          <p:nvPr/>
        </p:nvSpPr>
        <p:spPr>
          <a:xfrm>
            <a:off x="2285743" y="2254065"/>
            <a:ext cx="188528" cy="79028"/>
          </a:xfrm>
          <a:custGeom>
            <a:avLst/>
            <a:gdLst/>
            <a:ahLst/>
            <a:cxnLst/>
            <a:rect l="l" t="t" r="r" b="b"/>
            <a:pathLst>
              <a:path w="357505" h="149860">
                <a:moveTo>
                  <a:pt x="356988" y="21164"/>
                </a:moveTo>
                <a:lnTo>
                  <a:pt x="308172" y="7204"/>
                </a:lnTo>
                <a:lnTo>
                  <a:pt x="261729" y="149"/>
                </a:lnTo>
                <a:lnTo>
                  <a:pt x="217659" y="0"/>
                </a:lnTo>
                <a:lnTo>
                  <a:pt x="175963" y="6755"/>
                </a:lnTo>
                <a:lnTo>
                  <a:pt x="136639" y="20415"/>
                </a:lnTo>
                <a:lnTo>
                  <a:pt x="99688" y="40980"/>
                </a:lnTo>
                <a:lnTo>
                  <a:pt x="65110" y="68450"/>
                </a:lnTo>
                <a:lnTo>
                  <a:pt x="32905" y="102826"/>
                </a:lnTo>
                <a:lnTo>
                  <a:pt x="3072" y="144106"/>
                </a:lnTo>
                <a:lnTo>
                  <a:pt x="0" y="149686"/>
                </a:lnTo>
              </a:path>
            </a:pathLst>
          </a:custGeom>
          <a:ln w="12700">
            <a:solidFill>
              <a:srgbClr val="0365C0"/>
            </a:solidFill>
          </a:ln>
        </p:spPr>
        <p:txBody>
          <a:bodyPr wrap="square" lIns="0" tIns="0" rIns="0" bIns="0" rtlCol="0"/>
          <a:lstStyle/>
          <a:p>
            <a:endParaRPr sz="1055"/>
          </a:p>
        </p:txBody>
      </p:sp>
      <p:sp>
        <p:nvSpPr>
          <p:cNvPr id="67" name="object 67"/>
          <p:cNvSpPr/>
          <p:nvPr/>
        </p:nvSpPr>
        <p:spPr>
          <a:xfrm>
            <a:off x="2269759" y="2320378"/>
            <a:ext cx="35495" cy="39179"/>
          </a:xfrm>
          <a:custGeom>
            <a:avLst/>
            <a:gdLst/>
            <a:ahLst/>
            <a:cxnLst/>
            <a:rect l="l" t="t" r="r" b="b"/>
            <a:pathLst>
              <a:path w="67310" h="74295">
                <a:moveTo>
                  <a:pt x="0" y="0"/>
                </a:moveTo>
                <a:lnTo>
                  <a:pt x="2745" y="74002"/>
                </a:lnTo>
                <a:lnTo>
                  <a:pt x="66749" y="36755"/>
                </a:lnTo>
              </a:path>
            </a:pathLst>
          </a:custGeom>
          <a:ln w="12699">
            <a:solidFill>
              <a:srgbClr val="0365C0"/>
            </a:solidFill>
          </a:ln>
        </p:spPr>
        <p:txBody>
          <a:bodyPr wrap="square" lIns="0" tIns="0" rIns="0" bIns="0" rtlCol="0"/>
          <a:lstStyle/>
          <a:p>
            <a:endParaRPr sz="1055"/>
          </a:p>
        </p:txBody>
      </p:sp>
      <p:sp>
        <p:nvSpPr>
          <p:cNvPr id="68" name="object 68"/>
          <p:cNvSpPr/>
          <p:nvPr/>
        </p:nvSpPr>
        <p:spPr>
          <a:xfrm>
            <a:off x="2271206" y="2330068"/>
            <a:ext cx="16409" cy="29468"/>
          </a:xfrm>
          <a:custGeom>
            <a:avLst/>
            <a:gdLst/>
            <a:ahLst/>
            <a:cxnLst/>
            <a:rect l="l" t="t" r="r" b="b"/>
            <a:pathLst>
              <a:path w="31114" h="55879">
                <a:moveTo>
                  <a:pt x="30629" y="0"/>
                </a:moveTo>
                <a:lnTo>
                  <a:pt x="0" y="55624"/>
                </a:lnTo>
              </a:path>
            </a:pathLst>
          </a:custGeom>
          <a:ln w="12699">
            <a:solidFill>
              <a:srgbClr val="0365C0"/>
            </a:solidFill>
          </a:ln>
        </p:spPr>
        <p:txBody>
          <a:bodyPr wrap="square" lIns="0" tIns="0" rIns="0" bIns="0" rtlCol="0"/>
          <a:lstStyle/>
          <a:p>
            <a:endParaRPr sz="1055"/>
          </a:p>
        </p:txBody>
      </p:sp>
      <p:sp>
        <p:nvSpPr>
          <p:cNvPr id="69" name="object 69"/>
          <p:cNvSpPr/>
          <p:nvPr/>
        </p:nvSpPr>
        <p:spPr>
          <a:xfrm>
            <a:off x="2348741" y="2456158"/>
            <a:ext cx="255836" cy="148345"/>
          </a:xfrm>
          <a:custGeom>
            <a:avLst/>
            <a:gdLst/>
            <a:ahLst/>
            <a:cxnLst/>
            <a:rect l="l" t="t" r="r" b="b"/>
            <a:pathLst>
              <a:path w="485139" h="281304">
                <a:moveTo>
                  <a:pt x="0" y="2121"/>
                </a:moveTo>
                <a:lnTo>
                  <a:pt x="52280" y="4"/>
                </a:lnTo>
                <a:lnTo>
                  <a:pt x="102036" y="1741"/>
                </a:lnTo>
                <a:lnTo>
                  <a:pt x="149270" y="7332"/>
                </a:lnTo>
                <a:lnTo>
                  <a:pt x="193980" y="16776"/>
                </a:lnTo>
                <a:lnTo>
                  <a:pt x="236167" y="30075"/>
                </a:lnTo>
                <a:lnTo>
                  <a:pt x="275831" y="47227"/>
                </a:lnTo>
                <a:lnTo>
                  <a:pt x="312972" y="68233"/>
                </a:lnTo>
                <a:lnTo>
                  <a:pt x="347589" y="93093"/>
                </a:lnTo>
                <a:lnTo>
                  <a:pt x="379683" y="121807"/>
                </a:lnTo>
                <a:lnTo>
                  <a:pt x="409253" y="154375"/>
                </a:lnTo>
                <a:lnTo>
                  <a:pt x="436300" y="190796"/>
                </a:lnTo>
                <a:lnTo>
                  <a:pt x="460824" y="231072"/>
                </a:lnTo>
                <a:lnTo>
                  <a:pt x="482825" y="275201"/>
                </a:lnTo>
                <a:lnTo>
                  <a:pt x="485136" y="281136"/>
                </a:lnTo>
              </a:path>
            </a:pathLst>
          </a:custGeom>
          <a:ln w="12700">
            <a:solidFill>
              <a:srgbClr val="0365C0"/>
            </a:solidFill>
          </a:ln>
        </p:spPr>
        <p:txBody>
          <a:bodyPr wrap="square" lIns="0" tIns="0" rIns="0" bIns="0" rtlCol="0"/>
          <a:lstStyle/>
          <a:p>
            <a:endParaRPr sz="1055"/>
          </a:p>
        </p:txBody>
      </p:sp>
      <p:sp>
        <p:nvSpPr>
          <p:cNvPr id="70" name="object 70"/>
          <p:cNvSpPr/>
          <p:nvPr/>
        </p:nvSpPr>
        <p:spPr>
          <a:xfrm>
            <a:off x="2584636" y="2594002"/>
            <a:ext cx="37505" cy="38510"/>
          </a:xfrm>
          <a:custGeom>
            <a:avLst/>
            <a:gdLst/>
            <a:ahLst/>
            <a:cxnLst/>
            <a:rect l="l" t="t" r="r" b="b"/>
            <a:pathLst>
              <a:path w="71119" h="73025">
                <a:moveTo>
                  <a:pt x="0" y="27643"/>
                </a:moveTo>
                <a:lnTo>
                  <a:pt x="58541" y="72995"/>
                </a:lnTo>
                <a:lnTo>
                  <a:pt x="71008" y="0"/>
                </a:lnTo>
              </a:path>
            </a:pathLst>
          </a:custGeom>
          <a:ln w="12699">
            <a:solidFill>
              <a:srgbClr val="0365C0"/>
            </a:solidFill>
          </a:ln>
        </p:spPr>
        <p:txBody>
          <a:bodyPr wrap="square" lIns="0" tIns="0" rIns="0" bIns="0" rtlCol="0"/>
          <a:lstStyle/>
          <a:p>
            <a:endParaRPr sz="1055"/>
          </a:p>
        </p:txBody>
      </p:sp>
      <p:sp>
        <p:nvSpPr>
          <p:cNvPr id="71" name="object 71"/>
          <p:cNvSpPr/>
          <p:nvPr/>
        </p:nvSpPr>
        <p:spPr>
          <a:xfrm>
            <a:off x="2603360" y="2601290"/>
            <a:ext cx="12390" cy="31478"/>
          </a:xfrm>
          <a:custGeom>
            <a:avLst/>
            <a:gdLst/>
            <a:ahLst/>
            <a:cxnLst/>
            <a:rect l="l" t="t" r="r" b="b"/>
            <a:pathLst>
              <a:path w="23494" h="59689">
                <a:moveTo>
                  <a:pt x="0" y="0"/>
                </a:moveTo>
                <a:lnTo>
                  <a:pt x="23036" y="59173"/>
                </a:lnTo>
              </a:path>
            </a:pathLst>
          </a:custGeom>
          <a:ln w="12699">
            <a:solidFill>
              <a:srgbClr val="0365C0"/>
            </a:solidFill>
          </a:ln>
        </p:spPr>
        <p:txBody>
          <a:bodyPr wrap="square" lIns="0" tIns="0" rIns="0" bIns="0" rtlCol="0"/>
          <a:lstStyle/>
          <a:p>
            <a:endParaRPr sz="1055"/>
          </a:p>
        </p:txBody>
      </p:sp>
      <p:sp>
        <p:nvSpPr>
          <p:cNvPr id="72" name="object 72"/>
          <p:cNvSpPr/>
          <p:nvPr/>
        </p:nvSpPr>
        <p:spPr>
          <a:xfrm>
            <a:off x="2355088" y="2709416"/>
            <a:ext cx="174464" cy="30473"/>
          </a:xfrm>
          <a:custGeom>
            <a:avLst/>
            <a:gdLst/>
            <a:ahLst/>
            <a:cxnLst/>
            <a:rect l="l" t="t" r="r" b="b"/>
            <a:pathLst>
              <a:path w="330835" h="57785">
                <a:moveTo>
                  <a:pt x="0" y="57189"/>
                </a:moveTo>
                <a:lnTo>
                  <a:pt x="48706" y="33838"/>
                </a:lnTo>
                <a:lnTo>
                  <a:pt x="93043" y="18436"/>
                </a:lnTo>
                <a:lnTo>
                  <a:pt x="138423" y="7662"/>
                </a:lnTo>
                <a:lnTo>
                  <a:pt x="184846" y="1517"/>
                </a:lnTo>
                <a:lnTo>
                  <a:pt x="232312" y="0"/>
                </a:lnTo>
                <a:lnTo>
                  <a:pt x="280821" y="3110"/>
                </a:lnTo>
                <a:lnTo>
                  <a:pt x="330374" y="10849"/>
                </a:lnTo>
              </a:path>
            </a:pathLst>
          </a:custGeom>
          <a:ln w="12700">
            <a:solidFill>
              <a:srgbClr val="0365C0"/>
            </a:solidFill>
          </a:ln>
        </p:spPr>
        <p:txBody>
          <a:bodyPr wrap="square" lIns="0" tIns="0" rIns="0" bIns="0" rtlCol="0"/>
          <a:lstStyle/>
          <a:p>
            <a:endParaRPr sz="1055"/>
          </a:p>
        </p:txBody>
      </p:sp>
      <p:sp>
        <p:nvSpPr>
          <p:cNvPr id="73" name="object 73"/>
          <p:cNvSpPr/>
          <p:nvPr/>
        </p:nvSpPr>
        <p:spPr>
          <a:xfrm>
            <a:off x="2329402" y="2720699"/>
            <a:ext cx="39179" cy="34826"/>
          </a:xfrm>
          <a:custGeom>
            <a:avLst/>
            <a:gdLst/>
            <a:ahLst/>
            <a:cxnLst/>
            <a:rect l="l" t="t" r="r" b="b"/>
            <a:pathLst>
              <a:path w="74294" h="66039">
                <a:moveTo>
                  <a:pt x="34192" y="0"/>
                </a:moveTo>
                <a:lnTo>
                  <a:pt x="0" y="65686"/>
                </a:lnTo>
                <a:lnTo>
                  <a:pt x="74049" y="64945"/>
                </a:lnTo>
              </a:path>
            </a:pathLst>
          </a:custGeom>
          <a:ln w="12699">
            <a:solidFill>
              <a:srgbClr val="0365C0"/>
            </a:solidFill>
          </a:ln>
        </p:spPr>
        <p:txBody>
          <a:bodyPr wrap="square" lIns="0" tIns="0" rIns="0" bIns="0" rtlCol="0"/>
          <a:lstStyle/>
          <a:p>
            <a:endParaRPr sz="1055"/>
          </a:p>
        </p:txBody>
      </p:sp>
      <p:sp>
        <p:nvSpPr>
          <p:cNvPr id="74" name="object 74"/>
          <p:cNvSpPr/>
          <p:nvPr/>
        </p:nvSpPr>
        <p:spPr>
          <a:xfrm>
            <a:off x="2329401" y="2737823"/>
            <a:ext cx="28799" cy="17748"/>
          </a:xfrm>
          <a:custGeom>
            <a:avLst/>
            <a:gdLst/>
            <a:ahLst/>
            <a:cxnLst/>
            <a:rect l="l" t="t" r="r" b="b"/>
            <a:pathLst>
              <a:path w="54610" h="33654">
                <a:moveTo>
                  <a:pt x="54121" y="0"/>
                </a:moveTo>
                <a:lnTo>
                  <a:pt x="0" y="33213"/>
                </a:lnTo>
              </a:path>
            </a:pathLst>
          </a:custGeom>
          <a:ln w="12699">
            <a:solidFill>
              <a:srgbClr val="0365C0"/>
            </a:solidFill>
          </a:ln>
        </p:spPr>
        <p:txBody>
          <a:bodyPr wrap="square" lIns="0" tIns="0" rIns="0" bIns="0" rtlCol="0"/>
          <a:lstStyle/>
          <a:p>
            <a:endParaRPr sz="1055"/>
          </a:p>
        </p:txBody>
      </p:sp>
      <p:sp>
        <p:nvSpPr>
          <p:cNvPr id="75" name="object 75"/>
          <p:cNvSpPr/>
          <p:nvPr/>
        </p:nvSpPr>
        <p:spPr>
          <a:xfrm>
            <a:off x="2463162" y="2820223"/>
            <a:ext cx="75679" cy="185849"/>
          </a:xfrm>
          <a:custGeom>
            <a:avLst/>
            <a:gdLst/>
            <a:ahLst/>
            <a:cxnLst/>
            <a:rect l="l" t="t" r="r" b="b"/>
            <a:pathLst>
              <a:path w="143510" h="352425">
                <a:moveTo>
                  <a:pt x="120617" y="351870"/>
                </a:moveTo>
                <a:lnTo>
                  <a:pt x="71330" y="318853"/>
                </a:lnTo>
                <a:lnTo>
                  <a:pt x="37997" y="287719"/>
                </a:lnTo>
                <a:lnTo>
                  <a:pt x="14998" y="255511"/>
                </a:lnTo>
                <a:lnTo>
                  <a:pt x="0" y="187876"/>
                </a:lnTo>
                <a:lnTo>
                  <a:pt x="8000" y="152448"/>
                </a:lnTo>
                <a:lnTo>
                  <a:pt x="26334" y="115946"/>
                </a:lnTo>
                <a:lnTo>
                  <a:pt x="55001" y="78371"/>
                </a:lnTo>
                <a:lnTo>
                  <a:pt x="94001" y="39722"/>
                </a:lnTo>
                <a:lnTo>
                  <a:pt x="143333" y="0"/>
                </a:lnTo>
              </a:path>
            </a:pathLst>
          </a:custGeom>
          <a:ln w="12700">
            <a:solidFill>
              <a:srgbClr val="0365C0"/>
            </a:solidFill>
          </a:ln>
        </p:spPr>
        <p:txBody>
          <a:bodyPr wrap="square" lIns="0" tIns="0" rIns="0" bIns="0" rtlCol="0"/>
          <a:lstStyle/>
          <a:p>
            <a:endParaRPr sz="1055"/>
          </a:p>
        </p:txBody>
      </p:sp>
      <p:sp>
        <p:nvSpPr>
          <p:cNvPr id="76" name="object 76"/>
          <p:cNvSpPr/>
          <p:nvPr/>
        </p:nvSpPr>
        <p:spPr>
          <a:xfrm>
            <a:off x="2514451" y="2986439"/>
            <a:ext cx="39179" cy="35831"/>
          </a:xfrm>
          <a:custGeom>
            <a:avLst/>
            <a:gdLst/>
            <a:ahLst/>
            <a:cxnLst/>
            <a:rect l="l" t="t" r="r" b="b"/>
            <a:pathLst>
              <a:path w="74294" h="67945">
                <a:moveTo>
                  <a:pt x="0" y="67436"/>
                </a:moveTo>
                <a:lnTo>
                  <a:pt x="73936" y="63284"/>
                </a:lnTo>
                <a:lnTo>
                  <a:pt x="35479" y="0"/>
                </a:lnTo>
              </a:path>
            </a:pathLst>
          </a:custGeom>
          <a:ln w="12699">
            <a:solidFill>
              <a:srgbClr val="0365C0"/>
            </a:solidFill>
          </a:ln>
        </p:spPr>
        <p:txBody>
          <a:bodyPr wrap="square" lIns="0" tIns="0" rIns="0" bIns="0" rtlCol="0"/>
          <a:lstStyle/>
          <a:p>
            <a:endParaRPr sz="1055"/>
          </a:p>
        </p:txBody>
      </p:sp>
      <p:sp>
        <p:nvSpPr>
          <p:cNvPr id="77" name="object 77"/>
          <p:cNvSpPr/>
          <p:nvPr/>
        </p:nvSpPr>
        <p:spPr>
          <a:xfrm>
            <a:off x="2523805" y="3004221"/>
            <a:ext cx="29803" cy="15739"/>
          </a:xfrm>
          <a:custGeom>
            <a:avLst/>
            <a:gdLst/>
            <a:ahLst/>
            <a:cxnLst/>
            <a:rect l="l" t="t" r="r" b="b"/>
            <a:pathLst>
              <a:path w="56514" h="29845">
                <a:moveTo>
                  <a:pt x="0" y="0"/>
                </a:moveTo>
                <a:lnTo>
                  <a:pt x="56196" y="29566"/>
                </a:lnTo>
              </a:path>
            </a:pathLst>
          </a:custGeom>
          <a:ln w="12699">
            <a:solidFill>
              <a:srgbClr val="0365C0"/>
            </a:solidFill>
          </a:ln>
        </p:spPr>
        <p:txBody>
          <a:bodyPr wrap="square" lIns="0" tIns="0" rIns="0" bIns="0" rtlCol="0"/>
          <a:lstStyle/>
          <a:p>
            <a:endParaRPr sz="1055"/>
          </a:p>
        </p:txBody>
      </p:sp>
      <p:sp>
        <p:nvSpPr>
          <p:cNvPr id="78" name="object 78"/>
          <p:cNvSpPr/>
          <p:nvPr/>
        </p:nvSpPr>
        <p:spPr>
          <a:xfrm>
            <a:off x="2487641" y="3181425"/>
            <a:ext cx="153702" cy="110505"/>
          </a:xfrm>
          <a:custGeom>
            <a:avLst/>
            <a:gdLst/>
            <a:ahLst/>
            <a:cxnLst/>
            <a:rect l="l" t="t" r="r" b="b"/>
            <a:pathLst>
              <a:path w="291464" h="209550">
                <a:moveTo>
                  <a:pt x="291170" y="0"/>
                </a:moveTo>
                <a:lnTo>
                  <a:pt x="267168" y="49139"/>
                </a:lnTo>
                <a:lnTo>
                  <a:pt x="239851" y="91708"/>
                </a:lnTo>
                <a:lnTo>
                  <a:pt x="209218" y="127707"/>
                </a:lnTo>
                <a:lnTo>
                  <a:pt x="175270" y="157136"/>
                </a:lnTo>
                <a:lnTo>
                  <a:pt x="138007" y="179995"/>
                </a:lnTo>
                <a:lnTo>
                  <a:pt x="97428" y="196284"/>
                </a:lnTo>
                <a:lnTo>
                  <a:pt x="53534" y="206003"/>
                </a:lnTo>
                <a:lnTo>
                  <a:pt x="6324" y="209152"/>
                </a:lnTo>
                <a:lnTo>
                  <a:pt x="0" y="208560"/>
                </a:lnTo>
              </a:path>
            </a:pathLst>
          </a:custGeom>
          <a:ln w="12700">
            <a:solidFill>
              <a:srgbClr val="0365C0"/>
            </a:solidFill>
          </a:ln>
        </p:spPr>
        <p:txBody>
          <a:bodyPr wrap="square" lIns="0" tIns="0" rIns="0" bIns="0" rtlCol="0"/>
          <a:lstStyle/>
          <a:p>
            <a:endParaRPr sz="1055"/>
          </a:p>
        </p:txBody>
      </p:sp>
      <p:sp>
        <p:nvSpPr>
          <p:cNvPr id="79" name="object 79"/>
          <p:cNvSpPr/>
          <p:nvPr/>
        </p:nvSpPr>
        <p:spPr>
          <a:xfrm>
            <a:off x="2457636" y="3271717"/>
            <a:ext cx="35495" cy="40184"/>
          </a:xfrm>
          <a:custGeom>
            <a:avLst/>
            <a:gdLst/>
            <a:ahLst/>
            <a:cxnLst/>
            <a:rect l="l" t="t" r="r" b="b"/>
            <a:pathLst>
              <a:path w="67310" h="76200">
                <a:moveTo>
                  <a:pt x="66777" y="0"/>
                </a:moveTo>
                <a:lnTo>
                  <a:pt x="0" y="32010"/>
                </a:lnTo>
                <a:lnTo>
                  <a:pt x="59668" y="75867"/>
                </a:lnTo>
              </a:path>
            </a:pathLst>
          </a:custGeom>
          <a:ln w="12699">
            <a:solidFill>
              <a:srgbClr val="0365C0"/>
            </a:solidFill>
          </a:ln>
        </p:spPr>
        <p:txBody>
          <a:bodyPr wrap="square" lIns="0" tIns="0" rIns="0" bIns="0" rtlCol="0"/>
          <a:lstStyle/>
          <a:p>
            <a:endParaRPr sz="1055"/>
          </a:p>
        </p:txBody>
      </p:sp>
      <p:sp>
        <p:nvSpPr>
          <p:cNvPr id="80" name="object 80"/>
          <p:cNvSpPr/>
          <p:nvPr/>
        </p:nvSpPr>
        <p:spPr>
          <a:xfrm>
            <a:off x="2457635" y="3288597"/>
            <a:ext cx="33486" cy="3349"/>
          </a:xfrm>
          <a:custGeom>
            <a:avLst/>
            <a:gdLst/>
            <a:ahLst/>
            <a:cxnLst/>
            <a:rect l="l" t="t" r="r" b="b"/>
            <a:pathLst>
              <a:path w="63500" h="6350">
                <a:moveTo>
                  <a:pt x="63223" y="5923"/>
                </a:moveTo>
                <a:lnTo>
                  <a:pt x="0" y="0"/>
                </a:lnTo>
              </a:path>
            </a:pathLst>
          </a:custGeom>
          <a:ln w="12699">
            <a:solidFill>
              <a:srgbClr val="0365C0"/>
            </a:solidFill>
          </a:ln>
        </p:spPr>
        <p:txBody>
          <a:bodyPr wrap="square" lIns="0" tIns="0" rIns="0" bIns="0" rtlCol="0"/>
          <a:lstStyle/>
          <a:p>
            <a:endParaRPr sz="1055"/>
          </a:p>
        </p:txBody>
      </p:sp>
      <p:graphicFrame>
        <p:nvGraphicFramePr>
          <p:cNvPr id="81" name="object 81"/>
          <p:cNvGraphicFramePr>
            <a:graphicFrameLocks noGrp="1"/>
          </p:cNvGraphicFramePr>
          <p:nvPr>
            <p:extLst/>
          </p:nvPr>
        </p:nvGraphicFramePr>
        <p:xfrm>
          <a:off x="6390607" y="2246282"/>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2" name="object 82"/>
          <p:cNvGraphicFramePr>
            <a:graphicFrameLocks noGrp="1"/>
          </p:cNvGraphicFramePr>
          <p:nvPr>
            <p:extLst/>
          </p:nvPr>
        </p:nvGraphicFramePr>
        <p:xfrm>
          <a:off x="6390607" y="2475884"/>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3" name="object 83"/>
          <p:cNvGraphicFramePr>
            <a:graphicFrameLocks noGrp="1"/>
          </p:cNvGraphicFramePr>
          <p:nvPr>
            <p:extLst/>
          </p:nvPr>
        </p:nvGraphicFramePr>
        <p:xfrm>
          <a:off x="6390607" y="2705486"/>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4" name="object 84"/>
          <p:cNvGraphicFramePr>
            <a:graphicFrameLocks noGrp="1"/>
          </p:cNvGraphicFramePr>
          <p:nvPr>
            <p:extLst/>
          </p:nvPr>
        </p:nvGraphicFramePr>
        <p:xfrm>
          <a:off x="6390607" y="2935089"/>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5" name="object 85"/>
          <p:cNvGraphicFramePr>
            <a:graphicFrameLocks noGrp="1"/>
          </p:cNvGraphicFramePr>
          <p:nvPr>
            <p:extLst/>
          </p:nvPr>
        </p:nvGraphicFramePr>
        <p:xfrm>
          <a:off x="6390607" y="3164691"/>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sp>
        <p:nvSpPr>
          <p:cNvPr id="86" name="object 86"/>
          <p:cNvSpPr/>
          <p:nvPr/>
        </p:nvSpPr>
        <p:spPr>
          <a:xfrm>
            <a:off x="1713324"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7" name="object 87"/>
          <p:cNvSpPr/>
          <p:nvPr/>
        </p:nvSpPr>
        <p:spPr>
          <a:xfrm>
            <a:off x="729196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8" name="object 88"/>
          <p:cNvSpPr txBox="1"/>
          <p:nvPr/>
        </p:nvSpPr>
        <p:spPr>
          <a:xfrm>
            <a:off x="2381995" y="3810745"/>
            <a:ext cx="2750567" cy="481765"/>
          </a:xfrm>
          <a:prstGeom prst="rect">
            <a:avLst/>
          </a:prstGeom>
        </p:spPr>
        <p:txBody>
          <a:bodyPr vert="horz" wrap="square" lIns="0" tIns="6698" rIns="0" bIns="0" rtlCol="0">
            <a:spAutoFit/>
          </a:bodyPr>
          <a:lstStyle/>
          <a:p>
            <a:pPr marL="6697" marR="2679">
              <a:lnSpc>
                <a:spcPct val="116700"/>
              </a:lnSpc>
              <a:spcBef>
                <a:spcPts val="53"/>
              </a:spcBef>
            </a:pPr>
            <a:r>
              <a:rPr lang="zh-CN" altLang="en-US" sz="1319" spc="-3" dirty="0">
                <a:latin typeface="Lucida Sans Unicode"/>
                <a:cs typeface="Lucida Sans Unicode"/>
              </a:rPr>
              <a:t>声明要处理的首部字段，以及这些字段在分组中的顺序</a:t>
            </a:r>
            <a:endParaRPr lang="en-US" sz="1319" spc="-3" dirty="0">
              <a:latin typeface="Lucida Sans Unicode"/>
              <a:cs typeface="Lucida Sans Unicode"/>
            </a:endParaRPr>
          </a:p>
        </p:txBody>
      </p:sp>
      <p:sp>
        <p:nvSpPr>
          <p:cNvPr id="89" name="object 89"/>
          <p:cNvSpPr/>
          <p:nvPr/>
        </p:nvSpPr>
        <p:spPr>
          <a:xfrm>
            <a:off x="2419590" y="3435690"/>
            <a:ext cx="0" cy="245790"/>
          </a:xfrm>
          <a:custGeom>
            <a:avLst/>
            <a:gdLst/>
            <a:ahLst/>
            <a:cxnLst/>
            <a:rect l="l" t="t" r="r" b="b"/>
            <a:pathLst>
              <a:path h="466090">
                <a:moveTo>
                  <a:pt x="0" y="0"/>
                </a:moveTo>
                <a:lnTo>
                  <a:pt x="0" y="465650"/>
                </a:lnTo>
              </a:path>
            </a:pathLst>
          </a:custGeom>
          <a:ln w="25400">
            <a:solidFill>
              <a:srgbClr val="919191"/>
            </a:solidFill>
          </a:ln>
        </p:spPr>
        <p:txBody>
          <a:bodyPr wrap="square" lIns="0" tIns="0" rIns="0" bIns="0" rtlCol="0"/>
          <a:lstStyle/>
          <a:p>
            <a:endParaRPr sz="1055"/>
          </a:p>
        </p:txBody>
      </p:sp>
      <p:sp>
        <p:nvSpPr>
          <p:cNvPr id="90" name="object 90"/>
          <p:cNvSpPr/>
          <p:nvPr/>
        </p:nvSpPr>
        <p:spPr>
          <a:xfrm>
            <a:off x="2387444" y="3674550"/>
            <a:ext cx="64294" cy="64294"/>
          </a:xfrm>
          <a:custGeom>
            <a:avLst/>
            <a:gdLst/>
            <a:ahLst/>
            <a:cxnLst/>
            <a:rect l="l" t="t" r="r" b="b"/>
            <a:pathLst>
              <a:path w="121919" h="121920">
                <a:moveTo>
                  <a:pt x="121919" y="0"/>
                </a:moveTo>
                <a:lnTo>
                  <a:pt x="0" y="0"/>
                </a:lnTo>
                <a:lnTo>
                  <a:pt x="60959" y="121919"/>
                </a:lnTo>
                <a:lnTo>
                  <a:pt x="121919" y="0"/>
                </a:lnTo>
                <a:close/>
              </a:path>
            </a:pathLst>
          </a:custGeom>
          <a:solidFill>
            <a:srgbClr val="919191"/>
          </a:solidFill>
        </p:spPr>
        <p:txBody>
          <a:bodyPr wrap="square" lIns="0" tIns="0" rIns="0" bIns="0" rtlCol="0"/>
          <a:lstStyle/>
          <a:p>
            <a:endParaRPr sz="1055"/>
          </a:p>
        </p:txBody>
      </p:sp>
      <p:sp>
        <p:nvSpPr>
          <p:cNvPr id="94" name="object 88"/>
          <p:cNvSpPr txBox="1"/>
          <p:nvPr/>
        </p:nvSpPr>
        <p:spPr>
          <a:xfrm>
            <a:off x="2174379" y="1727895"/>
            <a:ext cx="514350"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解析器</a:t>
            </a:r>
            <a:endParaRPr sz="1319" b="1" dirty="0">
              <a:latin typeface="Lucida Sans Unicode"/>
              <a:cs typeface="Lucida Sans Unicode"/>
            </a:endParaRPr>
          </a:p>
        </p:txBody>
      </p:sp>
      <p:sp>
        <p:nvSpPr>
          <p:cNvPr id="95" name="object 89"/>
          <p:cNvSpPr txBox="1"/>
          <p:nvPr/>
        </p:nvSpPr>
        <p:spPr>
          <a:xfrm>
            <a:off x="3667870" y="1727895"/>
            <a:ext cx="1804913"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匹配</a:t>
            </a:r>
            <a:r>
              <a:rPr lang="en-US" altLang="zh-CN" sz="1319" b="1" spc="-3" dirty="0">
                <a:latin typeface="Lucida Sans Unicode"/>
                <a:cs typeface="Lucida Sans Unicode"/>
              </a:rPr>
              <a:t>-</a:t>
            </a:r>
            <a:r>
              <a:rPr lang="zh-CN" altLang="en-US" sz="1319" b="1" spc="-3" dirty="0">
                <a:latin typeface="Lucida Sans Unicode"/>
                <a:cs typeface="Lucida Sans Unicode"/>
              </a:rPr>
              <a:t>动作流水线</a:t>
            </a:r>
            <a:endParaRPr sz="1319" b="1" dirty="0">
              <a:latin typeface="Lucida Sans Unicode"/>
              <a:cs typeface="Lucida Sans Unicode"/>
            </a:endParaRPr>
          </a:p>
        </p:txBody>
      </p:sp>
      <p:sp>
        <p:nvSpPr>
          <p:cNvPr id="96" name="object 90"/>
          <p:cNvSpPr txBox="1"/>
          <p:nvPr/>
        </p:nvSpPr>
        <p:spPr>
          <a:xfrm>
            <a:off x="6346776" y="1727895"/>
            <a:ext cx="745741"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逆解析器</a:t>
            </a:r>
            <a:endParaRPr sz="1319" b="1" dirty="0">
              <a:latin typeface="Lucida Sans Unicode"/>
              <a:cs typeface="Lucida Sans Unicode"/>
            </a:endParaRPr>
          </a:p>
        </p:txBody>
      </p:sp>
      <p:sp>
        <p:nvSpPr>
          <p:cNvPr id="102"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03"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程序核心组件</a:t>
            </a:r>
          </a:p>
        </p:txBody>
      </p:sp>
    </p:spTree>
    <p:extLst>
      <p:ext uri="{BB962C8B-B14F-4D97-AF65-F5344CB8AC3E}">
        <p14:creationId xmlns:p14="http://schemas.microsoft.com/office/powerpoint/2010/main" val="13231348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3" name="object 3"/>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4" name="object 4"/>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5" name="object 5"/>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6" name="object 6"/>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7" name="object 7"/>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8" name="object 8"/>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9" name="object 9"/>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10" name="object 10"/>
          <p:cNvSpPr/>
          <p:nvPr/>
        </p:nvSpPr>
        <p:spPr>
          <a:xfrm>
            <a:off x="3404708"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1" name="object 11"/>
          <p:cNvSpPr/>
          <p:nvPr/>
        </p:nvSpPr>
        <p:spPr>
          <a:xfrm>
            <a:off x="3842130" y="2241580"/>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2" name="object 12"/>
          <p:cNvSpPr/>
          <p:nvPr/>
        </p:nvSpPr>
        <p:spPr>
          <a:xfrm>
            <a:off x="3404708"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3" name="object 13"/>
          <p:cNvSpPr/>
          <p:nvPr/>
        </p:nvSpPr>
        <p:spPr>
          <a:xfrm>
            <a:off x="3842130" y="242912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4" name="object 14"/>
          <p:cNvSpPr/>
          <p:nvPr/>
        </p:nvSpPr>
        <p:spPr>
          <a:xfrm>
            <a:off x="3404708"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5" name="object 15"/>
          <p:cNvSpPr/>
          <p:nvPr/>
        </p:nvSpPr>
        <p:spPr>
          <a:xfrm>
            <a:off x="3842130" y="2616673"/>
            <a:ext cx="176808" cy="156047"/>
          </a:xfrm>
          <a:custGeom>
            <a:avLst/>
            <a:gdLst/>
            <a:ahLst/>
            <a:cxnLst/>
            <a:rect l="l" t="t" r="r" b="b"/>
            <a:pathLst>
              <a:path w="335279" h="295910">
                <a:moveTo>
                  <a:pt x="0" y="0"/>
                </a:moveTo>
                <a:lnTo>
                  <a:pt x="0" y="295757"/>
                </a:lnTo>
                <a:lnTo>
                  <a:pt x="334704" y="199443"/>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6" name="object 16"/>
          <p:cNvSpPr/>
          <p:nvPr/>
        </p:nvSpPr>
        <p:spPr>
          <a:xfrm>
            <a:off x="3404708"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7" name="object 17"/>
          <p:cNvSpPr/>
          <p:nvPr/>
        </p:nvSpPr>
        <p:spPr>
          <a:xfrm>
            <a:off x="3842130" y="2804220"/>
            <a:ext cx="176808" cy="156047"/>
          </a:xfrm>
          <a:custGeom>
            <a:avLst/>
            <a:gdLst/>
            <a:ahLst/>
            <a:cxnLst/>
            <a:rect l="l" t="t" r="r" b="b"/>
            <a:pathLst>
              <a:path w="335279" h="295910">
                <a:moveTo>
                  <a:pt x="0" y="0"/>
                </a:moveTo>
                <a:lnTo>
                  <a:pt x="0" y="295757"/>
                </a:lnTo>
                <a:lnTo>
                  <a:pt x="334704" y="199444"/>
                </a:lnTo>
                <a:lnTo>
                  <a:pt x="334704" y="86139"/>
                </a:lnTo>
                <a:lnTo>
                  <a:pt x="0" y="0"/>
                </a:lnTo>
                <a:close/>
              </a:path>
            </a:pathLst>
          </a:custGeom>
          <a:solidFill>
            <a:srgbClr val="F39019">
              <a:alpha val="75000"/>
            </a:srgbClr>
          </a:solidFill>
        </p:spPr>
        <p:txBody>
          <a:bodyPr wrap="square" lIns="0" tIns="0" rIns="0" bIns="0" rtlCol="0"/>
          <a:lstStyle/>
          <a:p>
            <a:endParaRPr sz="1055"/>
          </a:p>
        </p:txBody>
      </p:sp>
      <p:sp>
        <p:nvSpPr>
          <p:cNvPr id="18" name="object 18"/>
          <p:cNvSpPr/>
          <p:nvPr/>
        </p:nvSpPr>
        <p:spPr>
          <a:xfrm>
            <a:off x="3404708"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9" name="object 19"/>
          <p:cNvSpPr/>
          <p:nvPr/>
        </p:nvSpPr>
        <p:spPr>
          <a:xfrm>
            <a:off x="3842130" y="299176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0" name="object 20"/>
          <p:cNvSpPr/>
          <p:nvPr/>
        </p:nvSpPr>
        <p:spPr>
          <a:xfrm>
            <a:off x="3404708"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1" name="object 21"/>
          <p:cNvSpPr/>
          <p:nvPr/>
        </p:nvSpPr>
        <p:spPr>
          <a:xfrm>
            <a:off x="3842130" y="3179314"/>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2" name="object 22"/>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23" name="object 23"/>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24" name="object 24"/>
          <p:cNvSpPr/>
          <p:nvPr/>
        </p:nvSpPr>
        <p:spPr>
          <a:xfrm>
            <a:off x="4254379"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5" name="object 25"/>
          <p:cNvSpPr/>
          <p:nvPr/>
        </p:nvSpPr>
        <p:spPr>
          <a:xfrm>
            <a:off x="4691801"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6" name="object 26"/>
          <p:cNvSpPr/>
          <p:nvPr/>
        </p:nvSpPr>
        <p:spPr>
          <a:xfrm>
            <a:off x="4254379"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7" name="object 27"/>
          <p:cNvSpPr/>
          <p:nvPr/>
        </p:nvSpPr>
        <p:spPr>
          <a:xfrm>
            <a:off x="4691801"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8" name="object 28"/>
          <p:cNvSpPr/>
          <p:nvPr/>
        </p:nvSpPr>
        <p:spPr>
          <a:xfrm>
            <a:off x="4254379"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9" name="object 29"/>
          <p:cNvSpPr/>
          <p:nvPr/>
        </p:nvSpPr>
        <p:spPr>
          <a:xfrm>
            <a:off x="4691801"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0" name="object 30"/>
          <p:cNvSpPr/>
          <p:nvPr/>
        </p:nvSpPr>
        <p:spPr>
          <a:xfrm>
            <a:off x="4254379"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1" name="object 31"/>
          <p:cNvSpPr/>
          <p:nvPr/>
        </p:nvSpPr>
        <p:spPr>
          <a:xfrm>
            <a:off x="4691801"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32" name="object 32"/>
          <p:cNvSpPr/>
          <p:nvPr/>
        </p:nvSpPr>
        <p:spPr>
          <a:xfrm>
            <a:off x="4254379"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3" name="object 33"/>
          <p:cNvSpPr/>
          <p:nvPr/>
        </p:nvSpPr>
        <p:spPr>
          <a:xfrm>
            <a:off x="4691801"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4" name="object 34"/>
          <p:cNvSpPr/>
          <p:nvPr/>
        </p:nvSpPr>
        <p:spPr>
          <a:xfrm>
            <a:off x="4254379"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5" name="object 35"/>
          <p:cNvSpPr/>
          <p:nvPr/>
        </p:nvSpPr>
        <p:spPr>
          <a:xfrm>
            <a:off x="4691801"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6" name="object 36"/>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37" name="object 37"/>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38" name="object 38"/>
          <p:cNvSpPr/>
          <p:nvPr/>
        </p:nvSpPr>
        <p:spPr>
          <a:xfrm>
            <a:off x="5117098" y="2240956"/>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9" name="object 39"/>
          <p:cNvSpPr/>
          <p:nvPr/>
        </p:nvSpPr>
        <p:spPr>
          <a:xfrm>
            <a:off x="5554522"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0" name="object 40"/>
          <p:cNvSpPr/>
          <p:nvPr/>
        </p:nvSpPr>
        <p:spPr>
          <a:xfrm>
            <a:off x="5117098" y="242850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1" name="object 41"/>
          <p:cNvSpPr/>
          <p:nvPr/>
        </p:nvSpPr>
        <p:spPr>
          <a:xfrm>
            <a:off x="5554522"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2" name="object 42"/>
          <p:cNvSpPr/>
          <p:nvPr/>
        </p:nvSpPr>
        <p:spPr>
          <a:xfrm>
            <a:off x="5117098" y="2616050"/>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3" name="object 43"/>
          <p:cNvSpPr/>
          <p:nvPr/>
        </p:nvSpPr>
        <p:spPr>
          <a:xfrm>
            <a:off x="5554522"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4" name="object 44"/>
          <p:cNvSpPr/>
          <p:nvPr/>
        </p:nvSpPr>
        <p:spPr>
          <a:xfrm>
            <a:off x="5117098" y="2803595"/>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5" name="object 45"/>
          <p:cNvSpPr/>
          <p:nvPr/>
        </p:nvSpPr>
        <p:spPr>
          <a:xfrm>
            <a:off x="5554522"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46" name="object 46"/>
          <p:cNvSpPr/>
          <p:nvPr/>
        </p:nvSpPr>
        <p:spPr>
          <a:xfrm>
            <a:off x="5117098" y="299114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7" name="object 47"/>
          <p:cNvSpPr/>
          <p:nvPr/>
        </p:nvSpPr>
        <p:spPr>
          <a:xfrm>
            <a:off x="5554522"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8" name="object 48"/>
          <p:cNvSpPr/>
          <p:nvPr/>
        </p:nvSpPr>
        <p:spPr>
          <a:xfrm>
            <a:off x="5117098" y="3178689"/>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9" name="object 49"/>
          <p:cNvSpPr/>
          <p:nvPr/>
        </p:nvSpPr>
        <p:spPr>
          <a:xfrm>
            <a:off x="5554522"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50" name="object 50"/>
          <p:cNvSpPr/>
          <p:nvPr/>
        </p:nvSpPr>
        <p:spPr>
          <a:xfrm>
            <a:off x="4078936"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1" name="object 51"/>
          <p:cNvSpPr/>
          <p:nvPr/>
        </p:nvSpPr>
        <p:spPr>
          <a:xfrm>
            <a:off x="4936390"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2" name="object 52"/>
          <p:cNvSpPr/>
          <p:nvPr/>
        </p:nvSpPr>
        <p:spPr>
          <a:xfrm>
            <a:off x="300397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3" name="object 53"/>
          <p:cNvSpPr/>
          <p:nvPr/>
        </p:nvSpPr>
        <p:spPr>
          <a:xfrm>
            <a:off x="6005441"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4" name="object 54"/>
          <p:cNvSpPr/>
          <p:nvPr/>
        </p:nvSpPr>
        <p:spPr>
          <a:xfrm>
            <a:off x="2112294" y="2359949"/>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5"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5" name="object 55"/>
          <p:cNvSpPr/>
          <p:nvPr/>
        </p:nvSpPr>
        <p:spPr>
          <a:xfrm>
            <a:off x="2112295" y="2359949"/>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6" name="object 56"/>
          <p:cNvSpPr/>
          <p:nvPr/>
        </p:nvSpPr>
        <p:spPr>
          <a:xfrm>
            <a:off x="2524481" y="2637001"/>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7" name="object 57"/>
          <p:cNvSpPr/>
          <p:nvPr/>
        </p:nvSpPr>
        <p:spPr>
          <a:xfrm>
            <a:off x="2524482" y="2637002"/>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8" name="object 58"/>
          <p:cNvSpPr/>
          <p:nvPr/>
        </p:nvSpPr>
        <p:spPr>
          <a:xfrm>
            <a:off x="2120828" y="2723370"/>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4"/>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4"/>
                </a:lnTo>
                <a:lnTo>
                  <a:pt x="431284" y="314622"/>
                </a:lnTo>
                <a:lnTo>
                  <a:pt x="443577" y="272261"/>
                </a:lnTo>
                <a:lnTo>
                  <a:pt x="447675" y="228600"/>
                </a:lnTo>
                <a:lnTo>
                  <a:pt x="443577" y="184939"/>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59" name="object 59"/>
          <p:cNvSpPr/>
          <p:nvPr/>
        </p:nvSpPr>
        <p:spPr>
          <a:xfrm>
            <a:off x="2120827" y="2723370"/>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0" name="object 60"/>
          <p:cNvSpPr/>
          <p:nvPr/>
        </p:nvSpPr>
        <p:spPr>
          <a:xfrm>
            <a:off x="2553833" y="2941821"/>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61" name="object 61"/>
          <p:cNvSpPr/>
          <p:nvPr/>
        </p:nvSpPr>
        <p:spPr>
          <a:xfrm>
            <a:off x="2553833" y="2941821"/>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2" name="object 62"/>
          <p:cNvSpPr/>
          <p:nvPr/>
        </p:nvSpPr>
        <p:spPr>
          <a:xfrm>
            <a:off x="2220814" y="3126786"/>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4"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3" name="object 63"/>
          <p:cNvSpPr/>
          <p:nvPr/>
        </p:nvSpPr>
        <p:spPr>
          <a:xfrm>
            <a:off x="2220814" y="3126786"/>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4" name="object 64"/>
          <p:cNvSpPr/>
          <p:nvPr/>
        </p:nvSpPr>
        <p:spPr>
          <a:xfrm>
            <a:off x="2461915" y="2203448"/>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4"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5" name="object 65"/>
          <p:cNvSpPr/>
          <p:nvPr/>
        </p:nvSpPr>
        <p:spPr>
          <a:xfrm>
            <a:off x="2461915" y="2203447"/>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6" name="object 66"/>
          <p:cNvSpPr/>
          <p:nvPr/>
        </p:nvSpPr>
        <p:spPr>
          <a:xfrm>
            <a:off x="2285743" y="2254065"/>
            <a:ext cx="188528" cy="79028"/>
          </a:xfrm>
          <a:custGeom>
            <a:avLst/>
            <a:gdLst/>
            <a:ahLst/>
            <a:cxnLst/>
            <a:rect l="l" t="t" r="r" b="b"/>
            <a:pathLst>
              <a:path w="357505" h="149860">
                <a:moveTo>
                  <a:pt x="356988" y="21164"/>
                </a:moveTo>
                <a:lnTo>
                  <a:pt x="308172" y="7204"/>
                </a:lnTo>
                <a:lnTo>
                  <a:pt x="261729" y="149"/>
                </a:lnTo>
                <a:lnTo>
                  <a:pt x="217659" y="0"/>
                </a:lnTo>
                <a:lnTo>
                  <a:pt x="175963" y="6755"/>
                </a:lnTo>
                <a:lnTo>
                  <a:pt x="136639" y="20415"/>
                </a:lnTo>
                <a:lnTo>
                  <a:pt x="99688" y="40980"/>
                </a:lnTo>
                <a:lnTo>
                  <a:pt x="65110" y="68450"/>
                </a:lnTo>
                <a:lnTo>
                  <a:pt x="32905" y="102826"/>
                </a:lnTo>
                <a:lnTo>
                  <a:pt x="3072" y="144106"/>
                </a:lnTo>
                <a:lnTo>
                  <a:pt x="0" y="149686"/>
                </a:lnTo>
              </a:path>
            </a:pathLst>
          </a:custGeom>
          <a:ln w="12700">
            <a:solidFill>
              <a:srgbClr val="0365C0"/>
            </a:solidFill>
          </a:ln>
        </p:spPr>
        <p:txBody>
          <a:bodyPr wrap="square" lIns="0" tIns="0" rIns="0" bIns="0" rtlCol="0"/>
          <a:lstStyle/>
          <a:p>
            <a:endParaRPr sz="1055"/>
          </a:p>
        </p:txBody>
      </p:sp>
      <p:sp>
        <p:nvSpPr>
          <p:cNvPr id="67" name="object 67"/>
          <p:cNvSpPr/>
          <p:nvPr/>
        </p:nvSpPr>
        <p:spPr>
          <a:xfrm>
            <a:off x="2269759" y="2320378"/>
            <a:ext cx="35495" cy="39179"/>
          </a:xfrm>
          <a:custGeom>
            <a:avLst/>
            <a:gdLst/>
            <a:ahLst/>
            <a:cxnLst/>
            <a:rect l="l" t="t" r="r" b="b"/>
            <a:pathLst>
              <a:path w="67310" h="74295">
                <a:moveTo>
                  <a:pt x="0" y="0"/>
                </a:moveTo>
                <a:lnTo>
                  <a:pt x="2745" y="74002"/>
                </a:lnTo>
                <a:lnTo>
                  <a:pt x="66749" y="36755"/>
                </a:lnTo>
              </a:path>
            </a:pathLst>
          </a:custGeom>
          <a:ln w="12699">
            <a:solidFill>
              <a:srgbClr val="0365C0"/>
            </a:solidFill>
          </a:ln>
        </p:spPr>
        <p:txBody>
          <a:bodyPr wrap="square" lIns="0" tIns="0" rIns="0" bIns="0" rtlCol="0"/>
          <a:lstStyle/>
          <a:p>
            <a:endParaRPr sz="1055"/>
          </a:p>
        </p:txBody>
      </p:sp>
      <p:sp>
        <p:nvSpPr>
          <p:cNvPr id="68" name="object 68"/>
          <p:cNvSpPr/>
          <p:nvPr/>
        </p:nvSpPr>
        <p:spPr>
          <a:xfrm>
            <a:off x="2271206" y="2330068"/>
            <a:ext cx="16409" cy="29468"/>
          </a:xfrm>
          <a:custGeom>
            <a:avLst/>
            <a:gdLst/>
            <a:ahLst/>
            <a:cxnLst/>
            <a:rect l="l" t="t" r="r" b="b"/>
            <a:pathLst>
              <a:path w="31114" h="55879">
                <a:moveTo>
                  <a:pt x="30629" y="0"/>
                </a:moveTo>
                <a:lnTo>
                  <a:pt x="0" y="55624"/>
                </a:lnTo>
              </a:path>
            </a:pathLst>
          </a:custGeom>
          <a:ln w="12699">
            <a:solidFill>
              <a:srgbClr val="0365C0"/>
            </a:solidFill>
          </a:ln>
        </p:spPr>
        <p:txBody>
          <a:bodyPr wrap="square" lIns="0" tIns="0" rIns="0" bIns="0" rtlCol="0"/>
          <a:lstStyle/>
          <a:p>
            <a:endParaRPr sz="1055"/>
          </a:p>
        </p:txBody>
      </p:sp>
      <p:sp>
        <p:nvSpPr>
          <p:cNvPr id="69" name="object 69"/>
          <p:cNvSpPr/>
          <p:nvPr/>
        </p:nvSpPr>
        <p:spPr>
          <a:xfrm>
            <a:off x="2348741" y="2456158"/>
            <a:ext cx="255836" cy="148345"/>
          </a:xfrm>
          <a:custGeom>
            <a:avLst/>
            <a:gdLst/>
            <a:ahLst/>
            <a:cxnLst/>
            <a:rect l="l" t="t" r="r" b="b"/>
            <a:pathLst>
              <a:path w="485139" h="281304">
                <a:moveTo>
                  <a:pt x="0" y="2121"/>
                </a:moveTo>
                <a:lnTo>
                  <a:pt x="52280" y="4"/>
                </a:lnTo>
                <a:lnTo>
                  <a:pt x="102036" y="1741"/>
                </a:lnTo>
                <a:lnTo>
                  <a:pt x="149270" y="7332"/>
                </a:lnTo>
                <a:lnTo>
                  <a:pt x="193980" y="16776"/>
                </a:lnTo>
                <a:lnTo>
                  <a:pt x="236167" y="30075"/>
                </a:lnTo>
                <a:lnTo>
                  <a:pt x="275831" y="47227"/>
                </a:lnTo>
                <a:lnTo>
                  <a:pt x="312972" y="68233"/>
                </a:lnTo>
                <a:lnTo>
                  <a:pt x="347589" y="93093"/>
                </a:lnTo>
                <a:lnTo>
                  <a:pt x="379683" y="121807"/>
                </a:lnTo>
                <a:lnTo>
                  <a:pt x="409253" y="154375"/>
                </a:lnTo>
                <a:lnTo>
                  <a:pt x="436300" y="190796"/>
                </a:lnTo>
                <a:lnTo>
                  <a:pt x="460824" y="231072"/>
                </a:lnTo>
                <a:lnTo>
                  <a:pt x="482825" y="275201"/>
                </a:lnTo>
                <a:lnTo>
                  <a:pt x="485136" y="281136"/>
                </a:lnTo>
              </a:path>
            </a:pathLst>
          </a:custGeom>
          <a:ln w="12700">
            <a:solidFill>
              <a:srgbClr val="0365C0"/>
            </a:solidFill>
          </a:ln>
        </p:spPr>
        <p:txBody>
          <a:bodyPr wrap="square" lIns="0" tIns="0" rIns="0" bIns="0" rtlCol="0"/>
          <a:lstStyle/>
          <a:p>
            <a:endParaRPr sz="1055"/>
          </a:p>
        </p:txBody>
      </p:sp>
      <p:sp>
        <p:nvSpPr>
          <p:cNvPr id="70" name="object 70"/>
          <p:cNvSpPr/>
          <p:nvPr/>
        </p:nvSpPr>
        <p:spPr>
          <a:xfrm>
            <a:off x="2584636" y="2594002"/>
            <a:ext cx="37505" cy="38510"/>
          </a:xfrm>
          <a:custGeom>
            <a:avLst/>
            <a:gdLst/>
            <a:ahLst/>
            <a:cxnLst/>
            <a:rect l="l" t="t" r="r" b="b"/>
            <a:pathLst>
              <a:path w="71119" h="73025">
                <a:moveTo>
                  <a:pt x="0" y="27643"/>
                </a:moveTo>
                <a:lnTo>
                  <a:pt x="58541" y="72995"/>
                </a:lnTo>
                <a:lnTo>
                  <a:pt x="71008" y="0"/>
                </a:lnTo>
              </a:path>
            </a:pathLst>
          </a:custGeom>
          <a:ln w="12699">
            <a:solidFill>
              <a:srgbClr val="0365C0"/>
            </a:solidFill>
          </a:ln>
        </p:spPr>
        <p:txBody>
          <a:bodyPr wrap="square" lIns="0" tIns="0" rIns="0" bIns="0" rtlCol="0"/>
          <a:lstStyle/>
          <a:p>
            <a:endParaRPr sz="1055"/>
          </a:p>
        </p:txBody>
      </p:sp>
      <p:sp>
        <p:nvSpPr>
          <p:cNvPr id="71" name="object 71"/>
          <p:cNvSpPr/>
          <p:nvPr/>
        </p:nvSpPr>
        <p:spPr>
          <a:xfrm>
            <a:off x="2603360" y="2601290"/>
            <a:ext cx="12390" cy="31478"/>
          </a:xfrm>
          <a:custGeom>
            <a:avLst/>
            <a:gdLst/>
            <a:ahLst/>
            <a:cxnLst/>
            <a:rect l="l" t="t" r="r" b="b"/>
            <a:pathLst>
              <a:path w="23494" h="59689">
                <a:moveTo>
                  <a:pt x="0" y="0"/>
                </a:moveTo>
                <a:lnTo>
                  <a:pt x="23036" y="59173"/>
                </a:lnTo>
              </a:path>
            </a:pathLst>
          </a:custGeom>
          <a:ln w="12699">
            <a:solidFill>
              <a:srgbClr val="0365C0"/>
            </a:solidFill>
          </a:ln>
        </p:spPr>
        <p:txBody>
          <a:bodyPr wrap="square" lIns="0" tIns="0" rIns="0" bIns="0" rtlCol="0"/>
          <a:lstStyle/>
          <a:p>
            <a:endParaRPr sz="1055"/>
          </a:p>
        </p:txBody>
      </p:sp>
      <p:sp>
        <p:nvSpPr>
          <p:cNvPr id="72" name="object 72"/>
          <p:cNvSpPr/>
          <p:nvPr/>
        </p:nvSpPr>
        <p:spPr>
          <a:xfrm>
            <a:off x="2355088" y="2709416"/>
            <a:ext cx="174464" cy="30473"/>
          </a:xfrm>
          <a:custGeom>
            <a:avLst/>
            <a:gdLst/>
            <a:ahLst/>
            <a:cxnLst/>
            <a:rect l="l" t="t" r="r" b="b"/>
            <a:pathLst>
              <a:path w="330835" h="57785">
                <a:moveTo>
                  <a:pt x="0" y="57189"/>
                </a:moveTo>
                <a:lnTo>
                  <a:pt x="48706" y="33838"/>
                </a:lnTo>
                <a:lnTo>
                  <a:pt x="93043" y="18436"/>
                </a:lnTo>
                <a:lnTo>
                  <a:pt x="138423" y="7662"/>
                </a:lnTo>
                <a:lnTo>
                  <a:pt x="184846" y="1517"/>
                </a:lnTo>
                <a:lnTo>
                  <a:pt x="232312" y="0"/>
                </a:lnTo>
                <a:lnTo>
                  <a:pt x="280821" y="3110"/>
                </a:lnTo>
                <a:lnTo>
                  <a:pt x="330374" y="10849"/>
                </a:lnTo>
              </a:path>
            </a:pathLst>
          </a:custGeom>
          <a:ln w="12700">
            <a:solidFill>
              <a:srgbClr val="0365C0"/>
            </a:solidFill>
          </a:ln>
        </p:spPr>
        <p:txBody>
          <a:bodyPr wrap="square" lIns="0" tIns="0" rIns="0" bIns="0" rtlCol="0"/>
          <a:lstStyle/>
          <a:p>
            <a:endParaRPr sz="1055"/>
          </a:p>
        </p:txBody>
      </p:sp>
      <p:sp>
        <p:nvSpPr>
          <p:cNvPr id="73" name="object 73"/>
          <p:cNvSpPr/>
          <p:nvPr/>
        </p:nvSpPr>
        <p:spPr>
          <a:xfrm>
            <a:off x="2329402" y="2720699"/>
            <a:ext cx="39179" cy="34826"/>
          </a:xfrm>
          <a:custGeom>
            <a:avLst/>
            <a:gdLst/>
            <a:ahLst/>
            <a:cxnLst/>
            <a:rect l="l" t="t" r="r" b="b"/>
            <a:pathLst>
              <a:path w="74294" h="66039">
                <a:moveTo>
                  <a:pt x="34192" y="0"/>
                </a:moveTo>
                <a:lnTo>
                  <a:pt x="0" y="65686"/>
                </a:lnTo>
                <a:lnTo>
                  <a:pt x="74049" y="64945"/>
                </a:lnTo>
              </a:path>
            </a:pathLst>
          </a:custGeom>
          <a:ln w="12699">
            <a:solidFill>
              <a:srgbClr val="0365C0"/>
            </a:solidFill>
          </a:ln>
        </p:spPr>
        <p:txBody>
          <a:bodyPr wrap="square" lIns="0" tIns="0" rIns="0" bIns="0" rtlCol="0"/>
          <a:lstStyle/>
          <a:p>
            <a:endParaRPr sz="1055"/>
          </a:p>
        </p:txBody>
      </p:sp>
      <p:sp>
        <p:nvSpPr>
          <p:cNvPr id="74" name="object 74"/>
          <p:cNvSpPr/>
          <p:nvPr/>
        </p:nvSpPr>
        <p:spPr>
          <a:xfrm>
            <a:off x="2329401" y="2737823"/>
            <a:ext cx="28799" cy="17748"/>
          </a:xfrm>
          <a:custGeom>
            <a:avLst/>
            <a:gdLst/>
            <a:ahLst/>
            <a:cxnLst/>
            <a:rect l="l" t="t" r="r" b="b"/>
            <a:pathLst>
              <a:path w="54610" h="33654">
                <a:moveTo>
                  <a:pt x="54121" y="0"/>
                </a:moveTo>
                <a:lnTo>
                  <a:pt x="0" y="33213"/>
                </a:lnTo>
              </a:path>
            </a:pathLst>
          </a:custGeom>
          <a:ln w="12699">
            <a:solidFill>
              <a:srgbClr val="0365C0"/>
            </a:solidFill>
          </a:ln>
        </p:spPr>
        <p:txBody>
          <a:bodyPr wrap="square" lIns="0" tIns="0" rIns="0" bIns="0" rtlCol="0"/>
          <a:lstStyle/>
          <a:p>
            <a:endParaRPr sz="1055"/>
          </a:p>
        </p:txBody>
      </p:sp>
      <p:sp>
        <p:nvSpPr>
          <p:cNvPr id="75" name="object 75"/>
          <p:cNvSpPr/>
          <p:nvPr/>
        </p:nvSpPr>
        <p:spPr>
          <a:xfrm>
            <a:off x="2463162" y="2820223"/>
            <a:ext cx="75679" cy="185849"/>
          </a:xfrm>
          <a:custGeom>
            <a:avLst/>
            <a:gdLst/>
            <a:ahLst/>
            <a:cxnLst/>
            <a:rect l="l" t="t" r="r" b="b"/>
            <a:pathLst>
              <a:path w="143510" h="352425">
                <a:moveTo>
                  <a:pt x="120617" y="351870"/>
                </a:moveTo>
                <a:lnTo>
                  <a:pt x="71330" y="318853"/>
                </a:lnTo>
                <a:lnTo>
                  <a:pt x="37997" y="287719"/>
                </a:lnTo>
                <a:lnTo>
                  <a:pt x="14998" y="255511"/>
                </a:lnTo>
                <a:lnTo>
                  <a:pt x="0" y="187876"/>
                </a:lnTo>
                <a:lnTo>
                  <a:pt x="8000" y="152448"/>
                </a:lnTo>
                <a:lnTo>
                  <a:pt x="26334" y="115946"/>
                </a:lnTo>
                <a:lnTo>
                  <a:pt x="55001" y="78371"/>
                </a:lnTo>
                <a:lnTo>
                  <a:pt x="94001" y="39722"/>
                </a:lnTo>
                <a:lnTo>
                  <a:pt x="143333" y="0"/>
                </a:lnTo>
              </a:path>
            </a:pathLst>
          </a:custGeom>
          <a:ln w="12700">
            <a:solidFill>
              <a:srgbClr val="0365C0"/>
            </a:solidFill>
          </a:ln>
        </p:spPr>
        <p:txBody>
          <a:bodyPr wrap="square" lIns="0" tIns="0" rIns="0" bIns="0" rtlCol="0"/>
          <a:lstStyle/>
          <a:p>
            <a:endParaRPr sz="1055"/>
          </a:p>
        </p:txBody>
      </p:sp>
      <p:sp>
        <p:nvSpPr>
          <p:cNvPr id="76" name="object 76"/>
          <p:cNvSpPr/>
          <p:nvPr/>
        </p:nvSpPr>
        <p:spPr>
          <a:xfrm>
            <a:off x="2514451" y="2986439"/>
            <a:ext cx="39179" cy="35831"/>
          </a:xfrm>
          <a:custGeom>
            <a:avLst/>
            <a:gdLst/>
            <a:ahLst/>
            <a:cxnLst/>
            <a:rect l="l" t="t" r="r" b="b"/>
            <a:pathLst>
              <a:path w="74294" h="67945">
                <a:moveTo>
                  <a:pt x="0" y="67436"/>
                </a:moveTo>
                <a:lnTo>
                  <a:pt x="73936" y="63284"/>
                </a:lnTo>
                <a:lnTo>
                  <a:pt x="35479" y="0"/>
                </a:lnTo>
              </a:path>
            </a:pathLst>
          </a:custGeom>
          <a:ln w="12699">
            <a:solidFill>
              <a:srgbClr val="0365C0"/>
            </a:solidFill>
          </a:ln>
        </p:spPr>
        <p:txBody>
          <a:bodyPr wrap="square" lIns="0" tIns="0" rIns="0" bIns="0" rtlCol="0"/>
          <a:lstStyle/>
          <a:p>
            <a:endParaRPr sz="1055"/>
          </a:p>
        </p:txBody>
      </p:sp>
      <p:sp>
        <p:nvSpPr>
          <p:cNvPr id="77" name="object 77"/>
          <p:cNvSpPr/>
          <p:nvPr/>
        </p:nvSpPr>
        <p:spPr>
          <a:xfrm>
            <a:off x="2523805" y="3004221"/>
            <a:ext cx="29803" cy="15739"/>
          </a:xfrm>
          <a:custGeom>
            <a:avLst/>
            <a:gdLst/>
            <a:ahLst/>
            <a:cxnLst/>
            <a:rect l="l" t="t" r="r" b="b"/>
            <a:pathLst>
              <a:path w="56514" h="29845">
                <a:moveTo>
                  <a:pt x="0" y="0"/>
                </a:moveTo>
                <a:lnTo>
                  <a:pt x="56196" y="29566"/>
                </a:lnTo>
              </a:path>
            </a:pathLst>
          </a:custGeom>
          <a:ln w="12699">
            <a:solidFill>
              <a:srgbClr val="0365C0"/>
            </a:solidFill>
          </a:ln>
        </p:spPr>
        <p:txBody>
          <a:bodyPr wrap="square" lIns="0" tIns="0" rIns="0" bIns="0" rtlCol="0"/>
          <a:lstStyle/>
          <a:p>
            <a:endParaRPr sz="1055"/>
          </a:p>
        </p:txBody>
      </p:sp>
      <p:sp>
        <p:nvSpPr>
          <p:cNvPr id="78" name="object 78"/>
          <p:cNvSpPr/>
          <p:nvPr/>
        </p:nvSpPr>
        <p:spPr>
          <a:xfrm>
            <a:off x="2487641" y="3181425"/>
            <a:ext cx="153702" cy="110505"/>
          </a:xfrm>
          <a:custGeom>
            <a:avLst/>
            <a:gdLst/>
            <a:ahLst/>
            <a:cxnLst/>
            <a:rect l="l" t="t" r="r" b="b"/>
            <a:pathLst>
              <a:path w="291464" h="209550">
                <a:moveTo>
                  <a:pt x="291170" y="0"/>
                </a:moveTo>
                <a:lnTo>
                  <a:pt x="267168" y="49139"/>
                </a:lnTo>
                <a:lnTo>
                  <a:pt x="239851" y="91708"/>
                </a:lnTo>
                <a:lnTo>
                  <a:pt x="209218" y="127707"/>
                </a:lnTo>
                <a:lnTo>
                  <a:pt x="175270" y="157136"/>
                </a:lnTo>
                <a:lnTo>
                  <a:pt x="138007" y="179995"/>
                </a:lnTo>
                <a:lnTo>
                  <a:pt x="97428" y="196284"/>
                </a:lnTo>
                <a:lnTo>
                  <a:pt x="53534" y="206003"/>
                </a:lnTo>
                <a:lnTo>
                  <a:pt x="6324" y="209152"/>
                </a:lnTo>
                <a:lnTo>
                  <a:pt x="0" y="208560"/>
                </a:lnTo>
              </a:path>
            </a:pathLst>
          </a:custGeom>
          <a:ln w="12700">
            <a:solidFill>
              <a:srgbClr val="0365C0"/>
            </a:solidFill>
          </a:ln>
        </p:spPr>
        <p:txBody>
          <a:bodyPr wrap="square" lIns="0" tIns="0" rIns="0" bIns="0" rtlCol="0"/>
          <a:lstStyle/>
          <a:p>
            <a:endParaRPr sz="1055"/>
          </a:p>
        </p:txBody>
      </p:sp>
      <p:sp>
        <p:nvSpPr>
          <p:cNvPr id="79" name="object 79"/>
          <p:cNvSpPr/>
          <p:nvPr/>
        </p:nvSpPr>
        <p:spPr>
          <a:xfrm>
            <a:off x="2457636" y="3271717"/>
            <a:ext cx="35495" cy="40184"/>
          </a:xfrm>
          <a:custGeom>
            <a:avLst/>
            <a:gdLst/>
            <a:ahLst/>
            <a:cxnLst/>
            <a:rect l="l" t="t" r="r" b="b"/>
            <a:pathLst>
              <a:path w="67310" h="76200">
                <a:moveTo>
                  <a:pt x="66777" y="0"/>
                </a:moveTo>
                <a:lnTo>
                  <a:pt x="0" y="32010"/>
                </a:lnTo>
                <a:lnTo>
                  <a:pt x="59668" y="75867"/>
                </a:lnTo>
              </a:path>
            </a:pathLst>
          </a:custGeom>
          <a:ln w="12699">
            <a:solidFill>
              <a:srgbClr val="0365C0"/>
            </a:solidFill>
          </a:ln>
        </p:spPr>
        <p:txBody>
          <a:bodyPr wrap="square" lIns="0" tIns="0" rIns="0" bIns="0" rtlCol="0"/>
          <a:lstStyle/>
          <a:p>
            <a:endParaRPr sz="1055"/>
          </a:p>
        </p:txBody>
      </p:sp>
      <p:sp>
        <p:nvSpPr>
          <p:cNvPr id="80" name="object 80"/>
          <p:cNvSpPr/>
          <p:nvPr/>
        </p:nvSpPr>
        <p:spPr>
          <a:xfrm>
            <a:off x="2457635" y="3288597"/>
            <a:ext cx="33486" cy="3349"/>
          </a:xfrm>
          <a:custGeom>
            <a:avLst/>
            <a:gdLst/>
            <a:ahLst/>
            <a:cxnLst/>
            <a:rect l="l" t="t" r="r" b="b"/>
            <a:pathLst>
              <a:path w="63500" h="6350">
                <a:moveTo>
                  <a:pt x="63223" y="5923"/>
                </a:moveTo>
                <a:lnTo>
                  <a:pt x="0" y="0"/>
                </a:lnTo>
              </a:path>
            </a:pathLst>
          </a:custGeom>
          <a:ln w="12699">
            <a:solidFill>
              <a:srgbClr val="0365C0"/>
            </a:solidFill>
          </a:ln>
        </p:spPr>
        <p:txBody>
          <a:bodyPr wrap="square" lIns="0" tIns="0" rIns="0" bIns="0" rtlCol="0"/>
          <a:lstStyle/>
          <a:p>
            <a:endParaRPr sz="1055"/>
          </a:p>
        </p:txBody>
      </p:sp>
      <p:graphicFrame>
        <p:nvGraphicFramePr>
          <p:cNvPr id="81" name="object 81"/>
          <p:cNvGraphicFramePr>
            <a:graphicFrameLocks noGrp="1"/>
          </p:cNvGraphicFramePr>
          <p:nvPr>
            <p:extLst/>
          </p:nvPr>
        </p:nvGraphicFramePr>
        <p:xfrm>
          <a:off x="6390607" y="2246282"/>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2" name="object 82"/>
          <p:cNvGraphicFramePr>
            <a:graphicFrameLocks noGrp="1"/>
          </p:cNvGraphicFramePr>
          <p:nvPr>
            <p:extLst/>
          </p:nvPr>
        </p:nvGraphicFramePr>
        <p:xfrm>
          <a:off x="6390607" y="2475884"/>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3" name="object 83"/>
          <p:cNvGraphicFramePr>
            <a:graphicFrameLocks noGrp="1"/>
          </p:cNvGraphicFramePr>
          <p:nvPr>
            <p:extLst/>
          </p:nvPr>
        </p:nvGraphicFramePr>
        <p:xfrm>
          <a:off x="6390607" y="2705486"/>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4" name="object 84"/>
          <p:cNvGraphicFramePr>
            <a:graphicFrameLocks noGrp="1"/>
          </p:cNvGraphicFramePr>
          <p:nvPr>
            <p:extLst/>
          </p:nvPr>
        </p:nvGraphicFramePr>
        <p:xfrm>
          <a:off x="6390607" y="2935089"/>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5" name="object 85"/>
          <p:cNvGraphicFramePr>
            <a:graphicFrameLocks noGrp="1"/>
          </p:cNvGraphicFramePr>
          <p:nvPr>
            <p:extLst/>
          </p:nvPr>
        </p:nvGraphicFramePr>
        <p:xfrm>
          <a:off x="6390607" y="3164691"/>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sp>
        <p:nvSpPr>
          <p:cNvPr id="86" name="object 86"/>
          <p:cNvSpPr/>
          <p:nvPr/>
        </p:nvSpPr>
        <p:spPr>
          <a:xfrm>
            <a:off x="1713324"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7" name="object 87"/>
          <p:cNvSpPr/>
          <p:nvPr/>
        </p:nvSpPr>
        <p:spPr>
          <a:xfrm>
            <a:off x="729196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8" name="object 88"/>
          <p:cNvSpPr txBox="1"/>
          <p:nvPr/>
        </p:nvSpPr>
        <p:spPr>
          <a:xfrm>
            <a:off x="3339703" y="3810744"/>
            <a:ext cx="2795501" cy="244264"/>
          </a:xfrm>
          <a:prstGeom prst="rect">
            <a:avLst/>
          </a:prstGeom>
        </p:spPr>
        <p:txBody>
          <a:bodyPr vert="horz" wrap="square" lIns="0" tIns="6698" rIns="0" bIns="0" rtlCol="0">
            <a:spAutoFit/>
          </a:bodyPr>
          <a:lstStyle/>
          <a:p>
            <a:pPr marL="6697" marR="2679">
              <a:lnSpc>
                <a:spcPct val="116700"/>
              </a:lnSpc>
              <a:spcBef>
                <a:spcPts val="53"/>
              </a:spcBef>
            </a:pPr>
            <a:r>
              <a:rPr lang="zh-CN" altLang="en-US" sz="1319" spc="-3" dirty="0">
                <a:latin typeface="Lucida Sans Unicode"/>
                <a:cs typeface="Lucida Sans Unicode"/>
              </a:rPr>
              <a:t>定义流表以及相应的分组处理逻辑</a:t>
            </a:r>
            <a:endParaRPr sz="1319" dirty="0">
              <a:latin typeface="Lucida Sans Unicode"/>
              <a:cs typeface="Lucida Sans Unicode"/>
            </a:endParaRPr>
          </a:p>
        </p:txBody>
      </p:sp>
      <p:sp>
        <p:nvSpPr>
          <p:cNvPr id="89" name="object 89"/>
          <p:cNvSpPr/>
          <p:nvPr/>
        </p:nvSpPr>
        <p:spPr>
          <a:xfrm>
            <a:off x="3381023" y="3435690"/>
            <a:ext cx="0" cy="246459"/>
          </a:xfrm>
          <a:custGeom>
            <a:avLst/>
            <a:gdLst/>
            <a:ahLst/>
            <a:cxnLst/>
            <a:rect l="l" t="t" r="r" b="b"/>
            <a:pathLst>
              <a:path h="467359">
                <a:moveTo>
                  <a:pt x="0" y="0"/>
                </a:moveTo>
                <a:lnTo>
                  <a:pt x="0" y="467187"/>
                </a:lnTo>
              </a:path>
            </a:pathLst>
          </a:custGeom>
          <a:ln w="25400">
            <a:solidFill>
              <a:srgbClr val="919191"/>
            </a:solidFill>
          </a:ln>
        </p:spPr>
        <p:txBody>
          <a:bodyPr wrap="square" lIns="0" tIns="0" rIns="0" bIns="0" rtlCol="0"/>
          <a:lstStyle/>
          <a:p>
            <a:endParaRPr sz="1055"/>
          </a:p>
        </p:txBody>
      </p:sp>
      <p:sp>
        <p:nvSpPr>
          <p:cNvPr id="90" name="object 90"/>
          <p:cNvSpPr/>
          <p:nvPr/>
        </p:nvSpPr>
        <p:spPr>
          <a:xfrm>
            <a:off x="3348876" y="3675361"/>
            <a:ext cx="64294" cy="64294"/>
          </a:xfrm>
          <a:custGeom>
            <a:avLst/>
            <a:gdLst/>
            <a:ahLst/>
            <a:cxnLst/>
            <a:rect l="l" t="t" r="r" b="b"/>
            <a:pathLst>
              <a:path w="121920" h="121920">
                <a:moveTo>
                  <a:pt x="121919" y="0"/>
                </a:moveTo>
                <a:lnTo>
                  <a:pt x="0" y="0"/>
                </a:lnTo>
                <a:lnTo>
                  <a:pt x="60959" y="121919"/>
                </a:lnTo>
                <a:lnTo>
                  <a:pt x="121919" y="0"/>
                </a:lnTo>
                <a:close/>
              </a:path>
            </a:pathLst>
          </a:custGeom>
          <a:solidFill>
            <a:srgbClr val="919191"/>
          </a:solidFill>
        </p:spPr>
        <p:txBody>
          <a:bodyPr wrap="square" lIns="0" tIns="0" rIns="0" bIns="0" rtlCol="0"/>
          <a:lstStyle/>
          <a:p>
            <a:endParaRPr sz="1055"/>
          </a:p>
        </p:txBody>
      </p:sp>
      <p:sp>
        <p:nvSpPr>
          <p:cNvPr id="94" name="object 88"/>
          <p:cNvSpPr txBox="1"/>
          <p:nvPr/>
        </p:nvSpPr>
        <p:spPr>
          <a:xfrm>
            <a:off x="2174379" y="1727895"/>
            <a:ext cx="514350"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解析器</a:t>
            </a:r>
            <a:endParaRPr sz="1319" b="1" dirty="0">
              <a:latin typeface="Lucida Sans Unicode"/>
              <a:cs typeface="Lucida Sans Unicode"/>
            </a:endParaRPr>
          </a:p>
        </p:txBody>
      </p:sp>
      <p:sp>
        <p:nvSpPr>
          <p:cNvPr id="95" name="object 89"/>
          <p:cNvSpPr txBox="1"/>
          <p:nvPr/>
        </p:nvSpPr>
        <p:spPr>
          <a:xfrm>
            <a:off x="3667870" y="1727895"/>
            <a:ext cx="1804913"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匹配</a:t>
            </a:r>
            <a:r>
              <a:rPr lang="en-US" altLang="zh-CN" sz="1319" b="1" spc="-3" dirty="0">
                <a:latin typeface="Lucida Sans Unicode"/>
                <a:cs typeface="Lucida Sans Unicode"/>
              </a:rPr>
              <a:t>-</a:t>
            </a:r>
            <a:r>
              <a:rPr lang="zh-CN" altLang="en-US" sz="1319" b="1" spc="-3" dirty="0">
                <a:latin typeface="Lucida Sans Unicode"/>
                <a:cs typeface="Lucida Sans Unicode"/>
              </a:rPr>
              <a:t>动作流水线</a:t>
            </a:r>
            <a:endParaRPr sz="1319" b="1" dirty="0">
              <a:latin typeface="Lucida Sans Unicode"/>
              <a:cs typeface="Lucida Sans Unicode"/>
            </a:endParaRPr>
          </a:p>
        </p:txBody>
      </p:sp>
      <p:sp>
        <p:nvSpPr>
          <p:cNvPr id="96" name="object 90"/>
          <p:cNvSpPr txBox="1"/>
          <p:nvPr/>
        </p:nvSpPr>
        <p:spPr>
          <a:xfrm>
            <a:off x="6346776" y="1727895"/>
            <a:ext cx="745741"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逆解析器</a:t>
            </a:r>
            <a:endParaRPr sz="1319" b="1" dirty="0">
              <a:latin typeface="Lucida Sans Unicode"/>
              <a:cs typeface="Lucida Sans Unicode"/>
            </a:endParaRPr>
          </a:p>
        </p:txBody>
      </p:sp>
      <p:sp>
        <p:nvSpPr>
          <p:cNvPr id="102"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03" name="Rectangle 6"/>
          <p:cNvSpPr>
            <a:spLocks noChangeArrowheads="1"/>
          </p:cNvSpPr>
          <p:nvPr/>
        </p:nvSpPr>
        <p:spPr bwMode="auto">
          <a:xfrm>
            <a:off x="1941968" y="580933"/>
            <a:ext cx="5260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400" b="1" dirty="0">
                <a:solidFill>
                  <a:schemeClr val="bg1"/>
                </a:solidFill>
                <a:latin typeface="微软雅黑" pitchFamily="34" charset="-122"/>
                <a:ea typeface="微软雅黑" pitchFamily="34" charset="-122"/>
              </a:rPr>
              <a:t>P4</a:t>
            </a:r>
            <a:r>
              <a:rPr lang="zh-CN" altLang="en-US" sz="2400" b="1" dirty="0">
                <a:solidFill>
                  <a:schemeClr val="bg1"/>
                </a:solidFill>
                <a:latin typeface="微软雅黑" pitchFamily="34" charset="-122"/>
                <a:ea typeface="微软雅黑" pitchFamily="34" charset="-122"/>
              </a:rPr>
              <a:t>程序核心组件</a:t>
            </a:r>
          </a:p>
        </p:txBody>
      </p:sp>
    </p:spTree>
    <p:extLst>
      <p:ext uri="{BB962C8B-B14F-4D97-AF65-F5344CB8AC3E}">
        <p14:creationId xmlns:p14="http://schemas.microsoft.com/office/powerpoint/2010/main" val="31310804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3" name="object 3"/>
          <p:cNvSpPr/>
          <p:nvPr/>
        </p:nvSpPr>
        <p:spPr>
          <a:xfrm>
            <a:off x="2002037" y="2143125"/>
            <a:ext cx="848543" cy="1285875"/>
          </a:xfrm>
          <a:custGeom>
            <a:avLst/>
            <a:gdLst/>
            <a:ahLst/>
            <a:cxnLst/>
            <a:rect l="l" t="t" r="r" b="b"/>
            <a:pathLst>
              <a:path w="1609089" h="2438400">
                <a:moveTo>
                  <a:pt x="0" y="0"/>
                </a:moveTo>
                <a:lnTo>
                  <a:pt x="1609013" y="0"/>
                </a:lnTo>
                <a:lnTo>
                  <a:pt x="1609013"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4" name="object 4"/>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5" name="object 5"/>
          <p:cNvSpPr/>
          <p:nvPr/>
        </p:nvSpPr>
        <p:spPr>
          <a:xfrm>
            <a:off x="3283209" y="2143125"/>
            <a:ext cx="2573424" cy="1285875"/>
          </a:xfrm>
          <a:custGeom>
            <a:avLst/>
            <a:gdLst/>
            <a:ahLst/>
            <a:cxnLst/>
            <a:rect l="l" t="t" r="r" b="b"/>
            <a:pathLst>
              <a:path w="4879975" h="2438400">
                <a:moveTo>
                  <a:pt x="0" y="0"/>
                </a:moveTo>
                <a:lnTo>
                  <a:pt x="4879369" y="0"/>
                </a:lnTo>
                <a:lnTo>
                  <a:pt x="4879369"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6" name="object 6"/>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solidFill>
            <a:srgbClr val="FFDCB8">
              <a:alpha val="64878"/>
            </a:srgbClr>
          </a:solidFill>
        </p:spPr>
        <p:txBody>
          <a:bodyPr wrap="square" lIns="0" tIns="0" rIns="0" bIns="0" rtlCol="0"/>
          <a:lstStyle/>
          <a:p>
            <a:endParaRPr sz="1055"/>
          </a:p>
        </p:txBody>
      </p:sp>
      <p:sp>
        <p:nvSpPr>
          <p:cNvPr id="7" name="object 7"/>
          <p:cNvSpPr/>
          <p:nvPr/>
        </p:nvSpPr>
        <p:spPr>
          <a:xfrm>
            <a:off x="6279852" y="2143125"/>
            <a:ext cx="860264" cy="1285875"/>
          </a:xfrm>
          <a:custGeom>
            <a:avLst/>
            <a:gdLst/>
            <a:ahLst/>
            <a:cxnLst/>
            <a:rect l="l" t="t" r="r" b="b"/>
            <a:pathLst>
              <a:path w="1631315" h="2438400">
                <a:moveTo>
                  <a:pt x="0" y="0"/>
                </a:moveTo>
                <a:lnTo>
                  <a:pt x="1630880" y="0"/>
                </a:lnTo>
                <a:lnTo>
                  <a:pt x="1630880" y="2438400"/>
                </a:lnTo>
                <a:lnTo>
                  <a:pt x="0" y="2438400"/>
                </a:lnTo>
                <a:lnTo>
                  <a:pt x="0" y="0"/>
                </a:lnTo>
                <a:close/>
              </a:path>
            </a:pathLst>
          </a:custGeom>
          <a:ln w="9525">
            <a:solidFill>
              <a:srgbClr val="C0C0C0"/>
            </a:solidFill>
          </a:ln>
        </p:spPr>
        <p:txBody>
          <a:bodyPr wrap="square" lIns="0" tIns="0" rIns="0" bIns="0" rtlCol="0"/>
          <a:lstStyle/>
          <a:p>
            <a:endParaRPr sz="1055"/>
          </a:p>
        </p:txBody>
      </p:sp>
      <p:sp>
        <p:nvSpPr>
          <p:cNvPr id="8" name="object 8"/>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9" name="object 9"/>
          <p:cNvSpPr/>
          <p:nvPr/>
        </p:nvSpPr>
        <p:spPr>
          <a:xfrm>
            <a:off x="3375424"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10" name="object 10"/>
          <p:cNvSpPr/>
          <p:nvPr/>
        </p:nvSpPr>
        <p:spPr>
          <a:xfrm>
            <a:off x="3404708"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1" name="object 11"/>
          <p:cNvSpPr/>
          <p:nvPr/>
        </p:nvSpPr>
        <p:spPr>
          <a:xfrm>
            <a:off x="3842130" y="2241580"/>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2" name="object 12"/>
          <p:cNvSpPr/>
          <p:nvPr/>
        </p:nvSpPr>
        <p:spPr>
          <a:xfrm>
            <a:off x="3404708"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3" name="object 13"/>
          <p:cNvSpPr/>
          <p:nvPr/>
        </p:nvSpPr>
        <p:spPr>
          <a:xfrm>
            <a:off x="3842130" y="242912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4" name="object 14"/>
          <p:cNvSpPr/>
          <p:nvPr/>
        </p:nvSpPr>
        <p:spPr>
          <a:xfrm>
            <a:off x="3404708"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5" name="object 15"/>
          <p:cNvSpPr/>
          <p:nvPr/>
        </p:nvSpPr>
        <p:spPr>
          <a:xfrm>
            <a:off x="3842130" y="2616673"/>
            <a:ext cx="176808" cy="156047"/>
          </a:xfrm>
          <a:custGeom>
            <a:avLst/>
            <a:gdLst/>
            <a:ahLst/>
            <a:cxnLst/>
            <a:rect l="l" t="t" r="r" b="b"/>
            <a:pathLst>
              <a:path w="335279" h="295910">
                <a:moveTo>
                  <a:pt x="0" y="0"/>
                </a:moveTo>
                <a:lnTo>
                  <a:pt x="0" y="295757"/>
                </a:lnTo>
                <a:lnTo>
                  <a:pt x="334704" y="199443"/>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16" name="object 16"/>
          <p:cNvSpPr/>
          <p:nvPr/>
        </p:nvSpPr>
        <p:spPr>
          <a:xfrm>
            <a:off x="3404708"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7" name="object 17"/>
          <p:cNvSpPr/>
          <p:nvPr/>
        </p:nvSpPr>
        <p:spPr>
          <a:xfrm>
            <a:off x="3842130" y="2804220"/>
            <a:ext cx="176808" cy="156047"/>
          </a:xfrm>
          <a:custGeom>
            <a:avLst/>
            <a:gdLst/>
            <a:ahLst/>
            <a:cxnLst/>
            <a:rect l="l" t="t" r="r" b="b"/>
            <a:pathLst>
              <a:path w="335279" h="295910">
                <a:moveTo>
                  <a:pt x="0" y="0"/>
                </a:moveTo>
                <a:lnTo>
                  <a:pt x="0" y="295757"/>
                </a:lnTo>
                <a:lnTo>
                  <a:pt x="334704" y="199444"/>
                </a:lnTo>
                <a:lnTo>
                  <a:pt x="334704" y="86139"/>
                </a:lnTo>
                <a:lnTo>
                  <a:pt x="0" y="0"/>
                </a:lnTo>
                <a:close/>
              </a:path>
            </a:pathLst>
          </a:custGeom>
          <a:solidFill>
            <a:srgbClr val="F39019">
              <a:alpha val="75000"/>
            </a:srgbClr>
          </a:solidFill>
        </p:spPr>
        <p:txBody>
          <a:bodyPr wrap="square" lIns="0" tIns="0" rIns="0" bIns="0" rtlCol="0"/>
          <a:lstStyle/>
          <a:p>
            <a:endParaRPr sz="1055"/>
          </a:p>
        </p:txBody>
      </p:sp>
      <p:sp>
        <p:nvSpPr>
          <p:cNvPr id="18" name="object 18"/>
          <p:cNvSpPr/>
          <p:nvPr/>
        </p:nvSpPr>
        <p:spPr>
          <a:xfrm>
            <a:off x="3404708"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19" name="object 19"/>
          <p:cNvSpPr/>
          <p:nvPr/>
        </p:nvSpPr>
        <p:spPr>
          <a:xfrm>
            <a:off x="3842130" y="2991766"/>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0" name="object 20"/>
          <p:cNvSpPr/>
          <p:nvPr/>
        </p:nvSpPr>
        <p:spPr>
          <a:xfrm>
            <a:off x="3404708"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1" name="object 21"/>
          <p:cNvSpPr/>
          <p:nvPr/>
        </p:nvSpPr>
        <p:spPr>
          <a:xfrm>
            <a:off x="3842130" y="3179314"/>
            <a:ext cx="176808" cy="156047"/>
          </a:xfrm>
          <a:custGeom>
            <a:avLst/>
            <a:gdLst/>
            <a:ahLst/>
            <a:cxnLst/>
            <a:rect l="l" t="t" r="r" b="b"/>
            <a:pathLst>
              <a:path w="335279" h="295910">
                <a:moveTo>
                  <a:pt x="0" y="0"/>
                </a:moveTo>
                <a:lnTo>
                  <a:pt x="0" y="295757"/>
                </a:lnTo>
                <a:lnTo>
                  <a:pt x="334704" y="199444"/>
                </a:lnTo>
                <a:lnTo>
                  <a:pt x="334704" y="86137"/>
                </a:lnTo>
                <a:lnTo>
                  <a:pt x="0" y="0"/>
                </a:lnTo>
                <a:close/>
              </a:path>
            </a:pathLst>
          </a:custGeom>
          <a:solidFill>
            <a:srgbClr val="F39019">
              <a:alpha val="75000"/>
            </a:srgbClr>
          </a:solidFill>
        </p:spPr>
        <p:txBody>
          <a:bodyPr wrap="square" lIns="0" tIns="0" rIns="0" bIns="0" rtlCol="0"/>
          <a:lstStyle/>
          <a:p>
            <a:endParaRPr sz="1055"/>
          </a:p>
        </p:txBody>
      </p:sp>
      <p:sp>
        <p:nvSpPr>
          <p:cNvPr id="22" name="object 22"/>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23" name="object 23"/>
          <p:cNvSpPr/>
          <p:nvPr/>
        </p:nvSpPr>
        <p:spPr>
          <a:xfrm>
            <a:off x="422509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24" name="object 24"/>
          <p:cNvSpPr/>
          <p:nvPr/>
        </p:nvSpPr>
        <p:spPr>
          <a:xfrm>
            <a:off x="4254379" y="2240956"/>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5" name="object 25"/>
          <p:cNvSpPr/>
          <p:nvPr/>
        </p:nvSpPr>
        <p:spPr>
          <a:xfrm>
            <a:off x="4691801"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6" name="object 26"/>
          <p:cNvSpPr/>
          <p:nvPr/>
        </p:nvSpPr>
        <p:spPr>
          <a:xfrm>
            <a:off x="4254379" y="242850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7" name="object 27"/>
          <p:cNvSpPr/>
          <p:nvPr/>
        </p:nvSpPr>
        <p:spPr>
          <a:xfrm>
            <a:off x="4691801"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28" name="object 28"/>
          <p:cNvSpPr/>
          <p:nvPr/>
        </p:nvSpPr>
        <p:spPr>
          <a:xfrm>
            <a:off x="4254379" y="2616050"/>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29" name="object 29"/>
          <p:cNvSpPr/>
          <p:nvPr/>
        </p:nvSpPr>
        <p:spPr>
          <a:xfrm>
            <a:off x="4691801"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0" name="object 30"/>
          <p:cNvSpPr/>
          <p:nvPr/>
        </p:nvSpPr>
        <p:spPr>
          <a:xfrm>
            <a:off x="4254379" y="2803595"/>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1" name="object 31"/>
          <p:cNvSpPr/>
          <p:nvPr/>
        </p:nvSpPr>
        <p:spPr>
          <a:xfrm>
            <a:off x="4691801"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32" name="object 32"/>
          <p:cNvSpPr/>
          <p:nvPr/>
        </p:nvSpPr>
        <p:spPr>
          <a:xfrm>
            <a:off x="4254379" y="2991143"/>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3" name="object 33"/>
          <p:cNvSpPr/>
          <p:nvPr/>
        </p:nvSpPr>
        <p:spPr>
          <a:xfrm>
            <a:off x="4691801"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4" name="object 34"/>
          <p:cNvSpPr/>
          <p:nvPr/>
        </p:nvSpPr>
        <p:spPr>
          <a:xfrm>
            <a:off x="4254379" y="3178689"/>
            <a:ext cx="392460" cy="157386"/>
          </a:xfrm>
          <a:custGeom>
            <a:avLst/>
            <a:gdLst/>
            <a:ahLst/>
            <a:cxnLst/>
            <a:rect l="l" t="t" r="r" b="b"/>
            <a:pathLst>
              <a:path w="744220" h="298450">
                <a:moveTo>
                  <a:pt x="0" y="0"/>
                </a:moveTo>
                <a:lnTo>
                  <a:pt x="743637" y="0"/>
                </a:lnTo>
                <a:lnTo>
                  <a:pt x="743637"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5" name="object 35"/>
          <p:cNvSpPr/>
          <p:nvPr/>
        </p:nvSpPr>
        <p:spPr>
          <a:xfrm>
            <a:off x="4691801"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36" name="object 36"/>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solidFill>
            <a:srgbClr val="FFFFFF"/>
          </a:solidFill>
        </p:spPr>
        <p:txBody>
          <a:bodyPr wrap="square" lIns="0" tIns="0" rIns="0" bIns="0" rtlCol="0"/>
          <a:lstStyle/>
          <a:p>
            <a:endParaRPr sz="1055"/>
          </a:p>
        </p:txBody>
      </p:sp>
      <p:sp>
        <p:nvSpPr>
          <p:cNvPr id="37" name="object 37"/>
          <p:cNvSpPr/>
          <p:nvPr/>
        </p:nvSpPr>
        <p:spPr>
          <a:xfrm>
            <a:off x="5087815" y="2202129"/>
            <a:ext cx="687140" cy="1168004"/>
          </a:xfrm>
          <a:custGeom>
            <a:avLst/>
            <a:gdLst/>
            <a:ahLst/>
            <a:cxnLst/>
            <a:rect l="l" t="t" r="r" b="b"/>
            <a:pathLst>
              <a:path w="1303020" h="2214879">
                <a:moveTo>
                  <a:pt x="0" y="0"/>
                </a:moveTo>
                <a:lnTo>
                  <a:pt x="1302929" y="0"/>
                </a:lnTo>
                <a:lnTo>
                  <a:pt x="1302929" y="2214618"/>
                </a:lnTo>
                <a:lnTo>
                  <a:pt x="0" y="2214618"/>
                </a:lnTo>
                <a:lnTo>
                  <a:pt x="0" y="0"/>
                </a:lnTo>
                <a:close/>
              </a:path>
            </a:pathLst>
          </a:custGeom>
          <a:ln w="9525">
            <a:solidFill>
              <a:srgbClr val="A6AAA9"/>
            </a:solidFill>
          </a:ln>
        </p:spPr>
        <p:txBody>
          <a:bodyPr wrap="square" lIns="0" tIns="0" rIns="0" bIns="0" rtlCol="0"/>
          <a:lstStyle/>
          <a:p>
            <a:endParaRPr sz="1055"/>
          </a:p>
        </p:txBody>
      </p:sp>
      <p:sp>
        <p:nvSpPr>
          <p:cNvPr id="38" name="object 38"/>
          <p:cNvSpPr/>
          <p:nvPr/>
        </p:nvSpPr>
        <p:spPr>
          <a:xfrm>
            <a:off x="5117098" y="2240956"/>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39" name="object 39"/>
          <p:cNvSpPr/>
          <p:nvPr/>
        </p:nvSpPr>
        <p:spPr>
          <a:xfrm>
            <a:off x="5554522" y="2241580"/>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0" name="object 40"/>
          <p:cNvSpPr/>
          <p:nvPr/>
        </p:nvSpPr>
        <p:spPr>
          <a:xfrm>
            <a:off x="5117098" y="242850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1" name="object 41"/>
          <p:cNvSpPr/>
          <p:nvPr/>
        </p:nvSpPr>
        <p:spPr>
          <a:xfrm>
            <a:off x="5554522" y="242912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2" name="object 42"/>
          <p:cNvSpPr/>
          <p:nvPr/>
        </p:nvSpPr>
        <p:spPr>
          <a:xfrm>
            <a:off x="5117098" y="2616050"/>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3" name="object 43"/>
          <p:cNvSpPr/>
          <p:nvPr/>
        </p:nvSpPr>
        <p:spPr>
          <a:xfrm>
            <a:off x="5554522" y="2616673"/>
            <a:ext cx="176808" cy="156047"/>
          </a:xfrm>
          <a:custGeom>
            <a:avLst/>
            <a:gdLst/>
            <a:ahLst/>
            <a:cxnLst/>
            <a:rect l="l" t="t" r="r" b="b"/>
            <a:pathLst>
              <a:path w="335279" h="295910">
                <a:moveTo>
                  <a:pt x="0" y="0"/>
                </a:moveTo>
                <a:lnTo>
                  <a:pt x="0" y="295757"/>
                </a:lnTo>
                <a:lnTo>
                  <a:pt x="334703" y="199443"/>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4" name="object 44"/>
          <p:cNvSpPr/>
          <p:nvPr/>
        </p:nvSpPr>
        <p:spPr>
          <a:xfrm>
            <a:off x="5117098" y="2803595"/>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5" name="object 45"/>
          <p:cNvSpPr/>
          <p:nvPr/>
        </p:nvSpPr>
        <p:spPr>
          <a:xfrm>
            <a:off x="5554522" y="2804220"/>
            <a:ext cx="176808" cy="156047"/>
          </a:xfrm>
          <a:custGeom>
            <a:avLst/>
            <a:gdLst/>
            <a:ahLst/>
            <a:cxnLst/>
            <a:rect l="l" t="t" r="r" b="b"/>
            <a:pathLst>
              <a:path w="335279" h="295910">
                <a:moveTo>
                  <a:pt x="0" y="0"/>
                </a:moveTo>
                <a:lnTo>
                  <a:pt x="0" y="295757"/>
                </a:lnTo>
                <a:lnTo>
                  <a:pt x="334703" y="199444"/>
                </a:lnTo>
                <a:lnTo>
                  <a:pt x="334703" y="86139"/>
                </a:lnTo>
                <a:lnTo>
                  <a:pt x="0" y="0"/>
                </a:lnTo>
                <a:close/>
              </a:path>
            </a:pathLst>
          </a:custGeom>
          <a:solidFill>
            <a:srgbClr val="F39019">
              <a:alpha val="75000"/>
            </a:srgbClr>
          </a:solidFill>
        </p:spPr>
        <p:txBody>
          <a:bodyPr wrap="square" lIns="0" tIns="0" rIns="0" bIns="0" rtlCol="0"/>
          <a:lstStyle/>
          <a:p>
            <a:endParaRPr sz="1055"/>
          </a:p>
        </p:txBody>
      </p:sp>
      <p:sp>
        <p:nvSpPr>
          <p:cNvPr id="46" name="object 46"/>
          <p:cNvSpPr/>
          <p:nvPr/>
        </p:nvSpPr>
        <p:spPr>
          <a:xfrm>
            <a:off x="5117098" y="2991143"/>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7" name="object 47"/>
          <p:cNvSpPr/>
          <p:nvPr/>
        </p:nvSpPr>
        <p:spPr>
          <a:xfrm>
            <a:off x="5554522" y="2991766"/>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48" name="object 48"/>
          <p:cNvSpPr/>
          <p:nvPr/>
        </p:nvSpPr>
        <p:spPr>
          <a:xfrm>
            <a:off x="5117098" y="3178689"/>
            <a:ext cx="392460" cy="157386"/>
          </a:xfrm>
          <a:custGeom>
            <a:avLst/>
            <a:gdLst/>
            <a:ahLst/>
            <a:cxnLst/>
            <a:rect l="l" t="t" r="r" b="b"/>
            <a:pathLst>
              <a:path w="744220" h="298450">
                <a:moveTo>
                  <a:pt x="0" y="0"/>
                </a:moveTo>
                <a:lnTo>
                  <a:pt x="743638" y="0"/>
                </a:lnTo>
                <a:lnTo>
                  <a:pt x="743638" y="298217"/>
                </a:lnTo>
                <a:lnTo>
                  <a:pt x="0" y="298217"/>
                </a:lnTo>
                <a:lnTo>
                  <a:pt x="0" y="0"/>
                </a:lnTo>
                <a:close/>
              </a:path>
            </a:pathLst>
          </a:custGeom>
          <a:solidFill>
            <a:srgbClr val="51A7F9">
              <a:alpha val="75000"/>
            </a:srgbClr>
          </a:solidFill>
        </p:spPr>
        <p:txBody>
          <a:bodyPr wrap="square" lIns="0" tIns="0" rIns="0" bIns="0" rtlCol="0"/>
          <a:lstStyle/>
          <a:p>
            <a:endParaRPr sz="1055"/>
          </a:p>
        </p:txBody>
      </p:sp>
      <p:sp>
        <p:nvSpPr>
          <p:cNvPr id="49" name="object 49"/>
          <p:cNvSpPr/>
          <p:nvPr/>
        </p:nvSpPr>
        <p:spPr>
          <a:xfrm>
            <a:off x="5554522" y="3179314"/>
            <a:ext cx="176808" cy="156047"/>
          </a:xfrm>
          <a:custGeom>
            <a:avLst/>
            <a:gdLst/>
            <a:ahLst/>
            <a:cxnLst/>
            <a:rect l="l" t="t" r="r" b="b"/>
            <a:pathLst>
              <a:path w="335279" h="295910">
                <a:moveTo>
                  <a:pt x="0" y="0"/>
                </a:moveTo>
                <a:lnTo>
                  <a:pt x="0" y="295757"/>
                </a:lnTo>
                <a:lnTo>
                  <a:pt x="334703" y="199444"/>
                </a:lnTo>
                <a:lnTo>
                  <a:pt x="334703" y="86137"/>
                </a:lnTo>
                <a:lnTo>
                  <a:pt x="0" y="0"/>
                </a:lnTo>
                <a:close/>
              </a:path>
            </a:pathLst>
          </a:custGeom>
          <a:solidFill>
            <a:srgbClr val="F39019">
              <a:alpha val="75000"/>
            </a:srgbClr>
          </a:solidFill>
        </p:spPr>
        <p:txBody>
          <a:bodyPr wrap="square" lIns="0" tIns="0" rIns="0" bIns="0" rtlCol="0"/>
          <a:lstStyle/>
          <a:p>
            <a:endParaRPr sz="1055"/>
          </a:p>
        </p:txBody>
      </p:sp>
      <p:sp>
        <p:nvSpPr>
          <p:cNvPr id="50" name="object 50"/>
          <p:cNvSpPr/>
          <p:nvPr/>
        </p:nvSpPr>
        <p:spPr>
          <a:xfrm>
            <a:off x="4078936"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1" name="object 51"/>
          <p:cNvSpPr/>
          <p:nvPr/>
        </p:nvSpPr>
        <p:spPr>
          <a:xfrm>
            <a:off x="4936390" y="2730370"/>
            <a:ext cx="129764" cy="111386"/>
          </a:xfrm>
          <a:prstGeom prst="rect">
            <a:avLst/>
          </a:prstGeom>
          <a:blipFill>
            <a:blip r:embed="rId2" cstate="print"/>
            <a:stretch>
              <a:fillRect/>
            </a:stretch>
          </a:blipFill>
        </p:spPr>
        <p:txBody>
          <a:bodyPr wrap="square" lIns="0" tIns="0" rIns="0" bIns="0" rtlCol="0"/>
          <a:lstStyle/>
          <a:p>
            <a:endParaRPr sz="1055"/>
          </a:p>
        </p:txBody>
      </p:sp>
      <p:sp>
        <p:nvSpPr>
          <p:cNvPr id="52" name="object 52"/>
          <p:cNvSpPr/>
          <p:nvPr/>
        </p:nvSpPr>
        <p:spPr>
          <a:xfrm>
            <a:off x="300397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3" name="object 53"/>
          <p:cNvSpPr/>
          <p:nvPr/>
        </p:nvSpPr>
        <p:spPr>
          <a:xfrm>
            <a:off x="6005441"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54" name="object 54"/>
          <p:cNvSpPr/>
          <p:nvPr/>
        </p:nvSpPr>
        <p:spPr>
          <a:xfrm>
            <a:off x="2112294" y="2359949"/>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5"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5" name="object 55"/>
          <p:cNvSpPr/>
          <p:nvPr/>
        </p:nvSpPr>
        <p:spPr>
          <a:xfrm>
            <a:off x="2112295" y="2359949"/>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6" name="object 56"/>
          <p:cNvSpPr/>
          <p:nvPr/>
        </p:nvSpPr>
        <p:spPr>
          <a:xfrm>
            <a:off x="2524481" y="2637001"/>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57" name="object 57"/>
          <p:cNvSpPr/>
          <p:nvPr/>
        </p:nvSpPr>
        <p:spPr>
          <a:xfrm>
            <a:off x="2524482" y="2637002"/>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58" name="object 58"/>
          <p:cNvSpPr/>
          <p:nvPr/>
        </p:nvSpPr>
        <p:spPr>
          <a:xfrm>
            <a:off x="2120828" y="2723370"/>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4"/>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4"/>
                </a:lnTo>
                <a:lnTo>
                  <a:pt x="431284" y="314622"/>
                </a:lnTo>
                <a:lnTo>
                  <a:pt x="443577" y="272261"/>
                </a:lnTo>
                <a:lnTo>
                  <a:pt x="447675" y="228600"/>
                </a:lnTo>
                <a:lnTo>
                  <a:pt x="443577" y="184939"/>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59" name="object 59"/>
          <p:cNvSpPr/>
          <p:nvPr/>
        </p:nvSpPr>
        <p:spPr>
          <a:xfrm>
            <a:off x="2120827" y="2723370"/>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0" name="object 60"/>
          <p:cNvSpPr/>
          <p:nvPr/>
        </p:nvSpPr>
        <p:spPr>
          <a:xfrm>
            <a:off x="2553833" y="2941821"/>
            <a:ext cx="236078" cy="241102"/>
          </a:xfrm>
          <a:custGeom>
            <a:avLst/>
            <a:gdLst/>
            <a:ahLst/>
            <a:cxnLst/>
            <a:rect l="l" t="t" r="r" b="b"/>
            <a:pathLst>
              <a:path w="447675" h="457200">
                <a:moveTo>
                  <a:pt x="223837" y="0"/>
                </a:moveTo>
                <a:lnTo>
                  <a:pt x="181085"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5" y="453015"/>
                </a:lnTo>
                <a:lnTo>
                  <a:pt x="223837" y="457199"/>
                </a:lnTo>
                <a:lnTo>
                  <a:pt x="266589" y="453015"/>
                </a:lnTo>
                <a:lnTo>
                  <a:pt x="308067" y="440461"/>
                </a:lnTo>
                <a:lnTo>
                  <a:pt x="347000" y="419537"/>
                </a:lnTo>
                <a:lnTo>
                  <a:pt x="382114" y="390244"/>
                </a:lnTo>
                <a:lnTo>
                  <a:pt x="410797" y="354383"/>
                </a:lnTo>
                <a:lnTo>
                  <a:pt x="431284" y="314622"/>
                </a:lnTo>
                <a:lnTo>
                  <a:pt x="443577" y="272261"/>
                </a:lnTo>
                <a:lnTo>
                  <a:pt x="447675" y="228599"/>
                </a:lnTo>
                <a:lnTo>
                  <a:pt x="443577" y="184938"/>
                </a:lnTo>
                <a:lnTo>
                  <a:pt x="431284" y="142577"/>
                </a:lnTo>
                <a:lnTo>
                  <a:pt x="410797" y="102816"/>
                </a:lnTo>
                <a:lnTo>
                  <a:pt x="382114" y="66955"/>
                </a:lnTo>
                <a:lnTo>
                  <a:pt x="347000" y="37662"/>
                </a:lnTo>
                <a:lnTo>
                  <a:pt x="308067" y="16738"/>
                </a:lnTo>
                <a:lnTo>
                  <a:pt x="266589" y="4184"/>
                </a:lnTo>
                <a:lnTo>
                  <a:pt x="223837" y="0"/>
                </a:lnTo>
                <a:close/>
              </a:path>
            </a:pathLst>
          </a:custGeom>
          <a:solidFill>
            <a:srgbClr val="FFFFFF"/>
          </a:solidFill>
        </p:spPr>
        <p:txBody>
          <a:bodyPr wrap="square" lIns="0" tIns="0" rIns="0" bIns="0" rtlCol="0"/>
          <a:lstStyle/>
          <a:p>
            <a:endParaRPr sz="1055"/>
          </a:p>
        </p:txBody>
      </p:sp>
      <p:sp>
        <p:nvSpPr>
          <p:cNvPr id="61" name="object 61"/>
          <p:cNvSpPr/>
          <p:nvPr/>
        </p:nvSpPr>
        <p:spPr>
          <a:xfrm>
            <a:off x="2553833" y="2941821"/>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2" name="object 62"/>
          <p:cNvSpPr/>
          <p:nvPr/>
        </p:nvSpPr>
        <p:spPr>
          <a:xfrm>
            <a:off x="2220814" y="3126786"/>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9"/>
                </a:lnTo>
                <a:lnTo>
                  <a:pt x="0" y="228600"/>
                </a:lnTo>
                <a:lnTo>
                  <a:pt x="4097" y="272261"/>
                </a:lnTo>
                <a:lnTo>
                  <a:pt x="16390" y="314622"/>
                </a:lnTo>
                <a:lnTo>
                  <a:pt x="36877" y="354383"/>
                </a:lnTo>
                <a:lnTo>
                  <a:pt x="65560" y="390244"/>
                </a:lnTo>
                <a:lnTo>
                  <a:pt x="100674" y="419537"/>
                </a:lnTo>
                <a:lnTo>
                  <a:pt x="139607" y="440461"/>
                </a:lnTo>
                <a:lnTo>
                  <a:pt x="181086" y="453015"/>
                </a:lnTo>
                <a:lnTo>
                  <a:pt x="223837" y="457200"/>
                </a:lnTo>
                <a:lnTo>
                  <a:pt x="266589" y="453015"/>
                </a:lnTo>
                <a:lnTo>
                  <a:pt x="308068" y="440461"/>
                </a:lnTo>
                <a:lnTo>
                  <a:pt x="347000" y="419537"/>
                </a:lnTo>
                <a:lnTo>
                  <a:pt x="382114" y="390244"/>
                </a:lnTo>
                <a:lnTo>
                  <a:pt x="410797" y="354383"/>
                </a:lnTo>
                <a:lnTo>
                  <a:pt x="431284" y="314622"/>
                </a:lnTo>
                <a:lnTo>
                  <a:pt x="443577" y="272261"/>
                </a:lnTo>
                <a:lnTo>
                  <a:pt x="447674" y="228600"/>
                </a:lnTo>
                <a:lnTo>
                  <a:pt x="443577" y="184939"/>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3" name="object 63"/>
          <p:cNvSpPr/>
          <p:nvPr/>
        </p:nvSpPr>
        <p:spPr>
          <a:xfrm>
            <a:off x="2220814" y="3126786"/>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4" name="object 64"/>
          <p:cNvSpPr/>
          <p:nvPr/>
        </p:nvSpPr>
        <p:spPr>
          <a:xfrm>
            <a:off x="2461915" y="2203448"/>
            <a:ext cx="236078" cy="241102"/>
          </a:xfrm>
          <a:custGeom>
            <a:avLst/>
            <a:gdLst/>
            <a:ahLst/>
            <a:cxnLst/>
            <a:rect l="l" t="t" r="r" b="b"/>
            <a:pathLst>
              <a:path w="447675" h="457200">
                <a:moveTo>
                  <a:pt x="223837" y="0"/>
                </a:moveTo>
                <a:lnTo>
                  <a:pt x="181086" y="4184"/>
                </a:lnTo>
                <a:lnTo>
                  <a:pt x="139607" y="16738"/>
                </a:lnTo>
                <a:lnTo>
                  <a:pt x="100674" y="37662"/>
                </a:lnTo>
                <a:lnTo>
                  <a:pt x="65560" y="66955"/>
                </a:lnTo>
                <a:lnTo>
                  <a:pt x="36877" y="102816"/>
                </a:lnTo>
                <a:lnTo>
                  <a:pt x="16390" y="142577"/>
                </a:lnTo>
                <a:lnTo>
                  <a:pt x="4097" y="184938"/>
                </a:lnTo>
                <a:lnTo>
                  <a:pt x="0" y="228599"/>
                </a:lnTo>
                <a:lnTo>
                  <a:pt x="4097" y="272261"/>
                </a:lnTo>
                <a:lnTo>
                  <a:pt x="16390" y="314622"/>
                </a:lnTo>
                <a:lnTo>
                  <a:pt x="36877" y="354383"/>
                </a:lnTo>
                <a:lnTo>
                  <a:pt x="65560" y="390244"/>
                </a:lnTo>
                <a:lnTo>
                  <a:pt x="100674" y="419537"/>
                </a:lnTo>
                <a:lnTo>
                  <a:pt x="139607" y="440461"/>
                </a:lnTo>
                <a:lnTo>
                  <a:pt x="181086" y="453015"/>
                </a:lnTo>
                <a:lnTo>
                  <a:pt x="223837" y="457199"/>
                </a:lnTo>
                <a:lnTo>
                  <a:pt x="266589" y="453015"/>
                </a:lnTo>
                <a:lnTo>
                  <a:pt x="308068" y="440461"/>
                </a:lnTo>
                <a:lnTo>
                  <a:pt x="347000" y="419537"/>
                </a:lnTo>
                <a:lnTo>
                  <a:pt x="382114" y="390244"/>
                </a:lnTo>
                <a:lnTo>
                  <a:pt x="410797" y="354383"/>
                </a:lnTo>
                <a:lnTo>
                  <a:pt x="431284" y="314622"/>
                </a:lnTo>
                <a:lnTo>
                  <a:pt x="443577" y="272261"/>
                </a:lnTo>
                <a:lnTo>
                  <a:pt x="447674" y="228599"/>
                </a:lnTo>
                <a:lnTo>
                  <a:pt x="443577" y="184938"/>
                </a:lnTo>
                <a:lnTo>
                  <a:pt x="431284" y="142577"/>
                </a:lnTo>
                <a:lnTo>
                  <a:pt x="410797" y="102816"/>
                </a:lnTo>
                <a:lnTo>
                  <a:pt x="382114" y="66955"/>
                </a:lnTo>
                <a:lnTo>
                  <a:pt x="347000" y="37662"/>
                </a:lnTo>
                <a:lnTo>
                  <a:pt x="308068" y="16738"/>
                </a:lnTo>
                <a:lnTo>
                  <a:pt x="266589" y="4184"/>
                </a:lnTo>
                <a:lnTo>
                  <a:pt x="223837" y="0"/>
                </a:lnTo>
                <a:close/>
              </a:path>
            </a:pathLst>
          </a:custGeom>
          <a:solidFill>
            <a:srgbClr val="FFFFFF"/>
          </a:solidFill>
        </p:spPr>
        <p:txBody>
          <a:bodyPr wrap="square" lIns="0" tIns="0" rIns="0" bIns="0" rtlCol="0"/>
          <a:lstStyle/>
          <a:p>
            <a:endParaRPr sz="1055"/>
          </a:p>
        </p:txBody>
      </p:sp>
      <p:sp>
        <p:nvSpPr>
          <p:cNvPr id="65" name="object 65"/>
          <p:cNvSpPr/>
          <p:nvPr/>
        </p:nvSpPr>
        <p:spPr>
          <a:xfrm>
            <a:off x="2461915" y="2203447"/>
            <a:ext cx="236078" cy="241102"/>
          </a:xfrm>
          <a:custGeom>
            <a:avLst/>
            <a:gdLst/>
            <a:ahLst/>
            <a:cxnLst/>
            <a:rect l="l" t="t" r="r" b="b"/>
            <a:pathLst>
              <a:path w="447675" h="457200">
                <a:moveTo>
                  <a:pt x="382114" y="66955"/>
                </a:moveTo>
                <a:lnTo>
                  <a:pt x="410797" y="102816"/>
                </a:lnTo>
                <a:lnTo>
                  <a:pt x="431284" y="142577"/>
                </a:lnTo>
                <a:lnTo>
                  <a:pt x="443577" y="184938"/>
                </a:lnTo>
                <a:lnTo>
                  <a:pt x="447675" y="228599"/>
                </a:lnTo>
                <a:lnTo>
                  <a:pt x="443577" y="272261"/>
                </a:lnTo>
                <a:lnTo>
                  <a:pt x="431284" y="314622"/>
                </a:lnTo>
                <a:lnTo>
                  <a:pt x="410797" y="354383"/>
                </a:lnTo>
                <a:lnTo>
                  <a:pt x="382114" y="390244"/>
                </a:lnTo>
                <a:lnTo>
                  <a:pt x="347000" y="419537"/>
                </a:lnTo>
                <a:lnTo>
                  <a:pt x="308067" y="440461"/>
                </a:lnTo>
                <a:lnTo>
                  <a:pt x="266589" y="453015"/>
                </a:lnTo>
                <a:lnTo>
                  <a:pt x="223837" y="457200"/>
                </a:lnTo>
                <a:lnTo>
                  <a:pt x="181085" y="453015"/>
                </a:lnTo>
                <a:lnTo>
                  <a:pt x="139607" y="440461"/>
                </a:lnTo>
                <a:lnTo>
                  <a:pt x="100674" y="419537"/>
                </a:lnTo>
                <a:lnTo>
                  <a:pt x="65560" y="390244"/>
                </a:lnTo>
                <a:lnTo>
                  <a:pt x="36877" y="354383"/>
                </a:lnTo>
                <a:lnTo>
                  <a:pt x="16390" y="314622"/>
                </a:lnTo>
                <a:lnTo>
                  <a:pt x="4097" y="272261"/>
                </a:lnTo>
                <a:lnTo>
                  <a:pt x="0" y="228599"/>
                </a:lnTo>
                <a:lnTo>
                  <a:pt x="4097" y="184938"/>
                </a:lnTo>
                <a:lnTo>
                  <a:pt x="16390" y="142577"/>
                </a:lnTo>
                <a:lnTo>
                  <a:pt x="36877" y="102816"/>
                </a:lnTo>
                <a:lnTo>
                  <a:pt x="65560" y="66955"/>
                </a:lnTo>
                <a:lnTo>
                  <a:pt x="100674" y="37662"/>
                </a:lnTo>
                <a:lnTo>
                  <a:pt x="139607" y="16738"/>
                </a:lnTo>
                <a:lnTo>
                  <a:pt x="181085" y="4184"/>
                </a:lnTo>
                <a:lnTo>
                  <a:pt x="223837" y="0"/>
                </a:lnTo>
                <a:lnTo>
                  <a:pt x="266589" y="4184"/>
                </a:lnTo>
                <a:lnTo>
                  <a:pt x="308067" y="16738"/>
                </a:lnTo>
                <a:lnTo>
                  <a:pt x="347000" y="37662"/>
                </a:lnTo>
                <a:lnTo>
                  <a:pt x="382114" y="66955"/>
                </a:lnTo>
                <a:close/>
              </a:path>
            </a:pathLst>
          </a:custGeom>
          <a:ln w="9525">
            <a:solidFill>
              <a:srgbClr val="C0C0C0"/>
            </a:solidFill>
          </a:ln>
        </p:spPr>
        <p:txBody>
          <a:bodyPr wrap="square" lIns="0" tIns="0" rIns="0" bIns="0" rtlCol="0"/>
          <a:lstStyle/>
          <a:p>
            <a:endParaRPr sz="1055"/>
          </a:p>
        </p:txBody>
      </p:sp>
      <p:sp>
        <p:nvSpPr>
          <p:cNvPr id="66" name="object 66"/>
          <p:cNvSpPr/>
          <p:nvPr/>
        </p:nvSpPr>
        <p:spPr>
          <a:xfrm>
            <a:off x="2285743" y="2254065"/>
            <a:ext cx="188528" cy="79028"/>
          </a:xfrm>
          <a:custGeom>
            <a:avLst/>
            <a:gdLst/>
            <a:ahLst/>
            <a:cxnLst/>
            <a:rect l="l" t="t" r="r" b="b"/>
            <a:pathLst>
              <a:path w="357505" h="149860">
                <a:moveTo>
                  <a:pt x="356988" y="21164"/>
                </a:moveTo>
                <a:lnTo>
                  <a:pt x="308172" y="7204"/>
                </a:lnTo>
                <a:lnTo>
                  <a:pt x="261729" y="149"/>
                </a:lnTo>
                <a:lnTo>
                  <a:pt x="217659" y="0"/>
                </a:lnTo>
                <a:lnTo>
                  <a:pt x="175963" y="6755"/>
                </a:lnTo>
                <a:lnTo>
                  <a:pt x="136639" y="20415"/>
                </a:lnTo>
                <a:lnTo>
                  <a:pt x="99688" y="40980"/>
                </a:lnTo>
                <a:lnTo>
                  <a:pt x="65110" y="68450"/>
                </a:lnTo>
                <a:lnTo>
                  <a:pt x="32905" y="102826"/>
                </a:lnTo>
                <a:lnTo>
                  <a:pt x="3072" y="144106"/>
                </a:lnTo>
                <a:lnTo>
                  <a:pt x="0" y="149686"/>
                </a:lnTo>
              </a:path>
            </a:pathLst>
          </a:custGeom>
          <a:ln w="12700">
            <a:solidFill>
              <a:srgbClr val="0365C0"/>
            </a:solidFill>
          </a:ln>
        </p:spPr>
        <p:txBody>
          <a:bodyPr wrap="square" lIns="0" tIns="0" rIns="0" bIns="0" rtlCol="0"/>
          <a:lstStyle/>
          <a:p>
            <a:endParaRPr sz="1055"/>
          </a:p>
        </p:txBody>
      </p:sp>
      <p:sp>
        <p:nvSpPr>
          <p:cNvPr id="67" name="object 67"/>
          <p:cNvSpPr/>
          <p:nvPr/>
        </p:nvSpPr>
        <p:spPr>
          <a:xfrm>
            <a:off x="2269759" y="2320378"/>
            <a:ext cx="35495" cy="39179"/>
          </a:xfrm>
          <a:custGeom>
            <a:avLst/>
            <a:gdLst/>
            <a:ahLst/>
            <a:cxnLst/>
            <a:rect l="l" t="t" r="r" b="b"/>
            <a:pathLst>
              <a:path w="67310" h="74295">
                <a:moveTo>
                  <a:pt x="0" y="0"/>
                </a:moveTo>
                <a:lnTo>
                  <a:pt x="2745" y="74002"/>
                </a:lnTo>
                <a:lnTo>
                  <a:pt x="66749" y="36755"/>
                </a:lnTo>
              </a:path>
            </a:pathLst>
          </a:custGeom>
          <a:ln w="12699">
            <a:solidFill>
              <a:srgbClr val="0365C0"/>
            </a:solidFill>
          </a:ln>
        </p:spPr>
        <p:txBody>
          <a:bodyPr wrap="square" lIns="0" tIns="0" rIns="0" bIns="0" rtlCol="0"/>
          <a:lstStyle/>
          <a:p>
            <a:endParaRPr sz="1055"/>
          </a:p>
        </p:txBody>
      </p:sp>
      <p:sp>
        <p:nvSpPr>
          <p:cNvPr id="68" name="object 68"/>
          <p:cNvSpPr/>
          <p:nvPr/>
        </p:nvSpPr>
        <p:spPr>
          <a:xfrm>
            <a:off x="2271206" y="2330068"/>
            <a:ext cx="16409" cy="29468"/>
          </a:xfrm>
          <a:custGeom>
            <a:avLst/>
            <a:gdLst/>
            <a:ahLst/>
            <a:cxnLst/>
            <a:rect l="l" t="t" r="r" b="b"/>
            <a:pathLst>
              <a:path w="31114" h="55879">
                <a:moveTo>
                  <a:pt x="30629" y="0"/>
                </a:moveTo>
                <a:lnTo>
                  <a:pt x="0" y="55624"/>
                </a:lnTo>
              </a:path>
            </a:pathLst>
          </a:custGeom>
          <a:ln w="12699">
            <a:solidFill>
              <a:srgbClr val="0365C0"/>
            </a:solidFill>
          </a:ln>
        </p:spPr>
        <p:txBody>
          <a:bodyPr wrap="square" lIns="0" tIns="0" rIns="0" bIns="0" rtlCol="0"/>
          <a:lstStyle/>
          <a:p>
            <a:endParaRPr sz="1055"/>
          </a:p>
        </p:txBody>
      </p:sp>
      <p:sp>
        <p:nvSpPr>
          <p:cNvPr id="69" name="object 69"/>
          <p:cNvSpPr/>
          <p:nvPr/>
        </p:nvSpPr>
        <p:spPr>
          <a:xfrm>
            <a:off x="2348741" y="2456158"/>
            <a:ext cx="255836" cy="148345"/>
          </a:xfrm>
          <a:custGeom>
            <a:avLst/>
            <a:gdLst/>
            <a:ahLst/>
            <a:cxnLst/>
            <a:rect l="l" t="t" r="r" b="b"/>
            <a:pathLst>
              <a:path w="485139" h="281304">
                <a:moveTo>
                  <a:pt x="0" y="2121"/>
                </a:moveTo>
                <a:lnTo>
                  <a:pt x="52280" y="4"/>
                </a:lnTo>
                <a:lnTo>
                  <a:pt x="102036" y="1741"/>
                </a:lnTo>
                <a:lnTo>
                  <a:pt x="149270" y="7332"/>
                </a:lnTo>
                <a:lnTo>
                  <a:pt x="193980" y="16776"/>
                </a:lnTo>
                <a:lnTo>
                  <a:pt x="236167" y="30075"/>
                </a:lnTo>
                <a:lnTo>
                  <a:pt x="275831" y="47227"/>
                </a:lnTo>
                <a:lnTo>
                  <a:pt x="312972" y="68233"/>
                </a:lnTo>
                <a:lnTo>
                  <a:pt x="347589" y="93093"/>
                </a:lnTo>
                <a:lnTo>
                  <a:pt x="379683" y="121807"/>
                </a:lnTo>
                <a:lnTo>
                  <a:pt x="409253" y="154375"/>
                </a:lnTo>
                <a:lnTo>
                  <a:pt x="436300" y="190796"/>
                </a:lnTo>
                <a:lnTo>
                  <a:pt x="460824" y="231072"/>
                </a:lnTo>
                <a:lnTo>
                  <a:pt x="482825" y="275201"/>
                </a:lnTo>
                <a:lnTo>
                  <a:pt x="485136" y="281136"/>
                </a:lnTo>
              </a:path>
            </a:pathLst>
          </a:custGeom>
          <a:ln w="12700">
            <a:solidFill>
              <a:srgbClr val="0365C0"/>
            </a:solidFill>
          </a:ln>
        </p:spPr>
        <p:txBody>
          <a:bodyPr wrap="square" lIns="0" tIns="0" rIns="0" bIns="0" rtlCol="0"/>
          <a:lstStyle/>
          <a:p>
            <a:endParaRPr sz="1055"/>
          </a:p>
        </p:txBody>
      </p:sp>
      <p:sp>
        <p:nvSpPr>
          <p:cNvPr id="70" name="object 70"/>
          <p:cNvSpPr/>
          <p:nvPr/>
        </p:nvSpPr>
        <p:spPr>
          <a:xfrm>
            <a:off x="2584636" y="2594002"/>
            <a:ext cx="37505" cy="38510"/>
          </a:xfrm>
          <a:custGeom>
            <a:avLst/>
            <a:gdLst/>
            <a:ahLst/>
            <a:cxnLst/>
            <a:rect l="l" t="t" r="r" b="b"/>
            <a:pathLst>
              <a:path w="71119" h="73025">
                <a:moveTo>
                  <a:pt x="0" y="27643"/>
                </a:moveTo>
                <a:lnTo>
                  <a:pt x="58541" y="72995"/>
                </a:lnTo>
                <a:lnTo>
                  <a:pt x="71008" y="0"/>
                </a:lnTo>
              </a:path>
            </a:pathLst>
          </a:custGeom>
          <a:ln w="12699">
            <a:solidFill>
              <a:srgbClr val="0365C0"/>
            </a:solidFill>
          </a:ln>
        </p:spPr>
        <p:txBody>
          <a:bodyPr wrap="square" lIns="0" tIns="0" rIns="0" bIns="0" rtlCol="0"/>
          <a:lstStyle/>
          <a:p>
            <a:endParaRPr sz="1055"/>
          </a:p>
        </p:txBody>
      </p:sp>
      <p:sp>
        <p:nvSpPr>
          <p:cNvPr id="71" name="object 71"/>
          <p:cNvSpPr/>
          <p:nvPr/>
        </p:nvSpPr>
        <p:spPr>
          <a:xfrm>
            <a:off x="2603360" y="2601290"/>
            <a:ext cx="12390" cy="31478"/>
          </a:xfrm>
          <a:custGeom>
            <a:avLst/>
            <a:gdLst/>
            <a:ahLst/>
            <a:cxnLst/>
            <a:rect l="l" t="t" r="r" b="b"/>
            <a:pathLst>
              <a:path w="23494" h="59689">
                <a:moveTo>
                  <a:pt x="0" y="0"/>
                </a:moveTo>
                <a:lnTo>
                  <a:pt x="23036" y="59173"/>
                </a:lnTo>
              </a:path>
            </a:pathLst>
          </a:custGeom>
          <a:ln w="12699">
            <a:solidFill>
              <a:srgbClr val="0365C0"/>
            </a:solidFill>
          </a:ln>
        </p:spPr>
        <p:txBody>
          <a:bodyPr wrap="square" lIns="0" tIns="0" rIns="0" bIns="0" rtlCol="0"/>
          <a:lstStyle/>
          <a:p>
            <a:endParaRPr sz="1055"/>
          </a:p>
        </p:txBody>
      </p:sp>
      <p:sp>
        <p:nvSpPr>
          <p:cNvPr id="72" name="object 72"/>
          <p:cNvSpPr/>
          <p:nvPr/>
        </p:nvSpPr>
        <p:spPr>
          <a:xfrm>
            <a:off x="2355088" y="2709416"/>
            <a:ext cx="174464" cy="30473"/>
          </a:xfrm>
          <a:custGeom>
            <a:avLst/>
            <a:gdLst/>
            <a:ahLst/>
            <a:cxnLst/>
            <a:rect l="l" t="t" r="r" b="b"/>
            <a:pathLst>
              <a:path w="330835" h="57785">
                <a:moveTo>
                  <a:pt x="0" y="57189"/>
                </a:moveTo>
                <a:lnTo>
                  <a:pt x="48706" y="33838"/>
                </a:lnTo>
                <a:lnTo>
                  <a:pt x="93043" y="18436"/>
                </a:lnTo>
                <a:lnTo>
                  <a:pt x="138423" y="7662"/>
                </a:lnTo>
                <a:lnTo>
                  <a:pt x="184846" y="1517"/>
                </a:lnTo>
                <a:lnTo>
                  <a:pt x="232312" y="0"/>
                </a:lnTo>
                <a:lnTo>
                  <a:pt x="280821" y="3110"/>
                </a:lnTo>
                <a:lnTo>
                  <a:pt x="330374" y="10849"/>
                </a:lnTo>
              </a:path>
            </a:pathLst>
          </a:custGeom>
          <a:ln w="12700">
            <a:solidFill>
              <a:srgbClr val="0365C0"/>
            </a:solidFill>
          </a:ln>
        </p:spPr>
        <p:txBody>
          <a:bodyPr wrap="square" lIns="0" tIns="0" rIns="0" bIns="0" rtlCol="0"/>
          <a:lstStyle/>
          <a:p>
            <a:endParaRPr sz="1055"/>
          </a:p>
        </p:txBody>
      </p:sp>
      <p:sp>
        <p:nvSpPr>
          <p:cNvPr id="73" name="object 73"/>
          <p:cNvSpPr/>
          <p:nvPr/>
        </p:nvSpPr>
        <p:spPr>
          <a:xfrm>
            <a:off x="2329402" y="2720699"/>
            <a:ext cx="39179" cy="34826"/>
          </a:xfrm>
          <a:custGeom>
            <a:avLst/>
            <a:gdLst/>
            <a:ahLst/>
            <a:cxnLst/>
            <a:rect l="l" t="t" r="r" b="b"/>
            <a:pathLst>
              <a:path w="74294" h="66039">
                <a:moveTo>
                  <a:pt x="34192" y="0"/>
                </a:moveTo>
                <a:lnTo>
                  <a:pt x="0" y="65686"/>
                </a:lnTo>
                <a:lnTo>
                  <a:pt x="74049" y="64945"/>
                </a:lnTo>
              </a:path>
            </a:pathLst>
          </a:custGeom>
          <a:ln w="12699">
            <a:solidFill>
              <a:srgbClr val="0365C0"/>
            </a:solidFill>
          </a:ln>
        </p:spPr>
        <p:txBody>
          <a:bodyPr wrap="square" lIns="0" tIns="0" rIns="0" bIns="0" rtlCol="0"/>
          <a:lstStyle/>
          <a:p>
            <a:endParaRPr sz="1055"/>
          </a:p>
        </p:txBody>
      </p:sp>
      <p:sp>
        <p:nvSpPr>
          <p:cNvPr id="74" name="object 74"/>
          <p:cNvSpPr/>
          <p:nvPr/>
        </p:nvSpPr>
        <p:spPr>
          <a:xfrm>
            <a:off x="2329401" y="2737823"/>
            <a:ext cx="28799" cy="17748"/>
          </a:xfrm>
          <a:custGeom>
            <a:avLst/>
            <a:gdLst/>
            <a:ahLst/>
            <a:cxnLst/>
            <a:rect l="l" t="t" r="r" b="b"/>
            <a:pathLst>
              <a:path w="54610" h="33654">
                <a:moveTo>
                  <a:pt x="54121" y="0"/>
                </a:moveTo>
                <a:lnTo>
                  <a:pt x="0" y="33213"/>
                </a:lnTo>
              </a:path>
            </a:pathLst>
          </a:custGeom>
          <a:ln w="12699">
            <a:solidFill>
              <a:srgbClr val="0365C0"/>
            </a:solidFill>
          </a:ln>
        </p:spPr>
        <p:txBody>
          <a:bodyPr wrap="square" lIns="0" tIns="0" rIns="0" bIns="0" rtlCol="0"/>
          <a:lstStyle/>
          <a:p>
            <a:endParaRPr sz="1055"/>
          </a:p>
        </p:txBody>
      </p:sp>
      <p:sp>
        <p:nvSpPr>
          <p:cNvPr id="75" name="object 75"/>
          <p:cNvSpPr/>
          <p:nvPr/>
        </p:nvSpPr>
        <p:spPr>
          <a:xfrm>
            <a:off x="2463162" y="2820223"/>
            <a:ext cx="75679" cy="185849"/>
          </a:xfrm>
          <a:custGeom>
            <a:avLst/>
            <a:gdLst/>
            <a:ahLst/>
            <a:cxnLst/>
            <a:rect l="l" t="t" r="r" b="b"/>
            <a:pathLst>
              <a:path w="143510" h="352425">
                <a:moveTo>
                  <a:pt x="120617" y="351870"/>
                </a:moveTo>
                <a:lnTo>
                  <a:pt x="71330" y="318853"/>
                </a:lnTo>
                <a:lnTo>
                  <a:pt x="37997" y="287719"/>
                </a:lnTo>
                <a:lnTo>
                  <a:pt x="14998" y="255511"/>
                </a:lnTo>
                <a:lnTo>
                  <a:pt x="0" y="187876"/>
                </a:lnTo>
                <a:lnTo>
                  <a:pt x="8000" y="152448"/>
                </a:lnTo>
                <a:lnTo>
                  <a:pt x="26334" y="115946"/>
                </a:lnTo>
                <a:lnTo>
                  <a:pt x="55001" y="78371"/>
                </a:lnTo>
                <a:lnTo>
                  <a:pt x="94001" y="39722"/>
                </a:lnTo>
                <a:lnTo>
                  <a:pt x="143333" y="0"/>
                </a:lnTo>
              </a:path>
            </a:pathLst>
          </a:custGeom>
          <a:ln w="12700">
            <a:solidFill>
              <a:srgbClr val="0365C0"/>
            </a:solidFill>
          </a:ln>
        </p:spPr>
        <p:txBody>
          <a:bodyPr wrap="square" lIns="0" tIns="0" rIns="0" bIns="0" rtlCol="0"/>
          <a:lstStyle/>
          <a:p>
            <a:endParaRPr sz="1055"/>
          </a:p>
        </p:txBody>
      </p:sp>
      <p:sp>
        <p:nvSpPr>
          <p:cNvPr id="76" name="object 76"/>
          <p:cNvSpPr/>
          <p:nvPr/>
        </p:nvSpPr>
        <p:spPr>
          <a:xfrm>
            <a:off x="2514451" y="2986439"/>
            <a:ext cx="39179" cy="35831"/>
          </a:xfrm>
          <a:custGeom>
            <a:avLst/>
            <a:gdLst/>
            <a:ahLst/>
            <a:cxnLst/>
            <a:rect l="l" t="t" r="r" b="b"/>
            <a:pathLst>
              <a:path w="74294" h="67945">
                <a:moveTo>
                  <a:pt x="0" y="67436"/>
                </a:moveTo>
                <a:lnTo>
                  <a:pt x="73936" y="63284"/>
                </a:lnTo>
                <a:lnTo>
                  <a:pt x="35479" y="0"/>
                </a:lnTo>
              </a:path>
            </a:pathLst>
          </a:custGeom>
          <a:ln w="12699">
            <a:solidFill>
              <a:srgbClr val="0365C0"/>
            </a:solidFill>
          </a:ln>
        </p:spPr>
        <p:txBody>
          <a:bodyPr wrap="square" lIns="0" tIns="0" rIns="0" bIns="0" rtlCol="0"/>
          <a:lstStyle/>
          <a:p>
            <a:endParaRPr sz="1055"/>
          </a:p>
        </p:txBody>
      </p:sp>
      <p:sp>
        <p:nvSpPr>
          <p:cNvPr id="77" name="object 77"/>
          <p:cNvSpPr/>
          <p:nvPr/>
        </p:nvSpPr>
        <p:spPr>
          <a:xfrm>
            <a:off x="2523805" y="3004221"/>
            <a:ext cx="29803" cy="15739"/>
          </a:xfrm>
          <a:custGeom>
            <a:avLst/>
            <a:gdLst/>
            <a:ahLst/>
            <a:cxnLst/>
            <a:rect l="l" t="t" r="r" b="b"/>
            <a:pathLst>
              <a:path w="56514" h="29845">
                <a:moveTo>
                  <a:pt x="0" y="0"/>
                </a:moveTo>
                <a:lnTo>
                  <a:pt x="56196" y="29566"/>
                </a:lnTo>
              </a:path>
            </a:pathLst>
          </a:custGeom>
          <a:ln w="12699">
            <a:solidFill>
              <a:srgbClr val="0365C0"/>
            </a:solidFill>
          </a:ln>
        </p:spPr>
        <p:txBody>
          <a:bodyPr wrap="square" lIns="0" tIns="0" rIns="0" bIns="0" rtlCol="0"/>
          <a:lstStyle/>
          <a:p>
            <a:endParaRPr sz="1055"/>
          </a:p>
        </p:txBody>
      </p:sp>
      <p:sp>
        <p:nvSpPr>
          <p:cNvPr id="78" name="object 78"/>
          <p:cNvSpPr/>
          <p:nvPr/>
        </p:nvSpPr>
        <p:spPr>
          <a:xfrm>
            <a:off x="2487641" y="3181425"/>
            <a:ext cx="153702" cy="110505"/>
          </a:xfrm>
          <a:custGeom>
            <a:avLst/>
            <a:gdLst/>
            <a:ahLst/>
            <a:cxnLst/>
            <a:rect l="l" t="t" r="r" b="b"/>
            <a:pathLst>
              <a:path w="291464" h="209550">
                <a:moveTo>
                  <a:pt x="291170" y="0"/>
                </a:moveTo>
                <a:lnTo>
                  <a:pt x="267168" y="49139"/>
                </a:lnTo>
                <a:lnTo>
                  <a:pt x="239851" y="91708"/>
                </a:lnTo>
                <a:lnTo>
                  <a:pt x="209218" y="127707"/>
                </a:lnTo>
                <a:lnTo>
                  <a:pt x="175270" y="157136"/>
                </a:lnTo>
                <a:lnTo>
                  <a:pt x="138007" y="179995"/>
                </a:lnTo>
                <a:lnTo>
                  <a:pt x="97428" y="196284"/>
                </a:lnTo>
                <a:lnTo>
                  <a:pt x="53534" y="206003"/>
                </a:lnTo>
                <a:lnTo>
                  <a:pt x="6324" y="209152"/>
                </a:lnTo>
                <a:lnTo>
                  <a:pt x="0" y="208560"/>
                </a:lnTo>
              </a:path>
            </a:pathLst>
          </a:custGeom>
          <a:ln w="12700">
            <a:solidFill>
              <a:srgbClr val="0365C0"/>
            </a:solidFill>
          </a:ln>
        </p:spPr>
        <p:txBody>
          <a:bodyPr wrap="square" lIns="0" tIns="0" rIns="0" bIns="0" rtlCol="0"/>
          <a:lstStyle/>
          <a:p>
            <a:endParaRPr sz="1055"/>
          </a:p>
        </p:txBody>
      </p:sp>
      <p:sp>
        <p:nvSpPr>
          <p:cNvPr id="79" name="object 79"/>
          <p:cNvSpPr/>
          <p:nvPr/>
        </p:nvSpPr>
        <p:spPr>
          <a:xfrm>
            <a:off x="2457636" y="3271717"/>
            <a:ext cx="35495" cy="40184"/>
          </a:xfrm>
          <a:custGeom>
            <a:avLst/>
            <a:gdLst/>
            <a:ahLst/>
            <a:cxnLst/>
            <a:rect l="l" t="t" r="r" b="b"/>
            <a:pathLst>
              <a:path w="67310" h="76200">
                <a:moveTo>
                  <a:pt x="66777" y="0"/>
                </a:moveTo>
                <a:lnTo>
                  <a:pt x="0" y="32010"/>
                </a:lnTo>
                <a:lnTo>
                  <a:pt x="59668" y="75867"/>
                </a:lnTo>
              </a:path>
            </a:pathLst>
          </a:custGeom>
          <a:ln w="12699">
            <a:solidFill>
              <a:srgbClr val="0365C0"/>
            </a:solidFill>
          </a:ln>
        </p:spPr>
        <p:txBody>
          <a:bodyPr wrap="square" lIns="0" tIns="0" rIns="0" bIns="0" rtlCol="0"/>
          <a:lstStyle/>
          <a:p>
            <a:endParaRPr sz="1055"/>
          </a:p>
        </p:txBody>
      </p:sp>
      <p:sp>
        <p:nvSpPr>
          <p:cNvPr id="80" name="object 80"/>
          <p:cNvSpPr/>
          <p:nvPr/>
        </p:nvSpPr>
        <p:spPr>
          <a:xfrm>
            <a:off x="2457635" y="3288597"/>
            <a:ext cx="33486" cy="3349"/>
          </a:xfrm>
          <a:custGeom>
            <a:avLst/>
            <a:gdLst/>
            <a:ahLst/>
            <a:cxnLst/>
            <a:rect l="l" t="t" r="r" b="b"/>
            <a:pathLst>
              <a:path w="63500" h="6350">
                <a:moveTo>
                  <a:pt x="63223" y="5923"/>
                </a:moveTo>
                <a:lnTo>
                  <a:pt x="0" y="0"/>
                </a:lnTo>
              </a:path>
            </a:pathLst>
          </a:custGeom>
          <a:ln w="12699">
            <a:solidFill>
              <a:srgbClr val="0365C0"/>
            </a:solidFill>
          </a:ln>
        </p:spPr>
        <p:txBody>
          <a:bodyPr wrap="square" lIns="0" tIns="0" rIns="0" bIns="0" rtlCol="0"/>
          <a:lstStyle/>
          <a:p>
            <a:endParaRPr sz="1055"/>
          </a:p>
        </p:txBody>
      </p:sp>
      <p:graphicFrame>
        <p:nvGraphicFramePr>
          <p:cNvPr id="81" name="object 81"/>
          <p:cNvGraphicFramePr>
            <a:graphicFrameLocks noGrp="1"/>
          </p:cNvGraphicFramePr>
          <p:nvPr>
            <p:extLst/>
          </p:nvPr>
        </p:nvGraphicFramePr>
        <p:xfrm>
          <a:off x="6390607" y="2246282"/>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2" name="object 82"/>
          <p:cNvGraphicFramePr>
            <a:graphicFrameLocks noGrp="1"/>
          </p:cNvGraphicFramePr>
          <p:nvPr>
            <p:extLst/>
          </p:nvPr>
        </p:nvGraphicFramePr>
        <p:xfrm>
          <a:off x="6390607" y="2475884"/>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3" name="object 83"/>
          <p:cNvGraphicFramePr>
            <a:graphicFrameLocks noGrp="1"/>
          </p:cNvGraphicFramePr>
          <p:nvPr>
            <p:extLst/>
          </p:nvPr>
        </p:nvGraphicFramePr>
        <p:xfrm>
          <a:off x="6390607" y="2705486"/>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4" name="object 84"/>
          <p:cNvGraphicFramePr>
            <a:graphicFrameLocks noGrp="1"/>
          </p:cNvGraphicFramePr>
          <p:nvPr>
            <p:extLst/>
          </p:nvPr>
        </p:nvGraphicFramePr>
        <p:xfrm>
          <a:off x="6390607" y="2935089"/>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graphicFrame>
        <p:nvGraphicFramePr>
          <p:cNvPr id="85" name="object 85"/>
          <p:cNvGraphicFramePr>
            <a:graphicFrameLocks noGrp="1"/>
          </p:cNvGraphicFramePr>
          <p:nvPr>
            <p:extLst/>
          </p:nvPr>
        </p:nvGraphicFramePr>
        <p:xfrm>
          <a:off x="6390607" y="3164691"/>
          <a:ext cx="642268" cy="154455"/>
        </p:xfrm>
        <a:graphic>
          <a:graphicData uri="http://schemas.openxmlformats.org/drawingml/2006/table">
            <a:tbl>
              <a:tblPr firstRow="1" bandRow="1">
                <a:tableStyleId>{2D5ABB26-0587-4C30-8999-92F81FD0307C}</a:tableStyleId>
              </a:tblPr>
              <a:tblGrid>
                <a:gridCol w="329506">
                  <a:extLst>
                    <a:ext uri="{9D8B030D-6E8A-4147-A177-3AD203B41FA5}">
                      <a16:colId xmlns:a16="http://schemas.microsoft.com/office/drawing/2014/main" val="20000"/>
                    </a:ext>
                  </a:extLst>
                </a:gridCol>
                <a:gridCol w="79363">
                  <a:extLst>
                    <a:ext uri="{9D8B030D-6E8A-4147-A177-3AD203B41FA5}">
                      <a16:colId xmlns:a16="http://schemas.microsoft.com/office/drawing/2014/main" val="20001"/>
                    </a:ext>
                  </a:extLst>
                </a:gridCol>
                <a:gridCol w="123899">
                  <a:extLst>
                    <a:ext uri="{9D8B030D-6E8A-4147-A177-3AD203B41FA5}">
                      <a16:colId xmlns:a16="http://schemas.microsoft.com/office/drawing/2014/main" val="20002"/>
                    </a:ext>
                  </a:extLst>
                </a:gridCol>
                <a:gridCol w="109500">
                  <a:extLst>
                    <a:ext uri="{9D8B030D-6E8A-4147-A177-3AD203B41FA5}">
                      <a16:colId xmlns:a16="http://schemas.microsoft.com/office/drawing/2014/main" val="20003"/>
                    </a:ext>
                  </a:extLst>
                </a:gridCol>
              </a:tblGrid>
              <a:tr h="154455">
                <a:tc>
                  <a:txBody>
                    <a:bodyPr/>
                    <a:lstStyle/>
                    <a:p>
                      <a:pPr>
                        <a:lnSpc>
                          <a:spcPct val="100000"/>
                        </a:lnSpc>
                      </a:pPr>
                      <a:endParaRPr sz="1000">
                        <a:latin typeface="Times New Roman"/>
                        <a:cs typeface="Times New Roman"/>
                      </a:endParaRPr>
                    </a:p>
                  </a:txBody>
                  <a:tcPr marL="0" marR="0" marT="0" marB="0">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tc>
                  <a:txBody>
                    <a:bodyPr/>
                    <a:lstStyle/>
                    <a:p>
                      <a:pPr>
                        <a:lnSpc>
                          <a:spcPct val="100000"/>
                        </a:lnSpc>
                      </a:pPr>
                      <a:endParaRPr sz="1000">
                        <a:latin typeface="Times New Roman"/>
                        <a:cs typeface="Times New Roman"/>
                      </a:endParaRPr>
                    </a:p>
                  </a:txBody>
                  <a:tcPr marL="0" marR="0" marT="0" marB="0">
                    <a:lnL w="12700">
                      <a:solidFill>
                        <a:srgbClr val="53585F"/>
                      </a:solidFill>
                      <a:prstDash val="solid"/>
                    </a:lnL>
                    <a:lnR w="12700">
                      <a:solidFill>
                        <a:srgbClr val="53585F"/>
                      </a:solidFill>
                      <a:prstDash val="solid"/>
                    </a:lnR>
                    <a:lnT w="12700">
                      <a:solidFill>
                        <a:srgbClr val="53585F"/>
                      </a:solidFill>
                      <a:prstDash val="solid"/>
                    </a:lnT>
                    <a:lnB w="12700">
                      <a:solidFill>
                        <a:srgbClr val="53585F"/>
                      </a:solidFill>
                      <a:prstDash val="solid"/>
                    </a:lnB>
                    <a:solidFill>
                      <a:srgbClr val="FFDCB8">
                        <a:alpha val="64878"/>
                      </a:srgbClr>
                    </a:solidFill>
                  </a:tcPr>
                </a:tc>
                <a:extLst>
                  <a:ext uri="{0D108BD9-81ED-4DB2-BD59-A6C34878D82A}">
                    <a16:rowId xmlns:a16="http://schemas.microsoft.com/office/drawing/2014/main" val="10000"/>
                  </a:ext>
                </a:extLst>
              </a:tr>
            </a:tbl>
          </a:graphicData>
        </a:graphic>
      </p:graphicFrame>
      <p:sp>
        <p:nvSpPr>
          <p:cNvPr id="86" name="object 86"/>
          <p:cNvSpPr/>
          <p:nvPr/>
        </p:nvSpPr>
        <p:spPr>
          <a:xfrm>
            <a:off x="1713324"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7" name="object 87"/>
          <p:cNvSpPr/>
          <p:nvPr/>
        </p:nvSpPr>
        <p:spPr>
          <a:xfrm>
            <a:off x="7291965" y="2730370"/>
            <a:ext cx="129764" cy="111386"/>
          </a:xfrm>
          <a:prstGeom prst="rect">
            <a:avLst/>
          </a:prstGeom>
          <a:blipFill>
            <a:blip r:embed="rId3" cstate="print"/>
            <a:stretch>
              <a:fillRect/>
            </a:stretch>
          </a:blipFill>
        </p:spPr>
        <p:txBody>
          <a:bodyPr wrap="square" lIns="0" tIns="0" rIns="0" bIns="0" rtlCol="0"/>
          <a:lstStyle/>
          <a:p>
            <a:endParaRPr sz="1055"/>
          </a:p>
        </p:txBody>
      </p:sp>
      <p:sp>
        <p:nvSpPr>
          <p:cNvPr id="88" name="object 88"/>
          <p:cNvSpPr txBox="1"/>
          <p:nvPr/>
        </p:nvSpPr>
        <p:spPr>
          <a:xfrm>
            <a:off x="5744022" y="3810744"/>
            <a:ext cx="1846771" cy="244264"/>
          </a:xfrm>
          <a:prstGeom prst="rect">
            <a:avLst/>
          </a:prstGeom>
        </p:spPr>
        <p:txBody>
          <a:bodyPr vert="horz" wrap="square" lIns="0" tIns="6698" rIns="0" bIns="0" rtlCol="0">
            <a:spAutoFit/>
          </a:bodyPr>
          <a:lstStyle/>
          <a:p>
            <a:pPr marL="6697" marR="2679">
              <a:lnSpc>
                <a:spcPct val="116700"/>
              </a:lnSpc>
              <a:spcBef>
                <a:spcPts val="53"/>
              </a:spcBef>
            </a:pPr>
            <a:r>
              <a:rPr lang="zh-CN" altLang="en-US" sz="1319" spc="-3" dirty="0">
                <a:latin typeface="Lucida Sans Unicode"/>
                <a:cs typeface="Lucida Sans Unicode"/>
              </a:rPr>
              <a:t>声明如何构造输出分组</a:t>
            </a:r>
            <a:endParaRPr sz="1319" dirty="0">
              <a:latin typeface="Lucida Sans Unicode"/>
              <a:cs typeface="Lucida Sans Unicode"/>
            </a:endParaRPr>
          </a:p>
        </p:txBody>
      </p:sp>
      <p:sp>
        <p:nvSpPr>
          <p:cNvPr id="89" name="object 89"/>
          <p:cNvSpPr/>
          <p:nvPr/>
        </p:nvSpPr>
        <p:spPr>
          <a:xfrm>
            <a:off x="6709870" y="3435690"/>
            <a:ext cx="0" cy="243781"/>
          </a:xfrm>
          <a:custGeom>
            <a:avLst/>
            <a:gdLst/>
            <a:ahLst/>
            <a:cxnLst/>
            <a:rect l="l" t="t" r="r" b="b"/>
            <a:pathLst>
              <a:path h="462279">
                <a:moveTo>
                  <a:pt x="0" y="0"/>
                </a:moveTo>
                <a:lnTo>
                  <a:pt x="0" y="462226"/>
                </a:lnTo>
              </a:path>
            </a:pathLst>
          </a:custGeom>
          <a:ln w="25400">
            <a:solidFill>
              <a:srgbClr val="919191"/>
            </a:solidFill>
          </a:ln>
        </p:spPr>
        <p:txBody>
          <a:bodyPr wrap="square" lIns="0" tIns="0" rIns="0" bIns="0" rtlCol="0"/>
          <a:lstStyle/>
          <a:p>
            <a:endParaRPr sz="1055"/>
          </a:p>
        </p:txBody>
      </p:sp>
      <p:sp>
        <p:nvSpPr>
          <p:cNvPr id="90" name="object 90"/>
          <p:cNvSpPr/>
          <p:nvPr/>
        </p:nvSpPr>
        <p:spPr>
          <a:xfrm>
            <a:off x="6677724" y="3672745"/>
            <a:ext cx="64294" cy="64294"/>
          </a:xfrm>
          <a:custGeom>
            <a:avLst/>
            <a:gdLst/>
            <a:ahLst/>
            <a:cxnLst/>
            <a:rect l="l" t="t" r="r" b="b"/>
            <a:pathLst>
              <a:path w="121920" h="121920">
                <a:moveTo>
                  <a:pt x="121920" y="0"/>
                </a:moveTo>
                <a:lnTo>
                  <a:pt x="0" y="0"/>
                </a:lnTo>
                <a:lnTo>
                  <a:pt x="60960" y="121919"/>
                </a:lnTo>
                <a:lnTo>
                  <a:pt x="121920" y="0"/>
                </a:lnTo>
                <a:close/>
              </a:path>
            </a:pathLst>
          </a:custGeom>
          <a:solidFill>
            <a:srgbClr val="919191"/>
          </a:solidFill>
        </p:spPr>
        <p:txBody>
          <a:bodyPr wrap="square" lIns="0" tIns="0" rIns="0" bIns="0" rtlCol="0"/>
          <a:lstStyle/>
          <a:p>
            <a:endParaRPr sz="1055"/>
          </a:p>
        </p:txBody>
      </p:sp>
      <p:sp>
        <p:nvSpPr>
          <p:cNvPr id="94" name="object 88"/>
          <p:cNvSpPr txBox="1"/>
          <p:nvPr/>
        </p:nvSpPr>
        <p:spPr>
          <a:xfrm>
            <a:off x="2174379" y="1727895"/>
            <a:ext cx="514350"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解析器</a:t>
            </a:r>
            <a:endParaRPr sz="1319" b="1" dirty="0">
              <a:latin typeface="Lucida Sans Unicode"/>
              <a:cs typeface="Lucida Sans Unicode"/>
            </a:endParaRPr>
          </a:p>
        </p:txBody>
      </p:sp>
      <p:sp>
        <p:nvSpPr>
          <p:cNvPr id="95" name="object 89"/>
          <p:cNvSpPr txBox="1"/>
          <p:nvPr/>
        </p:nvSpPr>
        <p:spPr>
          <a:xfrm>
            <a:off x="3667870" y="1727895"/>
            <a:ext cx="1804913"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匹配</a:t>
            </a:r>
            <a:r>
              <a:rPr lang="en-US" altLang="zh-CN" sz="1319" b="1" spc="-3" dirty="0">
                <a:latin typeface="Lucida Sans Unicode"/>
                <a:cs typeface="Lucida Sans Unicode"/>
              </a:rPr>
              <a:t>-</a:t>
            </a:r>
            <a:r>
              <a:rPr lang="zh-CN" altLang="en-US" sz="1319" b="1" spc="-3" dirty="0">
                <a:latin typeface="Lucida Sans Unicode"/>
                <a:cs typeface="Lucida Sans Unicode"/>
              </a:rPr>
              <a:t>动作流水线</a:t>
            </a:r>
            <a:endParaRPr sz="1319" b="1" dirty="0">
              <a:latin typeface="Lucida Sans Unicode"/>
              <a:cs typeface="Lucida Sans Unicode"/>
            </a:endParaRPr>
          </a:p>
        </p:txBody>
      </p:sp>
      <p:sp>
        <p:nvSpPr>
          <p:cNvPr id="96" name="object 90"/>
          <p:cNvSpPr txBox="1"/>
          <p:nvPr/>
        </p:nvSpPr>
        <p:spPr>
          <a:xfrm>
            <a:off x="6346776" y="1727895"/>
            <a:ext cx="745741" cy="209768"/>
          </a:xfrm>
          <a:prstGeom prst="rect">
            <a:avLst/>
          </a:prstGeom>
        </p:spPr>
        <p:txBody>
          <a:bodyPr vert="horz" wrap="square" lIns="0" tIns="6698" rIns="0" bIns="0" rtlCol="0">
            <a:spAutoFit/>
          </a:bodyPr>
          <a:lstStyle/>
          <a:p>
            <a:pPr marL="6697">
              <a:spcBef>
                <a:spcPts val="53"/>
              </a:spcBef>
            </a:pPr>
            <a:r>
              <a:rPr lang="zh-CN" altLang="en-US" sz="1319" b="1" spc="-3" dirty="0">
                <a:latin typeface="Lucida Sans Unicode"/>
                <a:cs typeface="Lucida Sans Unicode"/>
              </a:rPr>
              <a:t>逆解析器</a:t>
            </a:r>
            <a:endParaRPr sz="1319" b="1" dirty="0">
              <a:latin typeface="Lucida Sans Unicode"/>
              <a:cs typeface="Lucida Sans Unicode"/>
            </a:endParaRPr>
          </a:p>
        </p:txBody>
      </p:sp>
      <p:sp>
        <p:nvSpPr>
          <p:cNvPr id="102" name="AutoShape 5"/>
          <p:cNvSpPr>
            <a:spLocks noChangeArrowheads="1"/>
          </p:cNvSpPr>
          <p:nvPr/>
        </p:nvSpPr>
        <p:spPr bwMode="auto">
          <a:xfrm>
            <a:off x="545144" y="614144"/>
            <a:ext cx="8053711" cy="353930"/>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zh-CN" altLang="en-US" dirty="0">
              <a:latin typeface="宋体" charset="-122"/>
            </a:endParaRPr>
          </a:p>
        </p:txBody>
      </p:sp>
      <p:sp>
        <p:nvSpPr>
          <p:cNvPr id="103" name="Rectangle 6"/>
          <p:cNvSpPr>
            <a:spLocks noChangeArrowheads="1"/>
          </p:cNvSpPr>
          <p:nvPr/>
        </p:nvSpPr>
        <p:spPr bwMode="auto">
          <a:xfrm>
            <a:off x="1941968" y="580933"/>
            <a:ext cx="5260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a:solidFill>
                  <a:schemeClr val="bg1"/>
                </a:solidFill>
                <a:latin typeface="微软雅黑" pitchFamily="34" charset="-122"/>
                <a:ea typeface="微软雅黑" pitchFamily="34" charset="-122"/>
              </a:rPr>
              <a:t>P4</a:t>
            </a:r>
            <a:r>
              <a:rPr lang="zh-CN" altLang="en-US" sz="2000" b="1" dirty="0">
                <a:solidFill>
                  <a:schemeClr val="bg1"/>
                </a:solidFill>
                <a:latin typeface="微软雅黑" pitchFamily="34" charset="-122"/>
                <a:ea typeface="微软雅黑" pitchFamily="34" charset="-122"/>
              </a:rPr>
              <a:t>程序核心组件</a:t>
            </a:r>
          </a:p>
        </p:txBody>
      </p:sp>
    </p:spTree>
    <p:extLst>
      <p:ext uri="{BB962C8B-B14F-4D97-AF65-F5344CB8AC3E}">
        <p14:creationId xmlns:p14="http://schemas.microsoft.com/office/powerpoint/2010/main" val="11866447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数据中心网络优化</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01898" y="1027947"/>
            <a:ext cx="4435862" cy="3513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a:solidFill>
                  <a:srgbClr val="C00000"/>
                </a:solidFill>
                <a:latin typeface="微软雅黑" pitchFamily="34" charset="-122"/>
                <a:ea typeface="微软雅黑" pitchFamily="34" charset="-122"/>
              </a:rPr>
              <a:t>B4</a:t>
            </a:r>
            <a:r>
              <a:rPr lang="zh-CN" altLang="en-US" b="1" dirty="0">
                <a:latin typeface="微软雅黑" pitchFamily="34" charset="-122"/>
                <a:ea typeface="微软雅黑" pitchFamily="34" charset="-122"/>
              </a:rPr>
              <a:t>是谷歌公司利用</a:t>
            </a: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技术建立的一个互联其全球数据中心的</a:t>
            </a:r>
            <a:r>
              <a:rPr lang="zh-CN" altLang="en-US" b="1" dirty="0">
                <a:solidFill>
                  <a:srgbClr val="C00000"/>
                </a:solidFill>
                <a:latin typeface="微软雅黑" pitchFamily="34" charset="-122"/>
                <a:ea typeface="微软雅黑" pitchFamily="34" charset="-122"/>
              </a:rPr>
              <a:t>私有广域网</a:t>
            </a:r>
            <a:r>
              <a:rPr lang="zh-CN" altLang="en-US" b="1" dirty="0" smtClean="0">
                <a:latin typeface="微软雅黑" pitchFamily="34" charset="-122"/>
                <a:ea typeface="微软雅黑" pitchFamily="34" charset="-122"/>
              </a:rPr>
              <a:t>，通过</a:t>
            </a:r>
            <a:r>
              <a:rPr lang="zh-CN" altLang="en-US" b="1" dirty="0">
                <a:latin typeface="微软雅黑" pitchFamily="34" charset="-122"/>
                <a:ea typeface="微软雅黑" pitchFamily="34" charset="-122"/>
              </a:rPr>
              <a:t>集中控制与全局流量工程来解决跨数据中心带宽利用率低下的问题。</a:t>
            </a:r>
            <a:r>
              <a:rPr lang="en-US" altLang="zh-CN" b="1" dirty="0">
                <a:latin typeface="微软雅黑" pitchFamily="34" charset="-122"/>
                <a:ea typeface="微软雅黑" pitchFamily="34" charset="-122"/>
              </a:rPr>
              <a:t>B4</a:t>
            </a:r>
            <a:r>
              <a:rPr lang="zh-CN" altLang="en-US" b="1" dirty="0">
                <a:latin typeface="微软雅黑" pitchFamily="34" charset="-122"/>
                <a:ea typeface="微软雅黑" pitchFamily="34" charset="-122"/>
              </a:rPr>
              <a:t>采用</a:t>
            </a:r>
            <a:r>
              <a:rPr lang="en-US" altLang="zh-CN" b="1" dirty="0">
                <a:solidFill>
                  <a:srgbClr val="C00000"/>
                </a:solidFill>
                <a:latin typeface="微软雅黑" pitchFamily="34" charset="-122"/>
                <a:ea typeface="微软雅黑" pitchFamily="34" charset="-122"/>
              </a:rPr>
              <a:t>OpenFlow</a:t>
            </a:r>
            <a:r>
              <a:rPr lang="zh-CN" altLang="en-US" b="1" dirty="0">
                <a:solidFill>
                  <a:srgbClr val="C00000"/>
                </a:solidFill>
                <a:latin typeface="微软雅黑" pitchFamily="34" charset="-122"/>
                <a:ea typeface="微软雅黑" pitchFamily="34" charset="-122"/>
              </a:rPr>
              <a:t>白盒交换机</a:t>
            </a:r>
            <a:r>
              <a:rPr lang="en-US" altLang="zh-CN" b="1" dirty="0">
                <a:solidFill>
                  <a:srgbClr val="C00000"/>
                </a:solidFill>
                <a:latin typeface="微软雅黑" pitchFamily="34" charset="-122"/>
                <a:ea typeface="微软雅黑" pitchFamily="34" charset="-122"/>
              </a:rPr>
              <a:t>(White Box Switch) </a:t>
            </a:r>
            <a:r>
              <a:rPr lang="zh-CN" altLang="en-US" b="1" dirty="0">
                <a:solidFill>
                  <a:srgbClr val="C00000"/>
                </a:solidFill>
                <a:latin typeface="微软雅黑" pitchFamily="34" charset="-122"/>
                <a:ea typeface="微软雅黑" pitchFamily="34" charset="-122"/>
              </a:rPr>
              <a:t>与自研控制器</a:t>
            </a:r>
            <a:r>
              <a:rPr lang="zh-CN" altLang="en-US" b="1" dirty="0" smtClean="0">
                <a:latin typeface="微软雅黑" pitchFamily="34" charset="-122"/>
                <a:ea typeface="微软雅黑" pitchFamily="34" charset="-122"/>
              </a:rPr>
              <a:t>，将</a:t>
            </a:r>
            <a:r>
              <a:rPr lang="zh-CN" altLang="en-US" b="1" dirty="0">
                <a:latin typeface="微软雅黑" pitchFamily="34" charset="-122"/>
                <a:ea typeface="微软雅黑" pitchFamily="34" charset="-122"/>
              </a:rPr>
              <a:t>跨数据中心链路的带宽利用率</a:t>
            </a:r>
            <a:r>
              <a:rPr lang="zh-CN" altLang="en-US" b="1" dirty="0">
                <a:solidFill>
                  <a:srgbClr val="C00000"/>
                </a:solidFill>
                <a:latin typeface="微软雅黑" pitchFamily="34" charset="-122"/>
                <a:ea typeface="微软雅黑" pitchFamily="34" charset="-122"/>
              </a:rPr>
              <a:t>从不足</a:t>
            </a:r>
            <a:r>
              <a:rPr lang="en-US" altLang="zh-CN" b="1" dirty="0">
                <a:solidFill>
                  <a:srgbClr val="C00000"/>
                </a:solidFill>
                <a:latin typeface="微软雅黑" pitchFamily="34" charset="-122"/>
                <a:ea typeface="微软雅黑" pitchFamily="34" charset="-122"/>
              </a:rPr>
              <a:t>30%</a:t>
            </a:r>
            <a:r>
              <a:rPr lang="zh-CN" altLang="en-US" b="1" dirty="0">
                <a:solidFill>
                  <a:srgbClr val="C00000"/>
                </a:solidFill>
                <a:latin typeface="微软雅黑" pitchFamily="34" charset="-122"/>
                <a:ea typeface="微软雅黑" pitchFamily="34" charset="-122"/>
              </a:rPr>
              <a:t>提升至</a:t>
            </a:r>
            <a:r>
              <a:rPr lang="en-US" altLang="zh-CN" b="1" dirty="0">
                <a:solidFill>
                  <a:srgbClr val="C00000"/>
                </a:solidFill>
                <a:latin typeface="微软雅黑" pitchFamily="34" charset="-122"/>
                <a:ea typeface="微软雅黑" pitchFamily="34" charset="-122"/>
              </a:rPr>
              <a:t>95%</a:t>
            </a:r>
            <a:r>
              <a:rPr lang="zh-CN" altLang="en-US" b="1" dirty="0">
                <a:solidFill>
                  <a:srgbClr val="C00000"/>
                </a:solidFill>
                <a:latin typeface="微软雅黑" pitchFamily="34" charset="-122"/>
                <a:ea typeface="微软雅黑" pitchFamily="34" charset="-122"/>
              </a:rPr>
              <a:t>以上</a:t>
            </a:r>
            <a:r>
              <a:rPr lang="zh-CN" altLang="en-US" b="1" dirty="0">
                <a:latin typeface="微软雅黑" pitchFamily="34" charset="-122"/>
                <a:ea typeface="微软雅黑" pitchFamily="34" charset="-122"/>
              </a:rPr>
              <a:t>，同时硬件成本降低</a:t>
            </a:r>
            <a:r>
              <a:rPr lang="en-US" altLang="zh-CN" b="1" dirty="0">
                <a:latin typeface="微软雅黑" pitchFamily="34" charset="-122"/>
                <a:ea typeface="微软雅黑" pitchFamily="34" charset="-122"/>
              </a:rPr>
              <a:t>50%</a:t>
            </a:r>
            <a:r>
              <a:rPr lang="zh-CN" altLang="en-US" b="1" dirty="0">
                <a:latin typeface="微软雅黑" pitchFamily="34" charset="-122"/>
                <a:ea typeface="微软雅黑" pitchFamily="34" charset="-122"/>
              </a:rPr>
              <a:t>，成为</a:t>
            </a: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技术大规模应用的</a:t>
            </a:r>
            <a:r>
              <a:rPr lang="zh-CN" altLang="en-US" b="1" dirty="0" smtClean="0">
                <a:latin typeface="微软雅黑" pitchFamily="34" charset="-122"/>
                <a:ea typeface="微软雅黑" pitchFamily="34" charset="-122"/>
              </a:rPr>
              <a:t>里程碑。</a:t>
            </a:r>
            <a:endParaRPr lang="en-US" altLang="zh-CN" b="1" dirty="0" smtClean="0">
              <a:latin typeface="微软雅黑" pitchFamily="34" charset="-122"/>
              <a:ea typeface="微软雅黑" pitchFamily="34"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898857671"/>
              </p:ext>
            </p:extLst>
          </p:nvPr>
        </p:nvGraphicFramePr>
        <p:xfrm>
          <a:off x="5321183" y="1193533"/>
          <a:ext cx="3656781" cy="3031690"/>
        </p:xfrm>
        <a:graphic>
          <a:graphicData uri="http://schemas.openxmlformats.org/presentationml/2006/ole">
            <mc:AlternateContent xmlns:mc="http://schemas.openxmlformats.org/markup-compatibility/2006">
              <mc:Choice xmlns:v="urn:schemas-microsoft-com:vml" Requires="v">
                <p:oleObj spid="_x0000_s30726" name="Visio" r:id="rId5" imgW="2965612" imgH="2463632" progId="Visio.Drawing.15">
                  <p:embed/>
                </p:oleObj>
              </mc:Choice>
              <mc:Fallback>
                <p:oleObj name="Visio" r:id="rId5" imgW="2965612" imgH="2463632"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1183" y="1193533"/>
                        <a:ext cx="3656781" cy="3031690"/>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98870670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带内网络遥测</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01898" y="1027947"/>
            <a:ext cx="3956490"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通过</a:t>
            </a:r>
            <a:r>
              <a:rPr lang="zh-CN" altLang="en-US" sz="1600" b="1" dirty="0">
                <a:solidFill>
                  <a:srgbClr val="C00000"/>
                </a:solidFill>
                <a:latin typeface="微软雅黑" pitchFamily="34" charset="-122"/>
                <a:ea typeface="微软雅黑" pitchFamily="34" charset="-122"/>
              </a:rPr>
              <a:t>带内网络遥测</a:t>
            </a:r>
            <a:r>
              <a:rPr lang="en-US" altLang="zh-CN" sz="1600" b="1" dirty="0">
                <a:solidFill>
                  <a:srgbClr val="C00000"/>
                </a:solidFill>
                <a:latin typeface="微软雅黑" pitchFamily="34" charset="-122"/>
                <a:ea typeface="微软雅黑" pitchFamily="34" charset="-122"/>
              </a:rPr>
              <a:t>INT (In-band Network Telemetry)</a:t>
            </a:r>
            <a:r>
              <a:rPr lang="zh-CN" altLang="en-US" sz="1600" b="1" dirty="0">
                <a:latin typeface="微软雅黑" pitchFamily="34" charset="-122"/>
                <a:ea typeface="微软雅黑" pitchFamily="34" charset="-122"/>
              </a:rPr>
              <a:t>方法对网络状态进行实时</a:t>
            </a:r>
            <a:r>
              <a:rPr lang="zh-CN" altLang="en-US" sz="1600" b="1" dirty="0" smtClean="0">
                <a:latin typeface="微软雅黑" pitchFamily="34" charset="-122"/>
                <a:ea typeface="微软雅黑" pitchFamily="34" charset="-122"/>
              </a:rPr>
              <a:t>监测。</a:t>
            </a:r>
            <a:endParaRPr lang="en-US" altLang="zh-CN" sz="1600"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利用可编程交换机灵活处理分组首部的能力，直接让其将队列长度、链路利用率、排队时延等网络状态信息作为元数据嵌入在传输分组中，并在分组到达目的节点前将</a:t>
            </a:r>
            <a:r>
              <a:rPr lang="en-US" altLang="zh-CN" sz="1600" b="1" dirty="0">
                <a:latin typeface="微软雅黑" pitchFamily="34" charset="-122"/>
                <a:ea typeface="微软雅黑" pitchFamily="34" charset="-122"/>
              </a:rPr>
              <a:t>INT</a:t>
            </a:r>
            <a:r>
              <a:rPr lang="zh-CN" altLang="en-US" sz="1600" b="1" dirty="0">
                <a:latin typeface="微软雅黑" pitchFamily="34" charset="-122"/>
                <a:ea typeface="微软雅黑" pitchFamily="34" charset="-122"/>
              </a:rPr>
              <a:t>数据剥离和发送至专门的主机处理，实现网络状态数据的高效采集。</a:t>
            </a:r>
            <a:endParaRPr lang="en-US" altLang="zh-CN" sz="1600" b="1" dirty="0" smtClean="0">
              <a:latin typeface="微软雅黑" pitchFamily="34" charset="-122"/>
              <a:ea typeface="微软雅黑" pitchFamily="34"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648573801"/>
              </p:ext>
            </p:extLst>
          </p:nvPr>
        </p:nvGraphicFramePr>
        <p:xfrm>
          <a:off x="4458388" y="1395664"/>
          <a:ext cx="4704862" cy="2414337"/>
        </p:xfrm>
        <a:graphic>
          <a:graphicData uri="http://schemas.openxmlformats.org/presentationml/2006/ole">
            <mc:AlternateContent xmlns:mc="http://schemas.openxmlformats.org/markup-compatibility/2006">
              <mc:Choice xmlns:v="urn:schemas-microsoft-com:vml" Requires="v">
                <p:oleObj spid="_x0000_s33797" name="Visio" r:id="rId5" imgW="6914981" imgH="3517874" progId="Visio.Drawing.15">
                  <p:embed/>
                </p:oleObj>
              </mc:Choice>
              <mc:Fallback>
                <p:oleObj name="Visio" r:id="rId5" imgW="6914981" imgH="3517874"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b="-937"/>
                      <a:stretch>
                        <a:fillRect/>
                      </a:stretch>
                    </p:blipFill>
                    <p:spPr bwMode="auto">
                      <a:xfrm>
                        <a:off x="4458388" y="1395664"/>
                        <a:ext cx="4704862" cy="2414337"/>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3848686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园区网络管理</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01898" y="1027947"/>
            <a:ext cx="81601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通过</a:t>
            </a:r>
            <a:r>
              <a:rPr lang="zh-CN" altLang="en-US" b="1" dirty="0">
                <a:solidFill>
                  <a:srgbClr val="C00000"/>
                </a:solidFill>
                <a:latin typeface="微软雅黑" pitchFamily="34" charset="-122"/>
                <a:ea typeface="微软雅黑" pitchFamily="34" charset="-122"/>
              </a:rPr>
              <a:t>逻辑上集中控制</a:t>
            </a:r>
            <a:r>
              <a:rPr lang="zh-CN" altLang="en-US" b="1" dirty="0">
                <a:latin typeface="微软雅黑" pitchFamily="34" charset="-122"/>
                <a:ea typeface="微软雅黑" pitchFamily="34" charset="-122"/>
              </a:rPr>
              <a:t>的理念，能够在控制器维护</a:t>
            </a:r>
            <a:r>
              <a:rPr lang="zh-CN" altLang="en-US" b="1" dirty="0">
                <a:solidFill>
                  <a:srgbClr val="C00000"/>
                </a:solidFill>
                <a:latin typeface="微软雅黑" pitchFamily="34" charset="-122"/>
                <a:ea typeface="微软雅黑" pitchFamily="34" charset="-122"/>
              </a:rPr>
              <a:t>整个园区网络的逻辑视图</a:t>
            </a:r>
            <a:r>
              <a:rPr lang="zh-CN" altLang="en-US" b="1" dirty="0">
                <a:latin typeface="微软雅黑" pitchFamily="34" charset="-122"/>
                <a:ea typeface="微软雅黑" pitchFamily="34" charset="-122"/>
              </a:rPr>
              <a:t>，从而全面掌控网络状态，实现对园区网络的</a:t>
            </a:r>
            <a:r>
              <a:rPr lang="zh-CN" altLang="en-US" b="1" dirty="0">
                <a:solidFill>
                  <a:srgbClr val="C00000"/>
                </a:solidFill>
                <a:latin typeface="微软雅黑" pitchFamily="34" charset="-122"/>
                <a:ea typeface="微软雅黑" pitchFamily="34" charset="-122"/>
              </a:rPr>
              <a:t>统一管理与</a:t>
            </a:r>
            <a:r>
              <a:rPr lang="zh-CN" altLang="en-US" b="1" dirty="0" smtClean="0">
                <a:solidFill>
                  <a:srgbClr val="C00000"/>
                </a:solidFill>
                <a:latin typeface="微软雅黑" pitchFamily="34" charset="-122"/>
                <a:ea typeface="微软雅黑" pitchFamily="34" charset="-122"/>
              </a:rPr>
              <a:t>配置</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网络自动化</a:t>
            </a:r>
            <a:r>
              <a:rPr lang="zh-CN" altLang="en-US" sz="1600" b="1" dirty="0" smtClean="0">
                <a:latin typeface="微软雅黑" pitchFamily="34" charset="-122"/>
                <a:ea typeface="微软雅黑" pitchFamily="34" charset="-122"/>
              </a:rPr>
              <a:t>配置</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网络流量</a:t>
            </a:r>
            <a:r>
              <a:rPr lang="zh-CN" altLang="en-US" sz="1600" b="1" dirty="0" smtClean="0">
                <a:latin typeface="微软雅黑" pitchFamily="34" charset="-122"/>
                <a:ea typeface="微软雅黑" pitchFamily="34" charset="-122"/>
              </a:rPr>
              <a:t>优化</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网络故障检测与</a:t>
            </a:r>
            <a:r>
              <a:rPr lang="zh-CN" altLang="en-US" sz="1600" b="1" dirty="0" smtClean="0">
                <a:latin typeface="微软雅黑" pitchFamily="34" charset="-122"/>
                <a:ea typeface="微软雅黑" pitchFamily="34" charset="-122"/>
              </a:rPr>
              <a:t>恢复</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网络安全策略统一部署</a:t>
            </a:r>
            <a:endParaRPr lang="en-US" altLang="zh-CN" sz="16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7437429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网络安全增强</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01898" y="1027947"/>
            <a:ext cx="8160188" cy="26058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SDN</a:t>
            </a:r>
            <a:r>
              <a:rPr lang="zh-CN" altLang="en-US" b="1" dirty="0">
                <a:latin typeface="微软雅黑" pitchFamily="34" charset="-122"/>
                <a:ea typeface="微软雅黑" pitchFamily="34" charset="-122"/>
              </a:rPr>
              <a:t>通过</a:t>
            </a:r>
            <a:r>
              <a:rPr lang="zh-CN" altLang="en-US" b="1" dirty="0">
                <a:solidFill>
                  <a:srgbClr val="C00000"/>
                </a:solidFill>
                <a:latin typeface="微软雅黑" pitchFamily="34" charset="-122"/>
                <a:ea typeface="微软雅黑" pitchFamily="34" charset="-122"/>
              </a:rPr>
              <a:t>集中控制、动态可编程和全局状态可视性</a:t>
            </a:r>
            <a:r>
              <a:rPr lang="zh-CN" altLang="en-US" b="1" dirty="0">
                <a:latin typeface="微软雅黑" pitchFamily="34" charset="-122"/>
                <a:ea typeface="微软雅黑" pitchFamily="34" charset="-122"/>
              </a:rPr>
              <a:t>，能够解决传统网络安全方案依赖静态规则、响应滞后和协同性差等问题，为网络提供</a:t>
            </a:r>
            <a:r>
              <a:rPr lang="zh-CN" altLang="en-US" b="1" dirty="0">
                <a:solidFill>
                  <a:srgbClr val="C00000"/>
                </a:solidFill>
                <a:latin typeface="微软雅黑" pitchFamily="34" charset="-122"/>
                <a:ea typeface="微软雅黑" pitchFamily="34" charset="-122"/>
              </a:rPr>
              <a:t>更灵活、更精准的安全防护手段</a:t>
            </a:r>
            <a:r>
              <a:rPr lang="zh-CN" altLang="en-US" b="1" dirty="0">
                <a:latin typeface="微软雅黑" pitchFamily="34" charset="-122"/>
                <a:ea typeface="微软雅黑" pitchFamily="34" charset="-122"/>
              </a:rPr>
              <a:t>，从而提升网络的整体安全性。</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网络动态访问</a:t>
            </a:r>
            <a:r>
              <a:rPr lang="zh-CN" altLang="en-US" sz="1600" b="1" dirty="0" smtClean="0">
                <a:latin typeface="微软雅黑" pitchFamily="34" charset="-122"/>
                <a:ea typeface="微软雅黑" pitchFamily="34" charset="-122"/>
              </a:rPr>
              <a:t>控制</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网络流量</a:t>
            </a:r>
            <a:r>
              <a:rPr lang="zh-CN" altLang="en-US" sz="1600" b="1" dirty="0" smtClean="0">
                <a:latin typeface="微软雅黑" pitchFamily="34" charset="-122"/>
                <a:ea typeface="微软雅黑" pitchFamily="34" charset="-122"/>
              </a:rPr>
              <a:t>清洗</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网络安全</a:t>
            </a:r>
            <a:r>
              <a:rPr lang="zh-CN" altLang="en-US" sz="1600" b="1" dirty="0" smtClean="0">
                <a:latin typeface="微软雅黑" pitchFamily="34" charset="-122"/>
                <a:ea typeface="微软雅黑" pitchFamily="34" charset="-122"/>
              </a:rPr>
              <a:t>隔离</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网络主动防御</a:t>
            </a:r>
            <a:endParaRPr lang="en-US" altLang="zh-CN" sz="16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7823642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0"/>
          <p:cNvSpPr>
            <a:spLocks noChangeArrowheads="1"/>
          </p:cNvSpPr>
          <p:nvPr/>
        </p:nvSpPr>
        <p:spPr bwMode="auto">
          <a:xfrm>
            <a:off x="2629135" y="280657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3" name="Rectangle 9"/>
          <p:cNvSpPr>
            <a:spLocks noChangeArrowheads="1"/>
          </p:cNvSpPr>
          <p:nvPr/>
        </p:nvSpPr>
        <p:spPr bwMode="auto">
          <a:xfrm>
            <a:off x="2629135" y="232298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4" name="Rectangle 9"/>
          <p:cNvSpPr>
            <a:spLocks noChangeArrowheads="1"/>
          </p:cNvSpPr>
          <p:nvPr/>
        </p:nvSpPr>
        <p:spPr bwMode="auto">
          <a:xfrm>
            <a:off x="2629135" y="140068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5" name="Rectangle 10"/>
          <p:cNvSpPr>
            <a:spLocks noChangeArrowheads="1"/>
          </p:cNvSpPr>
          <p:nvPr/>
        </p:nvSpPr>
        <p:spPr bwMode="auto">
          <a:xfrm>
            <a:off x="2629135" y="186443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6" name="Line 16"/>
          <p:cNvSpPr>
            <a:spLocks noChangeShapeType="1"/>
          </p:cNvSpPr>
          <p:nvPr/>
        </p:nvSpPr>
        <p:spPr bwMode="auto">
          <a:xfrm>
            <a:off x="3637197" y="1329242"/>
            <a:ext cx="37336" cy="2740961"/>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Rectangle 27"/>
          <p:cNvSpPr>
            <a:spLocks noChangeArrowheads="1"/>
          </p:cNvSpPr>
          <p:nvPr/>
        </p:nvSpPr>
        <p:spPr bwMode="auto">
          <a:xfrm>
            <a:off x="639730" y="140068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28" name="Rectangle 29"/>
          <p:cNvSpPr>
            <a:spLocks noChangeArrowheads="1"/>
          </p:cNvSpPr>
          <p:nvPr/>
        </p:nvSpPr>
        <p:spPr bwMode="auto">
          <a:xfrm>
            <a:off x="648619" y="149561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2000" b="1" dirty="0" smtClean="0">
                <a:solidFill>
                  <a:srgbClr val="FFFF00"/>
                </a:solidFill>
                <a:latin typeface="微软雅黑" panose="020B0503020204020204" pitchFamily="34" charset="-122"/>
                <a:ea typeface="微软雅黑" panose="020B0503020204020204" pitchFamily="34" charset="-122"/>
              </a:rPr>
              <a:t>9.2</a:t>
            </a:r>
            <a:endParaRPr lang="en-US"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smtClean="0">
                <a:solidFill>
                  <a:schemeClr val="bg1"/>
                </a:solidFill>
                <a:latin typeface="微软雅黑" panose="020B0503020204020204" pitchFamily="34" charset="-122"/>
                <a:ea typeface="微软雅黑" panose="020B0503020204020204" pitchFamily="34" charset="-122"/>
              </a:rPr>
              <a:t>网络功能虚拟化技术</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
        <p:nvSpPr>
          <p:cNvPr id="29" name="Rectangle 8"/>
          <p:cNvSpPr>
            <a:spLocks noChangeArrowheads="1"/>
          </p:cNvSpPr>
          <p:nvPr/>
        </p:nvSpPr>
        <p:spPr bwMode="auto">
          <a:xfrm>
            <a:off x="2700573" y="1276373"/>
            <a:ext cx="575600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9.2.1              </a:t>
            </a:r>
            <a:r>
              <a:rPr lang="zh-CN" altLang="en-US" sz="2000" b="1" dirty="0" smtClean="0">
                <a:solidFill>
                  <a:schemeClr val="bg1"/>
                </a:solidFill>
                <a:latin typeface="微软雅黑" panose="020B0503020204020204" pitchFamily="34" charset="-122"/>
                <a:ea typeface="微软雅黑" panose="020B0503020204020204" pitchFamily="34" charset="-122"/>
              </a:rPr>
              <a:t>网络</a:t>
            </a:r>
            <a:r>
              <a:rPr lang="zh-CN" altLang="en-US" sz="2000" b="1" dirty="0">
                <a:solidFill>
                  <a:schemeClr val="bg1"/>
                </a:solidFill>
                <a:latin typeface="微软雅黑" panose="020B0503020204020204" pitchFamily="34" charset="-122"/>
                <a:ea typeface="微软雅黑" panose="020B0503020204020204" pitchFamily="34" charset="-122"/>
              </a:rPr>
              <a:t>功能虚拟化产生的背景与动机</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9.2.2                                                  NFV</a:t>
            </a:r>
            <a:r>
              <a:rPr lang="zh-CN" altLang="en-US" sz="2000" b="1" dirty="0" smtClean="0">
                <a:solidFill>
                  <a:schemeClr val="bg1"/>
                </a:solidFill>
                <a:latin typeface="微软雅黑" panose="020B0503020204020204" pitchFamily="34" charset="-122"/>
                <a:ea typeface="微软雅黑" panose="020B0503020204020204" pitchFamily="34" charset="-122"/>
              </a:rPr>
              <a:t>架构</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9.2.3                                    NFV</a:t>
            </a:r>
            <a:r>
              <a:rPr lang="zh-CN" altLang="en-US" sz="2000" b="1" dirty="0" smtClean="0">
                <a:solidFill>
                  <a:schemeClr val="bg1"/>
                </a:solidFill>
                <a:latin typeface="微软雅黑" panose="020B0503020204020204" pitchFamily="34" charset="-122"/>
                <a:ea typeface="微软雅黑" panose="020B0503020204020204" pitchFamily="34" charset="-122"/>
              </a:rPr>
              <a:t>与</a:t>
            </a:r>
            <a:r>
              <a:rPr lang="en-US" altLang="zh-CN" sz="2000" b="1" dirty="0" smtClean="0">
                <a:solidFill>
                  <a:schemeClr val="bg1"/>
                </a:solidFill>
                <a:latin typeface="微软雅黑" panose="020B0503020204020204" pitchFamily="34" charset="-122"/>
                <a:ea typeface="微软雅黑" panose="020B0503020204020204" pitchFamily="34" charset="-122"/>
              </a:rPr>
              <a:t>SDN</a:t>
            </a:r>
            <a:r>
              <a:rPr lang="zh-CN" altLang="en-US" sz="2000" b="1" dirty="0" smtClean="0">
                <a:solidFill>
                  <a:schemeClr val="bg1"/>
                </a:solidFill>
                <a:latin typeface="微软雅黑" panose="020B0503020204020204" pitchFamily="34" charset="-122"/>
                <a:ea typeface="微软雅黑" panose="020B0503020204020204" pitchFamily="34" charset="-122"/>
              </a:rPr>
              <a:t>的融合</a:t>
            </a:r>
            <a:r>
              <a:rPr lang="en-US" altLang="zh-CN" sz="2000" b="1" dirty="0" smtClean="0">
                <a:solidFill>
                  <a:schemeClr val="bg1"/>
                </a:solidFill>
                <a:latin typeface="微软雅黑" panose="020B0503020204020204" pitchFamily="34" charset="-122"/>
                <a:ea typeface="微软雅黑" panose="020B0503020204020204" pitchFamily="34" charset="-122"/>
              </a:rPr>
              <a:t>                                           9.2.4                                        </a:t>
            </a:r>
            <a:r>
              <a:rPr lang="zh-CN" altLang="en-US" sz="2000" b="1" dirty="0" smtClean="0">
                <a:solidFill>
                  <a:schemeClr val="bg1"/>
                </a:solidFill>
                <a:latin typeface="微软雅黑" panose="020B0503020204020204" pitchFamily="34" charset="-122"/>
                <a:ea typeface="微软雅黑" panose="020B0503020204020204" pitchFamily="34" charset="-122"/>
              </a:rPr>
              <a:t>挑战与未来演进</a:t>
            </a:r>
            <a:endParaRPr lang="en-US" altLang="zh-CN" sz="2000" b="1"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45970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中间盒 </a:t>
            </a:r>
            <a:r>
              <a:rPr lang="en-US" altLang="zh-CN" sz="2400" b="1" dirty="0" smtClean="0">
                <a:solidFill>
                  <a:schemeClr val="bg1"/>
                </a:solidFill>
                <a:latin typeface="微软雅黑" pitchFamily="34" charset="-122"/>
                <a:ea typeface="微软雅黑" pitchFamily="34" charset="-122"/>
              </a:rPr>
              <a:t>(</a:t>
            </a:r>
            <a:r>
              <a:rPr lang="en-US" altLang="zh-CN" sz="2400" b="1" dirty="0" err="1" smtClean="0">
                <a:solidFill>
                  <a:schemeClr val="bg1"/>
                </a:solidFill>
                <a:latin typeface="微软雅黑" pitchFamily="34" charset="-122"/>
                <a:ea typeface="微软雅黑" pitchFamily="34" charset="-122"/>
              </a:rPr>
              <a:t>Middlebox</a:t>
            </a:r>
            <a:r>
              <a:rPr lang="en-US" altLang="zh-CN" sz="2400" b="1" dirty="0" smtClean="0">
                <a:solidFill>
                  <a:schemeClr val="bg1"/>
                </a:solidFill>
                <a:latin typeface="微软雅黑" pitchFamily="34" charset="-122"/>
                <a:ea typeface="微软雅黑" pitchFamily="34" charset="-122"/>
              </a:rPr>
              <a:t>)</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01898" y="1027947"/>
            <a:ext cx="81601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为了满足用户对网络的多样化需求，越来越多的专用设备被部署到网络</a:t>
            </a:r>
            <a:r>
              <a:rPr lang="zh-CN" altLang="en-US" b="1" dirty="0" smtClean="0">
                <a:latin typeface="微软雅黑" pitchFamily="34" charset="-122"/>
                <a:ea typeface="微软雅黑" pitchFamily="34" charset="-122"/>
              </a:rPr>
              <a:t>中，用于实现各种网络功能，</a:t>
            </a:r>
            <a:r>
              <a:rPr lang="en-US" altLang="zh-CN" b="1" dirty="0">
                <a:latin typeface="微软雅黑" pitchFamily="34" charset="-122"/>
                <a:ea typeface="微软雅黑" pitchFamily="34" charset="-122"/>
              </a:rPr>
              <a:t>RFC 3234</a:t>
            </a:r>
            <a:r>
              <a:rPr lang="zh-CN" altLang="en-US" b="1" dirty="0">
                <a:latin typeface="微软雅黑" pitchFamily="34" charset="-122"/>
                <a:ea typeface="微软雅黑" pitchFamily="34" charset="-122"/>
              </a:rPr>
              <a:t>将这类设备定义为</a:t>
            </a:r>
            <a:r>
              <a:rPr lang="zh-CN" altLang="en-US" b="1" dirty="0">
                <a:solidFill>
                  <a:srgbClr val="C00000"/>
                </a:solidFill>
                <a:latin typeface="微软雅黑" pitchFamily="34" charset="-122"/>
                <a:ea typeface="微软雅黑" pitchFamily="34" charset="-122"/>
              </a:rPr>
              <a:t>中间盒</a:t>
            </a:r>
            <a:r>
              <a:rPr lang="en-US" altLang="zh-CN" b="1" dirty="0">
                <a:solidFill>
                  <a:srgbClr val="C00000"/>
                </a:solidFill>
                <a:latin typeface="微软雅黑" pitchFamily="34" charset="-122"/>
                <a:ea typeface="微软雅黑" pitchFamily="34" charset="-122"/>
              </a:rPr>
              <a:t>(</a:t>
            </a:r>
            <a:r>
              <a:rPr lang="en-US" altLang="zh-CN" b="1" dirty="0" err="1">
                <a:solidFill>
                  <a:srgbClr val="C00000"/>
                </a:solidFill>
                <a:latin typeface="微软雅黑" pitchFamily="34" charset="-122"/>
                <a:ea typeface="微软雅黑" pitchFamily="34" charset="-122"/>
              </a:rPr>
              <a:t>middlebox</a:t>
            </a:r>
            <a:r>
              <a:rPr lang="en-US" altLang="zh-CN" b="1" dirty="0" smtClean="0">
                <a:solidFill>
                  <a:srgbClr val="C00000"/>
                </a:solidFill>
                <a:latin typeface="微软雅黑" pitchFamily="34" charset="-122"/>
                <a:ea typeface="微软雅黑" pitchFamily="34" charset="-122"/>
              </a:rPr>
              <a:t>)</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在源主机与目的主机之间的数据路径上执行</a:t>
            </a:r>
            <a:r>
              <a:rPr lang="zh-CN" altLang="en-US" sz="1600" b="1" dirty="0" smtClean="0">
                <a:latin typeface="微软雅黑" pitchFamily="34" charset="-122"/>
                <a:ea typeface="微软雅黑" pitchFamily="34" charset="-122"/>
              </a:rPr>
              <a:t>除路由器</a:t>
            </a:r>
            <a:r>
              <a:rPr lang="zh-CN" altLang="en-US" sz="1600" b="1" dirty="0">
                <a:latin typeface="微软雅黑" pitchFamily="34" charset="-122"/>
                <a:ea typeface="微软雅黑" pitchFamily="34" charset="-122"/>
              </a:rPr>
              <a:t>常规标准功能之外的其他功能</a:t>
            </a:r>
            <a:r>
              <a:rPr lang="zh-CN" altLang="en-US" sz="1600" b="1" dirty="0" smtClean="0">
                <a:latin typeface="微软雅黑" pitchFamily="34" charset="-122"/>
                <a:ea typeface="微软雅黑" pitchFamily="34" charset="-122"/>
              </a:rPr>
              <a:t>的设备</a:t>
            </a:r>
            <a:r>
              <a:rPr lang="zh-CN" altLang="en-US" sz="1600" b="1" dirty="0">
                <a:latin typeface="微软雅黑" pitchFamily="34" charset="-122"/>
                <a:ea typeface="微软雅黑" pitchFamily="34" charset="-122"/>
              </a:rPr>
              <a:t>。</a:t>
            </a:r>
            <a:endParaRPr lang="en-US" altLang="zh-CN" sz="1600" b="1" dirty="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网络</a:t>
            </a:r>
            <a:r>
              <a:rPr lang="zh-CN" altLang="en-US" sz="1600" b="1" dirty="0" smtClean="0">
                <a:solidFill>
                  <a:srgbClr val="C00000"/>
                </a:solidFill>
                <a:latin typeface="微软雅黑" pitchFamily="34" charset="-122"/>
                <a:ea typeface="微软雅黑" pitchFamily="34" charset="-122"/>
              </a:rPr>
              <a:t>安全类设备</a:t>
            </a:r>
            <a:r>
              <a:rPr lang="zh-CN" altLang="en-US" sz="1600" b="1" dirty="0" smtClean="0">
                <a:latin typeface="微软雅黑" pitchFamily="34" charset="-122"/>
                <a:ea typeface="微软雅黑" pitchFamily="34" charset="-122"/>
              </a:rPr>
              <a:t>：防火墙</a:t>
            </a:r>
            <a:r>
              <a:rPr lang="zh-CN" altLang="en-US" sz="1600" b="1" dirty="0">
                <a:latin typeface="微软雅黑" pitchFamily="34" charset="-122"/>
                <a:ea typeface="微软雅黑" pitchFamily="34" charset="-122"/>
              </a:rPr>
              <a:t>、入侵检测系统、深度包检测系统</a:t>
            </a:r>
            <a:r>
              <a:rPr lang="zh-CN" altLang="en-US" sz="1600" b="1" dirty="0" smtClean="0">
                <a:latin typeface="微软雅黑" pitchFamily="34" charset="-122"/>
                <a:ea typeface="微软雅黑" pitchFamily="34" charset="-122"/>
              </a:rPr>
              <a:t>等。</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网络性能类设备</a:t>
            </a:r>
            <a:r>
              <a:rPr lang="zh-CN" altLang="en-US" sz="1600" b="1" dirty="0" smtClean="0">
                <a:latin typeface="微软雅黑" pitchFamily="34" charset="-122"/>
                <a:ea typeface="微软雅黑" pitchFamily="34" charset="-122"/>
              </a:rPr>
              <a:t>：代理</a:t>
            </a:r>
            <a:r>
              <a:rPr lang="zh-CN" altLang="en-US" sz="1600" b="1" dirty="0">
                <a:latin typeface="微软雅黑" pitchFamily="34" charset="-122"/>
                <a:ea typeface="微软雅黑" pitchFamily="34" charset="-122"/>
              </a:rPr>
              <a:t>服务器、负载均衡器、广域网加速器</a:t>
            </a:r>
            <a:r>
              <a:rPr lang="zh-CN" altLang="en-US" sz="1600" b="1" dirty="0" smtClean="0">
                <a:latin typeface="微软雅黑" pitchFamily="34" charset="-122"/>
                <a:ea typeface="微软雅黑" pitchFamily="34" charset="-122"/>
              </a:rPr>
              <a:t>等。</a:t>
            </a:r>
            <a:endParaRPr lang="en-US" altLang="zh-CN" sz="16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1270883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中间盒运维难题</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136844" cy="312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每个</a:t>
            </a:r>
            <a:r>
              <a:rPr lang="zh-CN" altLang="en-US" b="1" dirty="0">
                <a:latin typeface="微软雅黑" pitchFamily="34" charset="-122"/>
                <a:ea typeface="微软雅黑" pitchFamily="34" charset="-122"/>
              </a:rPr>
              <a:t>中间盒都是一个独立的专用硬件设备，导致高昂的采购和运维成本</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设备</a:t>
            </a:r>
            <a:r>
              <a:rPr lang="zh-CN" altLang="en-US" sz="1600" b="1" dirty="0">
                <a:latin typeface="微软雅黑" pitchFamily="34" charset="-122"/>
                <a:ea typeface="微软雅黑" pitchFamily="34" charset="-122"/>
              </a:rPr>
              <a:t>升级换代需要巨大的</a:t>
            </a:r>
            <a:r>
              <a:rPr lang="zh-CN" altLang="en-US" sz="1600" b="1" dirty="0" smtClean="0">
                <a:latin typeface="微软雅黑" pitchFamily="34" charset="-122"/>
                <a:ea typeface="微软雅黑" pitchFamily="34" charset="-122"/>
              </a:rPr>
              <a:t>开销。</a:t>
            </a:r>
            <a:endParaRPr lang="en-US" altLang="zh-CN" sz="1600"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设备</a:t>
            </a:r>
            <a:r>
              <a:rPr lang="zh-CN" altLang="en-US" sz="1600" b="1" dirty="0">
                <a:latin typeface="微软雅黑" pitchFamily="34" charset="-122"/>
                <a:ea typeface="微软雅黑" pitchFamily="34" charset="-122"/>
              </a:rPr>
              <a:t>逐台进行配置又会产生非常高的人力成本。</a:t>
            </a:r>
          </a:p>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设备</a:t>
            </a:r>
            <a:r>
              <a:rPr lang="zh-CN" altLang="en-US" b="1" dirty="0">
                <a:latin typeface="微软雅黑" pitchFamily="34" charset="-122"/>
                <a:ea typeface="微软雅黑" pitchFamily="34" charset="-122"/>
              </a:rPr>
              <a:t>的实际平均利用率偏低</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通常按照峰值需求部署，导致大部分时间资源浪费。</a:t>
            </a:r>
            <a:endParaRPr lang="zh-CN" altLang="en-US" sz="16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设备的采购、安装</a:t>
            </a:r>
            <a:r>
              <a:rPr lang="zh-CN" altLang="en-US" b="1" dirty="0">
                <a:latin typeface="微软雅黑" pitchFamily="34" charset="-122"/>
                <a:ea typeface="微软雅黑" pitchFamily="34" charset="-122"/>
              </a:rPr>
              <a:t>、配置调试</a:t>
            </a:r>
            <a:r>
              <a:rPr lang="zh-CN" altLang="en-US" b="1" dirty="0" smtClean="0">
                <a:latin typeface="微软雅黑" pitchFamily="34" charset="-122"/>
                <a:ea typeface="微软雅黑" pitchFamily="34" charset="-122"/>
              </a:rPr>
              <a:t>等流程繁琐。</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难以</a:t>
            </a:r>
            <a:r>
              <a:rPr lang="zh-CN" altLang="en-US" sz="1600" b="1" dirty="0">
                <a:latin typeface="微软雅黑" pitchFamily="34" charset="-122"/>
                <a:ea typeface="微软雅黑" pitchFamily="34" charset="-122"/>
              </a:rPr>
              <a:t>适应互联网业务的快速迭代需求。</a:t>
            </a:r>
          </a:p>
          <a:p>
            <a:pPr marL="285750" indent="-285750">
              <a:lnSpc>
                <a:spcPts val="3000"/>
              </a:lnSpc>
              <a:buClr>
                <a:srgbClr val="0070C0"/>
              </a:buClr>
              <a:buFont typeface="Wingdings" pitchFamily="2" charset="2"/>
              <a:buChar char="l"/>
            </a:pPr>
            <a:endParaRPr lang="en-US" altLang="zh-CN"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0481375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fade">
                                      <p:cBhvr>
                                        <p:cTn id="10" dur="500"/>
                                        <p:tgtEl>
                                          <p:spTgt spid="4">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fade">
                                      <p:cBhvr>
                                        <p:cTn id="15" dur="500"/>
                                        <p:tgtEl>
                                          <p:spTgt spid="4">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6" end="6"/>
                                            </p:txEl>
                                          </p:spTgt>
                                        </p:tgtEl>
                                        <p:attrNameLst>
                                          <p:attrName>style.visibility</p:attrName>
                                        </p:attrNameLst>
                                      </p:cBhvr>
                                      <p:to>
                                        <p:strVal val="visible"/>
                                      </p:to>
                                    </p:set>
                                    <p:animEffect transition="in" filter="fade">
                                      <p:cBhvr>
                                        <p:cTn id="18"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网络功能虚拟化</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采用</a:t>
            </a:r>
            <a:r>
              <a:rPr lang="zh-CN" altLang="en-US" b="1" dirty="0">
                <a:solidFill>
                  <a:srgbClr val="C00000"/>
                </a:solidFill>
                <a:latin typeface="微软雅黑" pitchFamily="34" charset="-122"/>
                <a:ea typeface="微软雅黑" pitchFamily="34" charset="-122"/>
              </a:rPr>
              <a:t>通用硬件平台</a:t>
            </a:r>
            <a:r>
              <a:rPr lang="zh-CN" altLang="en-US" b="1" dirty="0">
                <a:latin typeface="微软雅黑" pitchFamily="34" charset="-122"/>
                <a:ea typeface="微软雅黑" pitchFamily="34" charset="-122"/>
              </a:rPr>
              <a:t>来实现这些网络</a:t>
            </a:r>
            <a:r>
              <a:rPr lang="zh-CN" altLang="en-US" b="1" dirty="0" smtClean="0">
                <a:latin typeface="微软雅黑" pitchFamily="34" charset="-122"/>
                <a:ea typeface="微软雅黑" pitchFamily="34" charset="-122"/>
              </a:rPr>
              <a:t>功能。</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b="1" dirty="0" smtClean="0">
                <a:latin typeface="微软雅黑" pitchFamily="34" charset="-122"/>
                <a:ea typeface="微软雅黑" pitchFamily="34" charset="-122"/>
              </a:rPr>
              <a:t>NFV</a:t>
            </a:r>
            <a:r>
              <a:rPr lang="zh-CN" altLang="en-US" b="1" dirty="0" smtClean="0">
                <a:latin typeface="微软雅黑" pitchFamily="34" charset="-122"/>
                <a:ea typeface="微软雅黑" pitchFamily="34" charset="-122"/>
              </a:rPr>
              <a:t>的概念在</a:t>
            </a:r>
            <a:r>
              <a:rPr lang="en-US" altLang="zh-CN" b="1" dirty="0" smtClean="0">
                <a:latin typeface="微软雅黑" pitchFamily="34" charset="-122"/>
                <a:ea typeface="微软雅黑" pitchFamily="34" charset="-122"/>
              </a:rPr>
              <a:t>2012</a:t>
            </a:r>
            <a:r>
              <a:rPr lang="zh-CN" altLang="en-US" b="1" dirty="0" smtClean="0">
                <a:latin typeface="微软雅黑" pitchFamily="34" charset="-122"/>
                <a:ea typeface="微软雅黑" pitchFamily="34" charset="-122"/>
              </a:rPr>
              <a:t>年的</a:t>
            </a:r>
            <a:r>
              <a:rPr lang="en-US" altLang="zh-CN" b="1" dirty="0" smtClean="0">
                <a:latin typeface="微软雅黑" pitchFamily="34" charset="-122"/>
                <a:ea typeface="微软雅黑" pitchFamily="34" charset="-122"/>
              </a:rPr>
              <a:t>SDN</a:t>
            </a:r>
            <a:r>
              <a:rPr lang="zh-CN" altLang="en-US" b="1" dirty="0">
                <a:latin typeface="微软雅黑" pitchFamily="34" charset="-122"/>
                <a:ea typeface="微软雅黑" pitchFamily="34" charset="-122"/>
              </a:rPr>
              <a:t>和</a:t>
            </a:r>
            <a:r>
              <a:rPr lang="en-US" altLang="zh-CN" b="1" dirty="0">
                <a:latin typeface="微软雅黑" pitchFamily="34" charset="-122"/>
                <a:ea typeface="微软雅黑" pitchFamily="34" charset="-122"/>
              </a:rPr>
              <a:t>OpenFlow</a:t>
            </a:r>
            <a:r>
              <a:rPr lang="zh-CN" altLang="en-US" b="1" dirty="0">
                <a:latin typeface="微软雅黑" pitchFamily="34" charset="-122"/>
                <a:ea typeface="微软雅黑" pitchFamily="34" charset="-122"/>
              </a:rPr>
              <a:t>全球</a:t>
            </a:r>
            <a:r>
              <a:rPr lang="zh-CN" altLang="en-US" b="1" dirty="0" smtClean="0">
                <a:latin typeface="微软雅黑" pitchFamily="34" charset="-122"/>
                <a:ea typeface="微软雅黑" pitchFamily="34" charset="-122"/>
              </a:rPr>
              <a:t>大会正式提出。</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随后，欧洲电信标准协会</a:t>
            </a:r>
            <a:r>
              <a:rPr lang="en-US" altLang="zh-CN" b="1" dirty="0">
                <a:solidFill>
                  <a:srgbClr val="C00000"/>
                </a:solidFill>
                <a:latin typeface="微软雅黑" pitchFamily="34" charset="-122"/>
                <a:ea typeface="微软雅黑" pitchFamily="34" charset="-122"/>
              </a:rPr>
              <a:t>ETSI</a:t>
            </a:r>
            <a:r>
              <a:rPr lang="en-US" altLang="zh-CN" b="1" dirty="0">
                <a:latin typeface="微软雅黑" pitchFamily="34" charset="-122"/>
                <a:ea typeface="微软雅黑" pitchFamily="34" charset="-122"/>
              </a:rPr>
              <a:t> (European Telecommunications Standards Institute)</a:t>
            </a:r>
            <a:r>
              <a:rPr lang="zh-CN" altLang="en-US" b="1" dirty="0">
                <a:latin typeface="微软雅黑" pitchFamily="34" charset="-122"/>
                <a:ea typeface="微软雅黑" pitchFamily="34" charset="-122"/>
              </a:rPr>
              <a:t>成立了</a:t>
            </a:r>
            <a:r>
              <a:rPr lang="en-US" altLang="zh-CN" b="1" dirty="0">
                <a:solidFill>
                  <a:srgbClr val="C00000"/>
                </a:solidFill>
                <a:latin typeface="微软雅黑" pitchFamily="34" charset="-122"/>
                <a:ea typeface="微软雅黑" pitchFamily="34" charset="-122"/>
              </a:rPr>
              <a:t>NFV</a:t>
            </a:r>
            <a:r>
              <a:rPr lang="zh-CN" altLang="en-US" b="1" dirty="0">
                <a:solidFill>
                  <a:srgbClr val="C00000"/>
                </a:solidFill>
                <a:latin typeface="微软雅黑" pitchFamily="34" charset="-122"/>
                <a:ea typeface="微软雅黑" pitchFamily="34" charset="-122"/>
              </a:rPr>
              <a:t>行业规范组</a:t>
            </a:r>
            <a:r>
              <a:rPr lang="en-US" altLang="zh-CN" b="1" dirty="0">
                <a:solidFill>
                  <a:srgbClr val="C00000"/>
                </a:solidFill>
                <a:latin typeface="微软雅黑" pitchFamily="34" charset="-122"/>
                <a:ea typeface="微软雅黑" pitchFamily="34" charset="-122"/>
              </a:rPr>
              <a:t>ISG</a:t>
            </a:r>
            <a:r>
              <a:rPr lang="en-US" altLang="zh-CN" b="1" dirty="0">
                <a:latin typeface="微软雅黑" pitchFamily="34" charset="-122"/>
                <a:ea typeface="微软雅黑" pitchFamily="34" charset="-122"/>
              </a:rPr>
              <a:t> (Industry Specification Group)</a:t>
            </a:r>
            <a:r>
              <a:rPr lang="zh-CN" altLang="en-US" b="1" dirty="0" smtClean="0">
                <a:latin typeface="微软雅黑" pitchFamily="34" charset="-122"/>
                <a:ea typeface="微软雅黑" pitchFamily="34" charset="-122"/>
              </a:rPr>
              <a:t>，成为</a:t>
            </a:r>
            <a:r>
              <a:rPr lang="en-US" altLang="zh-CN" b="1" dirty="0">
                <a:latin typeface="微软雅黑" pitchFamily="34" charset="-122"/>
                <a:ea typeface="微软雅黑" pitchFamily="34" charset="-122"/>
              </a:rPr>
              <a:t>NFV</a:t>
            </a:r>
            <a:r>
              <a:rPr lang="zh-CN" altLang="en-US" b="1" dirty="0">
                <a:latin typeface="微软雅黑" pitchFamily="34" charset="-122"/>
                <a:ea typeface="微软雅黑" pitchFamily="34" charset="-122"/>
              </a:rPr>
              <a:t>核心标准的制定机构</a:t>
            </a:r>
            <a:r>
              <a:rPr lang="zh-CN" altLang="en-US" b="1" dirty="0" smtClean="0">
                <a:latin typeface="微软雅黑" pitchFamily="34" charset="-122"/>
                <a:ea typeface="微软雅黑" pitchFamily="34" charset="-122"/>
              </a:rPr>
              <a:t>。</a:t>
            </a:r>
            <a:endParaRPr lang="en-US" altLang="zh-CN" b="1" dirty="0">
              <a:latin typeface="微软雅黑" pitchFamily="34" charset="-122"/>
              <a:ea typeface="微软雅黑" pitchFamily="34" charset="-122"/>
            </a:endParaRPr>
          </a:p>
        </p:txBody>
      </p:sp>
      <p:grpSp>
        <p:nvGrpSpPr>
          <p:cNvPr id="162" name="组合 161"/>
          <p:cNvGrpSpPr/>
          <p:nvPr/>
        </p:nvGrpSpPr>
        <p:grpSpPr>
          <a:xfrm>
            <a:off x="681065" y="3175691"/>
            <a:ext cx="7830505" cy="1241854"/>
            <a:chOff x="1581847" y="3821835"/>
            <a:chExt cx="6122820" cy="1187752"/>
          </a:xfrm>
        </p:grpSpPr>
        <p:sp>
          <p:nvSpPr>
            <p:cNvPr id="164" name="对角圆角矩形 163"/>
            <p:cNvSpPr/>
            <p:nvPr/>
          </p:nvSpPr>
          <p:spPr>
            <a:xfrm>
              <a:off x="1581847" y="3821835"/>
              <a:ext cx="6122819" cy="1187752"/>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矩形 165"/>
            <p:cNvSpPr/>
            <p:nvPr/>
          </p:nvSpPr>
          <p:spPr>
            <a:xfrm>
              <a:off x="1763947" y="3945385"/>
              <a:ext cx="5940720" cy="1045007"/>
            </a:xfrm>
            <a:prstGeom prst="rect">
              <a:avLst/>
            </a:prstGeom>
          </p:spPr>
          <p:txBody>
            <a:bodyPr wrap="square">
              <a:spAutoFit/>
            </a:bodyPr>
            <a:lstStyle/>
            <a:p>
              <a:pPr>
                <a:lnSpc>
                  <a:spcPts val="2600"/>
                </a:lnSpc>
                <a:buClr>
                  <a:srgbClr val="0070C0"/>
                </a:buClr>
              </a:pPr>
              <a:r>
                <a:rPr lang="en-US" altLang="zh-CN" b="1" dirty="0">
                  <a:solidFill>
                    <a:schemeClr val="bg1"/>
                  </a:solidFill>
                  <a:latin typeface="微软雅黑" pitchFamily="34" charset="-122"/>
                  <a:ea typeface="微软雅黑" pitchFamily="34" charset="-122"/>
                </a:rPr>
                <a:t>NFV</a:t>
              </a:r>
              <a:r>
                <a:rPr lang="zh-CN" altLang="en-US" b="1" dirty="0">
                  <a:solidFill>
                    <a:schemeClr val="bg1"/>
                  </a:solidFill>
                  <a:latin typeface="微软雅黑" pitchFamily="34" charset="-122"/>
                  <a:ea typeface="微软雅黑" pitchFamily="34" charset="-122"/>
                </a:rPr>
                <a:t>是通过</a:t>
              </a:r>
              <a:r>
                <a:rPr lang="zh-CN" altLang="en-US" b="1" dirty="0">
                  <a:solidFill>
                    <a:srgbClr val="FFFF00"/>
                  </a:solidFill>
                  <a:latin typeface="微软雅黑" pitchFamily="34" charset="-122"/>
                  <a:ea typeface="微软雅黑" pitchFamily="34" charset="-122"/>
                </a:rPr>
                <a:t>虚拟化技术</a:t>
              </a:r>
              <a:r>
                <a:rPr lang="zh-CN" altLang="en-US" b="1" dirty="0">
                  <a:solidFill>
                    <a:schemeClr val="bg1"/>
                  </a:solidFill>
                  <a:latin typeface="微软雅黑" pitchFamily="34" charset="-122"/>
                  <a:ea typeface="微软雅黑" pitchFamily="34" charset="-122"/>
                </a:rPr>
                <a:t>将传统专用网络设备（如路由器、防火墙、负载均衡器等）的功能</a:t>
              </a:r>
              <a:r>
                <a:rPr lang="zh-CN" altLang="en-US" b="1" dirty="0">
                  <a:solidFill>
                    <a:srgbClr val="FFFF00"/>
                  </a:solidFill>
                  <a:latin typeface="微软雅黑" pitchFamily="34" charset="-122"/>
                  <a:ea typeface="微软雅黑" pitchFamily="34" charset="-122"/>
                </a:rPr>
                <a:t>解耦为软件实例</a:t>
              </a:r>
              <a:r>
                <a:rPr lang="zh-CN" altLang="en-US" b="1" dirty="0">
                  <a:solidFill>
                    <a:schemeClr val="bg1"/>
                  </a:solidFill>
                  <a:latin typeface="微软雅黑" pitchFamily="34" charset="-122"/>
                  <a:ea typeface="微软雅黑" pitchFamily="34" charset="-122"/>
                </a:rPr>
                <a:t>，并运行于</a:t>
              </a:r>
              <a:r>
                <a:rPr lang="zh-CN" altLang="en-US" b="1" dirty="0">
                  <a:solidFill>
                    <a:srgbClr val="FFFF00"/>
                  </a:solidFill>
                  <a:latin typeface="微软雅黑" pitchFamily="34" charset="-122"/>
                  <a:ea typeface="微软雅黑" pitchFamily="34" charset="-122"/>
                </a:rPr>
                <a:t>通用服务器、存储和网络资源构成的云基础设施</a:t>
              </a:r>
              <a:r>
                <a:rPr lang="zh-CN" altLang="en-US" b="1" dirty="0">
                  <a:solidFill>
                    <a:schemeClr val="bg1"/>
                  </a:solidFill>
                  <a:latin typeface="微软雅黑" pitchFamily="34" charset="-122"/>
                  <a:ea typeface="微软雅黑" pitchFamily="34" charset="-122"/>
                </a:rPr>
                <a:t>上的</a:t>
              </a:r>
              <a:r>
                <a:rPr lang="zh-CN" altLang="en-US" b="1" dirty="0" smtClean="0">
                  <a:solidFill>
                    <a:schemeClr val="bg1"/>
                  </a:solidFill>
                  <a:latin typeface="微软雅黑" pitchFamily="34" charset="-122"/>
                  <a:ea typeface="微软雅黑" pitchFamily="34" charset="-122"/>
                </a:rPr>
                <a:t>技术。</a:t>
              </a:r>
              <a:endParaRPr lang="zh-CN" altLang="en-US" b="1" dirty="0">
                <a:solidFill>
                  <a:schemeClr val="bg1"/>
                </a:solidFill>
                <a:latin typeface="微软雅黑" pitchFamily="34" charset="-122"/>
                <a:ea typeface="微软雅黑" pitchFamily="34" charset="-122"/>
              </a:endParaRPr>
            </a:p>
          </p:txBody>
        </p:sp>
      </p:grpSp>
    </p:spTree>
    <p:custDataLst>
      <p:tags r:id="rId1"/>
    </p:custDataLst>
    <p:extLst>
      <p:ext uri="{BB962C8B-B14F-4D97-AF65-F5344CB8AC3E}">
        <p14:creationId xmlns:p14="http://schemas.microsoft.com/office/powerpoint/2010/main" val="18833642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fade">
                                      <p:cBhvr>
                                        <p:cTn id="17" dur="5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网络功能虚拟化</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2964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smtClean="0">
                <a:latin typeface="微软雅黑" pitchFamily="34" charset="-122"/>
                <a:ea typeface="微软雅黑" pitchFamily="34" charset="-122"/>
              </a:rPr>
              <a:t>NFV</a:t>
            </a:r>
            <a:r>
              <a:rPr lang="zh-CN" altLang="en-US" b="1" dirty="0" smtClean="0">
                <a:latin typeface="微软雅黑" pitchFamily="34" charset="-122"/>
                <a:ea typeface="微软雅黑" pitchFamily="34" charset="-122"/>
              </a:rPr>
              <a:t>的核心目标是实现</a:t>
            </a:r>
            <a:r>
              <a:rPr lang="zh-CN" altLang="en-US" b="1" dirty="0">
                <a:latin typeface="微软雅黑" pitchFamily="34" charset="-122"/>
                <a:ea typeface="微软雅黑" pitchFamily="34" charset="-122"/>
              </a:rPr>
              <a:t>网络功能的</a:t>
            </a:r>
            <a:r>
              <a:rPr lang="zh-CN" altLang="en-US" b="1" dirty="0">
                <a:solidFill>
                  <a:srgbClr val="C00000"/>
                </a:solidFill>
                <a:latin typeface="微软雅黑" pitchFamily="34" charset="-122"/>
                <a:ea typeface="微软雅黑" pitchFamily="34" charset="-122"/>
              </a:rPr>
              <a:t>灵活部署</a:t>
            </a:r>
            <a:r>
              <a:rPr lang="zh-CN" altLang="en-US" b="1" dirty="0">
                <a:latin typeface="微软雅黑" pitchFamily="34" charset="-122"/>
                <a:ea typeface="微软雅黑" pitchFamily="34" charset="-122"/>
              </a:rPr>
              <a:t>、</a:t>
            </a:r>
            <a:r>
              <a:rPr lang="zh-CN" altLang="en-US" b="1" dirty="0">
                <a:solidFill>
                  <a:srgbClr val="C00000"/>
                </a:solidFill>
                <a:latin typeface="微软雅黑" pitchFamily="34" charset="-122"/>
                <a:ea typeface="微软雅黑" pitchFamily="34" charset="-122"/>
              </a:rPr>
              <a:t>弹性扩展</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运营成本优化</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包括</a:t>
            </a:r>
            <a:r>
              <a:rPr lang="en-US" altLang="zh-CN" b="1" dirty="0">
                <a:latin typeface="微软雅黑" pitchFamily="34" charset="-122"/>
                <a:ea typeface="微软雅黑" pitchFamily="34" charset="-122"/>
              </a:rPr>
              <a:t>3</a:t>
            </a:r>
            <a:r>
              <a:rPr lang="zh-CN" altLang="en-US" b="1" dirty="0" smtClean="0">
                <a:latin typeface="微软雅黑" pitchFamily="34" charset="-122"/>
                <a:ea typeface="微软雅黑" pitchFamily="34" charset="-122"/>
              </a:rPr>
              <a:t>个核心</a:t>
            </a:r>
            <a:r>
              <a:rPr lang="zh-CN" altLang="en-US" b="1" dirty="0">
                <a:latin typeface="微软雅黑" pitchFamily="34" charset="-122"/>
                <a:ea typeface="微软雅黑" pitchFamily="34" charset="-122"/>
              </a:rPr>
              <a:t>要素：硬件通用化、网络功能软件化、动态编排管理</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硬件</a:t>
            </a:r>
            <a:r>
              <a:rPr lang="zh-CN" altLang="en-US" sz="1600" b="1" dirty="0">
                <a:solidFill>
                  <a:srgbClr val="C00000"/>
                </a:solidFill>
                <a:latin typeface="微软雅黑" pitchFamily="34" charset="-122"/>
                <a:ea typeface="微软雅黑" pitchFamily="34" charset="-122"/>
              </a:rPr>
              <a:t>通用化</a:t>
            </a:r>
            <a:r>
              <a:rPr lang="zh-CN" altLang="en-US" sz="1600" b="1" dirty="0">
                <a:latin typeface="微软雅黑" pitchFamily="34" charset="-122"/>
                <a:ea typeface="微软雅黑" pitchFamily="34" charset="-122"/>
              </a:rPr>
              <a:t>意味着所有网络功能都不再需要专用硬件设备，而可以利用</a:t>
            </a:r>
            <a:r>
              <a:rPr lang="zh-CN" altLang="en-US" sz="1600" b="1" dirty="0">
                <a:solidFill>
                  <a:srgbClr val="C00000"/>
                </a:solidFill>
                <a:latin typeface="微软雅黑" pitchFamily="34" charset="-122"/>
                <a:ea typeface="微软雅黑" pitchFamily="34" charset="-122"/>
              </a:rPr>
              <a:t>商用现成</a:t>
            </a:r>
            <a:r>
              <a:rPr lang="en-US" altLang="zh-CN" sz="1600" b="1" dirty="0">
                <a:solidFill>
                  <a:srgbClr val="C00000"/>
                </a:solidFill>
                <a:latin typeface="微软雅黑" pitchFamily="34" charset="-122"/>
                <a:ea typeface="微软雅黑" pitchFamily="34" charset="-122"/>
              </a:rPr>
              <a:t>COTS(Commercial </a:t>
            </a:r>
            <a:r>
              <a:rPr lang="en-US" altLang="zh-CN" sz="1600" b="1" dirty="0" smtClean="0">
                <a:solidFill>
                  <a:srgbClr val="C00000"/>
                </a:solidFill>
                <a:latin typeface="微软雅黑" pitchFamily="34" charset="-122"/>
                <a:ea typeface="微软雅黑" pitchFamily="34" charset="-122"/>
              </a:rPr>
              <a:t>Off-The-Shelf</a:t>
            </a:r>
            <a:r>
              <a:rPr lang="en-US" altLang="zh-CN" sz="1600" b="1" dirty="0">
                <a:solidFill>
                  <a:srgbClr val="C00000"/>
                </a:solidFill>
                <a:latin typeface="微软雅黑" pitchFamily="34" charset="-122"/>
                <a:ea typeface="微软雅黑" pitchFamily="34" charset="-122"/>
              </a:rPr>
              <a:t>)</a:t>
            </a:r>
            <a:r>
              <a:rPr lang="zh-CN" altLang="en-US" sz="1600" b="1" dirty="0">
                <a:latin typeface="微软雅黑" pitchFamily="34" charset="-122"/>
                <a:ea typeface="微软雅黑" pitchFamily="34" charset="-122"/>
              </a:rPr>
              <a:t>设备实现和部署</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网络</a:t>
            </a:r>
            <a:r>
              <a:rPr lang="zh-CN" altLang="en-US" sz="1600" b="1" dirty="0">
                <a:solidFill>
                  <a:srgbClr val="C00000"/>
                </a:solidFill>
                <a:latin typeface="微软雅黑" pitchFamily="34" charset="-122"/>
                <a:ea typeface="微软雅黑" pitchFamily="34" charset="-122"/>
              </a:rPr>
              <a:t>功能软件化</a:t>
            </a:r>
            <a:r>
              <a:rPr lang="zh-CN" altLang="en-US" sz="1600" b="1" dirty="0">
                <a:latin typeface="微软雅黑" pitchFamily="34" charset="-122"/>
                <a:ea typeface="微软雅黑" pitchFamily="34" charset="-122"/>
              </a:rPr>
              <a:t>意味着网络功能以软件方式实现，并且可以实例化部署在网络中的任意位置</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动态</a:t>
            </a:r>
            <a:r>
              <a:rPr lang="zh-CN" altLang="en-US" sz="1600" b="1" dirty="0">
                <a:solidFill>
                  <a:srgbClr val="C00000"/>
                </a:solidFill>
                <a:latin typeface="微软雅黑" pitchFamily="34" charset="-122"/>
                <a:ea typeface="微软雅黑" pitchFamily="34" charset="-122"/>
              </a:rPr>
              <a:t>编排管理</a:t>
            </a:r>
            <a:r>
              <a:rPr lang="zh-CN" altLang="en-US" sz="1600" b="1" dirty="0">
                <a:latin typeface="微软雅黑" pitchFamily="34" charset="-122"/>
                <a:ea typeface="微软雅黑" pitchFamily="34" charset="-122"/>
              </a:rPr>
              <a:t>则表示网络管理员可以按需定制组合不同的网络功能，以满足用户的需求。</a:t>
            </a:r>
            <a:endParaRPr lang="en-US" altLang="zh-CN" sz="16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64941404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网络功能虚拟化</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451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smtClean="0">
                <a:latin typeface="微软雅黑" pitchFamily="34" charset="-122"/>
                <a:ea typeface="微软雅黑" pitchFamily="34" charset="-122"/>
              </a:rPr>
              <a:t>NFV</a:t>
            </a:r>
            <a:r>
              <a:rPr lang="zh-CN" altLang="en-US" b="1" dirty="0" smtClean="0">
                <a:latin typeface="微软雅黑" pitchFamily="34" charset="-122"/>
                <a:ea typeface="微软雅黑" pitchFamily="34" charset="-122"/>
              </a:rPr>
              <a:t>核心</a:t>
            </a:r>
            <a:r>
              <a:rPr lang="zh-CN" altLang="en-US" b="1" dirty="0">
                <a:latin typeface="微软雅黑" pitchFamily="34" charset="-122"/>
                <a:ea typeface="微软雅黑" pitchFamily="34" charset="-122"/>
              </a:rPr>
              <a:t>目标是实现网络功能的</a:t>
            </a:r>
            <a:r>
              <a:rPr lang="zh-CN" altLang="en-US" b="1" dirty="0">
                <a:solidFill>
                  <a:srgbClr val="C00000"/>
                </a:solidFill>
                <a:latin typeface="微软雅黑" pitchFamily="34" charset="-122"/>
                <a:ea typeface="微软雅黑" pitchFamily="34" charset="-122"/>
              </a:rPr>
              <a:t>灵活部署、弹性扩展和运营成本优化</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p:txBody>
      </p:sp>
      <p:graphicFrame>
        <p:nvGraphicFramePr>
          <p:cNvPr id="3" name="对象 2"/>
          <p:cNvGraphicFramePr>
            <a:graphicFrameLocks noChangeAspect="1"/>
          </p:cNvGraphicFramePr>
          <p:nvPr>
            <p:extLst/>
          </p:nvPr>
        </p:nvGraphicFramePr>
        <p:xfrm>
          <a:off x="2267465" y="1569309"/>
          <a:ext cx="4629150" cy="2711450"/>
        </p:xfrm>
        <a:graphic>
          <a:graphicData uri="http://schemas.openxmlformats.org/presentationml/2006/ole">
            <mc:AlternateContent xmlns:mc="http://schemas.openxmlformats.org/markup-compatibility/2006">
              <mc:Choice xmlns:v="urn:schemas-microsoft-com:vml" Requires="v">
                <p:oleObj spid="_x0000_s19464" name="Visio" r:id="rId4" imgW="4635409" imgH="2711359" progId="Visio.Drawing.15">
                  <p:embed/>
                </p:oleObj>
              </mc:Choice>
              <mc:Fallback>
                <p:oleObj name="Visio" r:id="rId4" imgW="4635409" imgH="2711359" progId="Visio.Drawing.15">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465" y="1569309"/>
                        <a:ext cx="4629150" cy="2711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5850512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ETSI</a:t>
            </a:r>
            <a:r>
              <a:rPr lang="zh-CN" altLang="en-US" sz="2400" b="1" dirty="0">
                <a:solidFill>
                  <a:schemeClr val="bg1"/>
                </a:solidFill>
                <a:latin typeface="微软雅黑" pitchFamily="34" charset="-122"/>
                <a:ea typeface="微软雅黑" pitchFamily="34" charset="-122"/>
              </a:rPr>
              <a:t>高层</a:t>
            </a:r>
            <a:r>
              <a:rPr lang="en-US" altLang="zh-CN" sz="2400" b="1" dirty="0">
                <a:solidFill>
                  <a:schemeClr val="bg1"/>
                </a:solidFill>
                <a:latin typeface="微软雅黑" pitchFamily="34" charset="-122"/>
                <a:ea typeface="微软雅黑" pitchFamily="34" charset="-122"/>
              </a:rPr>
              <a:t>NFV</a:t>
            </a:r>
            <a:r>
              <a:rPr lang="zh-CN" altLang="en-US" sz="2400" b="1" dirty="0">
                <a:solidFill>
                  <a:schemeClr val="bg1"/>
                </a:solidFill>
                <a:latin typeface="微软雅黑" pitchFamily="34" charset="-122"/>
                <a:ea typeface="微软雅黑" pitchFamily="34" charset="-122"/>
              </a:rPr>
              <a:t>框架</a:t>
            </a:r>
          </a:p>
        </p:txBody>
      </p:sp>
      <p:sp>
        <p:nvSpPr>
          <p:cNvPr id="4" name="Rectangle 8"/>
          <p:cNvSpPr>
            <a:spLocks noChangeArrowheads="1"/>
          </p:cNvSpPr>
          <p:nvPr/>
        </p:nvSpPr>
        <p:spPr bwMode="auto">
          <a:xfrm>
            <a:off x="545143" y="1061992"/>
            <a:ext cx="4860937" cy="3452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ETSI</a:t>
            </a:r>
            <a:r>
              <a:rPr lang="zh-CN" altLang="en-US" b="1" dirty="0">
                <a:latin typeface="微软雅黑" pitchFamily="34" charset="-122"/>
                <a:ea typeface="微软雅黑" pitchFamily="34" charset="-122"/>
              </a:rPr>
              <a:t>提出了高层</a:t>
            </a:r>
            <a:r>
              <a:rPr lang="en-US" altLang="zh-CN" b="1" dirty="0">
                <a:latin typeface="微软雅黑" pitchFamily="34" charset="-122"/>
                <a:ea typeface="微软雅黑" pitchFamily="34" charset="-122"/>
              </a:rPr>
              <a:t>NFV</a:t>
            </a:r>
            <a:r>
              <a:rPr lang="zh-CN" altLang="en-US" b="1" dirty="0">
                <a:latin typeface="微软雅黑" pitchFamily="34" charset="-122"/>
                <a:ea typeface="微软雅黑" pitchFamily="34" charset="-122"/>
              </a:rPr>
              <a:t>框架的</a:t>
            </a:r>
            <a:r>
              <a:rPr lang="zh-CN" altLang="en-US" b="1" dirty="0" smtClean="0">
                <a:latin typeface="微软雅黑" pitchFamily="34" charset="-122"/>
                <a:ea typeface="微软雅黑" pitchFamily="34" charset="-122"/>
              </a:rPr>
              <a:t>概念：</a:t>
            </a:r>
            <a:endParaRPr lang="en-US" altLang="zh-CN" b="1" dirty="0" smtClean="0">
              <a:latin typeface="微软雅黑" pitchFamily="34" charset="-122"/>
              <a:ea typeface="微软雅黑" pitchFamily="34" charset="-122"/>
            </a:endParaRPr>
          </a:p>
          <a:p>
            <a:pPr marL="742950" lvl="1" indent="-285750">
              <a:lnSpc>
                <a:spcPts val="2600"/>
              </a:lnSpc>
              <a:buClr>
                <a:srgbClr val="0070C0"/>
              </a:buClr>
              <a:buFont typeface="Wingdings" pitchFamily="2" charset="2"/>
              <a:buChar char="l"/>
            </a:pPr>
            <a:r>
              <a:rPr lang="zh-CN" altLang="en-US" sz="1400" b="1" dirty="0" smtClean="0">
                <a:latin typeface="微软雅黑" pitchFamily="34" charset="-122"/>
                <a:ea typeface="微软雅黑" pitchFamily="34" charset="-122"/>
              </a:rPr>
              <a:t>虚拟</a:t>
            </a:r>
            <a:r>
              <a:rPr lang="zh-CN" altLang="en-US" sz="1400" b="1" dirty="0">
                <a:latin typeface="微软雅黑" pitchFamily="34" charset="-122"/>
                <a:ea typeface="微软雅黑" pitchFamily="34" charset="-122"/>
              </a:rPr>
              <a:t>化网络功能</a:t>
            </a:r>
            <a:r>
              <a:rPr lang="en-US" altLang="zh-CN" sz="1400" b="1" dirty="0">
                <a:latin typeface="微软雅黑" pitchFamily="34" charset="-122"/>
                <a:ea typeface="微软雅黑" pitchFamily="34" charset="-122"/>
              </a:rPr>
              <a:t>VNF (Virtualized Network </a:t>
            </a:r>
            <a:r>
              <a:rPr lang="en-US" altLang="zh-CN" sz="1400" b="1" dirty="0" smtClean="0">
                <a:latin typeface="微软雅黑" pitchFamily="34" charset="-122"/>
                <a:ea typeface="微软雅黑" pitchFamily="34" charset="-122"/>
              </a:rPr>
              <a:t>Function)</a:t>
            </a:r>
          </a:p>
          <a:p>
            <a:pPr marL="742950" lvl="1" indent="-285750">
              <a:lnSpc>
                <a:spcPts val="2600"/>
              </a:lnSpc>
              <a:buClr>
                <a:srgbClr val="0070C0"/>
              </a:buClr>
              <a:buFont typeface="Wingdings" pitchFamily="2" charset="2"/>
              <a:buChar char="l"/>
            </a:pPr>
            <a:r>
              <a:rPr lang="en-US" altLang="zh-CN" sz="1400" b="1" dirty="0" smtClean="0">
                <a:latin typeface="微软雅黑" pitchFamily="34" charset="-122"/>
                <a:ea typeface="微软雅黑" pitchFamily="34" charset="-122"/>
              </a:rPr>
              <a:t>NFV</a:t>
            </a:r>
            <a:r>
              <a:rPr lang="zh-CN" altLang="en-US" sz="1400" b="1" dirty="0">
                <a:latin typeface="微软雅黑" pitchFamily="34" charset="-122"/>
                <a:ea typeface="微软雅黑" pitchFamily="34" charset="-122"/>
              </a:rPr>
              <a:t>基础设施</a:t>
            </a:r>
            <a:r>
              <a:rPr lang="en-US" altLang="zh-CN" sz="1400" b="1" dirty="0">
                <a:latin typeface="微软雅黑" pitchFamily="34" charset="-122"/>
                <a:ea typeface="微软雅黑" pitchFamily="34" charset="-122"/>
              </a:rPr>
              <a:t>NFVI (NFV Infrastructure</a:t>
            </a:r>
            <a:r>
              <a:rPr lang="en-US" altLang="zh-CN" sz="1400" b="1" dirty="0" smtClean="0">
                <a:latin typeface="微软雅黑" pitchFamily="34" charset="-122"/>
                <a:ea typeface="微软雅黑" pitchFamily="34" charset="-122"/>
              </a:rPr>
              <a:t>)</a:t>
            </a:r>
          </a:p>
          <a:p>
            <a:pPr marL="742950" lvl="1" indent="-285750">
              <a:lnSpc>
                <a:spcPts val="2600"/>
              </a:lnSpc>
              <a:buClr>
                <a:srgbClr val="0070C0"/>
              </a:buClr>
              <a:buFont typeface="Wingdings" pitchFamily="2" charset="2"/>
              <a:buChar char="l"/>
            </a:pPr>
            <a:r>
              <a:rPr lang="en-US" altLang="zh-CN" sz="1400" b="1" dirty="0" smtClean="0">
                <a:latin typeface="微软雅黑" pitchFamily="34" charset="-122"/>
                <a:ea typeface="微软雅黑" pitchFamily="34" charset="-122"/>
              </a:rPr>
              <a:t>NFV</a:t>
            </a:r>
            <a:r>
              <a:rPr lang="zh-CN" altLang="en-US" sz="1400" b="1" dirty="0">
                <a:latin typeface="微软雅黑" pitchFamily="34" charset="-122"/>
                <a:ea typeface="微软雅黑" pitchFamily="34" charset="-122"/>
              </a:rPr>
              <a:t>管理与编排</a:t>
            </a:r>
            <a:r>
              <a:rPr lang="en-US" altLang="zh-CN" sz="1400" b="1" dirty="0">
                <a:latin typeface="微软雅黑" pitchFamily="34" charset="-122"/>
                <a:ea typeface="微软雅黑" pitchFamily="34" charset="-122"/>
              </a:rPr>
              <a:t>MANO (Management and Orchestration</a:t>
            </a:r>
            <a:r>
              <a:rPr lang="en-US" altLang="zh-CN" sz="1400" b="1" dirty="0" smtClean="0">
                <a:latin typeface="微软雅黑" pitchFamily="34" charset="-122"/>
                <a:ea typeface="微软雅黑" pitchFamily="34" charset="-122"/>
              </a:rPr>
              <a:t>)</a:t>
            </a:r>
            <a:r>
              <a:rPr lang="zh-CN" altLang="en-US" sz="1400" b="1" dirty="0" smtClean="0">
                <a:latin typeface="微软雅黑" pitchFamily="34" charset="-122"/>
                <a:ea typeface="微软雅黑" pitchFamily="34" charset="-122"/>
              </a:rPr>
              <a:t> </a:t>
            </a:r>
            <a:endParaRPr lang="en-US" altLang="zh-CN" sz="1400" b="1" dirty="0" smtClean="0">
              <a:latin typeface="微软雅黑" pitchFamily="34" charset="-122"/>
              <a:ea typeface="微软雅黑" pitchFamily="34" charset="-122"/>
            </a:endParaRPr>
          </a:p>
          <a:p>
            <a:pPr marL="742950" lvl="1" indent="-285750">
              <a:lnSpc>
                <a:spcPts val="2600"/>
              </a:lnSpc>
              <a:buClr>
                <a:srgbClr val="0070C0"/>
              </a:buClr>
              <a:buFont typeface="Wingdings" pitchFamily="2" charset="2"/>
              <a:buChar char="l"/>
            </a:pPr>
            <a:r>
              <a:rPr lang="en-US" altLang="zh-CN" sz="1400" b="1" dirty="0">
                <a:latin typeface="微软雅黑" pitchFamily="34" charset="-122"/>
                <a:ea typeface="微软雅黑" pitchFamily="34" charset="-122"/>
              </a:rPr>
              <a:t>VNF</a:t>
            </a:r>
            <a:r>
              <a:rPr lang="zh-CN" altLang="en-US" sz="1400" b="1" dirty="0">
                <a:latin typeface="微软雅黑" pitchFamily="34" charset="-122"/>
                <a:ea typeface="微软雅黑" pitchFamily="34" charset="-122"/>
              </a:rPr>
              <a:t>是网络功能的软件化实现，这些网络功能需要运行于</a:t>
            </a:r>
            <a:r>
              <a:rPr lang="en-US" altLang="zh-CN" sz="1400" b="1" dirty="0">
                <a:latin typeface="微软雅黑" pitchFamily="34" charset="-122"/>
                <a:ea typeface="微软雅黑" pitchFamily="34" charset="-122"/>
              </a:rPr>
              <a:t>NFVI</a:t>
            </a:r>
            <a:r>
              <a:rPr lang="zh-CN" altLang="en-US" sz="1400" b="1" dirty="0">
                <a:latin typeface="微软雅黑" pitchFamily="34" charset="-122"/>
                <a:ea typeface="微软雅黑" pitchFamily="34" charset="-122"/>
              </a:rPr>
              <a:t>提供的虚拟化资源之上。</a:t>
            </a:r>
            <a:r>
              <a:rPr lang="en-US" altLang="zh-CN" sz="1400" b="1" dirty="0">
                <a:latin typeface="微软雅黑" pitchFamily="34" charset="-122"/>
                <a:ea typeface="微软雅黑" pitchFamily="34" charset="-122"/>
              </a:rPr>
              <a:t>MANO</a:t>
            </a:r>
            <a:r>
              <a:rPr lang="zh-CN" altLang="en-US" sz="1400" b="1" dirty="0">
                <a:latin typeface="微软雅黑" pitchFamily="34" charset="-122"/>
                <a:ea typeface="微软雅黑" pitchFamily="34" charset="-122"/>
              </a:rPr>
              <a:t>主要负责虚拟化相关的管理任务，包括虚拟化基础设施管理、</a:t>
            </a:r>
            <a:r>
              <a:rPr lang="en-US" altLang="zh-CN" sz="1400" b="1" dirty="0">
                <a:latin typeface="微软雅黑" pitchFamily="34" charset="-122"/>
                <a:ea typeface="微软雅黑" pitchFamily="34" charset="-122"/>
              </a:rPr>
              <a:t>VNF</a:t>
            </a:r>
            <a:r>
              <a:rPr lang="zh-CN" altLang="en-US" sz="1400" b="1" dirty="0">
                <a:latin typeface="微软雅黑" pitchFamily="34" charset="-122"/>
                <a:ea typeface="微软雅黑" pitchFamily="34" charset="-122"/>
              </a:rPr>
              <a:t>管理、以及</a:t>
            </a:r>
            <a:r>
              <a:rPr lang="en-US" altLang="zh-CN" sz="1400" b="1" dirty="0">
                <a:latin typeface="微软雅黑" pitchFamily="34" charset="-122"/>
                <a:ea typeface="微软雅黑" pitchFamily="34" charset="-122"/>
              </a:rPr>
              <a:t>NFV</a:t>
            </a:r>
            <a:r>
              <a:rPr lang="zh-CN" altLang="en-US" sz="1400" b="1" dirty="0">
                <a:latin typeface="微软雅黑" pitchFamily="34" charset="-122"/>
                <a:ea typeface="微软雅黑" pitchFamily="34" charset="-122"/>
              </a:rPr>
              <a:t>编排等。</a:t>
            </a:r>
            <a:endParaRPr lang="en-US" altLang="zh-CN" sz="1400" b="1" dirty="0" smtClean="0">
              <a:latin typeface="微软雅黑" pitchFamily="34" charset="-122"/>
              <a:ea typeface="微软雅黑" pitchFamily="34" charset="-122"/>
            </a:endParaRPr>
          </a:p>
        </p:txBody>
      </p:sp>
      <p:graphicFrame>
        <p:nvGraphicFramePr>
          <p:cNvPr id="7" name="对象 6"/>
          <p:cNvGraphicFramePr>
            <a:graphicFrameLocks noChangeAspect="1"/>
          </p:cNvGraphicFramePr>
          <p:nvPr>
            <p:extLst/>
          </p:nvPr>
        </p:nvGraphicFramePr>
        <p:xfrm>
          <a:off x="5393722" y="1581667"/>
          <a:ext cx="3670770" cy="2619632"/>
        </p:xfrm>
        <a:graphic>
          <a:graphicData uri="http://schemas.openxmlformats.org/presentationml/2006/ole">
            <mc:AlternateContent xmlns:mc="http://schemas.openxmlformats.org/markup-compatibility/2006">
              <mc:Choice xmlns:v="urn:schemas-microsoft-com:vml" Requires="v">
                <p:oleObj spid="_x0000_s20488" name="Visio" r:id="rId5" imgW="2831972" imgH="2025559" progId="Visio.Drawing.15">
                  <p:embed/>
                </p:oleObj>
              </mc:Choice>
              <mc:Fallback>
                <p:oleObj name="Visio" r:id="rId5" imgW="2831972" imgH="2025559" progId="Visio.Drawing.15">
                  <p:embed/>
                  <p:pic>
                    <p:nvPicPr>
                      <p:cNvPr id="7" name="对象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3722" y="1581667"/>
                        <a:ext cx="3670770" cy="2619632"/>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8172603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ETSI</a:t>
            </a:r>
            <a:r>
              <a:rPr lang="zh-CN" altLang="en-US" sz="2400" b="1" dirty="0" smtClean="0">
                <a:solidFill>
                  <a:schemeClr val="bg1"/>
                </a:solidFill>
                <a:latin typeface="微软雅黑" pitchFamily="34" charset="-122"/>
                <a:ea typeface="微软雅黑" pitchFamily="34" charset="-122"/>
              </a:rPr>
              <a:t>高层</a:t>
            </a:r>
            <a:r>
              <a:rPr lang="en-US" altLang="zh-CN" sz="2400" b="1" dirty="0" smtClean="0">
                <a:solidFill>
                  <a:schemeClr val="bg1"/>
                </a:solidFill>
                <a:latin typeface="微软雅黑" pitchFamily="34" charset="-122"/>
                <a:ea typeface="微软雅黑" pitchFamily="34" charset="-122"/>
              </a:rPr>
              <a:t>NFV</a:t>
            </a:r>
            <a:r>
              <a:rPr lang="zh-CN" altLang="en-US" sz="2400" b="1" dirty="0" smtClean="0">
                <a:solidFill>
                  <a:schemeClr val="bg1"/>
                </a:solidFill>
                <a:latin typeface="微软雅黑" pitchFamily="34" charset="-122"/>
                <a:ea typeface="微软雅黑" pitchFamily="34" charset="-122"/>
              </a:rPr>
              <a:t>框架</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185552"/>
            <a:ext cx="438520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虚拟</a:t>
            </a:r>
            <a:r>
              <a:rPr lang="zh-CN" altLang="en-US" b="1" dirty="0">
                <a:latin typeface="微软雅黑" pitchFamily="34" charset="-122"/>
                <a:ea typeface="微软雅黑" pitchFamily="34" charset="-122"/>
              </a:rPr>
              <a:t>化网络功能</a:t>
            </a:r>
            <a:r>
              <a:rPr lang="en-US" altLang="zh-CN" b="1" dirty="0" smtClean="0">
                <a:latin typeface="微软雅黑" pitchFamily="34" charset="-122"/>
                <a:ea typeface="微软雅黑" pitchFamily="34" charset="-122"/>
              </a:rPr>
              <a:t>VNF</a:t>
            </a:r>
          </a:p>
          <a:p>
            <a:pPr marL="742950" lvl="1" indent="-285750">
              <a:lnSpc>
                <a:spcPts val="28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软件</a:t>
            </a:r>
            <a:r>
              <a:rPr lang="zh-CN" altLang="en-US" sz="1600" b="1" dirty="0">
                <a:solidFill>
                  <a:srgbClr val="C00000"/>
                </a:solidFill>
                <a:latin typeface="微软雅黑" pitchFamily="34" charset="-122"/>
                <a:ea typeface="微软雅黑" pitchFamily="34" charset="-122"/>
              </a:rPr>
              <a:t>实现的网络</a:t>
            </a:r>
            <a:r>
              <a:rPr lang="zh-CN" altLang="en-US" sz="1600" b="1" dirty="0" smtClean="0">
                <a:solidFill>
                  <a:srgbClr val="C00000"/>
                </a:solidFill>
                <a:latin typeface="微软雅黑" pitchFamily="34" charset="-122"/>
                <a:ea typeface="微软雅黑" pitchFamily="34" charset="-122"/>
              </a:rPr>
              <a:t>功能</a:t>
            </a:r>
            <a:r>
              <a:rPr lang="zh-CN" altLang="en-US" sz="1600" b="1" dirty="0" smtClean="0">
                <a:latin typeface="微软雅黑" pitchFamily="34" charset="-122"/>
                <a:ea typeface="微软雅黑" pitchFamily="34" charset="-122"/>
              </a:rPr>
              <a:t>，例如虚拟化的防火墙或路由器等。</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en-US" altLang="zh-CN" sz="1600" b="1" dirty="0" smtClean="0">
                <a:latin typeface="微软雅黑" pitchFamily="34" charset="-122"/>
                <a:ea typeface="微软雅黑" pitchFamily="34" charset="-122"/>
              </a:rPr>
              <a:t>VNF</a:t>
            </a:r>
            <a:r>
              <a:rPr lang="zh-CN" altLang="en-US" sz="1600" b="1" dirty="0">
                <a:latin typeface="微软雅黑" pitchFamily="34" charset="-122"/>
                <a:ea typeface="微软雅黑" pitchFamily="34" charset="-122"/>
              </a:rPr>
              <a:t>的</a:t>
            </a:r>
            <a:r>
              <a:rPr lang="zh-CN" altLang="en-US" sz="1600" b="1" dirty="0">
                <a:solidFill>
                  <a:srgbClr val="C00000"/>
                </a:solidFill>
                <a:latin typeface="微软雅黑" pitchFamily="34" charset="-122"/>
                <a:ea typeface="微软雅黑" pitchFamily="34" charset="-122"/>
              </a:rPr>
              <a:t>功能行为</a:t>
            </a:r>
            <a:r>
              <a:rPr lang="zh-CN" altLang="en-US" sz="1600" b="1" dirty="0">
                <a:latin typeface="微软雅黑" pitchFamily="34" charset="-122"/>
                <a:ea typeface="微软雅黑" pitchFamily="34" charset="-122"/>
              </a:rPr>
              <a:t>与</a:t>
            </a:r>
            <a:r>
              <a:rPr lang="zh-CN" altLang="en-US" sz="1600" b="1" dirty="0">
                <a:solidFill>
                  <a:srgbClr val="C00000"/>
                </a:solidFill>
                <a:latin typeface="微软雅黑" pitchFamily="34" charset="-122"/>
                <a:ea typeface="微软雅黑" pitchFamily="34" charset="-122"/>
              </a:rPr>
              <a:t>外部接口</a:t>
            </a:r>
            <a:r>
              <a:rPr lang="zh-CN" altLang="en-US" sz="1600" b="1" dirty="0">
                <a:latin typeface="微软雅黑" pitchFamily="34" charset="-122"/>
                <a:ea typeface="微软雅黑" pitchFamily="34" charset="-122"/>
              </a:rPr>
              <a:t>应当</a:t>
            </a:r>
            <a:r>
              <a:rPr lang="zh-CN" altLang="en-US" sz="1600" b="1" dirty="0">
                <a:solidFill>
                  <a:srgbClr val="C00000"/>
                </a:solidFill>
                <a:latin typeface="微软雅黑" pitchFamily="34" charset="-122"/>
                <a:ea typeface="微软雅黑" pitchFamily="34" charset="-122"/>
              </a:rPr>
              <a:t>与物理网络功能保持完全一致</a:t>
            </a:r>
            <a:r>
              <a:rPr lang="zh-CN" altLang="en-US" sz="1600" b="1" dirty="0">
                <a:latin typeface="微软雅黑" pitchFamily="34" charset="-122"/>
                <a:ea typeface="微软雅黑" pitchFamily="34" charset="-122"/>
              </a:rPr>
              <a:t>，与该功能是否采用虚拟化方式实现无关。</a:t>
            </a:r>
            <a:endParaRPr lang="en-US" altLang="zh-CN" sz="1600" b="1" dirty="0" smtClean="0">
              <a:latin typeface="微软雅黑" pitchFamily="34" charset="-122"/>
              <a:ea typeface="微软雅黑" pitchFamily="34" charset="-122"/>
            </a:endParaRPr>
          </a:p>
        </p:txBody>
      </p:sp>
      <p:graphicFrame>
        <p:nvGraphicFramePr>
          <p:cNvPr id="8" name="对象 7"/>
          <p:cNvGraphicFramePr>
            <a:graphicFrameLocks noChangeAspect="1"/>
          </p:cNvGraphicFramePr>
          <p:nvPr>
            <p:extLst/>
          </p:nvPr>
        </p:nvGraphicFramePr>
        <p:xfrm>
          <a:off x="5393722" y="1581667"/>
          <a:ext cx="3670770" cy="2619632"/>
        </p:xfrm>
        <a:graphic>
          <a:graphicData uri="http://schemas.openxmlformats.org/presentationml/2006/ole">
            <mc:AlternateContent xmlns:mc="http://schemas.openxmlformats.org/markup-compatibility/2006">
              <mc:Choice xmlns:v="urn:schemas-microsoft-com:vml" Requires="v">
                <p:oleObj spid="_x0000_s21512" name="Visio" r:id="rId5" imgW="2831972" imgH="2025559" progId="Visio.Drawing.15">
                  <p:embed/>
                </p:oleObj>
              </mc:Choice>
              <mc:Fallback>
                <p:oleObj name="Visio" r:id="rId5" imgW="2831972" imgH="2025559" progId="Visio.Drawing.15">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3722" y="1581667"/>
                        <a:ext cx="3670770" cy="2619632"/>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898871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ETSI</a:t>
            </a:r>
            <a:r>
              <a:rPr lang="zh-CN" altLang="en-US" sz="2400" b="1" dirty="0" smtClean="0">
                <a:solidFill>
                  <a:schemeClr val="bg1"/>
                </a:solidFill>
                <a:latin typeface="微软雅黑" pitchFamily="34" charset="-122"/>
                <a:ea typeface="微软雅黑" pitchFamily="34" charset="-122"/>
              </a:rPr>
              <a:t>高层</a:t>
            </a:r>
            <a:r>
              <a:rPr lang="en-US" altLang="zh-CN" sz="2400" b="1" dirty="0" smtClean="0">
                <a:solidFill>
                  <a:schemeClr val="bg1"/>
                </a:solidFill>
                <a:latin typeface="微软雅黑" pitchFamily="34" charset="-122"/>
                <a:ea typeface="微软雅黑" pitchFamily="34" charset="-122"/>
              </a:rPr>
              <a:t>NFV</a:t>
            </a:r>
            <a:r>
              <a:rPr lang="zh-CN" altLang="en-US" sz="2400" b="1" dirty="0" smtClean="0">
                <a:solidFill>
                  <a:schemeClr val="bg1"/>
                </a:solidFill>
                <a:latin typeface="微软雅黑" pitchFamily="34" charset="-122"/>
                <a:ea typeface="微软雅黑" pitchFamily="34" charset="-122"/>
              </a:rPr>
              <a:t>框架</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185552"/>
            <a:ext cx="4860937"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NFV</a:t>
            </a:r>
            <a:r>
              <a:rPr lang="zh-CN" altLang="en-US" b="1" dirty="0">
                <a:latin typeface="微软雅黑" pitchFamily="34" charset="-122"/>
                <a:ea typeface="微软雅黑" pitchFamily="34" charset="-122"/>
              </a:rPr>
              <a:t>基础设施</a:t>
            </a:r>
            <a:r>
              <a:rPr lang="en-US" altLang="zh-CN" b="1" dirty="0">
                <a:latin typeface="微软雅黑" pitchFamily="34" charset="-122"/>
                <a:ea typeface="微软雅黑" pitchFamily="34" charset="-122"/>
              </a:rPr>
              <a:t>NFVI</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提供</a:t>
            </a:r>
            <a:r>
              <a:rPr lang="en-US" altLang="zh-CN" sz="1600" b="1" dirty="0">
                <a:latin typeface="微软雅黑" pitchFamily="34" charset="-122"/>
                <a:ea typeface="微软雅黑" pitchFamily="34" charset="-122"/>
              </a:rPr>
              <a:t>VNF</a:t>
            </a:r>
            <a:r>
              <a:rPr lang="zh-CN" altLang="en-US" sz="1600" b="1" dirty="0">
                <a:latin typeface="微软雅黑" pitchFamily="34" charset="-122"/>
                <a:ea typeface="微软雅黑" pitchFamily="34" charset="-122"/>
              </a:rPr>
              <a:t>运行所需要的</a:t>
            </a:r>
            <a:r>
              <a:rPr lang="zh-CN" altLang="en-US" sz="1600" b="1" dirty="0">
                <a:solidFill>
                  <a:srgbClr val="C00000"/>
                </a:solidFill>
                <a:latin typeface="微软雅黑" pitchFamily="34" charset="-122"/>
                <a:ea typeface="微软雅黑" pitchFamily="34" charset="-122"/>
              </a:rPr>
              <a:t>虚拟化计算、存储、网络资源池</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硬件</a:t>
            </a:r>
            <a:r>
              <a:rPr lang="zh-CN" altLang="en-US" sz="1600" b="1" dirty="0">
                <a:latin typeface="微软雅黑" pitchFamily="34" charset="-122"/>
                <a:ea typeface="微软雅黑" pitchFamily="34" charset="-122"/>
              </a:rPr>
              <a:t>资源包括提供处理、存储与组网能力的</a:t>
            </a:r>
            <a:r>
              <a:rPr lang="zh-CN" altLang="en-US" sz="1600" b="1" dirty="0">
                <a:solidFill>
                  <a:srgbClr val="C00000"/>
                </a:solidFill>
                <a:latin typeface="微软雅黑" pitchFamily="34" charset="-122"/>
                <a:ea typeface="微软雅黑" pitchFamily="34" charset="-122"/>
              </a:rPr>
              <a:t>计算、存储和网络设备</a:t>
            </a:r>
            <a:r>
              <a:rPr lang="zh-CN" altLang="en-US" sz="1600" b="1" dirty="0" smtClean="0">
                <a:latin typeface="微软雅黑" pitchFamily="34" charset="-122"/>
                <a:ea typeface="微软雅黑" pitchFamily="34" charset="-122"/>
              </a:rPr>
              <a:t>，通过</a:t>
            </a:r>
            <a:r>
              <a:rPr lang="zh-CN" altLang="en-US" sz="1600" b="1" dirty="0">
                <a:latin typeface="微软雅黑" pitchFamily="34" charset="-122"/>
                <a:ea typeface="微软雅黑" pitchFamily="34" charset="-122"/>
              </a:rPr>
              <a:t>虚拟化层形成</a:t>
            </a:r>
            <a:r>
              <a:rPr lang="zh-CN" altLang="en-US" sz="1600" b="1" dirty="0">
                <a:solidFill>
                  <a:srgbClr val="C00000"/>
                </a:solidFill>
                <a:latin typeface="微软雅黑" pitchFamily="34" charset="-122"/>
                <a:ea typeface="微软雅黑" pitchFamily="34" charset="-122"/>
              </a:rPr>
              <a:t>统一的虚拟化计算、存储和网络资源</a:t>
            </a:r>
            <a:r>
              <a:rPr lang="zh-CN" altLang="en-US" sz="1600" b="1" dirty="0">
                <a:latin typeface="微软雅黑" pitchFamily="34" charset="-122"/>
                <a:ea typeface="微软雅黑" pitchFamily="34" charset="-122"/>
              </a:rPr>
              <a:t>，进而为</a:t>
            </a:r>
            <a:r>
              <a:rPr lang="en-US" altLang="zh-CN" sz="1600" b="1" dirty="0">
                <a:latin typeface="微软雅黑" pitchFamily="34" charset="-122"/>
                <a:ea typeface="微软雅黑" pitchFamily="34" charset="-122"/>
              </a:rPr>
              <a:t>VNF</a:t>
            </a:r>
            <a:r>
              <a:rPr lang="zh-CN" altLang="en-US" sz="1600" b="1" dirty="0">
                <a:latin typeface="微软雅黑" pitchFamily="34" charset="-122"/>
                <a:ea typeface="微软雅黑" pitchFamily="34" charset="-122"/>
              </a:rPr>
              <a:t>提供运行环境</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虚拟</a:t>
            </a:r>
            <a:r>
              <a:rPr lang="zh-CN" altLang="en-US" sz="1600" b="1" dirty="0">
                <a:latin typeface="微软雅黑" pitchFamily="34" charset="-122"/>
                <a:ea typeface="微软雅黑" pitchFamily="34" charset="-122"/>
              </a:rPr>
              <a:t>化层是</a:t>
            </a:r>
            <a:r>
              <a:rPr lang="en-US" altLang="zh-CN" sz="1600" b="1" dirty="0">
                <a:latin typeface="微软雅黑" pitchFamily="34" charset="-122"/>
                <a:ea typeface="微软雅黑" pitchFamily="34" charset="-122"/>
              </a:rPr>
              <a:t>NFVI</a:t>
            </a:r>
            <a:r>
              <a:rPr lang="zh-CN" altLang="en-US" sz="1600" b="1" dirty="0">
                <a:latin typeface="微软雅黑" pitchFamily="34" charset="-122"/>
                <a:ea typeface="微软雅黑" pitchFamily="34" charset="-122"/>
              </a:rPr>
              <a:t>的核心组件，通过</a:t>
            </a:r>
            <a:r>
              <a:rPr lang="zh-CN" altLang="en-US" sz="1600" b="1" dirty="0">
                <a:solidFill>
                  <a:srgbClr val="C00000"/>
                </a:solidFill>
                <a:latin typeface="微软雅黑" pitchFamily="34" charset="-122"/>
                <a:ea typeface="微软雅黑" pitchFamily="34" charset="-122"/>
              </a:rPr>
              <a:t>硬件资源的抽象化，支持上层</a:t>
            </a:r>
            <a:r>
              <a:rPr lang="en-US" altLang="zh-CN" sz="1600" b="1" dirty="0">
                <a:solidFill>
                  <a:srgbClr val="C00000"/>
                </a:solidFill>
                <a:latin typeface="微软雅黑" pitchFamily="34" charset="-122"/>
                <a:ea typeface="微软雅黑" pitchFamily="34" charset="-122"/>
              </a:rPr>
              <a:t>VNF</a:t>
            </a:r>
            <a:r>
              <a:rPr lang="zh-CN" altLang="en-US" sz="1600" b="1" dirty="0">
                <a:solidFill>
                  <a:srgbClr val="C00000"/>
                </a:solidFill>
                <a:latin typeface="微软雅黑" pitchFamily="34" charset="-122"/>
                <a:ea typeface="微软雅黑" pitchFamily="34" charset="-122"/>
              </a:rPr>
              <a:t>软件与底层硬件的解耦，确保</a:t>
            </a:r>
            <a:r>
              <a:rPr lang="en-US" altLang="zh-CN" sz="1600" b="1" dirty="0">
                <a:solidFill>
                  <a:srgbClr val="C00000"/>
                </a:solidFill>
                <a:latin typeface="微软雅黑" pitchFamily="34" charset="-122"/>
                <a:ea typeface="微软雅黑" pitchFamily="34" charset="-122"/>
              </a:rPr>
              <a:t>VNF</a:t>
            </a:r>
            <a:r>
              <a:rPr lang="zh-CN" altLang="en-US" sz="1600" b="1" dirty="0">
                <a:solidFill>
                  <a:srgbClr val="C00000"/>
                </a:solidFill>
                <a:latin typeface="微软雅黑" pitchFamily="34" charset="-122"/>
                <a:ea typeface="微软雅黑" pitchFamily="34" charset="-122"/>
              </a:rPr>
              <a:t>的硬件无关性</a:t>
            </a:r>
            <a:r>
              <a:rPr lang="zh-CN" altLang="en-US" sz="1600" b="1" dirty="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p:txBody>
      </p:sp>
      <p:graphicFrame>
        <p:nvGraphicFramePr>
          <p:cNvPr id="8" name="对象 7"/>
          <p:cNvGraphicFramePr>
            <a:graphicFrameLocks noChangeAspect="1"/>
          </p:cNvGraphicFramePr>
          <p:nvPr>
            <p:extLst/>
          </p:nvPr>
        </p:nvGraphicFramePr>
        <p:xfrm>
          <a:off x="5393722" y="1581667"/>
          <a:ext cx="3670770" cy="2619632"/>
        </p:xfrm>
        <a:graphic>
          <a:graphicData uri="http://schemas.openxmlformats.org/presentationml/2006/ole">
            <mc:AlternateContent xmlns:mc="http://schemas.openxmlformats.org/markup-compatibility/2006">
              <mc:Choice xmlns:v="urn:schemas-microsoft-com:vml" Requires="v">
                <p:oleObj spid="_x0000_s22536" name="Visio" r:id="rId5" imgW="2831972" imgH="2025559" progId="Visio.Drawing.15">
                  <p:embed/>
                </p:oleObj>
              </mc:Choice>
              <mc:Fallback>
                <p:oleObj name="Visio" r:id="rId5" imgW="2831972" imgH="2025559" progId="Visio.Drawing.15">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3722" y="1581667"/>
                        <a:ext cx="3670770" cy="2619632"/>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72165404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smtClean="0">
                <a:solidFill>
                  <a:schemeClr val="bg1"/>
                </a:solidFill>
                <a:latin typeface="微软雅黑" pitchFamily="34" charset="-122"/>
                <a:ea typeface="微软雅黑" pitchFamily="34" charset="-122"/>
              </a:rPr>
              <a:t>ETSI</a:t>
            </a:r>
            <a:r>
              <a:rPr lang="zh-CN" altLang="en-US" sz="2400" b="1" dirty="0" smtClean="0">
                <a:solidFill>
                  <a:schemeClr val="bg1"/>
                </a:solidFill>
                <a:latin typeface="微软雅黑" pitchFamily="34" charset="-122"/>
                <a:ea typeface="微软雅黑" pitchFamily="34" charset="-122"/>
              </a:rPr>
              <a:t>高层</a:t>
            </a:r>
            <a:r>
              <a:rPr lang="en-US" altLang="zh-CN" sz="2400" b="1" dirty="0" smtClean="0">
                <a:solidFill>
                  <a:schemeClr val="bg1"/>
                </a:solidFill>
                <a:latin typeface="微软雅黑" pitchFamily="34" charset="-122"/>
                <a:ea typeface="微软雅黑" pitchFamily="34" charset="-122"/>
              </a:rPr>
              <a:t>NFV</a:t>
            </a:r>
            <a:r>
              <a:rPr lang="zh-CN" altLang="en-US" sz="2400" b="1" dirty="0" smtClean="0">
                <a:solidFill>
                  <a:schemeClr val="bg1"/>
                </a:solidFill>
                <a:latin typeface="微软雅黑" pitchFamily="34" charset="-122"/>
                <a:ea typeface="微软雅黑" pitchFamily="34" charset="-122"/>
              </a:rPr>
              <a:t>框架</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185552"/>
            <a:ext cx="4860937" cy="3298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500"/>
              </a:lnSpc>
              <a:buClr>
                <a:srgbClr val="0070C0"/>
              </a:buClr>
              <a:buFont typeface="Wingdings" pitchFamily="2" charset="2"/>
              <a:buChar char="l"/>
            </a:pPr>
            <a:r>
              <a:rPr lang="en-US" altLang="zh-CN" b="1" dirty="0">
                <a:latin typeface="微软雅黑" pitchFamily="34" charset="-122"/>
                <a:ea typeface="微软雅黑" pitchFamily="34" charset="-122"/>
              </a:rPr>
              <a:t>NFV</a:t>
            </a:r>
            <a:r>
              <a:rPr lang="zh-CN" altLang="en-US" b="1" dirty="0">
                <a:latin typeface="微软雅黑" pitchFamily="34" charset="-122"/>
                <a:ea typeface="微软雅黑" pitchFamily="34" charset="-122"/>
              </a:rPr>
              <a:t>管理和编排</a:t>
            </a:r>
            <a:r>
              <a:rPr lang="en-US" altLang="zh-CN" b="1" dirty="0">
                <a:latin typeface="微软雅黑" pitchFamily="34" charset="-122"/>
                <a:ea typeface="微软雅黑" pitchFamily="34" charset="-122"/>
              </a:rPr>
              <a:t>MANO</a:t>
            </a:r>
            <a:endParaRPr lang="en-US" altLang="zh-CN"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zh-CN" altLang="en-US" sz="1400" b="1" dirty="0">
                <a:latin typeface="微软雅黑" pitchFamily="34" charset="-122"/>
                <a:ea typeface="微软雅黑" pitchFamily="34" charset="-122"/>
              </a:rPr>
              <a:t>负责管理</a:t>
            </a:r>
            <a:r>
              <a:rPr lang="en-US" altLang="zh-CN" sz="1400" b="1" dirty="0">
                <a:latin typeface="微软雅黑" pitchFamily="34" charset="-122"/>
                <a:ea typeface="微软雅黑" pitchFamily="34" charset="-122"/>
              </a:rPr>
              <a:t>NFVI</a:t>
            </a:r>
            <a:r>
              <a:rPr lang="zh-CN" altLang="en-US" sz="1400" b="1" dirty="0">
                <a:latin typeface="微软雅黑" pitchFamily="34" charset="-122"/>
                <a:ea typeface="微软雅黑" pitchFamily="34" charset="-122"/>
              </a:rPr>
              <a:t>和</a:t>
            </a:r>
            <a:r>
              <a:rPr lang="en-US" altLang="zh-CN" sz="1400" b="1" dirty="0">
                <a:latin typeface="微软雅黑" pitchFamily="34" charset="-122"/>
                <a:ea typeface="微软雅黑" pitchFamily="34" charset="-122"/>
              </a:rPr>
              <a:t>VNF</a:t>
            </a:r>
            <a:r>
              <a:rPr lang="zh-CN" altLang="en-US" sz="1400" b="1" dirty="0">
                <a:latin typeface="微软雅黑" pitchFamily="34" charset="-122"/>
                <a:ea typeface="微软雅黑" pitchFamily="34" charset="-122"/>
              </a:rPr>
              <a:t>，并支持网络功能的自动化编排</a:t>
            </a:r>
            <a:r>
              <a:rPr lang="zh-CN" altLang="en-US" sz="1400" b="1" dirty="0" smtClean="0">
                <a:latin typeface="微软雅黑" pitchFamily="34" charset="-122"/>
                <a:ea typeface="微软雅黑" pitchFamily="34" charset="-122"/>
              </a:rPr>
              <a:t>部署，包括</a:t>
            </a:r>
            <a:r>
              <a:rPr lang="zh-CN" altLang="en-US" sz="1400" b="1" dirty="0">
                <a:solidFill>
                  <a:srgbClr val="C00000"/>
                </a:solidFill>
                <a:latin typeface="微软雅黑" pitchFamily="34" charset="-122"/>
                <a:ea typeface="微软雅黑" pitchFamily="34" charset="-122"/>
              </a:rPr>
              <a:t>虚拟化基础设施管理器</a:t>
            </a:r>
            <a:r>
              <a:rPr lang="en-US" altLang="zh-CN" sz="1400" b="1" dirty="0" smtClean="0">
                <a:solidFill>
                  <a:srgbClr val="C00000"/>
                </a:solidFill>
                <a:latin typeface="微软雅黑" pitchFamily="34" charset="-122"/>
                <a:ea typeface="微软雅黑" pitchFamily="34" charset="-122"/>
              </a:rPr>
              <a:t>VIM</a:t>
            </a:r>
            <a:r>
              <a:rPr lang="zh-CN" altLang="en-US" sz="1400" b="1" dirty="0" smtClean="0">
                <a:solidFill>
                  <a:srgbClr val="C00000"/>
                </a:solidFill>
                <a:latin typeface="微软雅黑" pitchFamily="34" charset="-122"/>
                <a:ea typeface="微软雅黑" pitchFamily="34" charset="-122"/>
              </a:rPr>
              <a:t>、</a:t>
            </a:r>
            <a:r>
              <a:rPr lang="en-US" altLang="zh-CN" sz="1400" b="1" dirty="0">
                <a:solidFill>
                  <a:srgbClr val="C00000"/>
                </a:solidFill>
                <a:latin typeface="微软雅黑" pitchFamily="34" charset="-122"/>
                <a:ea typeface="微软雅黑" pitchFamily="34" charset="-122"/>
              </a:rPr>
              <a:t>VNF</a:t>
            </a:r>
            <a:r>
              <a:rPr lang="zh-CN" altLang="en-US" sz="1400" b="1" dirty="0">
                <a:solidFill>
                  <a:srgbClr val="C00000"/>
                </a:solidFill>
                <a:latin typeface="微软雅黑" pitchFamily="34" charset="-122"/>
                <a:ea typeface="微软雅黑" pitchFamily="34" charset="-122"/>
              </a:rPr>
              <a:t>管理器</a:t>
            </a:r>
            <a:r>
              <a:rPr lang="en-US" altLang="zh-CN" sz="1400" b="1" dirty="0" smtClean="0">
                <a:solidFill>
                  <a:srgbClr val="C00000"/>
                </a:solidFill>
                <a:latin typeface="微软雅黑" pitchFamily="34" charset="-122"/>
                <a:ea typeface="微软雅黑" pitchFamily="34" charset="-122"/>
              </a:rPr>
              <a:t>VNFM</a:t>
            </a:r>
            <a:r>
              <a:rPr lang="zh-CN" altLang="en-US" sz="1400" b="1" dirty="0" smtClean="0">
                <a:solidFill>
                  <a:srgbClr val="C00000"/>
                </a:solidFill>
                <a:latin typeface="微软雅黑" pitchFamily="34" charset="-122"/>
                <a:ea typeface="微软雅黑" pitchFamily="34" charset="-122"/>
              </a:rPr>
              <a:t>、</a:t>
            </a:r>
            <a:r>
              <a:rPr lang="en-US" altLang="zh-CN" sz="1400" b="1" dirty="0" smtClean="0">
                <a:solidFill>
                  <a:srgbClr val="C00000"/>
                </a:solidFill>
                <a:latin typeface="微软雅黑" pitchFamily="34" charset="-122"/>
                <a:ea typeface="微软雅黑" pitchFamily="34" charset="-122"/>
              </a:rPr>
              <a:t>NFV</a:t>
            </a:r>
            <a:r>
              <a:rPr lang="zh-CN" altLang="en-US" sz="1400" b="1" dirty="0">
                <a:solidFill>
                  <a:srgbClr val="C00000"/>
                </a:solidFill>
                <a:latin typeface="微软雅黑" pitchFamily="34" charset="-122"/>
                <a:ea typeface="微软雅黑" pitchFamily="34" charset="-122"/>
              </a:rPr>
              <a:t>编排器</a:t>
            </a:r>
            <a:r>
              <a:rPr lang="en-US" altLang="zh-CN" sz="1400" b="1" dirty="0" smtClean="0">
                <a:solidFill>
                  <a:srgbClr val="C00000"/>
                </a:solidFill>
                <a:latin typeface="微软雅黑" pitchFamily="34" charset="-122"/>
                <a:ea typeface="微软雅黑" pitchFamily="34" charset="-122"/>
              </a:rPr>
              <a:t>NFVO</a:t>
            </a:r>
            <a:r>
              <a:rPr lang="zh-CN" altLang="en-US" sz="1400" b="1" dirty="0" smtClean="0">
                <a:latin typeface="微软雅黑" pitchFamily="34" charset="-122"/>
                <a:ea typeface="微软雅黑" pitchFamily="34" charset="-122"/>
              </a:rPr>
              <a:t>三</a:t>
            </a:r>
            <a:r>
              <a:rPr lang="zh-CN" altLang="en-US" sz="1400" b="1" dirty="0">
                <a:latin typeface="微软雅黑" pitchFamily="34" charset="-122"/>
                <a:ea typeface="微软雅黑" pitchFamily="34" charset="-122"/>
              </a:rPr>
              <a:t>个组件</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a:p>
            <a:pPr marL="742950" lvl="1" indent="-285750">
              <a:lnSpc>
                <a:spcPts val="2500"/>
              </a:lnSpc>
              <a:buClr>
                <a:srgbClr val="0070C0"/>
              </a:buClr>
              <a:buFont typeface="Wingdings" pitchFamily="2" charset="2"/>
              <a:buChar char="l"/>
            </a:pPr>
            <a:r>
              <a:rPr lang="en-US" altLang="zh-CN" sz="1400" b="1" dirty="0" smtClean="0">
                <a:latin typeface="微软雅黑" pitchFamily="34" charset="-122"/>
                <a:ea typeface="微软雅黑" pitchFamily="34" charset="-122"/>
              </a:rPr>
              <a:t>VIM</a:t>
            </a:r>
            <a:r>
              <a:rPr lang="zh-CN" altLang="en-US" sz="1400" b="1" dirty="0">
                <a:latin typeface="微软雅黑" pitchFamily="34" charset="-122"/>
                <a:ea typeface="微软雅黑" pitchFamily="34" charset="-122"/>
              </a:rPr>
              <a:t>负责管理</a:t>
            </a:r>
            <a:r>
              <a:rPr lang="en-US" altLang="zh-CN" sz="1400" b="1" dirty="0">
                <a:latin typeface="微软雅黑" pitchFamily="34" charset="-122"/>
                <a:ea typeface="微软雅黑" pitchFamily="34" charset="-122"/>
              </a:rPr>
              <a:t>NFVI</a:t>
            </a:r>
            <a:r>
              <a:rPr lang="zh-CN" altLang="en-US" sz="1400" b="1" dirty="0">
                <a:latin typeface="微软雅黑" pitchFamily="34" charset="-122"/>
                <a:ea typeface="微软雅黑" pitchFamily="34" charset="-122"/>
              </a:rPr>
              <a:t>中的虚拟资源，以及进行资源的分配与监控</a:t>
            </a:r>
            <a:r>
              <a:rPr lang="zh-CN" altLang="en-US" sz="1400" b="1" dirty="0" smtClean="0">
                <a:latin typeface="微软雅黑" pitchFamily="34" charset="-122"/>
                <a:ea typeface="微软雅黑" pitchFamily="34" charset="-122"/>
              </a:rPr>
              <a:t>等</a:t>
            </a:r>
            <a:r>
              <a:rPr lang="en-US" altLang="zh-CN" sz="1400" b="1" dirty="0" smtClean="0">
                <a:latin typeface="微软雅黑" pitchFamily="34" charset="-122"/>
                <a:ea typeface="微软雅黑" pitchFamily="34" charset="-122"/>
              </a:rPr>
              <a:t>.</a:t>
            </a:r>
          </a:p>
          <a:p>
            <a:pPr marL="742950" lvl="1" indent="-285750">
              <a:lnSpc>
                <a:spcPts val="2500"/>
              </a:lnSpc>
              <a:buClr>
                <a:srgbClr val="0070C0"/>
              </a:buClr>
              <a:buFont typeface="Wingdings" pitchFamily="2" charset="2"/>
              <a:buChar char="l"/>
            </a:pPr>
            <a:r>
              <a:rPr lang="en-US" altLang="zh-CN" sz="1400" b="1" dirty="0" smtClean="0">
                <a:latin typeface="微软雅黑" pitchFamily="34" charset="-122"/>
                <a:ea typeface="微软雅黑" pitchFamily="34" charset="-122"/>
              </a:rPr>
              <a:t>VNFM</a:t>
            </a:r>
            <a:r>
              <a:rPr lang="zh-CN" altLang="en-US" sz="1400" b="1" dirty="0">
                <a:latin typeface="微软雅黑" pitchFamily="34" charset="-122"/>
                <a:ea typeface="微软雅黑" pitchFamily="34" charset="-122"/>
              </a:rPr>
              <a:t>负责对</a:t>
            </a:r>
            <a:r>
              <a:rPr lang="en-US" altLang="zh-CN" sz="1400" b="1" dirty="0">
                <a:latin typeface="微软雅黑" pitchFamily="34" charset="-122"/>
                <a:ea typeface="微软雅黑" pitchFamily="34" charset="-122"/>
              </a:rPr>
              <a:t>VNF</a:t>
            </a:r>
            <a:r>
              <a:rPr lang="zh-CN" altLang="en-US" sz="1400" b="1" dirty="0">
                <a:latin typeface="微软雅黑" pitchFamily="34" charset="-122"/>
                <a:ea typeface="微软雅黑" pitchFamily="34" charset="-122"/>
              </a:rPr>
              <a:t>进行启动、监控、更新、弹性扩缩、终止等全生命周期的</a:t>
            </a:r>
            <a:r>
              <a:rPr lang="zh-CN" altLang="en-US" sz="1400" b="1" dirty="0" smtClean="0">
                <a:latin typeface="微软雅黑" pitchFamily="34" charset="-122"/>
                <a:ea typeface="微软雅黑" pitchFamily="34" charset="-122"/>
              </a:rPr>
              <a:t>管理</a:t>
            </a:r>
            <a:r>
              <a:rPr lang="en-US" altLang="zh-CN" sz="1400" b="1" dirty="0" smtClean="0">
                <a:latin typeface="微软雅黑" pitchFamily="34" charset="-122"/>
                <a:ea typeface="微软雅黑" pitchFamily="34" charset="-122"/>
              </a:rPr>
              <a:t>.</a:t>
            </a:r>
          </a:p>
          <a:p>
            <a:pPr marL="742950" lvl="1" indent="-285750">
              <a:lnSpc>
                <a:spcPts val="2500"/>
              </a:lnSpc>
              <a:buClr>
                <a:srgbClr val="0070C0"/>
              </a:buClr>
              <a:buFont typeface="Wingdings" pitchFamily="2" charset="2"/>
              <a:buChar char="l"/>
            </a:pPr>
            <a:r>
              <a:rPr lang="en-US" altLang="zh-CN" sz="1400" b="1" dirty="0" smtClean="0">
                <a:latin typeface="微软雅黑" pitchFamily="34" charset="-122"/>
                <a:ea typeface="微软雅黑" pitchFamily="34" charset="-122"/>
              </a:rPr>
              <a:t>NFVO</a:t>
            </a:r>
            <a:r>
              <a:rPr lang="zh-CN" altLang="en-US" sz="1400" b="1" dirty="0">
                <a:latin typeface="微软雅黑" pitchFamily="34" charset="-122"/>
                <a:ea typeface="微软雅黑" pitchFamily="34" charset="-122"/>
              </a:rPr>
              <a:t>负责对</a:t>
            </a:r>
            <a:r>
              <a:rPr lang="en-US" altLang="zh-CN" sz="1400" b="1" dirty="0">
                <a:latin typeface="微软雅黑" pitchFamily="34" charset="-122"/>
                <a:ea typeface="微软雅黑" pitchFamily="34" charset="-122"/>
              </a:rPr>
              <a:t>NFVI</a:t>
            </a:r>
            <a:r>
              <a:rPr lang="zh-CN" altLang="en-US" sz="1400" b="1" dirty="0">
                <a:latin typeface="微软雅黑" pitchFamily="34" charset="-122"/>
                <a:ea typeface="微软雅黑" pitchFamily="34" charset="-122"/>
              </a:rPr>
              <a:t>的软硬件资源进行编排管理，并在</a:t>
            </a:r>
            <a:r>
              <a:rPr lang="en-US" altLang="zh-CN" sz="1400" b="1" dirty="0">
                <a:latin typeface="微软雅黑" pitchFamily="34" charset="-122"/>
                <a:ea typeface="微软雅黑" pitchFamily="34" charset="-122"/>
              </a:rPr>
              <a:t>NFVI</a:t>
            </a:r>
            <a:r>
              <a:rPr lang="zh-CN" altLang="en-US" sz="1400" b="1" dirty="0">
                <a:latin typeface="微软雅黑" pitchFamily="34" charset="-122"/>
                <a:ea typeface="微软雅黑" pitchFamily="34" charset="-122"/>
              </a:rPr>
              <a:t>上实现网络功能的自动化部署。</a:t>
            </a:r>
            <a:endParaRPr lang="en-US" altLang="zh-CN" sz="1400" b="1" dirty="0" smtClean="0">
              <a:latin typeface="微软雅黑" pitchFamily="34" charset="-122"/>
              <a:ea typeface="微软雅黑" pitchFamily="34" charset="-122"/>
            </a:endParaRPr>
          </a:p>
        </p:txBody>
      </p:sp>
      <p:graphicFrame>
        <p:nvGraphicFramePr>
          <p:cNvPr id="8" name="对象 7"/>
          <p:cNvGraphicFramePr>
            <a:graphicFrameLocks noChangeAspect="1"/>
          </p:cNvGraphicFramePr>
          <p:nvPr>
            <p:extLst/>
          </p:nvPr>
        </p:nvGraphicFramePr>
        <p:xfrm>
          <a:off x="5393722" y="1581667"/>
          <a:ext cx="3670770" cy="2619632"/>
        </p:xfrm>
        <a:graphic>
          <a:graphicData uri="http://schemas.openxmlformats.org/presentationml/2006/ole">
            <mc:AlternateContent xmlns:mc="http://schemas.openxmlformats.org/markup-compatibility/2006">
              <mc:Choice xmlns:v="urn:schemas-microsoft-com:vml" Requires="v">
                <p:oleObj spid="_x0000_s23560" name="Visio" r:id="rId5" imgW="2831972" imgH="2025559" progId="Visio.Drawing.15">
                  <p:embed/>
                </p:oleObj>
              </mc:Choice>
              <mc:Fallback>
                <p:oleObj name="Visio" r:id="rId5" imgW="2831972" imgH="2025559" progId="Visio.Drawing.15">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3722" y="1581667"/>
                        <a:ext cx="3670770" cy="2619632"/>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41032199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虚拟化技术</a:t>
            </a:r>
          </a:p>
        </p:txBody>
      </p:sp>
      <p:sp>
        <p:nvSpPr>
          <p:cNvPr id="4" name="Rectangle 8"/>
          <p:cNvSpPr>
            <a:spLocks noChangeArrowheads="1"/>
          </p:cNvSpPr>
          <p:nvPr/>
        </p:nvSpPr>
        <p:spPr bwMode="auto">
          <a:xfrm>
            <a:off x="545143" y="1185552"/>
            <a:ext cx="4860937"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在</a:t>
            </a:r>
            <a:r>
              <a:rPr lang="en-US" altLang="zh-CN" b="1" dirty="0">
                <a:latin typeface="微软雅黑" pitchFamily="34" charset="-122"/>
                <a:ea typeface="微软雅黑" pitchFamily="34" charset="-122"/>
              </a:rPr>
              <a:t>NFV</a:t>
            </a:r>
            <a:r>
              <a:rPr lang="zh-CN" altLang="en-US" b="1" dirty="0">
                <a:latin typeface="微软雅黑" pitchFamily="34" charset="-122"/>
                <a:ea typeface="微软雅黑" pitchFamily="34" charset="-122"/>
              </a:rPr>
              <a:t>的实现中，虚拟化层需要对</a:t>
            </a:r>
            <a:r>
              <a:rPr lang="zh-CN" altLang="en-US" b="1" dirty="0">
                <a:solidFill>
                  <a:srgbClr val="C00000"/>
                </a:solidFill>
                <a:latin typeface="微软雅黑" pitchFamily="34" charset="-122"/>
                <a:ea typeface="微软雅黑" pitchFamily="34" charset="-122"/>
              </a:rPr>
              <a:t>物理计算资源、存储资源、以及网络资源进行虚拟化</a:t>
            </a:r>
            <a:r>
              <a:rPr lang="zh-CN" altLang="en-US" b="1" dirty="0" smtClean="0">
                <a:latin typeface="微软雅黑" pitchFamily="34" charset="-122"/>
                <a:ea typeface="微软雅黑" pitchFamily="34" charset="-122"/>
              </a:rPr>
              <a:t>，形成</a:t>
            </a:r>
            <a:r>
              <a:rPr lang="zh-CN" altLang="en-US" b="1" dirty="0">
                <a:latin typeface="微软雅黑" pitchFamily="34" charset="-122"/>
                <a:ea typeface="微软雅黑" pitchFamily="34" charset="-122"/>
              </a:rPr>
              <a:t>统一的</a:t>
            </a:r>
            <a:r>
              <a:rPr lang="zh-CN" altLang="en-US" b="1" dirty="0">
                <a:solidFill>
                  <a:srgbClr val="C00000"/>
                </a:solidFill>
                <a:latin typeface="微软雅黑" pitchFamily="34" charset="-122"/>
                <a:ea typeface="微软雅黑" pitchFamily="34" charset="-122"/>
              </a:rPr>
              <a:t>虚拟化资源池</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通过虚拟机监视器</a:t>
            </a:r>
            <a:r>
              <a:rPr lang="en-US" altLang="zh-CN" sz="1600" b="1" dirty="0">
                <a:latin typeface="微软雅黑" pitchFamily="34" charset="-122"/>
                <a:ea typeface="微软雅黑" pitchFamily="34" charset="-122"/>
              </a:rPr>
              <a:t>Hypervisor</a:t>
            </a:r>
            <a:r>
              <a:rPr lang="zh-CN" altLang="en-US" sz="1600" b="1" dirty="0">
                <a:latin typeface="微软雅黑" pitchFamily="34" charset="-122"/>
                <a:ea typeface="微软雅黑" pitchFamily="34" charset="-122"/>
              </a:rPr>
              <a:t>实现</a:t>
            </a:r>
            <a:r>
              <a:rPr lang="zh-CN" altLang="en-US" sz="1600" b="1" dirty="0" smtClean="0">
                <a:solidFill>
                  <a:srgbClr val="C00000"/>
                </a:solidFill>
                <a:latin typeface="微软雅黑" pitchFamily="34" charset="-122"/>
                <a:ea typeface="微软雅黑" pitchFamily="34" charset="-122"/>
              </a:rPr>
              <a:t>计算</a:t>
            </a:r>
            <a:r>
              <a:rPr lang="zh-CN" altLang="en-US" sz="1600" b="1" dirty="0">
                <a:solidFill>
                  <a:srgbClr val="C00000"/>
                </a:solidFill>
                <a:latin typeface="微软雅黑" pitchFamily="34" charset="-122"/>
                <a:ea typeface="微软雅黑" pitchFamily="34" charset="-122"/>
              </a:rPr>
              <a:t>资源虚拟</a:t>
            </a:r>
            <a:r>
              <a:rPr lang="zh-CN" altLang="en-US" sz="1600" b="1" dirty="0" smtClean="0">
                <a:solidFill>
                  <a:srgbClr val="C00000"/>
                </a:solidFill>
                <a:latin typeface="微软雅黑" pitchFamily="34" charset="-122"/>
                <a:ea typeface="微软雅黑" pitchFamily="34" charset="-122"/>
              </a:rPr>
              <a:t>化</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通过软件定义存储、分布式文件系统、设备虚拟化等</a:t>
            </a:r>
            <a:r>
              <a:rPr lang="zh-CN" altLang="en-US" sz="1600" b="1" dirty="0" smtClean="0">
                <a:latin typeface="微软雅黑" pitchFamily="34" charset="-122"/>
                <a:ea typeface="微软雅黑" pitchFamily="34" charset="-122"/>
              </a:rPr>
              <a:t>方法实现</a:t>
            </a:r>
            <a:r>
              <a:rPr lang="zh-CN" altLang="en-US" sz="1600" b="1" dirty="0" smtClean="0">
                <a:solidFill>
                  <a:srgbClr val="C00000"/>
                </a:solidFill>
                <a:latin typeface="微软雅黑" pitchFamily="34" charset="-122"/>
                <a:ea typeface="微软雅黑" pitchFamily="34" charset="-122"/>
              </a:rPr>
              <a:t>存储</a:t>
            </a:r>
            <a:r>
              <a:rPr lang="zh-CN" altLang="en-US" sz="1600" b="1" dirty="0">
                <a:solidFill>
                  <a:srgbClr val="C00000"/>
                </a:solidFill>
                <a:latin typeface="微软雅黑" pitchFamily="34" charset="-122"/>
                <a:ea typeface="微软雅黑" pitchFamily="34" charset="-122"/>
              </a:rPr>
              <a:t>资源虚拟</a:t>
            </a:r>
            <a:r>
              <a:rPr lang="zh-CN" altLang="en-US" sz="1600" b="1" dirty="0" smtClean="0">
                <a:solidFill>
                  <a:srgbClr val="C00000"/>
                </a:solidFill>
                <a:latin typeface="微软雅黑" pitchFamily="34" charset="-122"/>
                <a:ea typeface="微软雅黑" pitchFamily="34" charset="-122"/>
              </a:rPr>
              <a:t>化</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a:latin typeface="微软雅黑" pitchFamily="34" charset="-122"/>
                <a:ea typeface="微软雅黑" pitchFamily="34" charset="-122"/>
              </a:rPr>
              <a:t>通过虚拟交换机</a:t>
            </a:r>
            <a:r>
              <a:rPr lang="en-US" altLang="zh-CN" sz="1600" b="1" dirty="0">
                <a:latin typeface="微软雅黑" pitchFamily="34" charset="-122"/>
                <a:ea typeface="微软雅黑" pitchFamily="34" charset="-122"/>
              </a:rPr>
              <a:t>(</a:t>
            </a:r>
            <a:r>
              <a:rPr lang="zh-CN" altLang="en-US" sz="1600" b="1" dirty="0">
                <a:latin typeface="微软雅黑" pitchFamily="34" charset="-122"/>
                <a:ea typeface="微软雅黑" pitchFamily="34" charset="-122"/>
              </a:rPr>
              <a:t>如</a:t>
            </a:r>
            <a:r>
              <a:rPr lang="en-US" altLang="zh-CN" sz="1600" b="1" dirty="0">
                <a:latin typeface="微软雅黑" pitchFamily="34" charset="-122"/>
                <a:ea typeface="微软雅黑" pitchFamily="34" charset="-122"/>
              </a:rPr>
              <a:t>Open </a:t>
            </a:r>
            <a:r>
              <a:rPr lang="en-US" altLang="zh-CN" sz="1600" b="1" dirty="0" err="1">
                <a:latin typeface="微软雅黑" pitchFamily="34" charset="-122"/>
                <a:ea typeface="微软雅黑" pitchFamily="34" charset="-122"/>
              </a:rPr>
              <a:t>vSwitch</a:t>
            </a:r>
            <a:r>
              <a:rPr lang="en-US" altLang="zh-CN" sz="1600" b="1" dirty="0">
                <a:latin typeface="微软雅黑" pitchFamily="34" charset="-122"/>
                <a:ea typeface="微软雅黑" pitchFamily="34" charset="-122"/>
              </a:rPr>
              <a:t>)</a:t>
            </a:r>
            <a:r>
              <a:rPr lang="zh-CN" altLang="en-US" sz="1600" b="1" dirty="0">
                <a:latin typeface="微软雅黑" pitchFamily="34" charset="-122"/>
                <a:ea typeface="微软雅黑" pitchFamily="34" charset="-122"/>
              </a:rPr>
              <a:t>、隧道、</a:t>
            </a:r>
            <a:r>
              <a:rPr lang="en-US" altLang="zh-CN" sz="1600" b="1" dirty="0">
                <a:latin typeface="微软雅黑" pitchFamily="34" charset="-122"/>
                <a:ea typeface="微软雅黑" pitchFamily="34" charset="-122"/>
              </a:rPr>
              <a:t>SDN</a:t>
            </a:r>
            <a:r>
              <a:rPr lang="zh-CN" altLang="en-US" sz="1600" b="1" dirty="0">
                <a:latin typeface="微软雅黑" pitchFamily="34" charset="-122"/>
                <a:ea typeface="微软雅黑" pitchFamily="34" charset="-122"/>
              </a:rPr>
              <a:t>等技术扩展物理网络能力</a:t>
            </a:r>
            <a:r>
              <a:rPr lang="zh-CN" altLang="en-US" sz="1600" b="1" dirty="0" smtClean="0">
                <a:latin typeface="微软雅黑" pitchFamily="34" charset="-122"/>
                <a:ea typeface="微软雅黑" pitchFamily="34" charset="-122"/>
              </a:rPr>
              <a:t>，实现</a:t>
            </a:r>
            <a:r>
              <a:rPr lang="zh-CN" altLang="en-US" sz="1600" b="1" dirty="0" smtClean="0">
                <a:solidFill>
                  <a:srgbClr val="C00000"/>
                </a:solidFill>
                <a:latin typeface="微软雅黑" pitchFamily="34" charset="-122"/>
                <a:ea typeface="微软雅黑" pitchFamily="34" charset="-122"/>
              </a:rPr>
              <a:t>网络</a:t>
            </a:r>
            <a:r>
              <a:rPr lang="zh-CN" altLang="en-US" sz="1600" b="1" dirty="0">
                <a:solidFill>
                  <a:srgbClr val="C00000"/>
                </a:solidFill>
                <a:latin typeface="微软雅黑" pitchFamily="34" charset="-122"/>
                <a:ea typeface="微软雅黑" pitchFamily="34" charset="-122"/>
              </a:rPr>
              <a:t>资源虚拟</a:t>
            </a:r>
            <a:r>
              <a:rPr lang="zh-CN" altLang="en-US" sz="1600" b="1" dirty="0" smtClean="0">
                <a:solidFill>
                  <a:srgbClr val="C00000"/>
                </a:solidFill>
                <a:latin typeface="微软雅黑" pitchFamily="34" charset="-122"/>
                <a:ea typeface="微软雅黑" pitchFamily="34" charset="-122"/>
              </a:rPr>
              <a:t>化</a:t>
            </a:r>
            <a:r>
              <a:rPr lang="zh-CN" altLang="en-US" sz="1600" b="1" dirty="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p:txBody>
      </p:sp>
      <p:graphicFrame>
        <p:nvGraphicFramePr>
          <p:cNvPr id="54" name="对象 53"/>
          <p:cNvGraphicFramePr>
            <a:graphicFrameLocks noChangeAspect="1"/>
          </p:cNvGraphicFramePr>
          <p:nvPr>
            <p:extLst/>
          </p:nvPr>
        </p:nvGraphicFramePr>
        <p:xfrm>
          <a:off x="5406080" y="1594022"/>
          <a:ext cx="3719855" cy="2696174"/>
        </p:xfrm>
        <a:graphic>
          <a:graphicData uri="http://schemas.openxmlformats.org/presentationml/2006/ole">
            <mc:AlternateContent xmlns:mc="http://schemas.openxmlformats.org/markup-compatibility/2006">
              <mc:Choice xmlns:v="urn:schemas-microsoft-com:vml" Requires="v">
                <p:oleObj spid="_x0000_s24584" name="Visio" r:id="rId5" imgW="3282919" imgH="2368459" progId="Visio.Drawing.15">
                  <p:embed/>
                </p:oleObj>
              </mc:Choice>
              <mc:Fallback>
                <p:oleObj name="Visio" r:id="rId5" imgW="3282919" imgH="2368459" progId="Visio.Drawing.15">
                  <p:embed/>
                  <p:pic>
                    <p:nvPicPr>
                      <p:cNvPr id="54" name="对象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6080" y="1594022"/>
                        <a:ext cx="3719855" cy="2696174"/>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17536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服务功能链</a:t>
            </a:r>
          </a:p>
        </p:txBody>
      </p:sp>
      <p:sp>
        <p:nvSpPr>
          <p:cNvPr id="4" name="Rectangle 8"/>
          <p:cNvSpPr>
            <a:spLocks noChangeArrowheads="1"/>
          </p:cNvSpPr>
          <p:nvPr/>
        </p:nvSpPr>
        <p:spPr bwMode="auto">
          <a:xfrm>
            <a:off x="378324" y="1148484"/>
            <a:ext cx="4860937" cy="2964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服务功能链</a:t>
            </a:r>
            <a:r>
              <a:rPr lang="en-US" altLang="zh-CN" b="1" dirty="0">
                <a:latin typeface="微软雅黑" pitchFamily="34" charset="-122"/>
                <a:ea typeface="微软雅黑" pitchFamily="34" charset="-122"/>
              </a:rPr>
              <a:t>SFC (Service Function Chain)</a:t>
            </a:r>
            <a:r>
              <a:rPr lang="zh-CN" altLang="en-US" b="1" dirty="0">
                <a:latin typeface="微软雅黑" pitchFamily="34" charset="-122"/>
                <a:ea typeface="微软雅黑" pitchFamily="34" charset="-122"/>
              </a:rPr>
              <a:t>是伴随着</a:t>
            </a:r>
            <a:r>
              <a:rPr lang="en-US" altLang="zh-CN" b="1" dirty="0">
                <a:latin typeface="微软雅黑" pitchFamily="34" charset="-122"/>
                <a:ea typeface="微软雅黑" pitchFamily="34" charset="-122"/>
              </a:rPr>
              <a:t>NFV</a:t>
            </a:r>
            <a:r>
              <a:rPr lang="zh-CN" altLang="en-US" b="1" dirty="0">
                <a:latin typeface="微软雅黑" pitchFamily="34" charset="-122"/>
                <a:ea typeface="微软雅黑" pitchFamily="34" charset="-122"/>
              </a:rPr>
              <a:t>技术产生的一个</a:t>
            </a:r>
            <a:r>
              <a:rPr lang="zh-CN" altLang="en-US" b="1" dirty="0" smtClean="0">
                <a:latin typeface="微软雅黑" pitchFamily="34" charset="-122"/>
                <a:ea typeface="微软雅黑" pitchFamily="34" charset="-122"/>
              </a:rPr>
              <a:t>概念。</a:t>
            </a:r>
            <a:endParaRPr lang="en-US" altLang="zh-CN"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根据</a:t>
            </a:r>
            <a:r>
              <a:rPr lang="en-US" altLang="zh-CN" b="1" dirty="0">
                <a:latin typeface="微软雅黑" pitchFamily="34" charset="-122"/>
                <a:ea typeface="微软雅黑" pitchFamily="34" charset="-122"/>
              </a:rPr>
              <a:t>RFC 7665</a:t>
            </a:r>
            <a:r>
              <a:rPr lang="zh-CN" altLang="en-US" b="1" dirty="0">
                <a:latin typeface="微软雅黑" pitchFamily="34" charset="-122"/>
                <a:ea typeface="微软雅黑" pitchFamily="34" charset="-122"/>
              </a:rPr>
              <a:t>的定义，</a:t>
            </a:r>
            <a:r>
              <a:rPr lang="en-US" altLang="zh-CN" b="1" dirty="0">
                <a:solidFill>
                  <a:srgbClr val="C00000"/>
                </a:solidFill>
                <a:latin typeface="微软雅黑" pitchFamily="34" charset="-122"/>
                <a:ea typeface="微软雅黑" pitchFamily="34" charset="-122"/>
              </a:rPr>
              <a:t>SFC</a:t>
            </a:r>
            <a:r>
              <a:rPr lang="zh-CN" altLang="en-US" b="1" dirty="0">
                <a:solidFill>
                  <a:srgbClr val="C00000"/>
                </a:solidFill>
                <a:latin typeface="微软雅黑" pitchFamily="34" charset="-122"/>
                <a:ea typeface="微软雅黑" pitchFamily="34" charset="-122"/>
              </a:rPr>
              <a:t>是</a:t>
            </a:r>
            <a:r>
              <a:rPr lang="zh-CN" altLang="en-US" b="1" dirty="0" smtClean="0">
                <a:solidFill>
                  <a:srgbClr val="C00000"/>
                </a:solidFill>
                <a:latin typeface="微软雅黑" pitchFamily="34" charset="-122"/>
                <a:ea typeface="微软雅黑" pitchFamily="34" charset="-122"/>
              </a:rPr>
              <a:t>指为</a:t>
            </a:r>
            <a:r>
              <a:rPr lang="zh-CN" altLang="en-US" b="1" dirty="0">
                <a:solidFill>
                  <a:srgbClr val="C00000"/>
                </a:solidFill>
                <a:latin typeface="微软雅黑" pitchFamily="34" charset="-122"/>
                <a:ea typeface="微软雅黑" pitchFamily="34" charset="-122"/>
              </a:rPr>
              <a:t>实现特定业务目标而按照一定顺序排列的一组有状态或无状态的服务功能</a:t>
            </a:r>
            <a:r>
              <a:rPr lang="en-US" altLang="zh-CN" b="1" dirty="0">
                <a:solidFill>
                  <a:srgbClr val="C00000"/>
                </a:solidFill>
                <a:latin typeface="微软雅黑" pitchFamily="34" charset="-122"/>
                <a:ea typeface="微软雅黑" pitchFamily="34" charset="-122"/>
              </a:rPr>
              <a:t>SF (Service Functions</a:t>
            </a:r>
            <a:r>
              <a:rPr lang="en-US" altLang="zh-CN" b="1" dirty="0" smtClean="0">
                <a:solidFill>
                  <a:srgbClr val="C00000"/>
                </a:solidFill>
                <a:latin typeface="微软雅黑" pitchFamily="34" charset="-122"/>
                <a:ea typeface="微软雅黑" pitchFamily="34" charset="-122"/>
              </a:rPr>
              <a:t>)</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网络管理员可以</a:t>
            </a:r>
            <a:r>
              <a:rPr lang="zh-CN" altLang="en-US" b="1" dirty="0">
                <a:solidFill>
                  <a:srgbClr val="C00000"/>
                </a:solidFill>
                <a:latin typeface="微软雅黑" pitchFamily="34" charset="-122"/>
                <a:ea typeface="微软雅黑" pitchFamily="34" charset="-122"/>
              </a:rPr>
              <a:t>通过</a:t>
            </a:r>
            <a:r>
              <a:rPr lang="en-US" altLang="zh-CN" b="1" dirty="0">
                <a:solidFill>
                  <a:srgbClr val="C00000"/>
                </a:solidFill>
                <a:latin typeface="微软雅黑" pitchFamily="34" charset="-122"/>
                <a:ea typeface="微软雅黑" pitchFamily="34" charset="-122"/>
              </a:rPr>
              <a:t>MANO</a:t>
            </a:r>
            <a:r>
              <a:rPr lang="zh-CN" altLang="en-US" b="1" dirty="0">
                <a:solidFill>
                  <a:srgbClr val="C00000"/>
                </a:solidFill>
                <a:latin typeface="微软雅黑" pitchFamily="34" charset="-122"/>
                <a:ea typeface="微软雅黑" pitchFamily="34" charset="-122"/>
              </a:rPr>
              <a:t>系统分别编排和部署相应的服务功能链</a:t>
            </a:r>
            <a:r>
              <a:rPr lang="zh-CN" altLang="en-US" b="1" dirty="0" smtClean="0">
                <a:latin typeface="微软雅黑" pitchFamily="34" charset="-122"/>
                <a:ea typeface="微软雅黑" pitchFamily="34" charset="-122"/>
              </a:rPr>
              <a:t>。</a:t>
            </a:r>
            <a:endParaRPr lang="en-US" altLang="zh-CN" b="1" dirty="0">
              <a:latin typeface="微软雅黑" pitchFamily="34" charset="-122"/>
              <a:ea typeface="微软雅黑" pitchFamily="34" charset="-122"/>
            </a:endParaRPr>
          </a:p>
        </p:txBody>
      </p:sp>
      <p:graphicFrame>
        <p:nvGraphicFramePr>
          <p:cNvPr id="3" name="对象 2"/>
          <p:cNvGraphicFramePr>
            <a:graphicFrameLocks noChangeAspect="1"/>
          </p:cNvGraphicFramePr>
          <p:nvPr>
            <p:extLst/>
          </p:nvPr>
        </p:nvGraphicFramePr>
        <p:xfrm>
          <a:off x="5326531" y="1631092"/>
          <a:ext cx="3817469" cy="2469292"/>
        </p:xfrm>
        <a:graphic>
          <a:graphicData uri="http://schemas.openxmlformats.org/presentationml/2006/ole">
            <mc:AlternateContent xmlns:mc="http://schemas.openxmlformats.org/markup-compatibility/2006">
              <mc:Choice xmlns:v="urn:schemas-microsoft-com:vml" Requires="v">
                <p:oleObj spid="_x0000_s25608" name="Visio" r:id="rId5" imgW="3028934" imgH="1962228" progId="Visio.Drawing.15">
                  <p:embed/>
                </p:oleObj>
              </mc:Choice>
              <mc:Fallback>
                <p:oleObj name="Visio" r:id="rId5" imgW="3028934" imgH="1962228" progId="Visio.Drawing.15">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6531" y="1631092"/>
                        <a:ext cx="3817469" cy="2469292"/>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9056353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服务功能链</a:t>
            </a:r>
          </a:p>
        </p:txBody>
      </p:sp>
      <p:sp>
        <p:nvSpPr>
          <p:cNvPr id="4" name="Rectangle 8"/>
          <p:cNvSpPr>
            <a:spLocks noChangeArrowheads="1"/>
          </p:cNvSpPr>
          <p:nvPr/>
        </p:nvSpPr>
        <p:spPr bwMode="auto">
          <a:xfrm>
            <a:off x="378324" y="1148484"/>
            <a:ext cx="4860937" cy="368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sz="1600" b="1" dirty="0" smtClean="0">
                <a:latin typeface="微软雅黑" pitchFamily="34" charset="-122"/>
                <a:ea typeface="微软雅黑" pitchFamily="34" charset="-122"/>
              </a:rPr>
              <a:t>NFVO</a:t>
            </a:r>
            <a:r>
              <a:rPr lang="zh-CN" altLang="en-US" sz="1600" b="1" dirty="0" smtClean="0">
                <a:latin typeface="微软雅黑" pitchFamily="34" charset="-122"/>
                <a:ea typeface="微软雅黑" pitchFamily="34" charset="-122"/>
              </a:rPr>
              <a:t>负责</a:t>
            </a:r>
            <a:r>
              <a:rPr lang="zh-CN" altLang="en-US" sz="1600" b="1" dirty="0">
                <a:latin typeface="微软雅黑" pitchFamily="34" charset="-122"/>
                <a:ea typeface="微软雅黑" pitchFamily="34" charset="-122"/>
              </a:rPr>
              <a:t>资源协调与服务</a:t>
            </a:r>
            <a:r>
              <a:rPr lang="zh-CN" altLang="en-US" sz="1600" b="1" dirty="0" smtClean="0">
                <a:latin typeface="微软雅黑" pitchFamily="34" charset="-122"/>
                <a:ea typeface="微软雅黑" pitchFamily="34" charset="-122"/>
              </a:rPr>
              <a:t>链管理。</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400" b="1" dirty="0" smtClean="0">
                <a:latin typeface="微软雅黑" pitchFamily="34" charset="-122"/>
                <a:ea typeface="微软雅黑" pitchFamily="34" charset="-122"/>
              </a:rPr>
              <a:t>将</a:t>
            </a:r>
            <a:r>
              <a:rPr lang="zh-CN" altLang="en-US" sz="1400" b="1" dirty="0">
                <a:latin typeface="微软雅黑" pitchFamily="34" charset="-122"/>
                <a:ea typeface="微软雅黑" pitchFamily="34" charset="-122"/>
              </a:rPr>
              <a:t>用户的服务功能需求转化为可执行的</a:t>
            </a:r>
            <a:r>
              <a:rPr lang="en-US" altLang="zh-CN" sz="1400" b="1" dirty="0">
                <a:latin typeface="微软雅黑" pitchFamily="34" charset="-122"/>
                <a:ea typeface="微软雅黑" pitchFamily="34" charset="-122"/>
              </a:rPr>
              <a:t>VNF</a:t>
            </a:r>
            <a:r>
              <a:rPr lang="zh-CN" altLang="en-US" sz="1400" b="1" dirty="0">
                <a:latin typeface="微软雅黑" pitchFamily="34" charset="-122"/>
                <a:ea typeface="微软雅黑" pitchFamily="34" charset="-122"/>
              </a:rPr>
              <a:t>序列，从资源池中选择最优节点部署</a:t>
            </a:r>
            <a:r>
              <a:rPr lang="en-US" altLang="zh-CN" sz="1400" b="1" dirty="0">
                <a:latin typeface="微软雅黑" pitchFamily="34" charset="-122"/>
                <a:ea typeface="微软雅黑" pitchFamily="34" charset="-122"/>
              </a:rPr>
              <a:t>VNF</a:t>
            </a:r>
            <a:r>
              <a:rPr lang="zh-CN" altLang="en-US" sz="1400" b="1" dirty="0">
                <a:latin typeface="微软雅黑" pitchFamily="34" charset="-122"/>
                <a:ea typeface="微软雅黑" pitchFamily="34" charset="-122"/>
              </a:rPr>
              <a:t>，以及制定网络路由策略确保流量按服务功能链顺序转发等</a:t>
            </a:r>
            <a:r>
              <a:rPr lang="zh-CN" altLang="en-US" sz="1400" b="1" dirty="0" smtClean="0">
                <a:latin typeface="微软雅黑" pitchFamily="34" charset="-122"/>
                <a:ea typeface="微软雅黑" pitchFamily="34" charset="-122"/>
              </a:rPr>
              <a:t>。</a:t>
            </a:r>
            <a:endParaRPr lang="en-US" altLang="zh-CN" sz="1400"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en-US" altLang="zh-CN" sz="1600" b="1" dirty="0">
                <a:latin typeface="微软雅黑" pitchFamily="34" charset="-122"/>
                <a:ea typeface="微软雅黑" pitchFamily="34" charset="-122"/>
              </a:rPr>
              <a:t>VNFM</a:t>
            </a:r>
            <a:r>
              <a:rPr lang="zh-CN" altLang="en-US" sz="1600" b="1" dirty="0">
                <a:latin typeface="微软雅黑" pitchFamily="34" charset="-122"/>
                <a:ea typeface="微软雅黑" pitchFamily="34" charset="-122"/>
              </a:rPr>
              <a:t>负责维护每个</a:t>
            </a:r>
            <a:r>
              <a:rPr lang="en-US" altLang="zh-CN" sz="1600" b="1" dirty="0">
                <a:latin typeface="微软雅黑" pitchFamily="34" charset="-122"/>
                <a:ea typeface="微软雅黑" pitchFamily="34" charset="-122"/>
              </a:rPr>
              <a:t>VNF</a:t>
            </a:r>
            <a:r>
              <a:rPr lang="zh-CN" altLang="en-US" sz="1600" b="1" dirty="0">
                <a:latin typeface="微软雅黑" pitchFamily="34" charset="-122"/>
                <a:ea typeface="微软雅黑" pitchFamily="34" charset="-122"/>
              </a:rPr>
              <a:t>的运行</a:t>
            </a:r>
            <a:r>
              <a:rPr lang="zh-CN" altLang="en-US" sz="1600" b="1" dirty="0" smtClean="0">
                <a:latin typeface="微软雅黑" pitchFamily="34" charset="-122"/>
                <a:ea typeface="微软雅黑" pitchFamily="34" charset="-122"/>
              </a:rPr>
              <a:t>状态。</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400" b="1" dirty="0">
                <a:latin typeface="微软雅黑" pitchFamily="34" charset="-122"/>
                <a:ea typeface="微软雅黑" pitchFamily="34" charset="-122"/>
              </a:rPr>
              <a:t>启动</a:t>
            </a:r>
            <a:r>
              <a:rPr lang="en-US" altLang="zh-CN" sz="1400" b="1" dirty="0">
                <a:latin typeface="微软雅黑" pitchFamily="34" charset="-122"/>
                <a:ea typeface="微软雅黑" pitchFamily="34" charset="-122"/>
              </a:rPr>
              <a:t>VNF</a:t>
            </a:r>
            <a:r>
              <a:rPr lang="zh-CN" altLang="en-US" sz="1400" b="1" dirty="0" smtClean="0">
                <a:latin typeface="微软雅黑" pitchFamily="34" charset="-122"/>
                <a:ea typeface="微软雅黑" pitchFamily="34" charset="-122"/>
              </a:rPr>
              <a:t>，实时</a:t>
            </a:r>
            <a:r>
              <a:rPr lang="zh-CN" altLang="en-US" sz="1400" b="1" dirty="0">
                <a:latin typeface="微软雅黑" pitchFamily="34" charset="-122"/>
                <a:ea typeface="微软雅黑" pitchFamily="34" charset="-122"/>
              </a:rPr>
              <a:t>采集</a:t>
            </a:r>
            <a:r>
              <a:rPr lang="en-US" altLang="zh-CN" sz="1400" b="1" dirty="0">
                <a:latin typeface="微软雅黑" pitchFamily="34" charset="-122"/>
                <a:ea typeface="微软雅黑" pitchFamily="34" charset="-122"/>
              </a:rPr>
              <a:t>VNF</a:t>
            </a:r>
            <a:r>
              <a:rPr lang="zh-CN" altLang="en-US" sz="1400" b="1" dirty="0" smtClean="0">
                <a:latin typeface="微软雅黑" pitchFamily="34" charset="-122"/>
                <a:ea typeface="微软雅黑" pitchFamily="34" charset="-122"/>
              </a:rPr>
              <a:t>性能指标等。</a:t>
            </a:r>
            <a:endParaRPr lang="en-US" altLang="zh-CN" sz="1400"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en-US" altLang="zh-CN" sz="1600" b="1" dirty="0" smtClean="0">
                <a:latin typeface="微软雅黑" pitchFamily="34" charset="-122"/>
                <a:ea typeface="微软雅黑" pitchFamily="34" charset="-122"/>
              </a:rPr>
              <a:t>VIM</a:t>
            </a:r>
            <a:r>
              <a:rPr lang="zh-CN" altLang="en-US" sz="1600" b="1" dirty="0">
                <a:latin typeface="微软雅黑" pitchFamily="34" charset="-122"/>
                <a:ea typeface="微软雅黑" pitchFamily="34" charset="-122"/>
              </a:rPr>
              <a:t>负责虚拟化资源的分配、监控与网络</a:t>
            </a:r>
            <a:r>
              <a:rPr lang="zh-CN" altLang="en-US" sz="1600" b="1" dirty="0" smtClean="0">
                <a:latin typeface="微软雅黑" pitchFamily="34" charset="-122"/>
                <a:ea typeface="微软雅黑" pitchFamily="34" charset="-122"/>
              </a:rPr>
              <a:t>配置。</a:t>
            </a:r>
            <a:endParaRPr lang="en-US" altLang="zh-CN" sz="1600"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400" b="1" dirty="0" smtClean="0">
                <a:latin typeface="微软雅黑" pitchFamily="34" charset="-122"/>
                <a:ea typeface="微软雅黑" pitchFamily="34" charset="-122"/>
              </a:rPr>
              <a:t>物理</a:t>
            </a:r>
            <a:r>
              <a:rPr lang="zh-CN" altLang="en-US" sz="1400" b="1" dirty="0">
                <a:latin typeface="微软雅黑" pitchFamily="34" charset="-122"/>
                <a:ea typeface="微软雅黑" pitchFamily="34" charset="-122"/>
              </a:rPr>
              <a:t>资源</a:t>
            </a:r>
            <a:r>
              <a:rPr lang="zh-CN" altLang="en-US" sz="1400" b="1" dirty="0" smtClean="0">
                <a:latin typeface="微软雅黑" pitchFamily="34" charset="-122"/>
                <a:ea typeface="微软雅黑" pitchFamily="34" charset="-122"/>
              </a:rPr>
              <a:t>抽象，创建</a:t>
            </a:r>
            <a:r>
              <a:rPr lang="en-US" altLang="zh-CN" sz="1400" b="1" dirty="0">
                <a:latin typeface="微软雅黑" pitchFamily="34" charset="-122"/>
                <a:ea typeface="微软雅黑" pitchFamily="34" charset="-122"/>
              </a:rPr>
              <a:t>/</a:t>
            </a:r>
            <a:r>
              <a:rPr lang="zh-CN" altLang="en-US" sz="1400" b="1" dirty="0">
                <a:latin typeface="微软雅黑" pitchFamily="34" charset="-122"/>
                <a:ea typeface="微软雅黑" pitchFamily="34" charset="-122"/>
              </a:rPr>
              <a:t>删除虚拟机或容器</a:t>
            </a:r>
            <a:r>
              <a:rPr lang="zh-CN" altLang="en-US" sz="1400" b="1" dirty="0" smtClean="0">
                <a:latin typeface="微软雅黑" pitchFamily="34" charset="-122"/>
                <a:ea typeface="微软雅黑" pitchFamily="34" charset="-122"/>
              </a:rPr>
              <a:t>，配置</a:t>
            </a:r>
            <a:r>
              <a:rPr lang="zh-CN" altLang="en-US" sz="1400" b="1" dirty="0">
                <a:latin typeface="微软雅黑" pitchFamily="34" charset="-122"/>
                <a:ea typeface="微软雅黑" pitchFamily="34" charset="-122"/>
              </a:rPr>
              <a:t>虚拟化</a:t>
            </a:r>
            <a:r>
              <a:rPr lang="zh-CN" altLang="en-US" sz="1400" b="1" dirty="0" smtClean="0">
                <a:latin typeface="微软雅黑" pitchFamily="34" charset="-122"/>
                <a:ea typeface="微软雅黑" pitchFamily="34" charset="-122"/>
              </a:rPr>
              <a:t>网络等。</a:t>
            </a:r>
            <a:endParaRPr lang="en-US" altLang="zh-CN" sz="1400" b="1" dirty="0" smtClean="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endParaRPr lang="en-US" altLang="zh-CN" sz="1600" b="1" dirty="0" smtClean="0">
              <a:latin typeface="微软雅黑" pitchFamily="34" charset="-122"/>
              <a:ea typeface="微软雅黑" pitchFamily="34" charset="-122"/>
            </a:endParaRPr>
          </a:p>
        </p:txBody>
      </p:sp>
      <p:graphicFrame>
        <p:nvGraphicFramePr>
          <p:cNvPr id="3" name="对象 2"/>
          <p:cNvGraphicFramePr>
            <a:graphicFrameLocks noChangeAspect="1"/>
          </p:cNvGraphicFramePr>
          <p:nvPr/>
        </p:nvGraphicFramePr>
        <p:xfrm>
          <a:off x="5326531" y="1631092"/>
          <a:ext cx="3817469" cy="2469292"/>
        </p:xfrm>
        <a:graphic>
          <a:graphicData uri="http://schemas.openxmlformats.org/presentationml/2006/ole">
            <mc:AlternateContent xmlns:mc="http://schemas.openxmlformats.org/markup-compatibility/2006">
              <mc:Choice xmlns:v="urn:schemas-microsoft-com:vml" Requires="v">
                <p:oleObj spid="_x0000_s26632" name="Visio" r:id="rId5" imgW="3028934" imgH="1962228" progId="Visio.Drawing.15">
                  <p:embed/>
                </p:oleObj>
              </mc:Choice>
              <mc:Fallback>
                <p:oleObj name="Visio" r:id="rId5" imgW="3028934" imgH="1962228" progId="Visio.Drawing.15">
                  <p:embed/>
                  <p:pic>
                    <p:nvPicPr>
                      <p:cNvPr id="3"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26531" y="1631092"/>
                        <a:ext cx="3817469" cy="2469292"/>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21981583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itchFamily="34" charset="-122"/>
                <a:ea typeface="微软雅黑" pitchFamily="34" charset="-122"/>
              </a:rPr>
              <a:t>NFV</a:t>
            </a:r>
            <a:r>
              <a:rPr lang="zh-CN" altLang="en-US" sz="2400" b="1" dirty="0">
                <a:solidFill>
                  <a:schemeClr val="bg1"/>
                </a:solidFill>
                <a:latin typeface="微软雅黑" pitchFamily="34" charset="-122"/>
                <a:ea typeface="微软雅黑" pitchFamily="34" charset="-122"/>
              </a:rPr>
              <a:t>与</a:t>
            </a:r>
            <a:r>
              <a:rPr lang="en-US" altLang="zh-CN" sz="2400" b="1" dirty="0">
                <a:solidFill>
                  <a:schemeClr val="bg1"/>
                </a:solidFill>
                <a:latin typeface="微软雅黑" pitchFamily="34" charset="-122"/>
                <a:ea typeface="微软雅黑" pitchFamily="34" charset="-122"/>
              </a:rPr>
              <a:t>SDN</a:t>
            </a:r>
            <a:r>
              <a:rPr lang="zh-CN" altLang="en-US" sz="2400" b="1" dirty="0">
                <a:solidFill>
                  <a:schemeClr val="bg1"/>
                </a:solidFill>
                <a:latin typeface="微软雅黑" pitchFamily="34" charset="-122"/>
                <a:ea typeface="微软雅黑" pitchFamily="34" charset="-122"/>
              </a:rPr>
              <a:t>的融合</a:t>
            </a:r>
          </a:p>
        </p:txBody>
      </p:sp>
      <p:sp>
        <p:nvSpPr>
          <p:cNvPr id="4" name="Rectangle 8"/>
          <p:cNvSpPr>
            <a:spLocks noChangeArrowheads="1"/>
          </p:cNvSpPr>
          <p:nvPr/>
        </p:nvSpPr>
        <p:spPr bwMode="auto">
          <a:xfrm>
            <a:off x="545143" y="1185552"/>
            <a:ext cx="7486749" cy="312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smtClean="0">
                <a:latin typeface="微软雅黑" pitchFamily="34" charset="-122"/>
                <a:ea typeface="微软雅黑" pitchFamily="34" charset="-122"/>
              </a:rPr>
              <a:t>SDN</a:t>
            </a:r>
            <a:r>
              <a:rPr lang="zh-CN" altLang="en-US" b="1" dirty="0">
                <a:latin typeface="微软雅黑" pitchFamily="34" charset="-122"/>
                <a:ea typeface="微软雅黑" pitchFamily="34" charset="-122"/>
              </a:rPr>
              <a:t>的核心思想是通过控制平面与数据平面的分离，将网络设备的转发决策集中到可编程的控制器</a:t>
            </a:r>
            <a:r>
              <a:rPr lang="zh-CN" altLang="en-US" b="1" dirty="0" smtClean="0">
                <a:latin typeface="微软雅黑" pitchFamily="34" charset="-122"/>
                <a:ea typeface="微软雅黑" pitchFamily="34" charset="-122"/>
              </a:rPr>
              <a:t>中。</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b="1" dirty="0" smtClean="0">
                <a:latin typeface="微软雅黑" pitchFamily="34" charset="-122"/>
                <a:ea typeface="微软雅黑" pitchFamily="34" charset="-122"/>
              </a:rPr>
              <a:t>NFV</a:t>
            </a:r>
            <a:r>
              <a:rPr lang="zh-CN" altLang="en-US" b="1" dirty="0">
                <a:latin typeface="微软雅黑" pitchFamily="34" charset="-122"/>
                <a:ea typeface="微软雅黑" pitchFamily="34" charset="-122"/>
              </a:rPr>
              <a:t>解耦</a:t>
            </a:r>
            <a:r>
              <a:rPr lang="zh-CN" altLang="en-US" b="1" dirty="0" smtClean="0">
                <a:latin typeface="微软雅黑" pitchFamily="34" charset="-122"/>
                <a:ea typeface="微软雅黑" pitchFamily="34" charset="-122"/>
              </a:rPr>
              <a:t>硬件</a:t>
            </a:r>
            <a:r>
              <a:rPr lang="zh-CN" altLang="en-US" b="1" dirty="0">
                <a:latin typeface="微软雅黑" pitchFamily="34" charset="-122"/>
                <a:ea typeface="微软雅黑" pitchFamily="34" charset="-122"/>
              </a:rPr>
              <a:t>与</a:t>
            </a:r>
            <a:r>
              <a:rPr lang="zh-CN" altLang="en-US" b="1" dirty="0" smtClean="0">
                <a:latin typeface="微软雅黑" pitchFamily="34" charset="-122"/>
                <a:ea typeface="微软雅黑" pitchFamily="34" charset="-122"/>
              </a:rPr>
              <a:t>软件，将</a:t>
            </a:r>
            <a:r>
              <a:rPr lang="zh-CN" altLang="en-US" b="1" dirty="0">
                <a:latin typeface="微软雅黑" pitchFamily="34" charset="-122"/>
                <a:ea typeface="微软雅黑" pitchFamily="34" charset="-122"/>
              </a:rPr>
              <a:t>防火墙、负载均衡等网络功能从专用硬件设备迁移到通用服务器</a:t>
            </a:r>
            <a:r>
              <a:rPr lang="zh-CN" altLang="en-US" b="1" dirty="0" smtClean="0">
                <a:latin typeface="微软雅黑" pitchFamily="34" charset="-122"/>
                <a:ea typeface="微软雅黑" pitchFamily="34" charset="-122"/>
              </a:rPr>
              <a:t>上。</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两者</a:t>
            </a:r>
            <a:r>
              <a:rPr lang="zh-CN" altLang="en-US" b="1" dirty="0" smtClean="0">
                <a:latin typeface="微软雅黑" pitchFamily="34" charset="-122"/>
                <a:ea typeface="微软雅黑" pitchFamily="34" charset="-122"/>
              </a:rPr>
              <a:t>具有互补性：</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en-US" altLang="zh-CN" sz="1600" b="1" dirty="0" smtClean="0">
                <a:latin typeface="微软雅黑" pitchFamily="34" charset="-122"/>
                <a:ea typeface="微软雅黑" pitchFamily="34" charset="-122"/>
              </a:rPr>
              <a:t>SDN</a:t>
            </a:r>
            <a:r>
              <a:rPr lang="zh-CN" altLang="en-US" sz="1600" b="1" dirty="0" smtClean="0">
                <a:latin typeface="微软雅黑" pitchFamily="34" charset="-122"/>
                <a:ea typeface="微软雅黑" pitchFamily="34" charset="-122"/>
              </a:rPr>
              <a:t>为</a:t>
            </a:r>
            <a:r>
              <a:rPr lang="en-US" altLang="zh-CN" sz="1600" b="1" dirty="0">
                <a:latin typeface="微软雅黑" pitchFamily="34" charset="-122"/>
                <a:ea typeface="微软雅黑" pitchFamily="34" charset="-122"/>
              </a:rPr>
              <a:t>NFV</a:t>
            </a:r>
            <a:r>
              <a:rPr lang="zh-CN" altLang="en-US" sz="1600" b="1" dirty="0">
                <a:latin typeface="微软雅黑" pitchFamily="34" charset="-122"/>
                <a:ea typeface="微软雅黑" pitchFamily="34" charset="-122"/>
              </a:rPr>
              <a:t>提供动态组网能力</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en-US" altLang="zh-CN" sz="1600" b="1" dirty="0" smtClean="0">
                <a:latin typeface="微软雅黑" pitchFamily="34" charset="-122"/>
                <a:ea typeface="微软雅黑" pitchFamily="34" charset="-122"/>
              </a:rPr>
              <a:t>NFV</a:t>
            </a:r>
            <a:r>
              <a:rPr lang="zh-CN" altLang="en-US" sz="1600" b="1" dirty="0">
                <a:latin typeface="微软雅黑" pitchFamily="34" charset="-122"/>
                <a:ea typeface="微软雅黑" pitchFamily="34" charset="-122"/>
              </a:rPr>
              <a:t>为</a:t>
            </a:r>
            <a:r>
              <a:rPr lang="en-US" altLang="zh-CN" sz="1600" b="1" dirty="0">
                <a:latin typeface="微软雅黑" pitchFamily="34" charset="-122"/>
                <a:ea typeface="微软雅黑" pitchFamily="34" charset="-122"/>
              </a:rPr>
              <a:t>SDN</a:t>
            </a:r>
            <a:r>
              <a:rPr lang="zh-CN" altLang="en-US" sz="1600" b="1" dirty="0">
                <a:latin typeface="微软雅黑" pitchFamily="34" charset="-122"/>
                <a:ea typeface="微软雅黑" pitchFamily="34" charset="-122"/>
              </a:rPr>
              <a:t>扩展了网络功能的灵活性。</a:t>
            </a:r>
            <a:endParaRPr lang="en-US" altLang="zh-CN" sz="1600"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endParaRPr lang="en-US" altLang="zh-CN"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6780442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Effect transition="in" filter="fade">
                                      <p:cBhvr>
                                        <p:cTn id="15" dur="500"/>
                                        <p:tgtEl>
                                          <p:spTgt spid="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挑战与未来演进</a:t>
            </a:r>
          </a:p>
        </p:txBody>
      </p:sp>
      <p:sp>
        <p:nvSpPr>
          <p:cNvPr id="4" name="Rectangle 8"/>
          <p:cNvSpPr>
            <a:spLocks noChangeArrowheads="1"/>
          </p:cNvSpPr>
          <p:nvPr/>
        </p:nvSpPr>
        <p:spPr bwMode="auto">
          <a:xfrm>
            <a:off x="545143" y="1185552"/>
            <a:ext cx="748674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smtClean="0">
                <a:latin typeface="微软雅黑" pitchFamily="34" charset="-122"/>
                <a:ea typeface="微软雅黑" pitchFamily="34" charset="-122"/>
              </a:rPr>
              <a:t>NFV</a:t>
            </a:r>
            <a:r>
              <a:rPr lang="zh-CN" altLang="en-US" b="1" dirty="0">
                <a:latin typeface="微软雅黑" pitchFamily="34" charset="-122"/>
                <a:ea typeface="微软雅黑" pitchFamily="34" charset="-122"/>
              </a:rPr>
              <a:t>性能</a:t>
            </a:r>
            <a:r>
              <a:rPr lang="zh-CN" altLang="en-US" b="1" dirty="0" smtClean="0">
                <a:latin typeface="微软雅黑" pitchFamily="34" charset="-122"/>
                <a:ea typeface="微软雅黑" pitchFamily="34" charset="-122"/>
              </a:rPr>
              <a:t>优化</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相对</a:t>
            </a:r>
            <a:r>
              <a:rPr lang="zh-CN" altLang="en-US" sz="1600" b="1" dirty="0">
                <a:latin typeface="微软雅黑" pitchFamily="34" charset="-122"/>
                <a:ea typeface="微软雅黑" pitchFamily="34" charset="-122"/>
              </a:rPr>
              <a:t>于专用硬件平台</a:t>
            </a:r>
            <a:r>
              <a:rPr lang="zh-CN" altLang="en-US" sz="1600" b="1" dirty="0" smtClean="0">
                <a:latin typeface="微软雅黑" pitchFamily="34" charset="-122"/>
                <a:ea typeface="微软雅黑" pitchFamily="34" charset="-122"/>
              </a:rPr>
              <a:t>，</a:t>
            </a:r>
            <a:r>
              <a:rPr lang="en-US" altLang="zh-CN" sz="1600" b="1" dirty="0" smtClean="0">
                <a:latin typeface="微软雅黑" pitchFamily="34" charset="-122"/>
                <a:ea typeface="微软雅黑" pitchFamily="34" charset="-122"/>
              </a:rPr>
              <a:t>VNF</a:t>
            </a:r>
            <a:r>
              <a:rPr lang="zh-CN" altLang="en-US" sz="1600" b="1" dirty="0" smtClean="0">
                <a:latin typeface="微软雅黑" pitchFamily="34" charset="-122"/>
                <a:ea typeface="微软雅黑" pitchFamily="34" charset="-122"/>
              </a:rPr>
              <a:t>的处理性</a:t>
            </a:r>
            <a:r>
              <a:rPr lang="zh-CN" altLang="en-US" sz="1600" b="1" dirty="0">
                <a:latin typeface="微软雅黑" pitchFamily="34" charset="-122"/>
                <a:ea typeface="微软雅黑" pitchFamily="34" charset="-122"/>
              </a:rPr>
              <a:t>能仍有较大</a:t>
            </a:r>
            <a:r>
              <a:rPr lang="zh-CN" altLang="en-US" sz="1600" b="1" dirty="0" smtClean="0">
                <a:latin typeface="微软雅黑" pitchFamily="34" charset="-122"/>
                <a:ea typeface="微软雅黑" pitchFamily="34" charset="-122"/>
              </a:rPr>
              <a:t>差距，</a:t>
            </a:r>
            <a:r>
              <a:rPr lang="zh-CN" altLang="en-US" sz="1600" b="1" dirty="0">
                <a:latin typeface="微软雅黑" pitchFamily="34" charset="-122"/>
                <a:ea typeface="微软雅黑" pitchFamily="34" charset="-122"/>
              </a:rPr>
              <a:t>需要</a:t>
            </a:r>
            <a:r>
              <a:rPr lang="zh-CN" altLang="en-US" sz="1600" b="1" dirty="0" smtClean="0">
                <a:latin typeface="微软雅黑" pitchFamily="34" charset="-122"/>
                <a:ea typeface="微软雅黑" pitchFamily="34" charset="-122"/>
              </a:rPr>
              <a:t>考虑通过</a:t>
            </a:r>
            <a:r>
              <a:rPr lang="zh-CN" altLang="en-US" sz="1600" b="1" dirty="0">
                <a:latin typeface="微软雅黑" pitchFamily="34" charset="-122"/>
                <a:ea typeface="微软雅黑" pitchFamily="34" charset="-122"/>
              </a:rPr>
              <a:t>硬件</a:t>
            </a:r>
            <a:r>
              <a:rPr lang="zh-CN" altLang="en-US" sz="1600" b="1" dirty="0" smtClean="0">
                <a:latin typeface="微软雅黑" pitchFamily="34" charset="-122"/>
                <a:ea typeface="微软雅黑" pitchFamily="34" charset="-122"/>
              </a:rPr>
              <a:t>卸载和</a:t>
            </a:r>
            <a:r>
              <a:rPr lang="zh-CN" altLang="en-US" sz="1600" b="1" dirty="0">
                <a:latin typeface="微软雅黑" pitchFamily="34" charset="-122"/>
                <a:ea typeface="微软雅黑" pitchFamily="34" charset="-122"/>
              </a:rPr>
              <a:t>轻量级虚拟化等</a:t>
            </a:r>
            <a:r>
              <a:rPr lang="zh-CN" altLang="en-US" sz="1600" b="1" dirty="0" smtClean="0">
                <a:latin typeface="微软雅黑" pitchFamily="34" charset="-122"/>
                <a:ea typeface="微软雅黑" pitchFamily="34" charset="-122"/>
              </a:rPr>
              <a:t>方式降低</a:t>
            </a:r>
            <a:r>
              <a:rPr lang="zh-CN" altLang="en-US" sz="1600" b="1" dirty="0">
                <a:latin typeface="微软雅黑" pitchFamily="34" charset="-122"/>
                <a:ea typeface="微软雅黑" pitchFamily="34" charset="-122"/>
              </a:rPr>
              <a:t>计算开销</a:t>
            </a:r>
            <a:r>
              <a:rPr lang="zh-CN" altLang="en-US" sz="1600" b="1" dirty="0" smtClean="0">
                <a:latin typeface="微软雅黑" pitchFamily="34" charset="-122"/>
                <a:ea typeface="微软雅黑" pitchFamily="34" charset="-122"/>
              </a:rPr>
              <a:t>，提升处理性能。</a:t>
            </a:r>
            <a:endParaRPr lang="zh-CN" altLang="en-US" sz="1600"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en-US" altLang="zh-CN" b="1" dirty="0" smtClean="0">
                <a:latin typeface="微软雅黑" pitchFamily="34" charset="-122"/>
                <a:ea typeface="微软雅黑" pitchFamily="34" charset="-122"/>
              </a:rPr>
              <a:t>SFC</a:t>
            </a:r>
            <a:r>
              <a:rPr lang="zh-CN" altLang="en-US" b="1" dirty="0">
                <a:latin typeface="微软雅黑" pitchFamily="34" charset="-122"/>
                <a:ea typeface="微软雅黑" pitchFamily="34" charset="-122"/>
              </a:rPr>
              <a:t>编排</a:t>
            </a:r>
            <a:r>
              <a:rPr lang="zh-CN" altLang="en-US" b="1" dirty="0" smtClean="0">
                <a:latin typeface="微软雅黑" pitchFamily="34" charset="-122"/>
                <a:ea typeface="微软雅黑" pitchFamily="34" charset="-122"/>
              </a:rPr>
              <a:t>部署</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zh-CN" altLang="en-US" sz="1600" b="1" dirty="0" smtClean="0">
                <a:latin typeface="微软雅黑" pitchFamily="34" charset="-122"/>
                <a:ea typeface="微软雅黑" pitchFamily="34" charset="-122"/>
              </a:rPr>
              <a:t>在性能、资源等约束</a:t>
            </a:r>
            <a:r>
              <a:rPr lang="zh-CN" altLang="en-US" sz="1600" b="1" dirty="0">
                <a:latin typeface="微软雅黑" pitchFamily="34" charset="-122"/>
                <a:ea typeface="微软雅黑" pitchFamily="34" charset="-122"/>
              </a:rPr>
              <a:t>下，高效</a:t>
            </a:r>
            <a:r>
              <a:rPr lang="zh-CN" altLang="en-US" sz="1600" b="1" dirty="0" smtClean="0">
                <a:latin typeface="微软雅黑" pitchFamily="34" charset="-122"/>
                <a:ea typeface="微软雅黑" pitchFamily="34" charset="-122"/>
              </a:rPr>
              <a:t>编排部署服务</a:t>
            </a:r>
            <a:r>
              <a:rPr lang="zh-CN" altLang="en-US" sz="1600" b="1" dirty="0">
                <a:latin typeface="微软雅黑" pitchFamily="34" charset="-122"/>
                <a:ea typeface="微软雅黑" pitchFamily="34" charset="-122"/>
              </a:rPr>
              <a:t>功能链是发挥</a:t>
            </a:r>
            <a:r>
              <a:rPr lang="en-US" altLang="zh-CN" sz="1600" b="1" dirty="0">
                <a:latin typeface="微软雅黑" pitchFamily="34" charset="-122"/>
                <a:ea typeface="微软雅黑" pitchFamily="34" charset="-122"/>
              </a:rPr>
              <a:t>NFV</a:t>
            </a:r>
            <a:r>
              <a:rPr lang="zh-CN" altLang="en-US" sz="1600" b="1" dirty="0">
                <a:latin typeface="微软雅黑" pitchFamily="34" charset="-122"/>
                <a:ea typeface="微软雅黑" pitchFamily="34" charset="-122"/>
              </a:rPr>
              <a:t>效能的重要</a:t>
            </a:r>
            <a:r>
              <a:rPr lang="zh-CN" altLang="en-US" sz="1600" b="1" dirty="0" smtClean="0">
                <a:latin typeface="微软雅黑" pitchFamily="34" charset="-122"/>
                <a:ea typeface="微软雅黑" pitchFamily="34" charset="-122"/>
              </a:rPr>
              <a:t>手段，需要</a:t>
            </a:r>
            <a:r>
              <a:rPr lang="zh-CN" altLang="en-US" sz="1600" b="1" dirty="0">
                <a:latin typeface="微软雅黑" pitchFamily="34" charset="-122"/>
                <a:ea typeface="微软雅黑" pitchFamily="34" charset="-122"/>
              </a:rPr>
              <a:t>结合人工智能等</a:t>
            </a:r>
            <a:r>
              <a:rPr lang="zh-CN" altLang="en-US" sz="1600" b="1" dirty="0" smtClean="0">
                <a:latin typeface="微软雅黑" pitchFamily="34" charset="-122"/>
                <a:ea typeface="微软雅黑" pitchFamily="34" charset="-122"/>
              </a:rPr>
              <a:t>技术，</a:t>
            </a:r>
            <a:r>
              <a:rPr lang="zh-CN" altLang="en-US" sz="1600" b="1" dirty="0">
                <a:latin typeface="微软雅黑" pitchFamily="34" charset="-122"/>
                <a:ea typeface="微软雅黑" pitchFamily="34" charset="-122"/>
              </a:rPr>
              <a:t>构建更加智能化的</a:t>
            </a:r>
            <a:r>
              <a:rPr lang="en-US" altLang="zh-CN" sz="1600" b="1" dirty="0">
                <a:latin typeface="微软雅黑" pitchFamily="34" charset="-122"/>
                <a:ea typeface="微软雅黑" pitchFamily="34" charset="-122"/>
              </a:rPr>
              <a:t>SFC</a:t>
            </a:r>
            <a:r>
              <a:rPr lang="zh-CN" altLang="en-US" sz="1600" b="1" dirty="0">
                <a:latin typeface="微软雅黑" pitchFamily="34" charset="-122"/>
                <a:ea typeface="微软雅黑" pitchFamily="34" charset="-122"/>
              </a:rPr>
              <a:t>编排部署机制。</a:t>
            </a:r>
          </a:p>
          <a:p>
            <a:pPr marL="285750" indent="-285750">
              <a:lnSpc>
                <a:spcPts val="2800"/>
              </a:lnSpc>
              <a:buClr>
                <a:srgbClr val="0070C0"/>
              </a:buClr>
              <a:buFont typeface="Wingdings" pitchFamily="2" charset="2"/>
              <a:buChar char="l"/>
            </a:pPr>
            <a:r>
              <a:rPr lang="zh-CN" altLang="en-US" b="1" dirty="0" smtClean="0">
                <a:latin typeface="微软雅黑" pitchFamily="34" charset="-122"/>
                <a:ea typeface="微软雅黑" pitchFamily="34" charset="-122"/>
              </a:rPr>
              <a:t>安全性增强</a:t>
            </a:r>
            <a:endParaRPr lang="en-US" altLang="zh-CN" b="1" dirty="0" smtClean="0">
              <a:latin typeface="微软雅黑" pitchFamily="34" charset="-122"/>
              <a:ea typeface="微软雅黑" pitchFamily="34" charset="-122"/>
            </a:endParaRPr>
          </a:p>
          <a:p>
            <a:pPr marL="742950" lvl="1" indent="-285750">
              <a:lnSpc>
                <a:spcPts val="2800"/>
              </a:lnSpc>
              <a:buClr>
                <a:srgbClr val="0070C0"/>
              </a:buClr>
              <a:buFont typeface="Wingdings" pitchFamily="2" charset="2"/>
              <a:buChar char="l"/>
            </a:pPr>
            <a:r>
              <a:rPr lang="en-US" altLang="zh-CN" sz="1600" b="1" dirty="0">
                <a:latin typeface="微软雅黑" pitchFamily="34" charset="-122"/>
                <a:ea typeface="微软雅黑" pitchFamily="34" charset="-122"/>
              </a:rPr>
              <a:t>NFV</a:t>
            </a:r>
            <a:r>
              <a:rPr lang="zh-CN" altLang="en-US" sz="1600" b="1" dirty="0">
                <a:latin typeface="微软雅黑" pitchFamily="34" charset="-122"/>
                <a:ea typeface="微软雅黑" pitchFamily="34" charset="-122"/>
              </a:rPr>
              <a:t>的虚拟化特性引入了新的攻击面和可靠性风险，有必要加强虚拟化环境安全机制研究</a:t>
            </a:r>
            <a:r>
              <a:rPr lang="zh-CN" altLang="en-US" sz="1600" b="1" dirty="0" smtClean="0">
                <a:latin typeface="微软雅黑" pitchFamily="34" charset="-122"/>
                <a:ea typeface="微软雅黑" pitchFamily="34" charset="-122"/>
              </a:rPr>
              <a:t>，设计不同</a:t>
            </a:r>
            <a:r>
              <a:rPr lang="en-US" altLang="zh-CN" sz="1600" b="1" dirty="0">
                <a:latin typeface="微软雅黑" pitchFamily="34" charset="-122"/>
                <a:ea typeface="微软雅黑" pitchFamily="34" charset="-122"/>
              </a:rPr>
              <a:t>NFV</a:t>
            </a:r>
            <a:r>
              <a:rPr lang="zh-CN" altLang="en-US" sz="1600" b="1" dirty="0">
                <a:latin typeface="微软雅黑" pitchFamily="34" charset="-122"/>
                <a:ea typeface="微软雅黑" pitchFamily="34" charset="-122"/>
              </a:rPr>
              <a:t>实例之间高效安全隔离的</a:t>
            </a:r>
            <a:r>
              <a:rPr lang="zh-CN" altLang="en-US" sz="1600" b="1" dirty="0" smtClean="0">
                <a:latin typeface="微软雅黑" pitchFamily="34" charset="-122"/>
                <a:ea typeface="微软雅黑" pitchFamily="34" charset="-122"/>
              </a:rPr>
              <a:t>方法等。</a:t>
            </a:r>
            <a:endParaRPr lang="zh-CN" altLang="en-US" sz="1600"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32176151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5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fade">
                                      <p:cBhvr>
                                        <p:cTn id="15" dur="500"/>
                                        <p:tgtEl>
                                          <p:spTgt spid="4">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fade">
                                      <p:cBhvr>
                                        <p:cTn id="1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9"/>
          <p:cNvSpPr>
            <a:spLocks noChangeArrowheads="1"/>
          </p:cNvSpPr>
          <p:nvPr/>
        </p:nvSpPr>
        <p:spPr bwMode="auto">
          <a:xfrm>
            <a:off x="2629135" y="232298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4" name="Rectangle 9"/>
          <p:cNvSpPr>
            <a:spLocks noChangeArrowheads="1"/>
          </p:cNvSpPr>
          <p:nvPr/>
        </p:nvSpPr>
        <p:spPr bwMode="auto">
          <a:xfrm>
            <a:off x="2629135" y="1400681"/>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5" name="Rectangle 10"/>
          <p:cNvSpPr>
            <a:spLocks noChangeArrowheads="1"/>
          </p:cNvSpPr>
          <p:nvPr/>
        </p:nvSpPr>
        <p:spPr bwMode="auto">
          <a:xfrm>
            <a:off x="2629135" y="1864436"/>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solidFill>
                  <a:srgbClr val="000000"/>
                </a:solidFill>
                <a:miter lim="1000000"/>
                <a:headEnd/>
                <a:tailEnd/>
              </a14:hiddenLine>
            </a:ext>
          </a:extLst>
        </p:spPr>
        <p:txBody>
          <a:bodyPr anchor="ctr"/>
          <a:lstStyle/>
          <a:p>
            <a:pPr algn="ctr" eaLnBrk="0" hangingPunct="0"/>
            <a:endParaRPr lang="fr-FR">
              <a:solidFill>
                <a:srgbClr val="FFFFFF"/>
              </a:solidFill>
              <a:latin typeface="宋体" panose="02010600030101010101" pitchFamily="2" charset="-122"/>
            </a:endParaRPr>
          </a:p>
        </p:txBody>
      </p:sp>
      <p:sp>
        <p:nvSpPr>
          <p:cNvPr id="26" name="Line 16"/>
          <p:cNvSpPr>
            <a:spLocks noChangeShapeType="1"/>
          </p:cNvSpPr>
          <p:nvPr/>
        </p:nvSpPr>
        <p:spPr bwMode="auto">
          <a:xfrm>
            <a:off x="3637197" y="1329242"/>
            <a:ext cx="37336" cy="2740961"/>
          </a:xfrm>
          <a:prstGeom prst="line">
            <a:avLst/>
          </a:prstGeom>
          <a:noFill/>
          <a:ln w="28575" algn="ctr">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 name="Rectangle 27"/>
          <p:cNvSpPr>
            <a:spLocks noChangeArrowheads="1"/>
          </p:cNvSpPr>
          <p:nvPr/>
        </p:nvSpPr>
        <p:spPr bwMode="auto">
          <a:xfrm>
            <a:off x="639730" y="1400681"/>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panose="02010600030101010101" pitchFamily="2" charset="-122"/>
            </a:endParaRPr>
          </a:p>
        </p:txBody>
      </p:sp>
      <p:sp>
        <p:nvSpPr>
          <p:cNvPr id="28" name="Rectangle 29"/>
          <p:cNvSpPr>
            <a:spLocks noChangeArrowheads="1"/>
          </p:cNvSpPr>
          <p:nvPr/>
        </p:nvSpPr>
        <p:spPr bwMode="auto">
          <a:xfrm>
            <a:off x="648619" y="1495613"/>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2000" b="1" dirty="0" smtClean="0">
                <a:solidFill>
                  <a:srgbClr val="FFFF00"/>
                </a:solidFill>
                <a:latin typeface="微软雅黑" panose="020B0503020204020204" pitchFamily="34" charset="-122"/>
                <a:ea typeface="微软雅黑" panose="020B0503020204020204" pitchFamily="34" charset="-122"/>
              </a:rPr>
              <a:t>9.3</a:t>
            </a:r>
            <a:endParaRPr lang="en-US" altLang="zh-CN" sz="2000" b="1" dirty="0" smtClean="0">
              <a:solidFill>
                <a:srgbClr val="FFFF00"/>
              </a:solidFill>
              <a:latin typeface="微软雅黑" panose="020B0503020204020204" pitchFamily="34" charset="-122"/>
              <a:ea typeface="微软雅黑" panose="020B0503020204020204" pitchFamily="34" charset="-122"/>
            </a:endParaRPr>
          </a:p>
          <a:p>
            <a:pPr eaLnBrk="0" hangingPunct="0"/>
            <a:r>
              <a:rPr lang="zh-CN" altLang="en-US" sz="2000" b="1" dirty="0" smtClean="0">
                <a:solidFill>
                  <a:schemeClr val="bg1"/>
                </a:solidFill>
                <a:latin typeface="微软雅黑" panose="020B0503020204020204" pitchFamily="34" charset="-122"/>
                <a:ea typeface="微软雅黑" panose="020B0503020204020204" pitchFamily="34" charset="-122"/>
              </a:rPr>
              <a:t>数据中心网络</a:t>
            </a:r>
            <a:endParaRPr lang="zh-CN" altLang="fr-FR" sz="2000" b="1" dirty="0">
              <a:solidFill>
                <a:schemeClr val="bg1"/>
              </a:solidFill>
              <a:latin typeface="微软雅黑" panose="020B0503020204020204" pitchFamily="34" charset="-122"/>
              <a:ea typeface="微软雅黑" panose="020B0503020204020204" pitchFamily="34" charset="-122"/>
            </a:endParaRPr>
          </a:p>
        </p:txBody>
      </p:sp>
      <p:sp>
        <p:nvSpPr>
          <p:cNvPr id="29" name="Rectangle 8"/>
          <p:cNvSpPr>
            <a:spLocks noChangeArrowheads="1"/>
          </p:cNvSpPr>
          <p:nvPr/>
        </p:nvSpPr>
        <p:spPr bwMode="auto">
          <a:xfrm>
            <a:off x="2700573" y="1276373"/>
            <a:ext cx="575600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9.3.1                           </a:t>
            </a:r>
            <a:r>
              <a:rPr lang="zh-CN" altLang="en-US" sz="2000" b="1" dirty="0" smtClean="0">
                <a:solidFill>
                  <a:schemeClr val="bg1"/>
                </a:solidFill>
                <a:latin typeface="微软雅黑" panose="020B0503020204020204" pitchFamily="34" charset="-122"/>
                <a:ea typeface="微软雅黑" panose="020B0503020204020204" pitchFamily="34" charset="-122"/>
              </a:rPr>
              <a:t>数据中心与数据中心网络</a:t>
            </a:r>
            <a:endParaRPr lang="zh-CN" altLang="en-US" sz="2000" b="1" dirty="0">
              <a:solidFill>
                <a:schemeClr val="bg1"/>
              </a:solidFill>
              <a:latin typeface="微软雅黑" panose="020B0503020204020204" pitchFamily="34" charset="-122"/>
              <a:ea typeface="微软雅黑" panose="020B0503020204020204" pitchFamily="34" charset="-122"/>
            </a:endParaRPr>
          </a:p>
          <a:p>
            <a:pPr eaLnBrk="0" hangingPunct="0">
              <a:lnSpc>
                <a:spcPct val="150000"/>
              </a:lnSpc>
            </a:pPr>
            <a:r>
              <a:rPr lang="en-US" altLang="zh-CN" sz="2000" b="1" dirty="0" smtClean="0">
                <a:solidFill>
                  <a:schemeClr val="bg1"/>
                </a:solidFill>
                <a:latin typeface="微软雅黑" panose="020B0503020204020204" pitchFamily="34" charset="-122"/>
                <a:ea typeface="微软雅黑" panose="020B0503020204020204" pitchFamily="34" charset="-122"/>
              </a:rPr>
              <a:t>9.3.2                              </a:t>
            </a:r>
            <a:r>
              <a:rPr lang="zh-CN" altLang="en-US" sz="2000" b="1" dirty="0" smtClean="0">
                <a:solidFill>
                  <a:schemeClr val="bg1"/>
                </a:solidFill>
                <a:latin typeface="微软雅黑" panose="020B0503020204020204" pitchFamily="34" charset="-122"/>
                <a:ea typeface="微软雅黑" panose="020B0503020204020204" pitchFamily="34" charset="-122"/>
              </a:rPr>
              <a:t>典型数据中心网络结构</a:t>
            </a:r>
            <a:r>
              <a:rPr lang="en-US" altLang="zh-CN" sz="2000" b="1" dirty="0" smtClean="0">
                <a:solidFill>
                  <a:schemeClr val="bg1"/>
                </a:solidFill>
                <a:latin typeface="微软雅黑" panose="020B0503020204020204" pitchFamily="34" charset="-122"/>
                <a:ea typeface="微软雅黑" panose="020B0503020204020204" pitchFamily="34" charset="-122"/>
              </a:rPr>
              <a:t>9.3.3                              </a:t>
            </a:r>
            <a:r>
              <a:rPr lang="zh-CN" altLang="en-US" sz="2000" b="1" dirty="0" smtClean="0">
                <a:solidFill>
                  <a:schemeClr val="bg1"/>
                </a:solidFill>
                <a:latin typeface="微软雅黑" panose="020B0503020204020204" pitchFamily="34" charset="-122"/>
                <a:ea typeface="微软雅黑" panose="020B0503020204020204" pitchFamily="34" charset="-122"/>
              </a:rPr>
              <a:t>数据中心网络发展趋势</a:t>
            </a:r>
            <a:endParaRPr lang="en-US" altLang="zh-CN" sz="2000" b="1"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06916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数据中心网络</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在当今信息化的时代，我们的工作和生活已经离不开各种网络应用，从搜索引擎、社交平台，到在线教学、视频会议、电子商务等，这些应用的背后都有着庞大而复杂的</a:t>
            </a:r>
            <a:r>
              <a:rPr lang="zh-CN" altLang="en-US" b="1" dirty="0">
                <a:solidFill>
                  <a:srgbClr val="C00000"/>
                </a:solidFill>
                <a:latin typeface="微软雅黑" pitchFamily="34" charset="-122"/>
                <a:ea typeface="微软雅黑" pitchFamily="34" charset="-122"/>
              </a:rPr>
              <a:t>数据中心</a:t>
            </a:r>
            <a:r>
              <a:rPr lang="en-US" altLang="zh-CN" b="1" dirty="0">
                <a:solidFill>
                  <a:srgbClr val="C00000"/>
                </a:solidFill>
                <a:latin typeface="微软雅黑" pitchFamily="34" charset="-122"/>
                <a:ea typeface="微软雅黑" pitchFamily="34" charset="-122"/>
              </a:rPr>
              <a:t>(Data Center)</a:t>
            </a:r>
            <a:r>
              <a:rPr lang="zh-CN" altLang="en-US" b="1" dirty="0">
                <a:latin typeface="微软雅黑" pitchFamily="34" charset="-122"/>
                <a:ea typeface="微软雅黑" pitchFamily="34" charset="-122"/>
              </a:rPr>
              <a:t>在支撑着它们的运行</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以</a:t>
            </a:r>
            <a:r>
              <a:rPr lang="zh-CN" altLang="en-US" b="1" dirty="0">
                <a:latin typeface="微软雅黑" pitchFamily="34" charset="-122"/>
                <a:ea typeface="微软雅黑" pitchFamily="34" charset="-122"/>
              </a:rPr>
              <a:t>搜索引擎为例，当用户输入关键词并按下回车键时，背后需要</a:t>
            </a:r>
            <a:r>
              <a:rPr lang="zh-CN" altLang="en-US" b="1" dirty="0">
                <a:solidFill>
                  <a:srgbClr val="C00000"/>
                </a:solidFill>
                <a:latin typeface="微软雅黑" pitchFamily="34" charset="-122"/>
                <a:ea typeface="微软雅黑" pitchFamily="34" charset="-122"/>
              </a:rPr>
              <a:t>大量的服务器协同工作</a:t>
            </a:r>
            <a:r>
              <a:rPr lang="zh-CN" altLang="en-US" b="1" dirty="0">
                <a:latin typeface="微软雅黑" pitchFamily="34" charset="-122"/>
                <a:ea typeface="微软雅黑" pitchFamily="34" charset="-122"/>
              </a:rPr>
              <a:t>，快速检索海量网页数据，并在极短时间内返回结果</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各种深度学习模型的训练过程通常需要处理海量数据，并需要在大规模节点之间进行高频的数据交换。这种计算密集型任务对数据中心网络提出了新的要求：</a:t>
            </a:r>
            <a:r>
              <a:rPr lang="zh-CN" altLang="en-US" b="1" dirty="0">
                <a:solidFill>
                  <a:srgbClr val="C00000"/>
                </a:solidFill>
                <a:latin typeface="微软雅黑" pitchFamily="34" charset="-122"/>
                <a:ea typeface="微软雅黑" pitchFamily="34" charset="-122"/>
              </a:rPr>
              <a:t>不仅要具备高带宽、低时延的传输能力，还需要能够灵活调度资源、动态适应不同阶段的训练需求。</a:t>
            </a:r>
            <a:endParaRPr lang="en-US" altLang="zh-CN" b="1" dirty="0" smtClean="0">
              <a:solidFill>
                <a:srgbClr val="C00000"/>
              </a:solidFill>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40752225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数据中心概述</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300407"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数据中心是专门用于集中部署计算设备、网络设备和存储设备的物理设施，并通过有效组织这些物理资源，为大规模数据处理、存储和分发提供可靠的基础支撑环境。通常情况下，一个数据中心包括以下几个关键元素：</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计算</a:t>
            </a:r>
            <a:r>
              <a:rPr lang="zh-CN" altLang="en-US" sz="1600" b="1" dirty="0">
                <a:solidFill>
                  <a:srgbClr val="C00000"/>
                </a:solidFill>
                <a:latin typeface="微软雅黑" pitchFamily="34" charset="-122"/>
                <a:ea typeface="微软雅黑" pitchFamily="34" charset="-122"/>
              </a:rPr>
              <a:t>资源集群：</a:t>
            </a:r>
            <a:r>
              <a:rPr lang="zh-CN" altLang="en-US" sz="1600" b="1" dirty="0">
                <a:latin typeface="微软雅黑" pitchFamily="34" charset="-122"/>
                <a:ea typeface="微软雅黑" pitchFamily="34" charset="-122"/>
              </a:rPr>
              <a:t>由服务器、超级计算机或异构计算单元组成的算力池，通过高速网络互连形成分布式计算</a:t>
            </a:r>
            <a:r>
              <a:rPr lang="zh-CN" altLang="en-US" sz="1600" b="1" dirty="0" smtClean="0">
                <a:latin typeface="微软雅黑" pitchFamily="34" charset="-122"/>
                <a:ea typeface="微软雅黑" pitchFamily="34" charset="-122"/>
              </a:rPr>
              <a:t>架构。</a:t>
            </a:r>
            <a:endParaRPr lang="zh-CN" altLang="en-US" sz="1600" b="1" dirty="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存储系统</a:t>
            </a:r>
            <a:r>
              <a:rPr lang="zh-CN" altLang="en-US" sz="1600" b="1" dirty="0">
                <a:solidFill>
                  <a:srgbClr val="C00000"/>
                </a:solidFill>
                <a:latin typeface="微软雅黑" pitchFamily="34" charset="-122"/>
                <a:ea typeface="微软雅黑" pitchFamily="34" charset="-122"/>
              </a:rPr>
              <a:t>：</a:t>
            </a:r>
            <a:r>
              <a:rPr lang="zh-CN" altLang="en-US" sz="1600" b="1" dirty="0">
                <a:latin typeface="微软雅黑" pitchFamily="34" charset="-122"/>
                <a:ea typeface="微软雅黑" pitchFamily="34" charset="-122"/>
              </a:rPr>
              <a:t>包括全闪存阵列、分布式对象存储、磁带库等分层存储介质，支持对数据的全生命周期管理。</a:t>
            </a:r>
          </a:p>
          <a:p>
            <a:pPr marL="742950" lvl="1" indent="-285750">
              <a:lnSpc>
                <a:spcPts val="30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网络</a:t>
            </a:r>
            <a:r>
              <a:rPr lang="zh-CN" altLang="en-US" sz="1600" b="1" dirty="0">
                <a:solidFill>
                  <a:srgbClr val="C00000"/>
                </a:solidFill>
                <a:latin typeface="微软雅黑" pitchFamily="34" charset="-122"/>
                <a:ea typeface="微软雅黑" pitchFamily="34" charset="-122"/>
              </a:rPr>
              <a:t>基础设施：</a:t>
            </a:r>
            <a:r>
              <a:rPr lang="zh-CN" altLang="en-US" sz="1600" b="1" dirty="0">
                <a:latin typeface="微软雅黑" pitchFamily="34" charset="-122"/>
                <a:ea typeface="微软雅黑" pitchFamily="34" charset="-122"/>
              </a:rPr>
              <a:t>由交换机、路由器等按照一定结构互联形成，支持高效数据传输。</a:t>
            </a:r>
          </a:p>
          <a:p>
            <a:pPr marL="742950" lvl="1" indent="-285750">
              <a:lnSpc>
                <a:spcPts val="30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支撑</a:t>
            </a:r>
            <a:r>
              <a:rPr lang="zh-CN" altLang="en-US" sz="1600" b="1" dirty="0">
                <a:solidFill>
                  <a:srgbClr val="C00000"/>
                </a:solidFill>
                <a:latin typeface="微软雅黑" pitchFamily="34" charset="-122"/>
                <a:ea typeface="微软雅黑" pitchFamily="34" charset="-122"/>
              </a:rPr>
              <a:t>系统：</a:t>
            </a:r>
            <a:r>
              <a:rPr lang="zh-CN" altLang="en-US" sz="1600" b="1" dirty="0">
                <a:latin typeface="微软雅黑" pitchFamily="34" charset="-122"/>
                <a:ea typeface="微软雅黑" pitchFamily="34" charset="-122"/>
              </a:rPr>
              <a:t>包括电力供应、冷却系统、安防系统等，保障设备的稳定运行。</a:t>
            </a:r>
          </a:p>
          <a:p>
            <a:pPr marL="742950" lvl="1" indent="-285750">
              <a:lnSpc>
                <a:spcPts val="3000"/>
              </a:lnSpc>
              <a:buClr>
                <a:srgbClr val="0070C0"/>
              </a:buClr>
              <a:buFont typeface="Wingdings" pitchFamily="2" charset="2"/>
              <a:buChar char="l"/>
            </a:pPr>
            <a:r>
              <a:rPr lang="zh-CN" altLang="en-US" sz="1600" b="1" dirty="0" smtClean="0">
                <a:solidFill>
                  <a:srgbClr val="C00000"/>
                </a:solidFill>
                <a:latin typeface="微软雅黑" pitchFamily="34" charset="-122"/>
                <a:ea typeface="微软雅黑" pitchFamily="34" charset="-122"/>
              </a:rPr>
              <a:t>管理</a:t>
            </a:r>
            <a:r>
              <a:rPr lang="zh-CN" altLang="en-US" sz="1600" b="1" dirty="0">
                <a:solidFill>
                  <a:srgbClr val="C00000"/>
                </a:solidFill>
                <a:latin typeface="微软雅黑" pitchFamily="34" charset="-122"/>
                <a:ea typeface="微软雅黑" pitchFamily="34" charset="-122"/>
              </a:rPr>
              <a:t>平台：</a:t>
            </a:r>
            <a:r>
              <a:rPr lang="zh-CN" altLang="en-US" sz="1600" b="1" dirty="0">
                <a:latin typeface="微软雅黑" pitchFamily="34" charset="-122"/>
                <a:ea typeface="微软雅黑" pitchFamily="34" charset="-122"/>
              </a:rPr>
              <a:t>负责数据中心资源的维护与动态调配</a:t>
            </a:r>
            <a:r>
              <a:rPr lang="zh-CN" altLang="en-US" sz="1600"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5918279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数据中心网络</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2"/>
            <a:ext cx="4611057" cy="3908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最</a:t>
            </a:r>
            <a:r>
              <a:rPr lang="zh-CN" altLang="en-US" sz="1600" b="1" dirty="0">
                <a:latin typeface="微软雅黑" pitchFamily="34" charset="-122"/>
                <a:ea typeface="微软雅黑" pitchFamily="34" charset="-122"/>
              </a:rPr>
              <a:t>底层是数量众多的</a:t>
            </a:r>
            <a:r>
              <a:rPr lang="zh-CN" altLang="en-US" sz="1600" b="1" dirty="0">
                <a:solidFill>
                  <a:srgbClr val="C00000"/>
                </a:solidFill>
                <a:latin typeface="微软雅黑" pitchFamily="34" charset="-122"/>
                <a:ea typeface="微软雅黑" pitchFamily="34" charset="-122"/>
              </a:rPr>
              <a:t>服务器</a:t>
            </a:r>
            <a:r>
              <a:rPr lang="zh-CN" altLang="en-US" sz="1600" b="1" dirty="0" smtClean="0">
                <a:latin typeface="微软雅黑" pitchFamily="34" charset="-122"/>
                <a:ea typeface="微软雅黑" pitchFamily="34" charset="-122"/>
              </a:rPr>
              <a:t>，以</a:t>
            </a:r>
            <a:r>
              <a:rPr lang="zh-CN" altLang="en-US" sz="1600" b="1" dirty="0">
                <a:latin typeface="微软雅黑" pitchFamily="34" charset="-122"/>
                <a:ea typeface="微软雅黑" pitchFamily="34" charset="-122"/>
              </a:rPr>
              <a:t>服务器机架的形式堆叠</a:t>
            </a:r>
            <a:r>
              <a:rPr lang="zh-CN" altLang="en-US" sz="1600" b="1" dirty="0" smtClean="0">
                <a:latin typeface="微软雅黑" pitchFamily="34" charset="-122"/>
                <a:ea typeface="微软雅黑" pitchFamily="34" charset="-122"/>
              </a:rPr>
              <a:t>部署。</a:t>
            </a:r>
            <a:endParaRPr lang="en-US" altLang="zh-CN" sz="16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600" b="1" dirty="0" smtClean="0">
                <a:latin typeface="微软雅黑" pitchFamily="34" charset="-122"/>
                <a:ea typeface="微软雅黑" pitchFamily="34" charset="-122"/>
              </a:rPr>
              <a:t>每个</a:t>
            </a:r>
            <a:r>
              <a:rPr lang="zh-CN" altLang="en-US" sz="1600" b="1" dirty="0">
                <a:latin typeface="微软雅黑" pitchFamily="34" charset="-122"/>
                <a:ea typeface="微软雅黑" pitchFamily="34" charset="-122"/>
              </a:rPr>
              <a:t>机架的顶部配置有一台交换机，称为</a:t>
            </a:r>
            <a:r>
              <a:rPr lang="zh-CN" altLang="en-US" sz="1600" b="1" dirty="0">
                <a:solidFill>
                  <a:srgbClr val="C00000"/>
                </a:solidFill>
                <a:latin typeface="微软雅黑" pitchFamily="34" charset="-122"/>
                <a:ea typeface="微软雅黑" pitchFamily="34" charset="-122"/>
              </a:rPr>
              <a:t>机架顶部</a:t>
            </a:r>
            <a:r>
              <a:rPr lang="en-US" altLang="zh-CN" sz="1600" b="1" dirty="0">
                <a:solidFill>
                  <a:srgbClr val="C00000"/>
                </a:solidFill>
                <a:latin typeface="微软雅黑" pitchFamily="34" charset="-122"/>
                <a:ea typeface="微软雅黑" pitchFamily="34" charset="-122"/>
              </a:rPr>
              <a:t>(Top of Rack)</a:t>
            </a:r>
            <a:r>
              <a:rPr lang="zh-CN" altLang="en-US" sz="1600" b="1" dirty="0">
                <a:solidFill>
                  <a:srgbClr val="C00000"/>
                </a:solidFill>
                <a:latin typeface="微软雅黑" pitchFamily="34" charset="-122"/>
                <a:ea typeface="微软雅黑" pitchFamily="34" charset="-122"/>
              </a:rPr>
              <a:t>交换机，或者</a:t>
            </a:r>
            <a:r>
              <a:rPr lang="en-US" altLang="zh-CN" sz="1600" b="1" dirty="0" err="1">
                <a:solidFill>
                  <a:srgbClr val="C00000"/>
                </a:solidFill>
                <a:latin typeface="微软雅黑" pitchFamily="34" charset="-122"/>
                <a:ea typeface="微软雅黑" pitchFamily="34" charset="-122"/>
              </a:rPr>
              <a:t>ToR</a:t>
            </a:r>
            <a:r>
              <a:rPr lang="zh-CN" altLang="en-US" sz="1600" b="1" dirty="0" smtClean="0">
                <a:solidFill>
                  <a:srgbClr val="C00000"/>
                </a:solidFill>
                <a:latin typeface="微软雅黑" pitchFamily="34" charset="-122"/>
                <a:ea typeface="微软雅黑" pitchFamily="34" charset="-122"/>
              </a:rPr>
              <a:t>交换机</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600" b="1" dirty="0">
                <a:latin typeface="微软雅黑" pitchFamily="34" charset="-122"/>
                <a:ea typeface="微软雅黑" pitchFamily="34" charset="-122"/>
              </a:rPr>
              <a:t>机架内的每台</a:t>
            </a:r>
            <a:r>
              <a:rPr lang="zh-CN" altLang="en-US" sz="1600" b="1" dirty="0" smtClean="0">
                <a:latin typeface="微软雅黑" pitchFamily="34" charset="-122"/>
                <a:ea typeface="微软雅黑" pitchFamily="34" charset="-122"/>
              </a:rPr>
              <a:t>服务器连接</a:t>
            </a:r>
            <a:r>
              <a:rPr lang="zh-CN" altLang="en-US" sz="1600" b="1" dirty="0">
                <a:latin typeface="微软雅黑" pitchFamily="34" charset="-122"/>
                <a:ea typeface="微软雅黑" pitchFamily="34" charset="-122"/>
              </a:rPr>
              <a:t>到所属的</a:t>
            </a:r>
            <a:r>
              <a:rPr lang="en-US" altLang="zh-CN" sz="1600" b="1" dirty="0" err="1">
                <a:latin typeface="微软雅黑" pitchFamily="34" charset="-122"/>
                <a:ea typeface="微软雅黑" pitchFamily="34" charset="-122"/>
              </a:rPr>
              <a:t>ToR</a:t>
            </a:r>
            <a:r>
              <a:rPr lang="zh-CN" altLang="en-US" sz="1600" b="1" dirty="0">
                <a:latin typeface="微软雅黑" pitchFamily="34" charset="-122"/>
                <a:ea typeface="微软雅黑" pitchFamily="34" charset="-122"/>
              </a:rPr>
              <a:t>交换机，而每台</a:t>
            </a:r>
            <a:r>
              <a:rPr lang="en-US" altLang="zh-CN" sz="1600" b="1" dirty="0" err="1">
                <a:latin typeface="微软雅黑" pitchFamily="34" charset="-122"/>
                <a:ea typeface="微软雅黑" pitchFamily="34" charset="-122"/>
              </a:rPr>
              <a:t>ToR</a:t>
            </a:r>
            <a:r>
              <a:rPr lang="zh-CN" altLang="en-US" sz="1600" b="1" dirty="0" smtClean="0">
                <a:latin typeface="微软雅黑" pitchFamily="34" charset="-122"/>
                <a:ea typeface="微软雅黑" pitchFamily="34" charset="-122"/>
              </a:rPr>
              <a:t>交换机与</a:t>
            </a:r>
            <a:r>
              <a:rPr lang="zh-CN" altLang="en-US" sz="1600" b="1" dirty="0">
                <a:latin typeface="微软雅黑" pitchFamily="34" charset="-122"/>
                <a:ea typeface="微软雅黑" pitchFamily="34" charset="-122"/>
              </a:rPr>
              <a:t>上一层的</a:t>
            </a:r>
            <a:r>
              <a:rPr lang="zh-CN" altLang="en-US" sz="1600" b="1" dirty="0">
                <a:solidFill>
                  <a:srgbClr val="C00000"/>
                </a:solidFill>
                <a:latin typeface="微软雅黑" pitchFamily="34" charset="-122"/>
                <a:ea typeface="微软雅黑" pitchFamily="34" charset="-122"/>
              </a:rPr>
              <a:t>汇聚交换机</a:t>
            </a:r>
            <a:r>
              <a:rPr lang="zh-CN" altLang="en-US" sz="1600" b="1" dirty="0">
                <a:latin typeface="微软雅黑" pitchFamily="34" charset="-122"/>
                <a:ea typeface="微软雅黑" pitchFamily="34" charset="-122"/>
              </a:rPr>
              <a:t>级联</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核心</a:t>
            </a:r>
            <a:r>
              <a:rPr lang="zh-CN" altLang="en-US" sz="1600" b="1" dirty="0" smtClean="0">
                <a:solidFill>
                  <a:srgbClr val="C00000"/>
                </a:solidFill>
                <a:latin typeface="微软雅黑" pitchFamily="34" charset="-122"/>
                <a:ea typeface="微软雅黑" pitchFamily="34" charset="-122"/>
              </a:rPr>
              <a:t>交换机</a:t>
            </a:r>
            <a:r>
              <a:rPr lang="zh-CN" altLang="en-US" sz="1600" b="1" dirty="0" smtClean="0">
                <a:latin typeface="微软雅黑" pitchFamily="34" charset="-122"/>
                <a:ea typeface="微软雅黑" pitchFamily="34" charset="-122"/>
              </a:rPr>
              <a:t>进一步</a:t>
            </a:r>
            <a:r>
              <a:rPr lang="zh-CN" altLang="en-US" sz="1600" b="1" dirty="0">
                <a:latin typeface="微软雅黑" pitchFamily="34" charset="-122"/>
                <a:ea typeface="微软雅黑" pitchFamily="34" charset="-122"/>
              </a:rPr>
              <a:t>互联多个汇聚交换机，同时对</a:t>
            </a:r>
            <a:r>
              <a:rPr lang="zh-CN" altLang="en-US" sz="1600" b="1" dirty="0" smtClean="0">
                <a:latin typeface="微软雅黑" pitchFamily="34" charset="-122"/>
                <a:ea typeface="微软雅黑" pitchFamily="34" charset="-122"/>
              </a:rPr>
              <a:t>上连接</a:t>
            </a:r>
            <a:r>
              <a:rPr lang="zh-CN" altLang="en-US" sz="1600" b="1" dirty="0">
                <a:solidFill>
                  <a:srgbClr val="C00000"/>
                </a:solidFill>
                <a:latin typeface="微软雅黑" pitchFamily="34" charset="-122"/>
                <a:ea typeface="微软雅黑" pitchFamily="34" charset="-122"/>
              </a:rPr>
              <a:t>接入路由器</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600" b="1" dirty="0">
                <a:solidFill>
                  <a:srgbClr val="C00000"/>
                </a:solidFill>
                <a:latin typeface="微软雅黑" pitchFamily="34" charset="-122"/>
                <a:ea typeface="微软雅黑" pitchFamily="34" charset="-122"/>
              </a:rPr>
              <a:t>边界路由器</a:t>
            </a:r>
            <a:r>
              <a:rPr lang="zh-CN" altLang="en-US" sz="1600" b="1" dirty="0">
                <a:latin typeface="微软雅黑" pitchFamily="34" charset="-122"/>
                <a:ea typeface="微软雅黑" pitchFamily="34" charset="-122"/>
              </a:rPr>
              <a:t>对下连接本数据中心的多个接入路由器，对上则接入</a:t>
            </a:r>
            <a:r>
              <a:rPr lang="zh-CN" altLang="en-US" sz="1600" b="1" dirty="0">
                <a:solidFill>
                  <a:srgbClr val="C00000"/>
                </a:solidFill>
                <a:latin typeface="微软雅黑" pitchFamily="34" charset="-122"/>
                <a:ea typeface="微软雅黑" pitchFamily="34" charset="-122"/>
              </a:rPr>
              <a:t>互联网</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285750" indent="-285750">
              <a:lnSpc>
                <a:spcPts val="2500"/>
              </a:lnSpc>
              <a:buClr>
                <a:srgbClr val="0070C0"/>
              </a:buClr>
              <a:buFont typeface="Wingdings" pitchFamily="2" charset="2"/>
              <a:buChar char="l"/>
            </a:pPr>
            <a:r>
              <a:rPr lang="zh-CN" altLang="en-US" sz="1600" b="1" dirty="0">
                <a:latin typeface="微软雅黑" pitchFamily="34" charset="-122"/>
                <a:ea typeface="微软雅黑" pitchFamily="34" charset="-122"/>
              </a:rPr>
              <a:t>每类设备的数量都</a:t>
            </a:r>
            <a:r>
              <a:rPr lang="zh-CN" altLang="en-US" sz="1600" b="1" dirty="0" smtClean="0">
                <a:latin typeface="微软雅黑" pitchFamily="34" charset="-122"/>
                <a:ea typeface="微软雅黑" pitchFamily="34" charset="-122"/>
              </a:rPr>
              <a:t>可以</a:t>
            </a:r>
            <a:r>
              <a:rPr lang="zh-CN" altLang="en-US" sz="1600" b="1" dirty="0">
                <a:latin typeface="微软雅黑" pitchFamily="34" charset="-122"/>
                <a:ea typeface="微软雅黑" pitchFamily="34" charset="-122"/>
              </a:rPr>
              <a:t>根据数据中心网络</a:t>
            </a:r>
            <a:r>
              <a:rPr lang="zh-CN" altLang="en-US" sz="1600" b="1" dirty="0" smtClean="0">
                <a:latin typeface="微软雅黑" pitchFamily="34" charset="-122"/>
                <a:ea typeface="微软雅黑" pitchFamily="34" charset="-122"/>
              </a:rPr>
              <a:t>规模按需扩展。</a:t>
            </a:r>
            <a:endParaRPr lang="en-US" altLang="zh-CN" sz="1600" b="1" dirty="0" smtClean="0">
              <a:latin typeface="微软雅黑" pitchFamily="34" charset="-122"/>
              <a:ea typeface="微软雅黑" pitchFamily="34"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08821968"/>
              </p:ext>
            </p:extLst>
          </p:nvPr>
        </p:nvGraphicFramePr>
        <p:xfrm>
          <a:off x="5238601" y="1250950"/>
          <a:ext cx="3905399" cy="3003550"/>
        </p:xfrm>
        <a:graphic>
          <a:graphicData uri="http://schemas.openxmlformats.org/presentationml/2006/ole">
            <mc:AlternateContent xmlns:mc="http://schemas.openxmlformats.org/markup-compatibility/2006">
              <mc:Choice xmlns:v="urn:schemas-microsoft-com:vml" Requires="v">
                <p:oleObj spid="_x0000_s27656" name="Slide" r:id="rId4" imgW="6217049" imgH="3496916" progId="PowerPoint.Slide.12">
                  <p:embed/>
                </p:oleObj>
              </mc:Choice>
              <mc:Fallback>
                <p:oleObj name="Slide" r:id="rId4" imgW="6217049" imgH="3496916" progId="PowerPoint.Slide.12">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r="45146" b="24707"/>
                      <a:stretch>
                        <a:fillRect/>
                      </a:stretch>
                    </p:blipFill>
                    <p:spPr bwMode="auto">
                      <a:xfrm>
                        <a:off x="5238601" y="1250950"/>
                        <a:ext cx="3905399" cy="3003550"/>
                      </a:xfrm>
                      <a:prstGeom prst="rect">
                        <a:avLst/>
                      </a:prstGeom>
                      <a:noFill/>
                    </p:spPr>
                  </p:pic>
                </p:oleObj>
              </mc:Fallback>
            </mc:AlternateContent>
          </a:graphicData>
        </a:graphic>
      </p:graphicFrame>
    </p:spTree>
    <p:custDataLst>
      <p:tags r:id="rId2"/>
    </p:custDataLst>
    <p:extLst>
      <p:ext uri="{BB962C8B-B14F-4D97-AF65-F5344CB8AC3E}">
        <p14:creationId xmlns:p14="http://schemas.microsoft.com/office/powerpoint/2010/main" val="336240684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数据中心网络</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每台接入路由器下的网络是一个由交换机互联的</a:t>
            </a:r>
            <a:r>
              <a:rPr lang="zh-CN" altLang="en-US" b="1" dirty="0" smtClean="0">
                <a:latin typeface="微软雅黑" pitchFamily="34" charset="-122"/>
                <a:ea typeface="微软雅黑" pitchFamily="34" charset="-122"/>
              </a:rPr>
              <a:t>局域网，为了限制</a:t>
            </a:r>
            <a:r>
              <a:rPr lang="en-US" altLang="zh-CN" b="1" dirty="0">
                <a:latin typeface="微软雅黑" pitchFamily="34" charset="-122"/>
                <a:ea typeface="微软雅黑" pitchFamily="34" charset="-122"/>
              </a:rPr>
              <a:t>ARP</a:t>
            </a:r>
            <a:r>
              <a:rPr lang="zh-CN" altLang="en-US" b="1" dirty="0">
                <a:latin typeface="微软雅黑" pitchFamily="34" charset="-122"/>
                <a:ea typeface="微软雅黑" pitchFamily="34" charset="-122"/>
              </a:rPr>
              <a:t>等广播流量的范围，在设计中会进一步将其划分为多个</a:t>
            </a:r>
            <a:r>
              <a:rPr lang="zh-CN" altLang="en-US" b="1" dirty="0">
                <a:solidFill>
                  <a:srgbClr val="C00000"/>
                </a:solidFill>
                <a:latin typeface="微软雅黑" pitchFamily="34" charset="-122"/>
                <a:ea typeface="微软雅黑" pitchFamily="34" charset="-122"/>
              </a:rPr>
              <a:t>虚拟局域网</a:t>
            </a:r>
            <a:r>
              <a:rPr lang="en-US" altLang="zh-CN" b="1" dirty="0">
                <a:solidFill>
                  <a:srgbClr val="C00000"/>
                </a:solidFill>
                <a:latin typeface="微软雅黑" pitchFamily="34" charset="-122"/>
                <a:ea typeface="微软雅黑" pitchFamily="34" charset="-122"/>
              </a:rPr>
              <a:t>(VLAN)</a:t>
            </a:r>
            <a:r>
              <a:rPr lang="zh-CN" altLang="en-US" b="1" dirty="0">
                <a:latin typeface="微软雅黑" pitchFamily="34" charset="-122"/>
                <a:ea typeface="微软雅黑" pitchFamily="34" charset="-122"/>
              </a:rPr>
              <a:t>，通常情况下每个</a:t>
            </a:r>
            <a:r>
              <a:rPr lang="en-US" altLang="zh-CN" b="1" dirty="0">
                <a:latin typeface="微软雅黑" pitchFamily="34" charset="-122"/>
                <a:ea typeface="微软雅黑" pitchFamily="34" charset="-122"/>
              </a:rPr>
              <a:t>VLAN</a:t>
            </a:r>
            <a:r>
              <a:rPr lang="zh-CN" altLang="en-US" b="1" dirty="0">
                <a:latin typeface="微软雅黑" pitchFamily="34" charset="-122"/>
                <a:ea typeface="微软雅黑" pitchFamily="34" charset="-122"/>
              </a:rPr>
              <a:t>包含数百台</a:t>
            </a:r>
            <a:r>
              <a:rPr lang="zh-CN" altLang="en-US" b="1" dirty="0" smtClean="0">
                <a:latin typeface="微软雅黑" pitchFamily="34" charset="-122"/>
                <a:ea typeface="微软雅黑" pitchFamily="34" charset="-122"/>
              </a:rPr>
              <a:t>服务器。</a:t>
            </a:r>
            <a:endParaRPr lang="zh-CN" altLang="en-US"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数据</a:t>
            </a:r>
            <a:r>
              <a:rPr lang="zh-CN" altLang="en-US" b="1" dirty="0">
                <a:latin typeface="微软雅黑" pitchFamily="34" charset="-122"/>
                <a:ea typeface="微软雅黑" pitchFamily="34" charset="-122"/>
              </a:rPr>
              <a:t>中心网络中引入了大量的</a:t>
            </a:r>
            <a:r>
              <a:rPr lang="zh-CN" altLang="en-US" b="1" dirty="0">
                <a:solidFill>
                  <a:srgbClr val="C00000"/>
                </a:solidFill>
                <a:latin typeface="微软雅黑" pitchFamily="34" charset="-122"/>
                <a:ea typeface="微软雅黑" pitchFamily="34" charset="-122"/>
              </a:rPr>
              <a:t>冗余网络设备与冗余链路</a:t>
            </a:r>
            <a:r>
              <a:rPr lang="zh-CN" altLang="en-US" b="1" dirty="0">
                <a:latin typeface="微软雅黑" pitchFamily="34" charset="-122"/>
                <a:ea typeface="微软雅黑" pitchFamily="34" charset="-122"/>
              </a:rPr>
              <a:t>，以满足云计算等服务对可用性的要求</a:t>
            </a:r>
            <a:r>
              <a:rPr lang="zh-CN" altLang="en-US" b="1" dirty="0" smtClean="0">
                <a:latin typeface="微软雅黑" pitchFamily="34" charset="-122"/>
                <a:ea typeface="微软雅黑" pitchFamily="34" charset="-122"/>
              </a:rPr>
              <a:t>。汇聚</a:t>
            </a:r>
            <a:r>
              <a:rPr lang="zh-CN" altLang="en-US" b="1" dirty="0">
                <a:latin typeface="微软雅黑" pitchFamily="34" charset="-122"/>
                <a:ea typeface="微软雅黑" pitchFamily="34" charset="-122"/>
              </a:rPr>
              <a:t>交换机、核心交换机、接入路由器等都实现了冗余备份，且</a:t>
            </a:r>
            <a:r>
              <a:rPr lang="en-US" altLang="zh-CN" b="1" dirty="0" err="1">
                <a:latin typeface="微软雅黑" pitchFamily="34" charset="-122"/>
                <a:ea typeface="微软雅黑" pitchFamily="34" charset="-122"/>
              </a:rPr>
              <a:t>ToR</a:t>
            </a:r>
            <a:r>
              <a:rPr lang="zh-CN" altLang="en-US" b="1" dirty="0">
                <a:latin typeface="微软雅黑" pitchFamily="34" charset="-122"/>
                <a:ea typeface="微软雅黑" pitchFamily="34" charset="-122"/>
              </a:rPr>
              <a:t>交换机、汇聚交换机等均</a:t>
            </a:r>
            <a:r>
              <a:rPr lang="zh-CN" altLang="en-US" b="1" dirty="0" smtClean="0">
                <a:latin typeface="微软雅黑" pitchFamily="34" charset="-122"/>
                <a:ea typeface="微软雅黑" pitchFamily="34" charset="-122"/>
              </a:rPr>
              <a:t>接入</a:t>
            </a:r>
            <a:r>
              <a:rPr lang="en-US" altLang="zh-CN" b="1" dirty="0" smtClean="0">
                <a:latin typeface="微软雅黑" pitchFamily="34" charset="-122"/>
                <a:ea typeface="微软雅黑" pitchFamily="34" charset="-122"/>
              </a:rPr>
              <a:t>2</a:t>
            </a:r>
            <a:r>
              <a:rPr lang="zh-CN" altLang="en-US" b="1" dirty="0">
                <a:latin typeface="微软雅黑" pitchFamily="34" charset="-122"/>
                <a:ea typeface="微软雅黑" pitchFamily="34" charset="-122"/>
              </a:rPr>
              <a:t>台上层设备，这样</a:t>
            </a:r>
            <a:r>
              <a:rPr lang="zh-CN" altLang="en-US" b="1" dirty="0">
                <a:solidFill>
                  <a:srgbClr val="C00000"/>
                </a:solidFill>
                <a:latin typeface="微软雅黑" pitchFamily="34" charset="-122"/>
                <a:ea typeface="微软雅黑" pitchFamily="34" charset="-122"/>
              </a:rPr>
              <a:t>即使其中某台设备或某条链路出现故障，也不会影响数据中心网络的整体连通性</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0148431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bg1"/>
                </a:solidFill>
                <a:latin typeface="微软雅黑" pitchFamily="34" charset="-122"/>
                <a:ea typeface="微软雅黑" pitchFamily="34" charset="-122"/>
              </a:rPr>
              <a:t>数据中心网络</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数据中心网络内的流量主要包括两类：</a:t>
            </a: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外部</a:t>
            </a:r>
            <a:r>
              <a:rPr lang="zh-CN" altLang="en-US" sz="1600" b="1" dirty="0">
                <a:latin typeface="微软雅黑" pitchFamily="34" charset="-122"/>
                <a:ea typeface="微软雅黑" pitchFamily="34" charset="-122"/>
              </a:rPr>
              <a:t>用户访问数据中心服务器的流量，又称为</a:t>
            </a:r>
            <a:r>
              <a:rPr lang="zh-CN" altLang="en-US" sz="1600" b="1" dirty="0">
                <a:solidFill>
                  <a:srgbClr val="C00000"/>
                </a:solidFill>
                <a:latin typeface="微软雅黑" pitchFamily="34" charset="-122"/>
                <a:ea typeface="微软雅黑" pitchFamily="34" charset="-122"/>
              </a:rPr>
              <a:t>南北向流量</a:t>
            </a:r>
            <a:r>
              <a:rPr lang="zh-CN" altLang="en-US" sz="1600" b="1" dirty="0">
                <a:latin typeface="微软雅黑" pitchFamily="34" charset="-122"/>
                <a:ea typeface="微软雅黑" pitchFamily="34" charset="-122"/>
              </a:rPr>
              <a:t>；</a:t>
            </a: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数据</a:t>
            </a:r>
            <a:r>
              <a:rPr lang="zh-CN" altLang="en-US" sz="1600" b="1" dirty="0">
                <a:latin typeface="微软雅黑" pitchFamily="34" charset="-122"/>
                <a:ea typeface="微软雅黑" pitchFamily="34" charset="-122"/>
              </a:rPr>
              <a:t>中心服务器之间的流量，又称为</a:t>
            </a:r>
            <a:r>
              <a:rPr lang="zh-CN" altLang="en-US" sz="1600" b="1" dirty="0">
                <a:solidFill>
                  <a:srgbClr val="C00000"/>
                </a:solidFill>
                <a:latin typeface="微软雅黑" pitchFamily="34" charset="-122"/>
                <a:ea typeface="微软雅黑" pitchFamily="34" charset="-122"/>
              </a:rPr>
              <a:t>东西向流量</a:t>
            </a:r>
            <a:r>
              <a:rPr lang="zh-CN" altLang="en-US" sz="1600" b="1" dirty="0">
                <a:latin typeface="微软雅黑" pitchFamily="34" charset="-122"/>
                <a:ea typeface="微软雅黑" pitchFamily="34" charset="-122"/>
              </a:rPr>
              <a:t>。</a:t>
            </a: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传统数据</a:t>
            </a:r>
            <a:r>
              <a:rPr lang="zh-CN" altLang="en-US" b="1" dirty="0" smtClean="0">
                <a:latin typeface="微软雅黑" pitchFamily="34" charset="-122"/>
                <a:ea typeface="微软雅黑" pitchFamily="34" charset="-122"/>
              </a:rPr>
              <a:t>中心主要部署的是</a:t>
            </a:r>
            <a:r>
              <a:rPr lang="en-US" altLang="zh-CN" b="1" dirty="0" smtClean="0">
                <a:latin typeface="微软雅黑" pitchFamily="34" charset="-122"/>
                <a:ea typeface="微软雅黑" pitchFamily="34" charset="-122"/>
              </a:rPr>
              <a:t>Web</a:t>
            </a:r>
            <a:r>
              <a:rPr lang="zh-CN" altLang="en-US" b="1" dirty="0" smtClean="0">
                <a:latin typeface="微软雅黑" pitchFamily="34" charset="-122"/>
                <a:ea typeface="微软雅黑" pitchFamily="34" charset="-122"/>
              </a:rPr>
              <a:t>服务器、流媒体服务器等，其核心</a:t>
            </a:r>
            <a:r>
              <a:rPr lang="zh-CN" altLang="en-US" b="1" dirty="0">
                <a:latin typeface="微软雅黑" pitchFamily="34" charset="-122"/>
                <a:ea typeface="微软雅黑" pitchFamily="34" charset="-122"/>
              </a:rPr>
              <a:t>功能就是向用户提供数据传输服务，因此流量大部分是从互联网访问这些服务器的</a:t>
            </a:r>
            <a:r>
              <a:rPr lang="zh-CN" altLang="en-US" b="1" dirty="0">
                <a:solidFill>
                  <a:srgbClr val="C00000"/>
                </a:solidFill>
                <a:latin typeface="微软雅黑" pitchFamily="34" charset="-122"/>
                <a:ea typeface="微软雅黑" pitchFamily="34" charset="-122"/>
              </a:rPr>
              <a:t>南北向流量</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smtClean="0">
                <a:latin typeface="微软雅黑" pitchFamily="34" charset="-122"/>
                <a:ea typeface="微软雅黑" pitchFamily="34" charset="-122"/>
              </a:rPr>
              <a:t>随着</a:t>
            </a:r>
            <a:r>
              <a:rPr lang="zh-CN" altLang="en-US" b="1" dirty="0">
                <a:latin typeface="微软雅黑" pitchFamily="34" charset="-122"/>
                <a:ea typeface="微软雅黑" pitchFamily="34" charset="-122"/>
              </a:rPr>
              <a:t>云计算概念的兴起</a:t>
            </a:r>
            <a:r>
              <a:rPr lang="zh-CN" altLang="en-US" b="1" dirty="0" smtClean="0">
                <a:latin typeface="微软雅黑" pitchFamily="34" charset="-122"/>
                <a:ea typeface="微软雅黑" pitchFamily="34" charset="-122"/>
              </a:rPr>
              <a:t>，数据</a:t>
            </a:r>
            <a:r>
              <a:rPr lang="zh-CN" altLang="en-US" b="1" dirty="0">
                <a:latin typeface="微软雅黑" pitchFamily="34" charset="-122"/>
                <a:ea typeface="微软雅黑" pitchFamily="34" charset="-122"/>
              </a:rPr>
              <a:t>中心内运行的虚拟机越来越多，且这些虚拟机需要相互协作完成某个</a:t>
            </a:r>
            <a:r>
              <a:rPr lang="zh-CN" altLang="en-US" b="1" dirty="0" smtClean="0">
                <a:latin typeface="微软雅黑" pitchFamily="34" charset="-122"/>
                <a:ea typeface="微软雅黑" pitchFamily="34" charset="-122"/>
              </a:rPr>
              <a:t>任务，</a:t>
            </a:r>
            <a:r>
              <a:rPr lang="zh-CN" altLang="en-US" b="1" dirty="0" smtClean="0">
                <a:solidFill>
                  <a:srgbClr val="C00000"/>
                </a:solidFill>
                <a:latin typeface="微软雅黑" pitchFamily="34" charset="-122"/>
                <a:ea typeface="微软雅黑" pitchFamily="34" charset="-122"/>
              </a:rPr>
              <a:t>东西</a:t>
            </a:r>
            <a:r>
              <a:rPr lang="zh-CN" altLang="en-US" b="1" dirty="0">
                <a:solidFill>
                  <a:srgbClr val="C00000"/>
                </a:solidFill>
                <a:latin typeface="微软雅黑" pitchFamily="34" charset="-122"/>
                <a:ea typeface="微软雅黑" pitchFamily="34" charset="-122"/>
              </a:rPr>
              <a:t>向流量</a:t>
            </a:r>
            <a:r>
              <a:rPr lang="zh-CN" altLang="en-US" b="1" dirty="0">
                <a:latin typeface="微软雅黑" pitchFamily="34" charset="-122"/>
                <a:ea typeface="微软雅黑" pitchFamily="34" charset="-122"/>
              </a:rPr>
              <a:t>逐渐占据了主导地位</a:t>
            </a:r>
            <a:r>
              <a:rPr lang="zh-CN" altLang="en-US" b="1" dirty="0" smtClean="0">
                <a:latin typeface="微软雅黑" pitchFamily="34" charset="-122"/>
                <a:ea typeface="微软雅黑" pitchFamily="34" charset="-122"/>
              </a:rPr>
              <a:t>。</a:t>
            </a:r>
            <a:endParaRPr lang="zh-CN" altLang="en-US" b="1" dirty="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267455344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典型数据中心网络结构</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1974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数据中心网络的基本设计目标，是采用特定的网络互联结构连接数量众多的服务器和网络设备，以达到优化数据中心在计算和存储等方面性能的目标。</a:t>
            </a:r>
            <a:r>
              <a:rPr lang="zh-CN" altLang="en-US" b="1" dirty="0">
                <a:solidFill>
                  <a:srgbClr val="C00000"/>
                </a:solidFill>
                <a:latin typeface="微软雅黑" pitchFamily="34" charset="-122"/>
                <a:ea typeface="微软雅黑" pitchFamily="34" charset="-122"/>
              </a:rPr>
              <a:t>网络互联结构的设计是影响数据中心网络性能的决定性因素</a:t>
            </a:r>
            <a:r>
              <a:rPr lang="zh-CN" altLang="en-US" b="1" dirty="0">
                <a:latin typeface="微软雅黑" pitchFamily="34" charset="-122"/>
                <a:ea typeface="微软雅黑" pitchFamily="34" charset="-122"/>
              </a:rPr>
              <a:t>。并且，数据中心网络结构还与数据中心所运行的主要应用、以及数据中心内部的流量特征等密切相关</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258906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胖树</a:t>
            </a:r>
            <a:r>
              <a:rPr lang="en-US" altLang="zh-CN" sz="2400" b="1" dirty="0">
                <a:solidFill>
                  <a:schemeClr val="bg1"/>
                </a:solidFill>
                <a:latin typeface="微软雅黑" pitchFamily="34" charset="-122"/>
                <a:ea typeface="微软雅黑" pitchFamily="34" charset="-122"/>
              </a:rPr>
              <a:t>(Fat-Tree)</a:t>
            </a:r>
            <a:r>
              <a:rPr lang="zh-CN" altLang="en-US" sz="2400" b="1" dirty="0">
                <a:solidFill>
                  <a:schemeClr val="bg1"/>
                </a:solidFill>
                <a:latin typeface="微软雅黑" pitchFamily="34" charset="-122"/>
                <a:ea typeface="微软雅黑" pitchFamily="34" charset="-122"/>
              </a:rPr>
              <a:t>结构</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0195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Fat-Tree</a:t>
            </a:r>
            <a:r>
              <a:rPr lang="zh-CN" altLang="en-US" b="1" dirty="0">
                <a:latin typeface="微软雅黑" pitchFamily="34" charset="-122"/>
                <a:ea typeface="微软雅黑" pitchFamily="34" charset="-122"/>
              </a:rPr>
              <a:t>网络结构分为</a:t>
            </a:r>
            <a:r>
              <a:rPr lang="en-US" altLang="zh-CN" b="1" dirty="0">
                <a:latin typeface="微软雅黑" pitchFamily="34" charset="-122"/>
                <a:ea typeface="微软雅黑" pitchFamily="34" charset="-122"/>
              </a:rPr>
              <a:t>3</a:t>
            </a:r>
            <a:r>
              <a:rPr lang="zh-CN" altLang="en-US" b="1" dirty="0">
                <a:latin typeface="微软雅黑" pitchFamily="34" charset="-122"/>
                <a:ea typeface="微软雅黑" pitchFamily="34" charset="-122"/>
              </a:rPr>
              <a:t>层，从上到下依次为</a:t>
            </a:r>
            <a:r>
              <a:rPr lang="zh-CN" altLang="en-US" b="1" dirty="0">
                <a:solidFill>
                  <a:srgbClr val="C00000"/>
                </a:solidFill>
                <a:latin typeface="微软雅黑" pitchFamily="34" charset="-122"/>
                <a:ea typeface="微软雅黑" pitchFamily="34" charset="-122"/>
              </a:rPr>
              <a:t>核心层、汇聚层和边缘层</a:t>
            </a:r>
            <a:r>
              <a:rPr lang="zh-CN" altLang="en-US" b="1" dirty="0">
                <a:latin typeface="微软雅黑" pitchFamily="34" charset="-122"/>
                <a:ea typeface="微软雅黑" pitchFamily="34" charset="-122"/>
              </a:rPr>
              <a:t>，对应的交换机依次称为</a:t>
            </a:r>
            <a:r>
              <a:rPr lang="zh-CN" altLang="en-US" b="1" dirty="0">
                <a:solidFill>
                  <a:srgbClr val="C00000"/>
                </a:solidFill>
                <a:latin typeface="微软雅黑" pitchFamily="34" charset="-122"/>
                <a:ea typeface="微软雅黑" pitchFamily="34" charset="-122"/>
              </a:rPr>
              <a:t>核心交换机、汇聚交换机和边缘交换机</a:t>
            </a:r>
            <a:r>
              <a:rPr lang="zh-CN" altLang="en-US" b="1" dirty="0">
                <a:latin typeface="微软雅黑" pitchFamily="34" charset="-122"/>
                <a:ea typeface="微软雅黑" pitchFamily="34" charset="-122"/>
              </a:rPr>
              <a:t>。在</a:t>
            </a:r>
            <a:r>
              <a:rPr lang="en-US" altLang="zh-CN" b="1" dirty="0">
                <a:latin typeface="微软雅黑" pitchFamily="34" charset="-122"/>
                <a:ea typeface="微软雅黑" pitchFamily="34" charset="-122"/>
              </a:rPr>
              <a:t>Fat-Tree</a:t>
            </a:r>
            <a:r>
              <a:rPr lang="zh-CN" altLang="en-US" b="1" dirty="0">
                <a:latin typeface="微软雅黑" pitchFamily="34" charset="-122"/>
                <a:ea typeface="微软雅黑" pitchFamily="34" charset="-122"/>
              </a:rPr>
              <a:t>结构中，所有的交换机都完全相同。若交换机的端口数量为</a:t>
            </a:r>
            <a:r>
              <a:rPr lang="en-US" altLang="zh-CN" b="1" i="1" dirty="0">
                <a:latin typeface="微软雅黑" pitchFamily="34" charset="-122"/>
                <a:ea typeface="微软雅黑" pitchFamily="34" charset="-122"/>
              </a:rPr>
              <a:t>k</a:t>
            </a:r>
            <a:r>
              <a:rPr lang="zh-CN" altLang="en-US" b="1" dirty="0">
                <a:latin typeface="微软雅黑" pitchFamily="34" charset="-122"/>
                <a:ea typeface="微软雅黑" pitchFamily="34" charset="-122"/>
              </a:rPr>
              <a:t>时（</a:t>
            </a:r>
            <a:r>
              <a:rPr lang="en-US" altLang="zh-CN" b="1" i="1" dirty="0">
                <a:latin typeface="微软雅黑" pitchFamily="34" charset="-122"/>
                <a:ea typeface="微软雅黑" pitchFamily="34" charset="-122"/>
              </a:rPr>
              <a:t>k</a:t>
            </a:r>
            <a:r>
              <a:rPr lang="zh-CN" altLang="en-US" b="1" dirty="0">
                <a:latin typeface="微软雅黑" pitchFamily="34" charset="-122"/>
                <a:ea typeface="微软雅黑" pitchFamily="34" charset="-122"/>
              </a:rPr>
              <a:t>必须为偶数），称该网络为一个</a:t>
            </a:r>
            <a:r>
              <a:rPr lang="en-US" altLang="zh-CN" b="1" i="1" dirty="0">
                <a:latin typeface="微软雅黑" pitchFamily="34" charset="-122"/>
                <a:ea typeface="微软雅黑" pitchFamily="34" charset="-122"/>
              </a:rPr>
              <a:t>k</a:t>
            </a:r>
            <a:r>
              <a:rPr lang="zh-CN" altLang="en-US" b="1" dirty="0">
                <a:latin typeface="微软雅黑" pitchFamily="34" charset="-122"/>
                <a:ea typeface="微软雅黑" pitchFamily="34" charset="-122"/>
              </a:rPr>
              <a:t>元</a:t>
            </a:r>
            <a:r>
              <a:rPr lang="en-US" altLang="zh-CN" b="1" dirty="0">
                <a:latin typeface="微软雅黑" pitchFamily="34" charset="-122"/>
                <a:ea typeface="微软雅黑" pitchFamily="34" charset="-122"/>
              </a:rPr>
              <a:t>(</a:t>
            </a:r>
            <a:r>
              <a:rPr lang="en-US" altLang="zh-CN" b="1" i="1" dirty="0">
                <a:latin typeface="微软雅黑" pitchFamily="34" charset="-122"/>
                <a:ea typeface="微软雅黑" pitchFamily="34" charset="-122"/>
              </a:rPr>
              <a:t>k</a:t>
            </a:r>
            <a:r>
              <a:rPr lang="en-US" altLang="zh-CN" b="1" dirty="0">
                <a:latin typeface="微软雅黑" pitchFamily="34" charset="-122"/>
                <a:ea typeface="微软雅黑" pitchFamily="34" charset="-122"/>
              </a:rPr>
              <a:t>-</a:t>
            </a:r>
            <a:r>
              <a:rPr lang="en-US" altLang="zh-CN" b="1" dirty="0" err="1">
                <a:latin typeface="微软雅黑" pitchFamily="34" charset="-122"/>
                <a:ea typeface="微软雅黑" pitchFamily="34" charset="-122"/>
              </a:rPr>
              <a:t>ary</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的</a:t>
            </a:r>
            <a:r>
              <a:rPr lang="en-US" altLang="zh-CN" b="1" dirty="0">
                <a:latin typeface="微软雅黑" pitchFamily="34" charset="-122"/>
                <a:ea typeface="微软雅黑" pitchFamily="34" charset="-122"/>
              </a:rPr>
              <a:t>Fat-Tree</a:t>
            </a:r>
            <a:r>
              <a:rPr lang="zh-CN" altLang="en-US" b="1" dirty="0">
                <a:latin typeface="微软雅黑" pitchFamily="34" charset="-122"/>
                <a:ea typeface="微软雅黑" pitchFamily="34" charset="-122"/>
              </a:rPr>
              <a:t>数据中心</a:t>
            </a:r>
            <a:r>
              <a:rPr lang="zh-CN" altLang="en-US" b="1" dirty="0" smtClean="0">
                <a:latin typeface="微软雅黑" pitchFamily="34" charset="-122"/>
                <a:ea typeface="微软雅黑" pitchFamily="34" charset="-122"/>
              </a:rPr>
              <a:t>网络。</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en-US" altLang="zh-CN" sz="1600" b="1" i="1" dirty="0" smtClean="0">
                <a:latin typeface="微软雅黑" pitchFamily="34" charset="-122"/>
                <a:ea typeface="微软雅黑" pitchFamily="34" charset="-122"/>
              </a:rPr>
              <a:t>k</a:t>
            </a:r>
            <a:r>
              <a:rPr lang="zh-CN" altLang="en-US" sz="1600" b="1" dirty="0">
                <a:latin typeface="微软雅黑" pitchFamily="34" charset="-122"/>
                <a:ea typeface="微软雅黑" pitchFamily="34" charset="-122"/>
              </a:rPr>
              <a:t>个</a:t>
            </a:r>
            <a:r>
              <a:rPr lang="en-US" altLang="zh-CN" sz="1600" b="1" dirty="0">
                <a:latin typeface="微软雅黑" pitchFamily="34" charset="-122"/>
                <a:ea typeface="微软雅黑" pitchFamily="34" charset="-122"/>
              </a:rPr>
              <a:t>Pod</a:t>
            </a:r>
            <a:r>
              <a:rPr lang="zh-CN" altLang="en-US" sz="1600" b="1" dirty="0" smtClean="0">
                <a:latin typeface="微软雅黑" pitchFamily="34" charset="-122"/>
                <a:ea typeface="微软雅黑" pitchFamily="34" charset="-122"/>
              </a:rPr>
              <a:t>，每个</a:t>
            </a:r>
            <a:r>
              <a:rPr lang="en-US" altLang="zh-CN" sz="1600" b="1" dirty="0">
                <a:latin typeface="微软雅黑" pitchFamily="34" charset="-122"/>
                <a:ea typeface="微软雅黑" pitchFamily="34" charset="-122"/>
              </a:rPr>
              <a:t>Pod</a:t>
            </a:r>
            <a:r>
              <a:rPr lang="zh-CN" altLang="en-US" sz="1600" b="1" dirty="0">
                <a:latin typeface="微软雅黑" pitchFamily="34" charset="-122"/>
                <a:ea typeface="微软雅黑" pitchFamily="34" charset="-122"/>
              </a:rPr>
              <a:t>包含</a:t>
            </a:r>
            <a:r>
              <a:rPr lang="en-US" altLang="zh-CN" sz="1600" b="1" i="1" dirty="0">
                <a:latin typeface="微软雅黑" pitchFamily="34" charset="-122"/>
                <a:ea typeface="微软雅黑" pitchFamily="34" charset="-122"/>
              </a:rPr>
              <a:t>k</a:t>
            </a:r>
            <a:r>
              <a:rPr lang="en-US" altLang="zh-CN" sz="1600" b="1" dirty="0">
                <a:latin typeface="微软雅黑" pitchFamily="34" charset="-122"/>
                <a:ea typeface="微软雅黑" pitchFamily="34" charset="-122"/>
              </a:rPr>
              <a:t>/2</a:t>
            </a:r>
            <a:r>
              <a:rPr lang="zh-CN" altLang="en-US" sz="1600" b="1" dirty="0">
                <a:latin typeface="微软雅黑" pitchFamily="34" charset="-122"/>
                <a:ea typeface="微软雅黑" pitchFamily="34" charset="-122"/>
              </a:rPr>
              <a:t>个边缘交换机和</a:t>
            </a:r>
            <a:r>
              <a:rPr lang="en-US" altLang="zh-CN" sz="1600" b="1" i="1" dirty="0">
                <a:latin typeface="微软雅黑" pitchFamily="34" charset="-122"/>
                <a:ea typeface="微软雅黑" pitchFamily="34" charset="-122"/>
              </a:rPr>
              <a:t>k</a:t>
            </a:r>
            <a:r>
              <a:rPr lang="en-US" altLang="zh-CN" sz="1600" b="1" dirty="0">
                <a:latin typeface="微软雅黑" pitchFamily="34" charset="-122"/>
                <a:ea typeface="微软雅黑" pitchFamily="34" charset="-122"/>
              </a:rPr>
              <a:t>/2</a:t>
            </a:r>
            <a:r>
              <a:rPr lang="zh-CN" altLang="en-US" sz="1600" b="1" dirty="0">
                <a:latin typeface="微软雅黑" pitchFamily="34" charset="-122"/>
                <a:ea typeface="微软雅黑" pitchFamily="34" charset="-122"/>
              </a:rPr>
              <a:t>个汇聚交换机，每个边缘交换机连接</a:t>
            </a:r>
            <a:r>
              <a:rPr lang="en-US" altLang="zh-CN" sz="1600" b="1" i="1" dirty="0">
                <a:latin typeface="微软雅黑" pitchFamily="34" charset="-122"/>
                <a:ea typeface="微软雅黑" pitchFamily="34" charset="-122"/>
              </a:rPr>
              <a:t>k</a:t>
            </a:r>
            <a:r>
              <a:rPr lang="en-US" altLang="zh-CN" sz="1600" b="1" dirty="0">
                <a:latin typeface="微软雅黑" pitchFamily="34" charset="-122"/>
                <a:ea typeface="微软雅黑" pitchFamily="34" charset="-122"/>
              </a:rPr>
              <a:t>/2</a:t>
            </a:r>
            <a:r>
              <a:rPr lang="zh-CN" altLang="en-US" sz="1600" b="1" dirty="0">
                <a:latin typeface="微软雅黑" pitchFamily="34" charset="-122"/>
                <a:ea typeface="微软雅黑" pitchFamily="34" charset="-122"/>
              </a:rPr>
              <a:t>个主机，因此每个</a:t>
            </a:r>
            <a:r>
              <a:rPr lang="en-US" altLang="zh-CN" sz="1600" b="1" dirty="0">
                <a:latin typeface="微软雅黑" pitchFamily="34" charset="-122"/>
                <a:ea typeface="微软雅黑" pitchFamily="34" charset="-122"/>
              </a:rPr>
              <a:t>Pod</a:t>
            </a:r>
            <a:r>
              <a:rPr lang="zh-CN" altLang="en-US" sz="1600" b="1" dirty="0">
                <a:latin typeface="微软雅黑" pitchFamily="34" charset="-122"/>
                <a:ea typeface="微软雅黑" pitchFamily="34" charset="-122"/>
              </a:rPr>
              <a:t>内包含</a:t>
            </a:r>
            <a:r>
              <a:rPr lang="en-US" altLang="zh-CN" sz="1600" b="1" i="1" dirty="0">
                <a:latin typeface="微软雅黑" pitchFamily="34" charset="-122"/>
                <a:ea typeface="微软雅黑" pitchFamily="34" charset="-122"/>
              </a:rPr>
              <a:t>k</a:t>
            </a:r>
            <a:r>
              <a:rPr lang="en-US" altLang="zh-CN" sz="1600" b="1" baseline="30000" dirty="0">
                <a:latin typeface="微软雅黑" pitchFamily="34" charset="-122"/>
                <a:ea typeface="微软雅黑" pitchFamily="34" charset="-122"/>
              </a:rPr>
              <a:t>2</a:t>
            </a:r>
            <a:r>
              <a:rPr lang="en-US" altLang="zh-CN" sz="1600" b="1" dirty="0">
                <a:latin typeface="微软雅黑" pitchFamily="34" charset="-122"/>
                <a:ea typeface="微软雅黑" pitchFamily="34" charset="-122"/>
              </a:rPr>
              <a:t>/4</a:t>
            </a:r>
            <a:r>
              <a:rPr lang="zh-CN" altLang="en-US" sz="1600" b="1" dirty="0">
                <a:latin typeface="微软雅黑" pitchFamily="34" charset="-122"/>
                <a:ea typeface="微软雅黑" pitchFamily="34" charset="-122"/>
              </a:rPr>
              <a:t>台服务器</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smtClean="0">
                <a:latin typeface="微软雅黑" pitchFamily="34" charset="-122"/>
                <a:ea typeface="微软雅黑" pitchFamily="34" charset="-122"/>
              </a:rPr>
              <a:t>每个</a:t>
            </a:r>
            <a:r>
              <a:rPr lang="en-US" altLang="zh-CN" sz="1600" b="1" dirty="0">
                <a:latin typeface="微软雅黑" pitchFamily="34" charset="-122"/>
                <a:ea typeface="微软雅黑" pitchFamily="34" charset="-122"/>
              </a:rPr>
              <a:t>Pod</a:t>
            </a:r>
            <a:r>
              <a:rPr lang="zh-CN" altLang="en-US" sz="1600" b="1" dirty="0">
                <a:latin typeface="微软雅黑" pitchFamily="34" charset="-122"/>
                <a:ea typeface="微软雅黑" pitchFamily="34" charset="-122"/>
              </a:rPr>
              <a:t>的内部结构相同，可以按需进行堆叠式扩展。整个网络中共有</a:t>
            </a:r>
            <a:r>
              <a:rPr lang="en-US" altLang="zh-CN" sz="1600" b="1" i="1" dirty="0">
                <a:latin typeface="微软雅黑" pitchFamily="34" charset="-122"/>
                <a:ea typeface="微软雅黑" pitchFamily="34" charset="-122"/>
              </a:rPr>
              <a:t>k</a:t>
            </a:r>
            <a:r>
              <a:rPr lang="en-US" altLang="zh-CN" sz="1600" b="1" baseline="30000" dirty="0">
                <a:latin typeface="微软雅黑" pitchFamily="34" charset="-122"/>
                <a:ea typeface="微软雅黑" pitchFamily="34" charset="-122"/>
              </a:rPr>
              <a:t>2</a:t>
            </a:r>
            <a:r>
              <a:rPr lang="en-US" altLang="zh-CN" sz="1600" b="1" dirty="0">
                <a:latin typeface="微软雅黑" pitchFamily="34" charset="-122"/>
                <a:ea typeface="微软雅黑" pitchFamily="34" charset="-122"/>
              </a:rPr>
              <a:t>/2</a:t>
            </a:r>
            <a:r>
              <a:rPr lang="zh-CN" altLang="en-US" sz="1600" b="1" dirty="0">
                <a:latin typeface="微软雅黑" pitchFamily="34" charset="-122"/>
                <a:ea typeface="微软雅黑" pitchFamily="34" charset="-122"/>
              </a:rPr>
              <a:t>个边缘交换机和</a:t>
            </a:r>
            <a:r>
              <a:rPr lang="en-US" altLang="zh-CN" sz="1600" b="1" i="1" dirty="0">
                <a:latin typeface="微软雅黑" pitchFamily="34" charset="-122"/>
                <a:ea typeface="微软雅黑" pitchFamily="34" charset="-122"/>
              </a:rPr>
              <a:t>k</a:t>
            </a:r>
            <a:r>
              <a:rPr lang="en-US" altLang="zh-CN" sz="1600" b="1" baseline="30000" dirty="0">
                <a:latin typeface="微软雅黑" pitchFamily="34" charset="-122"/>
                <a:ea typeface="微软雅黑" pitchFamily="34" charset="-122"/>
              </a:rPr>
              <a:t>2</a:t>
            </a:r>
            <a:r>
              <a:rPr lang="en-US" altLang="zh-CN" sz="1600" b="1" dirty="0">
                <a:latin typeface="微软雅黑" pitchFamily="34" charset="-122"/>
                <a:ea typeface="微软雅黑" pitchFamily="34" charset="-122"/>
              </a:rPr>
              <a:t>/2</a:t>
            </a:r>
            <a:r>
              <a:rPr lang="zh-CN" altLang="en-US" sz="1600" b="1" dirty="0">
                <a:latin typeface="微软雅黑" pitchFamily="34" charset="-122"/>
                <a:ea typeface="微软雅黑" pitchFamily="34" charset="-122"/>
              </a:rPr>
              <a:t>个汇聚交换机，以及</a:t>
            </a:r>
            <a:r>
              <a:rPr lang="en-US" altLang="zh-CN" sz="1600" b="1" i="1" dirty="0">
                <a:latin typeface="微软雅黑" pitchFamily="34" charset="-122"/>
                <a:ea typeface="微软雅黑" pitchFamily="34" charset="-122"/>
              </a:rPr>
              <a:t>k</a:t>
            </a:r>
            <a:r>
              <a:rPr lang="en-US" altLang="zh-CN" sz="1600" b="1" baseline="30000" dirty="0">
                <a:latin typeface="微软雅黑" pitchFamily="34" charset="-122"/>
                <a:ea typeface="微软雅黑" pitchFamily="34" charset="-122"/>
              </a:rPr>
              <a:t>2</a:t>
            </a:r>
            <a:r>
              <a:rPr lang="en-US" altLang="zh-CN" sz="1600" b="1" dirty="0">
                <a:latin typeface="微软雅黑" pitchFamily="34" charset="-122"/>
                <a:ea typeface="微软雅黑" pitchFamily="34" charset="-122"/>
              </a:rPr>
              <a:t>/4</a:t>
            </a:r>
            <a:r>
              <a:rPr lang="zh-CN" altLang="en-US" sz="1600" b="1" dirty="0">
                <a:latin typeface="微软雅黑" pitchFamily="34" charset="-122"/>
                <a:ea typeface="微软雅黑" pitchFamily="34" charset="-122"/>
              </a:rPr>
              <a:t>个核心交换机和</a:t>
            </a:r>
            <a:r>
              <a:rPr lang="en-US" altLang="zh-CN" sz="1600" b="1" i="1" dirty="0">
                <a:latin typeface="微软雅黑" pitchFamily="34" charset="-122"/>
                <a:ea typeface="微软雅黑" pitchFamily="34" charset="-122"/>
              </a:rPr>
              <a:t>k</a:t>
            </a:r>
            <a:r>
              <a:rPr lang="en-US" altLang="zh-CN" sz="1600" b="1" baseline="30000" dirty="0">
                <a:latin typeface="微软雅黑" pitchFamily="34" charset="-122"/>
                <a:ea typeface="微软雅黑" pitchFamily="34" charset="-122"/>
              </a:rPr>
              <a:t>3</a:t>
            </a:r>
            <a:r>
              <a:rPr lang="en-US" altLang="zh-CN" sz="1600" b="1" dirty="0">
                <a:latin typeface="微软雅黑" pitchFamily="34" charset="-122"/>
                <a:ea typeface="微软雅黑" pitchFamily="34" charset="-122"/>
              </a:rPr>
              <a:t>/4</a:t>
            </a:r>
            <a:r>
              <a:rPr lang="zh-CN" altLang="en-US" sz="1600" b="1" dirty="0">
                <a:latin typeface="微软雅黑" pitchFamily="34" charset="-122"/>
                <a:ea typeface="微软雅黑" pitchFamily="34" charset="-122"/>
              </a:rPr>
              <a:t>台服务器，不同</a:t>
            </a:r>
            <a:r>
              <a:rPr lang="en-US" altLang="zh-CN" sz="1600" b="1" dirty="0">
                <a:latin typeface="微软雅黑" pitchFamily="34" charset="-122"/>
                <a:ea typeface="微软雅黑" pitchFamily="34" charset="-122"/>
              </a:rPr>
              <a:t>Pod</a:t>
            </a:r>
            <a:r>
              <a:rPr lang="zh-CN" altLang="en-US" sz="1600" b="1" dirty="0">
                <a:latin typeface="微软雅黑" pitchFamily="34" charset="-122"/>
                <a:ea typeface="微软雅黑" pitchFamily="34" charset="-122"/>
              </a:rPr>
              <a:t>中的主机存在</a:t>
            </a:r>
            <a:r>
              <a:rPr lang="en-US" altLang="zh-CN" sz="1600" b="1" i="1" dirty="0">
                <a:latin typeface="微软雅黑" pitchFamily="34" charset="-122"/>
                <a:ea typeface="微软雅黑" pitchFamily="34" charset="-122"/>
              </a:rPr>
              <a:t>k</a:t>
            </a:r>
            <a:r>
              <a:rPr lang="en-US" altLang="zh-CN" sz="1600" b="1" baseline="30000" dirty="0">
                <a:latin typeface="微软雅黑" pitchFamily="34" charset="-122"/>
                <a:ea typeface="微软雅黑" pitchFamily="34" charset="-122"/>
              </a:rPr>
              <a:t>2</a:t>
            </a:r>
            <a:r>
              <a:rPr lang="en-US" altLang="zh-CN" sz="1600" b="1" dirty="0">
                <a:latin typeface="微软雅黑" pitchFamily="34" charset="-122"/>
                <a:ea typeface="微软雅黑" pitchFamily="34" charset="-122"/>
              </a:rPr>
              <a:t>/4</a:t>
            </a:r>
            <a:r>
              <a:rPr lang="zh-CN" altLang="en-US" sz="1600" b="1" dirty="0">
                <a:latin typeface="微软雅黑" pitchFamily="34" charset="-122"/>
                <a:ea typeface="微软雅黑" pitchFamily="34" charset="-122"/>
              </a:rPr>
              <a:t>条传输路径</a:t>
            </a:r>
            <a:r>
              <a:rPr lang="zh-CN" altLang="en-US" sz="1600" b="1" dirty="0" smtClean="0">
                <a:latin typeface="微软雅黑" pitchFamily="34" charset="-122"/>
                <a:ea typeface="微软雅黑" pitchFamily="34" charset="-122"/>
              </a:rPr>
              <a:t>。</a:t>
            </a:r>
            <a:endParaRPr lang="en-US" altLang="zh-CN" sz="1600"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18689569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胖树</a:t>
            </a:r>
            <a:r>
              <a:rPr lang="en-US" altLang="zh-CN" sz="2400" b="1" dirty="0">
                <a:solidFill>
                  <a:schemeClr val="bg1"/>
                </a:solidFill>
                <a:latin typeface="微软雅黑" pitchFamily="34" charset="-122"/>
                <a:ea typeface="微软雅黑" pitchFamily="34" charset="-122"/>
              </a:rPr>
              <a:t>(Fat-Tree)</a:t>
            </a:r>
            <a:r>
              <a:rPr lang="zh-CN" altLang="en-US" sz="2400" b="1" dirty="0">
                <a:solidFill>
                  <a:schemeClr val="bg1"/>
                </a:solidFill>
                <a:latin typeface="微软雅黑" pitchFamily="34" charset="-122"/>
                <a:ea typeface="微软雅黑" pitchFamily="34" charset="-122"/>
              </a:rPr>
              <a:t>结构</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3639507"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i="1" dirty="0">
                <a:latin typeface="微软雅黑" pitchFamily="34" charset="-122"/>
                <a:ea typeface="微软雅黑" pitchFamily="34" charset="-122"/>
              </a:rPr>
              <a:t>k</a:t>
            </a:r>
            <a:r>
              <a:rPr lang="en-US" altLang="zh-CN" b="1" dirty="0">
                <a:latin typeface="微软雅黑" pitchFamily="34" charset="-122"/>
                <a:ea typeface="微软雅黑" pitchFamily="34" charset="-122"/>
              </a:rPr>
              <a:t> = 4</a:t>
            </a:r>
            <a:r>
              <a:rPr lang="zh-CN" altLang="en-US" b="1" dirty="0">
                <a:latin typeface="微软雅黑" pitchFamily="34" charset="-122"/>
                <a:ea typeface="微软雅黑" pitchFamily="34" charset="-122"/>
              </a:rPr>
              <a:t>的</a:t>
            </a:r>
            <a:r>
              <a:rPr lang="en-US" altLang="zh-CN" b="1" dirty="0">
                <a:latin typeface="微软雅黑" pitchFamily="34" charset="-122"/>
                <a:ea typeface="微软雅黑" pitchFamily="34" charset="-122"/>
              </a:rPr>
              <a:t>Fat-Tree</a:t>
            </a:r>
            <a:r>
              <a:rPr lang="zh-CN" altLang="en-US" b="1" dirty="0">
                <a:latin typeface="微软雅黑" pitchFamily="34" charset="-122"/>
                <a:ea typeface="微软雅黑" pitchFamily="34" charset="-122"/>
              </a:rPr>
              <a:t>结构</a:t>
            </a:r>
            <a:r>
              <a:rPr lang="zh-CN" altLang="en-US" b="1" dirty="0" smtClean="0">
                <a:latin typeface="微软雅黑" pitchFamily="34" charset="-122"/>
                <a:ea typeface="微软雅黑" pitchFamily="34" charset="-122"/>
              </a:rPr>
              <a:t>，具有</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个核心交换机和</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个</a:t>
            </a:r>
            <a:r>
              <a:rPr lang="en-US" altLang="zh-CN" b="1" dirty="0">
                <a:latin typeface="微软雅黑" pitchFamily="34" charset="-122"/>
                <a:ea typeface="微软雅黑" pitchFamily="34" charset="-122"/>
              </a:rPr>
              <a:t>Pod</a:t>
            </a:r>
            <a:r>
              <a:rPr lang="zh-CN" altLang="en-US" b="1" dirty="0">
                <a:latin typeface="微软雅黑" pitchFamily="34" charset="-122"/>
                <a:ea typeface="微软雅黑" pitchFamily="34" charset="-122"/>
              </a:rPr>
              <a:t>，每个</a:t>
            </a:r>
            <a:r>
              <a:rPr lang="en-US" altLang="zh-CN" b="1" dirty="0" smtClean="0">
                <a:latin typeface="微软雅黑" pitchFamily="34" charset="-122"/>
                <a:ea typeface="微软雅黑" pitchFamily="34" charset="-122"/>
              </a:rPr>
              <a:t>Pod</a:t>
            </a:r>
            <a:r>
              <a:rPr lang="zh-CN" altLang="en-US" b="1" dirty="0" smtClean="0">
                <a:latin typeface="微软雅黑" pitchFamily="34" charset="-122"/>
                <a:ea typeface="微软雅黑" pitchFamily="34" charset="-122"/>
              </a:rPr>
              <a:t>有</a:t>
            </a:r>
            <a:r>
              <a:rPr lang="en-US" altLang="zh-CN" b="1" dirty="0">
                <a:latin typeface="微软雅黑" pitchFamily="34" charset="-122"/>
                <a:ea typeface="微软雅黑" pitchFamily="34" charset="-122"/>
              </a:rPr>
              <a:t>2</a:t>
            </a:r>
            <a:r>
              <a:rPr lang="zh-CN" altLang="en-US" b="1" dirty="0">
                <a:latin typeface="微软雅黑" pitchFamily="34" charset="-122"/>
                <a:ea typeface="微软雅黑" pitchFamily="34" charset="-122"/>
              </a:rPr>
              <a:t>个边缘交换机、</a:t>
            </a:r>
            <a:r>
              <a:rPr lang="en-US" altLang="zh-CN" b="1" dirty="0">
                <a:latin typeface="微软雅黑" pitchFamily="34" charset="-122"/>
                <a:ea typeface="微软雅黑" pitchFamily="34" charset="-122"/>
              </a:rPr>
              <a:t>2</a:t>
            </a:r>
            <a:r>
              <a:rPr lang="zh-CN" altLang="en-US" b="1" dirty="0">
                <a:latin typeface="微软雅黑" pitchFamily="34" charset="-122"/>
                <a:ea typeface="微软雅黑" pitchFamily="34" charset="-122"/>
              </a:rPr>
              <a:t>个汇聚交换机，且每个边缘交换机连接</a:t>
            </a:r>
            <a:r>
              <a:rPr lang="en-US" altLang="zh-CN" b="1" dirty="0">
                <a:latin typeface="微软雅黑" pitchFamily="34" charset="-122"/>
                <a:ea typeface="微软雅黑" pitchFamily="34" charset="-122"/>
              </a:rPr>
              <a:t>2</a:t>
            </a:r>
            <a:r>
              <a:rPr lang="zh-CN" altLang="en-US" b="1" dirty="0">
                <a:latin typeface="微软雅黑" pitchFamily="34" charset="-122"/>
                <a:ea typeface="微软雅黑" pitchFamily="34" charset="-122"/>
              </a:rPr>
              <a:t>台服务器</a:t>
            </a:r>
            <a:r>
              <a:rPr lang="zh-CN" altLang="en-US" b="1" dirty="0" smtClean="0">
                <a:latin typeface="微软雅黑" pitchFamily="34" charset="-122"/>
                <a:ea typeface="微软雅黑" pitchFamily="34" charset="-122"/>
              </a:rPr>
              <a:t>。位于</a:t>
            </a:r>
            <a:r>
              <a:rPr lang="zh-CN" altLang="en-US" b="1" dirty="0">
                <a:latin typeface="微软雅黑" pitchFamily="34" charset="-122"/>
                <a:ea typeface="微软雅黑" pitchFamily="34" charset="-122"/>
              </a:rPr>
              <a:t>不同</a:t>
            </a:r>
            <a:r>
              <a:rPr lang="en-US" altLang="zh-CN" b="1" dirty="0">
                <a:latin typeface="微软雅黑" pitchFamily="34" charset="-122"/>
                <a:ea typeface="微软雅黑" pitchFamily="34" charset="-122"/>
              </a:rPr>
              <a:t>Pod</a:t>
            </a:r>
            <a:r>
              <a:rPr lang="zh-CN" altLang="en-US" b="1" dirty="0">
                <a:latin typeface="微软雅黑" pitchFamily="34" charset="-122"/>
                <a:ea typeface="微软雅黑" pitchFamily="34" charset="-122"/>
              </a:rPr>
              <a:t>的两台</a:t>
            </a:r>
            <a:r>
              <a:rPr lang="zh-CN" altLang="en-US" b="1" dirty="0" smtClean="0">
                <a:latin typeface="微软雅黑" pitchFamily="34" charset="-122"/>
                <a:ea typeface="微软雅黑" pitchFamily="34" charset="-122"/>
              </a:rPr>
              <a:t>服务器之间共存</a:t>
            </a:r>
            <a:r>
              <a:rPr lang="zh-CN" altLang="en-US" b="1" dirty="0">
                <a:latin typeface="微软雅黑" pitchFamily="34" charset="-122"/>
                <a:ea typeface="微软雅黑" pitchFamily="34" charset="-122"/>
              </a:rPr>
              <a:t>在</a:t>
            </a:r>
            <a:r>
              <a:rPr lang="en-US" altLang="zh-CN" b="1" dirty="0">
                <a:latin typeface="微软雅黑" pitchFamily="34" charset="-122"/>
                <a:ea typeface="微软雅黑" pitchFamily="34" charset="-122"/>
              </a:rPr>
              <a:t>4</a:t>
            </a:r>
            <a:r>
              <a:rPr lang="zh-CN" altLang="en-US" b="1" dirty="0">
                <a:latin typeface="微软雅黑" pitchFamily="34" charset="-122"/>
                <a:ea typeface="微软雅黑" pitchFamily="34" charset="-122"/>
              </a:rPr>
              <a:t>条端到端的</a:t>
            </a:r>
            <a:r>
              <a:rPr lang="zh-CN" altLang="en-US" b="1" dirty="0" smtClean="0">
                <a:latin typeface="微软雅黑" pitchFamily="34" charset="-122"/>
                <a:ea typeface="微软雅黑" pitchFamily="34" charset="-122"/>
              </a:rPr>
              <a:t>路径。</a:t>
            </a:r>
            <a:endParaRPr lang="en-US" altLang="zh-CN" sz="1600" b="1" dirty="0" smtClean="0">
              <a:latin typeface="微软雅黑" pitchFamily="34" charset="-122"/>
              <a:ea typeface="微软雅黑" pitchFamily="34"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91789648"/>
              </p:ext>
            </p:extLst>
          </p:nvPr>
        </p:nvGraphicFramePr>
        <p:xfrm>
          <a:off x="4622800" y="1549400"/>
          <a:ext cx="4521200" cy="2260600"/>
        </p:xfrm>
        <a:graphic>
          <a:graphicData uri="http://schemas.openxmlformats.org/presentationml/2006/ole">
            <mc:AlternateContent xmlns:mc="http://schemas.openxmlformats.org/markup-compatibility/2006">
              <mc:Choice xmlns:v="urn:schemas-microsoft-com:vml" Requires="v">
                <p:oleObj spid="_x0000_s28679" name="Visio" r:id="rId4" imgW="4518852" imgH="2255291" progId="Visio.Drawing.15">
                  <p:embed/>
                </p:oleObj>
              </mc:Choice>
              <mc:Fallback>
                <p:oleObj name="Visio" r:id="rId4" imgW="4518852" imgH="2255291"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2800" y="1549400"/>
                        <a:ext cx="4521200" cy="226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20527268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叶脊</a:t>
            </a:r>
            <a:r>
              <a:rPr lang="en-US" altLang="zh-CN" sz="2400" b="1" dirty="0">
                <a:solidFill>
                  <a:schemeClr val="bg1"/>
                </a:solidFill>
                <a:latin typeface="微软雅黑" pitchFamily="34" charset="-122"/>
                <a:ea typeface="微软雅黑" pitchFamily="34" charset="-122"/>
              </a:rPr>
              <a:t>(Spine-Leaf)</a:t>
            </a:r>
            <a:r>
              <a:rPr lang="zh-CN" altLang="en-US" sz="2400" b="1" dirty="0">
                <a:solidFill>
                  <a:schemeClr val="bg1"/>
                </a:solidFill>
                <a:latin typeface="微软雅黑" pitchFamily="34" charset="-122"/>
                <a:ea typeface="微软雅黑" pitchFamily="34" charset="-122"/>
              </a:rPr>
              <a:t>结构</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4217357"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叶脊结构采用</a:t>
            </a:r>
            <a:r>
              <a:rPr lang="zh-CN" altLang="en-US" b="1" dirty="0">
                <a:solidFill>
                  <a:srgbClr val="C00000"/>
                </a:solidFill>
                <a:latin typeface="微软雅黑" pitchFamily="34" charset="-122"/>
                <a:ea typeface="微软雅黑" pitchFamily="34" charset="-122"/>
              </a:rPr>
              <a:t>非对称两层扁平化结构</a:t>
            </a:r>
            <a:r>
              <a:rPr lang="zh-CN" altLang="en-US" b="1" dirty="0">
                <a:latin typeface="微软雅黑" pitchFamily="34" charset="-122"/>
                <a:ea typeface="微软雅黑" pitchFamily="34" charset="-122"/>
              </a:rPr>
              <a:t>的方式</a:t>
            </a:r>
            <a:r>
              <a:rPr lang="zh-CN" altLang="en-US" b="1" dirty="0" smtClean="0">
                <a:latin typeface="微软雅黑" pitchFamily="34" charset="-122"/>
                <a:ea typeface="微软雅黑" pitchFamily="34" charset="-122"/>
              </a:rPr>
              <a:t>，</a:t>
            </a:r>
            <a:r>
              <a:rPr lang="zh-CN" altLang="en-US" b="1" dirty="0">
                <a:latin typeface="微软雅黑" pitchFamily="34" charset="-122"/>
                <a:ea typeface="微软雅黑" pitchFamily="34" charset="-122"/>
              </a:rPr>
              <a:t>包括</a:t>
            </a:r>
            <a:r>
              <a:rPr lang="zh-CN" altLang="en-US" b="1" dirty="0">
                <a:solidFill>
                  <a:srgbClr val="C00000"/>
                </a:solidFill>
                <a:latin typeface="微软雅黑" pitchFamily="34" charset="-122"/>
                <a:ea typeface="微软雅黑" pitchFamily="34" charset="-122"/>
              </a:rPr>
              <a:t>脊层和叶层</a:t>
            </a:r>
            <a:r>
              <a:rPr lang="zh-CN" altLang="en-US" b="1" dirty="0">
                <a:latin typeface="微软雅黑" pitchFamily="34" charset="-122"/>
                <a:ea typeface="微软雅黑" pitchFamily="34" charset="-122"/>
              </a:rPr>
              <a:t>两个层次，分别由</a:t>
            </a:r>
            <a:r>
              <a:rPr lang="zh-CN" altLang="en-US" b="1" dirty="0">
                <a:solidFill>
                  <a:srgbClr val="C00000"/>
                </a:solidFill>
                <a:latin typeface="微软雅黑" pitchFamily="34" charset="-122"/>
                <a:ea typeface="微软雅黑" pitchFamily="34" charset="-122"/>
              </a:rPr>
              <a:t>脊交换机</a:t>
            </a:r>
            <a:r>
              <a:rPr lang="zh-CN" altLang="en-US" b="1" dirty="0">
                <a:latin typeface="微软雅黑" pitchFamily="34" charset="-122"/>
                <a:ea typeface="微软雅黑" pitchFamily="34" charset="-122"/>
              </a:rPr>
              <a:t>和</a:t>
            </a:r>
            <a:r>
              <a:rPr lang="zh-CN" altLang="en-US" b="1" dirty="0">
                <a:solidFill>
                  <a:srgbClr val="C00000"/>
                </a:solidFill>
                <a:latin typeface="微软雅黑" pitchFamily="34" charset="-122"/>
                <a:ea typeface="微软雅黑" pitchFamily="34" charset="-122"/>
              </a:rPr>
              <a:t>叶交换机</a:t>
            </a:r>
            <a:r>
              <a:rPr lang="zh-CN" altLang="en-US" b="1" dirty="0">
                <a:latin typeface="微软雅黑" pitchFamily="34" charset="-122"/>
                <a:ea typeface="微软雅黑" pitchFamily="34" charset="-122"/>
              </a:rPr>
              <a:t>组</a:t>
            </a:r>
            <a:r>
              <a:rPr lang="zh-CN" altLang="en-US" b="1" dirty="0" smtClean="0">
                <a:latin typeface="微软雅黑" pitchFamily="34" charset="-122"/>
                <a:ea typeface="微软雅黑" pitchFamily="34" charset="-122"/>
              </a:rPr>
              <a:t>成，通过</a:t>
            </a:r>
            <a:r>
              <a:rPr lang="zh-CN" altLang="en-US" b="1" dirty="0">
                <a:latin typeface="微软雅黑" pitchFamily="34" charset="-122"/>
                <a:ea typeface="微软雅黑" pitchFamily="34" charset="-122"/>
              </a:rPr>
              <a:t>水平扩展实现高带宽和弹性</a:t>
            </a:r>
            <a:r>
              <a:rPr lang="zh-CN" altLang="en-US" b="1" dirty="0" smtClean="0">
                <a:latin typeface="微软雅黑" pitchFamily="34" charset="-122"/>
                <a:ea typeface="微软雅黑" pitchFamily="34" charset="-122"/>
              </a:rPr>
              <a:t>扩展。</a:t>
            </a:r>
            <a:endParaRPr lang="en-US" altLang="zh-CN"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脊交换机仅</a:t>
            </a:r>
            <a:r>
              <a:rPr lang="zh-CN" altLang="en-US" b="1" dirty="0">
                <a:solidFill>
                  <a:srgbClr val="C00000"/>
                </a:solidFill>
                <a:latin typeface="微软雅黑" pitchFamily="34" charset="-122"/>
                <a:ea typeface="微软雅黑" pitchFamily="34" charset="-122"/>
              </a:rPr>
              <a:t>负责跨叶交换机的流量转发</a:t>
            </a:r>
            <a:r>
              <a:rPr lang="zh-CN" altLang="en-US" b="1" dirty="0">
                <a:latin typeface="微软雅黑" pitchFamily="34" charset="-122"/>
                <a:ea typeface="微软雅黑" pitchFamily="34" charset="-122"/>
              </a:rPr>
              <a:t>，不直接连接服务器。每台脊交换机与网络内所有的叶交换机连接，确保任意两台叶交换机之间存在多条等价路径。</a:t>
            </a:r>
            <a:endParaRPr lang="en-US" altLang="zh-CN" b="1" dirty="0">
              <a:latin typeface="微软雅黑" pitchFamily="34" charset="-122"/>
              <a:ea typeface="微软雅黑" pitchFamily="34" charset="-122"/>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25748707"/>
              </p:ext>
            </p:extLst>
          </p:nvPr>
        </p:nvGraphicFramePr>
        <p:xfrm>
          <a:off x="4881695" y="1816100"/>
          <a:ext cx="4216400" cy="1708150"/>
        </p:xfrm>
        <a:graphic>
          <a:graphicData uri="http://schemas.openxmlformats.org/presentationml/2006/ole">
            <mc:AlternateContent xmlns:mc="http://schemas.openxmlformats.org/markup-compatibility/2006">
              <mc:Choice xmlns:v="urn:schemas-microsoft-com:vml" Requires="v">
                <p:oleObj spid="_x0000_s29703" name="Visio" r:id="rId4" imgW="4216298" imgH="1714500" progId="Visio.Drawing.15">
                  <p:embed/>
                </p:oleObj>
              </mc:Choice>
              <mc:Fallback>
                <p:oleObj name="Visio" r:id="rId4" imgW="4216298" imgH="171450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1695" y="1816100"/>
                        <a:ext cx="4216400" cy="170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ustDataLst>
      <p:tags r:id="rId2"/>
    </p:custDataLst>
    <p:extLst>
      <p:ext uri="{BB962C8B-B14F-4D97-AF65-F5344CB8AC3E}">
        <p14:creationId xmlns:p14="http://schemas.microsoft.com/office/powerpoint/2010/main" val="13847555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1481"/>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6" name="Rectangle 6"/>
          <p:cNvSpPr>
            <a:spLocks noChangeArrowheads="1"/>
          </p:cNvSpPr>
          <p:nvPr/>
        </p:nvSpPr>
        <p:spPr bwMode="auto">
          <a:xfrm>
            <a:off x="2156973" y="586794"/>
            <a:ext cx="483292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bg1"/>
                </a:solidFill>
                <a:latin typeface="微软雅黑" pitchFamily="34" charset="-122"/>
                <a:ea typeface="微软雅黑" pitchFamily="34" charset="-122"/>
              </a:rPr>
              <a:t>数据中心网络发展趋势</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09413"/>
            <a:ext cx="8053713"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算网协同架构</a:t>
            </a:r>
            <a:r>
              <a:rPr lang="zh-CN" altLang="en-US" b="1" dirty="0" smtClean="0">
                <a:latin typeface="微软雅黑" pitchFamily="34" charset="-122"/>
                <a:ea typeface="微软雅黑" pitchFamily="34" charset="-122"/>
              </a:rPr>
              <a:t>设计</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a:latin typeface="微软雅黑" pitchFamily="34" charset="-122"/>
                <a:ea typeface="微软雅黑" pitchFamily="34" charset="-122"/>
              </a:rPr>
              <a:t>将负责计算的服务器与网络设备综合在一起考虑，从信息源头对流量实施管</a:t>
            </a:r>
            <a:r>
              <a:rPr lang="zh-CN" altLang="en-US" sz="1600" b="1" dirty="0" smtClean="0">
                <a:latin typeface="微软雅黑" pitchFamily="34" charset="-122"/>
                <a:ea typeface="微软雅黑" pitchFamily="34" charset="-122"/>
              </a:rPr>
              <a:t>控。</a:t>
            </a:r>
            <a:endParaRPr lang="en-US" altLang="zh-CN" sz="1600"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虚拟化技术</a:t>
            </a:r>
            <a:r>
              <a:rPr lang="zh-CN" altLang="en-US" b="1" dirty="0" smtClean="0">
                <a:latin typeface="微软雅黑" pitchFamily="34" charset="-122"/>
                <a:ea typeface="微软雅黑" pitchFamily="34" charset="-122"/>
              </a:rPr>
              <a:t>应用</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a:latin typeface="微软雅黑" pitchFamily="34" charset="-122"/>
                <a:ea typeface="微软雅黑" pitchFamily="34" charset="-122"/>
              </a:rPr>
              <a:t>通过软件抽象将物理硬件资源划分为多个独立、隔离的虚拟单元，支持多租户按需共享底层的物理基础设施、降低专用硬件采购成本和提高部署灵活性以及提升数据中心网络的传输</a:t>
            </a:r>
            <a:r>
              <a:rPr lang="zh-CN" altLang="en-US" sz="1600" b="1" dirty="0" smtClean="0">
                <a:latin typeface="微软雅黑" pitchFamily="34" charset="-122"/>
                <a:ea typeface="微软雅黑" pitchFamily="34" charset="-122"/>
              </a:rPr>
              <a:t>能力。</a:t>
            </a:r>
            <a:endParaRPr lang="en-US" altLang="zh-CN" sz="1600" b="1" dirty="0" smtClean="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b="1" dirty="0">
                <a:latin typeface="微软雅黑" pitchFamily="34" charset="-122"/>
                <a:ea typeface="微软雅黑" pitchFamily="34" charset="-122"/>
              </a:rPr>
              <a:t>网络可编程能力</a:t>
            </a:r>
            <a:r>
              <a:rPr lang="zh-CN" altLang="en-US" b="1" dirty="0" smtClean="0">
                <a:latin typeface="微软雅黑" pitchFamily="34" charset="-122"/>
                <a:ea typeface="微软雅黑" pitchFamily="34" charset="-122"/>
              </a:rPr>
              <a:t>增强</a:t>
            </a:r>
            <a:endParaRPr lang="en-US" altLang="zh-CN"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r>
              <a:rPr lang="zh-CN" altLang="en-US" sz="1600" b="1" dirty="0">
                <a:latin typeface="微软雅黑" pitchFamily="34" charset="-122"/>
                <a:ea typeface="微软雅黑" pitchFamily="34" charset="-122"/>
              </a:rPr>
              <a:t>提高数据中心的资源利用率和运维效率，也为创新网络架构和业务模型提供了坚实</a:t>
            </a:r>
            <a:r>
              <a:rPr lang="zh-CN" altLang="en-US" sz="1600" b="1" dirty="0" smtClean="0">
                <a:latin typeface="微软雅黑" pitchFamily="34" charset="-122"/>
                <a:ea typeface="微软雅黑" pitchFamily="34" charset="-122"/>
              </a:rPr>
              <a:t>基础。</a:t>
            </a:r>
            <a:endParaRPr lang="en-US" altLang="zh-CN" sz="1600" b="1" dirty="0" smtClean="0">
              <a:latin typeface="微软雅黑" pitchFamily="34" charset="-122"/>
              <a:ea typeface="微软雅黑" pitchFamily="34" charset="-122"/>
            </a:endParaRPr>
          </a:p>
          <a:p>
            <a:pPr marL="742950" lvl="1" indent="-285750">
              <a:lnSpc>
                <a:spcPts val="3000"/>
              </a:lnSpc>
              <a:buClr>
                <a:srgbClr val="0070C0"/>
              </a:buClr>
              <a:buFont typeface="Wingdings" pitchFamily="2" charset="2"/>
              <a:buChar char="l"/>
            </a:pPr>
            <a:endParaRPr lang="en-US" altLang="zh-CN" b="1" dirty="0" smtClean="0">
              <a:latin typeface="微软雅黑" pitchFamily="34" charset="-122"/>
              <a:ea typeface="微软雅黑" pitchFamily="34" charset="-122"/>
            </a:endParaRPr>
          </a:p>
        </p:txBody>
      </p:sp>
    </p:spTree>
    <p:custDataLst>
      <p:tags r:id="rId1"/>
    </p:custDataLst>
    <p:extLst>
      <p:ext uri="{BB962C8B-B14F-4D97-AF65-F5344CB8AC3E}">
        <p14:creationId xmlns:p14="http://schemas.microsoft.com/office/powerpoint/2010/main" val="4704193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23.4|17.7"/>
</p:tagLst>
</file>

<file path=ppt/tags/tag2.xml><?xml version="1.0" encoding="utf-8"?>
<p:tagLst xmlns:a="http://schemas.openxmlformats.org/drawingml/2006/main" xmlns:r="http://schemas.openxmlformats.org/officeDocument/2006/relationships" xmlns:p="http://schemas.openxmlformats.org/presentationml/2006/main">
  <p:tag name="TIMING" val="|31.7|22.6"/>
</p:tagLst>
</file>

<file path=ppt/tags/tag3.xml><?xml version="1.0" encoding="utf-8"?>
<p:tagLst xmlns:a="http://schemas.openxmlformats.org/drawingml/2006/main" xmlns:r="http://schemas.openxmlformats.org/officeDocument/2006/relationships" xmlns:p="http://schemas.openxmlformats.org/presentationml/2006/main">
  <p:tag name="TIMING" val="|8.1|8"/>
</p:tagLst>
</file>

<file path=ppt/tags/tag4.xml><?xml version="1.0" encoding="utf-8"?>
<p:tagLst xmlns:a="http://schemas.openxmlformats.org/drawingml/2006/main" xmlns:r="http://schemas.openxmlformats.org/officeDocument/2006/relationships" xmlns:p="http://schemas.openxmlformats.org/presentationml/2006/main">
  <p:tag name="TIMING" val="|39.8|19.1"/>
</p:tagLst>
</file>

<file path=ppt/tags/tag5.xml><?xml version="1.0" encoding="utf-8"?>
<p:tagLst xmlns:a="http://schemas.openxmlformats.org/drawingml/2006/main" xmlns:r="http://schemas.openxmlformats.org/officeDocument/2006/relationships" xmlns:p="http://schemas.openxmlformats.org/presentationml/2006/main">
  <p:tag name="TIMING" val="|9|14.3|34.2"/>
</p:tagLst>
</file>

<file path=ppt/tags/tag6.xml><?xml version="1.0" encoding="utf-8"?>
<p:tagLst xmlns:a="http://schemas.openxmlformats.org/drawingml/2006/main" xmlns:r="http://schemas.openxmlformats.org/officeDocument/2006/relationships" xmlns:p="http://schemas.openxmlformats.org/presentationml/2006/main">
  <p:tag name="TIMING" val="|3.9|28.6|29.6|40.6"/>
</p:tagLst>
</file>

<file path=ppt/tags/tag7.xml><?xml version="1.0" encoding="utf-8"?>
<p:tagLst xmlns:a="http://schemas.openxmlformats.org/drawingml/2006/main" xmlns:r="http://schemas.openxmlformats.org/officeDocument/2006/relationships" xmlns:p="http://schemas.openxmlformats.org/presentationml/2006/main">
  <p:tag name="TIMING" val="|15.2|13.2"/>
</p:tagLst>
</file>

<file path=ppt/tags/tag8.xml><?xml version="1.0" encoding="utf-8"?>
<p:tagLst xmlns:a="http://schemas.openxmlformats.org/drawingml/2006/main" xmlns:r="http://schemas.openxmlformats.org/officeDocument/2006/relationships" xmlns:p="http://schemas.openxmlformats.org/presentationml/2006/main">
  <p:tag name="TIMING" val="|10"/>
</p:tagLst>
</file>

<file path=ppt/tags/tag9.xml><?xml version="1.0" encoding="utf-8"?>
<p:tagLst xmlns:a="http://schemas.openxmlformats.org/drawingml/2006/main" xmlns:r="http://schemas.openxmlformats.org/officeDocument/2006/relationships" xmlns:p="http://schemas.openxmlformats.org/presentationml/2006/main">
  <p:tag name="TIMING" val="|32.7|6.9|13.3|14.1"/>
</p:tagLst>
</file>

<file path=ppt/tags/tag10.xml><?xml version="1.0" encoding="utf-8"?>
<p:tagLst xmlns:a="http://schemas.openxmlformats.org/drawingml/2006/main" xmlns:r="http://schemas.openxmlformats.org/officeDocument/2006/relationships" xmlns:p="http://schemas.openxmlformats.org/presentationml/2006/main">
  <p:tag name="TIMING" val="|10.2|12.6"/>
</p:tagLst>
</file>

<file path=ppt/tags/tag11.xml><?xml version="1.0" encoding="utf-8"?>
<p:tagLst xmlns:a="http://schemas.openxmlformats.org/drawingml/2006/main" xmlns:r="http://schemas.openxmlformats.org/officeDocument/2006/relationships" xmlns:p="http://schemas.openxmlformats.org/presentationml/2006/main">
  <p:tag name="TIMING" val="|10.3|9.4"/>
</p:tagLst>
</file>

<file path=ppt/tags/tag12.xml><?xml version="1.0" encoding="utf-8"?>
<p:tagLst xmlns:a="http://schemas.openxmlformats.org/drawingml/2006/main" xmlns:r="http://schemas.openxmlformats.org/officeDocument/2006/relationships" xmlns:p="http://schemas.openxmlformats.org/presentationml/2006/main">
  <p:tag name="TIMING" val="|19.3|11.3"/>
</p:tagLst>
</file>

<file path=ppt/tags/tag13.xml><?xml version="1.0" encoding="utf-8"?>
<p:tagLst xmlns:a="http://schemas.openxmlformats.org/drawingml/2006/main" xmlns:r="http://schemas.openxmlformats.org/officeDocument/2006/relationships" xmlns:p="http://schemas.openxmlformats.org/presentationml/2006/main">
  <p:tag name="TIMING" val="|25.3|12.7"/>
</p:tagLst>
</file>

<file path=ppt/tags/tag14.xml><?xml version="1.0" encoding="utf-8"?>
<p:tagLst xmlns:a="http://schemas.openxmlformats.org/drawingml/2006/main" xmlns:r="http://schemas.openxmlformats.org/officeDocument/2006/relationships" xmlns:p="http://schemas.openxmlformats.org/presentationml/2006/main">
  <p:tag name="TIMING" val="|30.6"/>
</p:tagLst>
</file>

<file path=ppt/tags/tag15.xml><?xml version="1.0" encoding="utf-8"?>
<p:tagLst xmlns:a="http://schemas.openxmlformats.org/drawingml/2006/main" xmlns:r="http://schemas.openxmlformats.org/officeDocument/2006/relationships" xmlns:p="http://schemas.openxmlformats.org/presentationml/2006/main">
  <p:tag name="TIMING" val="|19.8"/>
</p:tagLst>
</file>

<file path=ppt/tags/tag16.xml><?xml version="1.0" encoding="utf-8"?>
<p:tagLst xmlns:a="http://schemas.openxmlformats.org/drawingml/2006/main" xmlns:r="http://schemas.openxmlformats.org/officeDocument/2006/relationships" xmlns:p="http://schemas.openxmlformats.org/presentationml/2006/main">
  <p:tag name="TIMING" val="|16.1|14.9"/>
</p:tagLst>
</file>

<file path=ppt/tags/tag17.xml><?xml version="1.0" encoding="utf-8"?>
<p:tagLst xmlns:a="http://schemas.openxmlformats.org/drawingml/2006/main" xmlns:r="http://schemas.openxmlformats.org/officeDocument/2006/relationships" xmlns:p="http://schemas.openxmlformats.org/presentationml/2006/main">
  <p:tag name="TIMING" val="|10|29|21.6"/>
</p:tagLst>
</file>

<file path=ppt/tags/tag18.xml><?xml version="1.0" encoding="utf-8"?>
<p:tagLst xmlns:a="http://schemas.openxmlformats.org/drawingml/2006/main" xmlns:r="http://schemas.openxmlformats.org/officeDocument/2006/relationships" xmlns:p="http://schemas.openxmlformats.org/presentationml/2006/main">
  <p:tag name="TIMING" val="|21.9"/>
</p:tagLst>
</file>

<file path=ppt/tags/tag19.xml><?xml version="1.0" encoding="utf-8"?>
<p:tagLst xmlns:a="http://schemas.openxmlformats.org/drawingml/2006/main" xmlns:r="http://schemas.openxmlformats.org/officeDocument/2006/relationships" xmlns:p="http://schemas.openxmlformats.org/presentationml/2006/main">
  <p:tag name="TIMING" val="|14.7|18.3"/>
</p:tagLst>
</file>

<file path=ppt/tags/tag20.xml><?xml version="1.0" encoding="utf-8"?>
<p:tagLst xmlns:a="http://schemas.openxmlformats.org/drawingml/2006/main" xmlns:r="http://schemas.openxmlformats.org/officeDocument/2006/relationships" xmlns:p="http://schemas.openxmlformats.org/presentationml/2006/main">
  <p:tag name="TIMING" val="|18.7"/>
</p:tagLst>
</file>

<file path=ppt/tags/tag21.xml><?xml version="1.0" encoding="utf-8"?>
<p:tagLst xmlns:a="http://schemas.openxmlformats.org/drawingml/2006/main" xmlns:r="http://schemas.openxmlformats.org/officeDocument/2006/relationships" xmlns:p="http://schemas.openxmlformats.org/presentationml/2006/main">
  <p:tag name="TIMING" val="|55.5"/>
</p:tagLst>
</file>

<file path=ppt/tags/tag22.xml><?xml version="1.0" encoding="utf-8"?>
<p:tagLst xmlns:a="http://schemas.openxmlformats.org/drawingml/2006/main" xmlns:r="http://schemas.openxmlformats.org/officeDocument/2006/relationships" xmlns:p="http://schemas.openxmlformats.org/presentationml/2006/main">
  <p:tag name="TIMING" val="|14.3|9.2|4.9"/>
</p:tagLst>
</file>

<file path=ppt/tags/tag23.xml><?xml version="1.0" encoding="utf-8"?>
<p:tagLst xmlns:a="http://schemas.openxmlformats.org/drawingml/2006/main" xmlns:r="http://schemas.openxmlformats.org/officeDocument/2006/relationships" xmlns:p="http://schemas.openxmlformats.org/presentationml/2006/main">
  <p:tag name="TIMING" val="|11.7|14.1|17.3"/>
</p:tagLst>
</file>

<file path=ppt/tags/tag24.xml><?xml version="1.0" encoding="utf-8"?>
<p:tagLst xmlns:a="http://schemas.openxmlformats.org/drawingml/2006/main" xmlns:r="http://schemas.openxmlformats.org/officeDocument/2006/relationships" xmlns:p="http://schemas.openxmlformats.org/presentationml/2006/main">
  <p:tag name="TIMING" val="|16.2|25.9"/>
</p:tagLst>
</file>

<file path=ppt/tags/tag25.xml><?xml version="1.0" encoding="utf-8"?>
<p:tagLst xmlns:a="http://schemas.openxmlformats.org/drawingml/2006/main" xmlns:r="http://schemas.openxmlformats.org/officeDocument/2006/relationships" xmlns:p="http://schemas.openxmlformats.org/presentationml/2006/main">
  <p:tag name="TIMING" val="|39.5"/>
</p:tagLst>
</file>

<file path=ppt/tags/tag26.xml><?xml version="1.0" encoding="utf-8"?>
<p:tagLst xmlns:a="http://schemas.openxmlformats.org/drawingml/2006/main" xmlns:r="http://schemas.openxmlformats.org/officeDocument/2006/relationships" xmlns:p="http://schemas.openxmlformats.org/presentationml/2006/main">
  <p:tag name="TIMING" val="|22.5"/>
</p:tagLst>
</file>

<file path=ppt/tags/tag27.xml><?xml version="1.0" encoding="utf-8"?>
<p:tagLst xmlns:a="http://schemas.openxmlformats.org/drawingml/2006/main" xmlns:r="http://schemas.openxmlformats.org/officeDocument/2006/relationships" xmlns:p="http://schemas.openxmlformats.org/presentationml/2006/main">
  <p:tag name="TIMING" val="|20"/>
</p:tagLst>
</file>

<file path=ppt/tags/tag28.xml><?xml version="1.0" encoding="utf-8"?>
<p:tagLst xmlns:a="http://schemas.openxmlformats.org/drawingml/2006/main" xmlns:r="http://schemas.openxmlformats.org/officeDocument/2006/relationships" xmlns:p="http://schemas.openxmlformats.org/presentationml/2006/main">
  <p:tag name="TIMING" val="|18.8"/>
</p:tagLst>
</file>

<file path=ppt/tags/tag29.xml><?xml version="1.0" encoding="utf-8"?>
<p:tagLst xmlns:a="http://schemas.openxmlformats.org/drawingml/2006/main" xmlns:r="http://schemas.openxmlformats.org/officeDocument/2006/relationships" xmlns:p="http://schemas.openxmlformats.org/presentationml/2006/main">
  <p:tag name="TIMING" val="|19.5"/>
</p:tagLst>
</file>

<file path=ppt/tags/tag30.xml><?xml version="1.0" encoding="utf-8"?>
<p:tagLst xmlns:a="http://schemas.openxmlformats.org/drawingml/2006/main" xmlns:r="http://schemas.openxmlformats.org/officeDocument/2006/relationships" xmlns:p="http://schemas.openxmlformats.org/presentationml/2006/main">
  <p:tag name="TIMING" val="|35.9"/>
</p:tagLst>
</file>

<file path=ppt/tags/tag31.xml><?xml version="1.0" encoding="utf-8"?>
<p:tagLst xmlns:a="http://schemas.openxmlformats.org/drawingml/2006/main" xmlns:r="http://schemas.openxmlformats.org/officeDocument/2006/relationships" xmlns:p="http://schemas.openxmlformats.org/presentationml/2006/main">
  <p:tag name="TIMING" val="|31.5|6.6|15.9|7.4"/>
</p:tagLst>
</file>

<file path=ppt/tags/tag32.xml><?xml version="1.0" encoding="utf-8"?>
<p:tagLst xmlns:a="http://schemas.openxmlformats.org/drawingml/2006/main" xmlns:r="http://schemas.openxmlformats.org/officeDocument/2006/relationships" xmlns:p="http://schemas.openxmlformats.org/presentationml/2006/main">
  <p:tag name="TIMING" val="|15.8|13.8"/>
</p:tagLst>
</file>

<file path=ppt/tags/tag33.xml><?xml version="1.0" encoding="utf-8"?>
<p:tagLst xmlns:a="http://schemas.openxmlformats.org/drawingml/2006/main" xmlns:r="http://schemas.openxmlformats.org/officeDocument/2006/relationships" xmlns:p="http://schemas.openxmlformats.org/presentationml/2006/main">
  <p:tag name="TIMING" val="|13.5|5|7.3|5.9|5.1|8.1|9.4"/>
</p:tagLst>
</file>

<file path=ppt/tags/tag34.xml><?xml version="1.0" encoding="utf-8"?>
<p:tagLst xmlns:a="http://schemas.openxmlformats.org/drawingml/2006/main" xmlns:r="http://schemas.openxmlformats.org/officeDocument/2006/relationships" xmlns:p="http://schemas.openxmlformats.org/presentationml/2006/main">
  <p:tag name="TIMING" val="|39.6|154.6|29.1|28"/>
</p:tagLst>
</file>

<file path=ppt/tags/tag35.xml><?xml version="1.0" encoding="utf-8"?>
<p:tagLst xmlns:a="http://schemas.openxmlformats.org/drawingml/2006/main" xmlns:r="http://schemas.openxmlformats.org/officeDocument/2006/relationships" xmlns:p="http://schemas.openxmlformats.org/presentationml/2006/main">
  <p:tag name="TIMING" val="|57.1"/>
</p:tagLst>
</file>

<file path=ppt/tags/tag36.xml><?xml version="1.0" encoding="utf-8"?>
<p:tagLst xmlns:a="http://schemas.openxmlformats.org/drawingml/2006/main" xmlns:r="http://schemas.openxmlformats.org/officeDocument/2006/relationships" xmlns:p="http://schemas.openxmlformats.org/presentationml/2006/main">
  <p:tag name="TIMING" val="|39.3"/>
</p:tagLst>
</file>

<file path=ppt/tags/tag37.xml><?xml version="1.0" encoding="utf-8"?>
<p:tagLst xmlns:a="http://schemas.openxmlformats.org/drawingml/2006/main" xmlns:r="http://schemas.openxmlformats.org/officeDocument/2006/relationships" xmlns:p="http://schemas.openxmlformats.org/presentationml/2006/main">
  <p:tag name="TIMING" val="|18.5|13.9|15.3"/>
</p:tagLst>
</file>

<file path=ppt/tags/tag38.xml><?xml version="1.0" encoding="utf-8"?>
<p:tagLst xmlns:a="http://schemas.openxmlformats.org/drawingml/2006/main" xmlns:r="http://schemas.openxmlformats.org/officeDocument/2006/relationships" xmlns:p="http://schemas.openxmlformats.org/presentationml/2006/main">
  <p:tag name="TIMING" val="|12.3|19.2|15.4"/>
</p:tagLst>
</file>

<file path=ppt/tags/tag39.xml><?xml version="1.0" encoding="utf-8"?>
<p:tagLst xmlns:a="http://schemas.openxmlformats.org/drawingml/2006/main" xmlns:r="http://schemas.openxmlformats.org/officeDocument/2006/relationships" xmlns:p="http://schemas.openxmlformats.org/presentationml/2006/main">
  <p:tag name="TIMING" val="|11.8|26.3"/>
</p:tagLst>
</file>

<file path=ppt/tags/tag40.xml><?xml version="1.0" encoding="utf-8"?>
<p:tagLst xmlns:a="http://schemas.openxmlformats.org/drawingml/2006/main" xmlns:r="http://schemas.openxmlformats.org/officeDocument/2006/relationships" xmlns:p="http://schemas.openxmlformats.org/presentationml/2006/main">
  <p:tag name="TIMING" val="|16|22.5"/>
</p:tagLst>
</file>

<file path=ppt/tags/tag41.xml><?xml version="1.0" encoding="utf-8"?>
<p:tagLst xmlns:a="http://schemas.openxmlformats.org/drawingml/2006/main" xmlns:r="http://schemas.openxmlformats.org/officeDocument/2006/relationships" xmlns:p="http://schemas.openxmlformats.org/presentationml/2006/main">
  <p:tag name="TIMING" val="|35.9|35.8"/>
</p:tagLst>
</file>

<file path=ppt/tags/tag42.xml><?xml version="1.0" encoding="utf-8"?>
<p:tagLst xmlns:a="http://schemas.openxmlformats.org/drawingml/2006/main" xmlns:r="http://schemas.openxmlformats.org/officeDocument/2006/relationships" xmlns:p="http://schemas.openxmlformats.org/presentationml/2006/main">
  <p:tag name="TIMING" val="|13.5|16.1"/>
</p:tagLst>
</file>

<file path=ppt/tags/tag43.xml><?xml version="1.0" encoding="utf-8"?>
<p:tagLst xmlns:a="http://schemas.openxmlformats.org/drawingml/2006/main" xmlns:r="http://schemas.openxmlformats.org/officeDocument/2006/relationships" xmlns:p="http://schemas.openxmlformats.org/presentationml/2006/main">
  <p:tag name="TIMING" val="|16.8"/>
</p:tagLst>
</file>

<file path=ppt/tags/tag44.xml><?xml version="1.0" encoding="utf-8"?>
<p:tagLst xmlns:a="http://schemas.openxmlformats.org/drawingml/2006/main" xmlns:r="http://schemas.openxmlformats.org/officeDocument/2006/relationships" xmlns:p="http://schemas.openxmlformats.org/presentationml/2006/main">
  <p:tag name="TIMING" val="|14.6|20.2"/>
</p:tagLst>
</file>

<file path=ppt/tags/tag45.xml><?xml version="1.0" encoding="utf-8"?>
<p:tagLst xmlns:a="http://schemas.openxmlformats.org/drawingml/2006/main" xmlns:r="http://schemas.openxmlformats.org/officeDocument/2006/relationships" xmlns:p="http://schemas.openxmlformats.org/presentationml/2006/main">
  <p:tag name="TIMING" val="|33.4|17|25.1|17.6|9.9|13.5"/>
</p:tagLst>
</file>

<file path=ppt/tags/tag46.xml><?xml version="1.0" encoding="utf-8"?>
<p:tagLst xmlns:a="http://schemas.openxmlformats.org/drawingml/2006/main" xmlns:r="http://schemas.openxmlformats.org/officeDocument/2006/relationships" xmlns:p="http://schemas.openxmlformats.org/presentationml/2006/main">
  <p:tag name="TIMING" val="|10.3|7.9|14.9|13.8|17.9|7.7|11.5"/>
</p:tagLst>
</file>

<file path=ppt/tags/tag47.xml><?xml version="1.0" encoding="utf-8"?>
<p:tagLst xmlns:a="http://schemas.openxmlformats.org/drawingml/2006/main" xmlns:r="http://schemas.openxmlformats.org/officeDocument/2006/relationships" xmlns:p="http://schemas.openxmlformats.org/presentationml/2006/main">
  <p:tag name="TIMING" val="|4.2|2.8|29.8"/>
</p:tagLst>
</file>

<file path=ppt/tags/tag48.xml><?xml version="1.0" encoding="utf-8"?>
<p:tagLst xmlns:a="http://schemas.openxmlformats.org/drawingml/2006/main" xmlns:r="http://schemas.openxmlformats.org/officeDocument/2006/relationships" xmlns:p="http://schemas.openxmlformats.org/presentationml/2006/main">
  <p:tag name="TIMING" val="|20.1|17.6|7.5"/>
</p:tagLst>
</file>

<file path=ppt/tags/tag49.xml><?xml version="1.0" encoding="utf-8"?>
<p:tagLst xmlns:a="http://schemas.openxmlformats.org/drawingml/2006/main" xmlns:r="http://schemas.openxmlformats.org/officeDocument/2006/relationships" xmlns:p="http://schemas.openxmlformats.org/presentationml/2006/main">
  <p:tag name="TIMING" val="|20.1|17.6|7.5"/>
</p:tagLst>
</file>

<file path=ppt/tags/tag50.xml><?xml version="1.0" encoding="utf-8"?>
<p:tagLst xmlns:a="http://schemas.openxmlformats.org/drawingml/2006/main" xmlns:r="http://schemas.openxmlformats.org/officeDocument/2006/relationships" xmlns:p="http://schemas.openxmlformats.org/presentationml/2006/main">
  <p:tag name="TIMING" val="|20.1|17.6|7.5"/>
</p:tagLst>
</file>

<file path=ppt/tags/tag51.xml><?xml version="1.0" encoding="utf-8"?>
<p:tagLst xmlns:a="http://schemas.openxmlformats.org/drawingml/2006/main" xmlns:r="http://schemas.openxmlformats.org/officeDocument/2006/relationships" xmlns:p="http://schemas.openxmlformats.org/presentationml/2006/main">
  <p:tag name="TIMING" val="|20.1|17.6|7.5"/>
</p:tagLst>
</file>

<file path=ppt/tags/tag52.xml><?xml version="1.0" encoding="utf-8"?>
<p:tagLst xmlns:a="http://schemas.openxmlformats.org/drawingml/2006/main" xmlns:r="http://schemas.openxmlformats.org/officeDocument/2006/relationships" xmlns:p="http://schemas.openxmlformats.org/presentationml/2006/main">
  <p:tag name="TIMING" val="|20.1|17.6|7.5"/>
</p:tagLst>
</file>

<file path=ppt/tags/tag53.xml><?xml version="1.0" encoding="utf-8"?>
<p:tagLst xmlns:a="http://schemas.openxmlformats.org/drawingml/2006/main" xmlns:r="http://schemas.openxmlformats.org/officeDocument/2006/relationships" xmlns:p="http://schemas.openxmlformats.org/presentationml/2006/main">
  <p:tag name="TIMING" val="|33|26.5"/>
</p:tagLst>
</file>

<file path=ppt/tags/tag54.xml><?xml version="1.0" encoding="utf-8"?>
<p:tagLst xmlns:a="http://schemas.openxmlformats.org/drawingml/2006/main" xmlns:r="http://schemas.openxmlformats.org/officeDocument/2006/relationships" xmlns:p="http://schemas.openxmlformats.org/presentationml/2006/main">
  <p:tag name="TIMING" val="|28.1|2.1|13.3"/>
</p:tagLst>
</file>

<file path=ppt/tags/tag55.xml><?xml version="1.0" encoding="utf-8"?>
<p:tagLst xmlns:a="http://schemas.openxmlformats.org/drawingml/2006/main" xmlns:r="http://schemas.openxmlformats.org/officeDocument/2006/relationships" xmlns:p="http://schemas.openxmlformats.org/presentationml/2006/main">
  <p:tag name="TIMING" val="|25|14.3|13"/>
</p:tagLst>
</file>

<file path=ppt/tags/tag56.xml><?xml version="1.0" encoding="utf-8"?>
<p:tagLst xmlns:a="http://schemas.openxmlformats.org/drawingml/2006/main" xmlns:r="http://schemas.openxmlformats.org/officeDocument/2006/relationships" xmlns:p="http://schemas.openxmlformats.org/presentationml/2006/main">
  <p:tag name="TIMING" val="|18.1|5.5|3.8|5.9"/>
</p:tagLst>
</file>

<file path=ppt/tags/tag57.xml><?xml version="1.0" encoding="utf-8"?>
<p:tagLst xmlns:a="http://schemas.openxmlformats.org/drawingml/2006/main" xmlns:r="http://schemas.openxmlformats.org/officeDocument/2006/relationships" xmlns:p="http://schemas.openxmlformats.org/presentationml/2006/main">
  <p:tag name="TIMING" val="|14.3"/>
</p:tagLst>
</file>

<file path=ppt/tags/tag58.xml><?xml version="1.0" encoding="utf-8"?>
<p:tagLst xmlns:a="http://schemas.openxmlformats.org/drawingml/2006/main" xmlns:r="http://schemas.openxmlformats.org/officeDocument/2006/relationships" xmlns:p="http://schemas.openxmlformats.org/presentationml/2006/main">
  <p:tag name="TIMING" val="|15.6|20.1"/>
</p:tagLst>
</file>

<file path=ppt/tags/tag59.xml><?xml version="1.0" encoding="utf-8"?>
<p:tagLst xmlns:a="http://schemas.openxmlformats.org/drawingml/2006/main" xmlns:r="http://schemas.openxmlformats.org/officeDocument/2006/relationships" xmlns:p="http://schemas.openxmlformats.org/presentationml/2006/main">
  <p:tag name="TIMING" val="|28.5|11.3|12.2"/>
</p:tagLst>
</file>

<file path=ppt/tags/tag60.xml><?xml version="1.0" encoding="utf-8"?>
<p:tagLst xmlns:a="http://schemas.openxmlformats.org/drawingml/2006/main" xmlns:r="http://schemas.openxmlformats.org/officeDocument/2006/relationships" xmlns:p="http://schemas.openxmlformats.org/presentationml/2006/main">
  <p:tag name="TIMING" val="|14|7.1|9"/>
</p:tagLst>
</file>

<file path=ppt/tags/tag61.xml><?xml version="1.0" encoding="utf-8"?>
<p:tagLst xmlns:a="http://schemas.openxmlformats.org/drawingml/2006/main" xmlns:r="http://schemas.openxmlformats.org/officeDocument/2006/relationships" xmlns:p="http://schemas.openxmlformats.org/presentationml/2006/main">
  <p:tag name="TIMING" val="|8|15.5"/>
</p:tagLst>
</file>

<file path=ppt/tags/tag62.xml><?xml version="1.0" encoding="utf-8"?>
<p:tagLst xmlns:a="http://schemas.openxmlformats.org/drawingml/2006/main" xmlns:r="http://schemas.openxmlformats.org/officeDocument/2006/relationships" xmlns:p="http://schemas.openxmlformats.org/presentationml/2006/main">
  <p:tag name="TIMING" val="|29.7|13.2"/>
</p:tagLst>
</file>

<file path=ppt/tags/tag63.xml><?xml version="1.0" encoding="utf-8"?>
<p:tagLst xmlns:a="http://schemas.openxmlformats.org/drawingml/2006/main" xmlns:r="http://schemas.openxmlformats.org/officeDocument/2006/relationships" xmlns:p="http://schemas.openxmlformats.org/presentationml/2006/main">
  <p:tag name="TIMING" val="|14.3|13.8"/>
</p:tagLst>
</file>

<file path=ppt/tags/tag64.xml><?xml version="1.0" encoding="utf-8"?>
<p:tagLst xmlns:a="http://schemas.openxmlformats.org/drawingml/2006/main" xmlns:r="http://schemas.openxmlformats.org/officeDocument/2006/relationships" xmlns:p="http://schemas.openxmlformats.org/presentationml/2006/main">
  <p:tag name="TIMING" val="|41.3|31"/>
</p:tagLst>
</file>

<file path=ppt/tags/tag65.xml><?xml version="1.0" encoding="utf-8"?>
<p:tagLst xmlns:a="http://schemas.openxmlformats.org/drawingml/2006/main" xmlns:r="http://schemas.openxmlformats.org/officeDocument/2006/relationships" xmlns:p="http://schemas.openxmlformats.org/presentationml/2006/main">
  <p:tag name="TIMING" val="|28.1|2.1|13.3"/>
</p:tagLst>
</file>

<file path=ppt/tags/tag66.xml><?xml version="1.0" encoding="utf-8"?>
<p:tagLst xmlns:a="http://schemas.openxmlformats.org/drawingml/2006/main" xmlns:r="http://schemas.openxmlformats.org/officeDocument/2006/relationships" xmlns:p="http://schemas.openxmlformats.org/presentationml/2006/main">
  <p:tag name="TIMING" val="|28.1|2.1|13.3"/>
</p:tagLst>
</file>

<file path=ppt/tags/tag67.xml><?xml version="1.0" encoding="utf-8"?>
<p:tagLst xmlns:a="http://schemas.openxmlformats.org/drawingml/2006/main" xmlns:r="http://schemas.openxmlformats.org/officeDocument/2006/relationships" xmlns:p="http://schemas.openxmlformats.org/presentationml/2006/main">
  <p:tag name="TIMING" val="|28.1|2.1|13.3"/>
</p:tagLst>
</file>

<file path=ppt/tags/tag68.xml><?xml version="1.0" encoding="utf-8"?>
<p:tagLst xmlns:a="http://schemas.openxmlformats.org/drawingml/2006/main" xmlns:r="http://schemas.openxmlformats.org/officeDocument/2006/relationships" xmlns:p="http://schemas.openxmlformats.org/presentationml/2006/main">
  <p:tag name="TIMING" val="|28.1|2.1|13.3"/>
</p:tagLst>
</file>

<file path=ppt/tags/tag69.xml><?xml version="1.0" encoding="utf-8"?>
<p:tagLst xmlns:a="http://schemas.openxmlformats.org/drawingml/2006/main" xmlns:r="http://schemas.openxmlformats.org/officeDocument/2006/relationships" xmlns:p="http://schemas.openxmlformats.org/presentationml/2006/main">
  <p:tag name="TIMING" val="|28.1|2.1|13.3"/>
</p:tagLst>
</file>

<file path=ppt/tags/tag70.xml><?xml version="1.0" encoding="utf-8"?>
<p:tagLst xmlns:a="http://schemas.openxmlformats.org/drawingml/2006/main" xmlns:r="http://schemas.openxmlformats.org/officeDocument/2006/relationships" xmlns:p="http://schemas.openxmlformats.org/presentationml/2006/main">
  <p:tag name="TIMING" val="|28.1|2.1|13.3"/>
</p:tagLst>
</file>

<file path=ppt/tags/tag71.xml><?xml version="1.0" encoding="utf-8"?>
<p:tagLst xmlns:a="http://schemas.openxmlformats.org/drawingml/2006/main" xmlns:r="http://schemas.openxmlformats.org/officeDocument/2006/relationships" xmlns:p="http://schemas.openxmlformats.org/presentationml/2006/main">
  <p:tag name="TIMING" val="|28.1|2.1|13.3"/>
</p:tagLst>
</file>

<file path=ppt/tags/tag72.xml><?xml version="1.0" encoding="utf-8"?>
<p:tagLst xmlns:a="http://schemas.openxmlformats.org/drawingml/2006/main" xmlns:r="http://schemas.openxmlformats.org/officeDocument/2006/relationships" xmlns:p="http://schemas.openxmlformats.org/presentationml/2006/main">
  <p:tag name="TIMING" val="|28.1|2.1|13.3"/>
</p:tagLst>
</file>

<file path=ppt/tags/tag73.xml><?xml version="1.0" encoding="utf-8"?>
<p:tagLst xmlns:a="http://schemas.openxmlformats.org/drawingml/2006/main" xmlns:r="http://schemas.openxmlformats.org/officeDocument/2006/relationships" xmlns:p="http://schemas.openxmlformats.org/presentationml/2006/main">
  <p:tag name="TIMING" val="|28.1|2.1|13.3"/>
</p:tagLst>
</file>

<file path=ppt/tags/tag74.xml><?xml version="1.0" encoding="utf-8"?>
<p:tagLst xmlns:a="http://schemas.openxmlformats.org/drawingml/2006/main" xmlns:r="http://schemas.openxmlformats.org/officeDocument/2006/relationships" xmlns:p="http://schemas.openxmlformats.org/presentationml/2006/main">
  <p:tag name="TIMING" val="|28.1|2.1|13.3"/>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8241</TotalTime>
  <Words>9785</Words>
  <Application>Microsoft Office PowerPoint</Application>
  <PresentationFormat>全屏显示(16:9)</PresentationFormat>
  <Paragraphs>1369</Paragraphs>
  <Slides>106</Slides>
  <Notes>75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106</vt:i4>
      </vt:variant>
    </vt:vector>
  </HeadingPairs>
  <TitlesOfParts>
    <vt:vector size="125" baseType="lpstr">
      <vt:lpstr>ヒラギノ角ゴ Pro W3</vt:lpstr>
      <vt:lpstr>Calibri</vt:lpstr>
      <vt:lpstr>Courier New</vt:lpstr>
      <vt:lpstr>Wingdings</vt:lpstr>
      <vt:lpstr>Arial</vt:lpstr>
      <vt:lpstr>Times New Roman</vt:lpstr>
      <vt:lpstr>Lucida Sans Unicode</vt:lpstr>
      <vt:lpstr>宋体</vt:lpstr>
      <vt:lpstr>Comic Sans MS</vt:lpstr>
      <vt:lpstr>ＭＳ Ｐゴシック</vt:lpstr>
      <vt:lpstr>新細明體</vt:lpstr>
      <vt:lpstr>微软雅黑</vt:lpstr>
      <vt:lpstr>Gill Sans MT</vt:lpstr>
      <vt:lpstr>Candara</vt:lpstr>
      <vt:lpstr>Office 主题​​</vt:lpstr>
      <vt:lpstr>Visio</vt:lpstr>
      <vt:lpstr>Presentation</vt:lpstr>
      <vt:lpstr>Microsoft Visio 绘图</vt:lpstr>
      <vt:lpstr>Microsoft PowerPoint 幻灯片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xing</cp:lastModifiedBy>
  <cp:revision>955</cp:revision>
  <dcterms:created xsi:type="dcterms:W3CDTF">2018-07-18T08:51:00Z</dcterms:created>
  <dcterms:modified xsi:type="dcterms:W3CDTF">2026-06-21T22:14:28Z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2052-11.1.0.7693</vt:lpwstr>
  </property>
</Properties>
</file>